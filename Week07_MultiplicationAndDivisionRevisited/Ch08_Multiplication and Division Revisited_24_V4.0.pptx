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  <p:sldMasterId id="2147483687" r:id="rId3"/>
  </p:sldMasterIdLst>
  <p:notesMasterIdLst>
    <p:notesMasterId r:id="rId28"/>
  </p:notesMasterIdLst>
  <p:handoutMasterIdLst>
    <p:handoutMasterId r:id="rId29"/>
  </p:handoutMasterIdLst>
  <p:sldIdLst>
    <p:sldId id="333" r:id="rId4"/>
    <p:sldId id="430" r:id="rId5"/>
    <p:sldId id="431" r:id="rId6"/>
    <p:sldId id="432" r:id="rId7"/>
    <p:sldId id="433" r:id="rId8"/>
    <p:sldId id="434" r:id="rId9"/>
    <p:sldId id="435" r:id="rId10"/>
    <p:sldId id="436" r:id="rId11"/>
    <p:sldId id="437" r:id="rId12"/>
    <p:sldId id="438" r:id="rId13"/>
    <p:sldId id="439" r:id="rId14"/>
    <p:sldId id="440" r:id="rId15"/>
    <p:sldId id="441" r:id="rId16"/>
    <p:sldId id="442" r:id="rId17"/>
    <p:sldId id="443" r:id="rId18"/>
    <p:sldId id="444" r:id="rId19"/>
    <p:sldId id="445" r:id="rId20"/>
    <p:sldId id="446" r:id="rId21"/>
    <p:sldId id="447" r:id="rId22"/>
    <p:sldId id="448" r:id="rId23"/>
    <p:sldId id="449" r:id="rId24"/>
    <p:sldId id="450" r:id="rId25"/>
    <p:sldId id="451" r:id="rId26"/>
    <p:sldId id="336" r:id="rId27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50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presProps" Target="presProps.xml"/><Relationship Id="rId8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E938536-29D3-49BD-A567-41CAF057586A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2E2B272-7A3A-4005-B1B0-0F9070B87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90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1559A16-B3AD-4CE2-9A5E-FAAD3C2C27CA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8C6438F-747C-40FA-8F40-021E653C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0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C6A3B0-86FE-43D5-B34A-195E308A55F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87536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C6A3B0-86FE-43D5-B34A-195E308A55F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35011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66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81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69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41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49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0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40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10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721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03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04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178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504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7506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480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600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4086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2073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0891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4435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9839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7919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4304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8934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7763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3113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3305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2113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6587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54137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9430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303953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7568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5799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89712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B289B0-9BEC-4093-861C-76154CD68B5D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8/20/2026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136E94-7335-4773-A64D-0D46B1CA62E8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244945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71015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195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2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20" Type="http://schemas.openxmlformats.org/officeDocument/2006/relationships/theme" Target="../theme/theme3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8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Relationship Id="rId2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24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82" r:id="rId13"/>
    <p:sldLayoutId id="2147483683" r:id="rId14"/>
    <p:sldLayoutId id="2147483685" r:id="rId15"/>
    <p:sldLayoutId id="2147483686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30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EF7EA9-7F89-AB44-B414-A35A39B8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0015"/>
            <a:ext cx="10515600" cy="642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578A8-B26A-4945-96B6-DF5E5BC7D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97162"/>
            <a:ext cx="10515600" cy="3246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 err="1"/>
              <a:t>Secod</a:t>
            </a:r>
            <a:r>
              <a:rPr lang="en-US" dirty="0"/>
              <a:t>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4CFB0A-34C6-5D42-83C5-6E58C3499080}"/>
              </a:ext>
            </a:extLst>
          </p:cNvPr>
          <p:cNvCxnSpPr>
            <a:cxnSpLocks/>
          </p:cNvCxnSpPr>
          <p:nvPr/>
        </p:nvCxnSpPr>
        <p:spPr>
          <a:xfrm>
            <a:off x="956394" y="730089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06B758-975E-984A-8DF2-F551E50A3FBA}"/>
              </a:ext>
            </a:extLst>
          </p:cNvPr>
          <p:cNvCxnSpPr>
            <a:cxnSpLocks/>
          </p:cNvCxnSpPr>
          <p:nvPr/>
        </p:nvCxnSpPr>
        <p:spPr>
          <a:xfrm>
            <a:off x="956394" y="388502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BCBDF38-9EC5-8347-AE99-4FA5381A7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924" y="472981"/>
            <a:ext cx="3880944" cy="1726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5D1952-D4DE-0B48-9AEC-F81A6CB6E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474" y="157274"/>
            <a:ext cx="804042" cy="80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2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207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4" r:id="rId16"/>
    <p:sldLayoutId id="2147483705" r:id="rId17"/>
    <p:sldLayoutId id="2147483706" r:id="rId18"/>
    <p:sldLayoutId id="2147483707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7.xml"/><Relationship Id="rId4" Type="http://schemas.openxmlformats.org/officeDocument/2006/relationships/image" Target="NUL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9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8.xml"/><Relationship Id="rId5" Type="http://schemas.openxmlformats.org/officeDocument/2006/relationships/image" Target="../media/image150.png"/><Relationship Id="rId4" Type="http://schemas.openxmlformats.org/officeDocument/2006/relationships/image" Target="../media/image14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20.png"/><Relationship Id="rId5" Type="http://schemas.openxmlformats.org/officeDocument/2006/relationships/image" Target="../media/image190.png"/><Relationship Id="rId4" Type="http://schemas.openxmlformats.org/officeDocument/2006/relationships/image" Target="../media/image18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7.xml"/><Relationship Id="rId4" Type="http://schemas.openxmlformats.org/officeDocument/2006/relationships/image" Target="NUL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3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1.png"/><Relationship Id="rId1" Type="http://schemas.openxmlformats.org/officeDocument/2006/relationships/slideLayout" Target="../slideLayouts/slideLayout3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2473" y="2016220"/>
            <a:ext cx="10387264" cy="461719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Fall 2025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	</a:t>
            </a:r>
          </a:p>
          <a:p>
            <a:r>
              <a:rPr lang="en-US" sz="3200" dirty="0">
                <a:solidFill>
                  <a:schemeClr val="tx1"/>
                </a:solidFill>
              </a:rPr>
              <a:t>	Introduction to Embedded Systems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sz="2200" dirty="0">
              <a:solidFill>
                <a:schemeClr val="tx1"/>
              </a:solidFill>
            </a:endParaRPr>
          </a:p>
          <a:p>
            <a:endParaRPr lang="en-US" sz="2200" dirty="0">
              <a:solidFill>
                <a:schemeClr val="tx1"/>
              </a:solidFill>
            </a:endParaRPr>
          </a:p>
          <a:p>
            <a:r>
              <a:rPr lang="en-US" sz="2200" dirty="0">
                <a:solidFill>
                  <a:schemeClr val="tx1"/>
                </a:solidFill>
              </a:rPr>
              <a:t>Michael Schimpf, PhD, mschimpf@scu.edu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818BAB-0338-734A-B1E8-2463F3B29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473" y="764818"/>
            <a:ext cx="9144000" cy="1144151"/>
          </a:xfrm>
        </p:spPr>
        <p:txBody>
          <a:bodyPr/>
          <a:lstStyle/>
          <a:p>
            <a:r>
              <a:rPr lang="en-US" dirty="0"/>
              <a:t>CSEN20</a:t>
            </a:r>
          </a:p>
        </p:txBody>
      </p:sp>
    </p:spTree>
    <p:extLst>
      <p:ext uri="{BB962C8B-B14F-4D97-AF65-F5344CB8AC3E}">
        <p14:creationId xmlns:p14="http://schemas.microsoft.com/office/powerpoint/2010/main" val="405208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Chapter 8</a:t>
            </a:r>
            <a:br>
              <a:rPr lang="en-US" dirty="0"/>
            </a:br>
            <a:r>
              <a:rPr lang="en-US" dirty="0"/>
              <a:t>Multiplication and Division Revisited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Part 1: Multiplication by a Constant </a:t>
            </a:r>
          </a:p>
        </p:txBody>
      </p:sp>
    </p:spTree>
    <p:extLst>
      <p:ext uri="{BB962C8B-B14F-4D97-AF65-F5344CB8AC3E}">
        <p14:creationId xmlns:p14="http://schemas.microsoft.com/office/powerpoint/2010/main" val="129786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614C6-8F06-44BA-B934-508FFC0EF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745181"/>
            <a:ext cx="4706295" cy="714651"/>
          </a:xfrm>
        </p:spPr>
        <p:txBody>
          <a:bodyPr/>
          <a:lstStyle/>
          <a:p>
            <a:r>
              <a:rPr lang="en-US" dirty="0"/>
              <a:t>Chapter 8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C2F18-4207-4115-AE24-A4953206B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1715459"/>
            <a:ext cx="10405252" cy="491795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Multiplication by a Constant (w/out MUL)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By specific constants (single instruction)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By arbitrary constants (instruction sequence)</a:t>
            </a:r>
          </a:p>
          <a:p>
            <a:r>
              <a:rPr lang="en-US" dirty="0">
                <a:solidFill>
                  <a:schemeClr val="tx1"/>
                </a:solidFill>
              </a:rPr>
              <a:t>Division by a Constant (w/out SDIV or UDIV)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By powers of 2 (generalization of ASR technique)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By arbitrary constants</a:t>
            </a:r>
          </a:p>
          <a:p>
            <a:r>
              <a:rPr lang="en-US" dirty="0">
                <a:solidFill>
                  <a:schemeClr val="tx1"/>
                </a:solidFill>
              </a:rPr>
              <a:t>N % 2</a:t>
            </a:r>
            <a:r>
              <a:rPr lang="en-US" baseline="30000" dirty="0">
                <a:solidFill>
                  <a:schemeClr val="tx1"/>
                </a:solidFill>
              </a:rPr>
              <a:t>K</a:t>
            </a:r>
            <a:r>
              <a:rPr lang="en-US" dirty="0">
                <a:solidFill>
                  <a:schemeClr val="tx1"/>
                </a:solidFill>
              </a:rPr>
              <a:t>: Problem using AND when N &lt; 0</a:t>
            </a:r>
          </a:p>
          <a:p>
            <a:r>
              <a:rPr lang="en-US" dirty="0">
                <a:solidFill>
                  <a:schemeClr val="tx1"/>
                </a:solidFill>
              </a:rPr>
              <a:t>Modulus: (Different from remainder)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Computing when divisor is a power of 2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Computing when divisor is NOT a power of 2</a:t>
            </a:r>
          </a:p>
        </p:txBody>
      </p:sp>
    </p:spTree>
    <p:extLst>
      <p:ext uri="{BB962C8B-B14F-4D97-AF65-F5344CB8AC3E}">
        <p14:creationId xmlns:p14="http://schemas.microsoft.com/office/powerpoint/2010/main" val="686862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548" y="740169"/>
            <a:ext cx="7637989" cy="770205"/>
          </a:xfrm>
        </p:spPr>
        <p:txBody>
          <a:bodyPr/>
          <a:lstStyle/>
          <a:p>
            <a:r>
              <a:rPr lang="en-US" dirty="0"/>
              <a:t>ARM Instruction Execution Times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2259924" y="2398247"/>
            <a:ext cx="3581400" cy="251174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46982" y="2340366"/>
            <a:ext cx="4312734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Division is always slow on any processor.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34092" y="3761459"/>
            <a:ext cx="3581400" cy="275798"/>
          </a:xfrm>
          <a:prstGeom prst="rect">
            <a:avLst/>
          </a:prstGeom>
          <a:solidFill>
            <a:srgbClr val="00B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46981" y="3766282"/>
            <a:ext cx="42124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Includes ADD, SUB, multiply and shifts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5797782" y="3933649"/>
            <a:ext cx="465780" cy="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5814362" y="2518935"/>
            <a:ext cx="449200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100072" y="6043140"/>
            <a:ext cx="532180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MS Mincho"/>
                <a:cs typeface="Times New Roman" panose="02020603050405020304" pitchFamily="18" charset="0"/>
              </a:rPr>
              <a:t>ARM® Corte®‑M4 Processor Technical Reference Manual, Revision r0p1.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48191" y="1813223"/>
          <a:ext cx="3581400" cy="2217166"/>
        </p:xfrm>
        <a:graphic>
          <a:graphicData uri="http://schemas.openxmlformats.org/drawingml/2006/table">
            <a:tbl>
              <a:tblPr firstRow="1" firstCol="1" bandRow="1"/>
              <a:tblGrid>
                <a:gridCol w="1339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26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SimSun"/>
                          <a:cs typeface="Times New Roman"/>
                        </a:rPr>
                        <a:t>Instructions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Calibri"/>
                        <a:ea typeface="Arial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SimSun"/>
                          <a:cs typeface="Times New Roman"/>
                        </a:rPr>
                        <a:t>Clock Cycles</a:t>
                      </a:r>
                      <a:endParaRPr lang="en-US" sz="1800" dirty="0">
                        <a:solidFill>
                          <a:schemeClr val="bg1"/>
                        </a:solidFill>
                        <a:effectLst/>
                        <a:latin typeface="Calibri"/>
                        <a:ea typeface="Arial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Calibri"/>
                        <a:ea typeface="Arial"/>
                        <a:cs typeface="Arial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 gridSpan="3"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/>
                          <a:ea typeface="SimSun"/>
                          <a:cs typeface="Times New Roman"/>
                        </a:rPr>
                        <a:t>PUSH, POP, LDM, STM, LDRD, STRD</a:t>
                      </a:r>
                      <a:endParaRPr lang="en-US" sz="1400" dirty="0">
                        <a:effectLst/>
                        <a:latin typeface="Calibri"/>
                        <a:ea typeface="Arial"/>
                        <a:cs typeface="Arial"/>
                      </a:endParaRPr>
                    </a:p>
                  </a:txBody>
                  <a:tcPr marL="73025" marR="7302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/>
                          <a:ea typeface="SimSun"/>
                          <a:cs typeface="Times New Roman"/>
                        </a:rPr>
                        <a:t>1 + #</a:t>
                      </a:r>
                      <a:r>
                        <a:rPr lang="en-US" sz="1400" dirty="0" err="1">
                          <a:effectLst/>
                          <a:latin typeface="Calibri"/>
                          <a:ea typeface="SimSun"/>
                          <a:cs typeface="Times New Roman"/>
                        </a:rPr>
                        <a:t>regs</a:t>
                      </a:r>
                      <a:endParaRPr lang="en-US" sz="1400" dirty="0">
                        <a:effectLst/>
                        <a:latin typeface="Calibri"/>
                        <a:ea typeface="Arial"/>
                        <a:cs typeface="Arial"/>
                      </a:endParaRPr>
                    </a:p>
                  </a:txBody>
                  <a:tcPr marL="73025" marR="7302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 gridSpan="3"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  <a:latin typeface="Calibri"/>
                          <a:ea typeface="SimSun"/>
                          <a:cs typeface="Times New Roman"/>
                        </a:rPr>
                        <a:t>SDIV, UDIV</a:t>
                      </a:r>
                      <a:endParaRPr lang="en-US" sz="1400" b="0" dirty="0">
                        <a:effectLst/>
                        <a:latin typeface="Calibri"/>
                        <a:ea typeface="Arial"/>
                        <a:cs typeface="Arial"/>
                      </a:endParaRPr>
                    </a:p>
                  </a:txBody>
                  <a:tcPr marL="73025" marR="7302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  <a:latin typeface="Calibri"/>
                          <a:ea typeface="SimSun"/>
                          <a:cs typeface="Times New Roman"/>
                        </a:rPr>
                        <a:t>2 - 12</a:t>
                      </a:r>
                      <a:endParaRPr lang="en-US" sz="1400" b="0" dirty="0">
                        <a:effectLst/>
                        <a:latin typeface="Calibri"/>
                        <a:ea typeface="Arial"/>
                        <a:cs typeface="Arial"/>
                      </a:endParaRPr>
                    </a:p>
                  </a:txBody>
                  <a:tcPr marL="73025" marR="7302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 gridSpan="3"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/>
                          <a:ea typeface="SimSun"/>
                          <a:cs typeface="Times New Roman"/>
                        </a:rPr>
                        <a:t>Branch (B, BL, BL, B)</a:t>
                      </a:r>
                      <a:endParaRPr lang="en-US" sz="1400" dirty="0">
                        <a:effectLst/>
                        <a:latin typeface="Calibri"/>
                        <a:ea typeface="Arial"/>
                        <a:cs typeface="Arial"/>
                      </a:endParaRPr>
                    </a:p>
                  </a:txBody>
                  <a:tcPr marL="73025" marR="7302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/>
                          <a:ea typeface="SimSun"/>
                          <a:cs typeface="Times New Roman"/>
                        </a:rPr>
                        <a:t>2 - 4</a:t>
                      </a:r>
                      <a:endParaRPr lang="en-US" sz="1400">
                        <a:effectLst/>
                        <a:latin typeface="Calibri"/>
                        <a:ea typeface="Arial"/>
                        <a:cs typeface="Arial"/>
                      </a:endParaRPr>
                    </a:p>
                  </a:txBody>
                  <a:tcPr marL="73025" marR="7302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 rowSpan="2" gridSpan="2"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/>
                          <a:ea typeface="SimSun"/>
                          <a:cs typeface="Times New Roman"/>
                        </a:rPr>
                        <a:t>Conditional Branch</a:t>
                      </a:r>
                      <a:endParaRPr lang="en-US" sz="1400" dirty="0">
                        <a:effectLst/>
                        <a:latin typeface="Calibri"/>
                        <a:ea typeface="Arial"/>
                        <a:cs typeface="Arial"/>
                      </a:endParaRPr>
                    </a:p>
                  </a:txBody>
                  <a:tcPr marL="73025" marR="7302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/>
                          <a:ea typeface="SimSun"/>
                          <a:cs typeface="Times New Roman"/>
                        </a:rPr>
                        <a:t>Successful</a:t>
                      </a:r>
                      <a:endParaRPr lang="en-US" sz="1400" dirty="0">
                        <a:effectLst/>
                        <a:latin typeface="Calibri"/>
                        <a:ea typeface="Arial"/>
                        <a:cs typeface="Arial"/>
                      </a:endParaRPr>
                    </a:p>
                  </a:txBody>
                  <a:tcPr marL="73025" marR="7302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/>
                          <a:ea typeface="SimSun"/>
                          <a:cs typeface="Times New Roman"/>
                        </a:rPr>
                        <a:t>2 - 4</a:t>
                      </a:r>
                      <a:endParaRPr lang="en-US" sz="1400">
                        <a:effectLst/>
                        <a:latin typeface="Calibri"/>
                        <a:ea typeface="Arial"/>
                        <a:cs typeface="Arial"/>
                      </a:endParaRPr>
                    </a:p>
                  </a:txBody>
                  <a:tcPr marL="73025" marR="7302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/>
                          <a:ea typeface="SimSun"/>
                          <a:cs typeface="Times New Roman"/>
                        </a:rPr>
                        <a:t>Failed</a:t>
                      </a:r>
                      <a:endParaRPr lang="en-US" sz="1400" dirty="0">
                        <a:effectLst/>
                        <a:latin typeface="Calibri"/>
                        <a:ea typeface="Arial"/>
                        <a:cs typeface="Arial"/>
                      </a:endParaRPr>
                    </a:p>
                  </a:txBody>
                  <a:tcPr marL="73025" marR="7302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/>
                          <a:ea typeface="SimSun"/>
                          <a:cs typeface="Times New Roman"/>
                        </a:rPr>
                        <a:t>1</a:t>
                      </a:r>
                      <a:endParaRPr lang="en-US" sz="1400" dirty="0">
                        <a:effectLst/>
                        <a:latin typeface="Calibri"/>
                        <a:ea typeface="Arial"/>
                        <a:cs typeface="Arial"/>
                      </a:endParaRPr>
                    </a:p>
                  </a:txBody>
                  <a:tcPr marL="73025" marR="7302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 gridSpan="3"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/>
                          <a:ea typeface="SimSun"/>
                          <a:cs typeface="Times New Roman"/>
                        </a:rPr>
                        <a:t>All other LDR’s and STR’s</a:t>
                      </a:r>
                      <a:endParaRPr lang="en-US" sz="1400" dirty="0">
                        <a:effectLst/>
                        <a:latin typeface="Calibri"/>
                        <a:ea typeface="Arial"/>
                        <a:cs typeface="Arial"/>
                      </a:endParaRPr>
                    </a:p>
                  </a:txBody>
                  <a:tcPr marL="73025" marR="7302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/>
                          <a:ea typeface="SimSun"/>
                          <a:cs typeface="Times New Roman"/>
                        </a:rPr>
                        <a:t>2</a:t>
                      </a:r>
                      <a:endParaRPr lang="en-US" sz="1400" dirty="0">
                        <a:effectLst/>
                        <a:latin typeface="Calibri"/>
                        <a:ea typeface="Arial"/>
                        <a:cs typeface="Arial"/>
                      </a:endParaRPr>
                    </a:p>
                  </a:txBody>
                  <a:tcPr marL="73025" marR="7302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 gridSpan="3"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/>
                          <a:ea typeface="SimSun"/>
                          <a:cs typeface="Times New Roman"/>
                        </a:rPr>
                        <a:t>All other instructions</a:t>
                      </a:r>
                      <a:endParaRPr lang="en-US" sz="1400" dirty="0">
                        <a:effectLst/>
                        <a:latin typeface="Calibri"/>
                        <a:ea typeface="Arial"/>
                        <a:cs typeface="Arial"/>
                      </a:endParaRPr>
                    </a:p>
                  </a:txBody>
                  <a:tcPr marL="73025" marR="7302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/>
                          <a:ea typeface="SimSun"/>
                          <a:cs typeface="Times New Roman"/>
                        </a:rPr>
                        <a:t>1</a:t>
                      </a:r>
                      <a:endParaRPr lang="en-US" sz="1400" dirty="0">
                        <a:effectLst/>
                        <a:latin typeface="Calibri"/>
                        <a:ea typeface="Arial"/>
                        <a:cs typeface="Arial"/>
                      </a:endParaRPr>
                    </a:p>
                  </a:txBody>
                  <a:tcPr marL="73025" marR="7302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pSp>
        <p:nvGrpSpPr>
          <p:cNvPr id="14" name="Group 13">
            <a:extLst>
              <a:ext uri="{FF2B5EF4-FFF2-40B4-BE49-F238E27FC236}">
                <a16:creationId xmlns:a16="http://schemas.microsoft.com/office/drawing/2014/main" id="{90D542E8-1238-4913-BB29-745A9A763A9F}"/>
              </a:ext>
            </a:extLst>
          </p:cNvPr>
          <p:cNvGrpSpPr/>
          <p:nvPr/>
        </p:nvGrpSpPr>
        <p:grpSpPr>
          <a:xfrm>
            <a:off x="2173054" y="4528639"/>
            <a:ext cx="8037746" cy="961508"/>
            <a:chOff x="895942" y="4792747"/>
            <a:chExt cx="8037746" cy="96150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1335AFC-F0DB-49BD-87B6-3EF2D437EB69}"/>
                </a:ext>
              </a:extLst>
            </p:cNvPr>
            <p:cNvSpPr/>
            <p:nvPr/>
          </p:nvSpPr>
          <p:spPr>
            <a:xfrm>
              <a:off x="895942" y="4792747"/>
              <a:ext cx="4572000" cy="92333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Some processors don’t have multiply or divide instructions, or their execution time is much greater than other instructions.</a:t>
              </a:r>
            </a:p>
          </p:txBody>
        </p:sp>
        <p:sp>
          <p:nvSpPr>
            <p:cNvPr id="12" name="Arrow: Right 11">
              <a:extLst>
                <a:ext uri="{FF2B5EF4-FFF2-40B4-BE49-F238E27FC236}">
                  <a16:creationId xmlns:a16="http://schemas.microsoft.com/office/drawing/2014/main" id="{BBEFBE40-4F89-425E-AFC9-3E87E701F561}"/>
                </a:ext>
              </a:extLst>
            </p:cNvPr>
            <p:cNvSpPr/>
            <p:nvPr/>
          </p:nvSpPr>
          <p:spPr>
            <a:xfrm>
              <a:off x="5678424" y="5063499"/>
              <a:ext cx="530352" cy="41375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0629157-469B-458A-B18C-79E684DD67C5}"/>
                </a:ext>
              </a:extLst>
            </p:cNvPr>
            <p:cNvSpPr/>
            <p:nvPr/>
          </p:nvSpPr>
          <p:spPr>
            <a:xfrm>
              <a:off x="6297226" y="5107924"/>
              <a:ext cx="2636462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We need fast alternatives!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46892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FD455-0BEE-4EDC-8D62-BA4024095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8547" y="730569"/>
            <a:ext cx="7658042" cy="641706"/>
          </a:xfrm>
        </p:spPr>
        <p:txBody>
          <a:bodyPr/>
          <a:lstStyle/>
          <a:p>
            <a:r>
              <a:rPr lang="en-US" dirty="0"/>
              <a:t>Multiplying by Specific Constants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1C63AEE7-FA31-4621-AE93-E198CC567BE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839165" y="2350483"/>
              <a:ext cx="8513670" cy="354431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65120">
                      <a:extLst>
                        <a:ext uri="{9D8B030D-6E8A-4147-A177-3AD203B41FA5}">
                          <a16:colId xmlns:a16="http://schemas.microsoft.com/office/drawing/2014/main" val="1214159917"/>
                        </a:ext>
                      </a:extLst>
                    </a:gridCol>
                    <a:gridCol w="1407775">
                      <a:extLst>
                        <a:ext uri="{9D8B030D-6E8A-4147-A177-3AD203B41FA5}">
                          <a16:colId xmlns:a16="http://schemas.microsoft.com/office/drawing/2014/main" val="1127146211"/>
                        </a:ext>
                      </a:extLst>
                    </a:gridCol>
                    <a:gridCol w="848155">
                      <a:extLst>
                        <a:ext uri="{9D8B030D-6E8A-4147-A177-3AD203B41FA5}">
                          <a16:colId xmlns:a16="http://schemas.microsoft.com/office/drawing/2014/main" val="3765751778"/>
                        </a:ext>
                      </a:extLst>
                    </a:gridCol>
                    <a:gridCol w="848155">
                      <a:extLst>
                        <a:ext uri="{9D8B030D-6E8A-4147-A177-3AD203B41FA5}">
                          <a16:colId xmlns:a16="http://schemas.microsoft.com/office/drawing/2014/main" val="2217807136"/>
                        </a:ext>
                      </a:extLst>
                    </a:gridCol>
                    <a:gridCol w="848155">
                      <a:extLst>
                        <a:ext uri="{9D8B030D-6E8A-4147-A177-3AD203B41FA5}">
                          <a16:colId xmlns:a16="http://schemas.microsoft.com/office/drawing/2014/main" val="2316342280"/>
                        </a:ext>
                      </a:extLst>
                    </a:gridCol>
                    <a:gridCol w="848155">
                      <a:extLst>
                        <a:ext uri="{9D8B030D-6E8A-4147-A177-3AD203B41FA5}">
                          <a16:colId xmlns:a16="http://schemas.microsoft.com/office/drawing/2014/main" val="782163260"/>
                        </a:ext>
                      </a:extLst>
                    </a:gridCol>
                    <a:gridCol w="848155">
                      <a:extLst>
                        <a:ext uri="{9D8B030D-6E8A-4147-A177-3AD203B41FA5}">
                          <a16:colId xmlns:a16="http://schemas.microsoft.com/office/drawing/2014/main" val="420024482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R0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←</m:t>
                              </m:r>
                            </m:oMath>
                          </a14:m>
                          <a:r>
                            <a:rPr lang="en-US" sz="2000" dirty="0"/>
                            <a:t> </a:t>
                          </a:r>
                          <a:r>
                            <a:rPr lang="en-US" sz="20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Multiplier</a:t>
                          </a:r>
                          <a:r>
                            <a:rPr lang="en-US" sz="2000" dirty="0"/>
                            <a:t>  × R1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Multiplier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48322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ADD R0,R1,R1,LSL </a:t>
                          </a:r>
                          <a:r>
                            <a:rPr lang="en-US" sz="2000" i="1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Times New Roman" panose="02020603050405020304" pitchFamily="18" charset="0"/>
                            </a:rPr>
                            <a:t>k</a:t>
                          </a:r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Arial" panose="020B0604020202020204" pitchFamily="34" charset="0"/>
                                  </a:rPr>
                                  <m:t>+(</m:t>
                                </m:r>
                                <m:sSup>
                                  <m:sSupPr>
                                    <m:ctrlPr>
                                      <a:rPr lang="en-US" sz="18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8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𝑘</m:t>
                                    </m:r>
                                  </m:sup>
                                </m:sSup>
                                <m:r>
                                  <a:rPr lang="en-US" sz="1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Arial" panose="020B0604020202020204" pitchFamily="34" charset="0"/>
                                  </a:rPr>
                                  <m:t>+1)</m:t>
                                </m:r>
                              </m:oMath>
                            </m:oMathPara>
                          </a14:m>
                          <a:endParaRPr lang="en-US" sz="18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17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33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133860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LSL R0,R1,</a:t>
                          </a:r>
                          <a:r>
                            <a:rPr lang="en-US" sz="2000" i="1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Times New Roman" panose="02020603050405020304" pitchFamily="18" charset="0"/>
                            </a:rPr>
                            <a:t>k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endParaRPr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Arial" panose="020B0604020202020204" pitchFamily="34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8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16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32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93205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RSB R0,R1,R1,LSL </a:t>
                          </a:r>
                          <a:r>
                            <a:rPr lang="en-US" sz="2000" i="1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Times New Roman" panose="02020603050405020304" pitchFamily="18" charset="0"/>
                            </a:rPr>
                            <a:t>k</a:t>
                          </a:r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Arial" panose="020B0604020202020204" pitchFamily="34" charset="0"/>
                                  </a:rPr>
                                  <m:t>+(</m:t>
                                </m:r>
                                <m:sSup>
                                  <m:sSupPr>
                                    <m:ctrlPr>
                                      <a:rPr lang="en-US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𝑘</m:t>
                                    </m:r>
                                  </m:sup>
                                </m:sSup>
                                <m:r>
                                  <a:rPr lang="en-US" sz="1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Arial" panose="020B0604020202020204" pitchFamily="34" charset="0"/>
                                  </a:rPr>
                                  <m:t>−1)</m:t>
                                </m:r>
                              </m:oMath>
                            </m:oMathPara>
                          </a14:m>
                          <a:endParaRPr lang="en-US" sz="18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31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418008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SUB R0,R1,R1,LSL </a:t>
                          </a:r>
                          <a:r>
                            <a:rPr lang="en-US" sz="2000" i="1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Times New Roman" panose="02020603050405020304" pitchFamily="18" charset="0"/>
                            </a:rPr>
                            <a:t>k</a:t>
                          </a:r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Arial" panose="020B0604020202020204" pitchFamily="34" charset="0"/>
                                  </a:rPr>
                                  <m:t>−(</m:t>
                                </m:r>
                                <m:sSup>
                                  <m:sSupPr>
                                    <m:ctrlPr>
                                      <a:rPr lang="en-US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𝑘</m:t>
                                    </m:r>
                                  </m:sup>
                                </m:sSup>
                                <m:r>
                                  <a:rPr lang="en-US" sz="18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Arial" panose="020B0604020202020204" pitchFamily="34" charset="0"/>
                                    <a:cs typeface="Arial" panose="020B0604020202020204" pitchFamily="34" charset="0"/>
                                  </a:rPr>
                                  <m:t>−1)</m:t>
                                </m:r>
                              </m:oMath>
                            </m:oMathPara>
                          </a14:m>
                          <a:endParaRPr lang="en-US" sz="1800" b="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n-US" sz="18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n-US" sz="18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n-US" sz="18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n-US" sz="18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15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r>
                                  <a:rPr lang="en-US" sz="18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31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032797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1C63AEE7-FA31-4621-AE93-E198CC567BEC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1839165" y="2350483"/>
              <a:ext cx="8513670" cy="354431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65120">
                      <a:extLst>
                        <a:ext uri="{9D8B030D-6E8A-4147-A177-3AD203B41FA5}">
                          <a16:colId xmlns:a16="http://schemas.microsoft.com/office/drawing/2014/main" val="1214159917"/>
                        </a:ext>
                      </a:extLst>
                    </a:gridCol>
                    <a:gridCol w="1407775">
                      <a:extLst>
                        <a:ext uri="{9D8B030D-6E8A-4147-A177-3AD203B41FA5}">
                          <a16:colId xmlns:a16="http://schemas.microsoft.com/office/drawing/2014/main" val="1127146211"/>
                        </a:ext>
                      </a:extLst>
                    </a:gridCol>
                    <a:gridCol w="848155">
                      <a:extLst>
                        <a:ext uri="{9D8B030D-6E8A-4147-A177-3AD203B41FA5}">
                          <a16:colId xmlns:a16="http://schemas.microsoft.com/office/drawing/2014/main" val="3765751778"/>
                        </a:ext>
                      </a:extLst>
                    </a:gridCol>
                    <a:gridCol w="848155">
                      <a:extLst>
                        <a:ext uri="{9D8B030D-6E8A-4147-A177-3AD203B41FA5}">
                          <a16:colId xmlns:a16="http://schemas.microsoft.com/office/drawing/2014/main" val="2217807136"/>
                        </a:ext>
                      </a:extLst>
                    </a:gridCol>
                    <a:gridCol w="848155">
                      <a:extLst>
                        <a:ext uri="{9D8B030D-6E8A-4147-A177-3AD203B41FA5}">
                          <a16:colId xmlns:a16="http://schemas.microsoft.com/office/drawing/2014/main" val="2316342280"/>
                        </a:ext>
                      </a:extLst>
                    </a:gridCol>
                    <a:gridCol w="848155">
                      <a:extLst>
                        <a:ext uri="{9D8B030D-6E8A-4147-A177-3AD203B41FA5}">
                          <a16:colId xmlns:a16="http://schemas.microsoft.com/office/drawing/2014/main" val="782163260"/>
                        </a:ext>
                      </a:extLst>
                    </a:gridCol>
                    <a:gridCol w="848155">
                      <a:extLst>
                        <a:ext uri="{9D8B030D-6E8A-4147-A177-3AD203B41FA5}">
                          <a16:colId xmlns:a16="http://schemas.microsoft.com/office/drawing/2014/main" val="4200244825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13" t="-7692" r="-197872" b="-8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Multiplier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5755" t="-7692" r="-402158" b="-8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05755" t="-7692" r="-302158" b="-8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05755" t="-7692" r="-202158" b="-8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00000" t="-7692" r="-100714" b="-8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06475" t="-7692" r="-1439" b="-8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4832256"/>
                      </a:ext>
                    </a:extLst>
                  </a:tr>
                  <a:tr h="78701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ADD R0,R1,R1,LSL </a:t>
                          </a:r>
                          <a:r>
                            <a:rPr lang="en-US" sz="2000" i="1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Times New Roman" panose="02020603050405020304" pitchFamily="18" charset="0"/>
                            </a:rPr>
                            <a:t>k</a:t>
                          </a:r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3017" t="-54264" r="-300862" b="-3031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5755" t="-54264" r="-402158" b="-3031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05755" t="-54264" r="-302158" b="-3031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05755" t="-54264" r="-202158" b="-3031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00000" t="-54264" r="-100714" b="-3031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06475" t="-54264" r="-1439" b="-30310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13386054"/>
                      </a:ext>
                    </a:extLst>
                  </a:tr>
                  <a:tr h="787019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LSL R0,R1,</a:t>
                          </a:r>
                          <a:r>
                            <a:rPr lang="en-US" sz="2000" i="1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Times New Roman" panose="02020603050405020304" pitchFamily="18" charset="0"/>
                            </a:rPr>
                            <a:t>k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</a:endParaRPr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3017" t="-153077" r="-300862" b="-20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5755" t="-153077" r="-402158" b="-20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05755" t="-153077" r="-302158" b="-20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05755" t="-153077" r="-202158" b="-20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00000" t="-153077" r="-100714" b="-20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06475" t="-153077" r="-1439" b="-2007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9320564"/>
                      </a:ext>
                    </a:extLst>
                  </a:tr>
                  <a:tr h="78701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RSB R0,R1,R1,LSL </a:t>
                          </a:r>
                          <a:r>
                            <a:rPr lang="en-US" sz="2000" i="1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Times New Roman" panose="02020603050405020304" pitchFamily="18" charset="0"/>
                            </a:rPr>
                            <a:t>k</a:t>
                          </a:r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3017" t="-255039" r="-300862" b="-10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5755" t="-255039" r="-402158" b="-10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05755" t="-255039" r="-302158" b="-10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05755" t="-255039" r="-202158" b="-10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00000" t="-255039" r="-100714" b="-10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06475" t="-255039" r="-1439" b="-1023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41800868"/>
                      </a:ext>
                    </a:extLst>
                  </a:tr>
                  <a:tr h="787019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2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</a:rPr>
                            <a:t>SUB R0,R1,R1,LSL </a:t>
                          </a:r>
                          <a:r>
                            <a:rPr lang="en-US" sz="2000" i="1" dirty="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Times New Roman" panose="02020603050405020304" pitchFamily="18" charset="0"/>
                            </a:rPr>
                            <a:t>k</a:t>
                          </a:r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3017" t="-355039" r="-300862" b="-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5755" t="-355039" r="-402158" b="-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05755" t="-355039" r="-302158" b="-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05755" t="-355039" r="-202158" b="-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00000" t="-355039" r="-100714" b="-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B="18288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06475" t="-355039" r="-1439" b="-23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0327977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41C8E70F-B1CA-45E3-AA23-488184C493E8}"/>
              </a:ext>
            </a:extLst>
          </p:cNvPr>
          <p:cNvGrpSpPr/>
          <p:nvPr/>
        </p:nvGrpSpPr>
        <p:grpSpPr>
          <a:xfrm>
            <a:off x="1839166" y="1372274"/>
            <a:ext cx="8728251" cy="709429"/>
            <a:chOff x="315165" y="5889211"/>
            <a:chExt cx="8728251" cy="7094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70BDF5F-EC5C-4F83-8E54-8853334ABFE8}"/>
                    </a:ext>
                  </a:extLst>
                </p:cNvPr>
                <p:cNvSpPr txBox="1"/>
                <p:nvPr/>
              </p:nvSpPr>
              <p:spPr>
                <a:xfrm>
                  <a:off x="2162253" y="5889211"/>
                  <a:ext cx="6881163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>
                      <a:tab pos="2112963" algn="l"/>
                      <a:tab pos="3484563" algn="l"/>
                    </a:tabLst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nsolas" panose="020B0609020204030204" pitchFamily="49" charset="0"/>
                      <a:ea typeface="+mn-ea"/>
                      <a:cs typeface="+mn-cs"/>
                    </a:rPr>
                    <a:t>LDR R0,=</a:t>
                  </a:r>
                  <a:r>
                    <a:rPr kumimoji="0" lang="en-US" sz="20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rPr>
                    <a:t>constant	</a:t>
                  </a: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nsolas" panose="020B0609020204030204" pitchFamily="49" charset="0"/>
                      <a:ea typeface="+mn-ea"/>
                      <a:cs typeface="Times New Roman" panose="02020603050405020304" pitchFamily="18" charset="0"/>
                    </a:rPr>
                    <a:t>//</a:t>
                  </a:r>
                  <a:r>
                    <a:rPr kumimoji="0" lang="en-US" sz="20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kumimoji="0" 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1 </m:t>
                      </m:r>
                      <m:r>
                        <a:rPr kumimoji="0" 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𝑐𝑙𝑜𝑐𝑘</m:t>
                      </m:r>
                      <m:r>
                        <a:rPr kumimoji="0" 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</m:oMath>
                  </a14:m>
                  <a:r>
                    <a:rPr kumimoji="0" lang="en-US" sz="20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rPr>
                    <a:t>to load constant into a register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>
                      <a:tab pos="2112963" algn="l"/>
                      <a:tab pos="3484563" algn="l"/>
                    </a:tabLst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nsolas" panose="020B0609020204030204" pitchFamily="49" charset="0"/>
                      <a:ea typeface="+mn-ea"/>
                      <a:cs typeface="+mn-cs"/>
                    </a:rPr>
                    <a:t>MUL R0,R1,R0	//</a:t>
                  </a:r>
                  <a14:m>
                    <m:oMath xmlns:m="http://schemas.openxmlformats.org/officeDocument/2006/math">
                      <m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0" 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1 </m:t>
                      </m:r>
                      <m:r>
                        <a:rPr kumimoji="0" 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𝑐𝑙𝑜𝑐𝑘</m:t>
                      </m:r>
                      <m:r>
                        <a:rPr kumimoji="0" 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0" 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𝑜𝑛</m:t>
                      </m:r>
                      <m:r>
                        <a:rPr kumimoji="0" 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0" 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𝐴𝑅𝑀</m:t>
                      </m:r>
                      <m:r>
                        <a:rPr kumimoji="0" 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,  </m:t>
                      </m:r>
                      <m:r>
                        <a:rPr kumimoji="0" 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𝑚𝑜𝑟𝑒</m:t>
                      </m:r>
                      <m:r>
                        <a:rPr kumimoji="0" 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0" 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𝑜𝑛</m:t>
                      </m:r>
                      <m:r>
                        <a:rPr kumimoji="0" 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0" 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𝑜𝑡ℎ𝑒𝑟</m:t>
                      </m:r>
                      <m:r>
                        <a:rPr kumimoji="0" 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0" 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𝐶𝑃𝑈𝑠</m:t>
                      </m:r>
                    </m:oMath>
                  </a14:m>
                  <a:endPara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70BDF5F-EC5C-4F83-8E54-8853334ABF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2253" y="5889211"/>
                  <a:ext cx="6881163" cy="707886"/>
                </a:xfrm>
                <a:prstGeom prst="rect">
                  <a:avLst/>
                </a:prstGeom>
                <a:blipFill>
                  <a:blip r:embed="rId4"/>
                  <a:stretch>
                    <a:fillRect l="-974" t="-5172" b="-1465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DE95F1C-4F05-40C3-B0FA-D1DA3ED0CAAD}"/>
                </a:ext>
              </a:extLst>
            </p:cNvPr>
            <p:cNvSpPr txBox="1"/>
            <p:nvPr/>
          </p:nvSpPr>
          <p:spPr>
            <a:xfrm>
              <a:off x="315165" y="5890754"/>
              <a:ext cx="1233219" cy="707886"/>
            </a:xfrm>
            <a:prstGeom prst="rect">
              <a:avLst/>
            </a:prstGeom>
            <a:solidFill>
              <a:srgbClr val="FF0000">
                <a:alpha val="25000"/>
              </a:srgb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1371600" algn="l"/>
                  <a:tab pos="3484563" algn="l"/>
                </a:tabLst>
                <a:defRPr/>
              </a:pP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Times New Roman" panose="02020603050405020304" pitchFamily="18" charset="0"/>
                </a:rPr>
                <a:t>MUL</a:t>
              </a: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takes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1371600" algn="l"/>
                  <a:tab pos="3484563" algn="l"/>
                </a:tabLst>
                <a:defRPr/>
              </a:pP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2 clocks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endParaRPr>
            </a:p>
          </p:txBody>
        </p:sp>
        <p:sp>
          <p:nvSpPr>
            <p:cNvPr id="3" name="Arrow: Right 2">
              <a:extLst>
                <a:ext uri="{FF2B5EF4-FFF2-40B4-BE49-F238E27FC236}">
                  <a16:creationId xmlns:a16="http://schemas.microsoft.com/office/drawing/2014/main" id="{D5F69E38-E077-4A88-BA0E-E2D161CD516D}"/>
                </a:ext>
              </a:extLst>
            </p:cNvPr>
            <p:cNvSpPr/>
            <p:nvPr/>
          </p:nvSpPr>
          <p:spPr>
            <a:xfrm>
              <a:off x="1618185" y="6062472"/>
              <a:ext cx="362712" cy="329184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93911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278821" y="1322227"/>
                <a:ext cx="6692599" cy="4801314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0100" algn="l"/>
                    <a:tab pos="2286000" algn="l"/>
                    <a:tab pos="4351338" algn="l"/>
                  </a:tabLst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LDR	R0,[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⋯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]	      // R0 = </a:t>
                </a:r>
                <a:r>
                  <a:rPr kumimoji="0" lang="en-US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operand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0100" algn="l"/>
                    <a:tab pos="2286000" algn="l"/>
                    <a:tab pos="4351338" algn="l"/>
                  </a:tabLst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0100" algn="l"/>
                    <a:tab pos="2286000" algn="l"/>
                    <a:tab pos="4351338" algn="l"/>
                  </a:tabLst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LSL	R1,R0,6	       // R1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  <a:sym typeface="Wingdings" panose="05000000000000000000" pitchFamily="2" charset="2"/>
                  </a:rPr>
                  <a:t>= 64×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0100" algn="l"/>
                    <a:tab pos="2286000" algn="l"/>
                    <a:tab pos="4351338" algn="l"/>
                  </a:tabLst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ADD	R1,R1,R0,LSL 3    // R1 = 64×+ 8×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0100" algn="l"/>
                    <a:tab pos="2286000" algn="l"/>
                    <a:tab pos="4351338" algn="l"/>
                  </a:tabLst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ADD	R1,R1,R0,LSL 1    // R1 = 64× + 8× + 2×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0100" algn="l"/>
                    <a:tab pos="2286000" algn="l"/>
                    <a:tab pos="4351338" algn="l"/>
                  </a:tabLst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0100" algn="l"/>
                    <a:tab pos="2286000" algn="l"/>
                    <a:tab pos="4351338" algn="l"/>
                  </a:tabLst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0100" algn="l"/>
                    <a:tab pos="2286000" algn="l"/>
                    <a:tab pos="4351338" algn="l"/>
                  </a:tabLst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LSL	R1,R0,5	       // R1 = 32×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0100" algn="l"/>
                    <a:tab pos="2286000" algn="l"/>
                    <a:tab pos="4351338" algn="l"/>
                  </a:tabLst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SUB	R1,R1,R0,LSL 1    // R1 = 32× – 2×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0100" algn="l"/>
                    <a:tab pos="2286000" algn="l"/>
                    <a:tab pos="4351338" algn="l"/>
                  </a:tabLst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0100" algn="l"/>
                    <a:tab pos="2286000" algn="l"/>
                    <a:tab pos="4351338" algn="l"/>
                  </a:tabLst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0100" algn="l"/>
                    <a:tab pos="2286000" algn="l"/>
                    <a:tab pos="4351338" algn="l"/>
                  </a:tabLst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LSL	R1,R0,1	       // R1 = 2×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0100" algn="l"/>
                    <a:tab pos="2286000" algn="l"/>
                    <a:tab pos="4351338" algn="l"/>
                  </a:tabLst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SUB	R1,R1,R0,LSL 4    // R1 = 2× – 16×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0100" algn="l"/>
                    <a:tab pos="2286000" algn="l"/>
                    <a:tab pos="4351338" algn="l"/>
                  </a:tabLst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0100" algn="l"/>
                    <a:tab pos="2286000" algn="l"/>
                    <a:tab pos="4351338" algn="l"/>
                  </a:tabLst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0100" algn="l"/>
                    <a:tab pos="2286000" algn="l"/>
                    <a:tab pos="4351338" algn="l"/>
                  </a:tabLst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SUB	R1,R0,R0,LSL 1    // R1 = -1×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800100" algn="l"/>
                    <a:tab pos="2286000" algn="l"/>
                    <a:tab pos="4351338" algn="l"/>
                  </a:tabLst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SUB	R1,R1,R0,LSL 4    // R1 = -16×-1×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8821" y="1322227"/>
                <a:ext cx="6692599" cy="4801314"/>
              </a:xfrm>
              <a:prstGeom prst="rect">
                <a:avLst/>
              </a:prstGeom>
              <a:blipFill>
                <a:blip r:embed="rId2"/>
                <a:stretch>
                  <a:fillRect l="-727" t="-633" b="-886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15"/>
              <p:cNvGraphicFramePr>
                <a:graphicFrameLocks noGrp="1"/>
              </p:cNvGraphicFramePr>
              <p:nvPr/>
            </p:nvGraphicFramePr>
            <p:xfrm>
              <a:off x="949679" y="1773605"/>
              <a:ext cx="4180578" cy="21844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89611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8426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0671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i="1" dirty="0">
                              <a:solidFill>
                                <a:schemeClr val="bg1"/>
                              </a:solidFill>
                              <a:effectLst/>
                              <a:latin typeface="Calibri"/>
                              <a:ea typeface="Arial"/>
                              <a:cs typeface="Calibri"/>
                            </a:rPr>
                            <a:t>Multiplier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i="1" dirty="0">
                              <a:solidFill>
                                <a:schemeClr val="bg1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Binary Representation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i="1" dirty="0">
                              <a:solidFill>
                                <a:schemeClr val="bg1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Optimal Decomposition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046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+74</a:t>
                          </a:r>
                          <a:endParaRPr lang="en-US" sz="1600">
                            <a:solidFill>
                              <a:srgbClr val="000000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i="1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/>
                                    <a:cs typeface="Calibri"/>
                                  </a:rPr>
                                  <m:t>0</m:t>
                                </m:r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  <m:r>
                                  <a:rPr lang="en-US" sz="1600" b="0" i="1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/>
                                    <a:cs typeface="Calibri"/>
                                  </a:rPr>
                                  <m:t>0</m:t>
                                </m:r>
                                <m:r>
                                  <a:rPr lang="en-US" sz="1600" i="1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/>
                                    <a:cs typeface="Calibri"/>
                                  </a:rPr>
                                  <m:t>1001010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2</a:t>
                          </a:r>
                          <a:r>
                            <a:rPr lang="en-US" sz="1600" baseline="30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6</a:t>
                          </a: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A + 2</a:t>
                          </a:r>
                          <a:r>
                            <a:rPr lang="en-US" sz="1600" baseline="30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3</a:t>
                          </a: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A + 2</a:t>
                          </a:r>
                          <a:r>
                            <a:rPr lang="en-US" sz="1600" baseline="30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1</a:t>
                          </a: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A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046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+30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i="1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/>
                                    <a:cs typeface="Calibri"/>
                                  </a:rPr>
                                  <m:t>0</m:t>
                                </m:r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00</m:t>
                                </m:r>
                                <m:r>
                                  <a:rPr lang="en-US" sz="1600" i="1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/>
                                    <a:cs typeface="Calibri"/>
                                  </a:rPr>
                                  <m:t>011110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2</a:t>
                          </a:r>
                          <a:r>
                            <a:rPr lang="en-US" sz="1600" baseline="30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5</a:t>
                          </a: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A – 2</a:t>
                          </a:r>
                          <a:r>
                            <a:rPr lang="en-US" sz="1600" baseline="30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1</a:t>
                          </a: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A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046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‑14</a:t>
                          </a:r>
                          <a:endParaRPr lang="en-US" sz="1600">
                            <a:solidFill>
                              <a:srgbClr val="000000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i="1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/>
                                    <a:cs typeface="Calibri"/>
                                  </a:rPr>
                                  <m:t>1</m:t>
                                </m:r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1600" i="1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/>
                                    <a:cs typeface="Calibri"/>
                                  </a:rPr>
                                  <m:t>1110010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–2</a:t>
                          </a:r>
                          <a:r>
                            <a:rPr lang="en-US" sz="1600" baseline="30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4</a:t>
                          </a: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A + 2</a:t>
                          </a:r>
                          <a:r>
                            <a:rPr lang="en-US" sz="1600" baseline="30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1</a:t>
                          </a: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A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046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-17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i="1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/>
                                    <a:cs typeface="Calibri"/>
                                  </a:rPr>
                                  <m:t>1</m:t>
                                </m:r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1600" i="1" dirty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/>
                                    <a:cs typeface="Calibri"/>
                                  </a:rPr>
                                  <m:t>1101111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–2</a:t>
                          </a:r>
                          <a:r>
                            <a:rPr lang="en-US" sz="1600" baseline="30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4</a:t>
                          </a: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A - 2</a:t>
                          </a:r>
                          <a:r>
                            <a:rPr lang="en-US" sz="1600" baseline="30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0</a:t>
                          </a: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A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1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38835430"/>
                  </p:ext>
                </p:extLst>
              </p:nvPr>
            </p:nvGraphicFramePr>
            <p:xfrm>
              <a:off x="949679" y="1773605"/>
              <a:ext cx="4180578" cy="21844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89611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8426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2672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i="1" dirty="0">
                              <a:solidFill>
                                <a:schemeClr val="bg1"/>
                              </a:solidFill>
                              <a:effectLst/>
                              <a:latin typeface="Calibri"/>
                              <a:ea typeface="Arial"/>
                              <a:cs typeface="Calibri"/>
                            </a:rPr>
                            <a:t>Multiplier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i="1" dirty="0">
                              <a:solidFill>
                                <a:schemeClr val="bg1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Binary Representation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400" b="1" i="1" dirty="0">
                              <a:solidFill>
                                <a:schemeClr val="bg1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Optimal Decomposition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3942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+74</a:t>
                          </a:r>
                          <a:endParaRPr lang="en-US" sz="1600">
                            <a:solidFill>
                              <a:srgbClr val="000000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6274" t="-106849" r="-106084" b="-3082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2</a:t>
                          </a:r>
                          <a:r>
                            <a:rPr lang="en-US" sz="1600" baseline="30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6</a:t>
                          </a: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A + 2</a:t>
                          </a:r>
                          <a:r>
                            <a:rPr lang="en-US" sz="1600" baseline="30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3</a:t>
                          </a: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A + 2</a:t>
                          </a:r>
                          <a:r>
                            <a:rPr lang="en-US" sz="1600" baseline="30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1</a:t>
                          </a: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A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3942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+30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6274" t="-209722" r="-106084" b="-2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2</a:t>
                          </a:r>
                          <a:r>
                            <a:rPr lang="en-US" sz="1600" baseline="30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5</a:t>
                          </a: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A – 2</a:t>
                          </a:r>
                          <a:r>
                            <a:rPr lang="en-US" sz="1600" baseline="30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1</a:t>
                          </a: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A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3942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‑14</a:t>
                          </a:r>
                          <a:endParaRPr lang="en-US" sz="1600">
                            <a:solidFill>
                              <a:srgbClr val="000000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6274" t="-305479" r="-106084" b="-1095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–2</a:t>
                          </a:r>
                          <a:r>
                            <a:rPr lang="en-US" sz="1600" baseline="30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4</a:t>
                          </a: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A + 2</a:t>
                          </a:r>
                          <a:r>
                            <a:rPr lang="en-US" sz="1600" baseline="30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1</a:t>
                          </a: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A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3942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-17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6274" t="-411111" r="-106084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–2</a:t>
                          </a:r>
                          <a:r>
                            <a:rPr lang="en-US" sz="1600" baseline="30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4</a:t>
                          </a: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A - 2</a:t>
                          </a:r>
                          <a:r>
                            <a:rPr lang="en-US" sz="1600" baseline="30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0</a:t>
                          </a: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A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4" name="Rectangle 33"/>
          <p:cNvSpPr/>
          <p:nvPr/>
        </p:nvSpPr>
        <p:spPr>
          <a:xfrm>
            <a:off x="949679" y="2661017"/>
            <a:ext cx="4180578" cy="409576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096000" y="4403645"/>
            <a:ext cx="4321276" cy="536555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096000" y="3289737"/>
            <a:ext cx="4321276" cy="536555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096000" y="1945745"/>
            <a:ext cx="4321276" cy="825910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096000" y="5514439"/>
            <a:ext cx="4321276" cy="536555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940537" y="3513792"/>
            <a:ext cx="4180578" cy="444213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44874"/>
            <a:ext cx="7774347" cy="622716"/>
          </a:xfrm>
        </p:spPr>
        <p:txBody>
          <a:bodyPr>
            <a:normAutofit/>
          </a:bodyPr>
          <a:lstStyle/>
          <a:p>
            <a:r>
              <a:rPr lang="en-US" dirty="0"/>
              <a:t>Multiplying by Arbitrary Constants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0537" y="2217819"/>
            <a:ext cx="4180577" cy="409576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940537" y="3084949"/>
            <a:ext cx="4180577" cy="409576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949679" y="4296668"/>
                <a:ext cx="3114269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A span of 1’s is the </a:t>
                </a:r>
                <a:br>
                  <a:rPr kumimoji="0" lang="en-US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</a:br>
                <a:r>
                  <a:rPr kumimoji="0" lang="en-US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same as a difference: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a: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  <m:r>
                      <a: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 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⋯ </m:t>
                    </m:r>
                    <m:r>
                      <a: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  <m:r>
                      <a: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𝟏</m:t>
                    </m:r>
                    <m:r>
                      <a: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00000 =(2</m:t>
                    </m:r>
                    <m:r>
                      <a:rPr kumimoji="0" lang="en-US" sz="1800" b="0" i="1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5</m:t>
                    </m:r>
                    <m:r>
                      <a: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kumimoji="0" lang="en-US" sz="1800" b="0" i="1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−0</m:t>
                      </m:r>
                      <m:r>
                        <a:rPr kumimoji="0" lang="en-US" sz="1800" b="0" i="1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 </m:t>
                      </m:r>
                      <m:r>
                        <a:rPr kumimoji="0" lang="en-US" sz="1800" b="0" i="1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⋯ </m:t>
                      </m:r>
                      <m:r>
                        <a:rPr kumimoji="0" lang="en-US" sz="1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00000</m:t>
                      </m:r>
                      <m:r>
                        <a:rPr kumimoji="0" lang="en-US" sz="1800" b="1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𝟏</m:t>
                      </m:r>
                      <m:r>
                        <a:rPr kumimoji="0" lang="en-US" sz="1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0</m:t>
                      </m:r>
                      <m:r>
                        <a:rPr kumimoji="0" lang="en-US" sz="1800" b="0" i="1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=(2</m:t>
                      </m:r>
                      <m:r>
                        <a:rPr kumimoji="0" lang="en-US" sz="1800" b="0" i="1" u="sng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</m:t>
                      </m:r>
                      <m:r>
                        <a:rPr kumimoji="0" lang="en-US" sz="1800" b="0" i="1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en-US" sz="1800" b="0" i="0" u="sng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 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  <m:r>
                      <a: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 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⋯ </m:t>
                    </m:r>
                    <m:r>
                      <a: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00</m:t>
                    </m:r>
                    <m:r>
                      <a:rPr kumimoji="0" lang="en-US" sz="18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𝟏𝟏𝟏𝟏</m:t>
                    </m:r>
                    <m:r>
                      <a: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0</m:t>
                    </m:r>
                  </m:oMath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679" y="4296668"/>
                <a:ext cx="3114269" cy="1754326"/>
              </a:xfrm>
              <a:prstGeom prst="rect">
                <a:avLst/>
              </a:prstGeom>
              <a:blipFill>
                <a:blip r:embed="rId4"/>
                <a:stretch>
                  <a:fillRect l="-1761" t="-2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8232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181727" y="1378459"/>
            <a:ext cx="8458200" cy="5197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16863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= 0100  0001  1101  1111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= 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14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7663" marR="0" lvl="0" indent="-347663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"/>
              <a:tabLst>
                <a:tab pos="1033463" algn="l"/>
                <a:tab pos="1671638" algn="l"/>
              </a:tabLst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LSL	R1,R0,14	// R1 =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14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R0</a:t>
            </a:r>
          </a:p>
          <a:p>
            <a:pPr marL="34290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033463" algn="l"/>
                <a:tab pos="1671638" algn="l"/>
              </a:tabLst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	R1,R1,R0,LSL 8	// R1 = (2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14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)R0</a:t>
            </a:r>
          </a:p>
          <a:p>
            <a:pPr marL="34290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033463" algn="l"/>
                <a:tab pos="1671638" algn="l"/>
              </a:tabLst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	R1,R1,R0,LSL 7	// R1 = (2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14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)R0</a:t>
            </a:r>
          </a:p>
          <a:p>
            <a:pPr marL="34290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033463" algn="l"/>
                <a:tab pos="1671638" algn="l"/>
              </a:tabLst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	R1,R1,R0,LSL 6	// R1 = (2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14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)R0</a:t>
            </a:r>
          </a:p>
          <a:p>
            <a:pPr marL="34290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033463" algn="l"/>
                <a:tab pos="1671638" algn="l"/>
              </a:tabLst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	R1,R1,R0,LSL 4	// R1 = (2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14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)R0</a:t>
            </a:r>
          </a:p>
          <a:p>
            <a:pPr marL="34290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033463" algn="l"/>
                <a:tab pos="1671638" algn="l"/>
              </a:tabLst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	R1,R1,R0,LSL 3	// R1 = (2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14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)R0</a:t>
            </a:r>
          </a:p>
          <a:p>
            <a:pPr marL="34290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033463" algn="l"/>
                <a:tab pos="1671638" algn="l"/>
              </a:tabLst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	R1,R1,R0,LSL 2	// R1 = (2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14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)R0</a:t>
            </a:r>
          </a:p>
          <a:p>
            <a:pPr marL="34290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033463" algn="l"/>
                <a:tab pos="1671638" algn="l"/>
              </a:tabLst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	R1,R1,R0,LSL 1	// R1 = (2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14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)R0</a:t>
            </a:r>
          </a:p>
          <a:p>
            <a:pPr marL="34290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033463" algn="l"/>
                <a:tab pos="1671638" algn="l"/>
              </a:tabLst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	R1,R1,R0	// R1 = (2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14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)R0</a:t>
            </a:r>
          </a:p>
          <a:p>
            <a:pPr marL="34290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033463" algn="l"/>
                <a:tab pos="1671638" algn="l"/>
              </a:tabLst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033463" algn="l"/>
                <a:tab pos="1671638" algn="l"/>
              </a:tabLst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 instructions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537" y="737161"/>
            <a:ext cx="10718074" cy="682566"/>
          </a:xfrm>
        </p:spPr>
        <p:txBody>
          <a:bodyPr>
            <a:normAutofit/>
          </a:bodyPr>
          <a:lstStyle/>
          <a:p>
            <a:r>
              <a:rPr lang="en-US" sz="2800" dirty="0"/>
              <a:t>Multiplying by Arbitrary Constants </a:t>
            </a:r>
            <a:r>
              <a:rPr lang="en-US" sz="2800" i="1" dirty="0"/>
              <a:t>(Binary Decomposition)</a:t>
            </a:r>
          </a:p>
        </p:txBody>
      </p:sp>
    </p:spTree>
    <p:extLst>
      <p:ext uri="{BB962C8B-B14F-4D97-AF65-F5344CB8AC3E}">
        <p14:creationId xmlns:p14="http://schemas.microsoft.com/office/powerpoint/2010/main" val="3773168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41220" y="1540195"/>
            <a:ext cx="8229600" cy="50433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16863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= 0100  000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1  11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1  1111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= 0100  00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10  00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10  0000	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14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─ 0000  0000  0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00  000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	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= 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14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- 2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8854" marR="0" lvl="0" indent="-348854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"/>
              <a:tabLst>
                <a:tab pos="1034654" algn="l"/>
                <a:tab pos="2743200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LSL	R1,R0,14		// R1 = 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14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R0</a:t>
            </a:r>
          </a:p>
          <a:p>
            <a:pPr marL="34290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034654" algn="l"/>
                <a:tab pos="2743200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	R1,R1,R0,LSL 9	// R1 = (2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14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)R0</a:t>
            </a:r>
          </a:p>
          <a:p>
            <a:pPr marL="34290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034654" algn="l"/>
                <a:tab pos="2743200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SUB	R1,R1,R0,LSL 6	// R1 = (2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14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- 2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)R0</a:t>
            </a:r>
          </a:p>
          <a:p>
            <a:pPr marL="34290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034654" algn="l"/>
                <a:tab pos="2743200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	R1,R1,R0,LSL 5	// R1 = (2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14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- 2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)R0</a:t>
            </a:r>
          </a:p>
          <a:p>
            <a:pPr marL="34290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034654" algn="l"/>
                <a:tab pos="2743200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SUB	R1,R1,R0		// R1 = (2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14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- 2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)R0</a:t>
            </a:r>
          </a:p>
          <a:p>
            <a:pPr marL="34290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034654" algn="l"/>
                <a:tab pos="2743200" algn="l"/>
              </a:tabLst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034654" algn="l"/>
                <a:tab pos="2743200" algn="l"/>
              </a:tabLst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 instructions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36516" y="737161"/>
            <a:ext cx="10417284" cy="662514"/>
          </a:xfrm>
        </p:spPr>
        <p:txBody>
          <a:bodyPr>
            <a:normAutofit/>
          </a:bodyPr>
          <a:lstStyle/>
          <a:p>
            <a:r>
              <a:rPr lang="en-US" sz="2800" dirty="0"/>
              <a:t>Multiplying by Arbitrary Constants </a:t>
            </a:r>
            <a:r>
              <a:rPr lang="en-US" sz="2800" i="1" dirty="0"/>
              <a:t>(Substring Optimization)</a:t>
            </a:r>
          </a:p>
        </p:txBody>
      </p:sp>
    </p:spTree>
    <p:extLst>
      <p:ext uri="{BB962C8B-B14F-4D97-AF65-F5344CB8AC3E}">
        <p14:creationId xmlns:p14="http://schemas.microsoft.com/office/powerpoint/2010/main" val="3052548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81200" y="1787097"/>
            <a:ext cx="8435340" cy="42312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16863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=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7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73	(Prime Factors of 16863)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=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33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7  73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= 33  511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= (32 + 1)  (512 – 1) = (2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+ 1)  (2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– 1) 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8854" marR="0" lvl="0" indent="-348854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"/>
              <a:tabLst>
                <a:tab pos="1034654" algn="l"/>
                <a:tab pos="2788444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	R1,R0,R0,LSL 5	// R1 = (2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+ 1)R0</a:t>
            </a:r>
          </a:p>
          <a:p>
            <a:pPr marL="34290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034654" algn="l"/>
                <a:tab pos="2788444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RSB	R1,R1,R1,LSL 9	// R1 = (2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- 1)R1 = (2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- 1) (2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+ 1)R0</a:t>
            </a:r>
          </a:p>
          <a:p>
            <a:pPr marL="34290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034654" algn="l"/>
                <a:tab pos="2788444" algn="l"/>
              </a:tabLst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034654" algn="l"/>
                <a:tab pos="2788444" algn="l"/>
              </a:tabLst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 instructions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44537" y="721119"/>
            <a:ext cx="10417284" cy="650482"/>
          </a:xfrm>
        </p:spPr>
        <p:txBody>
          <a:bodyPr>
            <a:normAutofit/>
          </a:bodyPr>
          <a:lstStyle/>
          <a:p>
            <a:r>
              <a:rPr lang="en-US" dirty="0"/>
              <a:t>Multiplying by Arbitrary Constants </a:t>
            </a:r>
            <a:r>
              <a:rPr lang="en-US" i="1" dirty="0"/>
              <a:t>(Factoring)</a:t>
            </a:r>
          </a:p>
        </p:txBody>
      </p:sp>
    </p:spTree>
    <p:extLst>
      <p:ext uri="{BB962C8B-B14F-4D97-AF65-F5344CB8AC3E}">
        <p14:creationId xmlns:p14="http://schemas.microsoft.com/office/powerpoint/2010/main" val="3314991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Chapter 8</a:t>
            </a:r>
            <a:br>
              <a:rPr lang="en-US" dirty="0"/>
            </a:br>
            <a:r>
              <a:rPr lang="en-US" dirty="0"/>
              <a:t>Multiplication and Division Revisited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Part 2: Division by a Constant </a:t>
            </a:r>
          </a:p>
        </p:txBody>
      </p:sp>
    </p:spTree>
    <p:extLst>
      <p:ext uri="{BB962C8B-B14F-4D97-AF65-F5344CB8AC3E}">
        <p14:creationId xmlns:p14="http://schemas.microsoft.com/office/powerpoint/2010/main" val="1873877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/>
            </p:nvGraphicFramePr>
            <p:xfrm>
              <a:off x="2379592" y="2121608"/>
              <a:ext cx="7432817" cy="216708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271316">
                      <a:extLst>
                        <a:ext uri="{9D8B030D-6E8A-4147-A177-3AD203B41FA5}">
                          <a16:colId xmlns:a16="http://schemas.microsoft.com/office/drawing/2014/main" val="668890252"/>
                        </a:ext>
                      </a:extLst>
                    </a:gridCol>
                    <a:gridCol w="127131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7711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60404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45267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66734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i="1" dirty="0">
                              <a:solidFill>
                                <a:schemeClr val="bg1"/>
                              </a:solidFill>
                              <a:effectLst/>
                              <a:latin typeface="+mn-lt"/>
                              <a:ea typeface="Calibri"/>
                              <a:cs typeface="Calibri"/>
                            </a:rPr>
                            <a:t>N</a:t>
                          </a:r>
                          <a:endParaRPr lang="en-US" sz="1800" baseline="30000" dirty="0">
                            <a:solidFill>
                              <a:schemeClr val="bg1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i="1" dirty="0">
                              <a:solidFill>
                                <a:schemeClr val="bg1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N/2</a:t>
                          </a:r>
                          <a:r>
                            <a:rPr lang="en-US" sz="1800" b="1" i="1" baseline="30000" dirty="0">
                              <a:solidFill>
                                <a:schemeClr val="bg1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3</a:t>
                          </a:r>
                          <a:endParaRPr lang="en-US" sz="1800" baseline="30000" dirty="0">
                            <a:solidFill>
                              <a:schemeClr val="bg1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i="1" dirty="0">
                              <a:solidFill>
                                <a:schemeClr val="bg1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N + (2</a:t>
                          </a:r>
                          <a:r>
                            <a:rPr lang="en-US" sz="1800" b="1" i="1" baseline="30000" dirty="0">
                              <a:solidFill>
                                <a:schemeClr val="bg1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3</a:t>
                          </a:r>
                          <a:r>
                            <a:rPr lang="en-US" sz="1800" b="1" i="1" dirty="0">
                              <a:solidFill>
                                <a:schemeClr val="bg1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-1)</a:t>
                          </a:r>
                          <a:endParaRPr lang="en-US" sz="1800" baseline="30000" dirty="0">
                            <a:solidFill>
                              <a:schemeClr val="bg1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i="1" dirty="0">
                              <a:solidFill>
                                <a:schemeClr val="bg1"/>
                              </a:solidFill>
                              <a:effectLst/>
                              <a:latin typeface="+mn-lt"/>
                              <a:ea typeface="Calibri"/>
                              <a:cs typeface="Calibri"/>
                            </a:rPr>
                            <a:t>(N + 2</a:t>
                          </a:r>
                          <a:r>
                            <a:rPr lang="en-US" sz="1800" b="1" i="1" baseline="30000" dirty="0">
                              <a:solidFill>
                                <a:schemeClr val="bg1"/>
                              </a:solidFill>
                              <a:effectLst/>
                              <a:latin typeface="+mn-lt"/>
                              <a:ea typeface="Calibri"/>
                              <a:cs typeface="Calibri"/>
                            </a:rPr>
                            <a:t>3</a:t>
                          </a:r>
                          <a:r>
                            <a:rPr lang="en-US" sz="1800" b="1" i="1" dirty="0">
                              <a:solidFill>
                                <a:schemeClr val="bg1"/>
                              </a:solidFill>
                              <a:effectLst/>
                              <a:latin typeface="+mn-lt"/>
                              <a:ea typeface="Calibri"/>
                              <a:cs typeface="Calibri"/>
                            </a:rPr>
                            <a:t>-1) ASR </a:t>
                          </a:r>
                          <a:r>
                            <a:rPr lang="en-US" sz="1800" b="1" i="1" dirty="0">
                              <a:solidFill>
                                <a:schemeClr val="bg1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3</a:t>
                          </a:r>
                          <a:endParaRPr lang="en-US" sz="1800" dirty="0">
                            <a:solidFill>
                              <a:schemeClr val="bg1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i="1" dirty="0">
                              <a:solidFill>
                                <a:schemeClr val="bg1"/>
                              </a:solidFill>
                              <a:effectLst/>
                              <a:latin typeface="+mn-lt"/>
                              <a:ea typeface="Calibri"/>
                              <a:cs typeface="Calibri"/>
                            </a:rPr>
                            <a:t>Decimal</a:t>
                          </a:r>
                          <a:br>
                            <a:rPr lang="en-US" sz="1800" b="1" i="1" dirty="0">
                              <a:solidFill>
                                <a:schemeClr val="bg1"/>
                              </a:solidFill>
                              <a:effectLst/>
                              <a:latin typeface="+mn-lt"/>
                              <a:ea typeface="Calibri"/>
                              <a:cs typeface="Calibri"/>
                            </a:rPr>
                          </a:br>
                          <a:r>
                            <a:rPr lang="en-US" sz="1800" b="1" i="1" dirty="0">
                              <a:solidFill>
                                <a:schemeClr val="bg1"/>
                              </a:solidFill>
                              <a:effectLst/>
                              <a:latin typeface="+mn-lt"/>
                              <a:ea typeface="Calibri"/>
                              <a:cs typeface="Calibri"/>
                            </a:rPr>
                            <a:t>Result</a:t>
                          </a:r>
                          <a:endParaRPr lang="en-US" sz="1800" dirty="0">
                            <a:solidFill>
                              <a:schemeClr val="bg1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9914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Arial"/>
                              <a:cs typeface="Arial"/>
                            </a:rPr>
                            <a:t>-5</a:t>
                          </a: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Arial"/>
                              <a:cs typeface="Arial"/>
                            </a:rPr>
                            <a:t>-5/8 = 0</a:t>
                          </a: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Arial"/>
                              <a:cs typeface="Arial"/>
                            </a:rPr>
                            <a:t>+2</a:t>
                          </a:r>
                          <a:r>
                            <a:rPr lang="en-US" sz="1600" baseline="-25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Arial"/>
                              <a:cs typeface="Arial"/>
                            </a:rPr>
                            <a:t>10</a:t>
                          </a:r>
                          <a:r>
                            <a:rPr lang="en-US" sz="1600" baseline="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Arial"/>
                              <a:cs typeface="Arial"/>
                            </a:rPr>
                            <a:t> =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baseline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  <m:t>0</m:t>
                              </m:r>
                              <m:r>
                                <a:rPr lang="en-US" sz="1600" b="0" i="1" baseline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⋯000010</m:t>
                              </m:r>
                            </m:oMath>
                          </a14:m>
                          <a:r>
                            <a:rPr lang="en-US" sz="1600" baseline="-25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Arial"/>
                              <a:cs typeface="Arial"/>
                            </a:rPr>
                            <a:t>2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  <m:t>0</m:t>
                              </m:r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⋯000000</m:t>
                              </m:r>
                            </m:oMath>
                          </a14:m>
                          <a:r>
                            <a:rPr lang="en-US" sz="1600" baseline="-25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Arial"/>
                              <a:cs typeface="Arial"/>
                            </a:rPr>
                            <a:t>2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Arial"/>
                              <a:cs typeface="Arial"/>
                            </a:rPr>
                            <a:t>0</a:t>
                          </a: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10376979"/>
                      </a:ext>
                    </a:extLst>
                  </a:tr>
                  <a:tr h="499914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Arial"/>
                              <a:cs typeface="Arial"/>
                            </a:rPr>
                            <a:t>-13</a:t>
                          </a: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Calibri"/>
                              <a:cs typeface="Calibri"/>
                            </a:rPr>
                            <a:t>–13/8 = -1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Arial"/>
                            <a:cs typeface="Arial"/>
                          </a:endParaRP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Arial"/>
                              <a:cs typeface="Arial"/>
                            </a:rPr>
                            <a:t>-6</a:t>
                          </a:r>
                          <a:r>
                            <a:rPr lang="en-US" sz="1800" b="0" baseline="-25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Arial"/>
                              <a:cs typeface="Arial"/>
                            </a:rPr>
                            <a:t>10</a:t>
                          </a: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Arial"/>
                              <a:cs typeface="Arial"/>
                            </a:rPr>
                            <a:t> =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  <m:t>1</m:t>
                              </m:r>
                              <m:r>
                                <a:rPr lang="en-US" sz="1600" i="1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⋯</m:t>
                              </m:r>
                              <m:r>
                                <a:rPr lang="en-US" sz="1600" b="0" i="1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11</m:t>
                              </m:r>
                              <m:r>
                                <a:rPr lang="en-US" sz="1600" i="1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  <m:t>1010</m:t>
                              </m:r>
                              <m:r>
                                <a:rPr lang="en-US" sz="1600" i="1" baseline="-25000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  <m:t>2</m:t>
                              </m:r>
                            </m:oMath>
                          </a14:m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600" i="1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  <m:t>1</m:t>
                              </m:r>
                              <m:r>
                                <a:rPr lang="en-US" sz="1600" i="1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⋯</m:t>
                              </m:r>
                              <m:r>
                                <a:rPr lang="en-US" sz="1600" b="0" i="1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111111</m:t>
                              </m:r>
                            </m:oMath>
                          </a14:m>
                          <a:r>
                            <a:rPr lang="en-US" sz="1600" baseline="-25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Arial"/>
                              <a:cs typeface="Arial"/>
                            </a:rPr>
                            <a:t>2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Arial"/>
                              <a:cs typeface="Arial"/>
                            </a:rPr>
                            <a:t>-1</a:t>
                          </a: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14537196"/>
                      </a:ext>
                    </a:extLst>
                  </a:tr>
                  <a:tr h="499914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Arial"/>
                              <a:cs typeface="Arial"/>
                            </a:rPr>
                            <a:t>-25</a:t>
                          </a: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Calibri"/>
                              <a:cs typeface="Calibri"/>
                            </a:rPr>
                            <a:t>–25/8 = -3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Arial"/>
                            <a:cs typeface="Arial"/>
                          </a:endParaRP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Arial"/>
                              <a:cs typeface="Arial"/>
                            </a:rPr>
                            <a:t>-18</a:t>
                          </a:r>
                          <a:r>
                            <a:rPr lang="en-US" sz="1600" b="0" baseline="-2500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Arial"/>
                              <a:cs typeface="Arial"/>
                            </a:rPr>
                            <a:t>10</a:t>
                          </a: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Arial"/>
                              <a:cs typeface="Arial"/>
                            </a:rPr>
                            <a:t> =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  <m:t>1</m:t>
                              </m:r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⋯101110</m:t>
                              </m:r>
                            </m:oMath>
                          </a14:m>
                          <a:r>
                            <a:rPr lang="en-US" sz="1600" baseline="-25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Arial"/>
                              <a:cs typeface="Arial"/>
                            </a:rPr>
                            <a:t>2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rial"/>
                                  <a:cs typeface="Arial"/>
                                </a:rPr>
                                <m:t>1</m:t>
                              </m:r>
                              <m:r>
                                <a:rPr lang="en-US" sz="1600" b="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/>
                                </a:rPr>
                                <m:t>⋯111101</m:t>
                              </m:r>
                            </m:oMath>
                          </a14:m>
                          <a:r>
                            <a:rPr lang="en-US" sz="1600" baseline="-250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Arial"/>
                              <a:cs typeface="Arial"/>
                            </a:rPr>
                            <a:t>2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Arial"/>
                              <a:cs typeface="Arial"/>
                            </a:rPr>
                            <a:t>-3</a:t>
                          </a: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05982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2379592" y="2121608"/>
              <a:ext cx="7432817" cy="216708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271316">
                      <a:extLst>
                        <a:ext uri="{9D8B030D-6E8A-4147-A177-3AD203B41FA5}">
                          <a16:colId xmlns:a16="http://schemas.microsoft.com/office/drawing/2014/main" val="668890252"/>
                        </a:ext>
                      </a:extLst>
                    </a:gridCol>
                    <a:gridCol w="127131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7711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60404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45267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66734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i="1" dirty="0">
                              <a:solidFill>
                                <a:schemeClr val="bg1"/>
                              </a:solidFill>
                              <a:effectLst/>
                              <a:latin typeface="+mn-lt"/>
                              <a:ea typeface="Calibri"/>
                              <a:cs typeface="Calibri"/>
                            </a:rPr>
                            <a:t>N</a:t>
                          </a:r>
                          <a:endParaRPr lang="en-US" sz="1800" baseline="30000" dirty="0">
                            <a:solidFill>
                              <a:schemeClr val="bg1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i="1" dirty="0">
                              <a:solidFill>
                                <a:schemeClr val="bg1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N/2</a:t>
                          </a:r>
                          <a:r>
                            <a:rPr lang="en-US" sz="1800" b="1" i="1" baseline="30000" dirty="0">
                              <a:solidFill>
                                <a:schemeClr val="bg1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3</a:t>
                          </a:r>
                          <a:endParaRPr lang="en-US" sz="1800" baseline="30000" dirty="0">
                            <a:solidFill>
                              <a:schemeClr val="bg1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i="1" dirty="0">
                              <a:solidFill>
                                <a:schemeClr val="bg1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N + (2</a:t>
                          </a:r>
                          <a:r>
                            <a:rPr lang="en-US" sz="1800" b="1" i="1" baseline="30000" dirty="0">
                              <a:solidFill>
                                <a:schemeClr val="bg1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3</a:t>
                          </a:r>
                          <a:r>
                            <a:rPr lang="en-US" sz="1800" b="1" i="1" dirty="0">
                              <a:solidFill>
                                <a:schemeClr val="bg1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-1)</a:t>
                          </a:r>
                          <a:endParaRPr lang="en-US" sz="1800" baseline="30000" dirty="0">
                            <a:solidFill>
                              <a:schemeClr val="bg1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i="1" dirty="0">
                              <a:solidFill>
                                <a:schemeClr val="bg1"/>
                              </a:solidFill>
                              <a:effectLst/>
                              <a:latin typeface="+mn-lt"/>
                              <a:ea typeface="Calibri"/>
                              <a:cs typeface="Calibri"/>
                            </a:rPr>
                            <a:t>(N + 2</a:t>
                          </a:r>
                          <a:r>
                            <a:rPr lang="en-US" sz="1800" b="1" i="1" baseline="30000" dirty="0">
                              <a:solidFill>
                                <a:schemeClr val="bg1"/>
                              </a:solidFill>
                              <a:effectLst/>
                              <a:latin typeface="+mn-lt"/>
                              <a:ea typeface="Calibri"/>
                              <a:cs typeface="Calibri"/>
                            </a:rPr>
                            <a:t>3</a:t>
                          </a:r>
                          <a:r>
                            <a:rPr lang="en-US" sz="1800" b="1" i="1" dirty="0">
                              <a:solidFill>
                                <a:schemeClr val="bg1"/>
                              </a:solidFill>
                              <a:effectLst/>
                              <a:latin typeface="+mn-lt"/>
                              <a:ea typeface="Calibri"/>
                              <a:cs typeface="Calibri"/>
                            </a:rPr>
                            <a:t>-1) ASR </a:t>
                          </a:r>
                          <a:r>
                            <a:rPr lang="en-US" sz="1800" b="1" i="1" dirty="0">
                              <a:solidFill>
                                <a:schemeClr val="bg1"/>
                              </a:solidFill>
                              <a:effectLst/>
                              <a:latin typeface="Calibri"/>
                              <a:ea typeface="Calibri"/>
                              <a:cs typeface="Calibri"/>
                            </a:rPr>
                            <a:t>3</a:t>
                          </a:r>
                          <a:endParaRPr lang="en-US" sz="1800" dirty="0">
                            <a:solidFill>
                              <a:schemeClr val="bg1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b="1" i="1" dirty="0">
                              <a:solidFill>
                                <a:schemeClr val="bg1"/>
                              </a:solidFill>
                              <a:effectLst/>
                              <a:latin typeface="+mn-lt"/>
                              <a:ea typeface="Calibri"/>
                              <a:cs typeface="Calibri"/>
                            </a:rPr>
                            <a:t>Decimal</a:t>
                          </a:r>
                          <a:br>
                            <a:rPr lang="en-US" sz="1800" b="1" i="1" dirty="0">
                              <a:solidFill>
                                <a:schemeClr val="bg1"/>
                              </a:solidFill>
                              <a:effectLst/>
                              <a:latin typeface="+mn-lt"/>
                              <a:ea typeface="Calibri"/>
                              <a:cs typeface="Calibri"/>
                            </a:rPr>
                          </a:br>
                          <a:r>
                            <a:rPr lang="en-US" sz="1800" b="1" i="1" dirty="0">
                              <a:solidFill>
                                <a:schemeClr val="bg1"/>
                              </a:solidFill>
                              <a:effectLst/>
                              <a:latin typeface="+mn-lt"/>
                              <a:ea typeface="Calibri"/>
                              <a:cs typeface="Calibri"/>
                            </a:rPr>
                            <a:t>Result</a:t>
                          </a:r>
                          <a:endParaRPr lang="en-US" sz="1800" dirty="0">
                            <a:solidFill>
                              <a:schemeClr val="bg1"/>
                            </a:solidFill>
                            <a:effectLst/>
                            <a:latin typeface="Calibri"/>
                            <a:ea typeface="Arial"/>
                            <a:cs typeface="Arial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9914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Arial"/>
                              <a:cs typeface="Arial"/>
                            </a:rPr>
                            <a:t>-5</a:t>
                          </a: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Arial"/>
                              <a:cs typeface="Arial"/>
                            </a:rPr>
                            <a:t>-5/8 = 0</a:t>
                          </a: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35714" t="-137805" r="-161364" b="-2146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82490" t="-137805" r="-93385" b="-2146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Arial"/>
                              <a:cs typeface="Arial"/>
                            </a:rPr>
                            <a:t>0</a:t>
                          </a: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10376979"/>
                      </a:ext>
                    </a:extLst>
                  </a:tr>
                  <a:tr h="499914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Arial"/>
                              <a:cs typeface="Arial"/>
                            </a:rPr>
                            <a:t>-13</a:t>
                          </a: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Calibri"/>
                              <a:cs typeface="Calibri"/>
                            </a:rPr>
                            <a:t>–13/8 = -1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Arial"/>
                            <a:cs typeface="Arial"/>
                          </a:endParaRP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35714" t="-237805" r="-161364" b="-1146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82490" t="-237805" r="-93385" b="-1146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Arial"/>
                              <a:cs typeface="Arial"/>
                            </a:rPr>
                            <a:t>-1</a:t>
                          </a: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14537196"/>
                      </a:ext>
                    </a:extLst>
                  </a:tr>
                  <a:tr h="499914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Arial"/>
                              <a:cs typeface="Arial"/>
                            </a:rPr>
                            <a:t>-25</a:t>
                          </a: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+mn-lt"/>
                              <a:ea typeface="Calibri"/>
                              <a:cs typeface="Calibri"/>
                            </a:rPr>
                            <a:t>–25/8 = -3</a:t>
                          </a:r>
                          <a:endParaRPr lang="en-US" sz="1600" dirty="0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Arial"/>
                            <a:cs typeface="Arial"/>
                          </a:endParaRP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35714" t="-337805" r="-161364" b="-146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82490" t="-337805" r="-93385" b="-146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600" dirty="0">
                              <a:solidFill>
                                <a:srgbClr val="000000"/>
                              </a:solidFill>
                              <a:effectLst/>
                              <a:latin typeface="Calibri"/>
                              <a:ea typeface="Arial"/>
                              <a:cs typeface="Arial"/>
                            </a:rPr>
                            <a:t>-3</a:t>
                          </a:r>
                        </a:p>
                      </a:txBody>
                      <a:tcPr marL="73025" marR="73025" marT="36830" marB="3683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059825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36516" y="733697"/>
            <a:ext cx="10417284" cy="665978"/>
          </a:xfrm>
        </p:spPr>
        <p:txBody>
          <a:bodyPr>
            <a:normAutofit/>
          </a:bodyPr>
          <a:lstStyle/>
          <a:p>
            <a:r>
              <a:rPr lang="en-US" sz="2800" dirty="0"/>
              <a:t>DIVIDING BY 2</a:t>
            </a:r>
            <a:r>
              <a:rPr lang="en-US" sz="2800" baseline="30000" dirty="0"/>
              <a:t>k </a:t>
            </a:r>
            <a:r>
              <a:rPr lang="en-US" sz="2800" dirty="0"/>
              <a:t>(</a:t>
            </a:r>
            <a:r>
              <a:rPr lang="en-US" sz="2800" dirty="0">
                <a:solidFill>
                  <a:srgbClr val="FF0000"/>
                </a:solidFill>
              </a:rPr>
              <a:t>Ex: k = 3, 2</a:t>
            </a:r>
            <a:r>
              <a:rPr lang="en-US" sz="2800" baseline="30000" dirty="0">
                <a:solidFill>
                  <a:srgbClr val="FF0000"/>
                </a:solidFill>
              </a:rPr>
              <a:t>k</a:t>
            </a:r>
            <a:r>
              <a:rPr lang="en-US" sz="2800" dirty="0">
                <a:solidFill>
                  <a:srgbClr val="FF0000"/>
                </a:solidFill>
              </a:rPr>
              <a:t>=8</a:t>
            </a:r>
            <a:r>
              <a:rPr lang="en-US" sz="2800" dirty="0"/>
              <a:t>) With Pre-shift Adjustment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3460335" y="4776217"/>
            <a:ext cx="5318707" cy="1107996"/>
            <a:chOff x="1447800" y="4673768"/>
            <a:chExt cx="5318707" cy="1107996"/>
          </a:xfrm>
        </p:grpSpPr>
        <p:sp>
          <p:nvSpPr>
            <p:cNvPr id="6" name="TextBox 5"/>
            <p:cNvSpPr txBox="1"/>
            <p:nvPr/>
          </p:nvSpPr>
          <p:spPr>
            <a:xfrm>
              <a:off x="1447800" y="4673768"/>
              <a:ext cx="5318707" cy="1107996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262063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To divide by 2</a:t>
              </a:r>
              <a:r>
                <a:rPr kumimoji="0" lang="en-US" sz="1800" b="1" i="1" u="none" strike="noStrike" kern="120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k</a:t>
              </a:r>
              <a:r>
                <a:rPr kumimoji="0" lang="en-US" sz="1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:</a:t>
              </a:r>
            </a:p>
            <a:p>
              <a:pPr marL="1262063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  <a:p>
              <a:pPr marL="1262063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Add 2</a:t>
              </a:r>
              <a:r>
                <a:rPr kumimoji="0" lang="en-US" sz="1800" b="0" i="0" u="none" strike="noStrike" kern="120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k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-1 to negative dividends before the k-bit arithmetic shift right.</a:t>
              </a:r>
            </a:p>
          </p:txBody>
        </p:sp>
        <p:pic>
          <p:nvPicPr>
            <p:cNvPr id="7" name="Picture 6" descr="http://www.aamu.edu/campuslife/living-on-campus/residentialLife/SiteAssets/pages/default/Warning_sign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645519" y="4852838"/>
              <a:ext cx="971826" cy="838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3857338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/>
              <p:cNvSpPr>
                <a:spLocks noGrp="1"/>
              </p:cNvSpPr>
              <p:nvPr>
                <p:ph sz="half" idx="2"/>
              </p:nvPr>
            </p:nvSpPr>
            <p:spPr>
              <a:xfrm>
                <a:off x="2057400" y="1758031"/>
                <a:ext cx="8530591" cy="3703319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  <a:tabLst>
                    <a:tab pos="1200150" algn="l"/>
                  </a:tabLst>
                </a:pPr>
                <a:r>
                  <a:rPr lang="en-US" dirty="0">
                    <a:solidFill>
                      <a:schemeClr val="tx1"/>
                    </a:solidFill>
                  </a:rPr>
                  <a:t>LDR	R0,[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] 		// R0 = 0????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?  or 1????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?</a:t>
                </a:r>
              </a:p>
              <a:p>
                <a:pPr marL="0" indent="0">
                  <a:lnSpc>
                    <a:spcPct val="150000"/>
                  </a:lnSpc>
                  <a:buNone/>
                  <a:tabLst>
                    <a:tab pos="1200150" algn="l"/>
                  </a:tabLst>
                </a:pPr>
                <a:r>
                  <a:rPr lang="en-US" dirty="0">
                    <a:solidFill>
                      <a:schemeClr val="tx1"/>
                    </a:solidFill>
                  </a:rPr>
                  <a:t>ASR	R1,R0,2		// R1 = 000??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? or 111??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?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150000"/>
                  </a:lnSpc>
                  <a:buNone/>
                  <a:tabLst>
                    <a:tab pos="1200150" algn="l"/>
                  </a:tabLst>
                </a:pPr>
                <a:r>
                  <a:rPr lang="en-US" dirty="0">
                    <a:solidFill>
                      <a:schemeClr val="tx1"/>
                    </a:solidFill>
                  </a:rPr>
                  <a:t>ADD	R0,R0,R1,LSR 29	// R0 += (x &lt; 0) ? 7 : 0</a:t>
                </a:r>
              </a:p>
              <a:p>
                <a:pPr marL="0" indent="0">
                  <a:lnSpc>
                    <a:spcPct val="150000"/>
                  </a:lnSpc>
                  <a:buNone/>
                  <a:tabLst>
                    <a:tab pos="1200150" algn="l"/>
                  </a:tabLst>
                </a:pPr>
                <a:r>
                  <a:rPr lang="en-US" dirty="0">
                    <a:solidFill>
                      <a:schemeClr val="tx1"/>
                    </a:solidFill>
                  </a:rPr>
                  <a:t>ASR	R0,R0,3		// ÷2</a:t>
                </a:r>
                <a:r>
                  <a:rPr lang="en-US" baseline="30000" dirty="0">
                    <a:solidFill>
                      <a:schemeClr val="tx1"/>
                    </a:solidFill>
                  </a:rPr>
                  <a:t>3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 Use ASR 3</a:t>
                </a:r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150000"/>
                  </a:lnSpc>
                  <a:buNone/>
                  <a:tabLst>
                    <a:tab pos="1200150" algn="l"/>
                  </a:tabLst>
                </a:pPr>
                <a:r>
                  <a:rPr lang="en-US" dirty="0">
                    <a:solidFill>
                      <a:schemeClr val="tx1"/>
                    </a:solidFill>
                  </a:rPr>
                  <a:t>STR	R0,[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] 		// y                                                    </a:t>
                </a:r>
                <a:r>
                  <a:rPr lang="en-US" dirty="0"/>
                  <a:t>                 </a:t>
                </a:r>
              </a:p>
              <a:p>
                <a:pPr>
                  <a:lnSpc>
                    <a:spcPct val="150000"/>
                  </a:lnSpc>
                </a:pPr>
                <a:endParaRPr lang="en-US" dirty="0"/>
              </a:p>
            </p:txBody>
          </p:sp>
        </mc:Choice>
        <mc:Fallback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2057400" y="1758031"/>
                <a:ext cx="8530591" cy="3703319"/>
              </a:xfrm>
              <a:blipFill>
                <a:blip r:embed="rId2"/>
                <a:stretch>
                  <a:fillRect l="-1501" r="-357" b="-4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40527" y="742259"/>
            <a:ext cx="3779862" cy="737626"/>
          </a:xfrm>
        </p:spPr>
        <p:txBody>
          <a:bodyPr>
            <a:normAutofit/>
          </a:bodyPr>
          <a:lstStyle/>
          <a:p>
            <a:r>
              <a:rPr lang="en-US" dirty="0"/>
              <a:t>DIVIDE BY 8 (2</a:t>
            </a:r>
            <a:r>
              <a:rPr lang="en-US" baseline="30000" dirty="0"/>
              <a:t>3</a:t>
            </a:r>
            <a:r>
              <a:rPr lang="en-US" dirty="0"/>
              <a:t>)</a:t>
            </a: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4234086" y="3840480"/>
            <a:ext cx="1394460" cy="1143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Line Callout 1 (No Border) 51"/>
              <p:cNvSpPr/>
              <p:nvPr/>
            </p:nvSpPr>
            <p:spPr>
              <a:xfrm>
                <a:off x="5137056" y="5210371"/>
                <a:ext cx="5073744" cy="1264614"/>
              </a:xfrm>
              <a:prstGeom prst="callout1">
                <a:avLst>
                  <a:gd name="adj1" fmla="val 4718"/>
                  <a:gd name="adj2" fmla="val 12642"/>
                  <a:gd name="adj3" fmla="val -108097"/>
                  <a:gd name="adj4" fmla="val -6370"/>
                </a:avLst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0</a:t>
                </a:r>
                <a14:m>
                  <m:oMath xmlns:m="http://schemas.openxmlformats.org/officeDocument/2006/math">
                    <m:r>
                      <a:rPr kumimoji="0" lang="en-US" sz="3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⋯</m:t>
                    </m:r>
                  </m:oMath>
                </a14:m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000000 or 0</a:t>
                </a:r>
                <a14:m>
                  <m:oMath xmlns:m="http://schemas.openxmlformats.org/officeDocument/2006/math">
                    <m:r>
                      <a:rPr kumimoji="0" lang="en-US" sz="3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⋯</m:t>
                    </m:r>
                  </m:oMath>
                </a14:m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+mn-cs"/>
                  </a:rPr>
                  <a:t>000111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÷8 = ÷2</a:t>
                </a:r>
                <a:r>
                  <a:rPr kumimoji="0" lang="en-US" sz="2800" b="0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3</a:t>
                </a: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</a:t>
                </a: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  <a:sym typeface="Wingdings" panose="05000000000000000000" pitchFamily="2" charset="2"/>
                  </a:rPr>
                  <a:t> Use LSR (32 – 3)</a:t>
                </a: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2" name="Line Callout 1 (No Border)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7056" y="5210371"/>
                <a:ext cx="5073744" cy="1264614"/>
              </a:xfrm>
              <a:prstGeom prst="callout1">
                <a:avLst>
                  <a:gd name="adj1" fmla="val 4718"/>
                  <a:gd name="adj2" fmla="val 12642"/>
                  <a:gd name="adj3" fmla="val -108097"/>
                  <a:gd name="adj4" fmla="val -6370"/>
                </a:avLst>
              </a:prstGeom>
              <a:blipFill>
                <a:blip r:embed="rId3"/>
                <a:stretch>
                  <a:fillRect r="-449068" b="-86017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>
          <a:xfrm>
            <a:off x="6775375" y="2645230"/>
            <a:ext cx="620485" cy="440871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654688" y="2645230"/>
            <a:ext cx="620485" cy="440871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98129" y="2281279"/>
            <a:ext cx="690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84474" y="2271738"/>
            <a:ext cx="690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830787" y="1550757"/>
                <a:ext cx="13389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US" sz="2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𝒙</m:t>
                      </m:r>
                      <m:r>
                        <a:rPr kumimoji="0" lang="en-US" sz="2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≥</m:t>
                      </m:r>
                      <m:r>
                        <a:rPr kumimoji="0" lang="en-US" sz="2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𝟎</m:t>
                      </m:r>
                    </m:oMath>
                  </m:oMathPara>
                </a14:m>
                <a:endPara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0787" y="1550757"/>
                <a:ext cx="1338942" cy="461665"/>
              </a:xfrm>
              <a:prstGeom prst="rect">
                <a:avLst/>
              </a:prstGeom>
              <a:blipFill>
                <a:blip r:embed="rId4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8584473" y="1530401"/>
                <a:ext cx="13389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US" sz="2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𝒙</m:t>
                      </m:r>
                      <m:r>
                        <a:rPr kumimoji="0" lang="en-US" sz="2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&lt;</m:t>
                      </m:r>
                      <m:r>
                        <a:rPr kumimoji="0" lang="en-US" sz="2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𝟎</m:t>
                      </m:r>
                    </m:oMath>
                  </m:oMathPara>
                </a14:m>
                <a:endPara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4473" y="1530401"/>
                <a:ext cx="1338942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53956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129790" y="1737360"/>
                <a:ext cx="8161020" cy="51149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969963" algn="l"/>
                    <a:tab pos="1316038" algn="l"/>
                  </a:tabLst>
                  <a:defRPr/>
                </a:pPr>
                <a:r>
                  <a:rPr kumimoji="0" lang="en-US" sz="24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+mn-ea"/>
                    <a:cs typeface="+mn-cs"/>
                  </a:rPr>
                  <a:t>Compute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𝐴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÷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𝑑</m:t>
                    </m:r>
                  </m:oMath>
                </a14:m>
                <a:r>
                  <a:rPr kumimoji="0" lang="en-US" sz="24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+mn-ea"/>
                    <a:cs typeface="+mn-cs"/>
                  </a:rPr>
                  <a:t>, where A and d are </a:t>
                </a:r>
                <a:r>
                  <a:rPr kumimoji="0" lang="en-US" sz="2400" b="0" i="1" u="sng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+mn-ea"/>
                    <a:cs typeface="+mn-cs"/>
                  </a:rPr>
                  <a:t>integers</a:t>
                </a:r>
                <a:r>
                  <a:rPr kumimoji="0" lang="en-US" sz="24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+mn-ea"/>
                    <a:cs typeface="+mn-cs"/>
                  </a:rPr>
                  <a:t>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969963" algn="l"/>
                    <a:tab pos="1316038" algn="l"/>
                  </a:tabLst>
                  <a:defRPr/>
                </a:pPr>
                <a:endPara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969963" algn="l"/>
                    <a:tab pos="1316038" algn="l"/>
                  </a:tabLst>
                  <a:defRPr/>
                </a:pP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𝐴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÷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𝑑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	=	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𝐴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×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US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𝑑</m:t>
                        </m:r>
                      </m:den>
                    </m:f>
                  </m:oMath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969963" algn="l"/>
                    <a:tab pos="1316038" algn="l"/>
                  </a:tabLst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969963" algn="l"/>
                    <a:tab pos="1316038" algn="l"/>
                  </a:tabLst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969963" algn="l"/>
                    <a:tab pos="1316038" algn="l"/>
                  </a:tabLst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	=	(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𝐴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×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e>
                          <m:sup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𝑁</m:t>
                            </m:r>
                          </m:sup>
                        </m:sSup>
                      </m:num>
                      <m:den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𝑑</m:t>
                        </m:r>
                      </m:den>
                    </m:f>
                    <m:r>
                      <a:rPr kumimoji="0" 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)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÷ 2</a:t>
                </a:r>
                <a:r>
                  <a:rPr kumimoji="0" lang="en-US" sz="2400" b="0" i="1" u="none" strike="noStrike" kern="1200" cap="none" spc="0" normalizeH="0" baseline="30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N</a:t>
                </a:r>
                <a:endPara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969963" algn="l"/>
                    <a:tab pos="1316038" algn="l"/>
                  </a:tabLst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969963" algn="l"/>
                    <a:tab pos="1316038" algn="l"/>
                  </a:tabLst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969963" algn="l"/>
                    <a:tab pos="1316038" algn="l"/>
                  </a:tabLst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969963" algn="l"/>
                    <a:tab pos="1316038" algn="l"/>
                  </a:tabLst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	=	 (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𝐴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×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e>
                          <m:sup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𝑁</m:t>
                            </m:r>
                          </m:sup>
                        </m:sSup>
                      </m:num>
                      <m:den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𝑑</m:t>
                        </m:r>
                      </m:den>
                    </m:f>
                    <m:r>
                      <a:rPr kumimoji="0" 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)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&gt;&gt;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𝑁</m:t>
                    </m:r>
                  </m:oMath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2628900" algn="l"/>
                  </a:tabLst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9790" y="1737360"/>
                <a:ext cx="8161020" cy="5114926"/>
              </a:xfrm>
              <a:prstGeom prst="rect">
                <a:avLst/>
              </a:prstGeom>
              <a:blipFill>
                <a:blip r:embed="rId2"/>
                <a:stretch>
                  <a:fillRect l="-1120" t="-9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2964B19-2824-4FD8-963A-E1AC8769F5FE}"/>
                  </a:ext>
                </a:extLst>
              </p:cNvPr>
              <p:cNvSpPr txBox="1"/>
              <p:nvPr/>
            </p:nvSpPr>
            <p:spPr>
              <a:xfrm>
                <a:off x="5718811" y="2535331"/>
                <a:ext cx="5338210" cy="4849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Can’t use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𝑑</m:t>
                        </m:r>
                      </m:den>
                    </m:f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with an integer multiply instruction!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2964B19-2824-4FD8-963A-E1AC8769F5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8811" y="2535331"/>
                <a:ext cx="5338210" cy="484941"/>
              </a:xfrm>
              <a:prstGeom prst="rect">
                <a:avLst/>
              </a:prstGeom>
              <a:blipFill>
                <a:blip r:embed="rId3"/>
                <a:stretch>
                  <a:fillRect l="-913" b="-7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DF53531-DA28-42EE-B083-4B5B2565F007}"/>
                  </a:ext>
                </a:extLst>
              </p:cNvPr>
              <p:cNvSpPr/>
              <p:nvPr/>
            </p:nvSpPr>
            <p:spPr>
              <a:xfrm>
                <a:off x="5718810" y="3408370"/>
                <a:ext cx="5510664" cy="13637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2628900" algn="l"/>
                  </a:tabLst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Multiply </a:t>
                </a:r>
                <a:r>
                  <a:rPr kumimoji="0" lang="en-US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and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divide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e>
                      <m:sup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𝑁</m:t>
                        </m:r>
                      </m:sup>
                    </m:sSup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. 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Round the new multiplier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e>
                          <m:sup>
                            <m: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𝑁</m:t>
                            </m:r>
                          </m:sup>
                        </m:sSup>
                      </m:num>
                      <m:den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𝑑</m:t>
                        </m:r>
                      </m:den>
                    </m:f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to the nearest integer. </a:t>
                </a:r>
                <a:b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</a:b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NOTE: This is a </a:t>
                </a:r>
                <a:r>
                  <a:rPr kumimoji="0" lang="en-US" sz="1800" b="0" i="0" u="sng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constant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to be inserted into the source code; it is NOT computed at run time.</a:t>
                </a: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DF53531-DA28-42EE-B083-4B5B2565F0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8810" y="3408370"/>
                <a:ext cx="5510664" cy="1363771"/>
              </a:xfrm>
              <a:prstGeom prst="rect">
                <a:avLst/>
              </a:prstGeom>
              <a:blipFill>
                <a:blip r:embed="rId4"/>
                <a:stretch>
                  <a:fillRect l="-885" t="-2232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9A0F679-BAA3-45C2-B9CE-AA893BD2A0A3}"/>
                  </a:ext>
                </a:extLst>
              </p:cNvPr>
              <p:cNvSpPr/>
              <p:nvPr/>
            </p:nvSpPr>
            <p:spPr>
              <a:xfrm>
                <a:off x="5718810" y="5258609"/>
                <a:ext cx="5482590" cy="12502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2628900" algn="l"/>
                  </a:tabLst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Compute 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𝐴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×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e>
                          <m:sup>
                            <m: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𝑁</m:t>
                            </m:r>
                          </m:sup>
                        </m:sSup>
                      </m:num>
                      <m:den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𝑑</m:t>
                        </m:r>
                      </m:den>
                    </m:f>
                    <m:r>
                      <a: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using a double-length product. Then (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𝐴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×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e>
                          <m:sup>
                            <m:r>
                              <a:rPr kumimoji="0" lang="en-US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𝑁</m:t>
                            </m:r>
                          </m:sup>
                        </m:sSup>
                      </m:num>
                      <m:den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𝑑</m:t>
                        </m:r>
                      </m:den>
                    </m:f>
                    <m:r>
                      <a:rPr kumimoji="0" lang="en-US" sz="1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)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&gt;&gt;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𝑁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is simply the most-significant half of the 2N-bit product.</a:t>
                </a: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9A0F679-BAA3-45C2-B9CE-AA893BD2A0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8810" y="5258609"/>
                <a:ext cx="5482590" cy="1250214"/>
              </a:xfrm>
              <a:prstGeom prst="rect">
                <a:avLst/>
              </a:prstGeom>
              <a:blipFill>
                <a:blip r:embed="rId5"/>
                <a:stretch>
                  <a:fillRect l="-889" b="-7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3659528" y="5431087"/>
            <a:ext cx="1180342" cy="631355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4453" y="760132"/>
            <a:ext cx="8390022" cy="960693"/>
          </a:xfrm>
        </p:spPr>
        <p:txBody>
          <a:bodyPr>
            <a:noAutofit/>
          </a:bodyPr>
          <a:lstStyle/>
          <a:p>
            <a:r>
              <a:rPr lang="en-US" sz="3200" dirty="0"/>
              <a:t>DIVISION BY AN ARBITRARY CONSTANT</a:t>
            </a:r>
            <a:br>
              <a:rPr lang="en-US" sz="3200" dirty="0"/>
            </a:br>
            <a:r>
              <a:rPr lang="en-US" sz="2400" i="1" dirty="0"/>
              <a:t>Using integer multiplication to do integer division</a:t>
            </a:r>
            <a:endParaRPr lang="en-US" sz="3200" i="1" dirty="0"/>
          </a:p>
        </p:txBody>
      </p:sp>
      <p:sp>
        <p:nvSpPr>
          <p:cNvPr id="6" name="Rectangle 5"/>
          <p:cNvSpPr/>
          <p:nvPr/>
        </p:nvSpPr>
        <p:spPr>
          <a:xfrm>
            <a:off x="8387916" y="5399003"/>
            <a:ext cx="2320189" cy="293718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610078-5344-4563-A8CF-2D65CC2F176E}"/>
              </a:ext>
            </a:extLst>
          </p:cNvPr>
          <p:cNvSpPr/>
          <p:nvPr/>
        </p:nvSpPr>
        <p:spPr>
          <a:xfrm>
            <a:off x="4210028" y="3774577"/>
            <a:ext cx="359870" cy="631355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7330A4-F5B7-4EA6-BE95-EFE47C6DAC6F}"/>
              </a:ext>
            </a:extLst>
          </p:cNvPr>
          <p:cNvSpPr/>
          <p:nvPr/>
        </p:nvSpPr>
        <p:spPr>
          <a:xfrm>
            <a:off x="3994065" y="2504842"/>
            <a:ext cx="287961" cy="631355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28B0343-ABCC-4336-82BE-2FA2DEDF56B2}"/>
                  </a:ext>
                </a:extLst>
              </p:cNvPr>
              <p:cNvSpPr/>
              <p:nvPr/>
            </p:nvSpPr>
            <p:spPr>
              <a:xfrm>
                <a:off x="8146113" y="2535074"/>
                <a:ext cx="2272684" cy="53633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kumimoji="0" lang="en-US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US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</m:t>
                          </m:r>
                        </m:den>
                      </m:f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28B0343-ABCC-4336-82BE-2FA2DEDF56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6113" y="2535074"/>
                <a:ext cx="2272684" cy="53633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377F7DE-3A05-414F-8343-B1DC3EF97043}"/>
              </a:ext>
            </a:extLst>
          </p:cNvPr>
          <p:cNvCxnSpPr/>
          <p:nvPr/>
        </p:nvCxnSpPr>
        <p:spPr>
          <a:xfrm flipH="1">
            <a:off x="4389963" y="2820520"/>
            <a:ext cx="1194131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62060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8516" y="727491"/>
            <a:ext cx="8177464" cy="877136"/>
          </a:xfrm>
        </p:spPr>
        <p:txBody>
          <a:bodyPr>
            <a:noAutofit/>
          </a:bodyPr>
          <a:lstStyle/>
          <a:p>
            <a:r>
              <a:rPr lang="en-US" sz="3200" dirty="0"/>
              <a:t>DIVISION BY AN ARBITRARY CONSTANT</a:t>
            </a:r>
            <a:br>
              <a:rPr lang="en-US" sz="3200" dirty="0"/>
            </a:br>
            <a:r>
              <a:rPr lang="en-US" sz="2400" i="1" dirty="0"/>
              <a:t>Example: Divide  by 100, where  is 32 bits wide</a:t>
            </a:r>
            <a:endParaRPr lang="en-US" sz="32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165186" y="1924666"/>
                <a:ext cx="8195310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Consolas" panose="020B0609020204030204" pitchFamily="49" charset="0"/>
                  </a:rPr>
                  <a:t>Divide 32-bit variable “x" by 100: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1028700" algn="l"/>
                    <a:tab pos="3257550" algn="l"/>
                  </a:tabLst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Consolas" panose="020B0609020204030204" pitchFamily="49" charset="0"/>
                  </a:rPr>
                  <a:t>LDR	R0,[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anose="020B0609020204030204" pitchFamily="49" charset="0"/>
                      </a:rPr>
                      <m:t>⋯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Consolas" panose="020B0609020204030204" pitchFamily="49" charset="0"/>
                  </a:rPr>
                  <a:t>] 	// R0 &lt;-- x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1028700" algn="l"/>
                    <a:tab pos="3257550" algn="l"/>
                  </a:tabLst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Consolas" panose="020B0609020204030204" pitchFamily="49" charset="0"/>
                  </a:rPr>
                  <a:t>LDR	R1,=42949673	// </a:t>
                </a:r>
                <a:r>
                  <a:rPr kumimoji="0" lang="en-US" sz="20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Consolas" panose="020B0609020204030204" pitchFamily="49" charset="0"/>
                  </a:rPr>
                  <a:t>2</a:t>
                </a:r>
                <a:r>
                  <a:rPr kumimoji="0" lang="en-US" sz="2000" b="0" i="1" u="none" strike="noStrike" kern="1200" cap="none" spc="0" normalizeH="0" baseline="30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Consolas" panose="020B0609020204030204" pitchFamily="49" charset="0"/>
                  </a:rPr>
                  <a:t>32</a:t>
                </a:r>
                <a:r>
                  <a:rPr kumimoji="0" lang="en-US" sz="20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Consolas" panose="020B0609020204030204" pitchFamily="49" charset="0"/>
                  </a:rPr>
                  <a:t>/100 = 42949673 (Rounded)</a:t>
                </a: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1028700" algn="l"/>
                    <a:tab pos="3257550" algn="l"/>
                  </a:tabLst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Consolas" panose="020B0609020204030204" pitchFamily="49" charset="0"/>
                  </a:rPr>
                  <a:t>SMULL	R0,R1,R0,R1	// R1.R0 = 64-bit product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1028700" algn="l"/>
                    <a:tab pos="3257550" algn="l"/>
                  </a:tabLst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Consolas" panose="020B0609020204030204" pitchFamily="49" charset="0"/>
                  </a:rPr>
                  <a:t>STR	R1,[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Consolas" panose="020B0609020204030204" pitchFamily="49" charset="0"/>
                      </a:rPr>
                      <m:t>⋯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Consolas" panose="020B0609020204030204" pitchFamily="49" charset="0"/>
                  </a:rPr>
                  <a:t>]	// y = x/100 (approx.)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1028700" algn="l"/>
                    <a:tab pos="3257550" algn="l"/>
                  </a:tabLst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1028700" algn="l"/>
                    <a:tab pos="3257550" algn="l"/>
                  </a:tabLst>
                  <a:defRPr/>
                </a:pPr>
                <a:r>
                  <a:rPr kumimoji="0" lang="en-US" sz="20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Consolas" panose="020B0609020204030204" pitchFamily="49" charset="0"/>
                  </a:rPr>
                  <a:t>Example: x = 15340</a:t>
                </a:r>
                <a:r>
                  <a:rPr kumimoji="0" lang="en-US" sz="2000" b="1" i="1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Consolas" panose="020B0609020204030204" pitchFamily="49" charset="0"/>
                  </a:rPr>
                  <a:t>10</a:t>
                </a:r>
                <a:endParaRPr kumimoji="0" lang="en-US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1028700" algn="l"/>
                    <a:tab pos="3257550" algn="l"/>
                  </a:tabLst>
                  <a:defRPr/>
                </a:pPr>
                <a:endParaRPr kumimoji="0" lang="en-US" sz="20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1028700" algn="l"/>
                    <a:tab pos="2286000" algn="l"/>
                    <a:tab pos="3257550" algn="l"/>
                  </a:tabLst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Consolas" panose="020B0609020204030204" pitchFamily="49" charset="0"/>
                  </a:rPr>
                  <a:t>	product	= 15340 × 42949673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1028700" algn="l"/>
                    <a:tab pos="2286000" algn="l"/>
                    <a:tab pos="3257550" algn="l"/>
                  </a:tabLst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Consolas" panose="020B0609020204030204" pitchFamily="49" charset="0"/>
                  </a:rPr>
                  <a:t>		= 658847983820</a:t>
                </a:r>
                <a:r>
                  <a:rPr kumimoji="0" lang="en-US" sz="20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Consolas" panose="020B0609020204030204" pitchFamily="49" charset="0"/>
                  </a:rPr>
                  <a:t>10</a:t>
                </a: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1028700" algn="l"/>
                    <a:tab pos="2286000" algn="l"/>
                    <a:tab pos="3257550" algn="l"/>
                  </a:tabLst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Consolas" panose="020B0609020204030204" pitchFamily="49" charset="0"/>
                  </a:rPr>
                  <a:t>		= 0000 0099 6666 68CC</a:t>
                </a:r>
                <a:r>
                  <a:rPr kumimoji="0" lang="en-US" sz="20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Consolas" panose="020B0609020204030204" pitchFamily="49" charset="0"/>
                  </a:rPr>
                  <a:t>16</a:t>
                </a: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1028700" algn="l"/>
                    <a:tab pos="2286000" algn="l"/>
                    <a:tab pos="3257550" algn="l"/>
                  </a:tabLst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1028700" algn="l"/>
                    <a:tab pos="2286000" algn="l"/>
                    <a:tab pos="3257550" algn="l"/>
                  </a:tabLst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Consolas" panose="020B0609020204030204" pitchFamily="49" charset="0"/>
                  </a:rPr>
                  <a:t>	quotient	= 0000 0099</a:t>
                </a:r>
                <a:r>
                  <a:rPr kumimoji="0" lang="en-US" sz="20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Consolas" panose="020B0609020204030204" pitchFamily="49" charset="0"/>
                  </a:rPr>
                  <a:t>16</a:t>
                </a: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Consolas" panose="020B0609020204030204" pitchFamily="49" charset="0"/>
                  </a:rPr>
                  <a:t> = </a:t>
                </a:r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Consolas" panose="020B0609020204030204" pitchFamily="49" charset="0"/>
                  </a:rPr>
                  <a:t>153</a:t>
                </a:r>
                <a:r>
                  <a:rPr kumimoji="0" lang="en-US" sz="2000" b="1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nsolas" panose="020B0609020204030204" pitchFamily="49" charset="0"/>
                    <a:ea typeface="+mn-ea"/>
                    <a:cs typeface="Consolas" panose="020B0609020204030204" pitchFamily="49" charset="0"/>
                  </a:rPr>
                  <a:t>10</a:t>
                </a:r>
                <a:endPara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nsolas" panose="020B0609020204030204" pitchFamily="49" charset="0"/>
                  <a:ea typeface="+mn-ea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5186" y="1924666"/>
                <a:ext cx="8195310" cy="4401205"/>
              </a:xfrm>
              <a:prstGeom prst="rect">
                <a:avLst/>
              </a:prstGeom>
              <a:blipFill>
                <a:blip r:embed="rId2"/>
                <a:stretch>
                  <a:fillRect l="-743" t="-831" b="-1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4800600" y="5307385"/>
            <a:ext cx="1295400" cy="320040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Oval 3"/>
          <p:cNvSpPr/>
          <p:nvPr/>
        </p:nvSpPr>
        <p:spPr>
          <a:xfrm>
            <a:off x="3638550" y="3176016"/>
            <a:ext cx="365760" cy="3200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9" name="Straight Arrow Connector 8"/>
          <p:cNvCxnSpPr>
            <a:cxnSpLocks/>
          </p:cNvCxnSpPr>
          <p:nvPr/>
        </p:nvCxnSpPr>
        <p:spPr>
          <a:xfrm flipH="1" flipV="1">
            <a:off x="3912870" y="3496057"/>
            <a:ext cx="887730" cy="1811329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CF9DB83-EDF3-49B4-B33C-C5B6B0EC9AFB}"/>
              </a:ext>
            </a:extLst>
          </p:cNvPr>
          <p:cNvSpPr txBox="1"/>
          <p:nvPr/>
        </p:nvSpPr>
        <p:spPr>
          <a:xfrm>
            <a:off x="7906512" y="4725432"/>
            <a:ext cx="3034204" cy="13849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Rounding the multiplier to an integer sometimes introduces a small error. A more complex version of this algorithm corrects this by adjusting the dividend and/or the product as shown in the next slide.</a:t>
            </a:r>
          </a:p>
        </p:txBody>
      </p:sp>
    </p:spTree>
    <p:extLst>
      <p:ext uri="{BB962C8B-B14F-4D97-AF65-F5344CB8AC3E}">
        <p14:creationId xmlns:p14="http://schemas.microsoft.com/office/powerpoint/2010/main" val="2854737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602" y="747335"/>
            <a:ext cx="5057072" cy="556165"/>
          </a:xfrm>
        </p:spPr>
        <p:txBody>
          <a:bodyPr>
            <a:normAutofit fontScale="90000"/>
          </a:bodyPr>
          <a:lstStyle/>
          <a:p>
            <a:r>
              <a:rPr lang="en-US" dirty="0"/>
              <a:t>Reciprocal Multiplication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8E5A15-CFC1-4CE0-9F68-B222703ACD77}"/>
              </a:ext>
            </a:extLst>
          </p:cNvPr>
          <p:cNvSpPr txBox="1"/>
          <p:nvPr/>
        </p:nvSpPr>
        <p:spPr>
          <a:xfrm>
            <a:off x="1366959" y="1545392"/>
            <a:ext cx="8006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http://www.engr.scu.edu/~dlewis/book3/tools/DivideByConstant1.shtml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C087F14-71D5-4721-9A8E-BE82297404C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89563" y="3975938"/>
            <a:ext cx="6585572" cy="1911203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B8A2B95-32FF-4A4D-8755-2ADB386340DF}"/>
              </a:ext>
            </a:extLst>
          </p:cNvPr>
          <p:cNvSpPr/>
          <p:nvPr/>
        </p:nvSpPr>
        <p:spPr>
          <a:xfrm>
            <a:off x="2425743" y="5934508"/>
            <a:ext cx="694486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Appending the optional letter R rounds the result instead of truncated it by adding 0x80000000 to the 64-bit product before the most-significant half is extracted.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A838940-CC75-4CC9-9A3B-6677F4A13A70}"/>
              </a:ext>
            </a:extLst>
          </p:cNvPr>
          <p:cNvGrpSpPr/>
          <p:nvPr/>
        </p:nvGrpSpPr>
        <p:grpSpPr>
          <a:xfrm>
            <a:off x="5858992" y="1933752"/>
            <a:ext cx="4009417" cy="1776768"/>
            <a:chOff x="4880427" y="1789370"/>
            <a:chExt cx="4009417" cy="177676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6"/>
                <p:cNvSpPr/>
                <p:nvPr/>
              </p:nvSpPr>
              <p:spPr>
                <a:xfrm>
                  <a:off x="4880427" y="1789370"/>
                  <a:ext cx="3011603" cy="177676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85725" marR="0" lvl="0" indent="0" algn="l" defTabSz="914400" rtl="0" eaLnBrk="1" fontAlgn="auto" latinLnBrk="0" hangingPunct="1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>
                      <a:tab pos="815579" algn="l"/>
                      <a:tab pos="1714500" algn="l"/>
                      <a:tab pos="2057400" algn="l"/>
                    </a:tabLst>
                    <a:defRPr/>
                  </a:pPr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nsolas" panose="020B0609020204030204" pitchFamily="49" charset="0"/>
                      <a:ea typeface="Arial" panose="020B0604020202020204" pitchFamily="34" charset="0"/>
                      <a:cs typeface="Times New Roman" panose="02020603050405020304" pitchFamily="18" charset="0"/>
                    </a:rPr>
                    <a:t>// Signed division by +7</a:t>
                  </a: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MS Mincho"/>
                    <a:cs typeface="Times New Roman" panose="02020603050405020304" pitchFamily="18" charset="0"/>
                  </a:endParaRPr>
                </a:p>
                <a:p>
                  <a:pPr marL="85725" marR="0" lvl="0" indent="0" algn="l" defTabSz="914400" rtl="0" eaLnBrk="1" fontAlgn="auto" latinLnBrk="0" hangingPunct="1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>
                      <a:tab pos="815579" algn="l"/>
                      <a:tab pos="1714500" algn="l"/>
                      <a:tab pos="2057400" algn="l"/>
                    </a:tabLst>
                    <a:defRPr/>
                  </a:pPr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nsolas" panose="020B0609020204030204" pitchFamily="49" charset="0"/>
                      <a:ea typeface="Arial" panose="020B0604020202020204" pitchFamily="34" charset="0"/>
                      <a:cs typeface="Times New Roman" panose="02020603050405020304" pitchFamily="18" charset="0"/>
                    </a:rPr>
                    <a:t>LDR	R0,[</a:t>
                  </a:r>
                  <a14:m>
                    <m:oMath xmlns:m="http://schemas.openxmlformats.org/officeDocument/2006/math">
                      <m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⋯</m:t>
                      </m:r>
                    </m:oMath>
                  </a14:m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nsolas" panose="020B0609020204030204" pitchFamily="49" charset="0"/>
                      <a:ea typeface="Arial" panose="020B0604020202020204" pitchFamily="34" charset="0"/>
                      <a:cs typeface="Times New Roman" panose="02020603050405020304" pitchFamily="18" charset="0"/>
                    </a:rPr>
                    <a:t>] // dividend</a:t>
                  </a: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MS Mincho"/>
                    <a:cs typeface="Times New Roman" panose="02020603050405020304" pitchFamily="18" charset="0"/>
                  </a:endParaRPr>
                </a:p>
                <a:p>
                  <a:pPr marL="85725" marR="0" lvl="0" indent="0" algn="l" defTabSz="914400" rtl="0" eaLnBrk="1" fontAlgn="auto" latinLnBrk="0" hangingPunct="1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>
                      <a:tab pos="815579" algn="l"/>
                      <a:tab pos="1714500" algn="l"/>
                      <a:tab pos="2057400" algn="l"/>
                    </a:tabLst>
                    <a:defRPr/>
                  </a:pPr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nsolas" panose="020B0609020204030204" pitchFamily="49" charset="0"/>
                      <a:ea typeface="Arial" panose="020B0604020202020204" pitchFamily="34" charset="0"/>
                      <a:cs typeface="Times New Roman" panose="02020603050405020304" pitchFamily="18" charset="0"/>
                    </a:rPr>
                    <a:t>LDR	R1,=2454267027</a:t>
                  </a:r>
                </a:p>
                <a:p>
                  <a:pPr marL="85725" marR="0" lvl="0" indent="0" algn="l" defTabSz="914400" rtl="0" eaLnBrk="1" fontAlgn="auto" latinLnBrk="0" hangingPunct="1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>
                      <a:tab pos="815579" algn="l"/>
                      <a:tab pos="1714500" algn="l"/>
                      <a:tab pos="2057400" algn="l"/>
                    </a:tabLst>
                    <a:defRPr/>
                  </a:pPr>
                  <a:r>
                    <a:rPr kumimoji="0" lang="en-US" sz="1200" b="0" i="0" u="none" strike="sng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nsolas" panose="020B0609020204030204" pitchFamily="49" charset="0"/>
                      <a:ea typeface="MS Mincho"/>
                      <a:cs typeface="Times New Roman" panose="02020603050405020304" pitchFamily="18" charset="0"/>
                    </a:rPr>
                    <a:t>SMULL	R2,R1,R1,R0</a:t>
                  </a:r>
                </a:p>
                <a:p>
                  <a:pPr marL="85725" marR="0" lvl="0" indent="0" algn="l" defTabSz="914400" rtl="0" eaLnBrk="1" fontAlgn="auto" latinLnBrk="0" hangingPunct="1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>
                      <a:tab pos="815579" algn="l"/>
                      <a:tab pos="1714500" algn="l"/>
                      <a:tab pos="2057400" algn="l"/>
                    </a:tabLst>
                    <a:defRPr/>
                  </a:pPr>
                  <a:r>
                    <a:rPr kumimoji="0" lang="en-US" sz="1200" b="0" i="0" u="none" strike="sng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nsolas" panose="020B0609020204030204" pitchFamily="49" charset="0"/>
                      <a:ea typeface="MS Mincho"/>
                      <a:cs typeface="Times New Roman" panose="02020603050405020304" pitchFamily="18" charset="0"/>
                    </a:rPr>
                    <a:t>ADDS.N	R1,R1,R0</a:t>
                  </a:r>
                  <a:endParaRPr kumimoji="0" lang="en-US" sz="1800" b="0" i="0" u="none" strike="sng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MS Mincho"/>
                    <a:cs typeface="Times New Roman" panose="02020603050405020304" pitchFamily="18" charset="0"/>
                  </a:endParaRPr>
                </a:p>
                <a:p>
                  <a:pPr marL="85725" marR="0" lvl="0" indent="0" algn="l" defTabSz="914400" rtl="0" eaLnBrk="1" fontAlgn="auto" latinLnBrk="0" hangingPunct="1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>
                      <a:tab pos="815579" algn="l"/>
                      <a:tab pos="1714500" algn="l"/>
                      <a:tab pos="2057400" algn="l"/>
                    </a:tabLst>
                    <a:defRPr/>
                  </a:pPr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nsolas" panose="020B0609020204030204" pitchFamily="49" charset="0"/>
                      <a:ea typeface="Arial" panose="020B0604020202020204" pitchFamily="34" charset="0"/>
                      <a:cs typeface="Times New Roman" panose="02020603050405020304" pitchFamily="18" charset="0"/>
                    </a:rPr>
                    <a:t>LSR	R0,R0,31</a:t>
                  </a: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MS Mincho"/>
                    <a:cs typeface="Times New Roman" panose="02020603050405020304" pitchFamily="18" charset="0"/>
                  </a:endParaRPr>
                </a:p>
                <a:p>
                  <a:pPr marL="85725" marR="0" lvl="0" indent="0" algn="l" defTabSz="914400" rtl="0" eaLnBrk="1" fontAlgn="auto" latinLnBrk="0" hangingPunct="1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>
                      <a:tab pos="815579" algn="l"/>
                      <a:tab pos="1714500" algn="l"/>
                      <a:tab pos="2057400" algn="l"/>
                    </a:tabLst>
                    <a:defRPr/>
                  </a:pPr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nsolas" panose="020B0609020204030204" pitchFamily="49" charset="0"/>
                      <a:ea typeface="Arial" panose="020B0604020202020204" pitchFamily="34" charset="0"/>
                      <a:cs typeface="Times New Roman" panose="02020603050405020304" pitchFamily="18" charset="0"/>
                    </a:rPr>
                    <a:t>ADD	R0,R0,R1,ASR 2</a:t>
                  </a: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MS Mincho"/>
                    <a:cs typeface="Times New Roman" panose="02020603050405020304" pitchFamily="18" charset="0"/>
                  </a:endParaRPr>
                </a:p>
                <a:p>
                  <a:pPr marL="85725" marR="0" lvl="0" indent="0" algn="l" defTabSz="914400" rtl="0" eaLnBrk="1" fontAlgn="auto" latinLnBrk="0" hangingPunct="1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>
                      <a:tab pos="815579" algn="l"/>
                      <a:tab pos="1714500" algn="l"/>
                      <a:tab pos="2057400" algn="l"/>
                    </a:tabLst>
                    <a:defRPr/>
                  </a:pPr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nsolas" panose="020B0609020204030204" pitchFamily="49" charset="0"/>
                      <a:ea typeface="Arial" panose="020B0604020202020204" pitchFamily="34" charset="0"/>
                      <a:cs typeface="Times New Roman" panose="02020603050405020304" pitchFamily="18" charset="0"/>
                    </a:rPr>
                    <a:t>STR	R0,[</a:t>
                  </a:r>
                  <a14:m>
                    <m:oMath xmlns:m="http://schemas.openxmlformats.org/officeDocument/2006/math">
                      <m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⋯</m:t>
                      </m:r>
                    </m:oMath>
                  </a14:m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nsolas" panose="020B0609020204030204" pitchFamily="49" charset="0"/>
                      <a:ea typeface="Arial" panose="020B0604020202020204" pitchFamily="34" charset="0"/>
                      <a:cs typeface="Times New Roman" panose="02020603050405020304" pitchFamily="18" charset="0"/>
                    </a:rPr>
                    <a:t>] // quotient</a:t>
                  </a: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MS Mincho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" name="Rectangle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0427" y="1789370"/>
                  <a:ext cx="3011603" cy="1776768"/>
                </a:xfrm>
                <a:prstGeom prst="rect">
                  <a:avLst/>
                </a:prstGeom>
                <a:blipFill>
                  <a:blip r:embed="rId3"/>
                  <a:stretch>
                    <a:fillRect b="-17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Rectangle 9"/>
            <p:cNvSpPr/>
            <p:nvPr/>
          </p:nvSpPr>
          <p:spPr>
            <a:xfrm>
              <a:off x="5014133" y="2440842"/>
              <a:ext cx="1853702" cy="457908"/>
            </a:xfrm>
            <a:prstGeom prst="rect">
              <a:avLst/>
            </a:prstGeom>
            <a:solidFill>
              <a:srgbClr val="FF00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" name="Speech Bubble: Rectangle 2">
              <a:extLst>
                <a:ext uri="{FF2B5EF4-FFF2-40B4-BE49-F238E27FC236}">
                  <a16:creationId xmlns:a16="http://schemas.microsoft.com/office/drawing/2014/main" id="{88274AC8-75F5-49B1-9434-73EDEEAB314C}"/>
                </a:ext>
              </a:extLst>
            </p:cNvPr>
            <p:cNvSpPr/>
            <p:nvPr/>
          </p:nvSpPr>
          <p:spPr>
            <a:xfrm>
              <a:off x="7161628" y="2491438"/>
              <a:ext cx="1728216" cy="330466"/>
            </a:xfrm>
            <a:prstGeom prst="wedgeRectCallout">
              <a:avLst>
                <a:gd name="adj1" fmla="val -85893"/>
                <a:gd name="adj2" fmla="val 21443"/>
              </a:avLst>
            </a:prstGeom>
            <a:solidFill>
              <a:srgbClr val="FFFF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SMMLA R1,R1,R0,R0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927F98F-A518-4B8A-AF18-47977AA886D6}"/>
              </a:ext>
            </a:extLst>
          </p:cNvPr>
          <p:cNvGrpSpPr/>
          <p:nvPr/>
        </p:nvGrpSpPr>
        <p:grpSpPr>
          <a:xfrm>
            <a:off x="1321072" y="2031979"/>
            <a:ext cx="4229492" cy="1564403"/>
            <a:chOff x="584082" y="1774088"/>
            <a:chExt cx="4229492" cy="15644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/>
                <p:cNvSpPr/>
                <p:nvPr/>
              </p:nvSpPr>
              <p:spPr>
                <a:xfrm>
                  <a:off x="584082" y="1774088"/>
                  <a:ext cx="2567809" cy="1564403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85725" marR="0" lvl="0" indent="0" algn="l" defTabSz="914400" rtl="0" eaLnBrk="1" fontAlgn="auto" latinLnBrk="0" hangingPunct="1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>
                      <a:tab pos="815579" algn="l"/>
                      <a:tab pos="1714500" algn="l"/>
                      <a:tab pos="2057400" algn="l"/>
                    </a:tabLst>
                    <a:defRPr/>
                  </a:pPr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nsolas" panose="020B0609020204030204" pitchFamily="49" charset="0"/>
                      <a:ea typeface="Arial" panose="020B0604020202020204" pitchFamily="34" charset="0"/>
                      <a:cs typeface="Times New Roman" panose="02020603050405020304" pitchFamily="18" charset="0"/>
                    </a:rPr>
                    <a:t>// Signed division </a:t>
                  </a:r>
                  <a:r>
                    <a:rPr kumimoji="0" 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nsolas" panose="020B0609020204030204" pitchFamily="49" charset="0"/>
                      <a:ea typeface="Arial" panose="020B0604020202020204" pitchFamily="34" charset="0"/>
                      <a:cs typeface="Times New Roman" panose="02020603050405020304" pitchFamily="18" charset="0"/>
                    </a:rPr>
                    <a:t>by +9</a:t>
                  </a: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MS Mincho"/>
                    <a:cs typeface="Times New Roman" panose="02020603050405020304" pitchFamily="18" charset="0"/>
                  </a:endParaRPr>
                </a:p>
                <a:p>
                  <a:pPr marL="85725" marR="0" lvl="0" indent="0" algn="l" defTabSz="914400" rtl="0" eaLnBrk="1" fontAlgn="auto" latinLnBrk="0" hangingPunct="1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>
                      <a:tab pos="815579" algn="l"/>
                      <a:tab pos="1714500" algn="l"/>
                      <a:tab pos="2057400" algn="l"/>
                    </a:tabLst>
                    <a:defRPr/>
                  </a:pPr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nsolas" panose="020B0609020204030204" pitchFamily="49" charset="0"/>
                      <a:ea typeface="Arial" panose="020B0604020202020204" pitchFamily="34" charset="0"/>
                      <a:cs typeface="Times New Roman" panose="02020603050405020304" pitchFamily="18" charset="0"/>
                    </a:rPr>
                    <a:t>LDR	R0,[</a:t>
                  </a:r>
                  <a14:m>
                    <m:oMath xmlns:m="http://schemas.openxmlformats.org/officeDocument/2006/math">
                      <m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⋯</m:t>
                      </m:r>
                    </m:oMath>
                  </a14:m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nsolas" panose="020B0609020204030204" pitchFamily="49" charset="0"/>
                      <a:ea typeface="Arial" panose="020B0604020202020204" pitchFamily="34" charset="0"/>
                      <a:cs typeface="Times New Roman" panose="02020603050405020304" pitchFamily="18" charset="0"/>
                    </a:rPr>
                    <a:t>] // dividend</a:t>
                  </a: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MS Mincho"/>
                    <a:cs typeface="Times New Roman" panose="02020603050405020304" pitchFamily="18" charset="0"/>
                  </a:endParaRPr>
                </a:p>
                <a:p>
                  <a:pPr marL="85725" marR="0" lvl="0" indent="0" algn="l" defTabSz="914400" rtl="0" eaLnBrk="1" fontAlgn="auto" latinLnBrk="0" hangingPunct="1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>
                      <a:tab pos="815579" algn="l"/>
                      <a:tab pos="1714500" algn="l"/>
                      <a:tab pos="2057400" algn="l"/>
                    </a:tabLst>
                    <a:defRPr/>
                  </a:pPr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nsolas" panose="020B0609020204030204" pitchFamily="49" charset="0"/>
                      <a:ea typeface="Arial" panose="020B0604020202020204" pitchFamily="34" charset="0"/>
                      <a:cs typeface="Times New Roman" panose="02020603050405020304" pitchFamily="18" charset="0"/>
                    </a:rPr>
                    <a:t>LDR	R1,=954437177</a:t>
                  </a:r>
                </a:p>
                <a:p>
                  <a:pPr marL="85725" marR="0" lvl="0" indent="0" algn="l" defTabSz="914400" rtl="0" eaLnBrk="1" fontAlgn="auto" latinLnBrk="0" hangingPunct="1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>
                      <a:tab pos="815579" algn="l"/>
                      <a:tab pos="1714500" algn="l"/>
                      <a:tab pos="2057400" algn="l"/>
                    </a:tabLst>
                    <a:defRPr/>
                  </a:pPr>
                  <a:r>
                    <a:rPr kumimoji="0" lang="en-US" sz="1200" b="0" i="0" u="none" strike="sng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nsolas" panose="020B0609020204030204" pitchFamily="49" charset="0"/>
                      <a:ea typeface="MS Mincho"/>
                      <a:cs typeface="Times New Roman" panose="02020603050405020304" pitchFamily="18" charset="0"/>
                    </a:rPr>
                    <a:t>SMULL	R2,R1,R1,R0</a:t>
                  </a:r>
                  <a:endParaRPr kumimoji="0" lang="en-US" sz="1800" b="0" i="0" u="none" strike="sng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MS Mincho"/>
                    <a:cs typeface="Times New Roman" panose="02020603050405020304" pitchFamily="18" charset="0"/>
                  </a:endParaRPr>
                </a:p>
                <a:p>
                  <a:pPr marL="85725" marR="0" lvl="0" indent="0" algn="l" defTabSz="914400" rtl="0" eaLnBrk="1" fontAlgn="auto" latinLnBrk="0" hangingPunct="1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>
                      <a:tab pos="815579" algn="l"/>
                      <a:tab pos="1714500" algn="l"/>
                      <a:tab pos="2057400" algn="l"/>
                    </a:tabLst>
                    <a:defRPr/>
                  </a:pPr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nsolas" panose="020B0609020204030204" pitchFamily="49" charset="0"/>
                      <a:ea typeface="Arial" panose="020B0604020202020204" pitchFamily="34" charset="0"/>
                      <a:cs typeface="Times New Roman" panose="02020603050405020304" pitchFamily="18" charset="0"/>
                    </a:rPr>
                    <a:t>LSR	R0,R0,31</a:t>
                  </a:r>
                </a:p>
                <a:p>
                  <a:pPr marL="85725" marR="0" lvl="0" indent="0" algn="l" defTabSz="914400" rtl="0" eaLnBrk="1" fontAlgn="auto" latinLnBrk="0" hangingPunct="1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>
                      <a:tab pos="815579" algn="l"/>
                      <a:tab pos="1714500" algn="l"/>
                      <a:tab pos="2057400" algn="l"/>
                    </a:tabLst>
                    <a:defRPr/>
                  </a:pPr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nsolas" panose="020B0609020204030204" pitchFamily="49" charset="0"/>
                      <a:ea typeface="Arial" panose="020B0604020202020204" pitchFamily="34" charset="0"/>
                      <a:cs typeface="Times New Roman" panose="02020603050405020304" pitchFamily="18" charset="0"/>
                    </a:rPr>
                    <a:t>ADD	R0,R0,R1,ASR 1</a:t>
                  </a: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MS Mincho"/>
                    <a:cs typeface="Times New Roman" panose="02020603050405020304" pitchFamily="18" charset="0"/>
                  </a:endParaRPr>
                </a:p>
                <a:p>
                  <a:pPr marL="85725" marR="0" lvl="0" indent="0" algn="l" defTabSz="914400" rtl="0" eaLnBrk="1" fontAlgn="auto" latinLnBrk="0" hangingPunct="1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>
                      <a:tab pos="815579" algn="l"/>
                      <a:tab pos="1714500" algn="l"/>
                      <a:tab pos="2057400" algn="l"/>
                    </a:tabLst>
                    <a:defRPr/>
                  </a:pPr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nsolas" panose="020B0609020204030204" pitchFamily="49" charset="0"/>
                      <a:ea typeface="Arial" panose="020B0604020202020204" pitchFamily="34" charset="0"/>
                      <a:cs typeface="Times New Roman" panose="02020603050405020304" pitchFamily="18" charset="0"/>
                    </a:rPr>
                    <a:t>STR	R0,[</a:t>
                  </a:r>
                  <a14:m>
                    <m:oMath xmlns:m="http://schemas.openxmlformats.org/officeDocument/2006/math">
                      <m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⋯</m:t>
                      </m:r>
                    </m:oMath>
                  </a14:m>
                  <a:r>
                    <a:rPr kumimoji="0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onsolas" panose="020B0609020204030204" pitchFamily="49" charset="0"/>
                      <a:ea typeface="Arial" panose="020B0604020202020204" pitchFamily="34" charset="0"/>
                      <a:cs typeface="Times New Roman" panose="02020603050405020304" pitchFamily="18" charset="0"/>
                    </a:rPr>
                    <a:t>] // quotient</a:t>
                  </a: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MS Mincho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" name="Rectangle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4082" y="1774088"/>
                  <a:ext cx="2567809" cy="1564403"/>
                </a:xfrm>
                <a:prstGeom prst="rect">
                  <a:avLst/>
                </a:prstGeom>
                <a:blipFill>
                  <a:blip r:embed="rId4"/>
                  <a:stretch>
                    <a:fillRect b="-234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Rectangle 10"/>
            <p:cNvSpPr/>
            <p:nvPr/>
          </p:nvSpPr>
          <p:spPr>
            <a:xfrm>
              <a:off x="721242" y="2377930"/>
              <a:ext cx="1853702" cy="284542"/>
            </a:xfrm>
            <a:prstGeom prst="rect">
              <a:avLst/>
            </a:prstGeom>
            <a:solidFill>
              <a:srgbClr val="FF0000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3" name="Speech Bubble: Rectangle 12">
              <a:extLst>
                <a:ext uri="{FF2B5EF4-FFF2-40B4-BE49-F238E27FC236}">
                  <a16:creationId xmlns:a16="http://schemas.microsoft.com/office/drawing/2014/main" id="{3FD696D9-D13C-4653-84C3-1AB971F8C5B4}"/>
                </a:ext>
              </a:extLst>
            </p:cNvPr>
            <p:cNvSpPr/>
            <p:nvPr/>
          </p:nvSpPr>
          <p:spPr>
            <a:xfrm>
              <a:off x="3085358" y="2335769"/>
              <a:ext cx="1728216" cy="299824"/>
            </a:xfrm>
            <a:prstGeom prst="wedgeRectCallout">
              <a:avLst>
                <a:gd name="adj1" fmla="val -85893"/>
                <a:gd name="adj2" fmla="val 21443"/>
              </a:avLst>
            </a:prstGeom>
            <a:solidFill>
              <a:srgbClr val="FFFF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SMMUL R1,R1,R0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720544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Chapter 8</a:t>
            </a:r>
            <a:br>
              <a:rPr lang="en-US" dirty="0"/>
            </a:br>
            <a:r>
              <a:rPr lang="en-US" dirty="0"/>
              <a:t>Multiplication and Division Revisited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Part 3: Remainder vs. Modulus</a:t>
            </a:r>
          </a:p>
        </p:txBody>
      </p:sp>
    </p:spTree>
    <p:extLst>
      <p:ext uri="{BB962C8B-B14F-4D97-AF65-F5344CB8AC3E}">
        <p14:creationId xmlns:p14="http://schemas.microsoft.com/office/powerpoint/2010/main" val="36906921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1755648" y="3307582"/>
            <a:ext cx="2157222" cy="807219"/>
          </a:xfrm>
          <a:prstGeom prst="rect">
            <a:avLst/>
          </a:prstGeom>
          <a:solidFill>
            <a:srgbClr val="00B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537" y="731533"/>
            <a:ext cx="6354621" cy="899256"/>
          </a:xfrm>
        </p:spPr>
        <p:txBody>
          <a:bodyPr>
            <a:normAutofit/>
          </a:bodyPr>
          <a:lstStyle/>
          <a:p>
            <a:r>
              <a:rPr lang="en-US" sz="2800" dirty="0"/>
              <a:t>REMAINDER WHEN DIVIDING BY 2</a:t>
            </a:r>
            <a:r>
              <a:rPr lang="en-US" sz="2800" baseline="30000" dirty="0"/>
              <a:t>K</a:t>
            </a:r>
            <a:br>
              <a:rPr lang="en-US" sz="2800" baseline="30000" dirty="0"/>
            </a:b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using a divide instruction </a:t>
            </a:r>
            <a:r>
              <a:rPr lang="en-US" sz="2800" dirty="0"/>
              <a:t> 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06880" y="1763721"/>
            <a:ext cx="7802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For </a:t>
            </a:r>
            <a:r>
              <a:rPr kumimoji="0" lang="en-US" sz="2400" b="1" i="1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positive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dividends: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remainder(N, 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Wingdings" panose="05000000000000000000" pitchFamily="2" charset="2"/>
              </a:rPr>
              <a:t>= N &amp; (2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–1)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706880" y="2438401"/>
                <a:ext cx="4191000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// remainder = N % 4 ;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914400" algn="l"/>
                    <a:tab pos="2228850" algn="l"/>
                  </a:tabLst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LDR	R0,[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⋯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]	// R0 = N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914400" algn="l"/>
                    <a:tab pos="2228850" algn="l"/>
                  </a:tabLst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MOV	R1,4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914400" algn="l"/>
                    <a:tab pos="2228850" algn="l"/>
                  </a:tabLst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SDIV	R2,R0,R1	// R2 = N/4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914400" algn="l"/>
                    <a:tab pos="2228850" algn="l"/>
                  </a:tabLst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MLS	R3,R2,R1,R0	// R3 = N – 4×(N/4)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914400" algn="l"/>
                    <a:tab pos="2228850" algn="l"/>
                  </a:tabLst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STR	R3,[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⋯ 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]	// remainder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6880" y="2438401"/>
                <a:ext cx="4191000" cy="2585323"/>
              </a:xfrm>
              <a:prstGeom prst="rect">
                <a:avLst/>
              </a:prstGeom>
              <a:blipFill>
                <a:blip r:embed="rId2"/>
                <a:stretch>
                  <a:fillRect l="-1163" t="-11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122949" y="2440727"/>
                <a:ext cx="3269006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579438" algn="l"/>
                    <a:tab pos="1493838" algn="l"/>
                  </a:tabLst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// remainder = N &amp; 3 ;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579438" algn="l"/>
                    <a:tab pos="1493838" algn="l"/>
                  </a:tabLst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579438" algn="l"/>
                    <a:tab pos="1493838" algn="l"/>
                  </a:tabLst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LDR	R0, [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⋯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]	// R0 = N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579438" algn="l"/>
                    <a:tab pos="1493838" algn="l"/>
                  </a:tabLst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AND	R1,R0,3	// 3</a:t>
                </a:r>
                <a:r>
                  <a:rPr kumimoji="0" 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10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= 0011</a:t>
                </a:r>
                <a:r>
                  <a:rPr kumimoji="0" 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2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579438" algn="l"/>
                    <a:tab pos="1493838" algn="l"/>
                  </a:tabLst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STR	R1, [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⋯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]	// remainder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2949" y="2440727"/>
                <a:ext cx="3269006" cy="1477328"/>
              </a:xfrm>
              <a:prstGeom prst="rect">
                <a:avLst/>
              </a:prstGeom>
              <a:blipFill>
                <a:blip r:embed="rId3"/>
                <a:stretch>
                  <a:fillRect l="-1490" t="-2058" b="-53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ight Arrow 5"/>
          <p:cNvSpPr/>
          <p:nvPr/>
        </p:nvSpPr>
        <p:spPr>
          <a:xfrm>
            <a:off x="6035040" y="3350821"/>
            <a:ext cx="518160" cy="3921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173959" y="3935195"/>
            <a:ext cx="3054095" cy="784404"/>
          </a:xfrm>
          <a:prstGeom prst="rect">
            <a:avLst/>
          </a:prstGeom>
          <a:solidFill>
            <a:srgbClr val="00B050">
              <a:alpha val="25000"/>
            </a:srgb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LDR, SDIV, MLS may take 15 clock cycles; AND takes only 1.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2012828" y="4922414"/>
          <a:ext cx="816634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0441">
                  <a:extLst>
                    <a:ext uri="{9D8B030D-6E8A-4147-A177-3AD203B41FA5}">
                      <a16:colId xmlns:a16="http://schemas.microsoft.com/office/drawing/2014/main" val="468988598"/>
                    </a:ext>
                  </a:extLst>
                </a:gridCol>
                <a:gridCol w="851145">
                  <a:extLst>
                    <a:ext uri="{9D8B030D-6E8A-4147-A177-3AD203B41FA5}">
                      <a16:colId xmlns:a16="http://schemas.microsoft.com/office/drawing/2014/main" val="3623825412"/>
                    </a:ext>
                  </a:extLst>
                </a:gridCol>
                <a:gridCol w="1020793">
                  <a:extLst>
                    <a:ext uri="{9D8B030D-6E8A-4147-A177-3AD203B41FA5}">
                      <a16:colId xmlns:a16="http://schemas.microsoft.com/office/drawing/2014/main" val="633111778"/>
                    </a:ext>
                  </a:extLst>
                </a:gridCol>
                <a:gridCol w="1020793">
                  <a:extLst>
                    <a:ext uri="{9D8B030D-6E8A-4147-A177-3AD203B41FA5}">
                      <a16:colId xmlns:a16="http://schemas.microsoft.com/office/drawing/2014/main" val="3859732641"/>
                    </a:ext>
                  </a:extLst>
                </a:gridCol>
                <a:gridCol w="1020793">
                  <a:extLst>
                    <a:ext uri="{9D8B030D-6E8A-4147-A177-3AD203B41FA5}">
                      <a16:colId xmlns:a16="http://schemas.microsoft.com/office/drawing/2014/main" val="2358466794"/>
                    </a:ext>
                  </a:extLst>
                </a:gridCol>
                <a:gridCol w="1020793">
                  <a:extLst>
                    <a:ext uri="{9D8B030D-6E8A-4147-A177-3AD203B41FA5}">
                      <a16:colId xmlns:a16="http://schemas.microsoft.com/office/drawing/2014/main" val="2384070803"/>
                    </a:ext>
                  </a:extLst>
                </a:gridCol>
                <a:gridCol w="1020793">
                  <a:extLst>
                    <a:ext uri="{9D8B030D-6E8A-4147-A177-3AD203B41FA5}">
                      <a16:colId xmlns:a16="http://schemas.microsoft.com/office/drawing/2014/main" val="511241538"/>
                    </a:ext>
                  </a:extLst>
                </a:gridCol>
                <a:gridCol w="1020793">
                  <a:extLst>
                    <a:ext uri="{9D8B030D-6E8A-4147-A177-3AD203B41FA5}">
                      <a16:colId xmlns:a16="http://schemas.microsoft.com/office/drawing/2014/main" val="17550142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  <a:r>
                        <a:rPr lang="en-US" baseline="-25000" dirty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4778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</a:t>
                      </a:r>
                      <a:r>
                        <a:rPr lang="en-US" baseline="0" dirty="0"/>
                        <a:t> % 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858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</a:t>
                      </a:r>
                      <a:r>
                        <a:rPr lang="en-US" baseline="-25000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1311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 &amp; 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3463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92773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65233"/>
            <a:ext cx="8199463" cy="1144151"/>
          </a:xfrm>
        </p:spPr>
        <p:txBody>
          <a:bodyPr>
            <a:normAutofit/>
          </a:bodyPr>
          <a:lstStyle/>
          <a:p>
            <a:r>
              <a:rPr lang="en-US" dirty="0"/>
              <a:t>REMAINDER WHEN DIVIDING BY 2</a:t>
            </a:r>
            <a:r>
              <a:rPr lang="en-US" baseline="30000" dirty="0"/>
              <a:t>K</a:t>
            </a:r>
            <a:br>
              <a:rPr lang="en-US" baseline="30000" dirty="0"/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using a divide instruction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936515" y="2080416"/>
                <a:ext cx="10425305" cy="457705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b="1" i="1" dirty="0">
                    <a:solidFill>
                      <a:srgbClr val="FF0000"/>
                    </a:solidFill>
                  </a:rPr>
                  <a:t>For </a:t>
                </a:r>
                <a:r>
                  <a:rPr lang="en-US" sz="2800" b="1" i="1" u="sng" dirty="0">
                    <a:solidFill>
                      <a:srgbClr val="FF0000"/>
                    </a:solidFill>
                  </a:rPr>
                  <a:t>negative</a:t>
                </a:r>
                <a:r>
                  <a:rPr lang="en-US" sz="2800" b="1" i="1" dirty="0">
                    <a:solidFill>
                      <a:srgbClr val="FF0000"/>
                    </a:solidFill>
                  </a:rPr>
                  <a:t> dividends:</a:t>
                </a:r>
              </a:p>
              <a:p>
                <a:pPr marL="0" indent="0">
                  <a:buNone/>
                </a:pPr>
                <a:endParaRPr lang="en-US" sz="1400" i="1" dirty="0"/>
              </a:p>
              <a:p>
                <a:pPr marL="800100" indent="0">
                  <a:buNone/>
                </a:pPr>
                <a:r>
                  <a:rPr lang="en-US" sz="2800" i="1" dirty="0"/>
                  <a:t>If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 &amp; (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2800" i="1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 sz="2800" dirty="0"/>
                  <a:t> ≠ 0: </a:t>
                </a:r>
              </a:p>
              <a:p>
                <a:pPr marL="1371600" indent="0">
                  <a:spcBef>
                    <a:spcPts val="0"/>
                  </a:spcBef>
                  <a:buNone/>
                </a:pPr>
                <a:r>
                  <a:rPr lang="en-US" sz="2800" dirty="0"/>
                  <a:t>	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 % 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&amp; 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− 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US" dirty="0"/>
              </a:p>
              <a:p>
                <a:pPr marL="114300" indent="0">
                  <a:spcBef>
                    <a:spcPts val="0"/>
                  </a:spcBef>
                  <a:buNone/>
                  <a:tabLst>
                    <a:tab pos="571500" algn="l"/>
                    <a:tab pos="1200150" algn="l"/>
                    <a:tab pos="2228850" algn="l"/>
                  </a:tabLst>
                </a:pPr>
                <a:endParaRPr lang="pt-BR" dirty="0">
                  <a:solidFill>
                    <a:srgbClr val="000000"/>
                  </a:solidFill>
                  <a:ea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6515" y="2080416"/>
                <a:ext cx="10425305" cy="4577057"/>
              </a:xfrm>
              <a:blipFill>
                <a:blip r:embed="rId2"/>
                <a:stretch>
                  <a:fillRect l="-1228" t="-22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867025" y="3838893"/>
          <a:ext cx="135255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875">
                  <a:extLst>
                    <a:ext uri="{9D8B030D-6E8A-4147-A177-3AD203B41FA5}">
                      <a16:colId xmlns:a16="http://schemas.microsoft.com/office/drawing/2014/main" val="3589725745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153430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  <a:r>
                        <a:rPr lang="en-US" baseline="-25000" dirty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 %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4695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9654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663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5082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6461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3743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8053662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448174" y="3838893"/>
          <a:ext cx="4984583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1075">
                  <a:extLst>
                    <a:ext uri="{9D8B030D-6E8A-4147-A177-3AD203B41FA5}">
                      <a16:colId xmlns:a16="http://schemas.microsoft.com/office/drawing/2014/main" val="584518210"/>
                    </a:ext>
                  </a:extLst>
                </a:gridCol>
                <a:gridCol w="1307836">
                  <a:extLst>
                    <a:ext uri="{9D8B030D-6E8A-4147-A177-3AD203B41FA5}">
                      <a16:colId xmlns:a16="http://schemas.microsoft.com/office/drawing/2014/main" val="379966140"/>
                    </a:ext>
                  </a:extLst>
                </a:gridCol>
                <a:gridCol w="1307836">
                  <a:extLst>
                    <a:ext uri="{9D8B030D-6E8A-4147-A177-3AD203B41FA5}">
                      <a16:colId xmlns:a16="http://schemas.microsoft.com/office/drawing/2014/main" val="3035841133"/>
                    </a:ext>
                  </a:extLst>
                </a:gridCol>
                <a:gridCol w="1307836">
                  <a:extLst>
                    <a:ext uri="{9D8B030D-6E8A-4147-A177-3AD203B41FA5}">
                      <a16:colId xmlns:a16="http://schemas.microsoft.com/office/drawing/2014/main" val="26734041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  <a:r>
                        <a:rPr lang="en-US" baseline="-25000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+mj-lt"/>
                        </a:rPr>
                        <a:t>(N &amp; 3)</a:t>
                      </a:r>
                      <a:r>
                        <a:rPr lang="en-US" sz="1800" i="0" baseline="-25000" dirty="0">
                          <a:latin typeface="+mj-lt"/>
                        </a:rPr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(N &amp; 3)</a:t>
                      </a:r>
                      <a:r>
                        <a:rPr lang="en-US" sz="1800" b="1" i="0" kern="1200" baseline="-250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(N &amp; 3)</a:t>
                      </a:r>
                      <a:r>
                        <a:rPr lang="en-US" baseline="0" dirty="0"/>
                        <a:t> - 4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01294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349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2308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-3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3974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0000</a:t>
                      </a:r>
                    </a:p>
                  </a:txBody>
                  <a:tcP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-4</a:t>
                      </a:r>
                    </a:p>
                  </a:txBody>
                  <a:tcP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6212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562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7497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13023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569" y="745181"/>
            <a:ext cx="7260999" cy="1144151"/>
          </a:xfrm>
        </p:spPr>
        <p:txBody>
          <a:bodyPr>
            <a:normAutofit/>
          </a:bodyPr>
          <a:lstStyle/>
          <a:p>
            <a:r>
              <a:rPr lang="en-US" sz="3200" dirty="0"/>
              <a:t>REMAINDER WHEN DIVIDING BY 2</a:t>
            </a:r>
            <a:r>
              <a:rPr lang="en-US" sz="3200" baseline="30000" dirty="0"/>
              <a:t>K</a:t>
            </a:r>
            <a:br>
              <a:rPr lang="en-US" sz="3200" baseline="30000" dirty="0"/>
            </a:b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using a divide instruction</a:t>
            </a:r>
            <a:r>
              <a:rPr lang="en-US" sz="3200" dirty="0"/>
              <a:t> 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81200" y="1841741"/>
                <a:ext cx="8229600" cy="4525963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sz="3000" b="1" i="1" dirty="0">
                    <a:solidFill>
                      <a:srgbClr val="FF0000"/>
                    </a:solidFill>
                  </a:rPr>
                  <a:t>For </a:t>
                </a:r>
                <a:r>
                  <a:rPr lang="en-US" sz="3000" b="1" i="1" u="sng" dirty="0">
                    <a:solidFill>
                      <a:srgbClr val="FF0000"/>
                    </a:solidFill>
                  </a:rPr>
                  <a:t>negative</a:t>
                </a:r>
                <a:r>
                  <a:rPr lang="en-US" sz="3000" b="1" i="1" dirty="0">
                    <a:solidFill>
                      <a:srgbClr val="FF0000"/>
                    </a:solidFill>
                  </a:rPr>
                  <a:t> dividends:</a:t>
                </a:r>
              </a:p>
              <a:p>
                <a:pPr marL="0" indent="0">
                  <a:buNone/>
                </a:pPr>
                <a:endParaRPr lang="en-US" sz="1900" i="1" dirty="0"/>
              </a:p>
              <a:p>
                <a:pPr marL="0" indent="0">
                  <a:buNone/>
                </a:pPr>
                <a:r>
                  <a:rPr lang="en-US" sz="2800" i="1" dirty="0">
                    <a:solidFill>
                      <a:schemeClr val="tx1"/>
                    </a:solidFill>
                  </a:rPr>
                  <a:t>If</a:t>
                </a:r>
                <a:r>
                  <a:rPr lang="en-US" sz="28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&amp; (</m:t>
                    </m:r>
                    <m:sSup>
                      <m:sSup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≠ 0: 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sz="2800" dirty="0">
                    <a:solidFill>
                      <a:schemeClr val="tx1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% </m:t>
                    </m:r>
                    <m:sSup>
                      <m:sSup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&amp; </m:t>
                        </m:r>
                        <m:d>
                          <m:dPr>
                            <m:ctrlP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</m:d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 </m:t>
                    </m:r>
                    <m:sSup>
                      <m:sSup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114300" indent="0">
                  <a:spcBef>
                    <a:spcPts val="0"/>
                  </a:spcBef>
                  <a:buNone/>
                  <a:tabLst>
                    <a:tab pos="571500" algn="l"/>
                    <a:tab pos="1200150" algn="l"/>
                    <a:tab pos="2228850" algn="l"/>
                  </a:tabLst>
                </a:pPr>
                <a:endParaRPr lang="pt-BR" sz="3000" dirty="0">
                  <a:solidFill>
                    <a:srgbClr val="000000"/>
                  </a:solidFill>
                  <a:ea typeface="Calibri"/>
                  <a:cs typeface="Calibri"/>
                </a:endParaRPr>
              </a:p>
              <a:p>
                <a:pPr marL="114300" indent="0">
                  <a:spcBef>
                    <a:spcPts val="0"/>
                  </a:spcBef>
                  <a:buNone/>
                  <a:tabLst>
                    <a:tab pos="571500" algn="l"/>
                    <a:tab pos="1200150" algn="l"/>
                    <a:tab pos="2228850" algn="l"/>
                  </a:tabLst>
                </a:pPr>
                <a:r>
                  <a:rPr lang="pt-BR" sz="3100" dirty="0">
                    <a:solidFill>
                      <a:srgbClr val="000000"/>
                    </a:solidFill>
                    <a:ea typeface="Calibri"/>
                    <a:cs typeface="Calibri"/>
                  </a:rPr>
                  <a:t>// int32_t Rem8(int32_t s32) ;</a:t>
                </a:r>
              </a:p>
              <a:p>
                <a:pPr marL="114300" indent="0">
                  <a:spcBef>
                    <a:spcPts val="0"/>
                  </a:spcBef>
                  <a:buNone/>
                  <a:tabLst>
                    <a:tab pos="571500" algn="l"/>
                    <a:tab pos="1200150" algn="l"/>
                    <a:tab pos="2228850" algn="l"/>
                  </a:tabLst>
                </a:pPr>
                <a:endParaRPr lang="pt-BR" dirty="0">
                  <a:solidFill>
                    <a:srgbClr val="000000"/>
                  </a:solidFill>
                  <a:ea typeface="Calibri"/>
                  <a:cs typeface="Calibri"/>
                </a:endParaRPr>
              </a:p>
              <a:p>
                <a:pPr marL="114300" indent="0">
                  <a:spcBef>
                    <a:spcPts val="0"/>
                  </a:spcBef>
                  <a:buNone/>
                  <a:tabLst>
                    <a:tab pos="571500" algn="l"/>
                    <a:tab pos="1200150" algn="l"/>
                    <a:tab pos="2228850" algn="l"/>
                  </a:tabLst>
                </a:pPr>
                <a:r>
                  <a:rPr lang="pt-BR" sz="2800" dirty="0">
                    <a:solidFill>
                      <a:srgbClr val="000000"/>
                    </a:solidFill>
                    <a:ea typeface="Calibri"/>
                    <a:cs typeface="Calibri"/>
                  </a:rPr>
                  <a:t>Rem8:</a:t>
                </a:r>
              </a:p>
              <a:p>
                <a:pPr marL="114300" indent="0">
                  <a:spcBef>
                    <a:spcPts val="0"/>
                  </a:spcBef>
                  <a:buNone/>
                  <a:tabLst>
                    <a:tab pos="571500" algn="l"/>
                    <a:tab pos="1600200" algn="l"/>
                    <a:tab pos="3657600" algn="l"/>
                  </a:tabLst>
                </a:pPr>
                <a:r>
                  <a:rPr lang="pt-BR" sz="2800" dirty="0">
                    <a:solidFill>
                      <a:srgbClr val="000000"/>
                    </a:solidFill>
                    <a:ea typeface="Calibri"/>
                    <a:cs typeface="Calibri"/>
                  </a:rPr>
                  <a:t>	AND</a:t>
                </a:r>
                <a:r>
                  <a:rPr lang="pt-BR" sz="2800" b="1" dirty="0">
                    <a:solidFill>
                      <a:srgbClr val="0070C0"/>
                    </a:solidFill>
                    <a:ea typeface="Calibri"/>
                    <a:cs typeface="Calibri"/>
                  </a:rPr>
                  <a:t>S</a:t>
                </a:r>
                <a:r>
                  <a:rPr lang="pt-BR" sz="2800" dirty="0">
                    <a:solidFill>
                      <a:srgbClr val="000000"/>
                    </a:solidFill>
                    <a:ea typeface="Calibri"/>
                    <a:cs typeface="Calibri"/>
                  </a:rPr>
                  <a:t>	R0,R0,7	// R0 = s32 MOD 8</a:t>
                </a:r>
              </a:p>
              <a:p>
                <a:pPr marL="114300" indent="0">
                  <a:spcBef>
                    <a:spcPts val="0"/>
                  </a:spcBef>
                  <a:buNone/>
                  <a:tabLst>
                    <a:tab pos="571500" algn="l"/>
                    <a:tab pos="1600200" algn="l"/>
                    <a:tab pos="3657600" algn="l"/>
                  </a:tabLst>
                </a:pPr>
                <a:r>
                  <a:rPr lang="pt-BR" sz="2800" dirty="0">
                    <a:solidFill>
                      <a:srgbClr val="000000"/>
                    </a:solidFill>
                    <a:ea typeface="Calibri"/>
                    <a:cs typeface="Calibri"/>
                  </a:rPr>
                  <a:t>	</a:t>
                </a:r>
                <a:r>
                  <a:rPr lang="pt-BR" sz="2800" b="1" dirty="0">
                    <a:solidFill>
                      <a:srgbClr val="0070C0"/>
                    </a:solidFill>
                    <a:ea typeface="Calibri"/>
                    <a:cs typeface="Calibri"/>
                  </a:rPr>
                  <a:t>IT	NE	// Enable SUB if MOD != 0</a:t>
                </a:r>
              </a:p>
              <a:p>
                <a:pPr marL="114300" indent="0">
                  <a:spcBef>
                    <a:spcPts val="0"/>
                  </a:spcBef>
                  <a:buNone/>
                  <a:tabLst>
                    <a:tab pos="571500" algn="l"/>
                    <a:tab pos="1600200" algn="l"/>
                    <a:tab pos="3657600" algn="l"/>
                  </a:tabLst>
                </a:pPr>
                <a:r>
                  <a:rPr lang="pt-BR" sz="2800" b="1" dirty="0">
                    <a:solidFill>
                      <a:srgbClr val="0070C0"/>
                    </a:solidFill>
                    <a:ea typeface="Calibri"/>
                    <a:cs typeface="Calibri"/>
                  </a:rPr>
                  <a:t>	SUBNE	R0,R0,8	// Subtract 8 if MOD != 0</a:t>
                </a:r>
              </a:p>
              <a:p>
                <a:pPr marL="114300" indent="0">
                  <a:spcBef>
                    <a:spcPts val="0"/>
                  </a:spcBef>
                  <a:buNone/>
                  <a:tabLst>
                    <a:tab pos="571500" algn="l"/>
                    <a:tab pos="1600200" algn="l"/>
                    <a:tab pos="3657600" algn="l"/>
                  </a:tabLst>
                </a:pPr>
                <a:r>
                  <a:rPr lang="pt-BR" sz="2800" dirty="0">
                    <a:solidFill>
                      <a:srgbClr val="000000"/>
                    </a:solidFill>
                    <a:ea typeface="Calibri"/>
                    <a:cs typeface="Calibri"/>
                  </a:rPr>
                  <a:t>	BX	LR</a:t>
                </a:r>
              </a:p>
              <a:p>
                <a:pPr marL="114300" indent="0">
                  <a:spcBef>
                    <a:spcPts val="0"/>
                  </a:spcBef>
                  <a:buNone/>
                  <a:tabLst>
                    <a:tab pos="571500" algn="l"/>
                    <a:tab pos="1600200" algn="l"/>
                    <a:tab pos="3657600" algn="l"/>
                  </a:tabLst>
                </a:pPr>
                <a:endParaRPr lang="pt-BR" dirty="0">
                  <a:solidFill>
                    <a:srgbClr val="000000"/>
                  </a:solidFill>
                  <a:ea typeface="Calibri"/>
                  <a:cs typeface="Calibri"/>
                </a:endParaRPr>
              </a:p>
              <a:p>
                <a:pPr marL="114300" indent="0">
                  <a:spcBef>
                    <a:spcPts val="0"/>
                  </a:spcBef>
                  <a:buNone/>
                  <a:tabLst>
                    <a:tab pos="571500" algn="l"/>
                    <a:tab pos="1600200" algn="l"/>
                    <a:tab pos="3657600" algn="l"/>
                  </a:tabLst>
                </a:pPr>
                <a:r>
                  <a:rPr lang="pt-BR" sz="2800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libri"/>
                    <a:cs typeface="Times New Roman" panose="02020603050405020304" pitchFamily="18" charset="0"/>
                  </a:rPr>
                  <a:t>NOTE: This code only works for </a:t>
                </a:r>
                <a:r>
                  <a:rPr lang="pt-BR" sz="2800" b="1" i="1" u="sng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libri"/>
                    <a:cs typeface="Times New Roman" panose="02020603050405020304" pitchFamily="18" charset="0"/>
                  </a:rPr>
                  <a:t>negative</a:t>
                </a:r>
                <a:r>
                  <a:rPr lang="pt-BR" sz="2800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libri"/>
                    <a:cs typeface="Times New Roman" panose="02020603050405020304" pitchFamily="18" charset="0"/>
                  </a:rPr>
                  <a:t> dividends</a:t>
                </a:r>
                <a:r>
                  <a:rPr lang="pt-BR" sz="28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libri"/>
                    <a:cs typeface="Times New Roman" panose="02020603050405020304" pitchFamily="18" charset="0"/>
                  </a:rPr>
                  <a:t>. </a:t>
                </a:r>
              </a:p>
              <a:p>
                <a:pPr marL="114300" indent="0">
                  <a:spcBef>
                    <a:spcPts val="0"/>
                  </a:spcBef>
                  <a:buNone/>
                  <a:tabLst>
                    <a:tab pos="571500" algn="l"/>
                    <a:tab pos="1600200" algn="l"/>
                    <a:tab pos="3657600" algn="l"/>
                  </a:tabLst>
                </a:pPr>
                <a:r>
                  <a:rPr lang="pt-BR" sz="2800" i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Calibri"/>
                    <a:cs typeface="Times New Roman" panose="02020603050405020304" pitchFamily="18" charset="0"/>
                  </a:rPr>
                  <a:t>Blue hilighted text is the change needed for negative dividends.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1841741"/>
                <a:ext cx="8229600" cy="4525963"/>
              </a:xfrm>
              <a:blipFill>
                <a:blip r:embed="rId2"/>
                <a:stretch>
                  <a:fillRect l="-1333" t="-3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44641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0527" y="749191"/>
            <a:ext cx="8155347" cy="1144151"/>
          </a:xfrm>
        </p:spPr>
        <p:txBody>
          <a:bodyPr>
            <a:normAutofit/>
          </a:bodyPr>
          <a:lstStyle/>
          <a:p>
            <a:r>
              <a:rPr lang="en-US" dirty="0"/>
              <a:t>REMAINDER WHEN DIVIDING BY 2</a:t>
            </a:r>
            <a:r>
              <a:rPr lang="en-US" baseline="30000" dirty="0"/>
              <a:t>K</a:t>
            </a:r>
            <a:br>
              <a:rPr lang="en-US" baseline="30000" dirty="0"/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using a divide instruction</a:t>
            </a:r>
            <a:r>
              <a:rPr lang="en-US" dirty="0"/>
              <a:t>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2034463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b="1" i="1" dirty="0">
                <a:solidFill>
                  <a:srgbClr val="FF0000"/>
                </a:solidFill>
              </a:rPr>
              <a:t>For </a:t>
            </a:r>
            <a:r>
              <a:rPr lang="en-US" sz="3000" b="1" i="1" u="sng" dirty="0">
                <a:solidFill>
                  <a:srgbClr val="FF0000"/>
                </a:solidFill>
              </a:rPr>
              <a:t>positive or negative </a:t>
            </a:r>
            <a:r>
              <a:rPr lang="en-US" sz="3000" b="1" i="1" dirty="0">
                <a:solidFill>
                  <a:srgbClr val="FF0000"/>
                </a:solidFill>
              </a:rPr>
              <a:t>dividends:</a:t>
            </a:r>
          </a:p>
          <a:p>
            <a:pPr marL="0" indent="0">
              <a:buNone/>
            </a:pPr>
            <a:endParaRPr lang="en-US" sz="1900" i="1" dirty="0"/>
          </a:p>
          <a:p>
            <a:pPr marL="114300" indent="0">
              <a:spcBef>
                <a:spcPts val="0"/>
              </a:spcBef>
              <a:buNone/>
              <a:tabLst>
                <a:tab pos="571500" algn="l"/>
                <a:tab pos="1200150" algn="l"/>
                <a:tab pos="2228850" algn="l"/>
              </a:tabLst>
            </a:pPr>
            <a:r>
              <a:rPr lang="pt-BR" dirty="0">
                <a:solidFill>
                  <a:srgbClr val="000000"/>
                </a:solidFill>
                <a:ea typeface="Calibri"/>
                <a:cs typeface="Calibri"/>
              </a:rPr>
              <a:t>// int32_t Rem8(int32_t s32) ;</a:t>
            </a:r>
          </a:p>
          <a:p>
            <a:pPr marL="114300" indent="0">
              <a:spcBef>
                <a:spcPts val="0"/>
              </a:spcBef>
              <a:buNone/>
              <a:tabLst>
                <a:tab pos="571500" algn="l"/>
                <a:tab pos="1200150" algn="l"/>
                <a:tab pos="2228850" algn="l"/>
              </a:tabLst>
            </a:pPr>
            <a:endParaRPr lang="pt-BR" dirty="0">
              <a:solidFill>
                <a:srgbClr val="000000"/>
              </a:solidFill>
              <a:ea typeface="Calibri"/>
              <a:cs typeface="Calibri"/>
            </a:endParaRPr>
          </a:p>
          <a:p>
            <a:pPr marL="114300" indent="0">
              <a:spcBef>
                <a:spcPts val="0"/>
              </a:spcBef>
              <a:buNone/>
              <a:tabLst>
                <a:tab pos="571500" algn="l"/>
                <a:tab pos="1200150" algn="l"/>
                <a:tab pos="2228850" algn="l"/>
              </a:tabLst>
            </a:pPr>
            <a:r>
              <a:rPr lang="pt-BR" dirty="0">
                <a:solidFill>
                  <a:srgbClr val="000000"/>
                </a:solidFill>
                <a:ea typeface="Calibri"/>
                <a:cs typeface="Calibri"/>
              </a:rPr>
              <a:t>Rem8:</a:t>
            </a:r>
          </a:p>
          <a:p>
            <a:pPr marL="114300" indent="0">
              <a:spcBef>
                <a:spcPts val="0"/>
              </a:spcBef>
              <a:buNone/>
              <a:tabLst>
                <a:tab pos="571500" algn="l"/>
                <a:tab pos="1600200" algn="l"/>
                <a:tab pos="3657600" algn="l"/>
              </a:tabLst>
            </a:pPr>
            <a:r>
              <a:rPr lang="pt-BR" dirty="0">
                <a:solidFill>
                  <a:srgbClr val="000000"/>
                </a:solidFill>
                <a:ea typeface="Calibri"/>
                <a:cs typeface="Calibri"/>
              </a:rPr>
              <a:t>	</a:t>
            </a:r>
            <a:r>
              <a:rPr lang="pt-BR" b="1" dirty="0">
                <a:solidFill>
                  <a:srgbClr val="0070C0"/>
                </a:solidFill>
                <a:ea typeface="Calibri"/>
                <a:cs typeface="Calibri"/>
              </a:rPr>
              <a:t>LSRS	R1,R0,31	// R1 = (s32 &lt; 0) ? 1 : 0</a:t>
            </a:r>
          </a:p>
          <a:p>
            <a:pPr marL="114300" indent="0">
              <a:spcBef>
                <a:spcPts val="0"/>
              </a:spcBef>
              <a:buNone/>
              <a:tabLst>
                <a:tab pos="571500" algn="l"/>
                <a:tab pos="1600200" algn="l"/>
                <a:tab pos="3657600" algn="l"/>
              </a:tabLst>
            </a:pPr>
            <a:r>
              <a:rPr lang="pt-BR" dirty="0">
                <a:solidFill>
                  <a:srgbClr val="000000"/>
                </a:solidFill>
                <a:ea typeface="Calibri"/>
                <a:cs typeface="Calibri"/>
              </a:rPr>
              <a:t>	ANDS	R0,R0,7	// R0 = s32 MOD 8</a:t>
            </a:r>
          </a:p>
          <a:p>
            <a:pPr marL="114300" indent="0">
              <a:spcBef>
                <a:spcPts val="0"/>
              </a:spcBef>
              <a:buNone/>
              <a:tabLst>
                <a:tab pos="571500" algn="l"/>
                <a:tab pos="1600200" algn="l"/>
                <a:tab pos="3657600" algn="l"/>
              </a:tabLst>
            </a:pPr>
            <a:r>
              <a:rPr lang="pt-BR" dirty="0">
                <a:solidFill>
                  <a:srgbClr val="000000"/>
                </a:solidFill>
                <a:ea typeface="Calibri"/>
                <a:cs typeface="Calibri"/>
              </a:rPr>
              <a:t>	IT	NE	// Enable SUB if MOD != 0</a:t>
            </a:r>
          </a:p>
          <a:p>
            <a:pPr marL="114300" indent="0">
              <a:spcBef>
                <a:spcPts val="0"/>
              </a:spcBef>
              <a:buNone/>
              <a:tabLst>
                <a:tab pos="571500" algn="l"/>
                <a:tab pos="1600200" algn="l"/>
                <a:tab pos="3657600" algn="l"/>
              </a:tabLst>
            </a:pPr>
            <a:r>
              <a:rPr lang="pt-BR" dirty="0">
                <a:solidFill>
                  <a:srgbClr val="000000"/>
                </a:solidFill>
                <a:ea typeface="Calibri"/>
                <a:cs typeface="Calibri"/>
              </a:rPr>
              <a:t>	SUBNE	R0,R0,</a:t>
            </a:r>
            <a:r>
              <a:rPr lang="pt-BR" b="1" dirty="0">
                <a:solidFill>
                  <a:srgbClr val="0070C0"/>
                </a:solidFill>
                <a:ea typeface="Calibri"/>
                <a:cs typeface="Calibri"/>
              </a:rPr>
              <a:t>R1,LSL 3</a:t>
            </a:r>
            <a:r>
              <a:rPr lang="pt-BR" dirty="0">
                <a:solidFill>
                  <a:srgbClr val="000000"/>
                </a:solidFill>
                <a:ea typeface="Calibri"/>
                <a:cs typeface="Calibri"/>
              </a:rPr>
              <a:t>	// Subtract </a:t>
            </a:r>
            <a:r>
              <a:rPr lang="pt-BR" dirty="0">
                <a:ea typeface="Calibri"/>
                <a:cs typeface="Calibri"/>
              </a:rPr>
              <a:t>8 if MOD != 0 </a:t>
            </a:r>
            <a:r>
              <a:rPr lang="pt-BR" b="1" dirty="0">
                <a:solidFill>
                  <a:srgbClr val="0070C0"/>
                </a:solidFill>
                <a:ea typeface="Calibri"/>
                <a:cs typeface="Calibri"/>
              </a:rPr>
              <a:t>&amp;&amp; s32 &lt; 0</a:t>
            </a:r>
          </a:p>
          <a:p>
            <a:pPr marL="114300" indent="0">
              <a:spcBef>
                <a:spcPts val="0"/>
              </a:spcBef>
              <a:buNone/>
              <a:tabLst>
                <a:tab pos="571500" algn="l"/>
                <a:tab pos="1600200" algn="l"/>
                <a:tab pos="3657600" algn="l"/>
              </a:tabLst>
            </a:pPr>
            <a:r>
              <a:rPr lang="pt-BR" dirty="0">
                <a:solidFill>
                  <a:srgbClr val="000000"/>
                </a:solidFill>
                <a:ea typeface="Calibri"/>
                <a:cs typeface="Calibri"/>
              </a:rPr>
              <a:t>	BX	LR</a:t>
            </a:r>
          </a:p>
          <a:p>
            <a:pPr marL="114300" indent="0">
              <a:spcBef>
                <a:spcPts val="0"/>
              </a:spcBef>
              <a:buNone/>
              <a:tabLst>
                <a:tab pos="571500" algn="l"/>
                <a:tab pos="1600200" algn="l"/>
                <a:tab pos="3657600" algn="l"/>
              </a:tabLst>
            </a:pPr>
            <a:endParaRPr lang="pt-BR" dirty="0">
              <a:solidFill>
                <a:srgbClr val="000000"/>
              </a:solidFill>
              <a:ea typeface="Calibri"/>
              <a:cs typeface="Calibri"/>
            </a:endParaRPr>
          </a:p>
          <a:p>
            <a:pPr marL="114300" indent="0">
              <a:spcBef>
                <a:spcPts val="0"/>
              </a:spcBef>
              <a:buNone/>
              <a:tabLst>
                <a:tab pos="571500" algn="l"/>
                <a:tab pos="1600200" algn="l"/>
                <a:tab pos="3657600" algn="l"/>
              </a:tabLst>
            </a:pPr>
            <a:r>
              <a:rPr lang="pt-BR" i="1" dirty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Note: Blue hilighted text is the change needed to make it</a:t>
            </a:r>
          </a:p>
          <a:p>
            <a:pPr marL="114300" indent="0">
              <a:spcBef>
                <a:spcPts val="0"/>
              </a:spcBef>
              <a:buNone/>
              <a:tabLst>
                <a:tab pos="571500" algn="l"/>
                <a:tab pos="1600200" algn="l"/>
                <a:tab pos="3657600" algn="l"/>
              </a:tabLst>
            </a:pPr>
            <a:r>
              <a:rPr lang="pt-BR" i="1" dirty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        work for both positive and negative dividends.</a:t>
            </a:r>
          </a:p>
        </p:txBody>
      </p:sp>
    </p:spTree>
    <p:extLst>
      <p:ext uri="{BB962C8B-B14F-4D97-AF65-F5344CB8AC3E}">
        <p14:creationId xmlns:p14="http://schemas.microsoft.com/office/powerpoint/2010/main" val="41881692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35878" y="737161"/>
            <a:ext cx="5447669" cy="690802"/>
          </a:xfrm>
        </p:spPr>
        <p:txBody>
          <a:bodyPr/>
          <a:lstStyle/>
          <a:p>
            <a:r>
              <a:rPr lang="en-US" dirty="0"/>
              <a:t>Remainder vs. Modulus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327787" y="1427962"/>
                <a:ext cx="8336202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The C expression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% 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computes the </a:t>
                </a:r>
                <a:r>
                  <a:rPr kumimoji="0" lang="en-US" sz="2000" b="1" i="1" u="sng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remainder</a:t>
                </a: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of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divided by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45720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The sign of the remainder is </a:t>
                </a:r>
                <a:r>
                  <a:rPr kumimoji="0" lang="en-US" sz="2000" b="1" i="1" u="sng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always</a:t>
                </a: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that of the dividend.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However, the </a:t>
                </a:r>
                <a:r>
                  <a:rPr kumimoji="0" lang="en-US" sz="2000" b="1" i="1" u="sng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modulus</a:t>
                </a: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of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divided by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is only defined for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&gt;0 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and is always positive and in the range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0 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to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−1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7787" y="1427962"/>
                <a:ext cx="8336202" cy="3785652"/>
              </a:xfrm>
              <a:prstGeom prst="rect">
                <a:avLst/>
              </a:prstGeom>
              <a:blipFill>
                <a:blip r:embed="rId2"/>
                <a:stretch>
                  <a:fillRect l="-805" t="-6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4425" y="3573714"/>
            <a:ext cx="5420190" cy="117993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433977" y="3573713"/>
            <a:ext cx="1949570" cy="880890"/>
          </a:xfrm>
          <a:prstGeom prst="rect">
            <a:avLst/>
          </a:prstGeom>
          <a:solidFill>
            <a:srgbClr val="FF0000">
              <a:alpha val="2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E71BF83-3CCB-4386-BDBF-27CDFCB78E20}"/>
              </a:ext>
            </a:extLst>
          </p:cNvPr>
          <p:cNvGrpSpPr/>
          <p:nvPr/>
        </p:nvGrpSpPr>
        <p:grpSpPr>
          <a:xfrm>
            <a:off x="4475961" y="5039502"/>
            <a:ext cx="3489959" cy="1015663"/>
            <a:chOff x="3421813" y="5791705"/>
            <a:chExt cx="3489959" cy="1015663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D70113F-DD1C-4454-8172-E5B9D71FFE7F}"/>
                </a:ext>
              </a:extLst>
            </p:cNvPr>
            <p:cNvSpPr txBox="1"/>
            <p:nvPr/>
          </p:nvSpPr>
          <p:spPr>
            <a:xfrm>
              <a:off x="3421813" y="5791705"/>
              <a:ext cx="3489959" cy="1015663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27113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Note: Remainder and MOD are different for negative operands!</a:t>
              </a:r>
            </a:p>
          </p:txBody>
        </p:sp>
        <p:pic>
          <p:nvPicPr>
            <p:cNvPr id="15" name="Picture 4" descr="http://www.aamu.edu/campuslife/living-on-campus/residentialLife/SiteAssets/pages/default/Warning_sign.png">
              <a:extLst>
                <a:ext uri="{FF2B5EF4-FFF2-40B4-BE49-F238E27FC236}">
                  <a16:creationId xmlns:a16="http://schemas.microsoft.com/office/drawing/2014/main" id="{0D68244D-D89F-4F08-A518-657FFD8D0C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516787" y="5867905"/>
              <a:ext cx="971826" cy="838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2454649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35878" y="752874"/>
            <a:ext cx="6656048" cy="632102"/>
          </a:xfrm>
        </p:spPr>
        <p:txBody>
          <a:bodyPr>
            <a:normAutofit/>
          </a:bodyPr>
          <a:lstStyle/>
          <a:p>
            <a:r>
              <a:rPr lang="en-US" dirty="0"/>
              <a:t>COMPUTING THE MODULUS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935878" y="1384975"/>
                <a:ext cx="9074396" cy="8811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C doesn’t have a modulus operator,  so how do we compute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𝑚𝑜𝑑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?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If</a:t>
                </a:r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20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𝒚</m:t>
                    </m:r>
                    <m:r>
                      <a:rPr kumimoji="0" lang="en-US" sz="20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 </m:t>
                    </m:r>
                    <m:sSup>
                      <m:sSupPr>
                        <m:ctrlPr>
                          <a:rPr kumimoji="0" lang="en-US" sz="20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20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𝟐</m:t>
                        </m:r>
                      </m:e>
                      <m:sup>
                        <m:r>
                          <a:rPr kumimoji="0" lang="en-US" sz="20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𝒌</m:t>
                        </m:r>
                      </m:sup>
                    </m:sSup>
                  </m:oMath>
                </a14:m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:</a:t>
                </a: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	 </a:t>
                </a:r>
                <a14:m>
                  <m:oMath xmlns:m="http://schemas.openxmlformats.org/officeDocument/2006/math"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𝑚𝑜𝑑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sSup>
                      <m:sSupPr>
                        <m:ctrlP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e>
                      <m:sup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𝑘</m:t>
                        </m:r>
                      </m:sup>
                    </m:sSup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&amp; (</m:t>
                    </m:r>
                    <m:sSup>
                      <m:sSupPr>
                        <m:ctrlP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e>
                      <m:sup>
                        <m:r>
                          <a:rPr kumimoji="0" lang="en-US" sz="20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𝑘</m:t>
                        </m:r>
                      </m:sup>
                    </m:sSup>
                    <m:r>
                      <a:rPr kumimoji="0" lang="en-US" sz="20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−1)</m:t>
                    </m:r>
                  </m:oMath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878" y="1384975"/>
                <a:ext cx="9074396" cy="881139"/>
              </a:xfrm>
              <a:prstGeom prst="rect">
                <a:avLst/>
              </a:prstGeom>
              <a:blipFill>
                <a:blip r:embed="rId2"/>
                <a:stretch>
                  <a:fillRect l="-739" t="-2759" b="-11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935878" y="3888001"/>
                <a:ext cx="1067856" cy="3797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If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18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𝒚</m:t>
                    </m:r>
                    <m:r>
                      <a:rPr kumimoji="0" lang="en-US" sz="18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</m:oMath>
                </a14:m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≠</a:t>
                </a:r>
                <a14:m>
                  <m:oMath xmlns:m="http://schemas.openxmlformats.org/officeDocument/2006/math">
                    <m:r>
                      <a:rPr kumimoji="0" lang="en-US" sz="18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sSup>
                      <m:sSupPr>
                        <m:ctrlPr>
                          <a:rPr kumimoji="0" lang="en-US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𝟐</m:t>
                        </m:r>
                      </m:e>
                      <m:sup>
                        <m:r>
                          <a:rPr kumimoji="0" lang="en-US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𝒌</m:t>
                        </m:r>
                      </m:sup>
                    </m:sSup>
                    <m:r>
                      <a:rPr kumimoji="0" lang="en-US" sz="1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:</m:t>
                    </m:r>
                  </m:oMath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878" y="3888001"/>
                <a:ext cx="1067856" cy="379784"/>
              </a:xfrm>
              <a:prstGeom prst="rect">
                <a:avLst/>
              </a:prstGeom>
              <a:blipFill>
                <a:blip r:embed="rId3"/>
                <a:stretch>
                  <a:fillRect l="-5143" t="-6452" b="-25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2580406" y="4343505"/>
                <a:ext cx="384605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If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% 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)≥0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then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𝑚𝑜𝑑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% 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0406" y="4343505"/>
                <a:ext cx="3846053" cy="369332"/>
              </a:xfrm>
              <a:prstGeom prst="rect">
                <a:avLst/>
              </a:prstGeom>
              <a:blipFill>
                <a:blip r:embed="rId4"/>
                <a:stretch>
                  <a:fillRect l="-1268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2580406" y="4660039"/>
                <a:ext cx="442794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If (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% 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)&lt;0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+mn-cs"/>
                  </a:rPr>
                  <a:t> then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𝑚𝑜𝑑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d>
                      <m:dPr>
                        <m:ctrlP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% </m:t>
                        </m:r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</m:e>
                    </m:d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a:rPr kumimoji="0" 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0406" y="4660039"/>
                <a:ext cx="4427943" cy="369332"/>
              </a:xfrm>
              <a:prstGeom prst="rect">
                <a:avLst/>
              </a:prstGeom>
              <a:blipFill>
                <a:blip r:embed="rId5"/>
                <a:stretch>
                  <a:fillRect l="-1100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AA5ED690-5371-4862-8117-3C149F7A1219}"/>
              </a:ext>
            </a:extLst>
          </p:cNvPr>
          <p:cNvGraphicFramePr>
            <a:graphicFrameLocks noGrp="1"/>
          </p:cNvGraphicFramePr>
          <p:nvPr/>
        </p:nvGraphicFramePr>
        <p:xfrm>
          <a:off x="2580405" y="5086123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7216">
                  <a:extLst>
                    <a:ext uri="{9D8B030D-6E8A-4147-A177-3AD203B41FA5}">
                      <a16:colId xmlns:a16="http://schemas.microsoft.com/office/drawing/2014/main" val="3460395367"/>
                    </a:ext>
                  </a:extLst>
                </a:gridCol>
                <a:gridCol w="1091184">
                  <a:extLst>
                    <a:ext uri="{9D8B030D-6E8A-4147-A177-3AD203B41FA5}">
                      <a16:colId xmlns:a16="http://schemas.microsoft.com/office/drawing/2014/main" val="150373849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83106972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58588901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1477718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6963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 %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567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Adjustment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Add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Add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Add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2074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 mod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0925354"/>
                  </a:ext>
                </a:extLst>
              </a:tr>
            </a:tbl>
          </a:graphicData>
        </a:graphic>
      </p:graphicFrame>
      <p:graphicFrame>
        <p:nvGraphicFramePr>
          <p:cNvPr id="12" name="Table 2">
            <a:extLst>
              <a:ext uri="{FF2B5EF4-FFF2-40B4-BE49-F238E27FC236}">
                <a16:creationId xmlns:a16="http://schemas.microsoft.com/office/drawing/2014/main" id="{4F0DC113-A56A-4477-A9F1-2D8C089AE962}"/>
              </a:ext>
            </a:extLst>
          </p:cNvPr>
          <p:cNvGraphicFramePr>
            <a:graphicFrameLocks noGrp="1"/>
          </p:cNvGraphicFramePr>
          <p:nvPr/>
        </p:nvGraphicFramePr>
        <p:xfrm>
          <a:off x="2612490" y="2259461"/>
          <a:ext cx="626363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9937">
                  <a:extLst>
                    <a:ext uri="{9D8B030D-6E8A-4147-A177-3AD203B41FA5}">
                      <a16:colId xmlns:a16="http://schemas.microsoft.com/office/drawing/2014/main" val="3460395367"/>
                    </a:ext>
                  </a:extLst>
                </a:gridCol>
                <a:gridCol w="779417">
                  <a:extLst>
                    <a:ext uri="{9D8B030D-6E8A-4147-A177-3AD203B41FA5}">
                      <a16:colId xmlns:a16="http://schemas.microsoft.com/office/drawing/2014/main" val="150373849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831069727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58588901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147771809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51122592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7948906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6963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 mod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567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  <a:r>
                        <a:rPr lang="en-US" baseline="-25000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2074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 &amp;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09253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72474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981200" y="3225396"/>
            <a:ext cx="82296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17525" algn="l"/>
                <a:tab pos="1143000" algn="l"/>
                <a:tab pos="3094038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// uint32_t Modulus(int32_t dividend, int32_t divisor) ;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Arial"/>
              <a:cs typeface="Consolas" panose="020B0609020204030204" pitchFamily="49" charset="0"/>
            </a:endParaRPr>
          </a:p>
          <a:p>
            <a:pPr marL="11430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17525" algn="l"/>
                <a:tab pos="1143000" algn="l"/>
                <a:tab pos="3094038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Arial"/>
              <a:cs typeface="Consolas" panose="020B0609020204030204" pitchFamily="49" charset="0"/>
            </a:endParaRPr>
          </a:p>
          <a:p>
            <a:pPr marL="11430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00050" algn="l"/>
                <a:tab pos="1428750" algn="l"/>
                <a:tab pos="33718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Modulus: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Arial"/>
              <a:cs typeface="Consolas" panose="020B0609020204030204" pitchFamily="49" charset="0"/>
            </a:endParaRPr>
          </a:p>
          <a:p>
            <a:pPr marL="11430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00050" algn="l"/>
                <a:tab pos="1428750" algn="l"/>
                <a:tab pos="33718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	SDIV	R2,R0,R1	// R2 = quotient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Arial"/>
              <a:cs typeface="Consolas" panose="020B0609020204030204" pitchFamily="49" charset="0"/>
            </a:endParaRPr>
          </a:p>
          <a:p>
            <a:pPr marL="11430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00050" algn="l"/>
                <a:tab pos="1428750" algn="l"/>
                <a:tab pos="33718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	MLS	R3,R1,R2,R0	// R3 = remainder (may be &lt; 0)</a:t>
            </a:r>
          </a:p>
          <a:p>
            <a:pPr marL="11430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00050" algn="l"/>
                <a:tab pos="1428750" algn="l"/>
                <a:tab pos="3371850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Arial"/>
              <a:cs typeface="Consolas" panose="020B0609020204030204" pitchFamily="49" charset="0"/>
            </a:endParaRPr>
          </a:p>
          <a:p>
            <a:pPr marL="11430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00050" algn="l"/>
                <a:tab pos="1428750" algn="l"/>
                <a:tab pos="33718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	AND	R2,R1,R3,ASR 31	// R2 = (remainder &lt; 0) ? divisor : 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Arial"/>
              <a:cs typeface="Consolas" panose="020B0609020204030204" pitchFamily="49" charset="0"/>
            </a:endParaRPr>
          </a:p>
          <a:p>
            <a:pPr marL="11430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00050" algn="l"/>
                <a:tab pos="1428750" algn="l"/>
                <a:tab pos="33718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	ADD	R0,R3,R2	// R0 = modulus (adjusted remainder)</a:t>
            </a:r>
          </a:p>
          <a:p>
            <a:pPr marL="11430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00050" algn="l"/>
                <a:tab pos="1428750" algn="l"/>
                <a:tab pos="3371850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Arial"/>
              <a:cs typeface="Consolas" panose="020B0609020204030204" pitchFamily="49" charset="0"/>
            </a:endParaRPr>
          </a:p>
          <a:p>
            <a:pPr marL="11430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00050" algn="l"/>
                <a:tab pos="1428750" algn="l"/>
                <a:tab pos="33718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	BX	LR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/>
              <p:cNvSpPr>
                <a:spLocks noGrp="1"/>
              </p:cNvSpPr>
              <p:nvPr>
                <p:ph type="title"/>
              </p:nvPr>
            </p:nvSpPr>
            <p:spPr>
              <a:xfrm>
                <a:off x="932505" y="744993"/>
                <a:ext cx="5945548" cy="1144151"/>
              </a:xfrm>
            </p:spPr>
            <p:txBody>
              <a:bodyPr>
                <a:normAutofit/>
              </a:bodyPr>
              <a:lstStyle/>
              <a:p>
                <a:r>
                  <a:rPr lang="en-US" sz="3200" dirty="0"/>
                  <a:t>COMPUTING THE MODULUS</a:t>
                </a:r>
                <a:br>
                  <a:rPr lang="en-US" sz="3200" dirty="0"/>
                </a:br>
                <a:r>
                  <a:rPr lang="en-US" sz="3200" dirty="0"/>
                  <a:t> </a:t>
                </a:r>
                <a:r>
                  <a:rPr lang="en-US" sz="3200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When divisor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sSup>
                      <m:sSupPr>
                        <m:ctrlP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e>
                      <m:sup>
                        <m: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𝒌</m:t>
                        </m:r>
                      </m:sup>
                    </m:sSup>
                  </m:oMath>
                </a14:m>
                <a:endParaRPr 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932505" y="744993"/>
                <a:ext cx="5945548" cy="1144151"/>
              </a:xfrm>
              <a:blipFill>
                <a:blip r:embed="rId2"/>
                <a:stretch>
                  <a:fillRect l="-2667" t="-4255" b="-101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4226519" y="4906697"/>
            <a:ext cx="1157968" cy="285750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5406310" y="5577178"/>
            <a:ext cx="3886079" cy="1015663"/>
            <a:chOff x="5486401" y="5385137"/>
            <a:chExt cx="3886079" cy="1015663"/>
          </a:xfrm>
        </p:grpSpPr>
        <p:sp>
          <p:nvSpPr>
            <p:cNvPr id="7" name="TextBox 6"/>
            <p:cNvSpPr txBox="1"/>
            <p:nvPr/>
          </p:nvSpPr>
          <p:spPr>
            <a:xfrm>
              <a:off x="5486401" y="5385137"/>
              <a:ext cx="3886079" cy="1015663"/>
            </a:xfrm>
            <a:prstGeom prst="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27113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Note: “R3,ASR 31” will be all 1’s if remainder is negative, else all 0’s.</a:t>
              </a:r>
            </a:p>
          </p:txBody>
        </p:sp>
        <p:pic>
          <p:nvPicPr>
            <p:cNvPr id="8" name="Picture 4" descr="http://www.aamu.edu/campuslife/living-on-campus/residentialLife/SiteAssets/pages/default/Warning_sign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5581375" y="5461337"/>
              <a:ext cx="971826" cy="838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9" name="Straight Arrow Connector 8"/>
          <p:cNvCxnSpPr/>
          <p:nvPr/>
        </p:nvCxnSpPr>
        <p:spPr>
          <a:xfrm flipH="1" flipV="1">
            <a:off x="4577772" y="5192448"/>
            <a:ext cx="876025" cy="832425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1EA6367-A71F-4426-982E-3E6F07641FE5}"/>
              </a:ext>
            </a:extLst>
          </p:cNvPr>
          <p:cNvSpPr txBox="1"/>
          <p:nvPr/>
        </p:nvSpPr>
        <p:spPr>
          <a:xfrm>
            <a:off x="3848392" y="2161682"/>
            <a:ext cx="3619773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Strategy: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Calculate remainder.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If it’s negative, add the divisor.</a:t>
            </a:r>
          </a:p>
        </p:txBody>
      </p:sp>
    </p:spTree>
    <p:extLst>
      <p:ext uri="{BB962C8B-B14F-4D97-AF65-F5344CB8AC3E}">
        <p14:creationId xmlns:p14="http://schemas.microsoft.com/office/powerpoint/2010/main" val="19745909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Done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53586173"/>
      </p:ext>
    </p:extLst>
  </p:cSld>
  <p:clrMapOvr>
    <a:masterClrMapping/>
  </p:clrMapOvr>
</p:sld>
</file>

<file path=ppt/theme/theme1.xml><?xml version="1.0" encoding="utf-8"?>
<a:theme xmlns:a="http://schemas.openxmlformats.org/drawingml/2006/main" name="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C2E27841-7055-4EC2-8474-90BDE5ACE175}"/>
    </a:ext>
  </a:extLst>
</a:theme>
</file>

<file path=ppt/theme/theme3.xml><?xml version="1.0" encoding="utf-8"?>
<a:theme xmlns:a="http://schemas.openxmlformats.org/drawingml/2006/main" name="1_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SCUTemplate</Template>
  <TotalTime>657</TotalTime>
  <Words>2725</Words>
  <Application>Microsoft Office PowerPoint</Application>
  <PresentationFormat>Widescreen</PresentationFormat>
  <Paragraphs>463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24</vt:i4>
      </vt:variant>
    </vt:vector>
  </HeadingPairs>
  <TitlesOfParts>
    <vt:vector size="36" baseType="lpstr">
      <vt:lpstr>Arial</vt:lpstr>
      <vt:lpstr>Arial Narrow</vt:lpstr>
      <vt:lpstr>Calibri</vt:lpstr>
      <vt:lpstr>Cambria</vt:lpstr>
      <vt:lpstr>Cambria Math</vt:lpstr>
      <vt:lpstr>Consolas</vt:lpstr>
      <vt:lpstr>Garamond</vt:lpstr>
      <vt:lpstr>Times New Roman</vt:lpstr>
      <vt:lpstr>Wingdings</vt:lpstr>
      <vt:lpstr>SCUTemplate</vt:lpstr>
      <vt:lpstr>Custom Design</vt:lpstr>
      <vt:lpstr>1_SCUTemplate</vt:lpstr>
      <vt:lpstr>CSEN20</vt:lpstr>
      <vt:lpstr>Chapter 8 Multiplication and Division Revisited</vt:lpstr>
      <vt:lpstr>Chapter 8 Overview</vt:lpstr>
      <vt:lpstr>ARM Instruction Execution Times</vt:lpstr>
      <vt:lpstr>Multiplying by Specific Constants</vt:lpstr>
      <vt:lpstr>Multiplying by Arbitrary Constants</vt:lpstr>
      <vt:lpstr>Multiplying by Arbitrary Constants (Binary Decomposition)</vt:lpstr>
      <vt:lpstr>Multiplying by Arbitrary Constants (Substring Optimization)</vt:lpstr>
      <vt:lpstr>Multiplying by Arbitrary Constants (Factoring)</vt:lpstr>
      <vt:lpstr>Chapter 8 Multiplication and Division Revisited</vt:lpstr>
      <vt:lpstr>DIVIDING BY 2k (Ex: k = 3, 2k=8) With Pre-shift Adjustment</vt:lpstr>
      <vt:lpstr>DIVIDE BY 8 (23)</vt:lpstr>
      <vt:lpstr>DIVISION BY AN ARBITRARY CONSTANT Using integer multiplication to do integer division</vt:lpstr>
      <vt:lpstr>DIVISION BY AN ARBITRARY CONSTANT Example: Divide  by 100, where  is 32 bits wide</vt:lpstr>
      <vt:lpstr>Reciprocal Multiplication</vt:lpstr>
      <vt:lpstr>Chapter 8 Multiplication and Division Revisited</vt:lpstr>
      <vt:lpstr>REMAINDER WHEN DIVIDING BY 2K Without using a divide instruction   </vt:lpstr>
      <vt:lpstr>REMAINDER WHEN DIVIDING BY 2K Without using a divide instruction </vt:lpstr>
      <vt:lpstr>REMAINDER WHEN DIVIDING BY 2K Without using a divide instruction  </vt:lpstr>
      <vt:lpstr>REMAINDER WHEN DIVIDING BY 2K Without using a divide instruction  </vt:lpstr>
      <vt:lpstr>Remainder vs. Modulus </vt:lpstr>
      <vt:lpstr>COMPUTING THE MODULUS</vt:lpstr>
      <vt:lpstr>COMPUTING THE MODULUS  When divisor ≠2^k</vt:lpstr>
      <vt:lpstr>Done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</dc:title>
  <dc:creator>Michael Schimpf</dc:creator>
  <cp:lastModifiedBy>Michael Schimpf</cp:lastModifiedBy>
  <cp:revision>180</cp:revision>
  <cp:lastPrinted>2023-09-11T21:46:56Z</cp:lastPrinted>
  <dcterms:created xsi:type="dcterms:W3CDTF">2023-09-09T19:51:41Z</dcterms:created>
  <dcterms:modified xsi:type="dcterms:W3CDTF">2026-08-20T21:20:26Z</dcterms:modified>
</cp:coreProperties>
</file>