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9"/>
  </p:notesMasterIdLst>
  <p:handoutMasterIdLst>
    <p:handoutMasterId r:id="rId30"/>
  </p:handoutMasterIdLst>
  <p:sldIdLst>
    <p:sldId id="333" r:id="rId4"/>
    <p:sldId id="430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47" r:id="rId22"/>
    <p:sldId id="448" r:id="rId23"/>
    <p:sldId id="449" r:id="rId24"/>
    <p:sldId id="450" r:id="rId25"/>
    <p:sldId id="451" r:id="rId26"/>
    <p:sldId id="336" r:id="rId27"/>
    <p:sldId id="509" r:id="rId2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C6A3B0-86FE-43D5-B34A-195E308A55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753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C6A3B0-86FE-43D5-B34A-195E308A55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50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101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9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4" r:id="rId16"/>
    <p:sldLayoutId id="2147483705" r:id="rId17"/>
    <p:sldLayoutId id="2147483706" r:id="rId18"/>
    <p:sldLayoutId id="214748370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16220"/>
            <a:ext cx="10387264" cy="46171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2025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64818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8</a:t>
            </a:r>
            <a:br>
              <a:rPr lang="en-US" dirty="0"/>
            </a:br>
            <a:r>
              <a:rPr lang="en-US" dirty="0"/>
              <a:t>Multiplication and Division Revisited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Multiplication by a Constant </a:t>
            </a:r>
          </a:p>
        </p:txBody>
      </p:sp>
    </p:spTree>
    <p:extLst>
      <p:ext uri="{BB962C8B-B14F-4D97-AF65-F5344CB8AC3E}">
        <p14:creationId xmlns:p14="http://schemas.microsoft.com/office/powerpoint/2010/main" val="129786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14C6-8F06-44BA-B934-508FFC0E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181"/>
            <a:ext cx="4706295" cy="714651"/>
          </a:xfrm>
        </p:spPr>
        <p:txBody>
          <a:bodyPr/>
          <a:lstStyle/>
          <a:p>
            <a:r>
              <a:rPr lang="en-US" dirty="0"/>
              <a:t>Chapter 8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C2F18-4207-4115-AE24-A4953206B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715459"/>
            <a:ext cx="10405252" cy="491795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Multiplication by a Constant (w/out MUL)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specific constants (single instruction)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arbitrary constants (instruction sequence)</a:t>
            </a:r>
          </a:p>
          <a:p>
            <a:r>
              <a:rPr lang="en-US" dirty="0">
                <a:solidFill>
                  <a:schemeClr val="tx1"/>
                </a:solidFill>
              </a:rPr>
              <a:t>Division by a Constant (w/out SDIV or UDIV)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powers of 2 (generalization of ASR technique)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arbitrary constants</a:t>
            </a:r>
          </a:p>
          <a:p>
            <a:r>
              <a:rPr lang="en-US" dirty="0">
                <a:solidFill>
                  <a:schemeClr val="tx1"/>
                </a:solidFill>
              </a:rPr>
              <a:t>N % 2</a:t>
            </a:r>
            <a:r>
              <a:rPr lang="en-US" baseline="30000" dirty="0">
                <a:solidFill>
                  <a:schemeClr val="tx1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: Problem using AND when N &lt; 0</a:t>
            </a:r>
          </a:p>
          <a:p>
            <a:r>
              <a:rPr lang="en-US" dirty="0">
                <a:solidFill>
                  <a:schemeClr val="tx1"/>
                </a:solidFill>
              </a:rPr>
              <a:t>Modulus: (Different from remainder)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Computing when divisor is a power of 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Computing when divisor is NOT a power of 2</a:t>
            </a:r>
          </a:p>
        </p:txBody>
      </p:sp>
    </p:spTree>
    <p:extLst>
      <p:ext uri="{BB962C8B-B14F-4D97-AF65-F5344CB8AC3E}">
        <p14:creationId xmlns:p14="http://schemas.microsoft.com/office/powerpoint/2010/main" val="68686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40169"/>
            <a:ext cx="7637989" cy="770205"/>
          </a:xfrm>
        </p:spPr>
        <p:txBody>
          <a:bodyPr/>
          <a:lstStyle/>
          <a:p>
            <a:r>
              <a:rPr lang="en-US" dirty="0"/>
              <a:t>ARM Instruction Execution 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924" y="2398247"/>
            <a:ext cx="3581400" cy="25117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6982" y="2340366"/>
            <a:ext cx="431273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Division is always slow on any processor.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4092" y="3761459"/>
            <a:ext cx="3581400" cy="275798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6981" y="3766282"/>
            <a:ext cx="421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Includes ADD, SUB, multiply and shifts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797782" y="3933649"/>
            <a:ext cx="465780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814362" y="2518935"/>
            <a:ext cx="4492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00072" y="6043140"/>
            <a:ext cx="53218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ARM® Corte®‑M4 Processor Technical Reference Manual, Revision r0p1.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48191" y="1813223"/>
          <a:ext cx="3581400" cy="2217166"/>
        </p:xfrm>
        <a:graphic>
          <a:graphicData uri="http://schemas.openxmlformats.org/drawingml/2006/table">
            <a:tbl>
              <a:tblPr firstRow="1" firstCol="1" bandRow="1"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Instructions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Clock Cycles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PUSH, POP, LDM, STM, LDRD, STRD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1 + #</a:t>
                      </a:r>
                      <a:r>
                        <a:rPr lang="en-US" sz="1400" dirty="0" err="1">
                          <a:effectLst/>
                          <a:latin typeface="Calibri"/>
                          <a:ea typeface="SimSun"/>
                          <a:cs typeface="Times New Roman"/>
                        </a:rPr>
                        <a:t>regs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SDIV, UDIV</a:t>
                      </a:r>
                      <a:endParaRPr lang="en-US" sz="1400" b="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2 - 12</a:t>
                      </a:r>
                      <a:endParaRPr lang="en-US" sz="1400" b="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Branch (B, BL, BL, B)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SimSun"/>
                          <a:cs typeface="Times New Roman"/>
                        </a:rPr>
                        <a:t>2 - 4</a:t>
                      </a:r>
                      <a:endParaRPr lang="en-US" sz="140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rowSpan="2" gridSpan="2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Conditional Branch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Successful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SimSun"/>
                          <a:cs typeface="Times New Roman"/>
                        </a:rPr>
                        <a:t>2 - 4</a:t>
                      </a:r>
                      <a:endParaRPr lang="en-US" sz="140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Failed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All other LDR’s and STR’s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2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All other instructions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90D542E8-1238-4913-BB29-745A9A763A9F}"/>
              </a:ext>
            </a:extLst>
          </p:cNvPr>
          <p:cNvGrpSpPr/>
          <p:nvPr/>
        </p:nvGrpSpPr>
        <p:grpSpPr>
          <a:xfrm>
            <a:off x="2173054" y="4528639"/>
            <a:ext cx="8037746" cy="961508"/>
            <a:chOff x="895942" y="4792747"/>
            <a:chExt cx="8037746" cy="96150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335AFC-F0DB-49BD-87B6-3EF2D437EB69}"/>
                </a:ext>
              </a:extLst>
            </p:cNvPr>
            <p:cNvSpPr/>
            <p:nvPr/>
          </p:nvSpPr>
          <p:spPr>
            <a:xfrm>
              <a:off x="895942" y="4792747"/>
              <a:ext cx="4572000" cy="923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Some processors don’t have multiply or divide instructions, or their execution time is much greater than other instructions.</a:t>
              </a: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BBEFBE40-4F89-425E-AFC9-3E87E701F561}"/>
                </a:ext>
              </a:extLst>
            </p:cNvPr>
            <p:cNvSpPr/>
            <p:nvPr/>
          </p:nvSpPr>
          <p:spPr>
            <a:xfrm>
              <a:off x="5678424" y="5063499"/>
              <a:ext cx="530352" cy="41375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629157-469B-458A-B18C-79E684DD67C5}"/>
                </a:ext>
              </a:extLst>
            </p:cNvPr>
            <p:cNvSpPr/>
            <p:nvPr/>
          </p:nvSpPr>
          <p:spPr>
            <a:xfrm>
              <a:off x="6297226" y="5107924"/>
              <a:ext cx="263646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We need fast alternatives!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689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D455-0BEE-4EDC-8D62-BA402409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547" y="730569"/>
            <a:ext cx="7658042" cy="641706"/>
          </a:xfrm>
        </p:spPr>
        <p:txBody>
          <a:bodyPr/>
          <a:lstStyle/>
          <a:p>
            <a:r>
              <a:rPr lang="en-US" dirty="0"/>
              <a:t>Multiplying by Specific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C63AEE7-FA31-4621-AE93-E198CC567BE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39165" y="2350483"/>
              <a:ext cx="8513670" cy="35443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65120">
                      <a:extLst>
                        <a:ext uri="{9D8B030D-6E8A-4147-A177-3AD203B41FA5}">
                          <a16:colId xmlns:a16="http://schemas.microsoft.com/office/drawing/2014/main" val="1214159917"/>
                        </a:ext>
                      </a:extLst>
                    </a:gridCol>
                    <a:gridCol w="1407775">
                      <a:extLst>
                        <a:ext uri="{9D8B030D-6E8A-4147-A177-3AD203B41FA5}">
                          <a16:colId xmlns:a16="http://schemas.microsoft.com/office/drawing/2014/main" val="1127146211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3765751778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217807136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31634228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78216326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42002448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R0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r>
                            <a:rPr lang="en-US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Multiplier</a:t>
                          </a:r>
                          <a:r>
                            <a:rPr lang="en-US" sz="2000" dirty="0"/>
                            <a:t>  × R1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Multiplier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8322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ADD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+(</m:t>
                                </m:r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3860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LSL R0,R1,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93205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RSB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+(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1800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SUB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−(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03279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C63AEE7-FA31-4621-AE93-E198CC567BEC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839165" y="2350483"/>
              <a:ext cx="8513670" cy="35443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65120">
                      <a:extLst>
                        <a:ext uri="{9D8B030D-6E8A-4147-A177-3AD203B41FA5}">
                          <a16:colId xmlns:a16="http://schemas.microsoft.com/office/drawing/2014/main" val="1214159917"/>
                        </a:ext>
                      </a:extLst>
                    </a:gridCol>
                    <a:gridCol w="1407775">
                      <a:extLst>
                        <a:ext uri="{9D8B030D-6E8A-4147-A177-3AD203B41FA5}">
                          <a16:colId xmlns:a16="http://schemas.microsoft.com/office/drawing/2014/main" val="1127146211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3765751778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217807136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31634228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78216326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420024482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3" t="-7692" r="-197872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Multiplier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7692" r="-402158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7692" r="-302158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7692" r="-202158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7692" r="-100714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7692" r="-1439" b="-8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832256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ADD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54264" r="-300862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54264" r="-402158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54264" r="-302158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54264" r="-202158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54264" r="-100714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54264" r="-1439" b="-3031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386054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LSL R0,R1,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153077" r="-300862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153077" r="-402158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153077" r="-302158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153077" r="-202158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153077" r="-100714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153077" r="-1439" b="-20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9320564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RSB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255039" r="-300862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255039" r="-40215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255039" r="-30215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255039" r="-20215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255039" r="-100714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255039" r="-1439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1800868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SUB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355039" r="-300862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355039" r="-40215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355039" r="-30215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355039" r="-20215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355039" r="-100714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355039" r="-143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032797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1C8E70F-B1CA-45E3-AA23-488184C493E8}"/>
              </a:ext>
            </a:extLst>
          </p:cNvPr>
          <p:cNvGrpSpPr/>
          <p:nvPr/>
        </p:nvGrpSpPr>
        <p:grpSpPr>
          <a:xfrm>
            <a:off x="1839166" y="1372274"/>
            <a:ext cx="8728251" cy="709429"/>
            <a:chOff x="315165" y="5889211"/>
            <a:chExt cx="8728251" cy="7094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0BDF5F-EC5C-4F83-8E54-8853334ABFE8}"/>
                    </a:ext>
                  </a:extLst>
                </p:cNvPr>
                <p:cNvSpPr txBox="1"/>
                <p:nvPr/>
              </p:nvSpPr>
              <p:spPr>
                <a:xfrm>
                  <a:off x="2162253" y="5889211"/>
                  <a:ext cx="6881163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2112963" algn="l"/>
                      <a:tab pos="3484563" algn="l"/>
                    </a:tabLst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LDR R0,=</a:t>
                  </a:r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constant	</a:t>
                  </a: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Times New Roman" panose="02020603050405020304" pitchFamily="18" charset="0"/>
                    </a:rPr>
                    <a:t>//</a:t>
                  </a:r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1 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𝑐𝑙𝑜𝑐𝑘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a14:m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to load constant into a register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2112963" algn="l"/>
                      <a:tab pos="3484563" algn="l"/>
                    </a:tabLst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MUL R0,R1,R0	//</a:t>
                  </a:r>
                  <a14:m>
                    <m:oMath xmlns:m="http://schemas.openxmlformats.org/officeDocument/2006/math"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1 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𝑐𝑙𝑜𝑐𝑘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𝑜𝑛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𝐴𝑅𝑀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𝑚𝑜𝑟𝑒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𝑜𝑛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𝑜𝑡ℎ𝑒𝑟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𝐶𝑃𝑈𝑠</m:t>
                      </m:r>
                    </m:oMath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0BDF5F-EC5C-4F83-8E54-8853334ABF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2253" y="5889211"/>
                  <a:ext cx="6881163" cy="707886"/>
                </a:xfrm>
                <a:prstGeom prst="rect">
                  <a:avLst/>
                </a:prstGeom>
                <a:blipFill>
                  <a:blip r:embed="rId4"/>
                  <a:stretch>
                    <a:fillRect l="-974" t="-5172" b="-146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E95F1C-4F05-40C3-B0FA-D1DA3ED0CAAD}"/>
                </a:ext>
              </a:extLst>
            </p:cNvPr>
            <p:cNvSpPr txBox="1"/>
            <p:nvPr/>
          </p:nvSpPr>
          <p:spPr>
            <a:xfrm>
              <a:off x="315165" y="5890754"/>
              <a:ext cx="1233219" cy="707886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71600" algn="l"/>
                  <a:tab pos="3484563" algn="l"/>
                </a:tabLst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MUL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takes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71600" algn="l"/>
                  <a:tab pos="3484563" algn="l"/>
                </a:tabLst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 clocks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D5F69E38-E077-4A88-BA0E-E2D161CD516D}"/>
                </a:ext>
              </a:extLst>
            </p:cNvPr>
            <p:cNvSpPr/>
            <p:nvPr/>
          </p:nvSpPr>
          <p:spPr>
            <a:xfrm>
              <a:off x="1618185" y="6062472"/>
              <a:ext cx="362712" cy="3291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391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78821" y="1322227"/>
                <a:ext cx="6692599" cy="480131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	R0,[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      // R0 =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operand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LSL	R1,R0,6	       // R1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Wingdings" panose="05000000000000000000" pitchFamily="2" charset="2"/>
                  </a:rPr>
                  <a:t>= 64×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ADD	R1,R1,R0,LSL 3    // R1 = 64×+ 8×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ADD	R1,R1,R0,LSL 1    // R1 = 64× + 8× + 2×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LSL	R1,R0,5	       // R1 = 32×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R1,R1,R0,LSL 1    // R1 = 32× – 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LSL	R1,R0,1	       // R1 = 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R1,R1,R0,LSL 4    // R1 = 2× – 16×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R1,R0,R0,LSL 1    // R1 = -1×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R1,R1,R0,LSL 4    // R1 = -16×-1×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821" y="1322227"/>
                <a:ext cx="6692599" cy="4801314"/>
              </a:xfrm>
              <a:prstGeom prst="rect">
                <a:avLst/>
              </a:prstGeom>
              <a:blipFill>
                <a:blip r:embed="rId2"/>
                <a:stretch>
                  <a:fillRect l="-727" t="-633" b="-88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/>
            </p:nvGraphicFramePr>
            <p:xfrm>
              <a:off x="949679" y="1773605"/>
              <a:ext cx="4180578" cy="2184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961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42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67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Arial"/>
                              <a:cs typeface="Calibri"/>
                            </a:rPr>
                            <a:t>Multiplier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Binary Representation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Optimal Decomposition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+74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1001010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+30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011110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5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–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‑14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1110010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-17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1101111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- 2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835430"/>
                  </p:ext>
                </p:extLst>
              </p:nvPr>
            </p:nvGraphicFramePr>
            <p:xfrm>
              <a:off x="949679" y="1773605"/>
              <a:ext cx="4180578" cy="2184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961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42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Arial"/>
                              <a:cs typeface="Calibri"/>
                            </a:rPr>
                            <a:t>Multiplier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Binary Representation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Optimal Decomposition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+74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106849" r="-106084" b="-308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+30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209722" r="-106084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5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–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‑14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305479" r="-106084" b="-1095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-17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411111" r="-106084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- 2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Rectangle 33"/>
          <p:cNvSpPr/>
          <p:nvPr/>
        </p:nvSpPr>
        <p:spPr>
          <a:xfrm>
            <a:off x="949679" y="2661017"/>
            <a:ext cx="4180578" cy="4095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0" y="4403645"/>
            <a:ext cx="4321276" cy="5365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96000" y="3289737"/>
            <a:ext cx="4321276" cy="5365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0" y="1945745"/>
            <a:ext cx="4321276" cy="82591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96000" y="5514439"/>
            <a:ext cx="4321276" cy="5365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40537" y="3513792"/>
            <a:ext cx="4180578" cy="44421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4874"/>
            <a:ext cx="7774347" cy="622716"/>
          </a:xfrm>
        </p:spPr>
        <p:txBody>
          <a:bodyPr>
            <a:normAutofit/>
          </a:bodyPr>
          <a:lstStyle/>
          <a:p>
            <a:r>
              <a:rPr lang="en-US" dirty="0"/>
              <a:t>Multiplying by Arbitrary Constants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0537" y="2217819"/>
            <a:ext cx="4180577" cy="4095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40537" y="3084949"/>
            <a:ext cx="4180577" cy="4095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49679" y="4296668"/>
                <a:ext cx="311426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 span of 1’s is the </a:t>
                </a:r>
                <a:b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</a:b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same as a difference: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00000 =(2</m:t>
                    </m:r>
                    <m:r>
                      <a:rPr kumimoji="0" lang="en-US" sz="18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−0</m:t>
                      </m:r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⋯ </m:t>
                      </m:r>
                      <m:r>
                        <a:rPr kumimoji="0" lang="en-US" sz="1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00000</m:t>
                      </m:r>
                      <m:r>
                        <a:rPr kumimoji="0" lang="en-US" sz="1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  <m:r>
                        <a:rPr kumimoji="0" lang="en-US" sz="1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=(2</m:t>
                      </m:r>
                      <m:r>
                        <a:rPr kumimoji="0" lang="en-US" sz="1800" b="0" i="1" u="sng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00</m:t>
                    </m:r>
                    <m:r>
                      <a: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𝟏𝟏𝟏𝟏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79" y="4296668"/>
                <a:ext cx="3114269" cy="1754326"/>
              </a:xfrm>
              <a:prstGeom prst="rect">
                <a:avLst/>
              </a:prstGeom>
              <a:blipFill>
                <a:blip r:embed="rId4"/>
                <a:stretch>
                  <a:fillRect l="-1761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823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1727" y="1378459"/>
            <a:ext cx="8458200" cy="5197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16863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= 0100  0001  1101  1111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7663" marR="0" lvl="0" indent="-347663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"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LSL	R1,R0,14	// R1 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8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7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6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4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3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2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1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instructions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37161"/>
            <a:ext cx="10718074" cy="682566"/>
          </a:xfrm>
        </p:spPr>
        <p:txBody>
          <a:bodyPr>
            <a:normAutofit/>
          </a:bodyPr>
          <a:lstStyle/>
          <a:p>
            <a:r>
              <a:rPr lang="en-US" sz="2800" dirty="0"/>
              <a:t>Multiplying by Arbitrary Constants </a:t>
            </a:r>
            <a:r>
              <a:rPr lang="en-US" sz="2800" i="1" dirty="0"/>
              <a:t>(Binary Decomposition)</a:t>
            </a:r>
          </a:p>
        </p:txBody>
      </p:sp>
    </p:spTree>
    <p:extLst>
      <p:ext uri="{BB962C8B-B14F-4D97-AF65-F5344CB8AC3E}">
        <p14:creationId xmlns:p14="http://schemas.microsoft.com/office/powerpoint/2010/main" val="377316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1220" y="1540195"/>
            <a:ext cx="8229600" cy="504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16863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= 0100  000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1  1111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0100  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10  00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10  0000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─ 0000  0000  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00  000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8854" marR="0" lvl="0" indent="-348854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"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LSL	R1,R0,14		// R1 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9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	R1,R1,R0,LSL 6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5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	R1,R1,R0	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instructions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37161"/>
            <a:ext cx="10417284" cy="662514"/>
          </a:xfrm>
        </p:spPr>
        <p:txBody>
          <a:bodyPr>
            <a:normAutofit/>
          </a:bodyPr>
          <a:lstStyle/>
          <a:p>
            <a:r>
              <a:rPr lang="en-US" sz="2800" dirty="0"/>
              <a:t>Multiplying by Arbitrary Constants </a:t>
            </a:r>
            <a:r>
              <a:rPr lang="en-US" sz="2800" i="1" dirty="0"/>
              <a:t>(Substring Optimization)</a:t>
            </a:r>
          </a:p>
        </p:txBody>
      </p:sp>
    </p:spTree>
    <p:extLst>
      <p:ext uri="{BB962C8B-B14F-4D97-AF65-F5344CB8AC3E}">
        <p14:creationId xmlns:p14="http://schemas.microsoft.com/office/powerpoint/2010/main" val="305254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1787097"/>
            <a:ext cx="8435340" cy="4231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16863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7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73	(Prime Factors of 16863)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7  73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33  511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(32 + 1)  (512 – 1)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+ 1) 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1)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8854" marR="0" lvl="0" indent="-348854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"/>
              <a:tabLst>
                <a:tab pos="1034654" algn="l"/>
                <a:tab pos="2788444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R1,R0,R0,LSL 5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+ 1)R0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88444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RSB	R1,R1,R1,LSL 9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- 1)R1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- 1)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+ 1)R0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88444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88444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instructions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21119"/>
            <a:ext cx="10417284" cy="650482"/>
          </a:xfrm>
        </p:spPr>
        <p:txBody>
          <a:bodyPr>
            <a:normAutofit/>
          </a:bodyPr>
          <a:lstStyle/>
          <a:p>
            <a:r>
              <a:rPr lang="en-US" dirty="0"/>
              <a:t>Multiplying by Arbitrary Constants </a:t>
            </a:r>
            <a:r>
              <a:rPr lang="en-US" i="1" dirty="0"/>
              <a:t>(Factoring)</a:t>
            </a:r>
          </a:p>
        </p:txBody>
      </p:sp>
    </p:spTree>
    <p:extLst>
      <p:ext uri="{BB962C8B-B14F-4D97-AF65-F5344CB8AC3E}">
        <p14:creationId xmlns:p14="http://schemas.microsoft.com/office/powerpoint/2010/main" val="331499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8</a:t>
            </a:r>
            <a:br>
              <a:rPr lang="en-US" dirty="0"/>
            </a:br>
            <a:r>
              <a:rPr lang="en-US" dirty="0"/>
              <a:t>Multiplication and Division Revisited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Division by a Constant </a:t>
            </a:r>
          </a:p>
        </p:txBody>
      </p:sp>
    </p:spTree>
    <p:extLst>
      <p:ext uri="{BB962C8B-B14F-4D97-AF65-F5344CB8AC3E}">
        <p14:creationId xmlns:p14="http://schemas.microsoft.com/office/powerpoint/2010/main" val="187387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379592" y="2121608"/>
              <a:ext cx="7432817" cy="21670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71316">
                      <a:extLst>
                        <a:ext uri="{9D8B030D-6E8A-4147-A177-3AD203B41FA5}">
                          <a16:colId xmlns:a16="http://schemas.microsoft.com/office/drawing/2014/main" val="668890252"/>
                        </a:ext>
                      </a:extLst>
                    </a:gridCol>
                    <a:gridCol w="12713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7711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604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526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673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N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N/2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 + (2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-1)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(N + 2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-1) ASR 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Decimal</a:t>
                          </a:r>
                          <a:b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</a:b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Result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-5/8 = 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+2</a:t>
                          </a:r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10</a:t>
                          </a:r>
                          <a:r>
                            <a:rPr lang="en-US" sz="1600" baseline="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0</m:t>
                              </m:r>
                              <m:r>
                                <a:rPr lang="en-US" sz="1600" b="0" i="1" baseline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⋯000010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0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⋯000000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0376979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-13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–13/8 = -1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-6</a:t>
                          </a:r>
                          <a:r>
                            <a:rPr lang="en-US" sz="1800" b="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10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11</m:t>
                              </m:r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1010</m:t>
                              </m:r>
                              <m:r>
                                <a:rPr lang="en-US" sz="1600" i="1" baseline="-25000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2</m:t>
                              </m:r>
                            </m:oMath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111111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-1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4537196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-25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–25/8 = -3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-18</a:t>
                          </a:r>
                          <a:r>
                            <a:rPr lang="en-US" sz="1600" b="0" baseline="-250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10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⋯101110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⋯111101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5982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379592" y="2121608"/>
              <a:ext cx="7432817" cy="21670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71316">
                      <a:extLst>
                        <a:ext uri="{9D8B030D-6E8A-4147-A177-3AD203B41FA5}">
                          <a16:colId xmlns:a16="http://schemas.microsoft.com/office/drawing/2014/main" val="668890252"/>
                        </a:ext>
                      </a:extLst>
                    </a:gridCol>
                    <a:gridCol w="12713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7711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604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526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673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N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N/2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 + (2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-1)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(N + 2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-1) ASR 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Decimal</a:t>
                          </a:r>
                          <a:b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</a:b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Result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-5/8 = 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714" t="-137805" r="-161364" b="-2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490" t="-137805" r="-93385" b="-2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0376979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-13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–13/8 = -1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714" t="-237805" r="-161364" b="-1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490" t="-237805" r="-93385" b="-1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-1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4537196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-25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–25/8 = -3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714" t="-337805" r="-161364" b="-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490" t="-337805" r="-93385" b="-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5982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33697"/>
            <a:ext cx="10417284" cy="665978"/>
          </a:xfrm>
        </p:spPr>
        <p:txBody>
          <a:bodyPr>
            <a:normAutofit/>
          </a:bodyPr>
          <a:lstStyle/>
          <a:p>
            <a:r>
              <a:rPr lang="en-US" sz="2800" dirty="0"/>
              <a:t>DIVIDING BY 2</a:t>
            </a:r>
            <a:r>
              <a:rPr lang="en-US" sz="2800" baseline="30000" dirty="0"/>
              <a:t>k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FF0000"/>
                </a:solidFill>
              </a:rPr>
              <a:t>Ex: k = 3, 2</a:t>
            </a:r>
            <a:r>
              <a:rPr lang="en-US" sz="2800" baseline="30000" dirty="0">
                <a:solidFill>
                  <a:srgbClr val="FF0000"/>
                </a:solidFill>
              </a:rPr>
              <a:t>k</a:t>
            </a:r>
            <a:r>
              <a:rPr lang="en-US" sz="2800" dirty="0">
                <a:solidFill>
                  <a:srgbClr val="FF0000"/>
                </a:solidFill>
              </a:rPr>
              <a:t>=8</a:t>
            </a:r>
            <a:r>
              <a:rPr lang="en-US" sz="2800" dirty="0"/>
              <a:t>) With Pre-shift Adjustment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460335" y="4776217"/>
            <a:ext cx="5318707" cy="1107996"/>
            <a:chOff x="1447800" y="4673768"/>
            <a:chExt cx="5318707" cy="1107996"/>
          </a:xfrm>
        </p:grpSpPr>
        <p:sp>
          <p:nvSpPr>
            <p:cNvPr id="6" name="TextBox 5"/>
            <p:cNvSpPr txBox="1"/>
            <p:nvPr/>
          </p:nvSpPr>
          <p:spPr>
            <a:xfrm>
              <a:off x="1447800" y="4673768"/>
              <a:ext cx="5318707" cy="1107996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26206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To divide by 2</a:t>
              </a:r>
              <a:r>
                <a:rPr kumimoji="0" lang="en-US" sz="1800" b="1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k</a:t>
              </a: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:</a:t>
              </a:r>
            </a:p>
            <a:p>
              <a:pPr marL="126206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126206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Add 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k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 to negative dividends before the k-bit arithmetic shift right.</a:t>
              </a:r>
            </a:p>
          </p:txBody>
        </p:sp>
        <p:pic>
          <p:nvPicPr>
            <p:cNvPr id="7" name="Picture 6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645519" y="485283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8573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2057400" y="1758031"/>
                <a:ext cx="8530591" cy="370331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LDR	R0,[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 		// R0 = 0????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 or 1????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ASR	R1,R0,2		// R1 = 000??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or 111??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ADD	R0,R0,R1,LSR 29	// R0 += (x &lt; 0) ? 7 : 0</a:t>
                </a: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ASR	R0,R0,3		// ÷2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3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Use ASR 3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STR	R0,[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 		// y                                                    </a:t>
                </a:r>
                <a:r>
                  <a:rPr lang="en-US" dirty="0"/>
                  <a:t>                 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057400" y="1758031"/>
                <a:ext cx="8530591" cy="3703319"/>
              </a:xfrm>
              <a:blipFill>
                <a:blip r:embed="rId2"/>
                <a:stretch>
                  <a:fillRect l="-1501" r="-357" b="-4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7" y="742259"/>
            <a:ext cx="3779862" cy="737626"/>
          </a:xfrm>
        </p:spPr>
        <p:txBody>
          <a:bodyPr>
            <a:normAutofit/>
          </a:bodyPr>
          <a:lstStyle/>
          <a:p>
            <a:r>
              <a:rPr lang="en-US" dirty="0"/>
              <a:t>DIVIDE BY 8 (2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34086" y="3840480"/>
            <a:ext cx="1394460" cy="114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(No Border) 51"/>
              <p:cNvSpPr/>
              <p:nvPr/>
            </p:nvSpPr>
            <p:spPr>
              <a:xfrm>
                <a:off x="5137056" y="5210371"/>
                <a:ext cx="5073744" cy="1264614"/>
              </a:xfrm>
              <a:prstGeom prst="callout1">
                <a:avLst>
                  <a:gd name="adj1" fmla="val 4718"/>
                  <a:gd name="adj2" fmla="val 12642"/>
                  <a:gd name="adj3" fmla="val -108097"/>
                  <a:gd name="adj4" fmla="val -6370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0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000000 or 0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000111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÷8 = ÷2</a:t>
                </a:r>
                <a:r>
                  <a:rPr kumimoji="0" lang="en-US" sz="2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3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Wingdings" panose="05000000000000000000" pitchFamily="2" charset="2"/>
                  </a:rPr>
                  <a:t> Use LSR (32 – 3)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2" name="Line Callout 1 (No Border)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056" y="5210371"/>
                <a:ext cx="5073744" cy="1264614"/>
              </a:xfrm>
              <a:prstGeom prst="callout1">
                <a:avLst>
                  <a:gd name="adj1" fmla="val 4718"/>
                  <a:gd name="adj2" fmla="val 12642"/>
                  <a:gd name="adj3" fmla="val -108097"/>
                  <a:gd name="adj4" fmla="val -6370"/>
                </a:avLst>
              </a:prstGeom>
              <a:blipFill>
                <a:blip r:embed="rId3"/>
                <a:stretch>
                  <a:fillRect r="-449068" b="-8601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6775375" y="2645230"/>
            <a:ext cx="620485" cy="44087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54688" y="2645230"/>
            <a:ext cx="620485" cy="44087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98129" y="2281279"/>
            <a:ext cx="690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4474" y="2271738"/>
            <a:ext cx="690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30787" y="1550757"/>
                <a:ext cx="1338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787" y="1550757"/>
                <a:ext cx="1338942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584473" y="1530401"/>
                <a:ext cx="1338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&lt;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473" y="1530401"/>
                <a:ext cx="13389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39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29790" y="1737360"/>
                <a:ext cx="8161020" cy="511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Compute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÷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, where A and d are </a:t>
                </a:r>
                <a:r>
                  <a:rPr kumimoji="0" lang="en-US" sz="2400" b="0" i="1" u="sng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integers</a:t>
                </a: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÷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=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=	(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÷ 2</a:t>
                </a:r>
                <a:r>
                  <a:rPr kumimoji="0" lang="en-US" sz="2400" b="0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N</a:t>
                </a: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=	 (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&gt;&gt;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28900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790" y="1737360"/>
                <a:ext cx="8161020" cy="5114926"/>
              </a:xfrm>
              <a:prstGeom prst="rect">
                <a:avLst/>
              </a:prstGeom>
              <a:blipFill>
                <a:blip r:embed="rId2"/>
                <a:stretch>
                  <a:fillRect l="-1120" t="-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964B19-2824-4FD8-963A-E1AC8769F5FE}"/>
                  </a:ext>
                </a:extLst>
              </p:cNvPr>
              <p:cNvSpPr txBox="1"/>
              <p:nvPr/>
            </p:nvSpPr>
            <p:spPr>
              <a:xfrm>
                <a:off x="5718811" y="2535331"/>
                <a:ext cx="5338210" cy="48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Can’t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with an integer multiply instruction!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964B19-2824-4FD8-963A-E1AC8769F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11" y="2535331"/>
                <a:ext cx="5338210" cy="484941"/>
              </a:xfrm>
              <a:prstGeom prst="rect">
                <a:avLst/>
              </a:prstGeom>
              <a:blipFill>
                <a:blip r:embed="rId3"/>
                <a:stretch>
                  <a:fillRect l="-913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F53531-DA28-42EE-B083-4B5B2565F007}"/>
                  </a:ext>
                </a:extLst>
              </p:cNvPr>
              <p:cNvSpPr/>
              <p:nvPr/>
            </p:nvSpPr>
            <p:spPr>
              <a:xfrm>
                <a:off x="5718810" y="3408370"/>
                <a:ext cx="5510664" cy="1363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289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Multiply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divide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Round the new multiplier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to the nearest integer. 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NOTE: This is a </a:t>
                </a:r>
                <a:r>
                  <a:rPr kumimoji="0" lang="en-US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constant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to be inserted into the source code; it is NOT computed at run time.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F53531-DA28-42EE-B083-4B5B2565F0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10" y="3408370"/>
                <a:ext cx="5510664" cy="1363771"/>
              </a:xfrm>
              <a:prstGeom prst="rect">
                <a:avLst/>
              </a:prstGeom>
              <a:blipFill>
                <a:blip r:embed="rId4"/>
                <a:stretch>
                  <a:fillRect l="-885" t="-223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9A0F679-BAA3-45C2-B9CE-AA893BD2A0A3}"/>
                  </a:ext>
                </a:extLst>
              </p:cNvPr>
              <p:cNvSpPr/>
              <p:nvPr/>
            </p:nvSpPr>
            <p:spPr>
              <a:xfrm>
                <a:off x="5718810" y="5258609"/>
                <a:ext cx="5482590" cy="12502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289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Compute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using a double-length product. Then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)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&gt;&gt;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is simply the most-significant half of the 2N-bit product.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9A0F679-BAA3-45C2-B9CE-AA893BD2A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10" y="5258609"/>
                <a:ext cx="5482590" cy="1250214"/>
              </a:xfrm>
              <a:prstGeom prst="rect">
                <a:avLst/>
              </a:prstGeom>
              <a:blipFill>
                <a:blip r:embed="rId5"/>
                <a:stretch>
                  <a:fillRect l="-88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659528" y="5431087"/>
            <a:ext cx="1180342" cy="6313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453" y="760132"/>
            <a:ext cx="8390022" cy="960693"/>
          </a:xfrm>
        </p:spPr>
        <p:txBody>
          <a:bodyPr>
            <a:noAutofit/>
          </a:bodyPr>
          <a:lstStyle/>
          <a:p>
            <a:r>
              <a:rPr lang="en-US" sz="3200" dirty="0"/>
              <a:t>DIVISION BY AN ARBITRARY CONSTANT</a:t>
            </a:r>
            <a:br>
              <a:rPr lang="en-US" sz="3200" dirty="0"/>
            </a:br>
            <a:r>
              <a:rPr lang="en-US" sz="2400" i="1" dirty="0"/>
              <a:t>Using integer multiplication to do integer division</a:t>
            </a:r>
            <a:endParaRPr lang="en-US" sz="3200" i="1" dirty="0"/>
          </a:p>
        </p:txBody>
      </p:sp>
      <p:sp>
        <p:nvSpPr>
          <p:cNvPr id="6" name="Rectangle 5"/>
          <p:cNvSpPr/>
          <p:nvPr/>
        </p:nvSpPr>
        <p:spPr>
          <a:xfrm>
            <a:off x="8387916" y="5399003"/>
            <a:ext cx="2320189" cy="2937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610078-5344-4563-A8CF-2D65CC2F176E}"/>
              </a:ext>
            </a:extLst>
          </p:cNvPr>
          <p:cNvSpPr/>
          <p:nvPr/>
        </p:nvSpPr>
        <p:spPr>
          <a:xfrm>
            <a:off x="4210028" y="3774577"/>
            <a:ext cx="359870" cy="6313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7330A4-F5B7-4EA6-BE95-EFE47C6DAC6F}"/>
              </a:ext>
            </a:extLst>
          </p:cNvPr>
          <p:cNvSpPr/>
          <p:nvPr/>
        </p:nvSpPr>
        <p:spPr>
          <a:xfrm>
            <a:off x="3994065" y="2504842"/>
            <a:ext cx="287961" cy="6313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8B0343-ABCC-4336-82BE-2FA2DEDF56B2}"/>
                  </a:ext>
                </a:extLst>
              </p:cNvPr>
              <p:cNvSpPr/>
              <p:nvPr/>
            </p:nvSpPr>
            <p:spPr>
              <a:xfrm>
                <a:off x="8146113" y="2535074"/>
                <a:ext cx="2272684" cy="5363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8B0343-ABCC-4336-82BE-2FA2DEDF5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113" y="2535074"/>
                <a:ext cx="2272684" cy="536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77F7DE-3A05-414F-8343-B1DC3EF97043}"/>
              </a:ext>
            </a:extLst>
          </p:cNvPr>
          <p:cNvCxnSpPr/>
          <p:nvPr/>
        </p:nvCxnSpPr>
        <p:spPr>
          <a:xfrm flipH="1">
            <a:off x="4389963" y="2820520"/>
            <a:ext cx="119413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206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516" y="727491"/>
            <a:ext cx="8177464" cy="877136"/>
          </a:xfrm>
        </p:spPr>
        <p:txBody>
          <a:bodyPr>
            <a:noAutofit/>
          </a:bodyPr>
          <a:lstStyle/>
          <a:p>
            <a:r>
              <a:rPr lang="en-US" sz="3200" dirty="0"/>
              <a:t>DIVISION BY AN ARBITRARY CONSTANT</a:t>
            </a:r>
            <a:br>
              <a:rPr lang="en-US" sz="3200" dirty="0"/>
            </a:br>
            <a:r>
              <a:rPr lang="en-US" sz="2400" i="1" dirty="0"/>
              <a:t>Example: Divide  by 100, where  is 32 bits wide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65186" y="1924666"/>
                <a:ext cx="819531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Divide 32-bit variable “x" by 100: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LDR	R0,[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⋯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] 	// R0 &lt;-- x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LDR	R1,=42949673	// 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2</a:t>
                </a:r>
                <a:r>
                  <a:rPr kumimoji="0" lang="en-US" sz="2000" b="0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32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/100 = 42949673 (Rounded)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SMULL	R0,R1,R0,R1	// R1.R0 = 64-bit product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STR	R1,[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⋯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]	// y = x/100 (approx.)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Example: x = 15340</a:t>
                </a:r>
                <a:r>
                  <a:rPr kumimoji="0" lang="en-US" sz="20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10</a:t>
                </a:r>
                <a:endPara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endPara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product	= 15340 × 42949673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	= 658847983820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10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	= 0000 0099 6666 68CC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16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quotient	= 0000 0099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16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 =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153</a:t>
                </a:r>
                <a:r>
                  <a:rPr kumimoji="0" lang="en-US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10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186" y="1924666"/>
                <a:ext cx="8195310" cy="4401205"/>
              </a:xfrm>
              <a:prstGeom prst="rect">
                <a:avLst/>
              </a:prstGeom>
              <a:blipFill>
                <a:blip r:embed="rId2"/>
                <a:stretch>
                  <a:fillRect l="-743"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800600" y="5307385"/>
            <a:ext cx="1295400" cy="32004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638550" y="3176016"/>
            <a:ext cx="365760" cy="32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 flipV="1">
            <a:off x="3912870" y="3496057"/>
            <a:ext cx="887730" cy="18113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F9DB83-EDF3-49B4-B33C-C5B6B0EC9AFB}"/>
              </a:ext>
            </a:extLst>
          </p:cNvPr>
          <p:cNvSpPr txBox="1"/>
          <p:nvPr/>
        </p:nvSpPr>
        <p:spPr>
          <a:xfrm>
            <a:off x="7906512" y="4725432"/>
            <a:ext cx="3034204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Rounding the multiplier to an integer sometimes introduces a small error. A more complex version of this algorithm corrects this by adjusting the dividend and/or the product as shown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85473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602" y="747335"/>
            <a:ext cx="5057072" cy="556165"/>
          </a:xfrm>
        </p:spPr>
        <p:txBody>
          <a:bodyPr>
            <a:normAutofit fontScale="90000"/>
          </a:bodyPr>
          <a:lstStyle/>
          <a:p>
            <a:r>
              <a:rPr lang="en-US" dirty="0"/>
              <a:t>Reciprocal Multiplication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8E5A15-CFC1-4CE0-9F68-B222703ACD77}"/>
              </a:ext>
            </a:extLst>
          </p:cNvPr>
          <p:cNvSpPr txBox="1"/>
          <p:nvPr/>
        </p:nvSpPr>
        <p:spPr>
          <a:xfrm>
            <a:off x="1366959" y="1545392"/>
            <a:ext cx="800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http://www.engr.scu.edu/~dlewis/book3/tools/DivideByConstant1.shtml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087F14-71D5-4721-9A8E-BE82297404C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9563" y="3975938"/>
            <a:ext cx="6585572" cy="191120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B8A2B95-32FF-4A4D-8755-2ADB386340DF}"/>
              </a:ext>
            </a:extLst>
          </p:cNvPr>
          <p:cNvSpPr/>
          <p:nvPr/>
        </p:nvSpPr>
        <p:spPr>
          <a:xfrm>
            <a:off x="2425743" y="5934508"/>
            <a:ext cx="69448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Appending the optional letter R rounds the result instead of truncated it by adding 0x80000000 to the 64-bit product before the most-significant half is extracted.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838940-CC75-4CC9-9A3B-6677F4A13A70}"/>
              </a:ext>
            </a:extLst>
          </p:cNvPr>
          <p:cNvGrpSpPr/>
          <p:nvPr/>
        </p:nvGrpSpPr>
        <p:grpSpPr>
          <a:xfrm>
            <a:off x="5858992" y="1933752"/>
            <a:ext cx="4009417" cy="1776768"/>
            <a:chOff x="4880427" y="1789370"/>
            <a:chExt cx="4009417" cy="17767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4880427" y="1789370"/>
                  <a:ext cx="3011603" cy="177676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// Signed division by +7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dividend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R1,=2454267027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sng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MS Mincho"/>
                      <a:cs typeface="Times New Roman" panose="02020603050405020304" pitchFamily="18" charset="0"/>
                    </a:rPr>
                    <a:t>SMULL	R2,R1,R1,R0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sng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MS Mincho"/>
                      <a:cs typeface="Times New Roman" panose="02020603050405020304" pitchFamily="18" charset="0"/>
                    </a:rPr>
                    <a:t>ADDS.N	R1,R1,R0</a:t>
                  </a:r>
                  <a:endParaRPr kumimoji="0" lang="en-US" sz="1800" b="0" i="0" u="none" strike="sng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LSR	R0,R0,31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ADD	R0,R0,R1,ASR 2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STR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quotient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427" y="1789370"/>
                  <a:ext cx="3011603" cy="1776768"/>
                </a:xfrm>
                <a:prstGeom prst="rect">
                  <a:avLst/>
                </a:prstGeom>
                <a:blipFill>
                  <a:blip r:embed="rId3"/>
                  <a:stretch>
                    <a:fillRect b="-1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5014133" y="2440842"/>
              <a:ext cx="1853702" cy="457908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" name="Speech Bubble: Rectangle 2">
              <a:extLst>
                <a:ext uri="{FF2B5EF4-FFF2-40B4-BE49-F238E27FC236}">
                  <a16:creationId xmlns:a16="http://schemas.microsoft.com/office/drawing/2014/main" id="{88274AC8-75F5-49B1-9434-73EDEEAB314C}"/>
                </a:ext>
              </a:extLst>
            </p:cNvPr>
            <p:cNvSpPr/>
            <p:nvPr/>
          </p:nvSpPr>
          <p:spPr>
            <a:xfrm>
              <a:off x="7161628" y="2491438"/>
              <a:ext cx="1728216" cy="330466"/>
            </a:xfrm>
            <a:prstGeom prst="wedgeRectCallout">
              <a:avLst>
                <a:gd name="adj1" fmla="val -85893"/>
                <a:gd name="adj2" fmla="val 21443"/>
              </a:avLst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SMMLA R1,R1,R0,R0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927F98F-A518-4B8A-AF18-47977AA886D6}"/>
              </a:ext>
            </a:extLst>
          </p:cNvPr>
          <p:cNvGrpSpPr/>
          <p:nvPr/>
        </p:nvGrpSpPr>
        <p:grpSpPr>
          <a:xfrm>
            <a:off x="1321072" y="2031979"/>
            <a:ext cx="4229492" cy="1564403"/>
            <a:chOff x="584082" y="1774088"/>
            <a:chExt cx="4229492" cy="15644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584082" y="1774088"/>
                  <a:ext cx="2567809" cy="156440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// Signed division </a:t>
                  </a:r>
                  <a:r>
                    <a: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by +9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dividend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R1,=954437177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sng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MS Mincho"/>
                      <a:cs typeface="Times New Roman" panose="02020603050405020304" pitchFamily="18" charset="0"/>
                    </a:rPr>
                    <a:t>SMULL	R2,R1,R1,R0</a:t>
                  </a:r>
                  <a:endParaRPr kumimoji="0" lang="en-US" sz="1800" b="0" i="0" u="none" strike="sng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LSR	R0,R0,31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ADD	R0,R0,R1,ASR 1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STR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quotient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082" y="1774088"/>
                  <a:ext cx="2567809" cy="1564403"/>
                </a:xfrm>
                <a:prstGeom prst="rect">
                  <a:avLst/>
                </a:prstGeom>
                <a:blipFill>
                  <a:blip r:embed="rId4"/>
                  <a:stretch>
                    <a:fillRect b="-23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721242" y="2377930"/>
              <a:ext cx="1853702" cy="284542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Speech Bubble: Rectangle 12">
              <a:extLst>
                <a:ext uri="{FF2B5EF4-FFF2-40B4-BE49-F238E27FC236}">
                  <a16:creationId xmlns:a16="http://schemas.microsoft.com/office/drawing/2014/main" id="{3FD696D9-D13C-4653-84C3-1AB971F8C5B4}"/>
                </a:ext>
              </a:extLst>
            </p:cNvPr>
            <p:cNvSpPr/>
            <p:nvPr/>
          </p:nvSpPr>
          <p:spPr>
            <a:xfrm>
              <a:off x="3085358" y="2335769"/>
              <a:ext cx="1728216" cy="299824"/>
            </a:xfrm>
            <a:prstGeom prst="wedgeRectCallout">
              <a:avLst>
                <a:gd name="adj1" fmla="val -85893"/>
                <a:gd name="adj2" fmla="val 21443"/>
              </a:avLst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SMMUL R1,R1,R0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205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8</a:t>
            </a:r>
            <a:br>
              <a:rPr lang="en-US" dirty="0"/>
            </a:br>
            <a:r>
              <a:rPr lang="en-US" dirty="0"/>
              <a:t>Multiplication and Division Revisited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Remainder vs. Modulus</a:t>
            </a:r>
          </a:p>
        </p:txBody>
      </p:sp>
    </p:spTree>
    <p:extLst>
      <p:ext uri="{BB962C8B-B14F-4D97-AF65-F5344CB8AC3E}">
        <p14:creationId xmlns:p14="http://schemas.microsoft.com/office/powerpoint/2010/main" val="3690692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755648" y="3307582"/>
            <a:ext cx="2157222" cy="80721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31533"/>
            <a:ext cx="6354621" cy="899256"/>
          </a:xfrm>
        </p:spPr>
        <p:txBody>
          <a:bodyPr>
            <a:normAutofit/>
          </a:bodyPr>
          <a:lstStyle/>
          <a:p>
            <a:r>
              <a:rPr lang="en-US" sz="2800" dirty="0"/>
              <a:t>REMAINDER WHEN DIVIDING BY 2</a:t>
            </a:r>
            <a:r>
              <a:rPr lang="en-US" sz="2800" baseline="30000" dirty="0"/>
              <a:t>K</a:t>
            </a:r>
            <a:br>
              <a:rPr lang="en-US" sz="2800" baseline="30000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 </a:t>
            </a:r>
            <a:r>
              <a:rPr lang="en-US" sz="2800" dirty="0"/>
              <a:t>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6880" y="1763721"/>
            <a:ext cx="7802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</a:t>
            </a:r>
            <a:r>
              <a:rPr kumimoji="0" 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positive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dividends: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remainder(N,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= N &amp;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–1)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06880" y="2438401"/>
                <a:ext cx="41910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// remainder = N % 4 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	R0,[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R0 = 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MOV	R1,4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SDIV	R2,R0,R1	// R2 = N/4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MLS	R3,R2,R1,R0	// R3 = N – 4×(N/4)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STR	R3,[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remainder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880" y="2438401"/>
                <a:ext cx="4191000" cy="2585323"/>
              </a:xfrm>
              <a:prstGeom prst="rect">
                <a:avLst/>
              </a:prstGeom>
              <a:blipFill>
                <a:blip r:embed="rId2"/>
                <a:stretch>
                  <a:fillRect l="-1163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22949" y="2440727"/>
                <a:ext cx="326900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// remainder = N &amp; 3 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	R0, 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R0 = 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AND	R1,R0,3	// 3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10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= 0011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2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STR	R1, 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remainder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949" y="2440727"/>
                <a:ext cx="3269006" cy="1477328"/>
              </a:xfrm>
              <a:prstGeom prst="rect">
                <a:avLst/>
              </a:prstGeom>
              <a:blipFill>
                <a:blip r:embed="rId3"/>
                <a:stretch>
                  <a:fillRect l="-149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6035040" y="3350821"/>
            <a:ext cx="518160" cy="392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73959" y="3935195"/>
            <a:ext cx="3054095" cy="784404"/>
          </a:xfrm>
          <a:prstGeom prst="rect">
            <a:avLst/>
          </a:prstGeom>
          <a:solidFill>
            <a:srgbClr val="00B05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LDR, SDIV, MLS may take 15 clock cycles; AND takes only 1.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012828" y="4922414"/>
          <a:ext cx="81663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441">
                  <a:extLst>
                    <a:ext uri="{9D8B030D-6E8A-4147-A177-3AD203B41FA5}">
                      <a16:colId xmlns:a16="http://schemas.microsoft.com/office/drawing/2014/main" val="468988598"/>
                    </a:ext>
                  </a:extLst>
                </a:gridCol>
                <a:gridCol w="851145">
                  <a:extLst>
                    <a:ext uri="{9D8B030D-6E8A-4147-A177-3AD203B41FA5}">
                      <a16:colId xmlns:a16="http://schemas.microsoft.com/office/drawing/2014/main" val="3623825412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633111778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3859732641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2358466794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2384070803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511241538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1755014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77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</a:t>
                      </a:r>
                      <a:r>
                        <a:rPr lang="en-US" baseline="0" dirty="0"/>
                        <a:t> %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85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311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&amp;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463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27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233"/>
            <a:ext cx="8199463" cy="1144151"/>
          </a:xfrm>
        </p:spPr>
        <p:txBody>
          <a:bodyPr>
            <a:normAutofit/>
          </a:bodyPr>
          <a:lstStyle/>
          <a:p>
            <a:r>
              <a:rPr lang="en-US" dirty="0"/>
              <a:t>REMAINDER WHEN DIVIDING BY 2</a:t>
            </a:r>
            <a:r>
              <a:rPr lang="en-US" baseline="30000" dirty="0"/>
              <a:t>K</a:t>
            </a:r>
            <a:br>
              <a:rPr lang="en-US" baseline="30000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36515" y="2080416"/>
                <a:ext cx="10425305" cy="45770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i="1" dirty="0">
                    <a:solidFill>
                      <a:srgbClr val="FF0000"/>
                    </a:solidFill>
                  </a:rPr>
                  <a:t>For </a:t>
                </a:r>
                <a:r>
                  <a:rPr lang="en-US" sz="2800" b="1" i="1" u="sng" dirty="0">
                    <a:solidFill>
                      <a:srgbClr val="FF0000"/>
                    </a:solidFill>
                  </a:rPr>
                  <a:t>negative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 dividends:</a:t>
                </a:r>
              </a:p>
              <a:p>
                <a:pPr marL="0" indent="0">
                  <a:buNone/>
                </a:pPr>
                <a:endParaRPr lang="en-US" sz="1400" i="1" dirty="0"/>
              </a:p>
              <a:p>
                <a:pPr marL="800100" indent="0">
                  <a:buNone/>
                </a:pPr>
                <a:r>
                  <a:rPr lang="en-US" sz="2800" i="1" dirty="0"/>
                  <a:t>If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&amp; (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800" dirty="0"/>
                  <a:t> ≠ 0: </a:t>
                </a:r>
              </a:p>
              <a:p>
                <a:pPr marL="1371600" indent="0">
                  <a:spcBef>
                    <a:spcPts val="0"/>
                  </a:spcBef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%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&amp; 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endParaRPr lang="pt-BR" dirty="0">
                  <a:solidFill>
                    <a:srgbClr val="000000"/>
                  </a:solidFill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15" y="2080416"/>
                <a:ext cx="10425305" cy="4577057"/>
              </a:xfrm>
              <a:blipFill>
                <a:blip r:embed="rId2"/>
                <a:stretch>
                  <a:fillRect l="-1228" t="-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67025" y="3838893"/>
          <a:ext cx="13525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3589725745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5343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 %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95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5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6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8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46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43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5366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48174" y="3838893"/>
          <a:ext cx="498458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075">
                  <a:extLst>
                    <a:ext uri="{9D8B030D-6E8A-4147-A177-3AD203B41FA5}">
                      <a16:colId xmlns:a16="http://schemas.microsoft.com/office/drawing/2014/main" val="584518210"/>
                    </a:ext>
                  </a:extLst>
                </a:gridCol>
                <a:gridCol w="1307836">
                  <a:extLst>
                    <a:ext uri="{9D8B030D-6E8A-4147-A177-3AD203B41FA5}">
                      <a16:colId xmlns:a16="http://schemas.microsoft.com/office/drawing/2014/main" val="379966140"/>
                    </a:ext>
                  </a:extLst>
                </a:gridCol>
                <a:gridCol w="1307836">
                  <a:extLst>
                    <a:ext uri="{9D8B030D-6E8A-4147-A177-3AD203B41FA5}">
                      <a16:colId xmlns:a16="http://schemas.microsoft.com/office/drawing/2014/main" val="3035841133"/>
                    </a:ext>
                  </a:extLst>
                </a:gridCol>
                <a:gridCol w="1307836">
                  <a:extLst>
                    <a:ext uri="{9D8B030D-6E8A-4147-A177-3AD203B41FA5}">
                      <a16:colId xmlns:a16="http://schemas.microsoft.com/office/drawing/2014/main" val="2673404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+mj-lt"/>
                        </a:rPr>
                        <a:t>(N &amp; 3)</a:t>
                      </a:r>
                      <a:r>
                        <a:rPr lang="en-US" sz="1800" i="0" baseline="-25000" dirty="0">
                          <a:latin typeface="+mj-lt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(N &amp; 3)</a:t>
                      </a:r>
                      <a:r>
                        <a:rPr lang="en-US" sz="1800" b="1" i="0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(N &amp; 3)</a:t>
                      </a:r>
                      <a:r>
                        <a:rPr lang="en-US" baseline="0" dirty="0"/>
                        <a:t> - 4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12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49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08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974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-4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621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6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49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302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45181"/>
            <a:ext cx="7260999" cy="1144151"/>
          </a:xfrm>
        </p:spPr>
        <p:txBody>
          <a:bodyPr>
            <a:normAutofit/>
          </a:bodyPr>
          <a:lstStyle/>
          <a:p>
            <a:r>
              <a:rPr lang="en-US" sz="3200" dirty="0"/>
              <a:t>REMAINDER WHEN DIVIDING BY 2</a:t>
            </a:r>
            <a:r>
              <a:rPr lang="en-US" sz="3200" baseline="30000" dirty="0"/>
              <a:t>K</a:t>
            </a:r>
            <a:br>
              <a:rPr lang="en-US" sz="3200" baseline="30000" dirty="0"/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</a:t>
            </a:r>
            <a:r>
              <a:rPr lang="en-US" sz="3200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841741"/>
                <a:ext cx="8229600" cy="452596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3000" b="1" i="1" dirty="0">
                    <a:solidFill>
                      <a:srgbClr val="FF0000"/>
                    </a:solidFill>
                  </a:rPr>
                  <a:t>For </a:t>
                </a:r>
                <a:r>
                  <a:rPr lang="en-US" sz="3000" b="1" i="1" u="sng" dirty="0">
                    <a:solidFill>
                      <a:srgbClr val="FF0000"/>
                    </a:solidFill>
                  </a:rPr>
                  <a:t>negative</a:t>
                </a:r>
                <a:r>
                  <a:rPr lang="en-US" sz="3000" b="1" i="1" dirty="0">
                    <a:solidFill>
                      <a:srgbClr val="FF0000"/>
                    </a:solidFill>
                  </a:rPr>
                  <a:t> dividends:</a:t>
                </a:r>
              </a:p>
              <a:p>
                <a:pPr marL="0" indent="0">
                  <a:buNone/>
                </a:pPr>
                <a:endParaRPr lang="en-US" sz="1900" i="1" dirty="0"/>
              </a:p>
              <a:p>
                <a:pPr marL="0" indent="0">
                  <a:buNone/>
                </a:pPr>
                <a:r>
                  <a:rPr lang="en-US" sz="2800" i="1" dirty="0">
                    <a:solidFill>
                      <a:schemeClr val="tx1"/>
                    </a:solidFill>
                  </a:rPr>
                  <a:t>If</a:t>
                </a: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&amp; (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≠ 0: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% 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&amp;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endParaRPr lang="pt-BR" sz="3000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r>
                  <a:rPr lang="pt-BR" sz="3100" dirty="0">
                    <a:solidFill>
                      <a:srgbClr val="000000"/>
                    </a:solidFill>
                    <a:ea typeface="Calibri"/>
                    <a:cs typeface="Calibri"/>
                  </a:rPr>
                  <a:t>// int32_t Rem8(int32_t s32) ;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endParaRPr lang="pt-BR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Rem8: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AND</a:t>
                </a:r>
                <a:r>
                  <a:rPr lang="pt-BR" sz="2800" b="1" dirty="0">
                    <a:solidFill>
                      <a:srgbClr val="0070C0"/>
                    </a:solidFill>
                    <a:ea typeface="Calibri"/>
                    <a:cs typeface="Calibri"/>
                  </a:rPr>
                  <a:t>S</a:t>
                </a: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R0,R0,7	// R0 = s32 MOD 8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</a:t>
                </a:r>
                <a:r>
                  <a:rPr lang="pt-BR" sz="2800" b="1" dirty="0">
                    <a:solidFill>
                      <a:srgbClr val="0070C0"/>
                    </a:solidFill>
                    <a:ea typeface="Calibri"/>
                    <a:cs typeface="Calibri"/>
                  </a:rPr>
                  <a:t>IT	NE	// Enable SUB if MOD != 0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b="1" dirty="0">
                    <a:solidFill>
                      <a:srgbClr val="0070C0"/>
                    </a:solidFill>
                    <a:ea typeface="Calibri"/>
                    <a:cs typeface="Calibri"/>
                  </a:rPr>
                  <a:t>	SUBNE	R0,R0,8	// Subtract 8 if MOD != 0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BX	LR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endParaRPr lang="pt-BR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NOTE: This code only works for </a:t>
                </a:r>
                <a:r>
                  <a:rPr lang="pt-BR" sz="2800" b="1" i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negative</a:t>
                </a:r>
                <a:r>
                  <a:rPr lang="pt-BR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 dividends</a:t>
                </a:r>
                <a:r>
                  <a:rPr lang="pt-BR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. 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Blue hilighted text is the change needed for negative dividends.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841741"/>
                <a:ext cx="8229600" cy="4525963"/>
              </a:xfrm>
              <a:blipFill>
                <a:blip r:embed="rId2"/>
                <a:stretch>
                  <a:fillRect l="-1333" t="-3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464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49191"/>
            <a:ext cx="8155347" cy="1144151"/>
          </a:xfrm>
        </p:spPr>
        <p:txBody>
          <a:bodyPr>
            <a:normAutofit/>
          </a:bodyPr>
          <a:lstStyle/>
          <a:p>
            <a:r>
              <a:rPr lang="en-US" dirty="0"/>
              <a:t>REMAINDER WHEN DIVIDING BY 2</a:t>
            </a:r>
            <a:r>
              <a:rPr lang="en-US" baseline="30000" dirty="0"/>
              <a:t>K</a:t>
            </a:r>
            <a:br>
              <a:rPr lang="en-US" baseline="30000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</a:t>
            </a:r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3446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For </a:t>
            </a:r>
            <a:r>
              <a:rPr lang="en-US" sz="3000" b="1" i="1" u="sng" dirty="0">
                <a:solidFill>
                  <a:srgbClr val="FF0000"/>
                </a:solidFill>
              </a:rPr>
              <a:t>positive or negative </a:t>
            </a:r>
            <a:r>
              <a:rPr lang="en-US" sz="3000" b="1" i="1" dirty="0">
                <a:solidFill>
                  <a:srgbClr val="FF0000"/>
                </a:solidFill>
              </a:rPr>
              <a:t>dividends:</a:t>
            </a:r>
          </a:p>
          <a:p>
            <a:pPr marL="0" indent="0">
              <a:buNone/>
            </a:pPr>
            <a:endParaRPr lang="en-US" sz="1900" i="1" dirty="0"/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200150" algn="l"/>
                <a:tab pos="222885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// int32_t Rem8(int32_t s32) ;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200150" algn="l"/>
                <a:tab pos="2228850" algn="l"/>
              </a:tabLst>
            </a:pPr>
            <a:endParaRPr lang="pt-BR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200150" algn="l"/>
                <a:tab pos="222885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Rem8: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LSRS	R1,R0,31	// R1 = (s32 &lt; 0) ? 1 : 0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ANDS	R0,R0,7	// R0 = s32 MOD 8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IT	NE	// Enable SUB if MOD != 0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SUBNE	R0,R0,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R1,LSL 3</a:t>
            </a: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// Subtract </a:t>
            </a:r>
            <a:r>
              <a:rPr lang="pt-BR" dirty="0">
                <a:ea typeface="Calibri"/>
                <a:cs typeface="Calibri"/>
              </a:rPr>
              <a:t>8 if MOD != 0 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&amp;&amp; s32 &lt; 0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BX	LR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endParaRPr lang="pt-BR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i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Note: Blue hilighted text is the change needed to make it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i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work for both positive and negative dividends.</a:t>
            </a:r>
          </a:p>
        </p:txBody>
      </p:sp>
    </p:spTree>
    <p:extLst>
      <p:ext uri="{BB962C8B-B14F-4D97-AF65-F5344CB8AC3E}">
        <p14:creationId xmlns:p14="http://schemas.microsoft.com/office/powerpoint/2010/main" val="4188169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5878" y="737161"/>
            <a:ext cx="5447669" cy="690802"/>
          </a:xfrm>
        </p:spPr>
        <p:txBody>
          <a:bodyPr/>
          <a:lstStyle/>
          <a:p>
            <a:r>
              <a:rPr lang="en-US" dirty="0"/>
              <a:t>Remainder vs. Modulus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27787" y="1427962"/>
                <a:ext cx="833620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C expression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computes the </a:t>
                </a:r>
                <a:r>
                  <a:rPr kumimoji="0" lang="en-US" sz="20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remainder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of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divided by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sign of the remainder is </a:t>
                </a:r>
                <a:r>
                  <a:rPr kumimoji="0" lang="en-US" sz="20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always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that of the dividend.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However, the </a:t>
                </a:r>
                <a:r>
                  <a:rPr kumimoji="0" lang="en-US" sz="20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modulus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of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divided by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is only defined for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and is always positive and in the range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to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787" y="1427962"/>
                <a:ext cx="8336202" cy="3785652"/>
              </a:xfrm>
              <a:prstGeom prst="rect">
                <a:avLst/>
              </a:prstGeom>
              <a:blipFill>
                <a:blip r:embed="rId2"/>
                <a:stretch>
                  <a:fillRect l="-805" t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25" y="3573714"/>
            <a:ext cx="5420190" cy="11799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33977" y="3573713"/>
            <a:ext cx="1949570" cy="880890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71BF83-3CCB-4386-BDBF-27CDFCB78E20}"/>
              </a:ext>
            </a:extLst>
          </p:cNvPr>
          <p:cNvGrpSpPr/>
          <p:nvPr/>
        </p:nvGrpSpPr>
        <p:grpSpPr>
          <a:xfrm>
            <a:off x="4475961" y="5039502"/>
            <a:ext cx="3489959" cy="1015663"/>
            <a:chOff x="3421813" y="5791705"/>
            <a:chExt cx="3489959" cy="101566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70113F-DD1C-4454-8172-E5B9D71FFE7F}"/>
                </a:ext>
              </a:extLst>
            </p:cNvPr>
            <p:cNvSpPr txBox="1"/>
            <p:nvPr/>
          </p:nvSpPr>
          <p:spPr>
            <a:xfrm>
              <a:off x="3421813" y="5791705"/>
              <a:ext cx="348995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Note: Remainder and MOD are different for negative operands!</a:t>
              </a:r>
            </a:p>
          </p:txBody>
        </p:sp>
        <p:pic>
          <p:nvPicPr>
            <p:cNvPr id="15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0D68244D-D89F-4F08-A518-657FFD8D0C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16787" y="5867905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5464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5878" y="752874"/>
            <a:ext cx="6656048" cy="632102"/>
          </a:xfrm>
        </p:spPr>
        <p:txBody>
          <a:bodyPr>
            <a:normAutofit/>
          </a:bodyPr>
          <a:lstStyle/>
          <a:p>
            <a:r>
              <a:rPr lang="en-US" dirty="0"/>
              <a:t>COMPUTING THE MODULUS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35878" y="1384975"/>
                <a:ext cx="9074396" cy="881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 doesn’t have a modulus operator,  so how do we compute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𝒚</m:t>
                    </m:r>
                    <m:r>
                      <a:rPr kumimoji="0" lang="en-US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𝒌</m:t>
                        </m:r>
                      </m:sup>
                    </m:sSup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: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p>
                    </m:sSup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&amp; (</m:t>
                    </m:r>
                    <m:sSup>
                      <m:sSup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p>
                    </m:sSup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78" y="1384975"/>
                <a:ext cx="9074396" cy="881139"/>
              </a:xfrm>
              <a:prstGeom prst="rect">
                <a:avLst/>
              </a:prstGeom>
              <a:blipFill>
                <a:blip r:embed="rId2"/>
                <a:stretch>
                  <a:fillRect l="-739" t="-2759" b="-1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35878" y="3888001"/>
                <a:ext cx="1067856" cy="3797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𝒚</m:t>
                    </m:r>
                    <m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≠</a:t>
                </a:r>
                <a14:m>
                  <m:oMath xmlns:m="http://schemas.openxmlformats.org/officeDocument/2006/math">
                    <m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𝒌</m:t>
                        </m:r>
                      </m:sup>
                    </m:sSup>
                    <m:r>
                      <a: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:</m:t>
                    </m:r>
                  </m:oMath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78" y="3888001"/>
                <a:ext cx="1067856" cy="379784"/>
              </a:xfrm>
              <a:prstGeom prst="rect">
                <a:avLst/>
              </a:prstGeom>
              <a:blipFill>
                <a:blip r:embed="rId3"/>
                <a:stretch>
                  <a:fillRect l="-5143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580406" y="4343505"/>
                <a:ext cx="38460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)≥0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then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406" y="4343505"/>
                <a:ext cx="3846053" cy="369332"/>
              </a:xfrm>
              <a:prstGeom prst="rect">
                <a:avLst/>
              </a:prstGeom>
              <a:blipFill>
                <a:blip r:embed="rId4"/>
                <a:stretch>
                  <a:fillRect l="-126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80406" y="4660039"/>
                <a:ext cx="44279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)&lt;0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then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% 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406" y="4660039"/>
                <a:ext cx="4427943" cy="369332"/>
              </a:xfrm>
              <a:prstGeom prst="rect">
                <a:avLst/>
              </a:prstGeom>
              <a:blipFill>
                <a:blip r:embed="rId5"/>
                <a:stretch>
                  <a:fillRect l="-110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A5ED690-5371-4862-8117-3C149F7A1219}"/>
              </a:ext>
            </a:extLst>
          </p:cNvPr>
          <p:cNvGraphicFramePr>
            <a:graphicFrameLocks noGrp="1"/>
          </p:cNvGraphicFramePr>
          <p:nvPr/>
        </p:nvGraphicFramePr>
        <p:xfrm>
          <a:off x="2580405" y="5086123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16">
                  <a:extLst>
                    <a:ext uri="{9D8B030D-6E8A-4147-A177-3AD203B41FA5}">
                      <a16:colId xmlns:a16="http://schemas.microsoft.com/office/drawing/2014/main" val="3460395367"/>
                    </a:ext>
                  </a:extLst>
                </a:gridCol>
                <a:gridCol w="1091184">
                  <a:extLst>
                    <a:ext uri="{9D8B030D-6E8A-4147-A177-3AD203B41FA5}">
                      <a16:colId xmlns:a16="http://schemas.microsoft.com/office/drawing/2014/main" val="15037384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310697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858890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47771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96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%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Adjustment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Add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Add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Add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07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mod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25354"/>
                  </a:ext>
                </a:extLst>
              </a:tr>
            </a:tbl>
          </a:graphicData>
        </a:graphic>
      </p:graphicFrame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4F0DC113-A56A-4477-A9F1-2D8C089AE962}"/>
              </a:ext>
            </a:extLst>
          </p:cNvPr>
          <p:cNvGraphicFramePr>
            <a:graphicFrameLocks noGrp="1"/>
          </p:cNvGraphicFramePr>
          <p:nvPr/>
        </p:nvGraphicFramePr>
        <p:xfrm>
          <a:off x="2612490" y="2259461"/>
          <a:ext cx="626363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937">
                  <a:extLst>
                    <a:ext uri="{9D8B030D-6E8A-4147-A177-3AD203B41FA5}">
                      <a16:colId xmlns:a16="http://schemas.microsoft.com/office/drawing/2014/main" val="3460395367"/>
                    </a:ext>
                  </a:extLst>
                </a:gridCol>
                <a:gridCol w="779417">
                  <a:extLst>
                    <a:ext uri="{9D8B030D-6E8A-4147-A177-3AD203B41FA5}">
                      <a16:colId xmlns:a16="http://schemas.microsoft.com/office/drawing/2014/main" val="15037384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3106972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8588901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14777180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1122592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94890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96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mod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07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&amp;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2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247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981200" y="3225396"/>
            <a:ext cx="8229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7525" algn="l"/>
                <a:tab pos="1143000" algn="l"/>
                <a:tab pos="30940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// uint32_t Modulus(int32_t dividend, int32_t divisor)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7525" algn="l"/>
                <a:tab pos="1143000" algn="l"/>
                <a:tab pos="30940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Modulus: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SDIV	R2,R0,R1	// R2 = quotient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MLS	R3,R1,R2,R0	// R3 = remainder (may be &lt; 0)</a:t>
            </a: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AND	R2,R1,R3,ASR 31	// R2 = (remainder &lt; 0) ? divisor :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ADD	R0,R3,R2	// R0 = modulus (adjusted remainder)</a:t>
            </a: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BX	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932505" y="744993"/>
                <a:ext cx="5945548" cy="1144151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COMPUTING THE MODULUS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divisor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32505" y="744993"/>
                <a:ext cx="5945548" cy="1144151"/>
              </a:xfrm>
              <a:blipFill>
                <a:blip r:embed="rId2"/>
                <a:stretch>
                  <a:fillRect l="-2667" t="-4255" b="-10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226519" y="4906697"/>
            <a:ext cx="1157968" cy="28575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406310" y="5577178"/>
            <a:ext cx="3886079" cy="1015663"/>
            <a:chOff x="5486401" y="5385137"/>
            <a:chExt cx="3886079" cy="1015663"/>
          </a:xfrm>
        </p:grpSpPr>
        <p:sp>
          <p:nvSpPr>
            <p:cNvPr id="7" name="TextBox 6"/>
            <p:cNvSpPr txBox="1"/>
            <p:nvPr/>
          </p:nvSpPr>
          <p:spPr>
            <a:xfrm>
              <a:off x="5486401" y="5385137"/>
              <a:ext cx="388607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Note: “R3,ASR 31” will be all 1’s if remainder is negative, else all 0’s.</a:t>
              </a:r>
            </a:p>
          </p:txBody>
        </p:sp>
        <p:pic>
          <p:nvPicPr>
            <p:cNvPr id="8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Arrow Connector 8"/>
          <p:cNvCxnSpPr/>
          <p:nvPr/>
        </p:nvCxnSpPr>
        <p:spPr>
          <a:xfrm flipH="1" flipV="1">
            <a:off x="4577772" y="5192448"/>
            <a:ext cx="876025" cy="83242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EA6367-A71F-4426-982E-3E6F07641FE5}"/>
              </a:ext>
            </a:extLst>
          </p:cNvPr>
          <p:cNvSpPr txBox="1"/>
          <p:nvPr/>
        </p:nvSpPr>
        <p:spPr>
          <a:xfrm>
            <a:off x="3848392" y="2161682"/>
            <a:ext cx="3619773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Strategy: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Calculate remainder.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it’s negative, add the divisor.</a:t>
            </a:r>
          </a:p>
        </p:txBody>
      </p:sp>
    </p:spTree>
    <p:extLst>
      <p:ext uri="{BB962C8B-B14F-4D97-AF65-F5344CB8AC3E}">
        <p14:creationId xmlns:p14="http://schemas.microsoft.com/office/powerpoint/2010/main" val="1974590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658</TotalTime>
  <Words>2729</Words>
  <Application>Microsoft Office PowerPoint</Application>
  <PresentationFormat>Widescreen</PresentationFormat>
  <Paragraphs>464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Narrow</vt:lpstr>
      <vt:lpstr>Calibri</vt:lpstr>
      <vt:lpstr>Cambria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8 Multiplication and Division Revisited</vt:lpstr>
      <vt:lpstr>Chapter 8 Overview</vt:lpstr>
      <vt:lpstr>ARM Instruction Execution Times</vt:lpstr>
      <vt:lpstr>Multiplying by Specific Constants</vt:lpstr>
      <vt:lpstr>Multiplying by Arbitrary Constants</vt:lpstr>
      <vt:lpstr>Multiplying by Arbitrary Constants (Binary Decomposition)</vt:lpstr>
      <vt:lpstr>Multiplying by Arbitrary Constants (Substring Optimization)</vt:lpstr>
      <vt:lpstr>Multiplying by Arbitrary Constants (Factoring)</vt:lpstr>
      <vt:lpstr>Chapter 8 Multiplication and Division Revisited</vt:lpstr>
      <vt:lpstr>DIVIDING BY 2k (Ex: k = 3, 2k=8) With Pre-shift Adjustment</vt:lpstr>
      <vt:lpstr>DIVIDE BY 8 (23)</vt:lpstr>
      <vt:lpstr>DIVISION BY AN ARBITRARY CONSTANT Using integer multiplication to do integer division</vt:lpstr>
      <vt:lpstr>DIVISION BY AN ARBITRARY CONSTANT Example: Divide  by 100, where  is 32 bits wide</vt:lpstr>
      <vt:lpstr>Reciprocal Multiplication</vt:lpstr>
      <vt:lpstr>Chapter 8 Multiplication and Division Revisited</vt:lpstr>
      <vt:lpstr>REMAINDER WHEN DIVIDING BY 2K Without using a divide instruction   </vt:lpstr>
      <vt:lpstr>REMAINDER WHEN DIVIDING BY 2K Without using a divide instruction </vt:lpstr>
      <vt:lpstr>REMAINDER WHEN DIVIDING BY 2K Without using a divide instruction  </vt:lpstr>
      <vt:lpstr>REMAINDER WHEN DIVIDING BY 2K Without using a divide instruction  </vt:lpstr>
      <vt:lpstr>Remainder vs. Modulus </vt:lpstr>
      <vt:lpstr>COMPUTING THE MODULUS</vt:lpstr>
      <vt:lpstr>COMPUTING THE MODULUS  When divisor ≠2^k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181</cp:revision>
  <cp:lastPrinted>2023-09-11T21:46:56Z</cp:lastPrinted>
  <dcterms:created xsi:type="dcterms:W3CDTF">2023-09-09T19:51:41Z</dcterms:created>
  <dcterms:modified xsi:type="dcterms:W3CDTF">2026-09-22T20:33:50Z</dcterms:modified>
</cp:coreProperties>
</file>