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51"/>
  </p:notesMasterIdLst>
  <p:handoutMasterIdLst>
    <p:handoutMasterId r:id="rId52"/>
  </p:handoutMasterIdLst>
  <p:sldIdLst>
    <p:sldId id="333" r:id="rId4"/>
    <p:sldId id="337" r:id="rId5"/>
    <p:sldId id="338" r:id="rId6"/>
    <p:sldId id="340" r:id="rId7"/>
    <p:sldId id="386" r:id="rId8"/>
    <p:sldId id="407" r:id="rId9"/>
    <p:sldId id="390" r:id="rId10"/>
    <p:sldId id="391" r:id="rId11"/>
    <p:sldId id="381" r:id="rId12"/>
    <p:sldId id="342" r:id="rId13"/>
    <p:sldId id="343" r:id="rId14"/>
    <p:sldId id="344" r:id="rId15"/>
    <p:sldId id="345" r:id="rId16"/>
    <p:sldId id="346" r:id="rId17"/>
    <p:sldId id="347" r:id="rId18"/>
    <p:sldId id="385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83" r:id="rId28"/>
    <p:sldId id="356" r:id="rId29"/>
    <p:sldId id="357" r:id="rId30"/>
    <p:sldId id="358" r:id="rId31"/>
    <p:sldId id="394" r:id="rId32"/>
    <p:sldId id="359" r:id="rId33"/>
    <p:sldId id="360" r:id="rId34"/>
    <p:sldId id="361" r:id="rId35"/>
    <p:sldId id="362" r:id="rId36"/>
    <p:sldId id="363" r:id="rId37"/>
    <p:sldId id="364" r:id="rId38"/>
    <p:sldId id="396" r:id="rId39"/>
    <p:sldId id="397" r:id="rId40"/>
    <p:sldId id="393" r:id="rId41"/>
    <p:sldId id="398" r:id="rId42"/>
    <p:sldId id="365" r:id="rId43"/>
    <p:sldId id="382" r:id="rId44"/>
    <p:sldId id="401" r:id="rId45"/>
    <p:sldId id="402" r:id="rId46"/>
    <p:sldId id="403" r:id="rId47"/>
    <p:sldId id="404" r:id="rId48"/>
    <p:sldId id="405" r:id="rId49"/>
    <p:sldId id="336" r:id="rId5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68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79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7060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3832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466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40283"/>
            <a:ext cx="10407316" cy="459312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744766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AEC4DB-8072-44CD-B9BE-00470AE6A0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70AB99-5D65-4705-93F8-5D99455F06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Embedded Application Development</a:t>
            </a:r>
          </a:p>
        </p:txBody>
      </p:sp>
    </p:spTree>
    <p:extLst>
      <p:ext uri="{BB962C8B-B14F-4D97-AF65-F5344CB8AC3E}">
        <p14:creationId xmlns:p14="http://schemas.microsoft.com/office/powerpoint/2010/main" val="1074585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4764197" cy="718661"/>
          </a:xfrm>
        </p:spPr>
        <p:txBody>
          <a:bodyPr>
            <a:normAutofit fontScale="90000"/>
          </a:bodyPr>
          <a:lstStyle/>
          <a:p>
            <a:r>
              <a:rPr lang="en-US" dirty="0"/>
              <a:t>Assembler in General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Most of a program is written in a high-level language such as C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easier to implement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easier to understand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easier to maintain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Only a few functions are written in assembly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to improve performance,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because it’s difficult or impossible to do in a high-level language.</a:t>
            </a:r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55695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344"/>
            <a:ext cx="4249095" cy="545068"/>
          </a:xfrm>
        </p:spPr>
        <p:txBody>
          <a:bodyPr>
            <a:normAutofit fontScale="90000"/>
          </a:bodyPr>
          <a:lstStyle/>
          <a:p>
            <a:r>
              <a:rPr lang="en-US" dirty="0"/>
              <a:t>Creating a Program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5973738" y="3213709"/>
            <a:ext cx="4070762" cy="3387643"/>
            <a:chOff x="4449738" y="3085356"/>
            <a:chExt cx="4070762" cy="3387643"/>
          </a:xfrm>
        </p:grpSpPr>
        <p:sp>
          <p:nvSpPr>
            <p:cNvPr id="19" name="Flowchart: Process 18"/>
            <p:cNvSpPr/>
            <p:nvPr/>
          </p:nvSpPr>
          <p:spPr>
            <a:xfrm>
              <a:off x="5929700" y="3668874"/>
              <a:ext cx="951572" cy="1715509"/>
            </a:xfrm>
            <a:prstGeom prst="flowChartProcess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Linker</a:t>
              </a:r>
              <a:endParaRPr lang="en-US" sz="1600" dirty="0"/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5472500" y="4425989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Bent Arrow 20"/>
            <p:cNvSpPr/>
            <p:nvPr/>
          </p:nvSpPr>
          <p:spPr>
            <a:xfrm rot="5400000">
              <a:off x="5735378" y="2822477"/>
              <a:ext cx="514886" cy="1040644"/>
            </a:xfrm>
            <a:prstGeom prst="ben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Bent Arrow 22"/>
            <p:cNvSpPr/>
            <p:nvPr/>
          </p:nvSpPr>
          <p:spPr>
            <a:xfrm rot="16200000" flipV="1">
              <a:off x="5735379" y="5201123"/>
              <a:ext cx="514886" cy="1040646"/>
            </a:xfrm>
            <a:prstGeom prst="bentArrow">
              <a:avLst>
                <a:gd name="adj1" fmla="val 25000"/>
                <a:gd name="adj2" fmla="val 26444"/>
                <a:gd name="adj3" fmla="val 25000"/>
                <a:gd name="adj4" fmla="val 43750"/>
              </a:avLst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5" name="Can 24"/>
            <p:cNvSpPr/>
            <p:nvPr/>
          </p:nvSpPr>
          <p:spPr>
            <a:xfrm>
              <a:off x="7529900" y="3802727"/>
              <a:ext cx="990600" cy="1447801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Executable Program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7072700" y="4430065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Can 28"/>
            <p:cNvSpPr/>
            <p:nvPr/>
          </p:nvSpPr>
          <p:spPr>
            <a:xfrm>
              <a:off x="4449738" y="5436124"/>
              <a:ext cx="838200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Library code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325916" y="1325156"/>
            <a:ext cx="3511396" cy="3886199"/>
            <a:chOff x="1801916" y="1196803"/>
            <a:chExt cx="3511396" cy="3886199"/>
          </a:xfrm>
        </p:grpSpPr>
        <p:sp>
          <p:nvSpPr>
            <p:cNvPr id="6" name="Flowchart: Process 5"/>
            <p:cNvSpPr/>
            <p:nvPr/>
          </p:nvSpPr>
          <p:spPr>
            <a:xfrm>
              <a:off x="2195900" y="2724240"/>
              <a:ext cx="1532827" cy="944634"/>
            </a:xfrm>
            <a:prstGeom prst="flowChartProcess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Compiler</a:t>
              </a:r>
              <a:endParaRPr lang="en-US" dirty="0"/>
            </a:p>
          </p:txBody>
        </p:sp>
        <p:sp>
          <p:nvSpPr>
            <p:cNvPr id="7" name="Flowchart: Process 6"/>
            <p:cNvSpPr/>
            <p:nvPr/>
          </p:nvSpPr>
          <p:spPr>
            <a:xfrm>
              <a:off x="2195900" y="4042597"/>
              <a:ext cx="1532827" cy="1005859"/>
            </a:xfrm>
            <a:prstGeom prst="flowChartProcess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Assembler</a:t>
              </a:r>
              <a:endParaRPr lang="en-US" sz="1600" dirty="0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1801917" y="3057504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1801916" y="4425989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ight Arrow 12"/>
            <p:cNvSpPr/>
            <p:nvPr/>
          </p:nvSpPr>
          <p:spPr>
            <a:xfrm>
              <a:off x="3948500" y="3058437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ight Arrow 17"/>
            <p:cNvSpPr/>
            <p:nvPr/>
          </p:nvSpPr>
          <p:spPr>
            <a:xfrm>
              <a:off x="3948500" y="4425989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Can 26"/>
            <p:cNvSpPr/>
            <p:nvPr/>
          </p:nvSpPr>
          <p:spPr>
            <a:xfrm>
              <a:off x="4447879" y="4046127"/>
              <a:ext cx="838200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Object code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475112" y="2678118"/>
              <a:ext cx="838200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Object code</a:t>
              </a:r>
            </a:p>
          </p:txBody>
        </p:sp>
        <p:sp>
          <p:nvSpPr>
            <p:cNvPr id="32" name="Can 31"/>
            <p:cNvSpPr/>
            <p:nvPr/>
          </p:nvSpPr>
          <p:spPr>
            <a:xfrm>
              <a:off x="2524950" y="1196803"/>
              <a:ext cx="874725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Library header files</a:t>
              </a:r>
            </a:p>
          </p:txBody>
        </p:sp>
        <p:sp>
          <p:nvSpPr>
            <p:cNvPr id="33" name="Right Arrow 32"/>
            <p:cNvSpPr/>
            <p:nvPr/>
          </p:nvSpPr>
          <p:spPr>
            <a:xfrm rot="5400000">
              <a:off x="2818609" y="2396297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2027022" y="1610569"/>
            <a:ext cx="1652773" cy="4990783"/>
            <a:chOff x="503021" y="1482216"/>
            <a:chExt cx="1652773" cy="4990783"/>
          </a:xfrm>
        </p:grpSpPr>
        <p:sp>
          <p:nvSpPr>
            <p:cNvPr id="30" name="Can 29"/>
            <p:cNvSpPr/>
            <p:nvPr/>
          </p:nvSpPr>
          <p:spPr>
            <a:xfrm>
              <a:off x="784057" y="2659536"/>
              <a:ext cx="874725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 </a:t>
              </a:r>
              <a:r>
                <a:rPr lang="en-US" dirty="0" err="1">
                  <a:solidFill>
                    <a:schemeClr val="tx1"/>
                  </a:solidFill>
                </a:rPr>
                <a:t>sourcecode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Can 30"/>
            <p:cNvSpPr/>
            <p:nvPr/>
          </p:nvSpPr>
          <p:spPr>
            <a:xfrm>
              <a:off x="784058" y="4046127"/>
              <a:ext cx="874724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ASM </a:t>
              </a:r>
              <a:r>
                <a:rPr lang="en-US" dirty="0" err="1">
                  <a:solidFill>
                    <a:schemeClr val="tx1"/>
                  </a:solidFill>
                </a:rPr>
                <a:t>sourcecode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Line Callout 1 (No Border) 2"/>
            <p:cNvSpPr/>
            <p:nvPr/>
          </p:nvSpPr>
          <p:spPr>
            <a:xfrm>
              <a:off x="569494" y="1482216"/>
              <a:ext cx="1586300" cy="633663"/>
            </a:xfrm>
            <a:prstGeom prst="callout1">
              <a:avLst>
                <a:gd name="adj1" fmla="val 112555"/>
                <a:gd name="adj2" fmla="val 39602"/>
                <a:gd name="adj3" fmla="val 168554"/>
                <a:gd name="adj4" fmla="val 39334"/>
              </a:avLst>
            </a:pr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Most of code, including function main</a:t>
              </a:r>
            </a:p>
          </p:txBody>
        </p:sp>
        <p:sp>
          <p:nvSpPr>
            <p:cNvPr id="24" name="Line Callout 1 (No Border) 23"/>
            <p:cNvSpPr/>
            <p:nvPr/>
          </p:nvSpPr>
          <p:spPr>
            <a:xfrm>
              <a:off x="503021" y="5664336"/>
              <a:ext cx="1586300" cy="808663"/>
            </a:xfrm>
            <a:prstGeom prst="callout1">
              <a:avLst>
                <a:gd name="adj1" fmla="val -3573"/>
                <a:gd name="adj2" fmla="val 42636"/>
                <a:gd name="adj3" fmla="val -61382"/>
                <a:gd name="adj4" fmla="val 42368"/>
              </a:avLst>
            </a:pr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A few small functions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409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6095" y="774560"/>
            <a:ext cx="8719274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5" dirty="0"/>
              <a:t>ARM</a:t>
            </a:r>
            <a:r>
              <a:rPr sz="4400" spc="-10" dirty="0"/>
              <a:t> </a:t>
            </a:r>
            <a:r>
              <a:rPr sz="4400" spc="-20" dirty="0"/>
              <a:t>Cortex </a:t>
            </a:r>
            <a:r>
              <a:rPr sz="4400" dirty="0"/>
              <a:t>M4</a:t>
            </a:r>
            <a:r>
              <a:rPr sz="4400" spc="-20" dirty="0"/>
              <a:t> </a:t>
            </a:r>
            <a:r>
              <a:rPr sz="4400" spc="-15" dirty="0"/>
              <a:t>Core</a:t>
            </a:r>
            <a:r>
              <a:rPr sz="4400" spc="-10" dirty="0"/>
              <a:t> </a:t>
            </a:r>
            <a:r>
              <a:rPr sz="4400" spc="-30" dirty="0"/>
              <a:t>Registers</a:t>
            </a:r>
            <a:endParaRPr sz="44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23573" y="1567361"/>
            <a:ext cx="3113732" cy="4892431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985386" y="1563326"/>
            <a:ext cx="199390" cy="3923665"/>
          </a:xfrm>
          <a:custGeom>
            <a:avLst/>
            <a:gdLst/>
            <a:ahLst/>
            <a:cxnLst/>
            <a:rect l="l" t="t" r="r" b="b"/>
            <a:pathLst>
              <a:path w="199389" h="3923665">
                <a:moveTo>
                  <a:pt x="0" y="0"/>
                </a:moveTo>
                <a:lnTo>
                  <a:pt x="38750" y="1303"/>
                </a:lnTo>
                <a:lnTo>
                  <a:pt x="70395" y="4859"/>
                </a:lnTo>
                <a:lnTo>
                  <a:pt x="91730" y="10132"/>
                </a:lnTo>
                <a:lnTo>
                  <a:pt x="99553" y="16590"/>
                </a:lnTo>
                <a:lnTo>
                  <a:pt x="99553" y="1944946"/>
                </a:lnTo>
                <a:lnTo>
                  <a:pt x="107377" y="1951403"/>
                </a:lnTo>
                <a:lnTo>
                  <a:pt x="128712" y="1956677"/>
                </a:lnTo>
                <a:lnTo>
                  <a:pt x="160356" y="1960232"/>
                </a:lnTo>
                <a:lnTo>
                  <a:pt x="199107" y="1961536"/>
                </a:lnTo>
                <a:lnTo>
                  <a:pt x="160356" y="1962839"/>
                </a:lnTo>
                <a:lnTo>
                  <a:pt x="128712" y="1966395"/>
                </a:lnTo>
                <a:lnTo>
                  <a:pt x="107377" y="1971669"/>
                </a:lnTo>
                <a:lnTo>
                  <a:pt x="99553" y="1978127"/>
                </a:lnTo>
                <a:lnTo>
                  <a:pt x="99553" y="3906482"/>
                </a:lnTo>
                <a:lnTo>
                  <a:pt x="91730" y="3912940"/>
                </a:lnTo>
                <a:lnTo>
                  <a:pt x="70395" y="3918213"/>
                </a:lnTo>
                <a:lnTo>
                  <a:pt x="38750" y="3921769"/>
                </a:lnTo>
                <a:lnTo>
                  <a:pt x="0" y="3923073"/>
                </a:lnTo>
              </a:path>
            </a:pathLst>
          </a:custGeom>
          <a:ln w="9525">
            <a:solidFill>
              <a:srgbClr val="4A7E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263229" y="3340100"/>
            <a:ext cx="23888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5" dirty="0">
                <a:latin typeface="Calibri"/>
                <a:cs typeface="Calibri"/>
              </a:rPr>
              <a:t>General-Purpose</a:t>
            </a:r>
            <a:r>
              <a:rPr spc="-3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Register</a:t>
            </a: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4327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5835" y="746486"/>
            <a:ext cx="3981017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5" dirty="0"/>
              <a:t>Consequence</a:t>
            </a:r>
            <a:endParaRPr sz="4400" dirty="0"/>
          </a:p>
        </p:txBody>
      </p:sp>
      <p:sp>
        <p:nvSpPr>
          <p:cNvPr id="3" name="object 3"/>
          <p:cNvSpPr txBox="1"/>
          <p:nvPr/>
        </p:nvSpPr>
        <p:spPr>
          <a:xfrm>
            <a:off x="2059941" y="1949386"/>
            <a:ext cx="6113512" cy="394980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2400"/>
              </a:lnSpc>
              <a:spcBef>
                <a:spcPts val="680"/>
              </a:spcBef>
            </a:pPr>
            <a:r>
              <a:rPr sz="2500" b="1" spc="-5" dirty="0">
                <a:latin typeface="Calibri"/>
                <a:cs typeface="Calibri"/>
              </a:rPr>
              <a:t>Assembly</a:t>
            </a:r>
            <a:r>
              <a:rPr sz="2500" b="1" dirty="0">
                <a:latin typeface="Calibri"/>
                <a:cs typeface="Calibri"/>
              </a:rPr>
              <a:t> </a:t>
            </a:r>
            <a:r>
              <a:rPr sz="2500" b="1" spc="-5" dirty="0">
                <a:latin typeface="Calibri"/>
                <a:cs typeface="Calibri"/>
              </a:rPr>
              <a:t>functions</a:t>
            </a:r>
            <a:r>
              <a:rPr sz="2500" b="1" dirty="0">
                <a:latin typeface="Calibri"/>
                <a:cs typeface="Calibri"/>
              </a:rPr>
              <a:t> </a:t>
            </a:r>
            <a:r>
              <a:rPr sz="2500" b="1" spc="-10" dirty="0">
                <a:latin typeface="Calibri"/>
                <a:cs typeface="Calibri"/>
              </a:rPr>
              <a:t>must </a:t>
            </a:r>
            <a:r>
              <a:rPr sz="2500" b="1" spc="-5" dirty="0">
                <a:latin typeface="Calibri"/>
                <a:cs typeface="Calibri"/>
              </a:rPr>
              <a:t>be</a:t>
            </a:r>
            <a:r>
              <a:rPr sz="2500" b="1" dirty="0">
                <a:latin typeface="Calibri"/>
                <a:cs typeface="Calibri"/>
              </a:rPr>
              <a:t> </a:t>
            </a:r>
            <a:r>
              <a:rPr sz="2500" b="1" spc="-10" dirty="0">
                <a:latin typeface="Calibri"/>
                <a:cs typeface="Calibri"/>
              </a:rPr>
              <a:t>compatible </a:t>
            </a:r>
            <a:r>
              <a:rPr sz="2500" b="1" spc="-555" dirty="0">
                <a:latin typeface="Calibri"/>
                <a:cs typeface="Calibri"/>
              </a:rPr>
              <a:t> </a:t>
            </a:r>
            <a:r>
              <a:rPr sz="2500" b="1" spc="-5" dirty="0">
                <a:latin typeface="Calibri"/>
                <a:cs typeface="Calibri"/>
              </a:rPr>
              <a:t>with:</a:t>
            </a:r>
            <a:endParaRPr sz="2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5835" y="2585537"/>
            <a:ext cx="8095818" cy="3230564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527050" marR="5080" indent="-514350">
              <a:lnSpc>
                <a:spcPct val="79500"/>
              </a:lnSpc>
              <a:spcBef>
                <a:spcPts val="640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compiler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b="1" spc="-25" dirty="0">
                <a:solidFill>
                  <a:srgbClr val="FF0000"/>
                </a:solidFill>
                <a:latin typeface="Calibri"/>
                <a:cs typeface="Calibri"/>
              </a:rPr>
              <a:t>invokes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execution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-5" dirty="0">
                <a:latin typeface="Calibri"/>
                <a:cs typeface="Calibri"/>
              </a:rPr>
              <a:t> an assembly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function (i.e. passes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execution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control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function)</a:t>
            </a:r>
            <a:endParaRPr sz="2200" dirty="0">
              <a:latin typeface="Calibri"/>
              <a:cs typeface="Calibri"/>
            </a:endParaRPr>
          </a:p>
          <a:p>
            <a:pPr marL="527050" marR="46355" indent="-514350">
              <a:lnSpc>
                <a:spcPct val="79100"/>
              </a:lnSpc>
              <a:spcBef>
                <a:spcPts val="625"/>
              </a:spcBef>
              <a:buAutoNum type="arabicPeriod"/>
              <a:tabLst>
                <a:tab pos="526415" algn="l"/>
                <a:tab pos="527050" algn="l"/>
              </a:tabLst>
            </a:pPr>
            <a:endParaRPr lang="en-US" sz="2200" spc="-5" dirty="0">
              <a:latin typeface="Calibri"/>
              <a:cs typeface="Calibri"/>
            </a:endParaRPr>
          </a:p>
          <a:p>
            <a:pPr marL="527050" marR="46355" indent="-514350">
              <a:lnSpc>
                <a:spcPct val="79100"/>
              </a:lnSpc>
              <a:spcBef>
                <a:spcPts val="625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</a:t>
            </a:r>
            <a:r>
              <a:rPr sz="2200" dirty="0">
                <a:latin typeface="Calibri"/>
                <a:cs typeface="Calibri"/>
              </a:rPr>
              <a:t> C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compiler </a:t>
            </a:r>
            <a:r>
              <a:rPr sz="2200" b="1" spc="-5" dirty="0">
                <a:solidFill>
                  <a:srgbClr val="FF0000"/>
                </a:solidFill>
                <a:latin typeface="Calibri"/>
                <a:cs typeface="Calibri"/>
              </a:rPr>
              <a:t>passes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parameters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assembly functions</a:t>
            </a:r>
            <a:endParaRPr sz="2200" dirty="0">
              <a:latin typeface="Calibri"/>
              <a:cs typeface="Calibri"/>
            </a:endParaRPr>
          </a:p>
          <a:p>
            <a:pPr marL="527050" marR="413384" indent="-514350">
              <a:lnSpc>
                <a:spcPct val="79100"/>
              </a:lnSpc>
              <a:spcBef>
                <a:spcPts val="525"/>
              </a:spcBef>
              <a:buAutoNum type="arabicPeriod"/>
              <a:tabLst>
                <a:tab pos="526415" algn="l"/>
                <a:tab pos="527050" algn="l"/>
              </a:tabLst>
            </a:pPr>
            <a:endParaRPr lang="en-US" sz="2200" spc="-5" dirty="0">
              <a:latin typeface="Calibri"/>
              <a:cs typeface="Calibri"/>
            </a:endParaRPr>
          </a:p>
          <a:p>
            <a:pPr marL="527050" marR="413384" indent="-514350">
              <a:lnSpc>
                <a:spcPct val="79100"/>
              </a:lnSpc>
              <a:spcBef>
                <a:spcPts val="525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</a:t>
            </a:r>
            <a:r>
              <a:rPr sz="2200" dirty="0">
                <a:latin typeface="Calibri"/>
                <a:cs typeface="Calibri"/>
              </a:rPr>
              <a:t> C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compiler expects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FF0000"/>
                </a:solidFill>
                <a:latin typeface="Calibri"/>
                <a:cs typeface="Calibri"/>
              </a:rPr>
              <a:t>receive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results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from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assembly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functions</a:t>
            </a:r>
            <a:endParaRPr sz="2200" dirty="0">
              <a:latin typeface="Calibri"/>
              <a:cs typeface="Calibri"/>
            </a:endParaRPr>
          </a:p>
          <a:p>
            <a:pPr marL="527050" indent="-514350">
              <a:lnSpc>
                <a:spcPts val="2620"/>
              </a:lnSpc>
              <a:spcBef>
                <a:spcPts val="75"/>
              </a:spcBef>
              <a:buAutoNum type="arabicPeriod"/>
              <a:tabLst>
                <a:tab pos="526415" algn="l"/>
                <a:tab pos="527050" algn="l"/>
              </a:tabLst>
            </a:pPr>
            <a:endParaRPr lang="en-US" sz="2200" spc="-5" dirty="0">
              <a:latin typeface="Calibri"/>
              <a:cs typeface="Calibri"/>
            </a:endParaRPr>
          </a:p>
          <a:p>
            <a:pPr marL="527050" indent="-514350">
              <a:lnSpc>
                <a:spcPts val="2620"/>
              </a:lnSpc>
              <a:spcBef>
                <a:spcPts val="75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 </a:t>
            </a:r>
            <a:r>
              <a:rPr sz="2200" dirty="0">
                <a:latin typeface="Calibri"/>
                <a:cs typeface="Calibri"/>
              </a:rPr>
              <a:t>C</a:t>
            </a:r>
            <a:r>
              <a:rPr sz="2200" spc="-5" dirty="0">
                <a:latin typeface="Calibri"/>
                <a:cs typeface="Calibri"/>
              </a:rPr>
              <a:t> compiler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FF0000"/>
                </a:solidFill>
                <a:latin typeface="Calibri"/>
                <a:cs typeface="Calibri"/>
              </a:rPr>
              <a:t>uses</a:t>
            </a:r>
            <a:r>
              <a:rPr sz="2200" b="1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FF0000"/>
                </a:solidFill>
                <a:latin typeface="Calibri"/>
                <a:cs typeface="Calibri"/>
              </a:rPr>
              <a:t>CPU</a:t>
            </a:r>
            <a:r>
              <a:rPr sz="2200" b="1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b="1" spc="-15" dirty="0">
                <a:solidFill>
                  <a:srgbClr val="FF0000"/>
                </a:solidFill>
                <a:latin typeface="Calibri"/>
                <a:cs typeface="Calibri"/>
              </a:rPr>
              <a:t>registers</a:t>
            </a:r>
            <a:endParaRPr sz="2200" b="1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926465" marR="323215" lvl="1" indent="-514350">
              <a:lnSpc>
                <a:spcPts val="1900"/>
              </a:lnSpc>
              <a:spcBef>
                <a:spcPts val="360"/>
              </a:spcBef>
              <a:buFont typeface="Arial MT"/>
              <a:buChar char="•"/>
              <a:tabLst>
                <a:tab pos="926465" algn="l"/>
                <a:tab pos="927100" algn="l"/>
              </a:tabLst>
            </a:pPr>
            <a:r>
              <a:rPr sz="1900" spc="-10" dirty="0">
                <a:latin typeface="Calibri"/>
                <a:cs typeface="Calibri"/>
              </a:rPr>
              <a:t>Knowing </a:t>
            </a:r>
            <a:r>
              <a:rPr sz="1900" dirty="0">
                <a:latin typeface="Calibri"/>
                <a:cs typeface="Calibri"/>
              </a:rPr>
              <a:t>and </a:t>
            </a:r>
            <a:r>
              <a:rPr sz="1900" spc="-5" dirty="0">
                <a:latin typeface="Calibri"/>
                <a:cs typeface="Calibri"/>
              </a:rPr>
              <a:t>agreeing on what </a:t>
            </a:r>
            <a:r>
              <a:rPr sz="1900" spc="-10" dirty="0">
                <a:latin typeface="Calibri"/>
                <a:cs typeface="Calibri"/>
              </a:rPr>
              <a:t>register </a:t>
            </a:r>
            <a:r>
              <a:rPr sz="1900" dirty="0">
                <a:latin typeface="Calibri"/>
                <a:cs typeface="Calibri"/>
              </a:rPr>
              <a:t>is </a:t>
            </a:r>
            <a:r>
              <a:rPr sz="1900" spc="-415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used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20" dirty="0">
                <a:latin typeface="Calibri"/>
                <a:cs typeface="Calibri"/>
              </a:rPr>
              <a:t>for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what purpose.</a:t>
            </a:r>
            <a:endParaRPr sz="1900" dirty="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278045" y="2444052"/>
            <a:ext cx="2831242" cy="1896110"/>
            <a:chOff x="6562914" y="2993490"/>
            <a:chExt cx="2443480" cy="1896110"/>
          </a:xfrm>
        </p:grpSpPr>
        <p:sp>
          <p:nvSpPr>
            <p:cNvPr id="7" name="object 7"/>
            <p:cNvSpPr/>
            <p:nvPr/>
          </p:nvSpPr>
          <p:spPr>
            <a:xfrm>
              <a:off x="6575614" y="3006190"/>
              <a:ext cx="970280" cy="1870710"/>
            </a:xfrm>
            <a:custGeom>
              <a:avLst/>
              <a:gdLst/>
              <a:ahLst/>
              <a:cxnLst/>
              <a:rect l="l" t="t" r="r" b="b"/>
              <a:pathLst>
                <a:path w="970279" h="1870710">
                  <a:moveTo>
                    <a:pt x="969817" y="0"/>
                  </a:moveTo>
                  <a:lnTo>
                    <a:pt x="0" y="0"/>
                  </a:lnTo>
                  <a:lnTo>
                    <a:pt x="0" y="1870364"/>
                  </a:lnTo>
                  <a:lnTo>
                    <a:pt x="969817" y="1870364"/>
                  </a:lnTo>
                  <a:lnTo>
                    <a:pt x="969817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575614" y="3006190"/>
              <a:ext cx="970280" cy="1870710"/>
            </a:xfrm>
            <a:custGeom>
              <a:avLst/>
              <a:gdLst/>
              <a:ahLst/>
              <a:cxnLst/>
              <a:rect l="l" t="t" r="r" b="b"/>
              <a:pathLst>
                <a:path w="970279" h="1870710">
                  <a:moveTo>
                    <a:pt x="0" y="0"/>
                  </a:moveTo>
                  <a:lnTo>
                    <a:pt x="969818" y="0"/>
                  </a:lnTo>
                  <a:lnTo>
                    <a:pt x="969818" y="1870364"/>
                  </a:lnTo>
                  <a:lnTo>
                    <a:pt x="0" y="187036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385D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161868" y="3528291"/>
              <a:ext cx="831850" cy="554355"/>
            </a:xfrm>
            <a:custGeom>
              <a:avLst/>
              <a:gdLst/>
              <a:ahLst/>
              <a:cxnLst/>
              <a:rect l="l" t="t" r="r" b="b"/>
              <a:pathLst>
                <a:path w="831850" h="554354">
                  <a:moveTo>
                    <a:pt x="831272" y="0"/>
                  </a:moveTo>
                  <a:lnTo>
                    <a:pt x="0" y="0"/>
                  </a:lnTo>
                  <a:lnTo>
                    <a:pt x="0" y="554182"/>
                  </a:lnTo>
                  <a:lnTo>
                    <a:pt x="831272" y="554182"/>
                  </a:lnTo>
                  <a:lnTo>
                    <a:pt x="831272" y="0"/>
                  </a:lnTo>
                  <a:close/>
                </a:path>
              </a:pathLst>
            </a:custGeom>
            <a:solidFill>
              <a:srgbClr val="9BBB5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161868" y="3528291"/>
              <a:ext cx="831850" cy="554355"/>
            </a:xfrm>
            <a:custGeom>
              <a:avLst/>
              <a:gdLst/>
              <a:ahLst/>
              <a:cxnLst/>
              <a:rect l="l" t="t" r="r" b="b"/>
              <a:pathLst>
                <a:path w="831850" h="554354">
                  <a:moveTo>
                    <a:pt x="0" y="0"/>
                  </a:moveTo>
                  <a:lnTo>
                    <a:pt x="831272" y="0"/>
                  </a:lnTo>
                  <a:lnTo>
                    <a:pt x="831272" y="554182"/>
                  </a:lnTo>
                  <a:lnTo>
                    <a:pt x="0" y="554182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385D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43698" y="3502507"/>
              <a:ext cx="624205" cy="589915"/>
            </a:xfrm>
            <a:custGeom>
              <a:avLst/>
              <a:gdLst/>
              <a:ahLst/>
              <a:cxnLst/>
              <a:rect l="l" t="t" r="r" b="b"/>
              <a:pathLst>
                <a:path w="624204" h="589914">
                  <a:moveTo>
                    <a:pt x="618159" y="25793"/>
                  </a:moveTo>
                  <a:lnTo>
                    <a:pt x="614667" y="24676"/>
                  </a:lnTo>
                  <a:lnTo>
                    <a:pt x="536968" y="0"/>
                  </a:lnTo>
                  <a:lnTo>
                    <a:pt x="541159" y="26657"/>
                  </a:lnTo>
                  <a:lnTo>
                    <a:pt x="0" y="111798"/>
                  </a:lnTo>
                  <a:lnTo>
                    <a:pt x="3454" y="133743"/>
                  </a:lnTo>
                  <a:lnTo>
                    <a:pt x="544614" y="48615"/>
                  </a:lnTo>
                  <a:lnTo>
                    <a:pt x="548805" y="75272"/>
                  </a:lnTo>
                  <a:lnTo>
                    <a:pt x="618159" y="25793"/>
                  </a:lnTo>
                  <a:close/>
                </a:path>
                <a:path w="624204" h="589914">
                  <a:moveTo>
                    <a:pt x="623608" y="570280"/>
                  </a:moveTo>
                  <a:lnTo>
                    <a:pt x="73596" y="261251"/>
                  </a:lnTo>
                  <a:lnTo>
                    <a:pt x="77101" y="255028"/>
                  </a:lnTo>
                  <a:lnTo>
                    <a:pt x="86817" y="237718"/>
                  </a:lnTo>
                  <a:lnTo>
                    <a:pt x="1727" y="233603"/>
                  </a:lnTo>
                  <a:lnTo>
                    <a:pt x="49491" y="304152"/>
                  </a:lnTo>
                  <a:lnTo>
                    <a:pt x="62712" y="280619"/>
                  </a:lnTo>
                  <a:lnTo>
                    <a:pt x="612724" y="589661"/>
                  </a:lnTo>
                  <a:lnTo>
                    <a:pt x="623608" y="57028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625700" y="2016470"/>
            <a:ext cx="207487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5" dirty="0">
                <a:latin typeface="Calibri"/>
                <a:cs typeface="Calibri"/>
              </a:rPr>
              <a:t>.c</a:t>
            </a:r>
            <a:endParaRPr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205302" y="2592541"/>
            <a:ext cx="198658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5" dirty="0">
                <a:latin typeface="Calibri"/>
                <a:cs typeface="Calibri"/>
              </a:rPr>
              <a:t>.s</a:t>
            </a: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315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0"/>
            <a:ext cx="2965726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Consequence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5301"/>
            <a:ext cx="10433326" cy="4982120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Assembly functions must be </a:t>
            </a:r>
            <a:r>
              <a:rPr lang="en-US" b="1" dirty="0">
                <a:solidFill>
                  <a:srgbClr val="92D050"/>
                </a:solidFill>
              </a:rPr>
              <a:t>compatible with the C </a:t>
            </a:r>
            <a:r>
              <a:rPr lang="en-US" b="1" dirty="0">
                <a:solidFill>
                  <a:schemeClr val="tx1"/>
                </a:solidFill>
              </a:rPr>
              <a:t>compiler to: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function (compiler/assembler </a:t>
            </a:r>
            <a:r>
              <a:rPr lang="en-US" b="1" dirty="0">
                <a:solidFill>
                  <a:schemeClr val="tx1"/>
                </a:solidFill>
              </a:rPr>
              <a:t>BL </a:t>
            </a:r>
            <a:r>
              <a:rPr lang="en-US" b="1" dirty="0" err="1">
                <a:solidFill>
                  <a:schemeClr val="tx1"/>
                </a:solidFill>
              </a:rPr>
              <a:t>funcName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(R0,R1,R2,R3)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Use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(R0 to R12)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Receive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return value </a:t>
            </a:r>
            <a:r>
              <a:rPr lang="en-US" dirty="0">
                <a:solidFill>
                  <a:schemeClr val="tx1"/>
                </a:solidFill>
              </a:rPr>
              <a:t>(R0,R1)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14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0"/>
            <a:ext cx="2965726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Consequence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5301"/>
            <a:ext cx="10433326" cy="498212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Assembly functions must be </a:t>
            </a:r>
            <a:r>
              <a:rPr lang="en-US" b="1" dirty="0">
                <a:solidFill>
                  <a:srgbClr val="92D050"/>
                </a:solidFill>
              </a:rPr>
              <a:t>compatible with the C </a:t>
            </a:r>
            <a:r>
              <a:rPr lang="en-US" b="1" dirty="0">
                <a:solidFill>
                  <a:schemeClr val="tx1"/>
                </a:solidFill>
              </a:rPr>
              <a:t>compiler to: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use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R4 to R11</a:t>
            </a:r>
            <a:r>
              <a:rPr lang="en-US" dirty="0">
                <a:solidFill>
                  <a:schemeClr val="tx1"/>
                </a:solidFill>
              </a:rPr>
              <a:t>, you need to </a:t>
            </a:r>
            <a:r>
              <a:rPr lang="en-US" b="1" dirty="0">
                <a:solidFill>
                  <a:srgbClr val="92D050"/>
                </a:solidFill>
              </a:rPr>
              <a:t>preserve them</a:t>
            </a:r>
            <a:r>
              <a:rPr lang="en-US" dirty="0">
                <a:solidFill>
                  <a:schemeClr val="tx1"/>
                </a:solidFill>
              </a:rPr>
              <a:t>!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Return with </a:t>
            </a:r>
            <a:r>
              <a:rPr lang="en-US" b="1" dirty="0">
                <a:solidFill>
                  <a:schemeClr val="tx1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your </a:t>
            </a:r>
            <a:r>
              <a:rPr lang="en-US" b="1" dirty="0">
                <a:solidFill>
                  <a:srgbClr val="FF0000"/>
                </a:solidFill>
              </a:rPr>
              <a:t>function calls a function </a:t>
            </a:r>
            <a:r>
              <a:rPr lang="en-US" b="1" dirty="0">
                <a:solidFill>
                  <a:schemeClr val="tx1"/>
                </a:solidFill>
              </a:rPr>
              <a:t>BL Label</a:t>
            </a:r>
            <a:r>
              <a:rPr lang="en-US" dirty="0">
                <a:solidFill>
                  <a:schemeClr val="tx1"/>
                </a:solidFill>
              </a:rPr>
              <a:t>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You need to: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	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</a:t>
            </a:r>
            <a:r>
              <a:rPr lang="en-US" b="1" dirty="0">
                <a:solidFill>
                  <a:schemeClr val="tx1"/>
                </a:solidFill>
              </a:rPr>
              <a:t>PUSH {LR}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and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</a:t>
            </a:r>
            <a:r>
              <a:rPr lang="en-US" b="1" dirty="0">
                <a:solidFill>
                  <a:schemeClr val="tx1"/>
                </a:solidFill>
              </a:rPr>
              <a:t>POP {LR}</a:t>
            </a:r>
          </a:p>
        </p:txBody>
      </p:sp>
    </p:spTree>
    <p:extLst>
      <p:ext uri="{BB962C8B-B14F-4D97-AF65-F5344CB8AC3E}">
        <p14:creationId xmlns:p14="http://schemas.microsoft.com/office/powerpoint/2010/main" val="2808632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182"/>
            <a:ext cx="4529832" cy="570272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Source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8547" y="1780675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5758" y="2475145"/>
            <a:ext cx="3608680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	//Function written in Assembly</a:t>
            </a:r>
          </a:p>
          <a:p>
            <a:endParaRPr lang="en-US" sz="1200" dirty="0"/>
          </a:p>
          <a:p>
            <a:r>
              <a:rPr lang="en-US" sz="1200" dirty="0"/>
              <a:t>	.syntax 	unified</a:t>
            </a:r>
          </a:p>
          <a:p>
            <a:r>
              <a:rPr lang="en-US" sz="1200" dirty="0"/>
              <a:t>	.</a:t>
            </a:r>
            <a:r>
              <a:rPr lang="en-US" sz="1200" dirty="0" err="1"/>
              <a:t>cpu</a:t>
            </a:r>
            <a:r>
              <a:rPr lang="en-US" sz="1200" dirty="0"/>
              <a:t> 	cortex-m4</a:t>
            </a:r>
          </a:p>
          <a:p>
            <a:r>
              <a:rPr lang="en-US" sz="1200" dirty="0"/>
              <a:t>	.text</a:t>
            </a:r>
          </a:p>
          <a:p>
            <a:r>
              <a:rPr lang="en-US" sz="1200" dirty="0"/>
              <a:t>	.</a:t>
            </a:r>
            <a:r>
              <a:rPr lang="en-US" sz="1200" dirty="0" err="1"/>
              <a:t>thumb_func</a:t>
            </a:r>
            <a:endParaRPr lang="en-US" sz="1200" dirty="0"/>
          </a:p>
          <a:p>
            <a:r>
              <a:rPr lang="en-US" sz="1200" dirty="0"/>
              <a:t>	.align 2</a:t>
            </a:r>
          </a:p>
          <a:p>
            <a:endParaRPr lang="en-US" sz="1200" dirty="0"/>
          </a:p>
          <a:p>
            <a:r>
              <a:rPr lang="en-US" sz="1200" dirty="0"/>
              <a:t>	// uint32_t Add1(uint32_t x);</a:t>
            </a:r>
          </a:p>
          <a:p>
            <a:r>
              <a:rPr lang="en-US" sz="1200" dirty="0"/>
              <a:t>	.global </a:t>
            </a:r>
            <a:r>
              <a:rPr lang="en-US" sz="1200" b="1" dirty="0"/>
              <a:t>Add1</a:t>
            </a:r>
          </a:p>
          <a:p>
            <a:r>
              <a:rPr lang="en-US" sz="1200" b="1" dirty="0"/>
              <a:t>Add1</a:t>
            </a:r>
            <a:r>
              <a:rPr lang="en-US" sz="1200" dirty="0"/>
              <a:t>: 	ADD 	R0, R0,1 // Return x +1</a:t>
            </a:r>
          </a:p>
          <a:p>
            <a:r>
              <a:rPr lang="en-US" sz="1200" dirty="0"/>
              <a:t>	BX 	LR</a:t>
            </a:r>
          </a:p>
          <a:p>
            <a:r>
              <a:rPr lang="en-US" sz="1200" dirty="0"/>
              <a:t>	.end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683042" y="4435642"/>
            <a:ext cx="4082716" cy="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08158" y="2939717"/>
            <a:ext cx="4640179" cy="1311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5563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4506" y="748146"/>
            <a:ext cx="8594557" cy="6555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void </a:t>
            </a:r>
            <a:r>
              <a:rPr lang="en-US" dirty="0" err="1">
                <a:solidFill>
                  <a:srgbClr val="0000FF"/>
                </a:solidFill>
              </a:rPr>
              <a:t>InitializeHardware</a:t>
            </a:r>
            <a:r>
              <a:rPr lang="en-US" dirty="0">
                <a:solidFill>
                  <a:srgbClr val="0000FF"/>
                </a:solidFill>
              </a:rPr>
              <a:t>(char *, char *) ;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165748" y="3318000"/>
            <a:ext cx="3101451" cy="23275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366285" y="3255915"/>
            <a:ext cx="3540534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executed first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Processor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CPU clock cycle counter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display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user push button.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stack and heap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Initializes static variables.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Formats display area</a:t>
            </a:r>
            <a:endParaRPr lang="en-US" sz="16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395" t="7022" r="17028" b="6457"/>
          <a:stretch/>
        </p:blipFill>
        <p:spPr>
          <a:xfrm>
            <a:off x="9063139" y="2071620"/>
            <a:ext cx="2111432" cy="382385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862" t="41650" r="15904" b="9350"/>
          <a:stretch/>
        </p:blipFill>
        <p:spPr>
          <a:xfrm>
            <a:off x="9549063" y="3913083"/>
            <a:ext cx="1223958" cy="1681843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H="1">
            <a:off x="4267200" y="3434378"/>
            <a:ext cx="12192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17" idx="1"/>
          </p:cNvCxnSpPr>
          <p:nvPr/>
        </p:nvCxnSpPr>
        <p:spPr>
          <a:xfrm flipH="1">
            <a:off x="3174974" y="2358461"/>
            <a:ext cx="2191311" cy="384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285" y="1620253"/>
            <a:ext cx="3377485" cy="14764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9119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304" r="10800"/>
          <a:stretch/>
        </p:blipFill>
        <p:spPr>
          <a:xfrm>
            <a:off x="9061207" y="2438400"/>
            <a:ext cx="2308860" cy="42270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8092"/>
            <a:ext cx="8299726" cy="73893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uint32_t </a:t>
            </a:r>
            <a:r>
              <a:rPr lang="en-US" dirty="0" err="1">
                <a:solidFill>
                  <a:srgbClr val="0000FF"/>
                </a:solidFill>
              </a:rPr>
              <a:t>GetClockCycleCount</a:t>
            </a:r>
            <a:r>
              <a:rPr lang="en-US" dirty="0">
                <a:solidFill>
                  <a:srgbClr val="0000FF"/>
                </a:solidFill>
              </a:rPr>
              <a:t>(void) ;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679828" y="3991859"/>
            <a:ext cx="1492498" cy="20716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439226" y="3905616"/>
            <a:ext cx="360187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Returns the number of processor </a:t>
            </a:r>
            <a:br>
              <a:rPr lang="en-US" dirty="0"/>
            </a:br>
            <a:r>
              <a:rPr lang="en-US" dirty="0"/>
              <a:t>clock cycles since initialization.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263" y="1958345"/>
            <a:ext cx="4572000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start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GetClockCycleCount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// do some calculation 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stop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GetClockCycleCount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("Cycles=%d\n", stop-start);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32191" y="4505560"/>
            <a:ext cx="1219200" cy="16655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9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9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Cycles=1788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40465" y="4513129"/>
            <a:ext cx="1223958" cy="27360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STM32F429I-DISCO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0465" y="5989773"/>
            <a:ext cx="1223958" cy="18130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GetClockCycles</a:t>
            </a:r>
            <a:endParaRPr lang="en-US" sz="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" name="Straight Arrow Connector 13"/>
          <p:cNvCxnSpPr>
            <a:stCxn id="7" idx="2"/>
          </p:cNvCxnSpPr>
          <p:nvPr/>
        </p:nvCxnSpPr>
        <p:spPr>
          <a:xfrm>
            <a:off x="8436264" y="3281784"/>
            <a:ext cx="1103517" cy="157647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3201812" y="4095440"/>
            <a:ext cx="1273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740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1341"/>
          <a:stretch/>
        </p:blipFill>
        <p:spPr>
          <a:xfrm>
            <a:off x="8769879" y="784167"/>
            <a:ext cx="2770131" cy="44196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909" t="26638" r="53898" b="61428"/>
          <a:stretch/>
        </p:blipFill>
        <p:spPr>
          <a:xfrm>
            <a:off x="6636278" y="3107632"/>
            <a:ext cx="1885950" cy="185166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7676147" y="2308167"/>
            <a:ext cx="2084592" cy="1650222"/>
          </a:xfrm>
          <a:prstGeom prst="straightConnector1">
            <a:avLst/>
          </a:prstGeom>
          <a:ln w="571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5461"/>
            <a:ext cx="7228915" cy="598675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void </a:t>
            </a:r>
            <a:r>
              <a:rPr lang="en-US" dirty="0" err="1">
                <a:solidFill>
                  <a:srgbClr val="0000FF"/>
                </a:solidFill>
              </a:rPr>
              <a:t>WaitForPushButton</a:t>
            </a:r>
            <a:r>
              <a:rPr lang="en-US" dirty="0">
                <a:solidFill>
                  <a:srgbClr val="0000FF"/>
                </a:solidFill>
              </a:rPr>
              <a:t>(void) ;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2590" y="5327427"/>
            <a:ext cx="1406600" cy="19950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067219" y="5203767"/>
            <a:ext cx="457200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dirty="0"/>
              <a:t>Causes program to pause and wait for user to push the blue push button on the board.</a:t>
            </a:r>
            <a:endParaRPr lang="en-US" sz="2800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2739191" y="5390147"/>
            <a:ext cx="2328028" cy="37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186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8972"/>
          <a:stretch/>
        </p:blipFill>
        <p:spPr>
          <a:xfrm>
            <a:off x="7155711" y="998511"/>
            <a:ext cx="2844154" cy="441960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113915" y="3140275"/>
            <a:ext cx="1224643" cy="1686252"/>
            <a:chOff x="6972300" y="4280807"/>
            <a:chExt cx="1224643" cy="1686252"/>
          </a:xfrm>
        </p:grpSpPr>
        <p:sp>
          <p:nvSpPr>
            <p:cNvPr id="9" name="Rectangle 8"/>
            <p:cNvSpPr/>
            <p:nvPr/>
          </p:nvSpPr>
          <p:spPr>
            <a:xfrm>
              <a:off x="6972300" y="4288971"/>
              <a:ext cx="1219200" cy="16655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9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9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2985" y="5785757"/>
              <a:ext cx="1223958" cy="181302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Sine Function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972985" y="4280807"/>
              <a:ext cx="1223958" cy="2736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STM32F429I-DISCO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19200"/>
            <a:ext cx="5753041" cy="676464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void </a:t>
            </a:r>
            <a:r>
              <a:rPr lang="en-US" dirty="0" err="1">
                <a:solidFill>
                  <a:srgbClr val="0000FF"/>
                </a:solidFill>
              </a:rPr>
              <a:t>ClearDisplay</a:t>
            </a:r>
            <a:r>
              <a:rPr lang="en-US" dirty="0">
                <a:solidFill>
                  <a:srgbClr val="0000FF"/>
                </a:solidFill>
              </a:rPr>
              <a:t>(void) ;</a:t>
            </a:r>
            <a:endParaRPr lang="en-US" sz="6000" dirty="0"/>
          </a:p>
        </p:txBody>
      </p:sp>
      <p:sp>
        <p:nvSpPr>
          <p:cNvPr id="5" name="Rectangle 4"/>
          <p:cNvSpPr/>
          <p:nvPr/>
        </p:nvSpPr>
        <p:spPr>
          <a:xfrm>
            <a:off x="1343455" y="5521437"/>
            <a:ext cx="986661" cy="18153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079009" y="5418111"/>
            <a:ext cx="43866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US" dirty="0"/>
              <a:t>Erases the scrollable area of the display. </a:t>
            </a:r>
          </a:p>
        </p:txBody>
      </p:sp>
      <p:cxnSp>
        <p:nvCxnSpPr>
          <p:cNvPr id="14" name="Straight Arrow Connector 13"/>
          <p:cNvCxnSpPr>
            <a:stCxn id="6" idx="1"/>
          </p:cNvCxnSpPr>
          <p:nvPr/>
        </p:nvCxnSpPr>
        <p:spPr>
          <a:xfrm flipH="1">
            <a:off x="2330116" y="5602777"/>
            <a:ext cx="2748893" cy="9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" idx="0"/>
          </p:cNvCxnSpPr>
          <p:nvPr/>
        </p:nvCxnSpPr>
        <p:spPr>
          <a:xfrm flipV="1">
            <a:off x="7272334" y="4547937"/>
            <a:ext cx="949245" cy="870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1889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AEC4DB-8072-44CD-B9BE-00470AE6A0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70AB99-5D65-4705-93F8-5D99455F06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Function Call and Return</a:t>
            </a:r>
          </a:p>
        </p:txBody>
      </p:sp>
    </p:spTree>
    <p:extLst>
      <p:ext uri="{BB962C8B-B14F-4D97-AF65-F5344CB8AC3E}">
        <p14:creationId xmlns:p14="http://schemas.microsoft.com/office/powerpoint/2010/main" val="1966800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D81E3-E453-468A-A1ED-9BD29A09F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1715"/>
            <a:ext cx="4052579" cy="675923"/>
          </a:xfrm>
        </p:spPr>
        <p:txBody>
          <a:bodyPr/>
          <a:lstStyle/>
          <a:p>
            <a:r>
              <a:rPr lang="en-US" dirty="0"/>
              <a:t>Instruction Fetch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70F72E-656C-4EFB-98FD-A1ED91FC9BC9}"/>
              </a:ext>
            </a:extLst>
          </p:cNvPr>
          <p:cNvSpPr/>
          <p:nvPr/>
        </p:nvSpPr>
        <p:spPr>
          <a:xfrm>
            <a:off x="2509743" y="2199426"/>
            <a:ext cx="3424136" cy="352141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85B5DA-094E-48CE-AE3C-E433FB893B77}"/>
              </a:ext>
            </a:extLst>
          </p:cNvPr>
          <p:cNvSpPr/>
          <p:nvPr/>
        </p:nvSpPr>
        <p:spPr>
          <a:xfrm>
            <a:off x="7153073" y="2130357"/>
            <a:ext cx="3017622" cy="26459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Instructions</a:t>
            </a:r>
          </a:p>
          <a:p>
            <a:pPr algn="ctr"/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(as well as any Data,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the Stack, and the Heap)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4B9DA98-291E-47DA-AFD6-26454A71020B}"/>
              </a:ext>
            </a:extLst>
          </p:cNvPr>
          <p:cNvSpPr/>
          <p:nvPr/>
        </p:nvSpPr>
        <p:spPr>
          <a:xfrm>
            <a:off x="4951380" y="4124528"/>
            <a:ext cx="2185481" cy="32101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B11424E-8E56-44E8-BF21-548928305759}"/>
              </a:ext>
            </a:extLst>
          </p:cNvPr>
          <p:cNvSpPr/>
          <p:nvPr/>
        </p:nvSpPr>
        <p:spPr>
          <a:xfrm rot="10800000">
            <a:off x="4951380" y="2534377"/>
            <a:ext cx="2185479" cy="32101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EE8A6-4293-4777-AC6E-5907820D5785}"/>
              </a:ext>
            </a:extLst>
          </p:cNvPr>
          <p:cNvSpPr txBox="1"/>
          <p:nvPr/>
        </p:nvSpPr>
        <p:spPr>
          <a:xfrm>
            <a:off x="6023042" y="3847450"/>
            <a:ext cx="9922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Address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3845B-5803-4971-B0F1-59B53C4F833B}"/>
              </a:ext>
            </a:extLst>
          </p:cNvPr>
          <p:cNvSpPr txBox="1"/>
          <p:nvPr/>
        </p:nvSpPr>
        <p:spPr>
          <a:xfrm>
            <a:off x="6039259" y="2225031"/>
            <a:ext cx="992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E869BB-BD79-4C84-9E5A-3098FA4A08BE}"/>
              </a:ext>
            </a:extLst>
          </p:cNvPr>
          <p:cNvSpPr/>
          <p:nvPr/>
        </p:nvSpPr>
        <p:spPr>
          <a:xfrm>
            <a:off x="3498716" y="2476982"/>
            <a:ext cx="1452664" cy="5882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Instruction Register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20380D-687D-4697-A398-AA5230A53DAB}"/>
              </a:ext>
            </a:extLst>
          </p:cNvPr>
          <p:cNvSpPr txBox="1"/>
          <p:nvPr/>
        </p:nvSpPr>
        <p:spPr>
          <a:xfrm>
            <a:off x="7894000" y="1682545"/>
            <a:ext cx="9922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Memory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55499-7F42-4028-84F7-AD04827EB097}"/>
              </a:ext>
            </a:extLst>
          </p:cNvPr>
          <p:cNvSpPr txBox="1"/>
          <p:nvPr/>
        </p:nvSpPr>
        <p:spPr>
          <a:xfrm>
            <a:off x="3959160" y="1719188"/>
            <a:ext cx="992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79E8EE-9D75-42E7-B278-BBA5EAC02468}"/>
              </a:ext>
            </a:extLst>
          </p:cNvPr>
          <p:cNvSpPr/>
          <p:nvPr/>
        </p:nvSpPr>
        <p:spPr>
          <a:xfrm>
            <a:off x="3498715" y="3990933"/>
            <a:ext cx="1452664" cy="5882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Program Counter (PC)</a:t>
            </a:r>
          </a:p>
        </p:txBody>
      </p:sp>
      <p:sp>
        <p:nvSpPr>
          <p:cNvPr id="16" name="Arrow: Bent-Up 15">
            <a:extLst>
              <a:ext uri="{FF2B5EF4-FFF2-40B4-BE49-F238E27FC236}">
                <a16:creationId xmlns:a16="http://schemas.microsoft.com/office/drawing/2014/main" id="{292133C9-50EB-43FA-B89A-BEC287CE3875}"/>
              </a:ext>
            </a:extLst>
          </p:cNvPr>
          <p:cNvSpPr/>
          <p:nvPr/>
        </p:nvSpPr>
        <p:spPr>
          <a:xfrm rot="10800000" flipH="1">
            <a:off x="2992877" y="3554165"/>
            <a:ext cx="1232170" cy="447473"/>
          </a:xfrm>
          <a:prstGeom prst="bentUpArrow">
            <a:avLst>
              <a:gd name="adj1" fmla="val 27439"/>
              <a:gd name="adj2" fmla="val 25000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CD9CD8E0-CA85-4783-A9EC-3E8EED87F23D}"/>
              </a:ext>
            </a:extLst>
          </p:cNvPr>
          <p:cNvSpPr/>
          <p:nvPr/>
        </p:nvSpPr>
        <p:spPr>
          <a:xfrm rot="16200000" flipV="1">
            <a:off x="2927376" y="3382957"/>
            <a:ext cx="588202" cy="729573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3C8756-036A-40D7-A07C-594E09DB5496}"/>
              </a:ext>
            </a:extLst>
          </p:cNvPr>
          <p:cNvSpPr/>
          <p:nvPr/>
        </p:nvSpPr>
        <p:spPr>
          <a:xfrm>
            <a:off x="2691319" y="3990933"/>
            <a:ext cx="583660" cy="5882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+1</a:t>
            </a: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5A9FE78A-FD7F-4017-9A1E-1814BD65935B}"/>
              </a:ext>
            </a:extLst>
          </p:cNvPr>
          <p:cNvSpPr/>
          <p:nvPr/>
        </p:nvSpPr>
        <p:spPr>
          <a:xfrm rot="10800000" flipV="1">
            <a:off x="2841608" y="4575574"/>
            <a:ext cx="880843" cy="540854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A8EA959-6CFA-4356-89FB-CE2DEC4E1AFA}"/>
              </a:ext>
            </a:extLst>
          </p:cNvPr>
          <p:cNvSpPr/>
          <p:nvPr/>
        </p:nvSpPr>
        <p:spPr>
          <a:xfrm rot="5400000" flipV="1">
            <a:off x="3527241" y="4535685"/>
            <a:ext cx="588204" cy="729573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542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418" y="714201"/>
            <a:ext cx="6433929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5" dirty="0">
                <a:latin typeface="Arial MT"/>
                <a:cs typeface="Arial MT"/>
              </a:rPr>
              <a:t>Memory</a:t>
            </a:r>
            <a:r>
              <a:rPr sz="4400" spc="-35" dirty="0">
                <a:latin typeface="Arial MT"/>
                <a:cs typeface="Arial MT"/>
              </a:rPr>
              <a:t> </a:t>
            </a:r>
            <a:r>
              <a:rPr sz="4400" dirty="0">
                <a:latin typeface="Arial MT"/>
                <a:cs typeface="Arial MT"/>
              </a:rPr>
              <a:t>Layout</a:t>
            </a:r>
            <a:r>
              <a:rPr sz="4400" spc="-25" dirty="0">
                <a:latin typeface="Arial MT"/>
                <a:cs typeface="Arial MT"/>
              </a:rPr>
              <a:t> </a:t>
            </a:r>
            <a:r>
              <a:rPr sz="4400" spc="-5" dirty="0">
                <a:latin typeface="Arial MT"/>
                <a:cs typeface="Arial MT"/>
              </a:rPr>
              <a:t>(Recall)</a:t>
            </a:r>
            <a:endParaRPr sz="4400" dirty="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37417" y="1758764"/>
            <a:ext cx="7329967" cy="4326183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5600" indent="-342900">
              <a:spcBef>
                <a:spcPts val="434"/>
              </a:spcBef>
              <a:buFontTx/>
              <a:buChar char="•"/>
              <a:tabLst>
                <a:tab pos="354965" algn="l"/>
                <a:tab pos="355600" algn="l"/>
              </a:tabLst>
            </a:pPr>
            <a:r>
              <a:rPr lang="en-US" sz="2800" b="1" spc="-5" dirty="0">
                <a:solidFill>
                  <a:srgbClr val="7030A0"/>
                </a:solidFill>
                <a:latin typeface="Arial MT"/>
                <a:cs typeface="Arial MT"/>
              </a:rPr>
              <a:t>Stack</a:t>
            </a:r>
            <a:r>
              <a:rPr lang="en-US" sz="2800" spc="-5" dirty="0">
                <a:latin typeface="Arial MT"/>
                <a:cs typeface="Arial MT"/>
              </a:rPr>
              <a:t>:</a:t>
            </a:r>
            <a:r>
              <a:rPr lang="en-US" sz="2800" spc="-3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automatic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storage (LIFO)</a:t>
            </a:r>
            <a:endParaRPr lang="en-US" sz="2400" spc="-5" dirty="0">
              <a:latin typeface="Arial MT"/>
              <a:cs typeface="Arial MT"/>
            </a:endParaRPr>
          </a:p>
          <a:p>
            <a:pPr marL="355600" indent="-342900">
              <a:spcBef>
                <a:spcPts val="395"/>
              </a:spcBef>
              <a:buFontTx/>
              <a:buChar char="•"/>
              <a:tabLst>
                <a:tab pos="354965" algn="l"/>
                <a:tab pos="355600" algn="l"/>
              </a:tabLst>
            </a:pPr>
            <a:r>
              <a:rPr lang="en-US" sz="2800" dirty="0">
                <a:solidFill>
                  <a:srgbClr val="00B0F0"/>
                </a:solidFill>
                <a:latin typeface="Arial MT"/>
                <a:cs typeface="Arial MT"/>
              </a:rPr>
              <a:t>Dynamic</a:t>
            </a:r>
            <a:r>
              <a:rPr lang="en-US" sz="2800" spc="-25" dirty="0">
                <a:solidFill>
                  <a:srgbClr val="00B0F0"/>
                </a:solidFill>
                <a:latin typeface="Arial MT"/>
                <a:cs typeface="Arial MT"/>
              </a:rPr>
              <a:t> </a:t>
            </a:r>
            <a:r>
              <a:rPr lang="en-US" sz="2800" dirty="0">
                <a:solidFill>
                  <a:srgbClr val="00B0F0"/>
                </a:solidFill>
                <a:latin typeface="Arial MT"/>
                <a:cs typeface="Arial MT"/>
              </a:rPr>
              <a:t>data</a:t>
            </a:r>
            <a:r>
              <a:rPr lang="en-US" sz="2800" dirty="0">
                <a:latin typeface="Arial MT"/>
                <a:cs typeface="Arial MT"/>
              </a:rPr>
              <a:t>:</a:t>
            </a:r>
            <a:r>
              <a:rPr lang="en-US" sz="2800" spc="-30" dirty="0">
                <a:latin typeface="Arial MT"/>
                <a:cs typeface="Arial MT"/>
              </a:rPr>
              <a:t> </a:t>
            </a:r>
            <a:br>
              <a:rPr lang="en-US" sz="2800" spc="-30" dirty="0">
                <a:latin typeface="Arial MT"/>
                <a:cs typeface="Arial MT"/>
              </a:rPr>
            </a:br>
            <a:r>
              <a:rPr lang="en-US" sz="3200" dirty="0">
                <a:latin typeface="Arial MT"/>
                <a:cs typeface="Arial MT"/>
              </a:rPr>
              <a:t>heap</a:t>
            </a:r>
          </a:p>
          <a:p>
            <a:pPr marL="755015" marR="251460" indent="-285750">
              <a:lnSpc>
                <a:spcPts val="2590"/>
              </a:lnSpc>
              <a:spcBef>
                <a:spcPts val="585"/>
              </a:spcBef>
            </a:pPr>
            <a:r>
              <a:rPr lang="en-US" sz="2800" dirty="0">
                <a:latin typeface="Arial MT"/>
                <a:cs typeface="Arial MT"/>
              </a:rPr>
              <a:t>–</a:t>
            </a:r>
            <a:r>
              <a:rPr lang="en-US" sz="2800" spc="225" dirty="0">
                <a:latin typeface="Arial MT"/>
                <a:cs typeface="Arial MT"/>
              </a:rPr>
              <a:t> i.e.: </a:t>
            </a:r>
            <a:r>
              <a:rPr lang="en-US" sz="2800" dirty="0" err="1">
                <a:latin typeface="Arial MT"/>
                <a:cs typeface="Arial MT"/>
              </a:rPr>
              <a:t>malloc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in</a:t>
            </a:r>
            <a:r>
              <a:rPr lang="en-US" sz="2800" spc="-2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C,</a:t>
            </a:r>
            <a:r>
              <a:rPr lang="en-US" sz="2800" spc="-2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new</a:t>
            </a:r>
            <a:r>
              <a:rPr lang="en-US" sz="2800" spc="-2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in </a:t>
            </a:r>
            <a:r>
              <a:rPr lang="en-US" sz="2800" spc="-65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Java/C++</a:t>
            </a:r>
            <a:endParaRPr lang="en-US" sz="2800" spc="-30" dirty="0">
              <a:latin typeface="Arial MT"/>
              <a:cs typeface="Arial MT"/>
            </a:endParaRPr>
          </a:p>
          <a:p>
            <a:pPr marL="355600" marR="1235710" indent="-342900">
              <a:lnSpc>
                <a:spcPts val="3000"/>
              </a:lnSpc>
              <a:spcBef>
                <a:spcPts val="735"/>
              </a:spcBef>
              <a:buChar char="•"/>
              <a:tabLst>
                <a:tab pos="354965" algn="l"/>
                <a:tab pos="355600" algn="l"/>
              </a:tabLst>
            </a:pPr>
            <a:r>
              <a:rPr lang="en-US" sz="3200" b="1" spc="-5" dirty="0">
                <a:solidFill>
                  <a:srgbClr val="92D050"/>
                </a:solidFill>
                <a:latin typeface="Arial MT"/>
                <a:cs typeface="Arial MT"/>
              </a:rPr>
              <a:t>Static</a:t>
            </a:r>
            <a:r>
              <a:rPr lang="en-US" sz="3200" b="1" spc="-30" dirty="0">
                <a:solidFill>
                  <a:srgbClr val="92D050"/>
                </a:solidFill>
                <a:latin typeface="Arial MT"/>
                <a:cs typeface="Arial MT"/>
              </a:rPr>
              <a:t> </a:t>
            </a:r>
            <a:r>
              <a:rPr lang="en-US" sz="3200" b="1" dirty="0">
                <a:solidFill>
                  <a:srgbClr val="92D050"/>
                </a:solidFill>
                <a:latin typeface="Arial MT"/>
                <a:cs typeface="Arial MT"/>
              </a:rPr>
              <a:t>data</a:t>
            </a:r>
            <a:r>
              <a:rPr lang="en-US" sz="3200" dirty="0">
                <a:latin typeface="Arial MT"/>
                <a:cs typeface="Arial MT"/>
              </a:rPr>
              <a:t>:</a:t>
            </a:r>
            <a:r>
              <a:rPr lang="en-US" sz="3200" spc="-35" dirty="0">
                <a:latin typeface="Arial MT"/>
                <a:cs typeface="Arial MT"/>
              </a:rPr>
              <a:t> </a:t>
            </a:r>
            <a:br>
              <a:rPr lang="en-US" sz="3200" spc="-35" dirty="0">
                <a:latin typeface="Arial MT"/>
                <a:cs typeface="Arial MT"/>
              </a:rPr>
            </a:br>
            <a:r>
              <a:rPr lang="en-US" sz="3200" dirty="0">
                <a:latin typeface="Arial MT"/>
                <a:cs typeface="Arial MT"/>
              </a:rPr>
              <a:t>global </a:t>
            </a:r>
            <a:r>
              <a:rPr lang="en-US" sz="3200" spc="-765" dirty="0">
                <a:latin typeface="Arial MT"/>
                <a:cs typeface="Arial MT"/>
              </a:rPr>
              <a:t> </a:t>
            </a:r>
            <a:r>
              <a:rPr lang="en-US" sz="3200" dirty="0">
                <a:latin typeface="Arial MT"/>
                <a:cs typeface="Arial MT"/>
              </a:rPr>
              <a:t>variables</a:t>
            </a:r>
          </a:p>
          <a:p>
            <a:pPr marL="755015" marR="5080" indent="-285750">
              <a:lnSpc>
                <a:spcPts val="2590"/>
              </a:lnSpc>
              <a:spcBef>
                <a:spcPts val="640"/>
              </a:spcBef>
            </a:pPr>
            <a:r>
              <a:rPr lang="en-US" sz="2800" dirty="0">
                <a:latin typeface="Arial MT"/>
                <a:cs typeface="Arial MT"/>
              </a:rPr>
              <a:t>–</a:t>
            </a:r>
            <a:r>
              <a:rPr lang="en-US" sz="2800" spc="5" dirty="0">
                <a:latin typeface="Arial MT"/>
                <a:cs typeface="Arial MT"/>
              </a:rPr>
              <a:t> </a:t>
            </a:r>
            <a:r>
              <a:rPr lang="en-US" sz="2800" spc="-5" dirty="0">
                <a:latin typeface="Arial MT"/>
                <a:cs typeface="Arial MT"/>
              </a:rPr>
              <a:t>e.g., static </a:t>
            </a:r>
            <a:r>
              <a:rPr lang="en-US" sz="2800" dirty="0">
                <a:latin typeface="Arial MT"/>
                <a:cs typeface="Arial MT"/>
              </a:rPr>
              <a:t>variables in C, </a:t>
            </a:r>
            <a:r>
              <a:rPr lang="en-US" sz="2800" spc="5" dirty="0">
                <a:latin typeface="Arial MT"/>
                <a:cs typeface="Arial MT"/>
              </a:rPr>
              <a:t> </a:t>
            </a:r>
            <a:r>
              <a:rPr lang="en-US" sz="2800" spc="-5" dirty="0">
                <a:latin typeface="Arial MT"/>
                <a:cs typeface="Arial MT"/>
              </a:rPr>
              <a:t>constant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arrays</a:t>
            </a:r>
            <a:r>
              <a:rPr lang="en-US" sz="2800" spc="-1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and</a:t>
            </a:r>
            <a:r>
              <a:rPr lang="en-US" sz="2800" spc="-15" dirty="0">
                <a:latin typeface="Arial MT"/>
                <a:cs typeface="Arial MT"/>
              </a:rPr>
              <a:t> </a:t>
            </a:r>
            <a:r>
              <a:rPr lang="en-US" sz="2800" spc="-5" dirty="0">
                <a:latin typeface="Arial MT"/>
                <a:cs typeface="Arial MT"/>
              </a:rPr>
              <a:t>strings</a:t>
            </a:r>
            <a:endParaRPr lang="en-US" sz="2800" spc="-65" dirty="0">
              <a:latin typeface="Arial MT"/>
              <a:cs typeface="Arial MT"/>
            </a:endParaRPr>
          </a:p>
          <a:p>
            <a:pPr marL="355600" indent="-342900">
              <a:spcBef>
                <a:spcPts val="395"/>
              </a:spcBef>
              <a:buFontTx/>
              <a:buChar char="•"/>
              <a:tabLst>
                <a:tab pos="354965" algn="l"/>
                <a:tab pos="355600" algn="l"/>
              </a:tabLst>
            </a:pPr>
            <a:r>
              <a:rPr lang="en-US" sz="2800" spc="-65" dirty="0">
                <a:latin typeface="Arial MT"/>
                <a:cs typeface="Arial MT"/>
              </a:rPr>
              <a:t>Text: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b="1" dirty="0">
                <a:solidFill>
                  <a:srgbClr val="FF0000"/>
                </a:solidFill>
                <a:latin typeface="Arial MT"/>
                <a:cs typeface="Arial MT"/>
              </a:rPr>
              <a:t>program</a:t>
            </a:r>
            <a:r>
              <a:rPr lang="en-US" sz="2800" b="1" spc="-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lang="en-US" sz="2800" b="1" dirty="0">
                <a:solidFill>
                  <a:srgbClr val="FF0000"/>
                </a:solidFill>
                <a:latin typeface="Arial MT"/>
                <a:cs typeface="Arial MT"/>
              </a:rPr>
              <a:t>code</a:t>
            </a:r>
            <a:br>
              <a:rPr lang="en-US" sz="2800" spc="-30" dirty="0">
                <a:latin typeface="Arial MT"/>
                <a:cs typeface="Arial MT"/>
              </a:rPr>
            </a:br>
            <a:endParaRPr lang="en-US" sz="2400" dirty="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35221" y="2025283"/>
            <a:ext cx="4566221" cy="3477279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3551802" y="3813371"/>
            <a:ext cx="6952462" cy="320322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725613" y="2579625"/>
            <a:ext cx="6778651" cy="113764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499041" y="2040397"/>
            <a:ext cx="4261270" cy="272709"/>
          </a:xfrm>
          <a:prstGeom prst="straightConnector1">
            <a:avLst/>
          </a:prstGeom>
          <a:ln w="63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4602400" y="4673844"/>
            <a:ext cx="6249488" cy="828718"/>
          </a:xfrm>
          <a:prstGeom prst="straightConnector1">
            <a:avLst/>
          </a:prstGeom>
          <a:ln w="63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75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56568" y="733762"/>
            <a:ext cx="6462906" cy="998725"/>
          </a:xfrm>
        </p:spPr>
        <p:txBody>
          <a:bodyPr>
            <a:normAutofit fontScale="90000"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>
                <a:solidFill>
                  <a:srgbClr val="00B0F0"/>
                </a:solidFill>
              </a:rPr>
              <a:t>Simple Call-Return in 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87317"/>
              </p:ext>
            </p:extLst>
          </p:nvPr>
        </p:nvGraphicFramePr>
        <p:xfrm>
          <a:off x="1981200" y="2583025"/>
          <a:ext cx="4064000" cy="241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0">
                <a:tc>
                  <a:txBody>
                    <a:bodyPr/>
                    <a:lstStyle/>
                    <a:p>
                      <a:r>
                        <a:rPr lang="en-US" sz="1200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f1();</a:t>
                      </a:r>
                    </a:p>
                    <a:p>
                      <a:r>
                        <a:rPr lang="en-US" sz="1200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void f1(void){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          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          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          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ysClr val="windowText" lastClr="000000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   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return;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}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2759242" y="3370425"/>
            <a:ext cx="1279358" cy="3629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/>
          <p:cNvCxnSpPr/>
          <p:nvPr/>
        </p:nvCxnSpPr>
        <p:spPr>
          <a:xfrm rot="10800000">
            <a:off x="2362201" y="3586326"/>
            <a:ext cx="1961147" cy="575129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ular Callout 7"/>
          <p:cNvSpPr/>
          <p:nvPr/>
        </p:nvSpPr>
        <p:spPr>
          <a:xfrm>
            <a:off x="2844799" y="1987373"/>
            <a:ext cx="3391159" cy="762000"/>
          </a:xfrm>
          <a:prstGeom prst="wedgeRoundRectCallout">
            <a:avLst>
              <a:gd name="adj1" fmla="val -48856"/>
              <a:gd name="adj2" fmla="val 116043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Suspend</a:t>
            </a:r>
            <a:r>
              <a:rPr lang="en-US" sz="1600" dirty="0"/>
              <a:t> the current sequence</a:t>
            </a:r>
          </a:p>
          <a:p>
            <a:pPr marL="342900" indent="-342900">
              <a:buAutoNum type="arabicPeriod"/>
            </a:pPr>
            <a:r>
              <a:rPr lang="en-US" sz="1600" dirty="0"/>
              <a:t>Record the return address</a:t>
            </a:r>
          </a:p>
          <a:p>
            <a:pPr marL="342900" indent="-342900">
              <a:buAutoNum type="arabicPeriod"/>
            </a:pPr>
            <a:r>
              <a:rPr lang="en-US" sz="1600" dirty="0"/>
              <a:t>Transfer control to the function</a:t>
            </a:r>
          </a:p>
        </p:txBody>
      </p:sp>
      <p:sp>
        <p:nvSpPr>
          <p:cNvPr id="9" name="Rounded Rectangular Callout 8"/>
          <p:cNvSpPr/>
          <p:nvPr/>
        </p:nvSpPr>
        <p:spPr>
          <a:xfrm>
            <a:off x="5826300" y="3154525"/>
            <a:ext cx="2444400" cy="431800"/>
          </a:xfrm>
          <a:prstGeom prst="wedgeRoundRectCallout">
            <a:avLst>
              <a:gd name="adj1" fmla="val -93072"/>
              <a:gd name="adj2" fmla="val 84412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 startAt="4"/>
            </a:pPr>
            <a:r>
              <a:rPr lang="en-US" sz="1600" dirty="0"/>
              <a:t>Execute the function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5751545" y="4049311"/>
            <a:ext cx="2667000" cy="1066800"/>
          </a:xfrm>
          <a:prstGeom prst="wedgeRoundRectCallout">
            <a:avLst>
              <a:gd name="adj1" fmla="val -67806"/>
              <a:gd name="adj2" fmla="val -40238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Use the recorded return address to jump back.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235959" y="2175739"/>
            <a:ext cx="2248678" cy="923330"/>
            <a:chOff x="5626359" y="2259714"/>
            <a:chExt cx="2248678" cy="923330"/>
          </a:xfrm>
        </p:grpSpPr>
        <p:sp>
          <p:nvSpPr>
            <p:cNvPr id="2" name="Left Arrow 1"/>
            <p:cNvSpPr/>
            <p:nvPr/>
          </p:nvSpPr>
          <p:spPr>
            <a:xfrm>
              <a:off x="5626359" y="2295331"/>
              <a:ext cx="419878" cy="29857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46237" y="2259714"/>
              <a:ext cx="18288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Branch with Link Instruction (BL)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8418545" y="4072695"/>
            <a:ext cx="2137488" cy="923330"/>
            <a:chOff x="6959859" y="3629443"/>
            <a:chExt cx="2137488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7361853" y="3629443"/>
              <a:ext cx="173549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Branch Indirect Instruction (BX)</a:t>
              </a:r>
            </a:p>
          </p:txBody>
        </p:sp>
        <p:sp>
          <p:nvSpPr>
            <p:cNvPr id="16" name="Left Arrow 15"/>
            <p:cNvSpPr/>
            <p:nvPr/>
          </p:nvSpPr>
          <p:spPr>
            <a:xfrm>
              <a:off x="6959859" y="3941818"/>
              <a:ext cx="419878" cy="29857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96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8547" y="718788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/>
              <a:t>ARM instructions used to call and return from functions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0" y="2133600"/>
          <a:ext cx="6248401" cy="2562096"/>
        </p:xfrm>
        <a:graphic>
          <a:graphicData uri="http://schemas.openxmlformats.org/drawingml/2006/table">
            <a:tbl>
              <a:tblPr firstRow="1" firstCol="1" bandRow="1"/>
              <a:tblGrid>
                <a:gridCol w="1828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2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5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965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Branch with Link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BL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label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Function Call: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LR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return address,</a:t>
                      </a:r>
                      <a:b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PC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address of label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66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Branch Indirect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BX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Arial"/>
                          <a:cs typeface="Calibri"/>
                        </a:rPr>
                        <a:t>LR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Function Return: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PC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LR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2018536" y="5285144"/>
            <a:ext cx="85291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LR (aka R14) and PC (aka R15) are two of the 16 registers inside the CPU.</a:t>
            </a:r>
          </a:p>
          <a:p>
            <a:r>
              <a:rPr lang="en-US" dirty="0"/>
              <a:t>LR is the “Link Register” – used w/function calls to hold the return address</a:t>
            </a:r>
          </a:p>
          <a:p>
            <a:r>
              <a:rPr lang="en-US" dirty="0"/>
              <a:t>PC is the “Program Counter” – holds the address of the next instruction.</a:t>
            </a:r>
          </a:p>
        </p:txBody>
      </p:sp>
    </p:spTree>
    <p:extLst>
      <p:ext uri="{BB962C8B-B14F-4D97-AF65-F5344CB8AC3E}">
        <p14:creationId xmlns:p14="http://schemas.microsoft.com/office/powerpoint/2010/main" val="1266572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0527" y="747513"/>
            <a:ext cx="7144694" cy="1144151"/>
          </a:xfrm>
        </p:spPr>
        <p:txBody>
          <a:bodyPr>
            <a:normAutofit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/>
              <a:t>Simple Call-Return in Assembly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24200" y="33020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f1</a:t>
                      </a:r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 ●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</a:t>
                      </a:r>
                      <a:r>
                        <a:rPr lang="en-US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</a:t>
                      </a:r>
                      <a:r>
                        <a:rPr lang="en-US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4038599" y="4038600"/>
            <a:ext cx="11430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/>
          <p:cNvCxnSpPr/>
          <p:nvPr/>
        </p:nvCxnSpPr>
        <p:spPr>
          <a:xfrm rot="10800000">
            <a:off x="3581400" y="4267204"/>
            <a:ext cx="1905000" cy="380999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ular Callout 7"/>
          <p:cNvSpPr/>
          <p:nvPr/>
        </p:nvSpPr>
        <p:spPr>
          <a:xfrm>
            <a:off x="3733799" y="1981200"/>
            <a:ext cx="4351421" cy="1143000"/>
          </a:xfrm>
          <a:prstGeom prst="wedgeRoundRectCallout">
            <a:avLst>
              <a:gd name="adj1" fmla="val -55175"/>
              <a:gd name="adj2" fmla="val 118105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BL (Branch with Link) instruction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saves the address in the Link Register (LR).</a:t>
            </a:r>
            <a:endParaRPr lang="en-US" sz="1600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7086600" y="5008562"/>
            <a:ext cx="3712388" cy="1342362"/>
          </a:xfrm>
          <a:prstGeom prst="wedgeRoundRectCallout">
            <a:avLst>
              <a:gd name="adj1" fmla="val -72024"/>
              <a:gd name="adj2" fmla="val -64802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/>
              <a:t>The “Branch Indirect” instruction (BX) copies the address from LR into PC.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428589" y="3934062"/>
            <a:ext cx="3131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Only one Link Register!</a:t>
            </a:r>
          </a:p>
        </p:txBody>
      </p:sp>
      <p:sp>
        <p:nvSpPr>
          <p:cNvPr id="3" name="Rectangle 2"/>
          <p:cNvSpPr/>
          <p:nvPr/>
        </p:nvSpPr>
        <p:spPr>
          <a:xfrm>
            <a:off x="3124199" y="3859529"/>
            <a:ext cx="914400" cy="35814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486400" y="4494533"/>
            <a:ext cx="1032510" cy="38227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34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1" y="2362200"/>
          <a:ext cx="6553201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f1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f2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4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ts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f2:</a:t>
                      </a: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2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Line Callout 1 1"/>
          <p:cNvSpPr/>
          <p:nvPr/>
        </p:nvSpPr>
        <p:spPr>
          <a:xfrm>
            <a:off x="7391400" y="2679700"/>
            <a:ext cx="3128010" cy="939800"/>
          </a:xfrm>
          <a:prstGeom prst="borderCallout1">
            <a:avLst>
              <a:gd name="adj1" fmla="val 52430"/>
              <a:gd name="adj2" fmla="val -1614"/>
              <a:gd name="adj3" fmla="val 123727"/>
              <a:gd name="adj4" fmla="val -51774"/>
            </a:avLst>
          </a:prstGeom>
          <a:solidFill>
            <a:schemeClr val="accent3">
              <a:lumMod val="20000"/>
              <a:lumOff val="80000"/>
            </a:schemeClr>
          </a:solidFill>
          <a:ln w="3175">
            <a:solidFill>
              <a:srgbClr val="FF0000"/>
            </a:solidFill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/>
            <a:r>
              <a:rPr lang="en-US" sz="1400" dirty="0"/>
              <a:t>Modifies the link register (LR), writing over f1’s return address!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0526" y="754978"/>
            <a:ext cx="7124642" cy="1144151"/>
          </a:xfrm>
        </p:spPr>
        <p:txBody>
          <a:bodyPr>
            <a:normAutofit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>
                <a:solidFill>
                  <a:srgbClr val="FF0000"/>
                </a:solidFill>
              </a:rPr>
              <a:t>Nested</a:t>
            </a:r>
            <a:r>
              <a:rPr lang="en-US" sz="3100" dirty="0"/>
              <a:t> Call-Return in Assembly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3886200" y="3098800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/>
          <p:cNvCxnSpPr/>
          <p:nvPr/>
        </p:nvCxnSpPr>
        <p:spPr>
          <a:xfrm rot="10800000">
            <a:off x="3276600" y="3327400"/>
            <a:ext cx="2209800" cy="1676400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ular Callout 7"/>
          <p:cNvSpPr/>
          <p:nvPr/>
        </p:nvSpPr>
        <p:spPr>
          <a:xfrm>
            <a:off x="5959298" y="1748971"/>
            <a:ext cx="1917879" cy="609600"/>
          </a:xfrm>
          <a:prstGeom prst="wedgeRoundRectCallout">
            <a:avLst>
              <a:gd name="adj1" fmla="val -46949"/>
              <a:gd name="adj2" fmla="val 146912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Saves LR on the stack.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629400" y="3937000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/>
          <p:cNvCxnSpPr/>
          <p:nvPr/>
        </p:nvCxnSpPr>
        <p:spPr>
          <a:xfrm rot="10800000">
            <a:off x="5743574" y="4165607"/>
            <a:ext cx="2562226" cy="457195"/>
          </a:xfrm>
          <a:prstGeom prst="bentConnector3">
            <a:avLst>
              <a:gd name="adj1" fmla="val 38985"/>
            </a:avLst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ular Callout 10"/>
          <p:cNvSpPr/>
          <p:nvPr/>
        </p:nvSpPr>
        <p:spPr>
          <a:xfrm>
            <a:off x="5981700" y="5384800"/>
            <a:ext cx="1895477" cy="609600"/>
          </a:xfrm>
          <a:prstGeom prst="wedgeRoundRectCallout">
            <a:avLst>
              <a:gd name="adj1" fmla="val -52879"/>
              <a:gd name="adj2" fmla="val -149517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Restores LR from the stack.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65384" y="2730500"/>
            <a:ext cx="971826" cy="8382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</p:pic>
      <p:sp>
        <p:nvSpPr>
          <p:cNvPr id="12" name="TextBox 11"/>
          <p:cNvSpPr txBox="1"/>
          <p:nvPr/>
        </p:nvSpPr>
        <p:spPr>
          <a:xfrm>
            <a:off x="4880609" y="2931558"/>
            <a:ext cx="24345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PUSH  {LR}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POP   {LR}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3771900"/>
            <a:ext cx="1143000" cy="28575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524500" y="2962276"/>
            <a:ext cx="1337309" cy="28638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524500" y="4611609"/>
            <a:ext cx="1337309" cy="28638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ular Callout 16"/>
          <p:cNvSpPr/>
          <p:nvPr/>
        </p:nvSpPr>
        <p:spPr>
          <a:xfrm>
            <a:off x="3698470" y="1894625"/>
            <a:ext cx="1787930" cy="591660"/>
          </a:xfrm>
          <a:prstGeom prst="wedgeRoundRectCallout">
            <a:avLst>
              <a:gd name="adj1" fmla="val -55175"/>
              <a:gd name="adj2" fmla="val 118105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Saves the return address in LR</a:t>
            </a:r>
            <a:endParaRPr lang="en-US" sz="1600" dirty="0"/>
          </a:p>
        </p:txBody>
      </p:sp>
      <p:sp>
        <p:nvSpPr>
          <p:cNvPr id="18" name="Rounded Rectangular Callout 17"/>
          <p:cNvSpPr/>
          <p:nvPr/>
        </p:nvSpPr>
        <p:spPr>
          <a:xfrm>
            <a:off x="2538153" y="5471161"/>
            <a:ext cx="2054282" cy="758903"/>
          </a:xfrm>
          <a:prstGeom prst="wedgeRoundRectCallout">
            <a:avLst>
              <a:gd name="adj1" fmla="val 97238"/>
              <a:gd name="adj2" fmla="val -95645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Copies the return address from LR to PC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7341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66536" y="747785"/>
            <a:ext cx="7668128" cy="798517"/>
          </a:xfrm>
        </p:spPr>
        <p:txBody>
          <a:bodyPr>
            <a:normAutofit/>
          </a:bodyPr>
          <a:lstStyle/>
          <a:p>
            <a:r>
              <a:rPr lang="en-US" sz="2400" dirty="0"/>
              <a:t>FUNCTION CALL AND RETURN</a:t>
            </a:r>
            <a:br>
              <a:rPr lang="en-US" sz="2400" dirty="0"/>
            </a:br>
            <a:r>
              <a:rPr lang="en-US" sz="2000" dirty="0"/>
              <a:t>ARM instructions used in functions that </a:t>
            </a:r>
            <a:r>
              <a:rPr lang="en-US" sz="2000" i="1" u="sng" dirty="0"/>
              <a:t>call other functions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24184"/>
              </p:ext>
            </p:extLst>
          </p:nvPr>
        </p:nvGraphicFramePr>
        <p:xfrm>
          <a:off x="1420751" y="3012231"/>
          <a:ext cx="6521331" cy="2819400"/>
        </p:xfrm>
        <a:graphic>
          <a:graphicData uri="http://schemas.openxmlformats.org/drawingml/2006/table">
            <a:tbl>
              <a:tblPr firstRow="1" firstCol="1" bandRow="1"/>
              <a:tblGrid>
                <a:gridCol w="1583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5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3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4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2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Push registers onto stack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PUSH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</a:t>
                      </a: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SP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SP – 4 × #registers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Copy registers to</a:t>
                      </a:r>
                      <a:r>
                        <a:rPr lang="en-US" sz="18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mem[SP]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2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Pop registers from stack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POP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Copy mem[SP] to registers, 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SP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SP +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4 × #registers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2057401" y="1665115"/>
            <a:ext cx="4387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 is one of the 16 CPU registers (R13) </a:t>
            </a:r>
          </a:p>
          <a:p>
            <a:r>
              <a:rPr lang="en-US" dirty="0"/>
              <a:t>holds the address of the top of the stack.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1447"/>
              </p:ext>
            </p:extLst>
          </p:nvPr>
        </p:nvGraphicFramePr>
        <p:xfrm>
          <a:off x="8190807" y="1704366"/>
          <a:ext cx="268173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9300">
                  <a:extLst>
                    <a:ext uri="{9D8B030D-6E8A-4147-A177-3AD203B41FA5}">
                      <a16:colId xmlns:a16="http://schemas.microsoft.com/office/drawing/2014/main" val="170456165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1974469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Pushed</a:t>
                      </a:r>
                      <a:r>
                        <a:rPr lang="en-US" baseline="0" dirty="0"/>
                        <a:t> data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389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996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Pushed</a:t>
                      </a:r>
                      <a:r>
                        <a:rPr lang="en-US" baseline="0" dirty="0"/>
                        <a:t> data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256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992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Top of stack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42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988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1640863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984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389247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980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2751589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976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406179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972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4165440448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13119" y="2454810"/>
          <a:ext cx="21613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1">
                  <a:extLst>
                    <a:ext uri="{9D8B030D-6E8A-4147-A177-3AD203B41FA5}">
                      <a16:colId xmlns:a16="http://schemas.microsoft.com/office/drawing/2014/main" val="3364269325"/>
                    </a:ext>
                  </a:extLst>
                </a:gridCol>
                <a:gridCol w="1246909">
                  <a:extLst>
                    <a:ext uri="{9D8B030D-6E8A-4147-A177-3AD203B41FA5}">
                      <a16:colId xmlns:a16="http://schemas.microsoft.com/office/drawing/2014/main" val="176504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SP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371880"/>
                  </a:ext>
                </a:extLst>
              </a:tr>
            </a:tbl>
          </a:graphicData>
        </a:graphic>
      </p:graphicFrame>
      <p:cxnSp>
        <p:nvCxnSpPr>
          <p:cNvPr id="13" name="Straight Arrow Connector 12"/>
          <p:cNvCxnSpPr/>
          <p:nvPr/>
        </p:nvCxnSpPr>
        <p:spPr>
          <a:xfrm>
            <a:off x="8190808" y="2640230"/>
            <a:ext cx="315883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94763" y="2063733"/>
            <a:ext cx="159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(register R13)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4619" y="4756000"/>
            <a:ext cx="159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(memory)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70807" y="3276567"/>
            <a:ext cx="1468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Unused</a:t>
            </a:r>
            <a:br>
              <a:rPr lang="en-US" dirty="0"/>
            </a:br>
            <a:r>
              <a:rPr lang="en-US" dirty="0"/>
              <a:t>Stack</a:t>
            </a:r>
          </a:p>
          <a:p>
            <a:pPr algn="ctr"/>
            <a:r>
              <a:rPr lang="en-US" dirty="0"/>
              <a:t>Space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9340735" y="2845102"/>
            <a:ext cx="2" cy="1806935"/>
          </a:xfrm>
          <a:prstGeom prst="straightConnector1">
            <a:avLst/>
          </a:prstGeom>
          <a:ln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0255" y="6033841"/>
            <a:ext cx="45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“register list” format: { </a:t>
            </a:r>
            <a:r>
              <a:rPr lang="en-US" dirty="0" err="1"/>
              <a:t>reg</a:t>
            </a:r>
            <a:r>
              <a:rPr lang="en-US" dirty="0"/>
              <a:t>, </a:t>
            </a:r>
            <a:r>
              <a:rPr lang="en-US" dirty="0" err="1"/>
              <a:t>reg</a:t>
            </a:r>
            <a:r>
              <a:rPr lang="en-US" dirty="0"/>
              <a:t>, </a:t>
            </a:r>
            <a:r>
              <a:rPr lang="en-US" dirty="0" err="1"/>
              <a:t>reg-reg</a:t>
            </a:r>
            <a:r>
              <a:rPr lang="en-US" dirty="0"/>
              <a:t>, …}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BCA1D-550D-442A-BEF6-D8F6313B7356}"/>
              </a:ext>
            </a:extLst>
          </p:cNvPr>
          <p:cNvSpPr/>
          <p:nvPr/>
        </p:nvSpPr>
        <p:spPr>
          <a:xfrm>
            <a:off x="7578531" y="5913661"/>
            <a:ext cx="3780149" cy="69887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IMPORTANT! Registers in the list must be listed in numerical order.</a:t>
            </a:r>
          </a:p>
        </p:txBody>
      </p:sp>
    </p:spTree>
    <p:extLst>
      <p:ext uri="{BB962C8B-B14F-4D97-AF65-F5344CB8AC3E}">
        <p14:creationId xmlns:p14="http://schemas.microsoft.com/office/powerpoint/2010/main" val="786826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6648450" y="2311774"/>
            <a:ext cx="376502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f1:  PUSH {LR}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Stack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BL    f2</a:t>
            </a:r>
            <a:endParaRPr lang="en-US" b="1" dirty="0">
              <a:solidFill>
                <a:sysClr val="windowText" lastClr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POP   {PC}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PC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Stack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06980" y="2323311"/>
            <a:ext cx="4003799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f1:  PUSH {LR}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Stack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BL    f2</a:t>
            </a:r>
            <a:endParaRPr lang="en-US" b="1" dirty="0">
              <a:solidFill>
                <a:sysClr val="windowText" lastClr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POP   {LR}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Stack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BX    LR   //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PC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=LR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5182"/>
            <a:ext cx="5941537" cy="646472"/>
          </a:xfrm>
        </p:spPr>
        <p:txBody>
          <a:bodyPr/>
          <a:lstStyle/>
          <a:p>
            <a:r>
              <a:rPr lang="en-US" dirty="0"/>
              <a:t>Optimizing Function Calls</a:t>
            </a:r>
          </a:p>
        </p:txBody>
      </p:sp>
      <p:sp>
        <p:nvSpPr>
          <p:cNvPr id="19" name="Down Arrow 18"/>
          <p:cNvSpPr/>
          <p:nvPr/>
        </p:nvSpPr>
        <p:spPr>
          <a:xfrm rot="16200000">
            <a:off x="5616113" y="3246987"/>
            <a:ext cx="574964" cy="71489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025058" y="4544058"/>
            <a:ext cx="1483821" cy="59745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7232420" y="4508085"/>
            <a:ext cx="1483821" cy="33470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54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8760"/>
            <a:ext cx="6029768" cy="776351"/>
          </a:xfrm>
        </p:spPr>
        <p:txBody>
          <a:bodyPr/>
          <a:lstStyle/>
          <a:p>
            <a:r>
              <a:rPr lang="en-US" dirty="0"/>
              <a:t>Optimizing Function Calls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892484"/>
              </p:ext>
            </p:extLst>
          </p:nvPr>
        </p:nvGraphicFramePr>
        <p:xfrm>
          <a:off x="3552307" y="4135790"/>
          <a:ext cx="5486400" cy="2481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3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66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f1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93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93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9388" indent="0"/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1793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1793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1793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f2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93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marR="0" lvl="0" indent="0" algn="l" defTabSz="914400" rtl="0" eaLnBrk="1" fontAlgn="auto" latinLnBrk="0" hangingPunct="1">
                        <a:lnSpc>
                          <a:spcPts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f2:</a:t>
                      </a: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14400" algn="l"/>
                        </a:tabLst>
                        <a:defRPr/>
                      </a:pP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4079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14400" algn="l"/>
                        </a:tabLst>
                        <a:defRPr/>
                      </a:pPr>
                      <a:r>
                        <a:rPr lang="en-US" sz="12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4079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V="1">
            <a:off x="4466706" y="4870576"/>
            <a:ext cx="609600" cy="181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/>
          <p:cNvCxnSpPr/>
          <p:nvPr/>
        </p:nvCxnSpPr>
        <p:spPr>
          <a:xfrm rot="10800000">
            <a:off x="3857106" y="5100990"/>
            <a:ext cx="3810000" cy="1064986"/>
          </a:xfrm>
          <a:prstGeom prst="bentConnector3">
            <a:avLst>
              <a:gd name="adj1" fmla="val 72286"/>
            </a:avLst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371706" y="5480176"/>
            <a:ext cx="8382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838798" y="1417638"/>
          <a:ext cx="6553201" cy="2694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f1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f2</a:t>
                      </a: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4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ts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f2:</a:t>
                      </a: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2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1" name="Straight Arrow Connector 10"/>
          <p:cNvCxnSpPr/>
          <p:nvPr/>
        </p:nvCxnSpPr>
        <p:spPr>
          <a:xfrm>
            <a:off x="3753197" y="2154238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496397" y="2992438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/>
          <p:nvPr/>
        </p:nvCxnSpPr>
        <p:spPr>
          <a:xfrm rot="10800000">
            <a:off x="6881208" y="3271221"/>
            <a:ext cx="1291591" cy="407023"/>
          </a:xfrm>
          <a:prstGeom prst="bentConnector3">
            <a:avLst>
              <a:gd name="adj1" fmla="val 50000"/>
            </a:avLst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47606" y="1986995"/>
            <a:ext cx="24345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PUSH  {LR}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POP   {LR}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796742" y="3743712"/>
            <a:ext cx="574964" cy="71489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277198" y="2809703"/>
            <a:ext cx="1483821" cy="86854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354090" y="5343331"/>
            <a:ext cx="1483821" cy="33470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Elbow Connector 11"/>
          <p:cNvCxnSpPr/>
          <p:nvPr/>
        </p:nvCxnSpPr>
        <p:spPr>
          <a:xfrm rot="10800000">
            <a:off x="3143599" y="2436204"/>
            <a:ext cx="2210490" cy="1081485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2622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555A4-BC71-4CC1-B573-4AC1A075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276" y="742525"/>
            <a:ext cx="3878387" cy="641108"/>
          </a:xfrm>
        </p:spPr>
        <p:txBody>
          <a:bodyPr/>
          <a:lstStyle/>
          <a:p>
            <a:r>
              <a:rPr lang="en-US" dirty="0"/>
              <a:t>Stack Alignment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44410-8CD4-463D-816D-638EDCD366FD}"/>
              </a:ext>
            </a:extLst>
          </p:cNvPr>
          <p:cNvSpPr txBox="1"/>
          <p:nvPr/>
        </p:nvSpPr>
        <p:spPr>
          <a:xfrm>
            <a:off x="1981200" y="3613846"/>
            <a:ext cx="29458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MyFunc</a:t>
            </a:r>
            <a:r>
              <a:rPr lang="en-US" dirty="0">
                <a:latin typeface="Consolas" panose="020B0609020204030204" pitchFamily="49" charset="0"/>
              </a:rPr>
              <a:t>:	PUSH	{LR}</a:t>
            </a: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BL	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POP	{PC}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5E4B2-228E-401A-867F-FFAA92020757}"/>
              </a:ext>
            </a:extLst>
          </p:cNvPr>
          <p:cNvSpPr txBox="1"/>
          <p:nvPr/>
        </p:nvSpPr>
        <p:spPr>
          <a:xfrm>
            <a:off x="1981200" y="1850782"/>
            <a:ext cx="9204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Some library functions </a:t>
            </a:r>
            <a:r>
              <a:rPr lang="en-US" dirty="0"/>
              <a:t>and functions compiled from a high-level language require that SP mod 8 = 0 when they are called – i.e., that the stack be double word (8-byte) aligned.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3E14F-E71A-485E-B06F-5EA8B16A49F6}"/>
              </a:ext>
            </a:extLst>
          </p:cNvPr>
          <p:cNvSpPr txBox="1"/>
          <p:nvPr/>
        </p:nvSpPr>
        <p:spPr>
          <a:xfrm>
            <a:off x="5231876" y="3613846"/>
            <a:ext cx="5096759" cy="203132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Problem: </a:t>
            </a:r>
            <a:r>
              <a:rPr lang="en-US" dirty="0"/>
              <a:t>The compiler ensures that the stack pointer is always a multiple of 8 when it calls a function. </a:t>
            </a:r>
          </a:p>
          <a:p>
            <a:endParaRPr lang="en-US" dirty="0"/>
          </a:p>
          <a:p>
            <a:r>
              <a:rPr lang="en-US" dirty="0"/>
              <a:t>This will not true if your function calls another function after pushing an </a:t>
            </a:r>
            <a:r>
              <a:rPr lang="en-US" u="sng" dirty="0"/>
              <a:t>odd</a:t>
            </a:r>
            <a:r>
              <a:rPr lang="en-US" dirty="0"/>
              <a:t> number of registers.</a:t>
            </a:r>
          </a:p>
        </p:txBody>
      </p:sp>
    </p:spTree>
    <p:extLst>
      <p:ext uri="{BB962C8B-B14F-4D97-AF65-F5344CB8AC3E}">
        <p14:creationId xmlns:p14="http://schemas.microsoft.com/office/powerpoint/2010/main" val="1117922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555A4-BC71-4CC1-B573-4AC1A075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276" y="742525"/>
            <a:ext cx="3878387" cy="641108"/>
          </a:xfrm>
        </p:spPr>
        <p:txBody>
          <a:bodyPr/>
          <a:lstStyle/>
          <a:p>
            <a:r>
              <a:rPr lang="en-US" dirty="0"/>
              <a:t>Stack Alignment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AF6EC-69A2-4443-941A-53F18BFA711A}"/>
              </a:ext>
            </a:extLst>
          </p:cNvPr>
          <p:cNvSpPr txBox="1"/>
          <p:nvPr/>
        </p:nvSpPr>
        <p:spPr>
          <a:xfrm>
            <a:off x="1981201" y="3482165"/>
            <a:ext cx="32506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MyFunc</a:t>
            </a:r>
            <a:r>
              <a:rPr lang="en-US" dirty="0">
                <a:latin typeface="Consolas" panose="020B0609020204030204" pitchFamily="49" charset="0"/>
              </a:rPr>
              <a:t>:	PUSH	{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</a:rPr>
              <a:t>,LR}</a:t>
            </a: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BL	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POP	{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</a:rPr>
              <a:t>,PC}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5E4B2-228E-401A-867F-FFAA92020757}"/>
              </a:ext>
            </a:extLst>
          </p:cNvPr>
          <p:cNvSpPr txBox="1"/>
          <p:nvPr/>
        </p:nvSpPr>
        <p:spPr>
          <a:xfrm>
            <a:off x="1981201" y="1858796"/>
            <a:ext cx="9204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library functions and functions compiled from a high-level language require that SP mod 8 = 0 when they are called – i.e., that the stack be double word (8-byte) aligned.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186084-1FF5-4561-BC79-7C05471F7F4E}"/>
              </a:ext>
            </a:extLst>
          </p:cNvPr>
          <p:cNvSpPr txBox="1"/>
          <p:nvPr/>
        </p:nvSpPr>
        <p:spPr>
          <a:xfrm>
            <a:off x="5231876" y="3482165"/>
            <a:ext cx="6723503" cy="1477328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Solution: </a:t>
            </a:r>
            <a:r>
              <a:rPr lang="en-US" dirty="0"/>
              <a:t>When writing a function that calls a library function or a function that was compiled from a high-level language, always push and pop an </a:t>
            </a:r>
            <a:r>
              <a:rPr lang="en-US" u="sng" dirty="0"/>
              <a:t>even</a:t>
            </a:r>
            <a:r>
              <a:rPr lang="en-US" dirty="0"/>
              <a:t> number of registers. </a:t>
            </a:r>
          </a:p>
          <a:p>
            <a:endParaRPr lang="en-US" dirty="0"/>
          </a:p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is used since there is no other reason to push it.</a:t>
            </a:r>
          </a:p>
        </p:txBody>
      </p:sp>
    </p:spTree>
    <p:extLst>
      <p:ext uri="{BB962C8B-B14F-4D97-AF65-F5344CB8AC3E}">
        <p14:creationId xmlns:p14="http://schemas.microsoft.com/office/powerpoint/2010/main" val="26585033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DF71F-ACEB-4FE8-95AF-53B03E5BEB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DA298AD-F1D5-45E4-817D-1116FE7FA9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Passing Parameters</a:t>
            </a:r>
            <a:br>
              <a:rPr lang="en-US" dirty="0"/>
            </a:br>
            <a:r>
              <a:rPr lang="en-US" dirty="0"/>
              <a:t>and Saving the Return Value</a:t>
            </a:r>
          </a:p>
        </p:txBody>
      </p:sp>
    </p:spTree>
    <p:extLst>
      <p:ext uri="{BB962C8B-B14F-4D97-AF65-F5344CB8AC3E}">
        <p14:creationId xmlns:p14="http://schemas.microsoft.com/office/powerpoint/2010/main" val="2768793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41170"/>
            <a:ext cx="8363894" cy="1144151"/>
          </a:xfrm>
        </p:spPr>
        <p:txBody>
          <a:bodyPr>
            <a:normAutofit/>
          </a:bodyPr>
          <a:lstStyle/>
          <a:p>
            <a:r>
              <a:rPr lang="en-US" dirty="0"/>
              <a:t>ARM PROCEDURE CALL STANDARD</a:t>
            </a:r>
            <a:br>
              <a:rPr lang="en-US" dirty="0"/>
            </a:br>
            <a:r>
              <a:rPr lang="en-US" sz="3100" dirty="0"/>
              <a:t>Registers used as input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646431"/>
              </p:ext>
            </p:extLst>
          </p:nvPr>
        </p:nvGraphicFramePr>
        <p:xfrm>
          <a:off x="2133601" y="2069431"/>
          <a:ext cx="7387388" cy="3320717"/>
        </p:xfrm>
        <a:graphic>
          <a:graphicData uri="http://schemas.openxmlformats.org/drawingml/2006/table">
            <a:tbl>
              <a:tblPr firstRow="1" firstCol="1" bandRow="1"/>
              <a:tblGrid>
                <a:gridCol w="1655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2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87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345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Register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AAPCS Name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 Usage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A1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1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st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parameter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R1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A2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nd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parameter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A3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3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rd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 parameter</a:t>
                      </a: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R3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A4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4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th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 parameter</a:t>
                      </a: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839453" y="5773236"/>
            <a:ext cx="62804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register is used for each 8, 16 or 32-bit parameter.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sequential register pair is used for each 64-bit parameter.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70695" y="2273969"/>
            <a:ext cx="186489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APCS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ARM Procedure Call Standard,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AAPCS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Procedure Call Standard for the ARM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994455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1" y="1981200"/>
          <a:ext cx="8241031" cy="4569489"/>
        </p:xfrm>
        <a:graphic>
          <a:graphicData uri="http://schemas.openxmlformats.org/drawingml/2006/table">
            <a:tbl>
              <a:tblPr/>
              <a:tblGrid>
                <a:gridCol w="3159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19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55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rgbClr val="FFFFFF"/>
                          </a:solidFill>
                          <a:effectLst/>
                          <a:latin typeface="Consolas"/>
                          <a:ea typeface="Consolas"/>
                        </a:rPr>
                        <a:t>C Function Call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rgbClr val="FFFFFF"/>
                          </a:solidFill>
                          <a:effectLst/>
                          <a:latin typeface="Consolas"/>
                          <a:ea typeface="Consolas"/>
                        </a:rPr>
                        <a:t>Compiler Output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284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1125" algn="l"/>
                          <a:tab pos="7429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</a:rPr>
                        <a:t>	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91521" y="2554792"/>
            <a:ext cx="5017769" cy="3791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R0,=x8		// R0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  <a:sym typeface="Wingdings" panose="05000000000000000000" pitchFamily="2" charset="2"/>
              </a:rPr>
              <a:t>&lt;-- &amp;x8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/>
              <a:ea typeface="Consolas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LDRSB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,[R0]		// R0 &lt;-- x8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R1,=y32		// R1 &lt;-- &amp;y32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,[R1]		// R1 &lt;-- y32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R2,=z64		// R2 &lt;-- &amp;z64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LDRD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R2,R3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,[R2]		// R3.R2 &lt;-- z64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BL	foo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●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LDR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,=5		// R0 &lt;-- 5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,=-10		// R1 &lt;-- -10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,=20		// R3.R2 &lt;-- 20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,=0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BL	foo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924050" y="2603852"/>
            <a:ext cx="2876550" cy="3377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int8_t		x8;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int32_t	y32;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int64_t	z64;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x8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y32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z64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);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5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, -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20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290" y="733930"/>
            <a:ext cx="6377984" cy="1091594"/>
          </a:xfrm>
        </p:spPr>
        <p:txBody>
          <a:bodyPr>
            <a:normAutofit/>
          </a:bodyPr>
          <a:lstStyle/>
          <a:p>
            <a:r>
              <a:rPr lang="en-US" dirty="0"/>
              <a:t>PARAMETER PASSING</a:t>
            </a:r>
            <a:br>
              <a:rPr lang="en-US" sz="3100" dirty="0"/>
            </a:br>
            <a:r>
              <a:rPr lang="en-US" sz="3100" dirty="0">
                <a:solidFill>
                  <a:srgbClr val="FF0000"/>
                </a:solidFill>
              </a:rPr>
              <a:t>void foo(int8_t, int32_t, int64_t) ;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581400" y="3383280"/>
            <a:ext cx="1779270" cy="8077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4522470" y="5109210"/>
            <a:ext cx="8382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toShape 2" descr="Image result for important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7361747" y="4039306"/>
            <a:ext cx="4156485" cy="1069904"/>
            <a:chOff x="4564920" y="6483112"/>
            <a:chExt cx="4266600" cy="1044495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4564920" y="6483112"/>
              <a:ext cx="4266600" cy="104449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Inside foo, you must use the register copies of the actual arguments.</a:t>
              </a:r>
            </a:p>
          </p:txBody>
        </p:sp>
        <p:pic>
          <p:nvPicPr>
            <p:cNvPr id="16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606312" y="6539715"/>
              <a:ext cx="971826" cy="838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</p:grpSp>
      <p:grpSp>
        <p:nvGrpSpPr>
          <p:cNvPr id="10" name="Group 9"/>
          <p:cNvGrpSpPr/>
          <p:nvPr/>
        </p:nvGrpSpPr>
        <p:grpSpPr>
          <a:xfrm>
            <a:off x="2596516" y="2632509"/>
            <a:ext cx="4649859" cy="1736308"/>
            <a:chOff x="1072515" y="2672673"/>
            <a:chExt cx="4649859" cy="1736308"/>
          </a:xfrm>
        </p:grpSpPr>
        <p:sp>
          <p:nvSpPr>
            <p:cNvPr id="3" name="Rectangle 2"/>
            <p:cNvSpPr/>
            <p:nvPr/>
          </p:nvSpPr>
          <p:spPr>
            <a:xfrm>
              <a:off x="1072515" y="4176571"/>
              <a:ext cx="297180" cy="23241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713784" y="2672673"/>
              <a:ext cx="764175" cy="44681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571896" y="4176571"/>
              <a:ext cx="413113" cy="23241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709976" y="3131800"/>
              <a:ext cx="767983" cy="48770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217691" y="4165952"/>
              <a:ext cx="413113" cy="232410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709158" y="3651523"/>
              <a:ext cx="1013216" cy="459014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640058" y="4961925"/>
            <a:ext cx="4361900" cy="1019775"/>
            <a:chOff x="1116058" y="4961924"/>
            <a:chExt cx="4361900" cy="1019775"/>
          </a:xfrm>
        </p:grpSpPr>
        <p:sp>
          <p:nvSpPr>
            <p:cNvPr id="19" name="Rectangle 18"/>
            <p:cNvSpPr/>
            <p:nvPr/>
          </p:nvSpPr>
          <p:spPr>
            <a:xfrm>
              <a:off x="1116058" y="4972543"/>
              <a:ext cx="211999" cy="230828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16506" y="5055007"/>
              <a:ext cx="761452" cy="20739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490253" y="4972543"/>
              <a:ext cx="413113" cy="23241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709157" y="5279923"/>
              <a:ext cx="768801" cy="278548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121354" y="4961924"/>
              <a:ext cx="301807" cy="242238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709159" y="5575994"/>
              <a:ext cx="768799" cy="405705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5" name="Rectangle 24"/>
          <p:cNvSpPr/>
          <p:nvPr/>
        </p:nvSpPr>
        <p:spPr>
          <a:xfrm>
            <a:off x="5360670" y="2554792"/>
            <a:ext cx="4546590" cy="14845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375909" y="5055008"/>
            <a:ext cx="4546465" cy="1291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3135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62276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HOW COMPILER HANDLES RETURN VALUES</a:t>
            </a:r>
            <a:br>
              <a:rPr lang="en-US" dirty="0"/>
            </a:br>
            <a:r>
              <a:rPr lang="en-US" sz="3100" dirty="0"/>
              <a:t>Promoting a return value from 8 to 16, 32 or 64 bits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F23004E-BCA9-86FA-748C-7B22211CF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831" y="1906427"/>
            <a:ext cx="6712748" cy="46147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07457653-FC13-372B-3B5A-1CD12DF341E6}"/>
              </a:ext>
            </a:extLst>
          </p:cNvPr>
          <p:cNvSpPr/>
          <p:nvPr/>
        </p:nvSpPr>
        <p:spPr>
          <a:xfrm>
            <a:off x="2651831" y="4978687"/>
            <a:ext cx="6712748" cy="1542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A9E31D-D50A-ED61-03D6-8F796DE45A6D}"/>
              </a:ext>
            </a:extLst>
          </p:cNvPr>
          <p:cNvSpPr txBox="1"/>
          <p:nvPr/>
        </p:nvSpPr>
        <p:spPr>
          <a:xfrm>
            <a:off x="10397141" y="5379025"/>
            <a:ext cx="15604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you do variables in Assembler</a:t>
            </a: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4164414B-2FAC-1C7B-C534-7EF3043D24D4}"/>
              </a:ext>
            </a:extLst>
          </p:cNvPr>
          <p:cNvSpPr/>
          <p:nvPr/>
        </p:nvSpPr>
        <p:spPr>
          <a:xfrm rot="10800000">
            <a:off x="9382786" y="559837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FAFC0E-9DB1-249A-148D-CC9948082F08}"/>
              </a:ext>
            </a:extLst>
          </p:cNvPr>
          <p:cNvSpPr txBox="1"/>
          <p:nvPr/>
        </p:nvSpPr>
        <p:spPr>
          <a:xfrm>
            <a:off x="154483" y="5332858"/>
            <a:ext cx="23978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</a:t>
            </a:r>
            <a:r>
              <a:rPr kumimoji="0" lang="en-US" sz="3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</a:t>
            </a: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  <a:b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 a=0xaa;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 b=0xbbbb;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 c=0xcccccccc;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Long int d=0xEEEEE...DDDD…;</a:t>
            </a:r>
          </a:p>
        </p:txBody>
      </p:sp>
    </p:spTree>
    <p:extLst>
      <p:ext uri="{BB962C8B-B14F-4D97-AF65-F5344CB8AC3E}">
        <p14:creationId xmlns:p14="http://schemas.microsoft.com/office/powerpoint/2010/main" val="4056386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1357"/>
            <a:ext cx="8504263" cy="648264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795670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 are at most 32 bits wide.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Some bits are used to specify the operation code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Some bits are used to specify register operands</a:t>
            </a:r>
          </a:p>
          <a:p>
            <a:r>
              <a:rPr lang="en-US" dirty="0">
                <a:solidFill>
                  <a:schemeClr val="tx1"/>
                </a:solidFill>
              </a:rPr>
              <a:t>All addresses are 32 bits wide.</a:t>
            </a:r>
          </a:p>
          <a:p>
            <a:r>
              <a:rPr lang="en-US" dirty="0">
                <a:solidFill>
                  <a:srgbClr val="FF0000"/>
                </a:solidFill>
              </a:rPr>
              <a:t>Instructions itself have no room for a 32-bit address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E1019CC7-D9FD-4527-AE96-A671C28CE6FE}"/>
              </a:ext>
            </a:extLst>
          </p:cNvPr>
          <p:cNvGraphicFramePr>
            <a:graphicFrameLocks noGrp="1"/>
          </p:cNvGraphicFramePr>
          <p:nvPr/>
        </p:nvGraphicFramePr>
        <p:xfrm>
          <a:off x="2506579" y="4221051"/>
          <a:ext cx="6585284" cy="740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808">
                  <a:extLst>
                    <a:ext uri="{9D8B030D-6E8A-4147-A177-3AD203B41FA5}">
                      <a16:colId xmlns:a16="http://schemas.microsoft.com/office/drawing/2014/main" val="2539276723"/>
                    </a:ext>
                  </a:extLst>
                </a:gridCol>
                <a:gridCol w="1232194">
                  <a:extLst>
                    <a:ext uri="{9D8B030D-6E8A-4147-A177-3AD203B41FA5}">
                      <a16:colId xmlns:a16="http://schemas.microsoft.com/office/drawing/2014/main" val="2064677477"/>
                    </a:ext>
                  </a:extLst>
                </a:gridCol>
                <a:gridCol w="590640">
                  <a:extLst>
                    <a:ext uri="{9D8B030D-6E8A-4147-A177-3AD203B41FA5}">
                      <a16:colId xmlns:a16="http://schemas.microsoft.com/office/drawing/2014/main" val="3890823728"/>
                    </a:ext>
                  </a:extLst>
                </a:gridCol>
                <a:gridCol w="3292642">
                  <a:extLst>
                    <a:ext uri="{9D8B030D-6E8A-4147-A177-3AD203B41FA5}">
                      <a16:colId xmlns:a16="http://schemas.microsoft.com/office/drawing/2014/main" val="826898363"/>
                    </a:ext>
                  </a:extLst>
                </a:gridCol>
              </a:tblGrid>
              <a:tr h="370422">
                <a:tc gridSpan="3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9955722"/>
                  </a:ext>
                </a:extLst>
              </a:tr>
              <a:tr h="370422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586358"/>
                  </a:ext>
                </a:extLst>
              </a:tr>
            </a:tbl>
          </a:graphicData>
        </a:graphic>
      </p:graphicFrame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4EF8DB1A-8D9A-4E72-95B3-B133C72845FA}"/>
              </a:ext>
            </a:extLst>
          </p:cNvPr>
          <p:cNvGraphicFramePr>
            <a:graphicFrameLocks noGrp="1"/>
          </p:cNvGraphicFramePr>
          <p:nvPr/>
        </p:nvGraphicFramePr>
        <p:xfrm>
          <a:off x="3886192" y="5356354"/>
          <a:ext cx="6096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3927672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4998233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675161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 of 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58635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8EA207F-5847-4868-8B92-7D07F0D186AC}"/>
              </a:ext>
            </a:extLst>
          </p:cNvPr>
          <p:cNvSpPr txBox="1"/>
          <p:nvPr/>
        </p:nvSpPr>
        <p:spPr>
          <a:xfrm>
            <a:off x="1231184" y="4575643"/>
            <a:ext cx="1322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Times New Roman" panose="02020603050405020304" pitchFamily="18" charset="0"/>
              </a:rPr>
              <a:t>reg,x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0" name="Arrow: Up 19">
            <a:extLst>
              <a:ext uri="{FF2B5EF4-FFF2-40B4-BE49-F238E27FC236}">
                <a16:creationId xmlns:a16="http://schemas.microsoft.com/office/drawing/2014/main" id="{5635448F-5892-431A-B643-7E73628AF46C}"/>
              </a:ext>
            </a:extLst>
          </p:cNvPr>
          <p:cNvSpPr/>
          <p:nvPr/>
        </p:nvSpPr>
        <p:spPr>
          <a:xfrm>
            <a:off x="6513129" y="4964694"/>
            <a:ext cx="490194" cy="741679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604A4E-8B1E-4FFC-BF3B-65E3BBD7DF1B}"/>
              </a:ext>
            </a:extLst>
          </p:cNvPr>
          <p:cNvSpPr txBox="1"/>
          <p:nvPr/>
        </p:nvSpPr>
        <p:spPr>
          <a:xfrm>
            <a:off x="2489229" y="4590096"/>
            <a:ext cx="1619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Opcode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969BD-F89E-4452-9D30-7C422094811A}"/>
              </a:ext>
            </a:extLst>
          </p:cNvPr>
          <p:cNvSpPr txBox="1"/>
          <p:nvPr/>
        </p:nvSpPr>
        <p:spPr>
          <a:xfrm>
            <a:off x="3955894" y="4590096"/>
            <a:ext cx="136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Register #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E0DFC3-A81F-4C1D-BCAC-9506C95723EC}"/>
              </a:ext>
            </a:extLst>
          </p:cNvPr>
          <p:cNvSpPr txBox="1"/>
          <p:nvPr/>
        </p:nvSpPr>
        <p:spPr>
          <a:xfrm>
            <a:off x="5263279" y="4594332"/>
            <a:ext cx="3882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ENOUGH BITS LEFT OVER!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7058A4-9804-4813-B20A-EE49C0CCAE61}"/>
              </a:ext>
            </a:extLst>
          </p:cNvPr>
          <p:cNvCxnSpPr/>
          <p:nvPr/>
        </p:nvCxnSpPr>
        <p:spPr>
          <a:xfrm>
            <a:off x="2636955" y="5164148"/>
            <a:ext cx="6097963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9AAC250-C9E5-4D38-A686-37641EE4FE23}"/>
              </a:ext>
            </a:extLst>
          </p:cNvPr>
          <p:cNvSpPr txBox="1"/>
          <p:nvPr/>
        </p:nvSpPr>
        <p:spPr>
          <a:xfrm>
            <a:off x="4931203" y="4979482"/>
            <a:ext cx="140695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 wide</a:t>
            </a:r>
          </a:p>
        </p:txBody>
      </p:sp>
    </p:spTree>
    <p:extLst>
      <p:ext uri="{BB962C8B-B14F-4D97-AF65-F5344CB8AC3E}">
        <p14:creationId xmlns:p14="http://schemas.microsoft.com/office/powerpoint/2010/main" val="12321147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5639" y="733150"/>
            <a:ext cx="8685561" cy="798872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15639" y="1756612"/>
            <a:ext cx="10438161" cy="48647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Solution: </a:t>
            </a:r>
            <a:r>
              <a:rPr lang="en-US" dirty="0">
                <a:solidFill>
                  <a:schemeClr val="tx1"/>
                </a:solidFill>
              </a:rPr>
              <a:t>Use an address “displacement”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Displacement: Address distance from instruction to operand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Assumes operand is at an address </a:t>
            </a:r>
            <a:r>
              <a:rPr lang="en-US" i="1" u="sng" dirty="0">
                <a:solidFill>
                  <a:schemeClr val="tx1"/>
                </a:solidFill>
              </a:rPr>
              <a:t>near</a:t>
            </a:r>
            <a:r>
              <a:rPr lang="en-US" dirty="0">
                <a:solidFill>
                  <a:schemeClr val="tx1"/>
                </a:solidFill>
              </a:rPr>
              <a:t> the instruction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Displacements = smaller numbers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fewer bits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90974D-3472-45E1-AE40-169C7919F1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289835"/>
              </p:ext>
            </p:extLst>
          </p:nvPr>
        </p:nvGraphicFramePr>
        <p:xfrm>
          <a:off x="3465923" y="4099243"/>
          <a:ext cx="5935016" cy="2026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8292">
                  <a:extLst>
                    <a:ext uri="{9D8B030D-6E8A-4147-A177-3AD203B41FA5}">
                      <a16:colId xmlns:a16="http://schemas.microsoft.com/office/drawing/2014/main" val="113777366"/>
                    </a:ext>
                  </a:extLst>
                </a:gridCol>
                <a:gridCol w="572580">
                  <a:extLst>
                    <a:ext uri="{9D8B030D-6E8A-4147-A177-3AD203B41FA5}">
                      <a16:colId xmlns:a16="http://schemas.microsoft.com/office/drawing/2014/main" val="369761501"/>
                    </a:ext>
                  </a:extLst>
                </a:gridCol>
                <a:gridCol w="1013027">
                  <a:extLst>
                    <a:ext uri="{9D8B030D-6E8A-4147-A177-3AD203B41FA5}">
                      <a16:colId xmlns:a16="http://schemas.microsoft.com/office/drawing/2014/main" val="2093697089"/>
                    </a:ext>
                  </a:extLst>
                </a:gridCol>
                <a:gridCol w="1101117">
                  <a:extLst>
                    <a:ext uri="{9D8B030D-6E8A-4147-A177-3AD203B41FA5}">
                      <a16:colId xmlns:a16="http://schemas.microsoft.com/office/drawing/2014/main" val="1980670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Address 1000000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LDR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R0,x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903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177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4952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393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Address 1000500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x: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.word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1000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859404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C92A61-725C-4024-8B7A-BD7D80AF82A5}"/>
              </a:ext>
            </a:extLst>
          </p:cNvPr>
          <p:cNvCxnSpPr/>
          <p:nvPr/>
        </p:nvCxnSpPr>
        <p:spPr>
          <a:xfrm>
            <a:off x="5577527" y="4294342"/>
            <a:ext cx="109350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D2A49D-DC9F-4E1D-9828-EADD56C76A73}"/>
              </a:ext>
            </a:extLst>
          </p:cNvPr>
          <p:cNvCxnSpPr>
            <a:cxnSpLocks/>
          </p:cNvCxnSpPr>
          <p:nvPr/>
        </p:nvCxnSpPr>
        <p:spPr>
          <a:xfrm>
            <a:off x="5577527" y="5917323"/>
            <a:ext cx="7352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91FD5C-ADB3-4B4F-9814-242010C78800}"/>
              </a:ext>
            </a:extLst>
          </p:cNvPr>
          <p:cNvCxnSpPr/>
          <p:nvPr/>
        </p:nvCxnSpPr>
        <p:spPr>
          <a:xfrm>
            <a:off x="4729113" y="4473453"/>
            <a:ext cx="0" cy="116892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1A8190-314C-4D54-80EC-7EBBCEA70199}"/>
              </a:ext>
            </a:extLst>
          </p:cNvPr>
          <p:cNvSpPr txBox="1"/>
          <p:nvPr/>
        </p:nvSpPr>
        <p:spPr>
          <a:xfrm>
            <a:off x="3673311" y="4799993"/>
            <a:ext cx="223419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Displacement = 500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21711" y="5642376"/>
            <a:ext cx="2629841" cy="471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34468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6790"/>
            <a:ext cx="8514719" cy="667480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2465" y="1542964"/>
            <a:ext cx="5712976" cy="5094457"/>
          </a:xfrm>
        </p:spPr>
        <p:txBody>
          <a:bodyPr>
            <a:normAutofit/>
          </a:bodyPr>
          <a:lstStyle/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Instructions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are stored in </a:t>
            </a:r>
            <a:r>
              <a:rPr lang="en-US" b="1" dirty="0">
                <a:solidFill>
                  <a:srgbClr val="FF0000"/>
                </a:solidFill>
              </a:rPr>
              <a:t>read-only memory</a:t>
            </a:r>
          </a:p>
          <a:p>
            <a:endParaRPr lang="en-US" dirty="0"/>
          </a:p>
          <a:p>
            <a:r>
              <a:rPr lang="en-US" b="1" dirty="0">
                <a:solidFill>
                  <a:srgbClr val="92D050"/>
                </a:solidFill>
              </a:rPr>
              <a:t>Variables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are stored in </a:t>
            </a:r>
            <a:r>
              <a:rPr lang="en-US" b="1" dirty="0">
                <a:solidFill>
                  <a:srgbClr val="92D050"/>
                </a:solidFill>
              </a:rPr>
              <a:t>read/write memory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Instructions and variables are </a:t>
            </a:r>
            <a:r>
              <a:rPr lang="en-US" b="1" dirty="0">
                <a:solidFill>
                  <a:srgbClr val="FF0000"/>
                </a:solidFill>
              </a:rPr>
              <a:t>too far apart </a:t>
            </a:r>
            <a:r>
              <a:rPr lang="en-US" dirty="0">
                <a:solidFill>
                  <a:schemeClr val="tx1"/>
                </a:solidFill>
              </a:rPr>
              <a:t>for a small displacement.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magnitude of the displacement would require too many bits, to fit inside an instruction.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D5276BD-00A3-4535-8126-626B71FEAA25}"/>
              </a:ext>
            </a:extLst>
          </p:cNvPr>
          <p:cNvGraphicFramePr>
            <a:graphicFrameLocks noGrp="1"/>
          </p:cNvGraphicFramePr>
          <p:nvPr/>
        </p:nvGraphicFramePr>
        <p:xfrm>
          <a:off x="8424420" y="1708083"/>
          <a:ext cx="2045618" cy="433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618">
                  <a:extLst>
                    <a:ext uri="{9D8B030D-6E8A-4147-A177-3AD203B41FA5}">
                      <a16:colId xmlns:a16="http://schemas.microsoft.com/office/drawing/2014/main" val="3531492142"/>
                    </a:ext>
                  </a:extLst>
                </a:gridCol>
              </a:tblGrid>
              <a:tr h="1444832">
                <a:tc>
                  <a:txBody>
                    <a:bodyPr/>
                    <a:lstStyle/>
                    <a:p>
                      <a:pPr algn="ctr"/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08601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ctr"/>
                      <a:endParaRPr lang="en-US" b="1" baseline="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1">
                          <a:lumMod val="85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1103767782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ctr"/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0703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29DC207-0606-4E09-BFD9-0D088FE93B04}"/>
              </a:ext>
            </a:extLst>
          </p:cNvPr>
          <p:cNvSpPr txBox="1"/>
          <p:nvPr/>
        </p:nvSpPr>
        <p:spPr>
          <a:xfrm>
            <a:off x="8316013" y="1674674"/>
            <a:ext cx="22624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Range: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20000000-2002FFFF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62184-5346-4211-833A-4089BD89D214}"/>
              </a:ext>
            </a:extLst>
          </p:cNvPr>
          <p:cNvSpPr txBox="1"/>
          <p:nvPr/>
        </p:nvSpPr>
        <p:spPr>
          <a:xfrm>
            <a:off x="8391424" y="3229000"/>
            <a:ext cx="21116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400,556,032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74661-3D0A-4FAC-98BA-7C4DECD507E4}"/>
              </a:ext>
            </a:extLst>
          </p:cNvPr>
          <p:cNvSpPr txBox="1"/>
          <p:nvPr/>
        </p:nvSpPr>
        <p:spPr>
          <a:xfrm>
            <a:off x="8254737" y="4565252"/>
            <a:ext cx="2384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Range: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0800000-081FFFFF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EA6EFC2-82D2-4576-9E37-A7F10933CE4D}"/>
              </a:ext>
            </a:extLst>
          </p:cNvPr>
          <p:cNvSpPr/>
          <p:nvPr/>
        </p:nvSpPr>
        <p:spPr>
          <a:xfrm>
            <a:off x="8056776" y="1708084"/>
            <a:ext cx="245097" cy="1383909"/>
          </a:xfrm>
          <a:prstGeom prst="leftBrace">
            <a:avLst/>
          </a:prstGeom>
          <a:ln w="190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0BA72DB3-E238-4CB8-B7CB-479625CE0BD2}"/>
              </a:ext>
            </a:extLst>
          </p:cNvPr>
          <p:cNvSpPr/>
          <p:nvPr/>
        </p:nvSpPr>
        <p:spPr>
          <a:xfrm>
            <a:off x="8118050" y="4588595"/>
            <a:ext cx="245097" cy="1383909"/>
          </a:xfrm>
          <a:prstGeom prst="leftBrace">
            <a:avLst/>
          </a:prstGeom>
          <a:ln w="190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E361D1-BC18-4F4A-A7F1-E7F024F140C2}"/>
              </a:ext>
            </a:extLst>
          </p:cNvPr>
          <p:cNvSpPr txBox="1"/>
          <p:nvPr/>
        </p:nvSpPr>
        <p:spPr>
          <a:xfrm>
            <a:off x="6645442" y="2076872"/>
            <a:ext cx="14113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Read/Write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61E-16AA-4B85-91B3-4E71D3707493}"/>
              </a:ext>
            </a:extLst>
          </p:cNvPr>
          <p:cNvSpPr txBox="1"/>
          <p:nvPr/>
        </p:nvSpPr>
        <p:spPr>
          <a:xfrm>
            <a:off x="6601326" y="4970026"/>
            <a:ext cx="1516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Read-Only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60790E-54A7-412B-B095-56292A5E9659}"/>
              </a:ext>
            </a:extLst>
          </p:cNvPr>
          <p:cNvSpPr/>
          <p:nvPr/>
        </p:nvSpPr>
        <p:spPr>
          <a:xfrm>
            <a:off x="8424420" y="2445662"/>
            <a:ext cx="20456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(Variables, Stack, and Heap)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85146F-46D4-48F1-9F31-3314556081C4}"/>
              </a:ext>
            </a:extLst>
          </p:cNvPr>
          <p:cNvSpPr/>
          <p:nvPr/>
        </p:nvSpPr>
        <p:spPr>
          <a:xfrm>
            <a:off x="8624739" y="5293192"/>
            <a:ext cx="16449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(Instructions &amp; Constants)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D0FBAB-B4F7-46A9-98FE-7DFF17E7E113}"/>
              </a:ext>
            </a:extLst>
          </p:cNvPr>
          <p:cNvSpPr/>
          <p:nvPr/>
        </p:nvSpPr>
        <p:spPr>
          <a:xfrm>
            <a:off x="8391423" y="3794264"/>
            <a:ext cx="215873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-2500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(requires 29 bits!)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C0AF71-58C3-435A-9067-1268D4A3A2FE}"/>
              </a:ext>
            </a:extLst>
          </p:cNvPr>
          <p:cNvCxnSpPr/>
          <p:nvPr/>
        </p:nvCxnSpPr>
        <p:spPr>
          <a:xfrm flipV="1">
            <a:off x="9447225" y="3229001"/>
            <a:ext cx="0" cy="3109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28D3B63-CBC6-46D1-8622-28F465E10A5C}"/>
              </a:ext>
            </a:extLst>
          </p:cNvPr>
          <p:cNvCxnSpPr/>
          <p:nvPr/>
        </p:nvCxnSpPr>
        <p:spPr>
          <a:xfrm>
            <a:off x="9447225" y="3875331"/>
            <a:ext cx="0" cy="689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434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4458"/>
            <a:ext cx="8432074" cy="586092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13947" y="1847207"/>
            <a:ext cx="5530970" cy="48022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Solution: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Copy the operand address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(which is a read-only constant)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into a register</a:t>
            </a:r>
          </a:p>
          <a:p>
            <a:pPr marL="457200" lvl="1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		</a:t>
            </a:r>
          </a:p>
          <a:p>
            <a:pPr marL="457200" lvl="1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		then …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Use that register to provide the address in a second instruction</a:t>
            </a:r>
          </a:p>
          <a:p>
            <a:endParaRPr lang="en-US" sz="19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1407CD-7AEB-4BBA-A9FF-C9971F83D7B3}"/>
              </a:ext>
            </a:extLst>
          </p:cNvPr>
          <p:cNvGraphicFramePr>
            <a:graphicFrameLocks noGrp="1"/>
          </p:cNvGraphicFramePr>
          <p:nvPr/>
        </p:nvGraphicFramePr>
        <p:xfrm>
          <a:off x="8424420" y="1708083"/>
          <a:ext cx="2045618" cy="433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618">
                  <a:extLst>
                    <a:ext uri="{9D8B030D-6E8A-4147-A177-3AD203B41FA5}">
                      <a16:colId xmlns:a16="http://schemas.microsoft.com/office/drawing/2014/main" val="3531492142"/>
                    </a:ext>
                  </a:extLst>
                </a:gridCol>
              </a:tblGrid>
              <a:tr h="14448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x: .word 1000</a:t>
                      </a:r>
                    </a:p>
                    <a:p>
                      <a:pPr algn="ctr"/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08601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Unused</a:t>
                      </a:r>
                      <a:br>
                        <a:rPr lang="en-US" dirty="0"/>
                      </a:br>
                      <a:r>
                        <a:rPr lang="en-US" dirty="0"/>
                        <a:t>Addresses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1">
                          <a:lumMod val="85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1103767782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l"/>
                      <a:endParaRPr lang="en-US" sz="16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070340"/>
                  </a:ext>
                </a:extLst>
              </a:tr>
            </a:tbl>
          </a:graphicData>
        </a:graphic>
      </p:graphicFrame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8E43FAC-290D-40A8-9E04-AF60E062C9A2}"/>
              </a:ext>
            </a:extLst>
          </p:cNvPr>
          <p:cNvCxnSpPr>
            <a:cxnSpLocks/>
            <a:stCxn id="14" idx="3"/>
            <a:endCxn id="6" idx="2"/>
          </p:cNvCxnSpPr>
          <p:nvPr/>
        </p:nvCxnSpPr>
        <p:spPr>
          <a:xfrm flipV="1">
            <a:off x="9027738" y="6053356"/>
            <a:ext cx="426563" cy="363936"/>
          </a:xfrm>
          <a:prstGeom prst="bentConnector2">
            <a:avLst/>
          </a:prstGeom>
          <a:ln w="28575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DC96462-497E-4ED9-A649-65ADF74FEDF7}"/>
              </a:ext>
            </a:extLst>
          </p:cNvPr>
          <p:cNvSpPr txBox="1"/>
          <p:nvPr/>
        </p:nvSpPr>
        <p:spPr>
          <a:xfrm>
            <a:off x="2366211" y="6124904"/>
            <a:ext cx="6661527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assembly, the value represented by the identifier “x” comes from the symbol table, and is the address where the variable x is located.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9AD154A-4421-4CC6-87DE-65862400BE68}"/>
              </a:ext>
            </a:extLst>
          </p:cNvPr>
          <p:cNvCxnSpPr>
            <a:cxnSpLocks/>
          </p:cNvCxnSpPr>
          <p:nvPr/>
        </p:nvCxnSpPr>
        <p:spPr>
          <a:xfrm>
            <a:off x="8946823" y="1465872"/>
            <a:ext cx="1000813" cy="586714"/>
          </a:xfrm>
          <a:prstGeom prst="bentConnector3">
            <a:avLst>
              <a:gd name="adj1" fmla="val 98980"/>
            </a:avLst>
          </a:prstGeom>
          <a:ln w="28575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141B5F4-ECE0-4B33-AFD2-C8BBC6A9BA79}"/>
              </a:ext>
            </a:extLst>
          </p:cNvPr>
          <p:cNvSpPr txBox="1"/>
          <p:nvPr/>
        </p:nvSpPr>
        <p:spPr>
          <a:xfrm>
            <a:off x="4896853" y="1310549"/>
            <a:ext cx="3951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“x” is a variable whose content is 1000</a:t>
            </a: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3FABAFB-141D-4D5C-B93F-CB30CBE25256}"/>
              </a:ext>
            </a:extLst>
          </p:cNvPr>
          <p:cNvSpPr/>
          <p:nvPr/>
        </p:nvSpPr>
        <p:spPr>
          <a:xfrm>
            <a:off x="8056776" y="1708084"/>
            <a:ext cx="245097" cy="138390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0B355E9B-F11C-46EF-8A9A-F6DDDE1BFDD5}"/>
              </a:ext>
            </a:extLst>
          </p:cNvPr>
          <p:cNvSpPr/>
          <p:nvPr/>
        </p:nvSpPr>
        <p:spPr>
          <a:xfrm>
            <a:off x="8118050" y="4588595"/>
            <a:ext cx="245097" cy="138390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3A74EA-CCA5-4DA5-9939-88CB80652A6B}"/>
              </a:ext>
            </a:extLst>
          </p:cNvPr>
          <p:cNvSpPr txBox="1"/>
          <p:nvPr/>
        </p:nvSpPr>
        <p:spPr>
          <a:xfrm>
            <a:off x="6697579" y="2076872"/>
            <a:ext cx="1359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Read/Write Memory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0D9956-A1DB-4A56-9A83-E86C6B760B25}"/>
              </a:ext>
            </a:extLst>
          </p:cNvPr>
          <p:cNvSpPr txBox="1"/>
          <p:nvPr/>
        </p:nvSpPr>
        <p:spPr>
          <a:xfrm>
            <a:off x="6864285" y="4970026"/>
            <a:ext cx="12537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Read-Only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C32AD3C-456B-47C5-B9CD-A2B1B93ECADC}"/>
              </a:ext>
            </a:extLst>
          </p:cNvPr>
          <p:cNvSpPr/>
          <p:nvPr/>
        </p:nvSpPr>
        <p:spPr>
          <a:xfrm>
            <a:off x="8382000" y="4588594"/>
            <a:ext cx="208803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R1,[R0]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●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●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temp: .word   x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83EB58-8906-4F61-BE03-D88C61678B04}"/>
              </a:ext>
            </a:extLst>
          </p:cNvPr>
          <p:cNvSpPr/>
          <p:nvPr/>
        </p:nvSpPr>
        <p:spPr>
          <a:xfrm>
            <a:off x="8438562" y="4599371"/>
            <a:ext cx="2031477" cy="1453985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0481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R0,=x</a:t>
            </a:r>
          </a:p>
          <a:p>
            <a:pPr marL="40481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R1,[R0]</a:t>
            </a:r>
          </a:p>
        </p:txBody>
      </p:sp>
    </p:spTree>
    <p:extLst>
      <p:ext uri="{BB962C8B-B14F-4D97-AF65-F5344CB8AC3E}">
        <p14:creationId xmlns:p14="http://schemas.microsoft.com/office/powerpoint/2010/main" val="114400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458" y="733149"/>
            <a:ext cx="8479226" cy="1144151"/>
          </a:xfrm>
        </p:spPr>
        <p:txBody>
          <a:bodyPr>
            <a:normAutofit/>
          </a:bodyPr>
          <a:lstStyle/>
          <a:p>
            <a:r>
              <a:rPr lang="en-US" dirty="0"/>
              <a:t>ARM PROCEDURE CALL STANDARD</a:t>
            </a:r>
            <a:br>
              <a:rPr lang="en-US" dirty="0"/>
            </a:br>
            <a:r>
              <a:rPr lang="en-US" sz="3100" dirty="0"/>
              <a:t>Registers used to return function result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498968"/>
              </p:ext>
            </p:extLst>
          </p:nvPr>
        </p:nvGraphicFramePr>
        <p:xfrm>
          <a:off x="1900990" y="2193759"/>
          <a:ext cx="8205535" cy="3753852"/>
        </p:xfrm>
        <a:graphic>
          <a:graphicData uri="http://schemas.openxmlformats.org/drawingml/2006/table">
            <a:tbl>
              <a:tblPr firstRow="1" firstCol="1" bandRow="1"/>
              <a:tblGrid>
                <a:gridCol w="183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90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Register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AAPCS</a:t>
                      </a:r>
                      <a:br>
                        <a:rPr lang="en-US" sz="2400" b="1" i="1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</a:b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Name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 Usage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91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R0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A1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8, 16 or 32-bit result,</a:t>
                      </a:r>
                      <a:r>
                        <a:rPr lang="en-US" sz="2400" baseline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or the least-significant half of a 64-bit result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562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R1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A2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The most-significant half of a 64-bit result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25750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5181"/>
            <a:ext cx="7974873" cy="997293"/>
          </a:xfrm>
        </p:spPr>
        <p:txBody>
          <a:bodyPr>
            <a:normAutofit/>
          </a:bodyPr>
          <a:lstStyle/>
          <a:p>
            <a:r>
              <a:rPr lang="en-US" dirty="0"/>
              <a:t>SAVING THE RETURN VALUE</a:t>
            </a:r>
            <a:br>
              <a:rPr lang="en-US" dirty="0"/>
            </a:br>
            <a:r>
              <a:rPr lang="en-US" sz="2800" dirty="0"/>
              <a:t>Functions that return an 8, 16 or 32-bit result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527" y="1922948"/>
            <a:ext cx="10108473" cy="4378401"/>
          </a:xfrm>
          <a:prstGeom prst="rect">
            <a:avLst/>
          </a:prstGeom>
        </p:spPr>
      </p:pic>
      <p:sp>
        <p:nvSpPr>
          <p:cNvPr id="4" name="Line Callout 1 (No Border) 3"/>
          <p:cNvSpPr/>
          <p:nvPr/>
        </p:nvSpPr>
        <p:spPr>
          <a:xfrm>
            <a:off x="6892576" y="5397651"/>
            <a:ext cx="4156424" cy="841400"/>
          </a:xfrm>
          <a:prstGeom prst="callout1">
            <a:avLst>
              <a:gd name="adj1" fmla="val -697"/>
              <a:gd name="adj2" fmla="val 13543"/>
              <a:gd name="adj3" fmla="val -41649"/>
              <a:gd name="adj4" fmla="val -4673"/>
            </a:avLst>
          </a:prstGeom>
          <a:noFill/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Functions must provide a full 32-bit representation of return value, even for 8 and 16-bit results.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6278" y="6582312"/>
            <a:ext cx="79665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UPDATE THIS SLIDE!! UPDATE THIS SLIDE!! UPDATE THIS SLIDE!!</a:t>
            </a:r>
          </a:p>
        </p:txBody>
      </p:sp>
    </p:spTree>
    <p:extLst>
      <p:ext uri="{BB962C8B-B14F-4D97-AF65-F5344CB8AC3E}">
        <p14:creationId xmlns:p14="http://schemas.microsoft.com/office/powerpoint/2010/main" val="397542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25128"/>
            <a:ext cx="7962842" cy="1144151"/>
          </a:xfrm>
        </p:spPr>
        <p:txBody>
          <a:bodyPr>
            <a:normAutofit/>
          </a:bodyPr>
          <a:lstStyle/>
          <a:p>
            <a:r>
              <a:rPr lang="en-US" dirty="0"/>
              <a:t>PREPARING THE RETURN VALUE</a:t>
            </a:r>
            <a:br>
              <a:rPr lang="en-US" dirty="0"/>
            </a:br>
            <a:r>
              <a:rPr lang="en-US" sz="3100" dirty="0"/>
              <a:t>Functions that return an 8 or 16-bit result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44843" y="2198505"/>
            <a:ext cx="3863419" cy="3603394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uint32_t Add1(uint32_t x){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   return x + 1;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  <a:p>
            <a:pPr marL="225425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Add1(254) = 255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Add1(255) = 256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Add1(256) = 257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0580A375-621B-4D7B-B684-D7947543C3F8}"/>
              </a:ext>
            </a:extLst>
          </p:cNvPr>
          <p:cNvSpPr txBox="1">
            <a:spLocks/>
          </p:cNvSpPr>
          <p:nvPr/>
        </p:nvSpPr>
        <p:spPr>
          <a:xfrm>
            <a:off x="6379468" y="2198505"/>
            <a:ext cx="4292542" cy="36033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uint8_t Add1(uint8_t 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return x + 1;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2254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Add1(254) = 255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Add1(255) = 0 Why?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Add1(256) = 1 Why?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7D668C0-870D-4D69-A44F-B17128ACEFC3}"/>
              </a:ext>
            </a:extLst>
          </p:cNvPr>
          <p:cNvSpPr/>
          <p:nvPr/>
        </p:nvSpPr>
        <p:spPr>
          <a:xfrm>
            <a:off x="3008019" y="3382251"/>
            <a:ext cx="395926" cy="59388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A71D4704-E02E-4642-BDCB-5635D62EC8E5}"/>
              </a:ext>
            </a:extLst>
          </p:cNvPr>
          <p:cNvSpPr/>
          <p:nvPr/>
        </p:nvSpPr>
        <p:spPr>
          <a:xfrm>
            <a:off x="7765869" y="3382251"/>
            <a:ext cx="395926" cy="59388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B97A7E-22F7-4616-B79B-EE4EC9001D17}"/>
                  </a:ext>
                </a:extLst>
              </p:cNvPr>
              <p:cNvSpPr txBox="1"/>
              <p:nvPr/>
            </p:nvSpPr>
            <p:spPr>
              <a:xfrm>
                <a:off x="1813048" y="6041364"/>
                <a:ext cx="80033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≤ 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𝑢𝑖𝑛𝑡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8_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≤</m:t>
                    </m:r>
                    <m:sSup>
                      <m:sSupPr>
                        <m:ctrlP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e>
                      <m:sup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8</m:t>
                        </m:r>
                      </m:sup>
                    </m:sSup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-1 = 255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B97A7E-22F7-4616-B79B-EE4EC9001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048" y="6041364"/>
                <a:ext cx="8003357" cy="461665"/>
              </a:xfrm>
              <a:prstGeom prst="rect">
                <a:avLst/>
              </a:prstGeom>
              <a:blipFill>
                <a:blip r:embed="rId2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1880937" y="2233863"/>
            <a:ext cx="1239252" cy="296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12832" y="2265947"/>
            <a:ext cx="1058779" cy="296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862136" y="2265946"/>
            <a:ext cx="1459831" cy="2245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41631" y="2306051"/>
            <a:ext cx="1315454" cy="2245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84194" y="4677897"/>
            <a:ext cx="1058779" cy="657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1243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8879"/>
            <a:ext cx="7938779" cy="1144151"/>
          </a:xfrm>
        </p:spPr>
        <p:txBody>
          <a:bodyPr>
            <a:normAutofit/>
          </a:bodyPr>
          <a:lstStyle/>
          <a:p>
            <a:r>
              <a:rPr lang="en-US" dirty="0"/>
              <a:t>PREPARING THE RETURN VALUE</a:t>
            </a:r>
            <a:br>
              <a:rPr lang="en-US" dirty="0"/>
            </a:br>
            <a:r>
              <a:rPr lang="en-US" sz="3100" dirty="0"/>
              <a:t>Functions that return an 8 or 16-bit result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332354" y="1873030"/>
            <a:ext cx="3680458" cy="954391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uint8_t Add1(uint8_t x){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   return x + 1;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Content Placeholder 5"/>
          <p:cNvSpPr txBox="1">
            <a:spLocks/>
          </p:cNvSpPr>
          <p:nvPr/>
        </p:nvSpPr>
        <p:spPr>
          <a:xfrm>
            <a:off x="6626750" y="1892886"/>
            <a:ext cx="3455233" cy="9414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Add1:	ADD	R0,R0,1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UXTB	R0,R0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5">
                <a:extLst>
                  <a:ext uri="{FF2B5EF4-FFF2-40B4-BE49-F238E27FC236}">
                    <a16:creationId xmlns:a16="http://schemas.microsoft.com/office/drawing/2014/main" id="{21FD8566-57DE-4B82-9ACC-AD3FE00401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04767" y="3183805"/>
                <a:ext cx="8663233" cy="34635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	Remember: 	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0 ≤ uint8_t 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e>
                      <m:sup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8</m:t>
                        </m:r>
                      </m:sup>
                    </m:sSup>
                    <m:r>
                      <a:rPr kumimoji="0" lang="en-US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−1  </m:t>
                    </m:r>
                    <m:sSub>
                      <m:sSubPr>
                        <m:ctrlP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(255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10</m:t>
                        </m:r>
                      </m:sub>
                    </m:sSub>
                    <m:r>
                      <a:rPr kumimoji="0" lang="en-US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	So, </a:t>
                </a:r>
                <a:r>
                  <a:rPr kumimoji="0" 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adding 1 to 255 in 8 bits yields 0 due to overflow: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11111111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   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=0⋯⋯00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11111111</m:t>
                    </m:r>
                  </m:oMath>
                </a14:m>
                <a:r>
                  <a:rPr kumimoji="0" 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  (x is zero-extended to fill R0)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Add 1: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𝑅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0+1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=0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⋯⋯01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00000000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  →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⋯⋯0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00000000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Content Placeholder 5">
                <a:extLst>
                  <a:ext uri="{FF2B5EF4-FFF2-40B4-BE49-F238E27FC236}">
                    <a16:creationId xmlns:a16="http://schemas.microsoft.com/office/drawing/2014/main" id="{21FD8566-57DE-4B82-9ACC-AD3FE0040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767" y="3183805"/>
                <a:ext cx="8663233" cy="3463582"/>
              </a:xfrm>
              <a:prstGeom prst="rect">
                <a:avLst/>
              </a:prstGeom>
              <a:blipFill>
                <a:blip r:embed="rId2"/>
                <a:stretch>
                  <a:fillRect l="-774" t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A4291D86-D5FA-4D06-BF06-FA892161E473}"/>
              </a:ext>
            </a:extLst>
          </p:cNvPr>
          <p:cNvSpPr/>
          <p:nvPr/>
        </p:nvSpPr>
        <p:spPr>
          <a:xfrm>
            <a:off x="8692864" y="3882745"/>
            <a:ext cx="1421248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11111111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00000001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00000000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B5EBD-6468-4EAC-ABA4-570FC1EABBAB}"/>
              </a:ext>
            </a:extLst>
          </p:cNvPr>
          <p:cNvSpPr txBox="1"/>
          <p:nvPr/>
        </p:nvSpPr>
        <p:spPr>
          <a:xfrm>
            <a:off x="2004767" y="4482910"/>
            <a:ext cx="1290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Input parameter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5F0108-354A-4001-B2A9-C98FD3E539C3}"/>
              </a:ext>
            </a:extLst>
          </p:cNvPr>
          <p:cNvSpPr txBox="1"/>
          <p:nvPr/>
        </p:nvSpPr>
        <p:spPr>
          <a:xfrm>
            <a:off x="7359194" y="5977140"/>
            <a:ext cx="2828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Return value must be zero-extended from 8-bit result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BAE0D679-2346-4388-85B2-4583D1F418B6}"/>
              </a:ext>
            </a:extLst>
          </p:cNvPr>
          <p:cNvSpPr/>
          <p:nvPr/>
        </p:nvSpPr>
        <p:spPr>
          <a:xfrm>
            <a:off x="5436434" y="2058010"/>
            <a:ext cx="866957" cy="3552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331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BF5440-6DC4-4601-B53A-6D0EEE1BD5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B66DEFF-14C9-40EF-ACFB-18870376E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Preparing and Using the Return Value</a:t>
            </a:r>
          </a:p>
        </p:txBody>
      </p:sp>
    </p:spTree>
    <p:extLst>
      <p:ext uri="{BB962C8B-B14F-4D97-AF65-F5344CB8AC3E}">
        <p14:creationId xmlns:p14="http://schemas.microsoft.com/office/powerpoint/2010/main" val="3614839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41170"/>
            <a:ext cx="8006958" cy="1144151"/>
          </a:xfrm>
        </p:spPr>
        <p:txBody>
          <a:bodyPr>
            <a:normAutofit/>
          </a:bodyPr>
          <a:lstStyle/>
          <a:p>
            <a:r>
              <a:rPr lang="en-US" dirty="0"/>
              <a:t>PREPARING THE RETURN VALUE</a:t>
            </a:r>
            <a:br>
              <a:rPr lang="en-US" dirty="0"/>
            </a:br>
            <a:r>
              <a:rPr lang="en-US" sz="3100" dirty="0"/>
              <a:t>Functions that return an 8 or 16-bit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932504" y="1980932"/>
              <a:ext cx="10345095" cy="4644456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2923255">
                      <a:extLst>
                        <a:ext uri="{9D8B030D-6E8A-4147-A177-3AD203B41FA5}">
                          <a16:colId xmlns:a16="http://schemas.microsoft.com/office/drawing/2014/main" val="1567302233"/>
                        </a:ext>
                      </a:extLst>
                    </a:gridCol>
                    <a:gridCol w="4659028">
                      <a:extLst>
                        <a:ext uri="{9D8B030D-6E8A-4147-A177-3AD203B41FA5}">
                          <a16:colId xmlns:a16="http://schemas.microsoft.com/office/drawing/2014/main" val="991494492"/>
                        </a:ext>
                      </a:extLst>
                    </a:gridCol>
                    <a:gridCol w="2762812">
                      <a:extLst>
                        <a:ext uri="{9D8B030D-6E8A-4147-A177-3AD203B41FA5}">
                          <a16:colId xmlns:a16="http://schemas.microsoft.com/office/drawing/2014/main" val="2292513953"/>
                        </a:ext>
                      </a:extLst>
                    </a:gridCol>
                  </a:tblGrid>
                  <a:tr h="354688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1500" algn="l"/>
                            </a:tabLs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Instruction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operand2 options: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075964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UXTB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189865" algn="l"/>
                            </a:tabLs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Zero extend operand2&lt;7..0&gt;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rowSpan="4">
                      <a:txBody>
                        <a:bodyPr/>
                        <a:lstStyle/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(a register)</a:t>
                          </a:r>
                        </a:p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,ROR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constant</a:t>
                          </a: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(constant=8, 16 or 24)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5296081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UXTH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Zero extend operand2&lt;15..0&gt;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9428779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SXTB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189865" algn="l"/>
                            </a:tabLs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Sign extend operand2&lt;7..0&gt;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3274176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SXTH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Sign extend operand2&lt;15..0&gt;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9229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8585076"/>
                  </p:ext>
                </p:extLst>
              </p:nvPr>
            </p:nvGraphicFramePr>
            <p:xfrm>
              <a:off x="932504" y="1980932"/>
              <a:ext cx="10345095" cy="4644456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2923255">
                      <a:extLst>
                        <a:ext uri="{9D8B030D-6E8A-4147-A177-3AD203B41FA5}">
                          <a16:colId xmlns:a16="http://schemas.microsoft.com/office/drawing/2014/main" val="1567302233"/>
                        </a:ext>
                      </a:extLst>
                    </a:gridCol>
                    <a:gridCol w="4659028">
                      <a:extLst>
                        <a:ext uri="{9D8B030D-6E8A-4147-A177-3AD203B41FA5}">
                          <a16:colId xmlns:a16="http://schemas.microsoft.com/office/drawing/2014/main" val="991494492"/>
                        </a:ext>
                      </a:extLst>
                    </a:gridCol>
                    <a:gridCol w="2762812">
                      <a:extLst>
                        <a:ext uri="{9D8B030D-6E8A-4147-A177-3AD203B41FA5}">
                          <a16:colId xmlns:a16="http://schemas.microsoft.com/office/drawing/2014/main" val="2292513953"/>
                        </a:ext>
                      </a:extLst>
                    </a:gridCol>
                  </a:tblGrid>
                  <a:tr h="354688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1500" algn="l"/>
                            </a:tabLs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Instruction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operand2 options: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075964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UXTB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36932" r="-59608" b="-301705"/>
                          </a:stretch>
                        </a:blipFill>
                      </a:tcPr>
                    </a:tc>
                    <a:tc rowSpan="4">
                      <a:txBody>
                        <a:bodyPr/>
                        <a:lstStyle/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(a register)</a:t>
                          </a:r>
                        </a:p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,ROR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constant</a:t>
                          </a: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constant=8, 16 or 24)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5296081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UXTH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136158" r="-59608" b="-200000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9428779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SXTB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237500" r="-59608" b="-101136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3274176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SXTH 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337500" r="-59608" b="-1136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92296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467305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33151"/>
            <a:ext cx="2432327" cy="590324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504" y="1543867"/>
            <a:ext cx="10389211" cy="5085533"/>
          </a:xfrm>
        </p:spPr>
        <p:txBody>
          <a:bodyPr>
            <a:normAutofit/>
          </a:bodyPr>
          <a:lstStyle/>
          <a:p>
            <a:endParaRPr lang="en-US" b="1" dirty="0"/>
          </a:p>
          <a:p>
            <a:r>
              <a:rPr lang="en-US" b="1" dirty="0">
                <a:solidFill>
                  <a:schemeClr val="tx1"/>
                </a:solidFill>
              </a:rPr>
              <a:t>Call functions using Branch with Link (BL)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Saves the return address in Link Register (LR)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Copies the target address into Program Counter (PC)</a:t>
            </a:r>
          </a:p>
          <a:p>
            <a:pPr>
              <a:spcBef>
                <a:spcPts val="120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Return from a function using BX LR</a:t>
            </a:r>
          </a:p>
          <a:p>
            <a:pPr lvl="1">
              <a:spcBef>
                <a:spcPts val="6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600"/>
              </a:spcBef>
            </a:pPr>
            <a:r>
              <a:rPr lang="en-US" dirty="0">
                <a:solidFill>
                  <a:schemeClr val="tx1"/>
                </a:solidFill>
              </a:rPr>
              <a:t>Copies the return address from LR back into PC</a:t>
            </a:r>
          </a:p>
        </p:txBody>
      </p:sp>
    </p:spTree>
    <p:extLst>
      <p:ext uri="{BB962C8B-B14F-4D97-AF65-F5344CB8AC3E}">
        <p14:creationId xmlns:p14="http://schemas.microsoft.com/office/powerpoint/2010/main" val="2042172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33151"/>
            <a:ext cx="2432327" cy="590324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504" y="1543867"/>
            <a:ext cx="10389211" cy="5085533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Writing functions that call other functions: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Using BL to call another function changes LR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Use PUSH {LR} / POP {LR} to preserve LR</a:t>
            </a:r>
          </a:p>
          <a:p>
            <a:pPr>
              <a:spcBef>
                <a:spcPts val="120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Pass parameters using registers R0-R3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64-bit parameters in consecutive register pairs</a:t>
            </a:r>
          </a:p>
          <a:p>
            <a:pPr>
              <a:spcBef>
                <a:spcPts val="120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Return 8, 16 and 32 bit results using R0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64-bit result returned in R1.R0 register pair</a:t>
            </a:r>
          </a:p>
        </p:txBody>
      </p:sp>
    </p:spTree>
    <p:extLst>
      <p:ext uri="{BB962C8B-B14F-4D97-AF65-F5344CB8AC3E}">
        <p14:creationId xmlns:p14="http://schemas.microsoft.com/office/powerpoint/2010/main" val="2901407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3A00665-C5DC-4A1A-AF43-6D2B817234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9432FD0-BA75-485F-85DE-A073EAD4A8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Coding Conventions</a:t>
            </a:r>
          </a:p>
        </p:txBody>
      </p:sp>
    </p:spTree>
    <p:extLst>
      <p:ext uri="{BB962C8B-B14F-4D97-AF65-F5344CB8AC3E}">
        <p14:creationId xmlns:p14="http://schemas.microsoft.com/office/powerpoint/2010/main" val="22838623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3324"/>
            <a:ext cx="7208863" cy="884897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USAGE CONVENTIONS</a:t>
            </a:r>
            <a:br>
              <a:rPr lang="en-US" dirty="0"/>
            </a:br>
            <a:r>
              <a:rPr lang="en-US" sz="3100" dirty="0"/>
              <a:t>ARM PROCEDURE CALL STANDARD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10024"/>
              </p:ext>
            </p:extLst>
          </p:nvPr>
        </p:nvGraphicFramePr>
        <p:xfrm>
          <a:off x="2205791" y="1640304"/>
          <a:ext cx="7648071" cy="4792575"/>
        </p:xfrm>
        <a:graphic>
          <a:graphicData uri="http://schemas.openxmlformats.org/drawingml/2006/table">
            <a:tbl>
              <a:tblPr firstRow="1" firstCol="1" bandRow="1"/>
              <a:tblGrid>
                <a:gridCol w="12494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0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40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329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AAPCS</a:t>
                      </a:r>
                      <a:b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Name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 Usage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Notes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R0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result /scratch register 1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Do not have to preserve original contents</a:t>
                      </a:r>
                      <a:endParaRPr lang="en-US" sz="1400" b="1" dirty="0">
                        <a:solidFill>
                          <a:srgbClr val="00B05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result /scratch register 2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R2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scratch register 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A4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scratch register 4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R4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1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8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Must preserve original contents</a:t>
                      </a:r>
                      <a:endParaRPr lang="en-US" sz="1400" b="1" dirty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R5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V2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R6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V3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R7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V4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4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R8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V5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5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R9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V6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6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R10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V7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7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V8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8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IP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Intra-Procedure-call scratch register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Arial"/>
                          <a:ea typeface="Arial"/>
                          <a:cs typeface="Calibri"/>
                        </a:rPr>
                        <a:t>Do not have to preserve</a:t>
                      </a: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R13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SP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Stack Pointer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Reserved,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DO NOT USE</a:t>
                      </a:r>
                      <a:endParaRPr lang="en-US" sz="16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R14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LR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Link Register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R15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PC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Program Counter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40978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03139" y="2165408"/>
          <a:ext cx="7840078" cy="3906883"/>
        </p:xfrm>
        <a:graphic>
          <a:graphicData uri="http://schemas.openxmlformats.org/drawingml/2006/table">
            <a:tbl>
              <a:tblPr firstRow="1" firstCol="1" bandRow="1"/>
              <a:tblGrid>
                <a:gridCol w="257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142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only R0-R3,</a:t>
                      </a:r>
                      <a:r>
                        <a:rPr lang="en-US" sz="1600" b="1" i="1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R12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no function call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only R0-R3,</a:t>
                      </a:r>
                      <a:r>
                        <a:rPr lang="en-US" sz="1800" b="1" i="1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R12</a:t>
                      </a:r>
                      <a:b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</a:b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calling another function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238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f1: 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61963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R0-R3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f2: PUSH	{R3,LR}  // See footnote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 R0–R3,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BL	  f3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61963" algn="l"/>
                          <a:tab pos="741363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 R0–R3,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61963" algn="l"/>
                          <a:tab pos="741363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POP	{R3,PC}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3" name="Straight Arrow Connector 12"/>
          <p:cNvCxnSpPr/>
          <p:nvPr/>
        </p:nvCxnSpPr>
        <p:spPr>
          <a:xfrm>
            <a:off x="6016792" y="3569205"/>
            <a:ext cx="0" cy="8191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5994104" y="4712831"/>
            <a:ext cx="9051" cy="8257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2926825" y="3511320"/>
            <a:ext cx="0" cy="120151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08" y="748838"/>
            <a:ext cx="9530987" cy="1144151"/>
          </a:xfrm>
        </p:spPr>
        <p:txBody>
          <a:bodyPr>
            <a:normAutofit/>
          </a:bodyPr>
          <a:lstStyle/>
          <a:p>
            <a:r>
              <a:rPr lang="en-US" dirty="0"/>
              <a:t>FUNCTION CODING CONVENTIONS</a:t>
            </a:r>
            <a:br>
              <a:rPr lang="en-US" dirty="0"/>
            </a:br>
            <a:r>
              <a:rPr lang="en-US" sz="3100" dirty="0"/>
              <a:t>Functions that modify only registers R0 - R3, R12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6559" y="4433207"/>
            <a:ext cx="867594" cy="28166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 flipH="1" flipV="1">
            <a:off x="5915523" y="4543426"/>
            <a:ext cx="2095005" cy="136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8100479" y="4023345"/>
            <a:ext cx="2504501" cy="1015663"/>
            <a:chOff x="6728736" y="2327612"/>
            <a:chExt cx="2998453" cy="1015663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728736" y="2327612"/>
              <a:ext cx="2998453" cy="1015663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Function f3 might modify R0 – R3, R12</a:t>
              </a:r>
            </a:p>
          </p:txBody>
        </p:sp>
        <p:pic>
          <p:nvPicPr>
            <p:cNvPr id="6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B6D2BB-49C8-4A57-AD7F-2FBA1858F09E}"/>
              </a:ext>
            </a:extLst>
          </p:cNvPr>
          <p:cNvSpPr txBox="1"/>
          <p:nvPr/>
        </p:nvSpPr>
        <p:spPr>
          <a:xfrm>
            <a:off x="4608102" y="6182038"/>
            <a:ext cx="495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Adding R3 to push list preserves stack alignment.</a:t>
            </a:r>
          </a:p>
        </p:txBody>
      </p:sp>
    </p:spTree>
    <p:extLst>
      <p:ext uri="{BB962C8B-B14F-4D97-AF65-F5344CB8AC3E}">
        <p14:creationId xmlns:p14="http://schemas.microsoft.com/office/powerpoint/2010/main" val="4074176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33549" y="1953178"/>
          <a:ext cx="6773142" cy="4399446"/>
        </p:xfrm>
        <a:graphic>
          <a:graphicData uri="http://schemas.openxmlformats.org/drawingml/2006/table">
            <a:tbl>
              <a:tblPr firstRow="1" firstCol="1" bandRow="1"/>
              <a:tblGrid>
                <a:gridCol w="2753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1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4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315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R4 and R5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no function call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R4 and R5 </a:t>
                      </a:r>
                      <a:b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</a:b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calling another function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924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f1: 	PUSH	{R4,R5}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3088" algn="l"/>
                          <a:tab pos="7429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3088" algn="l"/>
                          <a:tab pos="7429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73088" algn="l"/>
                          <a:tab pos="742950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R0-R5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3088" algn="l"/>
                          <a:tab pos="7429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POP	{R4,R5}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f2: 	PUSH	{R3,R4,R5,LR}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68325" algn="l"/>
                          <a:tab pos="841375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R0–R5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BL	     f3 </a:t>
                      </a: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68325" algn="l"/>
                          <a:tab pos="841375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R0–R5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POP	{R3,R4,R5,PC}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" name="Straight Arrow Connector 7"/>
          <p:cNvCxnSpPr/>
          <p:nvPr/>
        </p:nvCxnSpPr>
        <p:spPr>
          <a:xfrm>
            <a:off x="3192379" y="3335791"/>
            <a:ext cx="4500" cy="110081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6252390" y="4718404"/>
            <a:ext cx="9525" cy="110081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242865" y="3335791"/>
            <a:ext cx="9525" cy="110081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58097"/>
            <a:ext cx="9547000" cy="1025672"/>
          </a:xfrm>
        </p:spPr>
        <p:txBody>
          <a:bodyPr>
            <a:normAutofit fontScale="90000"/>
          </a:bodyPr>
          <a:lstStyle/>
          <a:p>
            <a:r>
              <a:rPr lang="en-US" dirty="0"/>
              <a:t>FUNCTION CODING CONVENTIONS</a:t>
            </a:r>
            <a:br>
              <a:rPr lang="en-US" dirty="0"/>
            </a:br>
            <a:r>
              <a:rPr lang="en-US" sz="3100" dirty="0"/>
              <a:t>Functions that modify for example registers R4 and R5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4239" y="4461475"/>
            <a:ext cx="1231336" cy="20043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8" name="Straight Arrow Connector 17"/>
          <p:cNvCxnSpPr>
            <a:stCxn id="5" idx="1"/>
          </p:cNvCxnSpPr>
          <p:nvPr/>
        </p:nvCxnSpPr>
        <p:spPr>
          <a:xfrm flipH="1">
            <a:off x="6572250" y="4568629"/>
            <a:ext cx="1182003" cy="337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7754253" y="4060797"/>
            <a:ext cx="3683772" cy="1015663"/>
            <a:chOff x="5751305" y="4983689"/>
            <a:chExt cx="3683772" cy="1015663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5751305" y="4983689"/>
              <a:ext cx="3683772" cy="1015663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Function f3 might modify R0-R3 and R12, but preserves R4-R11</a:t>
              </a:r>
            </a:p>
          </p:txBody>
        </p:sp>
        <p:pic>
          <p:nvPicPr>
            <p:cNvPr id="6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817980" y="5113409"/>
              <a:ext cx="971826" cy="788930"/>
            </a:xfrm>
            <a:prstGeom prst="rect">
              <a:avLst/>
            </a:prstGeom>
            <a:grpFill/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C51362C-E45E-4264-A988-9E27A409B27E}"/>
              </a:ext>
            </a:extLst>
          </p:cNvPr>
          <p:cNvSpPr txBox="1"/>
          <p:nvPr/>
        </p:nvSpPr>
        <p:spPr>
          <a:xfrm>
            <a:off x="4637640" y="6316791"/>
            <a:ext cx="495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Adding R3 to push list preserves stack alignment.</a:t>
            </a:r>
          </a:p>
        </p:txBody>
      </p:sp>
    </p:spTree>
    <p:extLst>
      <p:ext uri="{BB962C8B-B14F-4D97-AF65-F5344CB8AC3E}">
        <p14:creationId xmlns:p14="http://schemas.microsoft.com/office/powerpoint/2010/main" val="18362257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62687" y="1924210"/>
          <a:ext cx="7467599" cy="3846488"/>
        </p:xfrm>
        <a:graphic>
          <a:graphicData uri="http://schemas.openxmlformats.org/drawingml/2006/table">
            <a:tbl>
              <a:tblPr firstRow="1" firstCol="1" bandRow="1"/>
              <a:tblGrid>
                <a:gridCol w="2692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5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328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 Version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Assembly Version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5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int32_t f1(int32_t x){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return f2(4) + x;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f1: PUSH	{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,LR}	//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Preserve R4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MOV	R4,R0	// Keep x safe in R4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R0,=4	// R0 &lt;-- f2’s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arg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BL	f2	// R0 &lt;-- f2(4)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ADD	R0,R0,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// R0 &lt;-- f2(4) +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x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POP	{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,PC}	//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Restore 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41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81227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1748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FUNCTION CODING CONVENTIONS</a:t>
            </a:r>
            <a:br>
              <a:rPr lang="en-US" dirty="0"/>
            </a:br>
            <a:r>
              <a:rPr lang="en-US" sz="3100" dirty="0"/>
              <a:t>Two functions with parameters, one calling the other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5054" y="2562604"/>
            <a:ext cx="4092641" cy="227007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734895" y="2661219"/>
            <a:ext cx="416002" cy="24131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29672" y="2664235"/>
            <a:ext cx="597834" cy="23829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44" name="Straight Arrow Connector 43"/>
          <p:cNvCxnSpPr/>
          <p:nvPr/>
        </p:nvCxnSpPr>
        <p:spPr>
          <a:xfrm flipV="1">
            <a:off x="3627506" y="2943726"/>
            <a:ext cx="294789" cy="661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884164" y="3605463"/>
            <a:ext cx="2504501" cy="1292662"/>
            <a:chOff x="6728736" y="2327612"/>
            <a:chExt cx="2998453" cy="1292662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6728736" y="2327612"/>
              <a:ext cx="2998453" cy="1292662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is in R0, but R0 will be overwritten by f2!!!</a:t>
              </a:r>
            </a:p>
          </p:txBody>
        </p:sp>
        <p:pic>
          <p:nvPicPr>
            <p:cNvPr id="4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grpFill/>
          </p:spPr>
        </p:pic>
      </p:grpSp>
      <p:grpSp>
        <p:nvGrpSpPr>
          <p:cNvPr id="50" name="Group 49"/>
          <p:cNvGrpSpPr/>
          <p:nvPr/>
        </p:nvGrpSpPr>
        <p:grpSpPr>
          <a:xfrm>
            <a:off x="9574084" y="2514599"/>
            <a:ext cx="2504501" cy="1292662"/>
            <a:chOff x="6728736" y="2327612"/>
            <a:chExt cx="2998453" cy="1292662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51" name="TextBox 50"/>
            <p:cNvSpPr txBox="1"/>
            <p:nvPr/>
          </p:nvSpPr>
          <p:spPr>
            <a:xfrm>
              <a:off x="6728736" y="2327612"/>
              <a:ext cx="2998453" cy="129266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Preserve X to R4. Of course need to PUSH POP R4</a:t>
              </a:r>
            </a:p>
          </p:txBody>
        </p:sp>
        <p:pic>
          <p:nvPicPr>
            <p:cNvPr id="52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</p:grpSp>
      <p:cxnSp>
        <p:nvCxnSpPr>
          <p:cNvPr id="54" name="Straight Arrow Connector 53"/>
          <p:cNvCxnSpPr>
            <a:stCxn id="51" idx="1"/>
          </p:cNvCxnSpPr>
          <p:nvPr/>
        </p:nvCxnSpPr>
        <p:spPr>
          <a:xfrm flipH="1" flipV="1">
            <a:off x="6224337" y="2781876"/>
            <a:ext cx="3349747" cy="379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/>
          <p:cNvGrpSpPr/>
          <p:nvPr/>
        </p:nvGrpSpPr>
        <p:grpSpPr>
          <a:xfrm>
            <a:off x="9585453" y="4251794"/>
            <a:ext cx="2504501" cy="1292662"/>
            <a:chOff x="6728736" y="2327612"/>
            <a:chExt cx="2998453" cy="1292662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6" name="TextBox 55"/>
            <p:cNvSpPr txBox="1"/>
            <p:nvPr/>
          </p:nvSpPr>
          <p:spPr>
            <a:xfrm>
              <a:off x="6728736" y="2327612"/>
              <a:ext cx="2998453" cy="1292662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ADD R4 and R4. And restore the original R4</a:t>
              </a:r>
            </a:p>
          </p:txBody>
        </p:sp>
        <p:pic>
          <p:nvPicPr>
            <p:cNvPr id="57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grpFill/>
          </p:spPr>
        </p:pic>
      </p:grpSp>
      <p:cxnSp>
        <p:nvCxnSpPr>
          <p:cNvPr id="59" name="Straight Arrow Connector 58"/>
          <p:cNvCxnSpPr/>
          <p:nvPr/>
        </p:nvCxnSpPr>
        <p:spPr>
          <a:xfrm flipH="1" flipV="1">
            <a:off x="6533147" y="4425961"/>
            <a:ext cx="3918285" cy="106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 flipV="1">
            <a:off x="5991726" y="5005137"/>
            <a:ext cx="4483769" cy="344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1495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1573</TotalTime>
  <Words>4099</Words>
  <Application>Microsoft Office PowerPoint</Application>
  <PresentationFormat>Widescreen</PresentationFormat>
  <Paragraphs>880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47</vt:i4>
      </vt:variant>
    </vt:vector>
  </HeadingPairs>
  <TitlesOfParts>
    <vt:vector size="60" baseType="lpstr">
      <vt:lpstr>Arial</vt:lpstr>
      <vt:lpstr>Arial MT</vt:lpstr>
      <vt:lpstr>Arial Narrow</vt:lpstr>
      <vt:lpstr>Calibri</vt:lpstr>
      <vt:lpstr>Cambria Math</vt:lpstr>
      <vt:lpstr>Consolas</vt:lpstr>
      <vt:lpstr>Courier New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3 Writing Functions in Assembly</vt:lpstr>
      <vt:lpstr>Assembler in General</vt:lpstr>
      <vt:lpstr>Creating a Program</vt:lpstr>
      <vt:lpstr>ARM Cortex M4 Core Registers</vt:lpstr>
      <vt:lpstr>Consequence</vt:lpstr>
      <vt:lpstr>Consequence</vt:lpstr>
      <vt:lpstr>Consequence</vt:lpstr>
      <vt:lpstr>Example Source Files</vt:lpstr>
      <vt:lpstr>void InitializeHardware(char *, char *) ;</vt:lpstr>
      <vt:lpstr>uint32_t GetClockCycleCount(void) ;</vt:lpstr>
      <vt:lpstr>void WaitForPushButton(void) ;</vt:lpstr>
      <vt:lpstr>void ClearDisplay(void) ;</vt:lpstr>
      <vt:lpstr>Chapter 3 Writing Functions in Assembly</vt:lpstr>
      <vt:lpstr>Instruction Fetch</vt:lpstr>
      <vt:lpstr>Memory Layout (Recall)</vt:lpstr>
      <vt:lpstr>FUNCTION CALL AND RETURN Simple Call-Return in C</vt:lpstr>
      <vt:lpstr>FUNCTION CALL AND RETURN ARM instructions used to call and return from functions</vt:lpstr>
      <vt:lpstr>FUNCTION CALL AND RETURN Simple Call-Return in Assembly</vt:lpstr>
      <vt:lpstr>FUNCTION CALL AND RETURN Nested Call-Return in Assembly</vt:lpstr>
      <vt:lpstr>FUNCTION CALL AND RETURN ARM instructions used in functions that call other functions</vt:lpstr>
      <vt:lpstr>Optimizing Function Calls</vt:lpstr>
      <vt:lpstr>Optimizing Function Calls</vt:lpstr>
      <vt:lpstr>Stack Alignment</vt:lpstr>
      <vt:lpstr>Stack Alignment</vt:lpstr>
      <vt:lpstr>Chapter 3 Writing Functions in Assembly</vt:lpstr>
      <vt:lpstr>ARM PROCEDURE CALL STANDARD Registers used as input parameters</vt:lpstr>
      <vt:lpstr>PARAMETER PASSING void foo(int8_t, int32_t, int64_t) ;</vt:lpstr>
      <vt:lpstr>HOW COMPILER HANDLES RETURN VALUES Promoting a return value from 8 to 16, 32 or 64 bits</vt:lpstr>
      <vt:lpstr>Why 2 Instructions to load a variable?</vt:lpstr>
      <vt:lpstr>Why 2 Instructions to load a variable?</vt:lpstr>
      <vt:lpstr>Why 2 Instructions to load a variable?</vt:lpstr>
      <vt:lpstr>Why 2 Instructions to load a variable?</vt:lpstr>
      <vt:lpstr>ARM PROCEDURE CALL STANDARD Registers used to return function result</vt:lpstr>
      <vt:lpstr>SAVING THE RETURN VALUE Functions that return an 8, 16 or 32-bit result</vt:lpstr>
      <vt:lpstr>PREPARING THE RETURN VALUE Functions that return an 8 or 16-bit result</vt:lpstr>
      <vt:lpstr>PREPARING THE RETURN VALUE Functions that return an 8 or 16-bit result</vt:lpstr>
      <vt:lpstr>Chapter 3 Writing Functions in Assembly</vt:lpstr>
      <vt:lpstr>PREPARING THE RETURN VALUE Functions that return an 8 or 16-bit result</vt:lpstr>
      <vt:lpstr>Summary</vt:lpstr>
      <vt:lpstr>Summary</vt:lpstr>
      <vt:lpstr>Chapter 3 Writing Functions in Assembly</vt:lpstr>
      <vt:lpstr>REGISTER USAGE CONVENTIONS ARM PROCEDURE CALL STANDARD</vt:lpstr>
      <vt:lpstr>FUNCTION CODING CONVENTIONS Functions that modify only registers R0 - R3, R12</vt:lpstr>
      <vt:lpstr>FUNCTION CODING CONVENTIONS Functions that modify for example registers R4 and R5</vt:lpstr>
      <vt:lpstr>FUNCTION CODING CONVENTIONS Two functions with parameters, one calling the other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219</cp:revision>
  <cp:lastPrinted>2023-09-11T21:46:56Z</cp:lastPrinted>
  <dcterms:created xsi:type="dcterms:W3CDTF">2023-09-09T19:51:41Z</dcterms:created>
  <dcterms:modified xsi:type="dcterms:W3CDTF">2026-08-20T16:54:23Z</dcterms:modified>
</cp:coreProperties>
</file>