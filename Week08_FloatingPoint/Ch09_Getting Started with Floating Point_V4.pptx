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 id="2147483687" r:id="rId3"/>
  </p:sldMasterIdLst>
  <p:notesMasterIdLst>
    <p:notesMasterId r:id="rId52"/>
  </p:notesMasterIdLst>
  <p:handoutMasterIdLst>
    <p:handoutMasterId r:id="rId53"/>
  </p:handoutMasterIdLst>
  <p:sldIdLst>
    <p:sldId id="333" r:id="rId4"/>
    <p:sldId id="428" r:id="rId5"/>
    <p:sldId id="360" r:id="rId6"/>
    <p:sldId id="361" r:id="rId7"/>
    <p:sldId id="362" r:id="rId8"/>
    <p:sldId id="363" r:id="rId9"/>
    <p:sldId id="364" r:id="rId10"/>
    <p:sldId id="365" r:id="rId11"/>
    <p:sldId id="366" r:id="rId12"/>
    <p:sldId id="367" r:id="rId13"/>
    <p:sldId id="368" r:id="rId14"/>
    <p:sldId id="369" r:id="rId15"/>
    <p:sldId id="370" r:id="rId16"/>
    <p:sldId id="371" r:id="rId17"/>
    <p:sldId id="372" r:id="rId18"/>
    <p:sldId id="373" r:id="rId19"/>
    <p:sldId id="374" r:id="rId20"/>
    <p:sldId id="433" r:id="rId21"/>
    <p:sldId id="434" r:id="rId22"/>
    <p:sldId id="435" r:id="rId23"/>
    <p:sldId id="436" r:id="rId24"/>
    <p:sldId id="437" r:id="rId25"/>
    <p:sldId id="438" r:id="rId26"/>
    <p:sldId id="439" r:id="rId27"/>
    <p:sldId id="440" r:id="rId28"/>
    <p:sldId id="431" r:id="rId29"/>
    <p:sldId id="385" r:id="rId30"/>
    <p:sldId id="386" r:id="rId31"/>
    <p:sldId id="387" r:id="rId32"/>
    <p:sldId id="388" r:id="rId33"/>
    <p:sldId id="389" r:id="rId34"/>
    <p:sldId id="390" r:id="rId35"/>
    <p:sldId id="391" r:id="rId36"/>
    <p:sldId id="392" r:id="rId37"/>
    <p:sldId id="394" r:id="rId38"/>
    <p:sldId id="395" r:id="rId39"/>
    <p:sldId id="396" r:id="rId40"/>
    <p:sldId id="397" r:id="rId41"/>
    <p:sldId id="399" r:id="rId42"/>
    <p:sldId id="400" r:id="rId43"/>
    <p:sldId id="442" r:id="rId44"/>
    <p:sldId id="443" r:id="rId45"/>
    <p:sldId id="444" r:id="rId46"/>
    <p:sldId id="445" r:id="rId47"/>
    <p:sldId id="446" r:id="rId48"/>
    <p:sldId id="447" r:id="rId49"/>
    <p:sldId id="336" r:id="rId50"/>
    <p:sldId id="509" r:id="rId51"/>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862" autoAdjust="0"/>
    <p:restoredTop sz="94660"/>
  </p:normalViewPr>
  <p:slideViewPr>
    <p:cSldViewPr snapToGrid="0">
      <p:cViewPr varScale="1">
        <p:scale>
          <a:sx n="161" d="100"/>
          <a:sy n="161" d="100"/>
        </p:scale>
        <p:origin x="624"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handoutMaster" Target="handoutMasters/handoutMaster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8E938536-29D3-49BD-A567-41CAF057586A}" type="datetimeFigureOut">
              <a:rPr lang="en-US" smtClean="0"/>
              <a:t>9/22/2026</a:t>
            </a:fld>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B2E2B272-7A3A-4005-B1B0-0F9070B87031}" type="slidenum">
              <a:rPr lang="en-US" smtClean="0"/>
              <a:t>‹#›</a:t>
            </a:fld>
            <a:endParaRPr lang="en-US"/>
          </a:p>
        </p:txBody>
      </p:sp>
    </p:spTree>
    <p:extLst>
      <p:ext uri="{BB962C8B-B14F-4D97-AF65-F5344CB8AC3E}">
        <p14:creationId xmlns:p14="http://schemas.microsoft.com/office/powerpoint/2010/main" val="34287907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71559A16-B3AD-4CE2-9A5E-FAAD3C2C27CA}" type="datetimeFigureOut">
              <a:rPr lang="en-US" smtClean="0"/>
              <a:t>9/22/2026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28C6438F-747C-40FA-8F40-021E653C05D7}" type="slidenum">
              <a:rPr lang="en-US" smtClean="0"/>
              <a:t>‹#›</a:t>
            </a:fld>
            <a:endParaRPr lang="en-US"/>
          </a:p>
        </p:txBody>
      </p:sp>
    </p:spTree>
    <p:extLst>
      <p:ext uri="{BB962C8B-B14F-4D97-AF65-F5344CB8AC3E}">
        <p14:creationId xmlns:p14="http://schemas.microsoft.com/office/powerpoint/2010/main" val="966901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en.wikipedia.org/wiki/Technical_standard"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en.wikipedia.org/wiki/Floating-point_arithmetic"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The Cortex-M4 processor includes an optional FPU (or Floating Point Unit). It provides floating-point computation functionality that is compliant with the </a:t>
            </a:r>
            <a:r>
              <a:rPr lang="en-US" sz="1200" b="0" i="1" u="none" strike="noStrike" kern="1200" dirty="0">
                <a:solidFill>
                  <a:schemeClr val="tx1"/>
                </a:solidFill>
                <a:effectLst/>
                <a:latin typeface="+mn-lt"/>
                <a:ea typeface="+mn-ea"/>
                <a:cs typeface="+mn-cs"/>
              </a:rPr>
              <a:t>EEE 754 standard. </a:t>
            </a:r>
            <a:r>
              <a:rPr lang="en-US" sz="1200" b="0" i="0" u="none" strike="noStrike" kern="1200" dirty="0">
                <a:solidFill>
                  <a:schemeClr val="tx1"/>
                </a:solidFill>
                <a:effectLst/>
                <a:latin typeface="+mn-lt"/>
                <a:ea typeface="+mn-ea"/>
                <a:cs typeface="+mn-cs"/>
              </a:rPr>
              <a:t>The FPU supports all single-precision data-processing instructions and data types. </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4172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C8A3E09F-0DC3-8A43-95DD-5DE17AF633D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66788" rtl="0" eaLnBrk="1" fontAlgn="auto" latinLnBrk="0" hangingPunct="1">
              <a:lnSpc>
                <a:spcPct val="100000"/>
              </a:lnSpc>
              <a:spcBef>
                <a:spcPts val="0"/>
              </a:spcBef>
              <a:spcAft>
                <a:spcPts val="0"/>
              </a:spcAft>
              <a:buClrTx/>
              <a:buSzTx/>
              <a:buFontTx/>
              <a:buNone/>
              <a:tabLst/>
              <a:defRPr/>
            </a:pPr>
            <a:r>
              <a:rPr kumimoji="0" lang="en-AU"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t>Morgan Kaufmann Publishers</a:t>
            </a:r>
          </a:p>
        </p:txBody>
      </p:sp>
      <p:sp>
        <p:nvSpPr>
          <p:cNvPr id="98306" name="Rectangle 3">
            <a:extLst>
              <a:ext uri="{FF2B5EF4-FFF2-40B4-BE49-F238E27FC236}">
                <a16:creationId xmlns:a16="http://schemas.microsoft.com/office/drawing/2014/main" id="{1A2437CA-A302-A64E-924F-067600AE8A5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66788" rtl="0" eaLnBrk="1" fontAlgn="auto" latinLnBrk="0" hangingPunct="1">
              <a:lnSpc>
                <a:spcPct val="100000"/>
              </a:lnSpc>
              <a:spcBef>
                <a:spcPts val="0"/>
              </a:spcBef>
              <a:spcAft>
                <a:spcPts val="0"/>
              </a:spcAft>
              <a:buClrTx/>
              <a:buSzTx/>
              <a:buFontTx/>
              <a:buNone/>
              <a:tabLst/>
              <a:defRPr/>
            </a:pPr>
            <a:fld id="{6BE1B9CB-2310-2E4C-B502-B4C431E73E16}" type="datetime3">
              <a:rPr kumimoji="0" lang="en-AU"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1" fontAlgn="auto" latinLnBrk="0" hangingPunct="1">
                <a:lnSpc>
                  <a:spcPct val="100000"/>
                </a:lnSpc>
                <a:spcBef>
                  <a:spcPts val="0"/>
                </a:spcBef>
                <a:spcAft>
                  <a:spcPts val="0"/>
                </a:spcAft>
                <a:buClrTx/>
                <a:buSzTx/>
                <a:buFontTx/>
                <a:buNone/>
                <a:tabLst/>
                <a:defRPr/>
              </a:pPr>
              <a:t>22 September, 2026</a:t>
            </a:fld>
            <a:endParaRPr kumimoji="0" lang="en-AU"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98307" name="Rectangle 6">
            <a:extLst>
              <a:ext uri="{FF2B5EF4-FFF2-40B4-BE49-F238E27FC236}">
                <a16:creationId xmlns:a16="http://schemas.microsoft.com/office/drawing/2014/main" id="{75FA627A-E684-BA45-9843-7A6BE969DF2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66788" rtl="0" eaLnBrk="1" fontAlgn="auto" latinLnBrk="0" hangingPunct="1">
              <a:lnSpc>
                <a:spcPct val="100000"/>
              </a:lnSpc>
              <a:spcBef>
                <a:spcPts val="0"/>
              </a:spcBef>
              <a:spcAft>
                <a:spcPts val="0"/>
              </a:spcAft>
              <a:buClrTx/>
              <a:buSzTx/>
              <a:buFontTx/>
              <a:buNone/>
              <a:tabLst/>
              <a:defRPr/>
            </a:pPr>
            <a:r>
              <a:rPr kumimoji="0" lang="en-AU"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t>Chapter 3 — Arithmetic for Computers</a:t>
            </a:r>
          </a:p>
        </p:txBody>
      </p:sp>
      <p:sp>
        <p:nvSpPr>
          <p:cNvPr id="98308" name="Rectangle 7">
            <a:extLst>
              <a:ext uri="{FF2B5EF4-FFF2-40B4-BE49-F238E27FC236}">
                <a16:creationId xmlns:a16="http://schemas.microsoft.com/office/drawing/2014/main" id="{CBE2BEC8-8D8B-0A49-A75C-7CFC373AC2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66788" rtl="0" eaLnBrk="1" fontAlgn="auto" latinLnBrk="0" hangingPunct="1">
              <a:lnSpc>
                <a:spcPct val="100000"/>
              </a:lnSpc>
              <a:spcBef>
                <a:spcPts val="0"/>
              </a:spcBef>
              <a:spcAft>
                <a:spcPts val="0"/>
              </a:spcAft>
              <a:buClrTx/>
              <a:buSzTx/>
              <a:buFontTx/>
              <a:buNone/>
              <a:tabLst/>
              <a:defRPr/>
            </a:pPr>
            <a:fld id="{9C844F23-9D65-2F41-BA0A-AF3F2F7F87F2}" type="slidenum">
              <a:rPr kumimoji="0" lang="en-AU"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1" fontAlgn="auto" latinLnBrk="0" hangingPunct="1">
                <a:lnSpc>
                  <a:spcPct val="100000"/>
                </a:lnSpc>
                <a:spcBef>
                  <a:spcPts val="0"/>
                </a:spcBef>
                <a:spcAft>
                  <a:spcPts val="0"/>
                </a:spcAft>
                <a:buClrTx/>
                <a:buSzTx/>
                <a:buFontTx/>
                <a:buNone/>
                <a:tabLst/>
                <a:defRPr/>
              </a:pPr>
              <a:t>3</a:t>
            </a:fld>
            <a:endParaRPr kumimoji="0" lang="en-AU"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98309" name="Rectangle 2">
            <a:extLst>
              <a:ext uri="{FF2B5EF4-FFF2-40B4-BE49-F238E27FC236}">
                <a16:creationId xmlns:a16="http://schemas.microsoft.com/office/drawing/2014/main" id="{71AF9940-A25C-8040-9F48-7543102BC687}"/>
              </a:ext>
            </a:extLst>
          </p:cNvPr>
          <p:cNvSpPr>
            <a:spLocks noGrp="1" noRot="1" noChangeAspect="1" noChangeArrowheads="1" noTextEdit="1"/>
          </p:cNvSpPr>
          <p:nvPr>
            <p:ph type="sldImg"/>
          </p:nvPr>
        </p:nvSpPr>
        <p:spPr>
          <a:ln/>
        </p:spPr>
      </p:sp>
      <p:sp>
        <p:nvSpPr>
          <p:cNvPr id="98310" name="Rectangle 3">
            <a:extLst>
              <a:ext uri="{FF2B5EF4-FFF2-40B4-BE49-F238E27FC236}">
                <a16:creationId xmlns:a16="http://schemas.microsoft.com/office/drawing/2014/main" id="{0B661E54-048A-1644-AC30-D22CAA5EFB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131655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C1B88205-4EAE-4116-A66F-9C1FE965044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MS PGothic" panose="020B0600070205080204" pitchFamily="34" charset="-128"/>
              </a:defRPr>
            </a:lvl1pPr>
            <a:lvl2pPr marL="742950" indent="-285750" defTabSz="966788">
              <a:defRPr>
                <a:solidFill>
                  <a:schemeClr val="tx1"/>
                </a:solidFill>
                <a:latin typeface="Arial" panose="020B0604020202020204" pitchFamily="34" charset="0"/>
                <a:ea typeface="MS PGothic" panose="020B0600070205080204" pitchFamily="34" charset="-128"/>
              </a:defRPr>
            </a:lvl2pPr>
            <a:lvl3pPr marL="1143000" indent="-228600" defTabSz="966788">
              <a:defRPr>
                <a:solidFill>
                  <a:schemeClr val="tx1"/>
                </a:solidFill>
                <a:latin typeface="Arial" panose="020B0604020202020204" pitchFamily="34" charset="0"/>
                <a:ea typeface="MS PGothic" panose="020B0600070205080204" pitchFamily="34" charset="-128"/>
              </a:defRPr>
            </a:lvl3pPr>
            <a:lvl4pPr marL="1600200" indent="-228600" defTabSz="966788">
              <a:defRPr>
                <a:solidFill>
                  <a:schemeClr val="tx1"/>
                </a:solidFill>
                <a:latin typeface="Arial" panose="020B0604020202020204" pitchFamily="34" charset="0"/>
                <a:ea typeface="MS PGothic" panose="020B0600070205080204" pitchFamily="34" charset="-128"/>
              </a:defRPr>
            </a:lvl4pPr>
            <a:lvl5pPr marL="2057400" indent="-228600" defTabSz="966788">
              <a:defRPr>
                <a:solidFill>
                  <a:schemeClr val="tx1"/>
                </a:solidFill>
                <a:latin typeface="Arial" panose="020B060402020202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l" defTabSz="966788" rtl="0" eaLnBrk="1" fontAlgn="auto" latinLnBrk="0" hangingPunct="1">
              <a:lnSpc>
                <a:spcPct val="100000"/>
              </a:lnSpc>
              <a:spcBef>
                <a:spcPts val="0"/>
              </a:spcBef>
              <a:spcAft>
                <a:spcPts val="0"/>
              </a:spcAft>
              <a:buClrTx/>
              <a:buSzTx/>
              <a:buFontTx/>
              <a:buNone/>
              <a:tabLst/>
              <a:defRPr/>
            </a:pPr>
            <a:r>
              <a:rPr kumimoji="0" lang="en-AU" altLang="en-US" sz="1200" b="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mn-cs"/>
              </a:rPr>
              <a:t>Morgan Kaufmann Publishers</a:t>
            </a:r>
          </a:p>
        </p:txBody>
      </p:sp>
      <p:sp>
        <p:nvSpPr>
          <p:cNvPr id="122883" name="Rectangle 3">
            <a:extLst>
              <a:ext uri="{FF2B5EF4-FFF2-40B4-BE49-F238E27FC236}">
                <a16:creationId xmlns:a16="http://schemas.microsoft.com/office/drawing/2014/main" id="{2C0F106E-513D-49C9-8ED5-380F4F53C3D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MS PGothic" panose="020B0600070205080204" pitchFamily="34" charset="-128"/>
              </a:defRPr>
            </a:lvl1pPr>
            <a:lvl2pPr marL="742950" indent="-285750" defTabSz="966788">
              <a:defRPr>
                <a:solidFill>
                  <a:schemeClr val="tx1"/>
                </a:solidFill>
                <a:latin typeface="Arial" panose="020B0604020202020204" pitchFamily="34" charset="0"/>
                <a:ea typeface="MS PGothic" panose="020B0600070205080204" pitchFamily="34" charset="-128"/>
              </a:defRPr>
            </a:lvl2pPr>
            <a:lvl3pPr marL="1143000" indent="-228600" defTabSz="966788">
              <a:defRPr>
                <a:solidFill>
                  <a:schemeClr val="tx1"/>
                </a:solidFill>
                <a:latin typeface="Arial" panose="020B0604020202020204" pitchFamily="34" charset="0"/>
                <a:ea typeface="MS PGothic" panose="020B0600070205080204" pitchFamily="34" charset="-128"/>
              </a:defRPr>
            </a:lvl3pPr>
            <a:lvl4pPr marL="1600200" indent="-228600" defTabSz="966788">
              <a:defRPr>
                <a:solidFill>
                  <a:schemeClr val="tx1"/>
                </a:solidFill>
                <a:latin typeface="Arial" panose="020B0604020202020204" pitchFamily="34" charset="0"/>
                <a:ea typeface="MS PGothic" panose="020B0600070205080204" pitchFamily="34" charset="-128"/>
              </a:defRPr>
            </a:lvl4pPr>
            <a:lvl5pPr marL="2057400" indent="-228600" defTabSz="966788">
              <a:defRPr>
                <a:solidFill>
                  <a:schemeClr val="tx1"/>
                </a:solidFill>
                <a:latin typeface="Arial" panose="020B060402020202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r" defTabSz="966788" rtl="0" eaLnBrk="1" fontAlgn="auto" latinLnBrk="0" hangingPunct="1">
              <a:lnSpc>
                <a:spcPct val="100000"/>
              </a:lnSpc>
              <a:spcBef>
                <a:spcPts val="0"/>
              </a:spcBef>
              <a:spcAft>
                <a:spcPts val="0"/>
              </a:spcAft>
              <a:buClrTx/>
              <a:buSzTx/>
              <a:buFontTx/>
              <a:buNone/>
              <a:tabLst/>
              <a:defRPr/>
            </a:pPr>
            <a:fld id="{A3BD7041-35D5-4308-90B9-5AC7C9EB3178}" type="datetime3">
              <a:rPr kumimoji="0" lang="en-AU"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mn-cs"/>
              </a:rPr>
              <a:pPr marL="0" marR="0" lvl="0" indent="0" algn="r" defTabSz="966788" rtl="0" eaLnBrk="1" fontAlgn="auto" latinLnBrk="0" hangingPunct="1">
                <a:lnSpc>
                  <a:spcPct val="100000"/>
                </a:lnSpc>
                <a:spcBef>
                  <a:spcPts val="0"/>
                </a:spcBef>
                <a:spcAft>
                  <a:spcPts val="0"/>
                </a:spcAft>
                <a:buClrTx/>
                <a:buSzTx/>
                <a:buFontTx/>
                <a:buNone/>
                <a:tabLst/>
                <a:defRPr/>
              </a:pPr>
              <a:t>22 September, 2026</a:t>
            </a:fld>
            <a:endParaRPr kumimoji="0" lang="en-AU" altLang="en-US" sz="1200" b="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mn-cs"/>
            </a:endParaRPr>
          </a:p>
        </p:txBody>
      </p:sp>
      <p:sp>
        <p:nvSpPr>
          <p:cNvPr id="122884" name="Rectangle 6">
            <a:extLst>
              <a:ext uri="{FF2B5EF4-FFF2-40B4-BE49-F238E27FC236}">
                <a16:creationId xmlns:a16="http://schemas.microsoft.com/office/drawing/2014/main" id="{6C7ECC24-4691-4FD6-9E2A-4F2DE22015A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MS PGothic" panose="020B0600070205080204" pitchFamily="34" charset="-128"/>
              </a:defRPr>
            </a:lvl1pPr>
            <a:lvl2pPr marL="742950" indent="-285750" defTabSz="966788">
              <a:defRPr>
                <a:solidFill>
                  <a:schemeClr val="tx1"/>
                </a:solidFill>
                <a:latin typeface="Arial" panose="020B0604020202020204" pitchFamily="34" charset="0"/>
                <a:ea typeface="MS PGothic" panose="020B0600070205080204" pitchFamily="34" charset="-128"/>
              </a:defRPr>
            </a:lvl2pPr>
            <a:lvl3pPr marL="1143000" indent="-228600" defTabSz="966788">
              <a:defRPr>
                <a:solidFill>
                  <a:schemeClr val="tx1"/>
                </a:solidFill>
                <a:latin typeface="Arial" panose="020B0604020202020204" pitchFamily="34" charset="0"/>
                <a:ea typeface="MS PGothic" panose="020B0600070205080204" pitchFamily="34" charset="-128"/>
              </a:defRPr>
            </a:lvl3pPr>
            <a:lvl4pPr marL="1600200" indent="-228600" defTabSz="966788">
              <a:defRPr>
                <a:solidFill>
                  <a:schemeClr val="tx1"/>
                </a:solidFill>
                <a:latin typeface="Arial" panose="020B0604020202020204" pitchFamily="34" charset="0"/>
                <a:ea typeface="MS PGothic" panose="020B0600070205080204" pitchFamily="34" charset="-128"/>
              </a:defRPr>
            </a:lvl4pPr>
            <a:lvl5pPr marL="2057400" indent="-228600" defTabSz="966788">
              <a:defRPr>
                <a:solidFill>
                  <a:schemeClr val="tx1"/>
                </a:solidFill>
                <a:latin typeface="Arial" panose="020B060402020202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l" defTabSz="966788" rtl="0" eaLnBrk="1" fontAlgn="auto" latinLnBrk="0" hangingPunct="1">
              <a:lnSpc>
                <a:spcPct val="100000"/>
              </a:lnSpc>
              <a:spcBef>
                <a:spcPts val="0"/>
              </a:spcBef>
              <a:spcAft>
                <a:spcPts val="0"/>
              </a:spcAft>
              <a:buClrTx/>
              <a:buSzTx/>
              <a:buFontTx/>
              <a:buNone/>
              <a:tabLst/>
              <a:defRPr/>
            </a:pPr>
            <a:r>
              <a:rPr kumimoji="0" lang="en-AU" altLang="en-US" sz="1200" b="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mn-cs"/>
              </a:rPr>
              <a:t>Chapter 3 — Arithmetic for Computers</a:t>
            </a:r>
          </a:p>
        </p:txBody>
      </p:sp>
      <p:sp>
        <p:nvSpPr>
          <p:cNvPr id="122885" name="Rectangle 7">
            <a:extLst>
              <a:ext uri="{FF2B5EF4-FFF2-40B4-BE49-F238E27FC236}">
                <a16:creationId xmlns:a16="http://schemas.microsoft.com/office/drawing/2014/main" id="{DC4A7757-1413-44D1-A446-9F2D8E51BF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MS PGothic" panose="020B0600070205080204" pitchFamily="34" charset="-128"/>
              </a:defRPr>
            </a:lvl1pPr>
            <a:lvl2pPr marL="742950" indent="-285750" defTabSz="966788">
              <a:defRPr>
                <a:solidFill>
                  <a:schemeClr val="tx1"/>
                </a:solidFill>
                <a:latin typeface="Arial" panose="020B0604020202020204" pitchFamily="34" charset="0"/>
                <a:ea typeface="MS PGothic" panose="020B0600070205080204" pitchFamily="34" charset="-128"/>
              </a:defRPr>
            </a:lvl2pPr>
            <a:lvl3pPr marL="1143000" indent="-228600" defTabSz="966788">
              <a:defRPr>
                <a:solidFill>
                  <a:schemeClr val="tx1"/>
                </a:solidFill>
                <a:latin typeface="Arial" panose="020B0604020202020204" pitchFamily="34" charset="0"/>
                <a:ea typeface="MS PGothic" panose="020B0600070205080204" pitchFamily="34" charset="-128"/>
              </a:defRPr>
            </a:lvl3pPr>
            <a:lvl4pPr marL="1600200" indent="-228600" defTabSz="966788">
              <a:defRPr>
                <a:solidFill>
                  <a:schemeClr val="tx1"/>
                </a:solidFill>
                <a:latin typeface="Arial" panose="020B0604020202020204" pitchFamily="34" charset="0"/>
                <a:ea typeface="MS PGothic" panose="020B0600070205080204" pitchFamily="34" charset="-128"/>
              </a:defRPr>
            </a:lvl4pPr>
            <a:lvl5pPr marL="2057400" indent="-228600" defTabSz="966788">
              <a:defRPr>
                <a:solidFill>
                  <a:schemeClr val="tx1"/>
                </a:solidFill>
                <a:latin typeface="Arial" panose="020B060402020202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r" defTabSz="966788" rtl="0" eaLnBrk="1" fontAlgn="auto" latinLnBrk="0" hangingPunct="1">
              <a:lnSpc>
                <a:spcPct val="100000"/>
              </a:lnSpc>
              <a:spcBef>
                <a:spcPts val="0"/>
              </a:spcBef>
              <a:spcAft>
                <a:spcPts val="0"/>
              </a:spcAft>
              <a:buClrTx/>
              <a:buSzTx/>
              <a:buFontTx/>
              <a:buNone/>
              <a:tabLst/>
              <a:defRPr/>
            </a:pPr>
            <a:fld id="{1364A743-B792-424B-8BAB-0A0D2E035B21}" type="slidenum">
              <a:rPr kumimoji="0" lang="en-AU"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mn-cs"/>
              </a:rPr>
              <a:pPr marL="0" marR="0" lvl="0" indent="0" algn="r" defTabSz="966788" rtl="0" eaLnBrk="1" fontAlgn="auto" latinLnBrk="0" hangingPunct="1">
                <a:lnSpc>
                  <a:spcPct val="100000"/>
                </a:lnSpc>
                <a:spcBef>
                  <a:spcPts val="0"/>
                </a:spcBef>
                <a:spcAft>
                  <a:spcPts val="0"/>
                </a:spcAft>
                <a:buClrTx/>
                <a:buSzTx/>
                <a:buFontTx/>
                <a:buNone/>
                <a:tabLst/>
                <a:defRPr/>
              </a:pPr>
              <a:t>4</a:t>
            </a:fld>
            <a:endParaRPr kumimoji="0" lang="en-AU" altLang="en-US" sz="1200" b="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mn-cs"/>
            </a:endParaRPr>
          </a:p>
        </p:txBody>
      </p:sp>
      <p:sp>
        <p:nvSpPr>
          <p:cNvPr id="122886" name="Rectangle 2">
            <a:extLst>
              <a:ext uri="{FF2B5EF4-FFF2-40B4-BE49-F238E27FC236}">
                <a16:creationId xmlns:a16="http://schemas.microsoft.com/office/drawing/2014/main" id="{1FB7930F-9BAE-49B2-9B91-44090A426837}"/>
              </a:ext>
            </a:extLst>
          </p:cNvPr>
          <p:cNvSpPr>
            <a:spLocks noGrp="1" noRot="1" noChangeAspect="1" noChangeArrowheads="1" noTextEdit="1"/>
          </p:cNvSpPr>
          <p:nvPr>
            <p:ph type="sldImg"/>
          </p:nvPr>
        </p:nvSpPr>
        <p:spPr>
          <a:ln/>
        </p:spPr>
      </p:sp>
      <p:sp>
        <p:nvSpPr>
          <p:cNvPr id="122887" name="Rectangle 3">
            <a:extLst>
              <a:ext uri="{FF2B5EF4-FFF2-40B4-BE49-F238E27FC236}">
                <a16:creationId xmlns:a16="http://schemas.microsoft.com/office/drawing/2014/main" id="{9E81CCA0-A0C1-47C9-8626-F37E544E95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3908399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58D96373-417D-9A4B-8327-45F65EB3737D}"/>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66788" rtl="0" eaLnBrk="1" fontAlgn="auto" latinLnBrk="0" hangingPunct="1">
              <a:lnSpc>
                <a:spcPct val="100000"/>
              </a:lnSpc>
              <a:spcBef>
                <a:spcPts val="0"/>
              </a:spcBef>
              <a:spcAft>
                <a:spcPts val="0"/>
              </a:spcAft>
              <a:buClrTx/>
              <a:buSzTx/>
              <a:buFontTx/>
              <a:buNone/>
              <a:tabLst/>
              <a:defRPr/>
            </a:pPr>
            <a:r>
              <a:rPr kumimoji="0" lang="en-AU"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t>Morgan Kaufmann Publishers</a:t>
            </a:r>
          </a:p>
        </p:txBody>
      </p:sp>
      <p:sp>
        <p:nvSpPr>
          <p:cNvPr id="94210" name="Rectangle 3">
            <a:extLst>
              <a:ext uri="{FF2B5EF4-FFF2-40B4-BE49-F238E27FC236}">
                <a16:creationId xmlns:a16="http://schemas.microsoft.com/office/drawing/2014/main" id="{CA71449C-E15C-0C4B-A383-CAB97CFAF86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66788" rtl="0" eaLnBrk="1" fontAlgn="auto" latinLnBrk="0" hangingPunct="1">
              <a:lnSpc>
                <a:spcPct val="100000"/>
              </a:lnSpc>
              <a:spcBef>
                <a:spcPts val="0"/>
              </a:spcBef>
              <a:spcAft>
                <a:spcPts val="0"/>
              </a:spcAft>
              <a:buClrTx/>
              <a:buSzTx/>
              <a:buFontTx/>
              <a:buNone/>
              <a:tabLst/>
              <a:defRPr/>
            </a:pPr>
            <a:fld id="{F8044F6D-09DE-ED4D-88E3-9CDAAA99B416}" type="datetime3">
              <a:rPr kumimoji="0" lang="en-AU"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1" fontAlgn="auto" latinLnBrk="0" hangingPunct="1">
                <a:lnSpc>
                  <a:spcPct val="100000"/>
                </a:lnSpc>
                <a:spcBef>
                  <a:spcPts val="0"/>
                </a:spcBef>
                <a:spcAft>
                  <a:spcPts val="0"/>
                </a:spcAft>
                <a:buClrTx/>
                <a:buSzTx/>
                <a:buFontTx/>
                <a:buNone/>
                <a:tabLst/>
                <a:defRPr/>
              </a:pPr>
              <a:t>22 September, 2026</a:t>
            </a:fld>
            <a:endParaRPr kumimoji="0" lang="en-AU"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94211" name="Rectangle 6">
            <a:extLst>
              <a:ext uri="{FF2B5EF4-FFF2-40B4-BE49-F238E27FC236}">
                <a16:creationId xmlns:a16="http://schemas.microsoft.com/office/drawing/2014/main" id="{02C19C5B-AA57-5E41-9CFA-F3E878ADEEC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66788" rtl="0" eaLnBrk="1" fontAlgn="auto" latinLnBrk="0" hangingPunct="1">
              <a:lnSpc>
                <a:spcPct val="100000"/>
              </a:lnSpc>
              <a:spcBef>
                <a:spcPts val="0"/>
              </a:spcBef>
              <a:spcAft>
                <a:spcPts val="0"/>
              </a:spcAft>
              <a:buClrTx/>
              <a:buSzTx/>
              <a:buFontTx/>
              <a:buNone/>
              <a:tabLst/>
              <a:defRPr/>
            </a:pPr>
            <a:r>
              <a:rPr kumimoji="0" lang="en-AU"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t>Chapter 3 — Arithmetic for Computers</a:t>
            </a:r>
          </a:p>
        </p:txBody>
      </p:sp>
      <p:sp>
        <p:nvSpPr>
          <p:cNvPr id="94212" name="Rectangle 7">
            <a:extLst>
              <a:ext uri="{FF2B5EF4-FFF2-40B4-BE49-F238E27FC236}">
                <a16:creationId xmlns:a16="http://schemas.microsoft.com/office/drawing/2014/main" id="{CE0F0CA3-8F96-A847-A8AD-D9526260B4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66788" rtl="0" eaLnBrk="1" fontAlgn="auto" latinLnBrk="0" hangingPunct="1">
              <a:lnSpc>
                <a:spcPct val="100000"/>
              </a:lnSpc>
              <a:spcBef>
                <a:spcPts val="0"/>
              </a:spcBef>
              <a:spcAft>
                <a:spcPts val="0"/>
              </a:spcAft>
              <a:buClrTx/>
              <a:buSzTx/>
              <a:buFontTx/>
              <a:buNone/>
              <a:tabLst/>
              <a:defRPr/>
            </a:pPr>
            <a:fld id="{773AE5EE-B8EB-F948-A108-6E4F733B5380}" type="slidenum">
              <a:rPr kumimoji="0" lang="en-AU"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1" fontAlgn="auto" latinLnBrk="0" hangingPunct="1">
                <a:lnSpc>
                  <a:spcPct val="100000"/>
                </a:lnSpc>
                <a:spcBef>
                  <a:spcPts val="0"/>
                </a:spcBef>
                <a:spcAft>
                  <a:spcPts val="0"/>
                </a:spcAft>
                <a:buClrTx/>
                <a:buSzTx/>
                <a:buFontTx/>
                <a:buNone/>
                <a:tabLst/>
                <a:defRPr/>
              </a:pPr>
              <a:t>5</a:t>
            </a:fld>
            <a:endParaRPr kumimoji="0" lang="en-AU"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94213" name="Rectangle 2">
            <a:extLst>
              <a:ext uri="{FF2B5EF4-FFF2-40B4-BE49-F238E27FC236}">
                <a16:creationId xmlns:a16="http://schemas.microsoft.com/office/drawing/2014/main" id="{A2291667-B1EB-9047-B8EC-9150CA792DCE}"/>
              </a:ext>
            </a:extLst>
          </p:cNvPr>
          <p:cNvSpPr>
            <a:spLocks noGrp="1" noRot="1" noChangeAspect="1" noChangeArrowheads="1" noTextEdit="1"/>
          </p:cNvSpPr>
          <p:nvPr>
            <p:ph type="sldImg"/>
          </p:nvPr>
        </p:nvSpPr>
        <p:spPr>
          <a:ln/>
        </p:spPr>
      </p:sp>
      <p:sp>
        <p:nvSpPr>
          <p:cNvPr id="94214" name="Rectangle 3">
            <a:extLst>
              <a:ext uri="{FF2B5EF4-FFF2-40B4-BE49-F238E27FC236}">
                <a16:creationId xmlns:a16="http://schemas.microsoft.com/office/drawing/2014/main" id="{398C3769-D84F-0A45-9B7B-4E1A47AC3A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ea typeface="ＭＳ Ｐゴシック" panose="020B0600070205080204" pitchFamily="34" charset="-128"/>
              </a:rPr>
              <a:t>For very small and very large numbers, we can not represent them in integer format. Computer arithmetic that supports such very small and very big numbers is called floating point because it represents numbers in which the binary point is not fixed (unlike the case for the integers). </a:t>
            </a:r>
          </a:p>
          <a:p>
            <a:r>
              <a:rPr lang="en-US" altLang="en-US" dirty="0">
                <a:ea typeface="ＭＳ Ｐゴシック" panose="020B0600070205080204" pitchFamily="34" charset="-128"/>
              </a:rPr>
              <a:t>In applied mathematics, a number is normalized when it is written in scientific notation with one nonzero decimal digit before the decimal point. </a:t>
            </a:r>
          </a:p>
        </p:txBody>
      </p:sp>
    </p:spTree>
    <p:extLst>
      <p:ext uri="{BB962C8B-B14F-4D97-AF65-F5344CB8AC3E}">
        <p14:creationId xmlns:p14="http://schemas.microsoft.com/office/powerpoint/2010/main" val="1716215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58D96373-417D-9A4B-8327-45F65EB3737D}"/>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66788" rtl="0" eaLnBrk="1" fontAlgn="auto" latinLnBrk="0" hangingPunct="1">
              <a:lnSpc>
                <a:spcPct val="100000"/>
              </a:lnSpc>
              <a:spcBef>
                <a:spcPts val="0"/>
              </a:spcBef>
              <a:spcAft>
                <a:spcPts val="0"/>
              </a:spcAft>
              <a:buClrTx/>
              <a:buSzTx/>
              <a:buFontTx/>
              <a:buNone/>
              <a:tabLst/>
              <a:defRPr/>
            </a:pPr>
            <a:r>
              <a:rPr kumimoji="0" lang="en-AU"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t>Morgan Kaufmann Publishers</a:t>
            </a:r>
          </a:p>
        </p:txBody>
      </p:sp>
      <p:sp>
        <p:nvSpPr>
          <p:cNvPr id="94210" name="Rectangle 3">
            <a:extLst>
              <a:ext uri="{FF2B5EF4-FFF2-40B4-BE49-F238E27FC236}">
                <a16:creationId xmlns:a16="http://schemas.microsoft.com/office/drawing/2014/main" id="{CA71449C-E15C-0C4B-A383-CAB97CFAF86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66788" rtl="0" eaLnBrk="1" fontAlgn="auto" latinLnBrk="0" hangingPunct="1">
              <a:lnSpc>
                <a:spcPct val="100000"/>
              </a:lnSpc>
              <a:spcBef>
                <a:spcPts val="0"/>
              </a:spcBef>
              <a:spcAft>
                <a:spcPts val="0"/>
              </a:spcAft>
              <a:buClrTx/>
              <a:buSzTx/>
              <a:buFontTx/>
              <a:buNone/>
              <a:tabLst/>
              <a:defRPr/>
            </a:pPr>
            <a:fld id="{F8044F6D-09DE-ED4D-88E3-9CDAAA99B416}" type="datetime3">
              <a:rPr kumimoji="0" lang="en-AU"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1" fontAlgn="auto" latinLnBrk="0" hangingPunct="1">
                <a:lnSpc>
                  <a:spcPct val="100000"/>
                </a:lnSpc>
                <a:spcBef>
                  <a:spcPts val="0"/>
                </a:spcBef>
                <a:spcAft>
                  <a:spcPts val="0"/>
                </a:spcAft>
                <a:buClrTx/>
                <a:buSzTx/>
                <a:buFontTx/>
                <a:buNone/>
                <a:tabLst/>
                <a:defRPr/>
              </a:pPr>
              <a:t>22 September, 2026</a:t>
            </a:fld>
            <a:endParaRPr kumimoji="0" lang="en-AU"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94211" name="Rectangle 6">
            <a:extLst>
              <a:ext uri="{FF2B5EF4-FFF2-40B4-BE49-F238E27FC236}">
                <a16:creationId xmlns:a16="http://schemas.microsoft.com/office/drawing/2014/main" id="{02C19C5B-AA57-5E41-9CFA-F3E878ADEEC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66788" rtl="0" eaLnBrk="1" fontAlgn="auto" latinLnBrk="0" hangingPunct="1">
              <a:lnSpc>
                <a:spcPct val="100000"/>
              </a:lnSpc>
              <a:spcBef>
                <a:spcPts val="0"/>
              </a:spcBef>
              <a:spcAft>
                <a:spcPts val="0"/>
              </a:spcAft>
              <a:buClrTx/>
              <a:buSzTx/>
              <a:buFontTx/>
              <a:buNone/>
              <a:tabLst/>
              <a:defRPr/>
            </a:pPr>
            <a:r>
              <a:rPr kumimoji="0" lang="en-AU"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t>Chapter 3 — Arithmetic for Computers</a:t>
            </a:r>
          </a:p>
        </p:txBody>
      </p:sp>
      <p:sp>
        <p:nvSpPr>
          <p:cNvPr id="94212" name="Rectangle 7">
            <a:extLst>
              <a:ext uri="{FF2B5EF4-FFF2-40B4-BE49-F238E27FC236}">
                <a16:creationId xmlns:a16="http://schemas.microsoft.com/office/drawing/2014/main" id="{CE0F0CA3-8F96-A847-A8AD-D9526260B4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66788" rtl="0" eaLnBrk="1" fontAlgn="auto" latinLnBrk="0" hangingPunct="1">
              <a:lnSpc>
                <a:spcPct val="100000"/>
              </a:lnSpc>
              <a:spcBef>
                <a:spcPts val="0"/>
              </a:spcBef>
              <a:spcAft>
                <a:spcPts val="0"/>
              </a:spcAft>
              <a:buClrTx/>
              <a:buSzTx/>
              <a:buFontTx/>
              <a:buNone/>
              <a:tabLst/>
              <a:defRPr/>
            </a:pPr>
            <a:fld id="{773AE5EE-B8EB-F948-A108-6E4F733B5380}" type="slidenum">
              <a:rPr kumimoji="0" lang="en-AU"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1" fontAlgn="auto" latinLnBrk="0" hangingPunct="1">
                <a:lnSpc>
                  <a:spcPct val="100000"/>
                </a:lnSpc>
                <a:spcBef>
                  <a:spcPts val="0"/>
                </a:spcBef>
                <a:spcAft>
                  <a:spcPts val="0"/>
                </a:spcAft>
                <a:buClrTx/>
                <a:buSzTx/>
                <a:buFontTx/>
                <a:buNone/>
                <a:tabLst/>
                <a:defRPr/>
              </a:pPr>
              <a:t>6</a:t>
            </a:fld>
            <a:endParaRPr kumimoji="0" lang="en-AU"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94213" name="Rectangle 2">
            <a:extLst>
              <a:ext uri="{FF2B5EF4-FFF2-40B4-BE49-F238E27FC236}">
                <a16:creationId xmlns:a16="http://schemas.microsoft.com/office/drawing/2014/main" id="{A2291667-B1EB-9047-B8EC-9150CA792DCE}"/>
              </a:ext>
            </a:extLst>
          </p:cNvPr>
          <p:cNvSpPr>
            <a:spLocks noGrp="1" noRot="1" noChangeAspect="1" noChangeArrowheads="1" noTextEdit="1"/>
          </p:cNvSpPr>
          <p:nvPr>
            <p:ph type="sldImg"/>
          </p:nvPr>
        </p:nvSpPr>
        <p:spPr>
          <a:ln/>
        </p:spPr>
      </p:sp>
      <p:sp>
        <p:nvSpPr>
          <p:cNvPr id="94214" name="Rectangle 3">
            <a:extLst>
              <a:ext uri="{FF2B5EF4-FFF2-40B4-BE49-F238E27FC236}">
                <a16:creationId xmlns:a16="http://schemas.microsoft.com/office/drawing/2014/main" id="{398C3769-D84F-0A45-9B7B-4E1A47AC3A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ea typeface="ＭＳ Ｐゴシック" panose="020B0600070205080204" pitchFamily="34" charset="-128"/>
              </a:rPr>
              <a:t>For very small and very large numbers, we can not represent them in integer format. Computer arithmetic that supports such very small and very big numbers is called floating point because it represents numbers in which the binary point is not fixed (unlike the case for the integers). </a:t>
            </a:r>
          </a:p>
          <a:p>
            <a:r>
              <a:rPr lang="en-US" altLang="en-US" dirty="0">
                <a:ea typeface="ＭＳ Ｐゴシック" panose="020B0600070205080204" pitchFamily="34" charset="-128"/>
              </a:rPr>
              <a:t>In applied mathematics, a number is normalized when it is written in scientific notation with one nonzero decimal digit before the decimal point. </a:t>
            </a:r>
          </a:p>
        </p:txBody>
      </p:sp>
    </p:spTree>
    <p:extLst>
      <p:ext uri="{BB962C8B-B14F-4D97-AF65-F5344CB8AC3E}">
        <p14:creationId xmlns:p14="http://schemas.microsoft.com/office/powerpoint/2010/main" val="157269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A43F0D93-977C-CF49-88CE-3544A95C1E15}"/>
              </a:ext>
            </a:extLst>
          </p:cNvPr>
          <p:cNvSpPr>
            <a:spLocks noGrp="1" noChangeArrowheads="1"/>
          </p:cNvSpPr>
          <p:nvPr>
            <p:ph type="hdr" sz="quarter"/>
          </p:nvPr>
        </p:nvSpPr>
        <p:spPr>
          <a:extLst>
            <a:ext uri="{909E8E84-426E-40dd-AFC4-6F175D3DCCD1}"/>
            <a:ext uri="{91240B29-F687-4f45-9708-019B960494DF}"/>
          </a:extLst>
        </p:spPr>
        <p:txBody>
          <a:bodyPr/>
          <a:lstStyle>
            <a:lvl1pPr defTabSz="1047225">
              <a:defRPr>
                <a:solidFill>
                  <a:schemeClr val="tx1"/>
                </a:solidFill>
                <a:latin typeface="Arial" panose="020B0604020202020204" pitchFamily="34" charset="0"/>
              </a:defRPr>
            </a:lvl1pPr>
            <a:lvl2pPr marL="804763" indent="-309524" defTabSz="1047225">
              <a:defRPr>
                <a:solidFill>
                  <a:schemeClr val="tx1"/>
                </a:solidFill>
                <a:latin typeface="Arial" panose="020B0604020202020204" pitchFamily="34" charset="0"/>
              </a:defRPr>
            </a:lvl2pPr>
            <a:lvl3pPr marL="1238098" indent="-247620" defTabSz="1047225">
              <a:defRPr>
                <a:solidFill>
                  <a:schemeClr val="tx1"/>
                </a:solidFill>
                <a:latin typeface="Arial" panose="020B0604020202020204" pitchFamily="34" charset="0"/>
              </a:defRPr>
            </a:lvl3pPr>
            <a:lvl4pPr marL="1733337" indent="-247620" defTabSz="1047225">
              <a:defRPr>
                <a:solidFill>
                  <a:schemeClr val="tx1"/>
                </a:solidFill>
                <a:latin typeface="Arial" panose="020B0604020202020204" pitchFamily="34" charset="0"/>
              </a:defRPr>
            </a:lvl4pPr>
            <a:lvl5pPr marL="2228576" indent="-247620" defTabSz="1047225">
              <a:defRPr>
                <a:solidFill>
                  <a:schemeClr val="tx1"/>
                </a:solidFill>
                <a:latin typeface="Arial" panose="020B0604020202020204" pitchFamily="34" charset="0"/>
              </a:defRPr>
            </a:lvl5pPr>
            <a:lvl6pPr marL="2723815" indent="-247620" defTabSz="1047225" eaLnBrk="0" fontAlgn="base" hangingPunct="0">
              <a:spcBef>
                <a:spcPct val="0"/>
              </a:spcBef>
              <a:spcAft>
                <a:spcPct val="0"/>
              </a:spcAft>
              <a:defRPr>
                <a:solidFill>
                  <a:schemeClr val="tx1"/>
                </a:solidFill>
                <a:latin typeface="Arial" panose="020B0604020202020204" pitchFamily="34" charset="0"/>
              </a:defRPr>
            </a:lvl6pPr>
            <a:lvl7pPr marL="3219054" indent="-247620" defTabSz="1047225" eaLnBrk="0" fontAlgn="base" hangingPunct="0">
              <a:spcBef>
                <a:spcPct val="0"/>
              </a:spcBef>
              <a:spcAft>
                <a:spcPct val="0"/>
              </a:spcAft>
              <a:defRPr>
                <a:solidFill>
                  <a:schemeClr val="tx1"/>
                </a:solidFill>
                <a:latin typeface="Arial" panose="020B0604020202020204" pitchFamily="34" charset="0"/>
              </a:defRPr>
            </a:lvl7pPr>
            <a:lvl8pPr marL="3714293" indent="-247620" defTabSz="1047225" eaLnBrk="0" fontAlgn="base" hangingPunct="0">
              <a:spcBef>
                <a:spcPct val="0"/>
              </a:spcBef>
              <a:spcAft>
                <a:spcPct val="0"/>
              </a:spcAft>
              <a:defRPr>
                <a:solidFill>
                  <a:schemeClr val="tx1"/>
                </a:solidFill>
                <a:latin typeface="Arial" panose="020B0604020202020204" pitchFamily="34" charset="0"/>
              </a:defRPr>
            </a:lvl8pPr>
            <a:lvl9pPr marL="4209532" indent="-247620" defTabSz="1047225"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047225"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Morgan Kaufmann Publishers</a:t>
            </a:r>
          </a:p>
        </p:txBody>
      </p:sp>
      <p:sp>
        <p:nvSpPr>
          <p:cNvPr id="96258" name="Rectangle 3">
            <a:extLst>
              <a:ext uri="{FF2B5EF4-FFF2-40B4-BE49-F238E27FC236}">
                <a16:creationId xmlns:a16="http://schemas.microsoft.com/office/drawing/2014/main" id="{B0A3AA1A-E36F-B142-BB0F-CA4B71CD95D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46163">
              <a:defRPr>
                <a:solidFill>
                  <a:schemeClr val="tx1"/>
                </a:solidFill>
                <a:latin typeface="Arial" panose="020B0604020202020204" pitchFamily="34" charset="0"/>
                <a:ea typeface="ＭＳ Ｐゴシック" panose="020B0600070205080204" pitchFamily="34" charset="-128"/>
              </a:defRPr>
            </a:lvl1pPr>
            <a:lvl2pPr marL="742950" indent="-285750" defTabSz="1046163">
              <a:defRPr>
                <a:solidFill>
                  <a:schemeClr val="tx1"/>
                </a:solidFill>
                <a:latin typeface="Arial" panose="020B0604020202020204" pitchFamily="34" charset="0"/>
                <a:ea typeface="ＭＳ Ｐゴシック" panose="020B0600070205080204" pitchFamily="34" charset="-128"/>
              </a:defRPr>
            </a:lvl2pPr>
            <a:lvl3pPr marL="1143000" indent="-228600" defTabSz="1046163">
              <a:defRPr>
                <a:solidFill>
                  <a:schemeClr val="tx1"/>
                </a:solidFill>
                <a:latin typeface="Arial" panose="020B0604020202020204" pitchFamily="34" charset="0"/>
                <a:ea typeface="ＭＳ Ｐゴシック" panose="020B0600070205080204" pitchFamily="34" charset="-128"/>
              </a:defRPr>
            </a:lvl3pPr>
            <a:lvl4pPr marL="1600200" indent="-228600" defTabSz="1046163">
              <a:defRPr>
                <a:solidFill>
                  <a:schemeClr val="tx1"/>
                </a:solidFill>
                <a:latin typeface="Arial" panose="020B0604020202020204" pitchFamily="34" charset="0"/>
                <a:ea typeface="ＭＳ Ｐゴシック" panose="020B0600070205080204" pitchFamily="34" charset="-128"/>
              </a:defRPr>
            </a:lvl4pPr>
            <a:lvl5pPr marL="2057400" indent="-228600" defTabSz="1046163">
              <a:defRPr>
                <a:solidFill>
                  <a:schemeClr val="tx1"/>
                </a:solidFill>
                <a:latin typeface="Arial" panose="020B0604020202020204" pitchFamily="34" charset="0"/>
                <a:ea typeface="ＭＳ Ｐゴシック" panose="020B0600070205080204" pitchFamily="34" charset="-128"/>
              </a:defRPr>
            </a:lvl5pPr>
            <a:lvl6pPr marL="2514600" indent="-228600" defTabSz="104616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104616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104616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104616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1046163" rtl="0" eaLnBrk="1" fontAlgn="auto" latinLnBrk="0" hangingPunct="1">
              <a:lnSpc>
                <a:spcPct val="100000"/>
              </a:lnSpc>
              <a:spcBef>
                <a:spcPts val="0"/>
              </a:spcBef>
              <a:spcAft>
                <a:spcPts val="0"/>
              </a:spcAft>
              <a:buClrTx/>
              <a:buSzTx/>
              <a:buFontTx/>
              <a:buNone/>
              <a:tabLst/>
              <a:defRPr/>
            </a:pPr>
            <a:fld id="{18DDD4FF-32D4-9B48-BC12-8F5C8A4B75AD}" type="datetime3">
              <a:rPr kumimoji="0" lang="en-AU"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1046163" rtl="0" eaLnBrk="1" fontAlgn="auto" latinLnBrk="0" hangingPunct="1">
                <a:lnSpc>
                  <a:spcPct val="100000"/>
                </a:lnSpc>
                <a:spcBef>
                  <a:spcPts val="0"/>
                </a:spcBef>
                <a:spcAft>
                  <a:spcPts val="0"/>
                </a:spcAft>
                <a:buClrTx/>
                <a:buSzTx/>
                <a:buFontTx/>
                <a:buNone/>
                <a:tabLst/>
                <a:defRPr/>
              </a:pPr>
              <a:t>22 September, 2026</a:t>
            </a:fld>
            <a:endParaRPr kumimoji="0" lang="en-AU"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96259" name="Rectangle 6">
            <a:extLst>
              <a:ext uri="{FF2B5EF4-FFF2-40B4-BE49-F238E27FC236}">
                <a16:creationId xmlns:a16="http://schemas.microsoft.com/office/drawing/2014/main" id="{3F7AEC23-5F20-B249-B2BD-465DC8C9B39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46163">
              <a:defRPr>
                <a:solidFill>
                  <a:schemeClr val="tx1"/>
                </a:solidFill>
                <a:latin typeface="Arial" panose="020B0604020202020204" pitchFamily="34" charset="0"/>
                <a:ea typeface="ＭＳ Ｐゴシック" panose="020B0600070205080204" pitchFamily="34" charset="-128"/>
              </a:defRPr>
            </a:lvl1pPr>
            <a:lvl2pPr marL="742950" indent="-285750" defTabSz="1046163">
              <a:defRPr>
                <a:solidFill>
                  <a:schemeClr val="tx1"/>
                </a:solidFill>
                <a:latin typeface="Arial" panose="020B0604020202020204" pitchFamily="34" charset="0"/>
                <a:ea typeface="ＭＳ Ｐゴシック" panose="020B0600070205080204" pitchFamily="34" charset="-128"/>
              </a:defRPr>
            </a:lvl2pPr>
            <a:lvl3pPr marL="1143000" indent="-228600" defTabSz="1046163">
              <a:defRPr>
                <a:solidFill>
                  <a:schemeClr val="tx1"/>
                </a:solidFill>
                <a:latin typeface="Arial" panose="020B0604020202020204" pitchFamily="34" charset="0"/>
                <a:ea typeface="ＭＳ Ｐゴシック" panose="020B0600070205080204" pitchFamily="34" charset="-128"/>
              </a:defRPr>
            </a:lvl3pPr>
            <a:lvl4pPr marL="1600200" indent="-228600" defTabSz="1046163">
              <a:defRPr>
                <a:solidFill>
                  <a:schemeClr val="tx1"/>
                </a:solidFill>
                <a:latin typeface="Arial" panose="020B0604020202020204" pitchFamily="34" charset="0"/>
                <a:ea typeface="ＭＳ Ｐゴシック" panose="020B0600070205080204" pitchFamily="34" charset="-128"/>
              </a:defRPr>
            </a:lvl4pPr>
            <a:lvl5pPr marL="2057400" indent="-228600" defTabSz="1046163">
              <a:defRPr>
                <a:solidFill>
                  <a:schemeClr val="tx1"/>
                </a:solidFill>
                <a:latin typeface="Arial" panose="020B0604020202020204" pitchFamily="34" charset="0"/>
                <a:ea typeface="ＭＳ Ｐゴシック" panose="020B0600070205080204" pitchFamily="34" charset="-128"/>
              </a:defRPr>
            </a:lvl5pPr>
            <a:lvl6pPr marL="2514600" indent="-228600" defTabSz="104616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104616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104616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104616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1046163" rtl="0" eaLnBrk="1" fontAlgn="auto" latinLnBrk="0" hangingPunct="1">
              <a:lnSpc>
                <a:spcPct val="100000"/>
              </a:lnSpc>
              <a:spcBef>
                <a:spcPts val="0"/>
              </a:spcBef>
              <a:spcAft>
                <a:spcPts val="0"/>
              </a:spcAft>
              <a:buClrTx/>
              <a:buSzTx/>
              <a:buFontTx/>
              <a:buNone/>
              <a:tabLst/>
              <a:defRPr/>
            </a:pPr>
            <a:r>
              <a:rPr kumimoji="0" lang="en-AU"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t>Chapter 3 — Arithmetic for Computers</a:t>
            </a:r>
          </a:p>
        </p:txBody>
      </p:sp>
      <p:sp>
        <p:nvSpPr>
          <p:cNvPr id="96260" name="Rectangle 7">
            <a:extLst>
              <a:ext uri="{FF2B5EF4-FFF2-40B4-BE49-F238E27FC236}">
                <a16:creationId xmlns:a16="http://schemas.microsoft.com/office/drawing/2014/main" id="{F4096988-A19B-BD4D-BAD6-72F79CCF9C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46163">
              <a:defRPr>
                <a:solidFill>
                  <a:schemeClr val="tx1"/>
                </a:solidFill>
                <a:latin typeface="Arial" panose="020B0604020202020204" pitchFamily="34" charset="0"/>
                <a:ea typeface="ＭＳ Ｐゴシック" panose="020B0600070205080204" pitchFamily="34" charset="-128"/>
              </a:defRPr>
            </a:lvl1pPr>
            <a:lvl2pPr marL="742950" indent="-285750" defTabSz="1046163">
              <a:defRPr>
                <a:solidFill>
                  <a:schemeClr val="tx1"/>
                </a:solidFill>
                <a:latin typeface="Arial" panose="020B0604020202020204" pitchFamily="34" charset="0"/>
                <a:ea typeface="ＭＳ Ｐゴシック" panose="020B0600070205080204" pitchFamily="34" charset="-128"/>
              </a:defRPr>
            </a:lvl2pPr>
            <a:lvl3pPr marL="1143000" indent="-228600" defTabSz="1046163">
              <a:defRPr>
                <a:solidFill>
                  <a:schemeClr val="tx1"/>
                </a:solidFill>
                <a:latin typeface="Arial" panose="020B0604020202020204" pitchFamily="34" charset="0"/>
                <a:ea typeface="ＭＳ Ｐゴシック" panose="020B0600070205080204" pitchFamily="34" charset="-128"/>
              </a:defRPr>
            </a:lvl3pPr>
            <a:lvl4pPr marL="1600200" indent="-228600" defTabSz="1046163">
              <a:defRPr>
                <a:solidFill>
                  <a:schemeClr val="tx1"/>
                </a:solidFill>
                <a:latin typeface="Arial" panose="020B0604020202020204" pitchFamily="34" charset="0"/>
                <a:ea typeface="ＭＳ Ｐゴシック" panose="020B0600070205080204" pitchFamily="34" charset="-128"/>
              </a:defRPr>
            </a:lvl4pPr>
            <a:lvl5pPr marL="2057400" indent="-228600" defTabSz="1046163">
              <a:defRPr>
                <a:solidFill>
                  <a:schemeClr val="tx1"/>
                </a:solidFill>
                <a:latin typeface="Arial" panose="020B0604020202020204" pitchFamily="34" charset="0"/>
                <a:ea typeface="ＭＳ Ｐゴシック" panose="020B0600070205080204" pitchFamily="34" charset="-128"/>
              </a:defRPr>
            </a:lvl5pPr>
            <a:lvl6pPr marL="2514600" indent="-228600" defTabSz="104616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104616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104616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104616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1046163" rtl="0" eaLnBrk="1" fontAlgn="auto" latinLnBrk="0" hangingPunct="1">
              <a:lnSpc>
                <a:spcPct val="100000"/>
              </a:lnSpc>
              <a:spcBef>
                <a:spcPts val="0"/>
              </a:spcBef>
              <a:spcAft>
                <a:spcPts val="0"/>
              </a:spcAft>
              <a:buClrTx/>
              <a:buSzTx/>
              <a:buFontTx/>
              <a:buNone/>
              <a:tabLst/>
              <a:defRPr/>
            </a:pPr>
            <a:fld id="{808855DC-E52E-1642-844B-60C22DB93E5B}" type="slidenum">
              <a:rPr kumimoji="0" lang="en-AU"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1046163" rtl="0" eaLnBrk="1" fontAlgn="auto" latinLnBrk="0" hangingPunct="1">
                <a:lnSpc>
                  <a:spcPct val="100000"/>
                </a:lnSpc>
                <a:spcBef>
                  <a:spcPts val="0"/>
                </a:spcBef>
                <a:spcAft>
                  <a:spcPts val="0"/>
                </a:spcAft>
                <a:buClrTx/>
                <a:buSzTx/>
                <a:buFontTx/>
                <a:buNone/>
                <a:tabLst/>
                <a:defRPr/>
              </a:pPr>
              <a:t>7</a:t>
            </a:fld>
            <a:endParaRPr kumimoji="0" lang="en-AU"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96261" name="Rectangle 2">
            <a:extLst>
              <a:ext uri="{FF2B5EF4-FFF2-40B4-BE49-F238E27FC236}">
                <a16:creationId xmlns:a16="http://schemas.microsoft.com/office/drawing/2014/main" id="{B31ACCE4-43B1-364C-81D2-C8D910CCABA3}"/>
              </a:ext>
            </a:extLst>
          </p:cNvPr>
          <p:cNvSpPr>
            <a:spLocks noGrp="1" noRot="1" noChangeAspect="1" noChangeArrowheads="1" noTextEdit="1"/>
          </p:cNvSpPr>
          <p:nvPr>
            <p:ph type="sldImg"/>
          </p:nvPr>
        </p:nvSpPr>
        <p:spPr>
          <a:ln/>
        </p:spPr>
      </p:sp>
      <p:sp>
        <p:nvSpPr>
          <p:cNvPr id="96262" name="Rectangle 3">
            <a:extLst>
              <a:ext uri="{FF2B5EF4-FFF2-40B4-BE49-F238E27FC236}">
                <a16:creationId xmlns:a16="http://schemas.microsoft.com/office/drawing/2014/main" id="{BC66F615-807C-5E4C-9D74-0C30C5CCD2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ea typeface="ＭＳ Ｐゴシック" panose="020B0600070205080204" pitchFamily="34" charset="-128"/>
              </a:rPr>
              <a:t>Now, a designer of a floating-point representation must find a compromise between the size of the fraction (0&lt;number&lt;1) and the size of the exponent because a fixed word size, means you must take a bit from one to add to the other (a tradeoff between precision and range).</a:t>
            </a: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9742536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85125">
              <a:defRPr>
                <a:solidFill>
                  <a:schemeClr val="tx1"/>
                </a:solidFill>
                <a:latin typeface="Arial" panose="020B0604020202020204" pitchFamily="34" charset="0"/>
              </a:defRPr>
            </a:lvl1pPr>
            <a:lvl2pPr marL="757041" indent="-291169" defTabSz="985125">
              <a:defRPr>
                <a:solidFill>
                  <a:schemeClr val="tx1"/>
                </a:solidFill>
                <a:latin typeface="Arial" panose="020B0604020202020204" pitchFamily="34" charset="0"/>
              </a:defRPr>
            </a:lvl2pPr>
            <a:lvl3pPr marL="1164679" indent="-232936" defTabSz="985125">
              <a:defRPr>
                <a:solidFill>
                  <a:schemeClr val="tx1"/>
                </a:solidFill>
                <a:latin typeface="Arial" panose="020B0604020202020204" pitchFamily="34" charset="0"/>
              </a:defRPr>
            </a:lvl3pPr>
            <a:lvl4pPr marL="1630550" indent="-232936" defTabSz="985125">
              <a:defRPr>
                <a:solidFill>
                  <a:schemeClr val="tx1"/>
                </a:solidFill>
                <a:latin typeface="Arial" panose="020B0604020202020204" pitchFamily="34" charset="0"/>
              </a:defRPr>
            </a:lvl4pPr>
            <a:lvl5pPr marL="2096421" indent="-232936" defTabSz="985125">
              <a:defRPr>
                <a:solidFill>
                  <a:schemeClr val="tx1"/>
                </a:solidFill>
                <a:latin typeface="Arial" panose="020B0604020202020204" pitchFamily="34" charset="0"/>
              </a:defRPr>
            </a:lvl5pPr>
            <a:lvl6pPr marL="2562293" indent="-232936" defTabSz="985125" eaLnBrk="0" fontAlgn="base" hangingPunct="0">
              <a:spcBef>
                <a:spcPct val="0"/>
              </a:spcBef>
              <a:spcAft>
                <a:spcPct val="0"/>
              </a:spcAft>
              <a:defRPr>
                <a:solidFill>
                  <a:schemeClr val="tx1"/>
                </a:solidFill>
                <a:latin typeface="Arial" panose="020B0604020202020204" pitchFamily="34" charset="0"/>
              </a:defRPr>
            </a:lvl6pPr>
            <a:lvl7pPr marL="3028164" indent="-232936" defTabSz="985125" eaLnBrk="0" fontAlgn="base" hangingPunct="0">
              <a:spcBef>
                <a:spcPct val="0"/>
              </a:spcBef>
              <a:spcAft>
                <a:spcPct val="0"/>
              </a:spcAft>
              <a:defRPr>
                <a:solidFill>
                  <a:schemeClr val="tx1"/>
                </a:solidFill>
                <a:latin typeface="Arial" panose="020B0604020202020204" pitchFamily="34" charset="0"/>
              </a:defRPr>
            </a:lvl7pPr>
            <a:lvl8pPr marL="3494035" indent="-232936" defTabSz="985125" eaLnBrk="0" fontAlgn="base" hangingPunct="0">
              <a:spcBef>
                <a:spcPct val="0"/>
              </a:spcBef>
              <a:spcAft>
                <a:spcPct val="0"/>
              </a:spcAft>
              <a:defRPr>
                <a:solidFill>
                  <a:schemeClr val="tx1"/>
                </a:solidFill>
                <a:latin typeface="Arial" panose="020B0604020202020204" pitchFamily="34" charset="0"/>
              </a:defRPr>
            </a:lvl8pPr>
            <a:lvl9pPr marL="3959907" indent="-232936" defTabSz="985125"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85125"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Morgan Kaufmann Publishers</a:t>
            </a:r>
          </a:p>
        </p:txBody>
      </p:sp>
      <p:sp>
        <p:nvSpPr>
          <p:cNvPr id="100354" name="Rectangle 3"/>
          <p:cNvSpPr>
            <a:spLocks noGrp="1" noChangeArrowheads="1"/>
          </p:cNvSpPr>
          <p:nvPr>
            <p:ph type="dt" sz="quarter"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84126">
              <a:defRPr sz="2300">
                <a:solidFill>
                  <a:schemeClr val="tx1"/>
                </a:solidFill>
                <a:latin typeface="Arial" charset="0"/>
                <a:ea typeface="ＭＳ Ｐゴシック" charset="0"/>
                <a:cs typeface="ＭＳ Ｐゴシック" charset="0"/>
              </a:defRPr>
            </a:lvl1pPr>
            <a:lvl2pPr marL="698893" indent="-268805" defTabSz="984126">
              <a:defRPr sz="2300">
                <a:solidFill>
                  <a:schemeClr val="tx1"/>
                </a:solidFill>
                <a:latin typeface="Arial" charset="0"/>
                <a:ea typeface="ＭＳ Ｐゴシック" charset="0"/>
              </a:defRPr>
            </a:lvl2pPr>
            <a:lvl3pPr marL="1075220" indent="-215044" defTabSz="984126">
              <a:defRPr sz="2300">
                <a:solidFill>
                  <a:schemeClr val="tx1"/>
                </a:solidFill>
                <a:latin typeface="Arial" charset="0"/>
                <a:ea typeface="ＭＳ Ｐゴシック" charset="0"/>
              </a:defRPr>
            </a:lvl3pPr>
            <a:lvl4pPr marL="1505308" indent="-215044" defTabSz="984126">
              <a:defRPr sz="2300">
                <a:solidFill>
                  <a:schemeClr val="tx1"/>
                </a:solidFill>
                <a:latin typeface="Arial" charset="0"/>
                <a:ea typeface="ＭＳ Ｐゴシック" charset="0"/>
              </a:defRPr>
            </a:lvl4pPr>
            <a:lvl5pPr marL="1935396" indent="-215044" defTabSz="984126">
              <a:defRPr sz="2300">
                <a:solidFill>
                  <a:schemeClr val="tx1"/>
                </a:solidFill>
                <a:latin typeface="Arial" charset="0"/>
                <a:ea typeface="ＭＳ Ｐゴシック" charset="0"/>
              </a:defRPr>
            </a:lvl5pPr>
            <a:lvl6pPr marL="2365484" indent="-215044" defTabSz="984126" eaLnBrk="0" fontAlgn="base" hangingPunct="0">
              <a:spcBef>
                <a:spcPct val="0"/>
              </a:spcBef>
              <a:spcAft>
                <a:spcPct val="0"/>
              </a:spcAft>
              <a:defRPr sz="2300">
                <a:solidFill>
                  <a:schemeClr val="tx1"/>
                </a:solidFill>
                <a:latin typeface="Arial" charset="0"/>
                <a:ea typeface="ＭＳ Ｐゴシック" charset="0"/>
              </a:defRPr>
            </a:lvl6pPr>
            <a:lvl7pPr marL="2795572" indent="-215044" defTabSz="984126" eaLnBrk="0" fontAlgn="base" hangingPunct="0">
              <a:spcBef>
                <a:spcPct val="0"/>
              </a:spcBef>
              <a:spcAft>
                <a:spcPct val="0"/>
              </a:spcAft>
              <a:defRPr sz="2300">
                <a:solidFill>
                  <a:schemeClr val="tx1"/>
                </a:solidFill>
                <a:latin typeface="Arial" charset="0"/>
                <a:ea typeface="ＭＳ Ｐゴシック" charset="0"/>
              </a:defRPr>
            </a:lvl7pPr>
            <a:lvl8pPr marL="3225660" indent="-215044" defTabSz="984126" eaLnBrk="0" fontAlgn="base" hangingPunct="0">
              <a:spcBef>
                <a:spcPct val="0"/>
              </a:spcBef>
              <a:spcAft>
                <a:spcPct val="0"/>
              </a:spcAft>
              <a:defRPr sz="2300">
                <a:solidFill>
                  <a:schemeClr val="tx1"/>
                </a:solidFill>
                <a:latin typeface="Arial" charset="0"/>
                <a:ea typeface="ＭＳ Ｐゴシック" charset="0"/>
              </a:defRPr>
            </a:lvl8pPr>
            <a:lvl9pPr marL="3655748" indent="-215044" defTabSz="984126" eaLnBrk="0" fontAlgn="base" hangingPunct="0">
              <a:spcBef>
                <a:spcPct val="0"/>
              </a:spcBef>
              <a:spcAft>
                <a:spcPct val="0"/>
              </a:spcAft>
              <a:defRPr sz="2300">
                <a:solidFill>
                  <a:schemeClr val="tx1"/>
                </a:solidFill>
                <a:latin typeface="Arial" charset="0"/>
                <a:ea typeface="ＭＳ Ｐゴシック" charset="0"/>
              </a:defRPr>
            </a:lvl9pPr>
          </a:lstStyle>
          <a:p>
            <a:pPr marL="0" marR="0" lvl="0" indent="0" algn="r" defTabSz="984126" rtl="0" eaLnBrk="1" fontAlgn="auto" latinLnBrk="0" hangingPunct="1">
              <a:lnSpc>
                <a:spcPct val="100000"/>
              </a:lnSpc>
              <a:spcBef>
                <a:spcPts val="0"/>
              </a:spcBef>
              <a:spcAft>
                <a:spcPts val="0"/>
              </a:spcAft>
              <a:buClrTx/>
              <a:buSzTx/>
              <a:buFontTx/>
              <a:buNone/>
              <a:tabLst/>
              <a:defRPr/>
            </a:pPr>
            <a:fld id="{674B8FD6-3EB5-DB48-9B45-F77F71B66295}" type="datetime3">
              <a:rPr kumimoji="0" lang="en-AU" sz="1200" b="0" i="0" u="none" strike="noStrike" kern="1200" cap="none" spc="0" normalizeH="0" baseline="0" noProof="0">
                <a:ln>
                  <a:noFill/>
                </a:ln>
                <a:solidFill>
                  <a:prstClr val="black"/>
                </a:solidFill>
                <a:effectLst/>
                <a:uLnTx/>
                <a:uFillTx/>
                <a:latin typeface="Times New Roman" charset="0"/>
                <a:ea typeface="ＭＳ Ｐゴシック" charset="0"/>
              </a:rPr>
              <a:pPr marL="0" marR="0" lvl="0" indent="0" algn="r" defTabSz="984126" rtl="0" eaLnBrk="1" fontAlgn="auto" latinLnBrk="0" hangingPunct="1">
                <a:lnSpc>
                  <a:spcPct val="100000"/>
                </a:lnSpc>
                <a:spcBef>
                  <a:spcPts val="0"/>
                </a:spcBef>
                <a:spcAft>
                  <a:spcPts val="0"/>
                </a:spcAft>
                <a:buClrTx/>
                <a:buSzTx/>
                <a:buFontTx/>
                <a:buNone/>
                <a:tabLst/>
                <a:defRPr/>
              </a:pPr>
              <a:t>22 September, 2026</a:t>
            </a:fld>
            <a:endParaRPr kumimoji="0" lang="en-AU" sz="1200" b="0" i="0" u="none" strike="noStrike" kern="1200" cap="none" spc="0" normalizeH="0" baseline="0" noProof="0">
              <a:ln>
                <a:noFill/>
              </a:ln>
              <a:solidFill>
                <a:prstClr val="black"/>
              </a:solidFill>
              <a:effectLst/>
              <a:uLnTx/>
              <a:uFillTx/>
              <a:latin typeface="Times New Roman" charset="0"/>
              <a:ea typeface="ＭＳ Ｐゴシック" charset="0"/>
            </a:endParaRPr>
          </a:p>
        </p:txBody>
      </p:sp>
      <p:sp>
        <p:nvSpPr>
          <p:cNvPr id="100355" name="Rectangle 6"/>
          <p:cNvSpPr>
            <a:spLocks noGrp="1" noChangeArrowheads="1"/>
          </p:cNvSpPr>
          <p:nvPr>
            <p:ph type="ftr" sz="quarter" idx="4"/>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84126">
              <a:defRPr sz="2300">
                <a:solidFill>
                  <a:schemeClr val="tx1"/>
                </a:solidFill>
                <a:latin typeface="Arial" charset="0"/>
                <a:ea typeface="ＭＳ Ｐゴシック" charset="0"/>
                <a:cs typeface="ＭＳ Ｐゴシック" charset="0"/>
              </a:defRPr>
            </a:lvl1pPr>
            <a:lvl2pPr marL="698893" indent="-268805" defTabSz="984126">
              <a:defRPr sz="2300">
                <a:solidFill>
                  <a:schemeClr val="tx1"/>
                </a:solidFill>
                <a:latin typeface="Arial" charset="0"/>
                <a:ea typeface="ＭＳ Ｐゴシック" charset="0"/>
              </a:defRPr>
            </a:lvl2pPr>
            <a:lvl3pPr marL="1075220" indent="-215044" defTabSz="984126">
              <a:defRPr sz="2300">
                <a:solidFill>
                  <a:schemeClr val="tx1"/>
                </a:solidFill>
                <a:latin typeface="Arial" charset="0"/>
                <a:ea typeface="ＭＳ Ｐゴシック" charset="0"/>
              </a:defRPr>
            </a:lvl3pPr>
            <a:lvl4pPr marL="1505308" indent="-215044" defTabSz="984126">
              <a:defRPr sz="2300">
                <a:solidFill>
                  <a:schemeClr val="tx1"/>
                </a:solidFill>
                <a:latin typeface="Arial" charset="0"/>
                <a:ea typeface="ＭＳ Ｐゴシック" charset="0"/>
              </a:defRPr>
            </a:lvl4pPr>
            <a:lvl5pPr marL="1935396" indent="-215044" defTabSz="984126">
              <a:defRPr sz="2300">
                <a:solidFill>
                  <a:schemeClr val="tx1"/>
                </a:solidFill>
                <a:latin typeface="Arial" charset="0"/>
                <a:ea typeface="ＭＳ Ｐゴシック" charset="0"/>
              </a:defRPr>
            </a:lvl5pPr>
            <a:lvl6pPr marL="2365484" indent="-215044" defTabSz="984126" eaLnBrk="0" fontAlgn="base" hangingPunct="0">
              <a:spcBef>
                <a:spcPct val="0"/>
              </a:spcBef>
              <a:spcAft>
                <a:spcPct val="0"/>
              </a:spcAft>
              <a:defRPr sz="2300">
                <a:solidFill>
                  <a:schemeClr val="tx1"/>
                </a:solidFill>
                <a:latin typeface="Arial" charset="0"/>
                <a:ea typeface="ＭＳ Ｐゴシック" charset="0"/>
              </a:defRPr>
            </a:lvl6pPr>
            <a:lvl7pPr marL="2795572" indent="-215044" defTabSz="984126" eaLnBrk="0" fontAlgn="base" hangingPunct="0">
              <a:spcBef>
                <a:spcPct val="0"/>
              </a:spcBef>
              <a:spcAft>
                <a:spcPct val="0"/>
              </a:spcAft>
              <a:defRPr sz="2300">
                <a:solidFill>
                  <a:schemeClr val="tx1"/>
                </a:solidFill>
                <a:latin typeface="Arial" charset="0"/>
                <a:ea typeface="ＭＳ Ｐゴシック" charset="0"/>
              </a:defRPr>
            </a:lvl7pPr>
            <a:lvl8pPr marL="3225660" indent="-215044" defTabSz="984126" eaLnBrk="0" fontAlgn="base" hangingPunct="0">
              <a:spcBef>
                <a:spcPct val="0"/>
              </a:spcBef>
              <a:spcAft>
                <a:spcPct val="0"/>
              </a:spcAft>
              <a:defRPr sz="2300">
                <a:solidFill>
                  <a:schemeClr val="tx1"/>
                </a:solidFill>
                <a:latin typeface="Arial" charset="0"/>
                <a:ea typeface="ＭＳ Ｐゴシック" charset="0"/>
              </a:defRPr>
            </a:lvl8pPr>
            <a:lvl9pPr marL="3655748" indent="-215044" defTabSz="984126" eaLnBrk="0" fontAlgn="base" hangingPunct="0">
              <a:spcBef>
                <a:spcPct val="0"/>
              </a:spcBef>
              <a:spcAft>
                <a:spcPct val="0"/>
              </a:spcAft>
              <a:defRPr sz="2300">
                <a:solidFill>
                  <a:schemeClr val="tx1"/>
                </a:solidFill>
                <a:latin typeface="Arial" charset="0"/>
                <a:ea typeface="ＭＳ Ｐゴシック" charset="0"/>
              </a:defRPr>
            </a:lvl9pPr>
          </a:lstStyle>
          <a:p>
            <a:pPr marL="0" marR="0" lvl="0" indent="0" algn="l" defTabSz="984126"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prstClr val="black"/>
                </a:solidFill>
                <a:effectLst/>
                <a:uLnTx/>
                <a:uFillTx/>
                <a:latin typeface="Times New Roman" charset="0"/>
                <a:ea typeface="ＭＳ Ｐゴシック" charset="0"/>
              </a:rPr>
              <a:t>Chapter 3 — Arithmetic for Computers</a:t>
            </a:r>
          </a:p>
        </p:txBody>
      </p:sp>
      <p:sp>
        <p:nvSpPr>
          <p:cNvPr id="10035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84126">
              <a:defRPr sz="2300">
                <a:solidFill>
                  <a:schemeClr val="tx1"/>
                </a:solidFill>
                <a:latin typeface="Arial" charset="0"/>
                <a:ea typeface="ＭＳ Ｐゴシック" charset="0"/>
                <a:cs typeface="ＭＳ Ｐゴシック" charset="0"/>
              </a:defRPr>
            </a:lvl1pPr>
            <a:lvl2pPr marL="698893" indent="-268805" defTabSz="984126">
              <a:defRPr sz="2300">
                <a:solidFill>
                  <a:schemeClr val="tx1"/>
                </a:solidFill>
                <a:latin typeface="Arial" charset="0"/>
                <a:ea typeface="ＭＳ Ｐゴシック" charset="0"/>
              </a:defRPr>
            </a:lvl2pPr>
            <a:lvl3pPr marL="1075220" indent="-215044" defTabSz="984126">
              <a:defRPr sz="2300">
                <a:solidFill>
                  <a:schemeClr val="tx1"/>
                </a:solidFill>
                <a:latin typeface="Arial" charset="0"/>
                <a:ea typeface="ＭＳ Ｐゴシック" charset="0"/>
              </a:defRPr>
            </a:lvl3pPr>
            <a:lvl4pPr marL="1505308" indent="-215044" defTabSz="984126">
              <a:defRPr sz="2300">
                <a:solidFill>
                  <a:schemeClr val="tx1"/>
                </a:solidFill>
                <a:latin typeface="Arial" charset="0"/>
                <a:ea typeface="ＭＳ Ｐゴシック" charset="0"/>
              </a:defRPr>
            </a:lvl4pPr>
            <a:lvl5pPr marL="1935396" indent="-215044" defTabSz="984126">
              <a:defRPr sz="2300">
                <a:solidFill>
                  <a:schemeClr val="tx1"/>
                </a:solidFill>
                <a:latin typeface="Arial" charset="0"/>
                <a:ea typeface="ＭＳ Ｐゴシック" charset="0"/>
              </a:defRPr>
            </a:lvl5pPr>
            <a:lvl6pPr marL="2365484" indent="-215044" defTabSz="984126" eaLnBrk="0" fontAlgn="base" hangingPunct="0">
              <a:spcBef>
                <a:spcPct val="0"/>
              </a:spcBef>
              <a:spcAft>
                <a:spcPct val="0"/>
              </a:spcAft>
              <a:defRPr sz="2300">
                <a:solidFill>
                  <a:schemeClr val="tx1"/>
                </a:solidFill>
                <a:latin typeface="Arial" charset="0"/>
                <a:ea typeface="ＭＳ Ｐゴシック" charset="0"/>
              </a:defRPr>
            </a:lvl6pPr>
            <a:lvl7pPr marL="2795572" indent="-215044" defTabSz="984126" eaLnBrk="0" fontAlgn="base" hangingPunct="0">
              <a:spcBef>
                <a:spcPct val="0"/>
              </a:spcBef>
              <a:spcAft>
                <a:spcPct val="0"/>
              </a:spcAft>
              <a:defRPr sz="2300">
                <a:solidFill>
                  <a:schemeClr val="tx1"/>
                </a:solidFill>
                <a:latin typeface="Arial" charset="0"/>
                <a:ea typeface="ＭＳ Ｐゴシック" charset="0"/>
              </a:defRPr>
            </a:lvl7pPr>
            <a:lvl8pPr marL="3225660" indent="-215044" defTabSz="984126" eaLnBrk="0" fontAlgn="base" hangingPunct="0">
              <a:spcBef>
                <a:spcPct val="0"/>
              </a:spcBef>
              <a:spcAft>
                <a:spcPct val="0"/>
              </a:spcAft>
              <a:defRPr sz="2300">
                <a:solidFill>
                  <a:schemeClr val="tx1"/>
                </a:solidFill>
                <a:latin typeface="Arial" charset="0"/>
                <a:ea typeface="ＭＳ Ｐゴシック" charset="0"/>
              </a:defRPr>
            </a:lvl8pPr>
            <a:lvl9pPr marL="3655748" indent="-215044" defTabSz="984126" eaLnBrk="0" fontAlgn="base" hangingPunct="0">
              <a:spcBef>
                <a:spcPct val="0"/>
              </a:spcBef>
              <a:spcAft>
                <a:spcPct val="0"/>
              </a:spcAft>
              <a:defRPr sz="2300">
                <a:solidFill>
                  <a:schemeClr val="tx1"/>
                </a:solidFill>
                <a:latin typeface="Arial" charset="0"/>
                <a:ea typeface="ＭＳ Ｐゴシック" charset="0"/>
              </a:defRPr>
            </a:lvl9pPr>
          </a:lstStyle>
          <a:p>
            <a:pPr marL="0" marR="0" lvl="0" indent="0" algn="r" defTabSz="984126" rtl="0" eaLnBrk="1" fontAlgn="auto" latinLnBrk="0" hangingPunct="1">
              <a:lnSpc>
                <a:spcPct val="100000"/>
              </a:lnSpc>
              <a:spcBef>
                <a:spcPts val="0"/>
              </a:spcBef>
              <a:spcAft>
                <a:spcPts val="0"/>
              </a:spcAft>
              <a:buClrTx/>
              <a:buSzTx/>
              <a:buFontTx/>
              <a:buNone/>
              <a:tabLst/>
              <a:defRPr/>
            </a:pPr>
            <a:fld id="{4EE2F2AB-28DD-2742-A42A-0C3112308D6C}" type="slidenum">
              <a:rPr kumimoji="0" lang="en-AU" sz="1200" b="0" i="0" u="none" strike="noStrike" kern="1200" cap="none" spc="0" normalizeH="0" baseline="0" noProof="0">
                <a:ln>
                  <a:noFill/>
                </a:ln>
                <a:solidFill>
                  <a:prstClr val="black"/>
                </a:solidFill>
                <a:effectLst/>
                <a:uLnTx/>
                <a:uFillTx/>
                <a:latin typeface="Times New Roman" charset="0"/>
                <a:ea typeface="ＭＳ Ｐゴシック" charset="0"/>
              </a:rPr>
              <a:pPr marL="0" marR="0" lvl="0" indent="0" algn="r" defTabSz="984126" rtl="0" eaLnBrk="1" fontAlgn="auto" latinLnBrk="0" hangingPunct="1">
                <a:lnSpc>
                  <a:spcPct val="100000"/>
                </a:lnSpc>
                <a:spcBef>
                  <a:spcPts val="0"/>
                </a:spcBef>
                <a:spcAft>
                  <a:spcPts val="0"/>
                </a:spcAft>
                <a:buClrTx/>
                <a:buSzTx/>
                <a:buFontTx/>
                <a:buNone/>
                <a:tabLst/>
                <a:defRPr/>
              </a:pPr>
              <a:t>8</a:t>
            </a:fld>
            <a:endParaRPr kumimoji="0" lang="en-AU" sz="1200" b="0" i="0" u="none" strike="noStrike" kern="1200" cap="none" spc="0" normalizeH="0" baseline="0" noProof="0">
              <a:ln>
                <a:noFill/>
              </a:ln>
              <a:solidFill>
                <a:prstClr val="black"/>
              </a:solidFill>
              <a:effectLst/>
              <a:uLnTx/>
              <a:uFillTx/>
              <a:latin typeface="Times New Roman" charset="0"/>
              <a:ea typeface="ＭＳ Ｐゴシック" charset="0"/>
            </a:endParaRPr>
          </a:p>
        </p:txBody>
      </p:sp>
      <p:sp>
        <p:nvSpPr>
          <p:cNvPr id="100357" name="Rectangle 2"/>
          <p:cNvSpPr>
            <a:spLocks noGrp="1" noRot="1" noChangeAspect="1" noChangeArrowheads="1" noTextEdit="1"/>
          </p:cNvSpPr>
          <p:nvPr>
            <p:ph type="sldImg"/>
          </p:nvPr>
        </p:nvSpPr>
        <p:spPr>
          <a:ln/>
        </p:spPr>
      </p:sp>
      <p:sp>
        <p:nvSpPr>
          <p:cNvPr id="10035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indent="0">
              <a:lnSpc>
                <a:spcPct val="80000"/>
              </a:lnSpc>
              <a:buFontTx/>
              <a:buNone/>
            </a:pPr>
            <a:r>
              <a:rPr lang="en-US" sz="1200" b="0" i="0" u="none" strike="noStrike" kern="1200" dirty="0">
                <a:solidFill>
                  <a:schemeClr val="tx1"/>
                </a:solidFill>
                <a:effectLst/>
                <a:latin typeface="+mn-lt"/>
                <a:ea typeface="+mn-ea"/>
                <a:cs typeface="+mn-cs"/>
              </a:rPr>
              <a:t>Like I mentioned earlier, the 754 is a </a:t>
            </a:r>
            <a:r>
              <a:rPr lang="en-US" sz="1200" b="0" i="0" u="none" strike="noStrike" kern="1200" dirty="0">
                <a:solidFill>
                  <a:schemeClr val="tx1"/>
                </a:solidFill>
                <a:effectLst/>
                <a:latin typeface="+mn-lt"/>
                <a:ea typeface="+mn-ea"/>
                <a:cs typeface="+mn-cs"/>
                <a:hlinkClick r:id="rId3" tooltip="Technical standard">
                  <a:extLst>
                    <a:ext uri="{A12FA001-AC4F-418D-AE19-62706E023703}">
                      <ahyp:hlinkClr xmlns:ahyp="http://schemas.microsoft.com/office/drawing/2018/hyperlinkcolor" val="tx"/>
                    </a:ext>
                  </a:extLst>
                </a:hlinkClick>
              </a:rPr>
              <a:t>technical standard</a:t>
            </a:r>
            <a:r>
              <a:rPr lang="en-US" sz="1200" b="0" i="0" u="none" strike="noStrike" kern="1200" dirty="0">
                <a:solidFill>
                  <a:schemeClr val="tx1"/>
                </a:solidFill>
                <a:effectLst/>
                <a:latin typeface="+mn-lt"/>
                <a:ea typeface="+mn-ea"/>
                <a:cs typeface="+mn-cs"/>
              </a:rPr>
              <a:t> for </a:t>
            </a:r>
            <a:r>
              <a:rPr lang="en-US" sz="1200" b="0" i="0" u="none" strike="noStrike" kern="1200" dirty="0">
                <a:solidFill>
                  <a:schemeClr val="tx1"/>
                </a:solidFill>
                <a:effectLst/>
                <a:latin typeface="+mn-lt"/>
                <a:ea typeface="+mn-ea"/>
                <a:cs typeface="+mn-cs"/>
                <a:hlinkClick r:id="rId4" tooltip="Floating-point arithmetic">
                  <a:extLst>
                    <a:ext uri="{A12FA001-AC4F-418D-AE19-62706E023703}">
                      <ahyp:hlinkClr xmlns:ahyp="http://schemas.microsoft.com/office/drawing/2018/hyperlinkcolor" val="tx"/>
                    </a:ext>
                  </a:extLst>
                </a:hlinkClick>
              </a:rPr>
              <a:t>floating-point arithmetic</a:t>
            </a:r>
            <a:r>
              <a:rPr lang="en-US" sz="1200" b="0" i="0" u="none" strike="noStrike" kern="1200" dirty="0">
                <a:solidFill>
                  <a:schemeClr val="tx1"/>
                </a:solidFill>
                <a:effectLst/>
                <a:latin typeface="+mn-lt"/>
                <a:ea typeface="+mn-ea"/>
                <a:cs typeface="+mn-cs"/>
              </a:rPr>
              <a:t> established in 1985 by the IEEE. The 1985 version covered only binary floating-point but the current version which was published in 2019, covers all aspects of floating point arithmetic. </a:t>
            </a:r>
            <a:endParaRPr lang="en-US" sz="1200" b="1" i="0" u="sng" strike="noStrike" kern="1200" dirty="0">
              <a:solidFill>
                <a:schemeClr val="tx1"/>
              </a:solidFill>
              <a:effectLst/>
              <a:latin typeface="+mn-lt"/>
              <a:ea typeface="+mn-ea"/>
              <a:cs typeface="+mn-cs"/>
            </a:endParaRPr>
          </a:p>
          <a:p>
            <a:pPr marL="0" indent="0">
              <a:lnSpc>
                <a:spcPct val="80000"/>
              </a:lnSpc>
              <a:buFontTx/>
              <a:buNone/>
            </a:pPr>
            <a:endParaRPr lang="en-US" sz="2400" dirty="0">
              <a:latin typeface="Times New Roman" charset="0"/>
            </a:endParaRPr>
          </a:p>
          <a:p>
            <a:pPr marL="0" indent="0">
              <a:lnSpc>
                <a:spcPct val="80000"/>
              </a:lnSpc>
              <a:buFontTx/>
              <a:buNone/>
            </a:pPr>
            <a:r>
              <a:rPr lang="en-US" sz="2400" dirty="0">
                <a:latin typeface="Times New Roman" charset="0"/>
              </a:rPr>
              <a:t>S: sign bit (0 </a:t>
            </a:r>
            <a:r>
              <a:rPr lang="en-US" sz="2400" dirty="0">
                <a:latin typeface="Times New Roman" charset="0"/>
                <a:sym typeface="Symbol" charset="0"/>
              </a:rPr>
              <a:t> non-negative, 1  negative).</a:t>
            </a:r>
          </a:p>
          <a:p>
            <a:pPr marL="0" indent="0">
              <a:lnSpc>
                <a:spcPct val="80000"/>
              </a:lnSpc>
              <a:buFontTx/>
              <a:buNone/>
            </a:pPr>
            <a:r>
              <a:rPr lang="en-US" sz="2400" dirty="0">
                <a:latin typeface="Times New Roman" charset="0"/>
                <a:sym typeface="Symbol" charset="0"/>
              </a:rPr>
              <a:t>Normalize significand: 1.0 ≤ |significand| &lt; 2.0.</a:t>
            </a:r>
          </a:p>
          <a:p>
            <a:pPr marL="0" indent="0">
              <a:lnSpc>
                <a:spcPct val="80000"/>
              </a:lnSpc>
              <a:buFontTx/>
              <a:buNone/>
            </a:pPr>
            <a:r>
              <a:rPr lang="en-US" sz="2100" dirty="0">
                <a:latin typeface="Times New Roman" charset="0"/>
                <a:sym typeface="Symbol" charset="0"/>
              </a:rPr>
              <a:t>Always has a leading pre-binary-point 1 bit, so no need to represent it explicitly (hidden bit).</a:t>
            </a:r>
          </a:p>
          <a:p>
            <a:pPr marL="0" indent="0">
              <a:lnSpc>
                <a:spcPct val="80000"/>
              </a:lnSpc>
              <a:buFontTx/>
              <a:buNone/>
            </a:pPr>
            <a:r>
              <a:rPr lang="en-US" sz="2100" dirty="0">
                <a:latin typeface="Times New Roman" charset="0"/>
                <a:sym typeface="Symbol" charset="0"/>
              </a:rPr>
              <a:t>Significand is Fraction with the “1.” restored.</a:t>
            </a:r>
          </a:p>
        </p:txBody>
      </p:sp>
    </p:spTree>
    <p:extLst>
      <p:ext uri="{BB962C8B-B14F-4D97-AF65-F5344CB8AC3E}">
        <p14:creationId xmlns:p14="http://schemas.microsoft.com/office/powerpoint/2010/main" val="1086608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FPU of Cortex-M4</a:t>
            </a:r>
            <a:r>
              <a:rPr lang="en-US" baseline="0" dirty="0"/>
              <a:t>F can only perform arithmetic using single-precision real numbers – identical to the C type float (does not the C type double). Although it does not support double arithmetic but the FPU registers can store doubles. One can use a pair of PFU resisters to just store a double. </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56198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a:t>
            </a:r>
            <a:r>
              <a:rPr lang="en-US" baseline="-25000" dirty="0"/>
              <a:t>10</a:t>
            </a:r>
            <a:r>
              <a:rPr lang="en-US" dirty="0"/>
              <a:t> = 11111010</a:t>
            </a:r>
            <a:r>
              <a:rPr lang="en-US" baseline="-25000" dirty="0"/>
              <a:t>2.  </a:t>
            </a:r>
            <a:r>
              <a:rPr lang="en-US" baseline="0" dirty="0"/>
              <a:t>= 1.111101000 x 2</a:t>
            </a:r>
            <a:r>
              <a:rPr lang="en-US" baseline="30000" dirty="0"/>
              <a:t>9</a:t>
            </a:r>
          </a:p>
          <a:p>
            <a:r>
              <a:rPr lang="en-US" baseline="0" dirty="0"/>
              <a:t>Stored exponent = 127 + 9 = 136</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01296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Slide Image Placeholder 1"/>
          <p:cNvSpPr>
            <a:spLocks noGrp="1" noRot="1" noChangeAspect="1"/>
          </p:cNvSpPr>
          <p:nvPr>
            <p:ph type="sldImg"/>
          </p:nvPr>
        </p:nvSpPr>
        <p:spPr>
          <a:ln/>
        </p:spPr>
      </p:sp>
      <p:sp>
        <p:nvSpPr>
          <p:cNvPr id="116738" name="Notes Placeholder 2"/>
          <p:cNvSpPr>
            <a:spLocks noGrp="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baseline="30000" dirty="0">
              <a:latin typeface="Times New Roman" charset="0"/>
            </a:endParaRPr>
          </a:p>
        </p:txBody>
      </p:sp>
      <p:sp>
        <p:nvSpPr>
          <p:cNvPr id="116739"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09457">
              <a:defRPr sz="2300">
                <a:solidFill>
                  <a:schemeClr val="tx1"/>
                </a:solidFill>
                <a:latin typeface="Arial" charset="0"/>
                <a:ea typeface="ＭＳ Ｐゴシック" charset="0"/>
                <a:cs typeface="ＭＳ Ｐゴシック" charset="0"/>
              </a:defRPr>
            </a:lvl1pPr>
            <a:lvl2pPr marL="698893" indent="-268805" defTabSz="909457">
              <a:defRPr sz="2300">
                <a:solidFill>
                  <a:schemeClr val="tx1"/>
                </a:solidFill>
                <a:latin typeface="Arial" charset="0"/>
                <a:ea typeface="ＭＳ Ｐゴシック" charset="0"/>
              </a:defRPr>
            </a:lvl2pPr>
            <a:lvl3pPr marL="1075220" indent="-215044" defTabSz="909457">
              <a:defRPr sz="2300">
                <a:solidFill>
                  <a:schemeClr val="tx1"/>
                </a:solidFill>
                <a:latin typeface="Arial" charset="0"/>
                <a:ea typeface="ＭＳ Ｐゴシック" charset="0"/>
              </a:defRPr>
            </a:lvl3pPr>
            <a:lvl4pPr marL="1505308" indent="-215044" defTabSz="909457">
              <a:defRPr sz="2300">
                <a:solidFill>
                  <a:schemeClr val="tx1"/>
                </a:solidFill>
                <a:latin typeface="Arial" charset="0"/>
                <a:ea typeface="ＭＳ Ｐゴシック" charset="0"/>
              </a:defRPr>
            </a:lvl4pPr>
            <a:lvl5pPr marL="1935396" indent="-215044" defTabSz="909457">
              <a:defRPr sz="2300">
                <a:solidFill>
                  <a:schemeClr val="tx1"/>
                </a:solidFill>
                <a:latin typeface="Arial" charset="0"/>
                <a:ea typeface="ＭＳ Ｐゴシック" charset="0"/>
              </a:defRPr>
            </a:lvl5pPr>
            <a:lvl6pPr marL="2365484" indent="-215044" defTabSz="909457" eaLnBrk="0" fontAlgn="base" hangingPunct="0">
              <a:spcBef>
                <a:spcPct val="0"/>
              </a:spcBef>
              <a:spcAft>
                <a:spcPct val="0"/>
              </a:spcAft>
              <a:defRPr sz="2300">
                <a:solidFill>
                  <a:schemeClr val="tx1"/>
                </a:solidFill>
                <a:latin typeface="Arial" charset="0"/>
                <a:ea typeface="ＭＳ Ｐゴシック" charset="0"/>
              </a:defRPr>
            </a:lvl6pPr>
            <a:lvl7pPr marL="2795572" indent="-215044" defTabSz="909457" eaLnBrk="0" fontAlgn="base" hangingPunct="0">
              <a:spcBef>
                <a:spcPct val="0"/>
              </a:spcBef>
              <a:spcAft>
                <a:spcPct val="0"/>
              </a:spcAft>
              <a:defRPr sz="2300">
                <a:solidFill>
                  <a:schemeClr val="tx1"/>
                </a:solidFill>
                <a:latin typeface="Arial" charset="0"/>
                <a:ea typeface="ＭＳ Ｐゴシック" charset="0"/>
              </a:defRPr>
            </a:lvl7pPr>
            <a:lvl8pPr marL="3225660" indent="-215044" defTabSz="909457" eaLnBrk="0" fontAlgn="base" hangingPunct="0">
              <a:spcBef>
                <a:spcPct val="0"/>
              </a:spcBef>
              <a:spcAft>
                <a:spcPct val="0"/>
              </a:spcAft>
              <a:defRPr sz="2300">
                <a:solidFill>
                  <a:schemeClr val="tx1"/>
                </a:solidFill>
                <a:latin typeface="Arial" charset="0"/>
                <a:ea typeface="ＭＳ Ｐゴシック" charset="0"/>
              </a:defRPr>
            </a:lvl8pPr>
            <a:lvl9pPr marL="3655748" indent="-215044" defTabSz="909457" eaLnBrk="0" fontAlgn="base" hangingPunct="0">
              <a:spcBef>
                <a:spcPct val="0"/>
              </a:spcBef>
              <a:spcAft>
                <a:spcPct val="0"/>
              </a:spcAft>
              <a:defRPr sz="2300">
                <a:solidFill>
                  <a:schemeClr val="tx1"/>
                </a:solidFill>
                <a:latin typeface="Arial" charset="0"/>
                <a:ea typeface="ＭＳ Ｐゴシック" charset="0"/>
              </a:defRPr>
            </a:lvl9pPr>
          </a:lstStyle>
          <a:p>
            <a:pPr marL="0" marR="0" lvl="0" indent="0" algn="r" defTabSz="909457" rtl="0" eaLnBrk="1" fontAlgn="auto" latinLnBrk="0" hangingPunct="1">
              <a:lnSpc>
                <a:spcPct val="100000"/>
              </a:lnSpc>
              <a:spcBef>
                <a:spcPts val="0"/>
              </a:spcBef>
              <a:spcAft>
                <a:spcPts val="0"/>
              </a:spcAft>
              <a:buClrTx/>
              <a:buSzTx/>
              <a:buFontTx/>
              <a:buNone/>
              <a:tabLst/>
              <a:defRPr/>
            </a:pPr>
            <a:fld id="{DC038427-20C4-9F48-AB40-5A4C9E545C29}" type="slidenum">
              <a:rPr kumimoji="0" lang="en-US" sz="1200" b="0" i="0" u="none" strike="noStrike" kern="1200" cap="none" spc="0" normalizeH="0" baseline="0" noProof="0">
                <a:ln>
                  <a:noFill/>
                </a:ln>
                <a:solidFill>
                  <a:prstClr val="black"/>
                </a:solidFill>
                <a:effectLst/>
                <a:uLnTx/>
                <a:uFillTx/>
                <a:latin typeface="Times New Roman" charset="0"/>
                <a:ea typeface="ＭＳ Ｐゴシック" charset="0"/>
              </a:rPr>
              <a:pPr marL="0" marR="0" lvl="0" indent="0" algn="r" defTabSz="90945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Times New Roman" charset="0"/>
              <a:ea typeface="ＭＳ Ｐゴシック" charset="0"/>
            </a:endParaRPr>
          </a:p>
        </p:txBody>
      </p:sp>
    </p:spTree>
    <p:extLst>
      <p:ext uri="{BB962C8B-B14F-4D97-AF65-F5344CB8AC3E}">
        <p14:creationId xmlns:p14="http://schemas.microsoft.com/office/powerpoint/2010/main" val="25475419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Slide Image Placeholder 1">
            <a:extLst>
              <a:ext uri="{FF2B5EF4-FFF2-40B4-BE49-F238E27FC236}">
                <a16:creationId xmlns:a16="http://schemas.microsoft.com/office/drawing/2014/main" id="{8E594F22-6275-D048-8BCC-7B6D406F16BF}"/>
              </a:ext>
            </a:extLst>
          </p:cNvPr>
          <p:cNvSpPr>
            <a:spLocks noGrp="1" noRot="1" noChangeAspect="1" noChangeArrowheads="1" noTextEdit="1"/>
          </p:cNvSpPr>
          <p:nvPr>
            <p:ph type="sldImg"/>
          </p:nvPr>
        </p:nvSpPr>
        <p:spPr>
          <a:ln/>
        </p:spPr>
      </p:sp>
      <p:sp>
        <p:nvSpPr>
          <p:cNvPr id="121858" name="Notes Placeholder 2">
            <a:extLst>
              <a:ext uri="{FF2B5EF4-FFF2-40B4-BE49-F238E27FC236}">
                <a16:creationId xmlns:a16="http://schemas.microsoft.com/office/drawing/2014/main" id="{D1E04BB1-9C30-0D4D-B7DE-D4211F9F5FA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800" dirty="0">
                <a:ea typeface="ＭＳ Ｐゴシック" panose="020B0600070205080204" pitchFamily="34" charset="-128"/>
              </a:rPr>
              <a:t>IEEE 754 standard for single-precision floating point number</a:t>
            </a:r>
            <a:r>
              <a:rPr lang="en-US" altLang="en-US" sz="1800" baseline="30000" dirty="0">
                <a:ea typeface="ＭＳ Ｐゴシック" panose="020B0600070205080204" pitchFamily="34" charset="-128"/>
              </a:rPr>
              <a:t>..</a:t>
            </a:r>
          </a:p>
        </p:txBody>
      </p:sp>
      <p:sp>
        <p:nvSpPr>
          <p:cNvPr id="121859" name="Slide Number Placeholder 3">
            <a:extLst>
              <a:ext uri="{FF2B5EF4-FFF2-40B4-BE49-F238E27FC236}">
                <a16:creationId xmlns:a16="http://schemas.microsoft.com/office/drawing/2014/main" id="{1B875DEA-3E9C-0A4A-ABBC-78C00B365B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66788" rtl="0" eaLnBrk="1" fontAlgn="auto" latinLnBrk="0" hangingPunct="1">
              <a:lnSpc>
                <a:spcPct val="100000"/>
              </a:lnSpc>
              <a:spcBef>
                <a:spcPts val="0"/>
              </a:spcBef>
              <a:spcAft>
                <a:spcPts val="0"/>
              </a:spcAft>
              <a:buClrTx/>
              <a:buSzTx/>
              <a:buFontTx/>
              <a:buNone/>
              <a:tabLst/>
              <a:defRPr/>
            </a:pPr>
            <a:fld id="{D744677E-802D-AA4F-AE59-4C97D66D9611}"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1" fontAlgn="auto" latinLnBrk="0" hangingPunct="1">
                <a:lnSpc>
                  <a:spcPct val="100000"/>
                </a:lnSpc>
                <a:spcBef>
                  <a:spcPts val="0"/>
                </a:spcBef>
                <a:spcAft>
                  <a:spcPts val="0"/>
                </a:spcAft>
                <a:buClrTx/>
                <a:buSzTx/>
                <a:buFontTx/>
                <a:buNone/>
                <a:tabLst/>
                <a:defRPr/>
              </a:pPr>
              <a:t>12</a:t>
            </a:fld>
            <a:endPar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21765224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Slide Image Placeholder 1">
            <a:extLst>
              <a:ext uri="{FF2B5EF4-FFF2-40B4-BE49-F238E27FC236}">
                <a16:creationId xmlns:a16="http://schemas.microsoft.com/office/drawing/2014/main" id="{8E594F22-6275-D048-8BCC-7B6D406F16BF}"/>
              </a:ext>
            </a:extLst>
          </p:cNvPr>
          <p:cNvSpPr>
            <a:spLocks noGrp="1" noRot="1" noChangeAspect="1" noChangeArrowheads="1" noTextEdit="1"/>
          </p:cNvSpPr>
          <p:nvPr>
            <p:ph type="sldImg"/>
          </p:nvPr>
        </p:nvSpPr>
        <p:spPr>
          <a:ln/>
        </p:spPr>
      </p:sp>
      <p:sp>
        <p:nvSpPr>
          <p:cNvPr id="121858" name="Notes Placeholder 2">
            <a:extLst>
              <a:ext uri="{FF2B5EF4-FFF2-40B4-BE49-F238E27FC236}">
                <a16:creationId xmlns:a16="http://schemas.microsoft.com/office/drawing/2014/main" id="{D1E04BB1-9C30-0D4D-B7DE-D4211F9F5FA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800" dirty="0">
                <a:ea typeface="ＭＳ Ｐゴシック" panose="020B0600070205080204" pitchFamily="34" charset="-128"/>
              </a:rPr>
              <a:t>IEEE 754 standard for single-precision floating point number</a:t>
            </a:r>
            <a:r>
              <a:rPr lang="en-US" altLang="en-US" sz="1800" baseline="30000" dirty="0">
                <a:ea typeface="ＭＳ Ｐゴシック" panose="020B0600070205080204" pitchFamily="34" charset="-128"/>
              </a:rPr>
              <a:t>..</a:t>
            </a:r>
          </a:p>
        </p:txBody>
      </p:sp>
      <p:sp>
        <p:nvSpPr>
          <p:cNvPr id="121859" name="Slide Number Placeholder 3">
            <a:extLst>
              <a:ext uri="{FF2B5EF4-FFF2-40B4-BE49-F238E27FC236}">
                <a16:creationId xmlns:a16="http://schemas.microsoft.com/office/drawing/2014/main" id="{1B875DEA-3E9C-0A4A-ABBC-78C00B365B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66788" rtl="0" eaLnBrk="1" fontAlgn="auto" latinLnBrk="0" hangingPunct="1">
              <a:lnSpc>
                <a:spcPct val="100000"/>
              </a:lnSpc>
              <a:spcBef>
                <a:spcPts val="0"/>
              </a:spcBef>
              <a:spcAft>
                <a:spcPts val="0"/>
              </a:spcAft>
              <a:buClrTx/>
              <a:buSzTx/>
              <a:buFontTx/>
              <a:buNone/>
              <a:tabLst/>
              <a:defRPr/>
            </a:pPr>
            <a:fld id="{D744677E-802D-AA4F-AE59-4C97D66D9611}"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1" fontAlgn="auto" latinLnBrk="0" hangingPunct="1">
                <a:lnSpc>
                  <a:spcPct val="100000"/>
                </a:lnSpc>
                <a:spcBef>
                  <a:spcPts val="0"/>
                </a:spcBef>
                <a:spcAft>
                  <a:spcPts val="0"/>
                </a:spcAft>
                <a:buClrTx/>
                <a:buSzTx/>
                <a:buFontTx/>
                <a:buNone/>
                <a:tabLst/>
                <a:defRPr/>
              </a:pPr>
              <a:t>13</a:t>
            </a:fld>
            <a:endPar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33160792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Slide Image Placeholder 1">
            <a:extLst>
              <a:ext uri="{FF2B5EF4-FFF2-40B4-BE49-F238E27FC236}">
                <a16:creationId xmlns:a16="http://schemas.microsoft.com/office/drawing/2014/main" id="{D27345C9-2697-644B-A014-C5D2980FC809}"/>
              </a:ext>
            </a:extLst>
          </p:cNvPr>
          <p:cNvSpPr>
            <a:spLocks noGrp="1" noRot="1" noChangeAspect="1" noChangeArrowheads="1" noTextEdit="1"/>
          </p:cNvSpPr>
          <p:nvPr>
            <p:ph type="sldImg"/>
          </p:nvPr>
        </p:nvSpPr>
        <p:spPr>
          <a:ln/>
        </p:spPr>
      </p:sp>
      <p:sp>
        <p:nvSpPr>
          <p:cNvPr id="123906" name="Notes Placeholder 2">
            <a:extLst>
              <a:ext uri="{FF2B5EF4-FFF2-40B4-BE49-F238E27FC236}">
                <a16:creationId xmlns:a16="http://schemas.microsoft.com/office/drawing/2014/main" id="{5208516A-F68E-384B-B61E-A7D6A0C42C4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89013" eaLnBrk="1" hangingPunct="1">
              <a:spcBef>
                <a:spcPct val="0"/>
              </a:spcBef>
            </a:pPr>
            <a:r>
              <a:rPr lang="en-US" altLang="en-US">
                <a:ea typeface="ＭＳ Ｐゴシック" panose="020B0600070205080204" pitchFamily="34" charset="-128"/>
              </a:rPr>
              <a:t>0.750 -&gt; 0.11 then normalize it as 1.1 x 2</a:t>
            </a:r>
            <a:r>
              <a:rPr lang="en-US" altLang="en-US" baseline="30000">
                <a:ea typeface="ＭＳ Ｐゴシック" panose="020B0600070205080204" pitchFamily="34" charset="-128"/>
              </a:rPr>
              <a:t>-1</a:t>
            </a:r>
            <a:r>
              <a:rPr lang="en-US" altLang="en-US">
                <a:ea typeface="ＭＳ Ｐゴシック" panose="020B0600070205080204" pitchFamily="34" charset="-128"/>
              </a:rPr>
              <a:t> </a:t>
            </a:r>
          </a:p>
          <a:p>
            <a:pPr defTabSz="989013" eaLnBrk="1" hangingPunct="1">
              <a:spcBef>
                <a:spcPct val="0"/>
              </a:spcBef>
            </a:pPr>
            <a:r>
              <a:rPr lang="en-US" altLang="en-US">
                <a:ea typeface="ＭＳ Ｐゴシック" panose="020B0600070205080204" pitchFamily="34" charset="-128"/>
              </a:rPr>
              <a:t>Actual exponent = -1 so the stored storage in single precision becomes -1+127 = 126 or 01111110</a:t>
            </a:r>
            <a:endParaRPr lang="en-US" altLang="en-US" baseline="30000">
              <a:ea typeface="ＭＳ Ｐゴシック" panose="020B0600070205080204" pitchFamily="34" charset="-128"/>
            </a:endParaRPr>
          </a:p>
          <a:p>
            <a:pPr defTabSz="989013"/>
            <a:endParaRPr lang="en-US" altLang="en-US" baseline="30000">
              <a:ea typeface="ＭＳ Ｐゴシック" panose="020B0600070205080204" pitchFamily="34" charset="-128"/>
            </a:endParaRPr>
          </a:p>
        </p:txBody>
      </p:sp>
      <p:sp>
        <p:nvSpPr>
          <p:cNvPr id="123907" name="Slide Number Placeholder 3">
            <a:extLst>
              <a:ext uri="{FF2B5EF4-FFF2-40B4-BE49-F238E27FC236}">
                <a16:creationId xmlns:a16="http://schemas.microsoft.com/office/drawing/2014/main" id="{BC1A1090-D676-FF45-A795-0CCF552338C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66788" rtl="0" eaLnBrk="1" fontAlgn="auto" latinLnBrk="0" hangingPunct="1">
              <a:lnSpc>
                <a:spcPct val="100000"/>
              </a:lnSpc>
              <a:spcBef>
                <a:spcPts val="0"/>
              </a:spcBef>
              <a:spcAft>
                <a:spcPts val="0"/>
              </a:spcAft>
              <a:buClrTx/>
              <a:buSzTx/>
              <a:buFontTx/>
              <a:buNone/>
              <a:tabLst/>
              <a:defRPr/>
            </a:pPr>
            <a:fld id="{A0DB49F3-FEAC-C441-8C25-A8EE72519F19}"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1" fontAlgn="auto" latinLnBrk="0" hangingPunct="1">
                <a:lnSpc>
                  <a:spcPct val="100000"/>
                </a:lnSpc>
                <a:spcBef>
                  <a:spcPts val="0"/>
                </a:spcBef>
                <a:spcAft>
                  <a:spcPts val="0"/>
                </a:spcAft>
                <a:buClrTx/>
                <a:buSzTx/>
                <a:buFontTx/>
                <a:buNone/>
                <a:tabLst/>
                <a:defRPr/>
              </a:pPr>
              <a:t>14</a:t>
            </a:fld>
            <a:endPar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27753411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Slide Image Placeholder 1">
            <a:extLst>
              <a:ext uri="{FF2B5EF4-FFF2-40B4-BE49-F238E27FC236}">
                <a16:creationId xmlns:a16="http://schemas.microsoft.com/office/drawing/2014/main" id="{8E594F22-6275-D048-8BCC-7B6D406F16BF}"/>
              </a:ext>
            </a:extLst>
          </p:cNvPr>
          <p:cNvSpPr>
            <a:spLocks noGrp="1" noRot="1" noChangeAspect="1" noChangeArrowheads="1" noTextEdit="1"/>
          </p:cNvSpPr>
          <p:nvPr>
            <p:ph type="sldImg"/>
          </p:nvPr>
        </p:nvSpPr>
        <p:spPr>
          <a:ln/>
        </p:spPr>
      </p:sp>
      <p:sp>
        <p:nvSpPr>
          <p:cNvPr id="121858" name="Notes Placeholder 2">
            <a:extLst>
              <a:ext uri="{FF2B5EF4-FFF2-40B4-BE49-F238E27FC236}">
                <a16:creationId xmlns:a16="http://schemas.microsoft.com/office/drawing/2014/main" id="{D1E04BB1-9C30-0D4D-B7DE-D4211F9F5FA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800" dirty="0">
                <a:ea typeface="ＭＳ Ｐゴシック" panose="020B0600070205080204" pitchFamily="34" charset="-128"/>
              </a:rPr>
              <a:t>IEEE 754 standard for single-precision floating point number</a:t>
            </a:r>
            <a:r>
              <a:rPr lang="en-US" altLang="en-US" sz="1800" baseline="30000" dirty="0">
                <a:ea typeface="ＭＳ Ｐゴシック" panose="020B0600070205080204" pitchFamily="34" charset="-128"/>
              </a:rPr>
              <a:t>..</a:t>
            </a:r>
          </a:p>
        </p:txBody>
      </p:sp>
      <p:sp>
        <p:nvSpPr>
          <p:cNvPr id="121859" name="Slide Number Placeholder 3">
            <a:extLst>
              <a:ext uri="{FF2B5EF4-FFF2-40B4-BE49-F238E27FC236}">
                <a16:creationId xmlns:a16="http://schemas.microsoft.com/office/drawing/2014/main" id="{1B875DEA-3E9C-0A4A-ABBC-78C00B365B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66788" rtl="0" eaLnBrk="1" fontAlgn="auto" latinLnBrk="0" hangingPunct="1">
              <a:lnSpc>
                <a:spcPct val="100000"/>
              </a:lnSpc>
              <a:spcBef>
                <a:spcPts val="0"/>
              </a:spcBef>
              <a:spcAft>
                <a:spcPts val="0"/>
              </a:spcAft>
              <a:buClrTx/>
              <a:buSzTx/>
              <a:buFontTx/>
              <a:buNone/>
              <a:tabLst/>
              <a:defRPr/>
            </a:pPr>
            <a:fld id="{D744677E-802D-AA4F-AE59-4C97D66D9611}"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1" fontAlgn="auto" latinLnBrk="0" hangingPunct="1">
                <a:lnSpc>
                  <a:spcPct val="100000"/>
                </a:lnSpc>
                <a:spcBef>
                  <a:spcPts val="0"/>
                </a:spcBef>
                <a:spcAft>
                  <a:spcPts val="0"/>
                </a:spcAft>
                <a:buClrTx/>
                <a:buSzTx/>
                <a:buFontTx/>
                <a:buNone/>
                <a:tabLst/>
                <a:defRPr/>
              </a:pPr>
              <a:t>15</a:t>
            </a:fld>
            <a:endPar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35780512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85125">
              <a:defRPr>
                <a:solidFill>
                  <a:schemeClr val="tx1"/>
                </a:solidFill>
                <a:latin typeface="Arial" panose="020B0604020202020204" pitchFamily="34" charset="0"/>
              </a:defRPr>
            </a:lvl1pPr>
            <a:lvl2pPr marL="757041" indent="-291169" defTabSz="985125">
              <a:defRPr>
                <a:solidFill>
                  <a:schemeClr val="tx1"/>
                </a:solidFill>
                <a:latin typeface="Arial" panose="020B0604020202020204" pitchFamily="34" charset="0"/>
              </a:defRPr>
            </a:lvl2pPr>
            <a:lvl3pPr marL="1164679" indent="-232936" defTabSz="985125">
              <a:defRPr>
                <a:solidFill>
                  <a:schemeClr val="tx1"/>
                </a:solidFill>
                <a:latin typeface="Arial" panose="020B0604020202020204" pitchFamily="34" charset="0"/>
              </a:defRPr>
            </a:lvl3pPr>
            <a:lvl4pPr marL="1630550" indent="-232936" defTabSz="985125">
              <a:defRPr>
                <a:solidFill>
                  <a:schemeClr val="tx1"/>
                </a:solidFill>
                <a:latin typeface="Arial" panose="020B0604020202020204" pitchFamily="34" charset="0"/>
              </a:defRPr>
            </a:lvl4pPr>
            <a:lvl5pPr marL="2096421" indent="-232936" defTabSz="985125">
              <a:defRPr>
                <a:solidFill>
                  <a:schemeClr val="tx1"/>
                </a:solidFill>
                <a:latin typeface="Arial" panose="020B0604020202020204" pitchFamily="34" charset="0"/>
              </a:defRPr>
            </a:lvl5pPr>
            <a:lvl6pPr marL="2562293" indent="-232936" defTabSz="985125" eaLnBrk="0" fontAlgn="base" hangingPunct="0">
              <a:spcBef>
                <a:spcPct val="0"/>
              </a:spcBef>
              <a:spcAft>
                <a:spcPct val="0"/>
              </a:spcAft>
              <a:defRPr>
                <a:solidFill>
                  <a:schemeClr val="tx1"/>
                </a:solidFill>
                <a:latin typeface="Arial" panose="020B0604020202020204" pitchFamily="34" charset="0"/>
              </a:defRPr>
            </a:lvl6pPr>
            <a:lvl7pPr marL="3028164" indent="-232936" defTabSz="985125" eaLnBrk="0" fontAlgn="base" hangingPunct="0">
              <a:spcBef>
                <a:spcPct val="0"/>
              </a:spcBef>
              <a:spcAft>
                <a:spcPct val="0"/>
              </a:spcAft>
              <a:defRPr>
                <a:solidFill>
                  <a:schemeClr val="tx1"/>
                </a:solidFill>
                <a:latin typeface="Arial" panose="020B0604020202020204" pitchFamily="34" charset="0"/>
              </a:defRPr>
            </a:lvl7pPr>
            <a:lvl8pPr marL="3494035" indent="-232936" defTabSz="985125" eaLnBrk="0" fontAlgn="base" hangingPunct="0">
              <a:spcBef>
                <a:spcPct val="0"/>
              </a:spcBef>
              <a:spcAft>
                <a:spcPct val="0"/>
              </a:spcAft>
              <a:defRPr>
                <a:solidFill>
                  <a:schemeClr val="tx1"/>
                </a:solidFill>
                <a:latin typeface="Arial" panose="020B0604020202020204" pitchFamily="34" charset="0"/>
              </a:defRPr>
            </a:lvl8pPr>
            <a:lvl9pPr marL="3959907" indent="-232936" defTabSz="985125"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85125"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Morgan Kaufmann Publishers</a:t>
            </a:r>
          </a:p>
        </p:txBody>
      </p:sp>
      <p:sp>
        <p:nvSpPr>
          <p:cNvPr id="104450" name="Rectangle 3"/>
          <p:cNvSpPr>
            <a:spLocks noGrp="1" noChangeArrowheads="1"/>
          </p:cNvSpPr>
          <p:nvPr>
            <p:ph type="dt" sz="quarter"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84126">
              <a:defRPr sz="2300">
                <a:solidFill>
                  <a:schemeClr val="tx1"/>
                </a:solidFill>
                <a:latin typeface="Arial" charset="0"/>
                <a:ea typeface="ＭＳ Ｐゴシック" charset="0"/>
                <a:cs typeface="ＭＳ Ｐゴシック" charset="0"/>
              </a:defRPr>
            </a:lvl1pPr>
            <a:lvl2pPr marL="698893" indent="-268805" defTabSz="984126">
              <a:defRPr sz="2300">
                <a:solidFill>
                  <a:schemeClr val="tx1"/>
                </a:solidFill>
                <a:latin typeface="Arial" charset="0"/>
                <a:ea typeface="ＭＳ Ｐゴシック" charset="0"/>
              </a:defRPr>
            </a:lvl2pPr>
            <a:lvl3pPr marL="1075220" indent="-215044" defTabSz="984126">
              <a:defRPr sz="2300">
                <a:solidFill>
                  <a:schemeClr val="tx1"/>
                </a:solidFill>
                <a:latin typeface="Arial" charset="0"/>
                <a:ea typeface="ＭＳ Ｐゴシック" charset="0"/>
              </a:defRPr>
            </a:lvl3pPr>
            <a:lvl4pPr marL="1505308" indent="-215044" defTabSz="984126">
              <a:defRPr sz="2300">
                <a:solidFill>
                  <a:schemeClr val="tx1"/>
                </a:solidFill>
                <a:latin typeface="Arial" charset="0"/>
                <a:ea typeface="ＭＳ Ｐゴシック" charset="0"/>
              </a:defRPr>
            </a:lvl4pPr>
            <a:lvl5pPr marL="1935396" indent="-215044" defTabSz="984126">
              <a:defRPr sz="2300">
                <a:solidFill>
                  <a:schemeClr val="tx1"/>
                </a:solidFill>
                <a:latin typeface="Arial" charset="0"/>
                <a:ea typeface="ＭＳ Ｐゴシック" charset="0"/>
              </a:defRPr>
            </a:lvl5pPr>
            <a:lvl6pPr marL="2365484" indent="-215044" defTabSz="984126" eaLnBrk="0" fontAlgn="base" hangingPunct="0">
              <a:spcBef>
                <a:spcPct val="0"/>
              </a:spcBef>
              <a:spcAft>
                <a:spcPct val="0"/>
              </a:spcAft>
              <a:defRPr sz="2300">
                <a:solidFill>
                  <a:schemeClr val="tx1"/>
                </a:solidFill>
                <a:latin typeface="Arial" charset="0"/>
                <a:ea typeface="ＭＳ Ｐゴシック" charset="0"/>
              </a:defRPr>
            </a:lvl6pPr>
            <a:lvl7pPr marL="2795572" indent="-215044" defTabSz="984126" eaLnBrk="0" fontAlgn="base" hangingPunct="0">
              <a:spcBef>
                <a:spcPct val="0"/>
              </a:spcBef>
              <a:spcAft>
                <a:spcPct val="0"/>
              </a:spcAft>
              <a:defRPr sz="2300">
                <a:solidFill>
                  <a:schemeClr val="tx1"/>
                </a:solidFill>
                <a:latin typeface="Arial" charset="0"/>
                <a:ea typeface="ＭＳ Ｐゴシック" charset="0"/>
              </a:defRPr>
            </a:lvl7pPr>
            <a:lvl8pPr marL="3225660" indent="-215044" defTabSz="984126" eaLnBrk="0" fontAlgn="base" hangingPunct="0">
              <a:spcBef>
                <a:spcPct val="0"/>
              </a:spcBef>
              <a:spcAft>
                <a:spcPct val="0"/>
              </a:spcAft>
              <a:defRPr sz="2300">
                <a:solidFill>
                  <a:schemeClr val="tx1"/>
                </a:solidFill>
                <a:latin typeface="Arial" charset="0"/>
                <a:ea typeface="ＭＳ Ｐゴシック" charset="0"/>
              </a:defRPr>
            </a:lvl8pPr>
            <a:lvl9pPr marL="3655748" indent="-215044" defTabSz="984126" eaLnBrk="0" fontAlgn="base" hangingPunct="0">
              <a:spcBef>
                <a:spcPct val="0"/>
              </a:spcBef>
              <a:spcAft>
                <a:spcPct val="0"/>
              </a:spcAft>
              <a:defRPr sz="2300">
                <a:solidFill>
                  <a:schemeClr val="tx1"/>
                </a:solidFill>
                <a:latin typeface="Arial" charset="0"/>
                <a:ea typeface="ＭＳ Ｐゴシック" charset="0"/>
              </a:defRPr>
            </a:lvl9pPr>
          </a:lstStyle>
          <a:p>
            <a:pPr marL="0" marR="0" lvl="0" indent="0" algn="r" defTabSz="984126" rtl="0" eaLnBrk="1" fontAlgn="auto" latinLnBrk="0" hangingPunct="1">
              <a:lnSpc>
                <a:spcPct val="100000"/>
              </a:lnSpc>
              <a:spcBef>
                <a:spcPts val="0"/>
              </a:spcBef>
              <a:spcAft>
                <a:spcPts val="0"/>
              </a:spcAft>
              <a:buClrTx/>
              <a:buSzTx/>
              <a:buFontTx/>
              <a:buNone/>
              <a:tabLst/>
              <a:defRPr/>
            </a:pPr>
            <a:fld id="{1595D426-B68F-2F47-935B-FDC926F8721D}" type="datetime3">
              <a:rPr kumimoji="0" lang="en-AU" sz="1200" b="0" i="0" u="none" strike="noStrike" kern="1200" cap="none" spc="0" normalizeH="0" baseline="0" noProof="0">
                <a:ln>
                  <a:noFill/>
                </a:ln>
                <a:solidFill>
                  <a:prstClr val="black"/>
                </a:solidFill>
                <a:effectLst/>
                <a:uLnTx/>
                <a:uFillTx/>
                <a:latin typeface="Times New Roman" charset="0"/>
                <a:ea typeface="ＭＳ Ｐゴシック" charset="0"/>
              </a:rPr>
              <a:pPr marL="0" marR="0" lvl="0" indent="0" algn="r" defTabSz="984126" rtl="0" eaLnBrk="1" fontAlgn="auto" latinLnBrk="0" hangingPunct="1">
                <a:lnSpc>
                  <a:spcPct val="100000"/>
                </a:lnSpc>
                <a:spcBef>
                  <a:spcPts val="0"/>
                </a:spcBef>
                <a:spcAft>
                  <a:spcPts val="0"/>
                </a:spcAft>
                <a:buClrTx/>
                <a:buSzTx/>
                <a:buFontTx/>
                <a:buNone/>
                <a:tabLst/>
                <a:defRPr/>
              </a:pPr>
              <a:t>22 September, 2026</a:t>
            </a:fld>
            <a:endParaRPr kumimoji="0" lang="en-AU" sz="1200" b="0" i="0" u="none" strike="noStrike" kern="1200" cap="none" spc="0" normalizeH="0" baseline="0" noProof="0">
              <a:ln>
                <a:noFill/>
              </a:ln>
              <a:solidFill>
                <a:prstClr val="black"/>
              </a:solidFill>
              <a:effectLst/>
              <a:uLnTx/>
              <a:uFillTx/>
              <a:latin typeface="Times New Roman" charset="0"/>
              <a:ea typeface="ＭＳ Ｐゴシック" charset="0"/>
            </a:endParaRPr>
          </a:p>
        </p:txBody>
      </p:sp>
      <p:sp>
        <p:nvSpPr>
          <p:cNvPr id="104451" name="Rectangle 6"/>
          <p:cNvSpPr>
            <a:spLocks noGrp="1" noChangeArrowheads="1"/>
          </p:cNvSpPr>
          <p:nvPr>
            <p:ph type="ftr" sz="quarter" idx="4"/>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84126">
              <a:defRPr sz="2300">
                <a:solidFill>
                  <a:schemeClr val="tx1"/>
                </a:solidFill>
                <a:latin typeface="Arial" charset="0"/>
                <a:ea typeface="ＭＳ Ｐゴシック" charset="0"/>
                <a:cs typeface="ＭＳ Ｐゴシック" charset="0"/>
              </a:defRPr>
            </a:lvl1pPr>
            <a:lvl2pPr marL="698893" indent="-268805" defTabSz="984126">
              <a:defRPr sz="2300">
                <a:solidFill>
                  <a:schemeClr val="tx1"/>
                </a:solidFill>
                <a:latin typeface="Arial" charset="0"/>
                <a:ea typeface="ＭＳ Ｐゴシック" charset="0"/>
              </a:defRPr>
            </a:lvl2pPr>
            <a:lvl3pPr marL="1075220" indent="-215044" defTabSz="984126">
              <a:defRPr sz="2300">
                <a:solidFill>
                  <a:schemeClr val="tx1"/>
                </a:solidFill>
                <a:latin typeface="Arial" charset="0"/>
                <a:ea typeface="ＭＳ Ｐゴシック" charset="0"/>
              </a:defRPr>
            </a:lvl3pPr>
            <a:lvl4pPr marL="1505308" indent="-215044" defTabSz="984126">
              <a:defRPr sz="2300">
                <a:solidFill>
                  <a:schemeClr val="tx1"/>
                </a:solidFill>
                <a:latin typeface="Arial" charset="0"/>
                <a:ea typeface="ＭＳ Ｐゴシック" charset="0"/>
              </a:defRPr>
            </a:lvl4pPr>
            <a:lvl5pPr marL="1935396" indent="-215044" defTabSz="984126">
              <a:defRPr sz="2300">
                <a:solidFill>
                  <a:schemeClr val="tx1"/>
                </a:solidFill>
                <a:latin typeface="Arial" charset="0"/>
                <a:ea typeface="ＭＳ Ｐゴシック" charset="0"/>
              </a:defRPr>
            </a:lvl5pPr>
            <a:lvl6pPr marL="2365484" indent="-215044" defTabSz="984126" eaLnBrk="0" fontAlgn="base" hangingPunct="0">
              <a:spcBef>
                <a:spcPct val="0"/>
              </a:spcBef>
              <a:spcAft>
                <a:spcPct val="0"/>
              </a:spcAft>
              <a:defRPr sz="2300">
                <a:solidFill>
                  <a:schemeClr val="tx1"/>
                </a:solidFill>
                <a:latin typeface="Arial" charset="0"/>
                <a:ea typeface="ＭＳ Ｐゴシック" charset="0"/>
              </a:defRPr>
            </a:lvl6pPr>
            <a:lvl7pPr marL="2795572" indent="-215044" defTabSz="984126" eaLnBrk="0" fontAlgn="base" hangingPunct="0">
              <a:spcBef>
                <a:spcPct val="0"/>
              </a:spcBef>
              <a:spcAft>
                <a:spcPct val="0"/>
              </a:spcAft>
              <a:defRPr sz="2300">
                <a:solidFill>
                  <a:schemeClr val="tx1"/>
                </a:solidFill>
                <a:latin typeface="Arial" charset="0"/>
                <a:ea typeface="ＭＳ Ｐゴシック" charset="0"/>
              </a:defRPr>
            </a:lvl7pPr>
            <a:lvl8pPr marL="3225660" indent="-215044" defTabSz="984126" eaLnBrk="0" fontAlgn="base" hangingPunct="0">
              <a:spcBef>
                <a:spcPct val="0"/>
              </a:spcBef>
              <a:spcAft>
                <a:spcPct val="0"/>
              </a:spcAft>
              <a:defRPr sz="2300">
                <a:solidFill>
                  <a:schemeClr val="tx1"/>
                </a:solidFill>
                <a:latin typeface="Arial" charset="0"/>
                <a:ea typeface="ＭＳ Ｐゴシック" charset="0"/>
              </a:defRPr>
            </a:lvl8pPr>
            <a:lvl9pPr marL="3655748" indent="-215044" defTabSz="984126" eaLnBrk="0" fontAlgn="base" hangingPunct="0">
              <a:spcBef>
                <a:spcPct val="0"/>
              </a:spcBef>
              <a:spcAft>
                <a:spcPct val="0"/>
              </a:spcAft>
              <a:defRPr sz="2300">
                <a:solidFill>
                  <a:schemeClr val="tx1"/>
                </a:solidFill>
                <a:latin typeface="Arial" charset="0"/>
                <a:ea typeface="ＭＳ Ｐゴシック" charset="0"/>
              </a:defRPr>
            </a:lvl9pPr>
          </a:lstStyle>
          <a:p>
            <a:pPr marL="0" marR="0" lvl="0" indent="0" algn="l" defTabSz="984126"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prstClr val="black"/>
                </a:solidFill>
                <a:effectLst/>
                <a:uLnTx/>
                <a:uFillTx/>
                <a:latin typeface="Times New Roman" charset="0"/>
                <a:ea typeface="ＭＳ Ｐゴシック" charset="0"/>
              </a:rPr>
              <a:t>Chapter 3 — Arithmetic for Computers</a:t>
            </a:r>
          </a:p>
        </p:txBody>
      </p:sp>
      <p:sp>
        <p:nvSpPr>
          <p:cNvPr id="10445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84126">
              <a:defRPr sz="2300">
                <a:solidFill>
                  <a:schemeClr val="tx1"/>
                </a:solidFill>
                <a:latin typeface="Arial" charset="0"/>
                <a:ea typeface="ＭＳ Ｐゴシック" charset="0"/>
                <a:cs typeface="ＭＳ Ｐゴシック" charset="0"/>
              </a:defRPr>
            </a:lvl1pPr>
            <a:lvl2pPr marL="698893" indent="-268805" defTabSz="984126">
              <a:defRPr sz="2300">
                <a:solidFill>
                  <a:schemeClr val="tx1"/>
                </a:solidFill>
                <a:latin typeface="Arial" charset="0"/>
                <a:ea typeface="ＭＳ Ｐゴシック" charset="0"/>
              </a:defRPr>
            </a:lvl2pPr>
            <a:lvl3pPr marL="1075220" indent="-215044" defTabSz="984126">
              <a:defRPr sz="2300">
                <a:solidFill>
                  <a:schemeClr val="tx1"/>
                </a:solidFill>
                <a:latin typeface="Arial" charset="0"/>
                <a:ea typeface="ＭＳ Ｐゴシック" charset="0"/>
              </a:defRPr>
            </a:lvl3pPr>
            <a:lvl4pPr marL="1505308" indent="-215044" defTabSz="984126">
              <a:defRPr sz="2300">
                <a:solidFill>
                  <a:schemeClr val="tx1"/>
                </a:solidFill>
                <a:latin typeface="Arial" charset="0"/>
                <a:ea typeface="ＭＳ Ｐゴシック" charset="0"/>
              </a:defRPr>
            </a:lvl4pPr>
            <a:lvl5pPr marL="1935396" indent="-215044" defTabSz="984126">
              <a:defRPr sz="2300">
                <a:solidFill>
                  <a:schemeClr val="tx1"/>
                </a:solidFill>
                <a:latin typeface="Arial" charset="0"/>
                <a:ea typeface="ＭＳ Ｐゴシック" charset="0"/>
              </a:defRPr>
            </a:lvl5pPr>
            <a:lvl6pPr marL="2365484" indent="-215044" defTabSz="984126" eaLnBrk="0" fontAlgn="base" hangingPunct="0">
              <a:spcBef>
                <a:spcPct val="0"/>
              </a:spcBef>
              <a:spcAft>
                <a:spcPct val="0"/>
              </a:spcAft>
              <a:defRPr sz="2300">
                <a:solidFill>
                  <a:schemeClr val="tx1"/>
                </a:solidFill>
                <a:latin typeface="Arial" charset="0"/>
                <a:ea typeface="ＭＳ Ｐゴシック" charset="0"/>
              </a:defRPr>
            </a:lvl6pPr>
            <a:lvl7pPr marL="2795572" indent="-215044" defTabSz="984126" eaLnBrk="0" fontAlgn="base" hangingPunct="0">
              <a:spcBef>
                <a:spcPct val="0"/>
              </a:spcBef>
              <a:spcAft>
                <a:spcPct val="0"/>
              </a:spcAft>
              <a:defRPr sz="2300">
                <a:solidFill>
                  <a:schemeClr val="tx1"/>
                </a:solidFill>
                <a:latin typeface="Arial" charset="0"/>
                <a:ea typeface="ＭＳ Ｐゴシック" charset="0"/>
              </a:defRPr>
            </a:lvl7pPr>
            <a:lvl8pPr marL="3225660" indent="-215044" defTabSz="984126" eaLnBrk="0" fontAlgn="base" hangingPunct="0">
              <a:spcBef>
                <a:spcPct val="0"/>
              </a:spcBef>
              <a:spcAft>
                <a:spcPct val="0"/>
              </a:spcAft>
              <a:defRPr sz="2300">
                <a:solidFill>
                  <a:schemeClr val="tx1"/>
                </a:solidFill>
                <a:latin typeface="Arial" charset="0"/>
                <a:ea typeface="ＭＳ Ｐゴシック" charset="0"/>
              </a:defRPr>
            </a:lvl8pPr>
            <a:lvl9pPr marL="3655748" indent="-215044" defTabSz="984126" eaLnBrk="0" fontAlgn="base" hangingPunct="0">
              <a:spcBef>
                <a:spcPct val="0"/>
              </a:spcBef>
              <a:spcAft>
                <a:spcPct val="0"/>
              </a:spcAft>
              <a:defRPr sz="2300">
                <a:solidFill>
                  <a:schemeClr val="tx1"/>
                </a:solidFill>
                <a:latin typeface="Arial" charset="0"/>
                <a:ea typeface="ＭＳ Ｐゴシック" charset="0"/>
              </a:defRPr>
            </a:lvl9pPr>
          </a:lstStyle>
          <a:p>
            <a:pPr marL="0" marR="0" lvl="0" indent="0" algn="r" defTabSz="984126" rtl="0" eaLnBrk="1" fontAlgn="auto" latinLnBrk="0" hangingPunct="1">
              <a:lnSpc>
                <a:spcPct val="100000"/>
              </a:lnSpc>
              <a:spcBef>
                <a:spcPts val="0"/>
              </a:spcBef>
              <a:spcAft>
                <a:spcPts val="0"/>
              </a:spcAft>
              <a:buClrTx/>
              <a:buSzTx/>
              <a:buFontTx/>
              <a:buNone/>
              <a:tabLst/>
              <a:defRPr/>
            </a:pPr>
            <a:fld id="{75F46608-702C-FA40-AF3B-F395CB9919D4}" type="slidenum">
              <a:rPr kumimoji="0" lang="en-AU" sz="1200" b="0" i="0" u="none" strike="noStrike" kern="1200" cap="none" spc="0" normalizeH="0" baseline="0" noProof="0">
                <a:ln>
                  <a:noFill/>
                </a:ln>
                <a:solidFill>
                  <a:prstClr val="black"/>
                </a:solidFill>
                <a:effectLst/>
                <a:uLnTx/>
                <a:uFillTx/>
                <a:latin typeface="Times New Roman" charset="0"/>
                <a:ea typeface="ＭＳ Ｐゴシック" charset="0"/>
              </a:rPr>
              <a:pPr marL="0" marR="0" lvl="0" indent="0" algn="r" defTabSz="984126" rtl="0" eaLnBrk="1" fontAlgn="auto" latinLnBrk="0" hangingPunct="1">
                <a:lnSpc>
                  <a:spcPct val="100000"/>
                </a:lnSpc>
                <a:spcBef>
                  <a:spcPts val="0"/>
                </a:spcBef>
                <a:spcAft>
                  <a:spcPts val="0"/>
                </a:spcAft>
                <a:buClrTx/>
                <a:buSzTx/>
                <a:buFontTx/>
                <a:buNone/>
                <a:tabLst/>
                <a:defRPr/>
              </a:pPr>
              <a:t>16</a:t>
            </a:fld>
            <a:endParaRPr kumimoji="0" lang="en-AU" sz="1200" b="0" i="0" u="none" strike="noStrike" kern="1200" cap="none" spc="0" normalizeH="0" baseline="0" noProof="0">
              <a:ln>
                <a:noFill/>
              </a:ln>
              <a:solidFill>
                <a:prstClr val="black"/>
              </a:solidFill>
              <a:effectLst/>
              <a:uLnTx/>
              <a:uFillTx/>
              <a:latin typeface="Times New Roman" charset="0"/>
              <a:ea typeface="ＭＳ Ｐゴシック" charset="0"/>
            </a:endParaRPr>
          </a:p>
        </p:txBody>
      </p:sp>
      <p:sp>
        <p:nvSpPr>
          <p:cNvPr id="104453" name="Rectangle 2"/>
          <p:cNvSpPr>
            <a:spLocks noGrp="1" noRot="1" noChangeAspect="1" noChangeArrowheads="1" noTextEdit="1"/>
          </p:cNvSpPr>
          <p:nvPr>
            <p:ph type="sldImg"/>
          </p:nvPr>
        </p:nvSpPr>
        <p:spPr>
          <a:ln/>
        </p:spPr>
      </p:sp>
      <p:sp>
        <p:nvSpPr>
          <p:cNvPr id="104454"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dirty="0">
              <a:latin typeface="Times New Roman" charset="0"/>
            </a:endParaRPr>
          </a:p>
        </p:txBody>
      </p:sp>
    </p:spTree>
    <p:extLst>
      <p:ext uri="{BB962C8B-B14F-4D97-AF65-F5344CB8AC3E}">
        <p14:creationId xmlns:p14="http://schemas.microsoft.com/office/powerpoint/2010/main" val="18329394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Slide Image Placeholder 1">
            <a:extLst>
              <a:ext uri="{FF2B5EF4-FFF2-40B4-BE49-F238E27FC236}">
                <a16:creationId xmlns:a16="http://schemas.microsoft.com/office/drawing/2014/main" id="{8E594F22-6275-D048-8BCC-7B6D406F16BF}"/>
              </a:ext>
            </a:extLst>
          </p:cNvPr>
          <p:cNvSpPr>
            <a:spLocks noGrp="1" noRot="1" noChangeAspect="1" noChangeArrowheads="1" noTextEdit="1"/>
          </p:cNvSpPr>
          <p:nvPr>
            <p:ph type="sldImg"/>
          </p:nvPr>
        </p:nvSpPr>
        <p:spPr>
          <a:ln/>
        </p:spPr>
      </p:sp>
      <p:sp>
        <p:nvSpPr>
          <p:cNvPr id="121858" name="Notes Placeholder 2">
            <a:extLst>
              <a:ext uri="{FF2B5EF4-FFF2-40B4-BE49-F238E27FC236}">
                <a16:creationId xmlns:a16="http://schemas.microsoft.com/office/drawing/2014/main" id="{D1E04BB1-9C30-0D4D-B7DE-D4211F9F5FA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800" dirty="0">
                <a:ea typeface="ＭＳ Ｐゴシック" panose="020B0600070205080204" pitchFamily="34" charset="-128"/>
              </a:rPr>
              <a:t>IEEE 754 standard for single-precision floating point number</a:t>
            </a:r>
            <a:r>
              <a:rPr lang="en-US" altLang="en-US" sz="1800" baseline="30000" dirty="0">
                <a:ea typeface="ＭＳ Ｐゴシック" panose="020B0600070205080204" pitchFamily="34" charset="-128"/>
              </a:rPr>
              <a:t>..</a:t>
            </a:r>
          </a:p>
        </p:txBody>
      </p:sp>
      <p:sp>
        <p:nvSpPr>
          <p:cNvPr id="121859" name="Slide Number Placeholder 3">
            <a:extLst>
              <a:ext uri="{FF2B5EF4-FFF2-40B4-BE49-F238E27FC236}">
                <a16:creationId xmlns:a16="http://schemas.microsoft.com/office/drawing/2014/main" id="{1B875DEA-3E9C-0A4A-ABBC-78C00B365B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66788" rtl="0" eaLnBrk="1" fontAlgn="auto" latinLnBrk="0" hangingPunct="1">
              <a:lnSpc>
                <a:spcPct val="100000"/>
              </a:lnSpc>
              <a:spcBef>
                <a:spcPts val="0"/>
              </a:spcBef>
              <a:spcAft>
                <a:spcPts val="0"/>
              </a:spcAft>
              <a:buClrTx/>
              <a:buSzTx/>
              <a:buFontTx/>
              <a:buNone/>
              <a:tabLst/>
              <a:defRPr/>
            </a:pPr>
            <a:fld id="{D744677E-802D-AA4F-AE59-4C97D66D9611}"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1" fontAlgn="auto" latinLnBrk="0" hangingPunct="1">
                <a:lnSpc>
                  <a:spcPct val="100000"/>
                </a:lnSpc>
                <a:spcBef>
                  <a:spcPts val="0"/>
                </a:spcBef>
                <a:spcAft>
                  <a:spcPts val="0"/>
                </a:spcAft>
                <a:buClrTx/>
                <a:buSzTx/>
                <a:buFontTx/>
                <a:buNone/>
                <a:tabLst/>
                <a:defRPr/>
              </a:pPr>
              <a:t>17</a:t>
            </a:fld>
            <a:endPar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20529647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In other words, FPU has instructions for copying 64-bit values to and from the D0-D15</a:t>
            </a:r>
            <a:r>
              <a:rPr lang="en-US" baseline="0" dirty="0"/>
              <a:t> or to hold them temporarily, h</a:t>
            </a:r>
            <a:r>
              <a:rPr lang="en-US" dirty="0"/>
              <a:t>owever, it</a:t>
            </a:r>
            <a:r>
              <a:rPr lang="en-US" baseline="0" dirty="0"/>
              <a:t> can not perform any arithmetic operations on 64-bit numbers. </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21583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a:t>
            </a:r>
            <a:r>
              <a:rPr lang="en-US" baseline="0" dirty="0"/>
              <a:t> ARM processor contains two separate computational units: The integer or the core unit and a floating-point unit. Explain the slide.</a:t>
            </a:r>
          </a:p>
          <a:p>
            <a:endParaRPr lang="en-US" baseline="0" dirty="0"/>
          </a:p>
          <a:p>
            <a:r>
              <a:rPr lang="en-US" baseline="0" dirty="0"/>
              <a:t>FPSCR = Floating Point Status and Control Register.</a:t>
            </a:r>
          </a:p>
          <a:p>
            <a:r>
              <a:rPr lang="en-US" baseline="0" dirty="0"/>
              <a:t>VMRS = Transfer FPU Flags to core unit APSR Flags (update </a:t>
            </a:r>
            <a:r>
              <a:rPr lang="en-US" baseline="0" dirty="0" err="1"/>
              <a:t>nzcv</a:t>
            </a:r>
            <a:r>
              <a:rPr lang="en-US" baseline="0" dirty="0"/>
              <a:t> flags on core unit).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i="1" u="sng" baseline="0" dirty="0"/>
              <a:t>Values are</a:t>
            </a:r>
            <a:r>
              <a:rPr lang="en-US" i="1" u="sng" dirty="0"/>
              <a:t> NOT converted between integer and floating-point representations</a:t>
            </a:r>
            <a:r>
              <a:rPr lang="en-US" i="1" u="sng" baseline="0" dirty="0"/>
              <a:t> and vice versa by just copying them from the </a:t>
            </a:r>
            <a:r>
              <a:rPr lang="en-US" i="1" u="sng" baseline="0" dirty="0" err="1"/>
              <a:t>Rs</a:t>
            </a:r>
            <a:r>
              <a:rPr lang="en-US" i="1" u="sng" baseline="0" dirty="0"/>
              <a:t> to Ss. </a:t>
            </a:r>
            <a:endParaRPr lang="en-US" i="1" u="sng"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38646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Instructions to push and pop FPU registers</a:t>
            </a:r>
            <a:r>
              <a:rPr lang="en-US" baseline="0" dirty="0"/>
              <a:t> (S16 – S31). </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86720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108797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u="none" baseline="0" dirty="0"/>
              <a:t>These are a few differences between instructions on the core unit versus instructions on the Floating Point unit. </a:t>
            </a:r>
            <a:r>
              <a:rPr lang="en-US" b="1" i="0" u="sng" baseline="0" dirty="0"/>
              <a:t>CLICK…</a:t>
            </a:r>
          </a:p>
          <a:p>
            <a:r>
              <a:rPr lang="en-US" i="1" u="sng" baseline="0" dirty="0"/>
              <a:t>The assembler directive (.float) creates a memory location (variable) to hold an arbitrary  constant such as PI. Then use VLDR to load it from that memory location/variable.  </a:t>
            </a:r>
            <a:endParaRPr lang="en-US" i="1" u="sng"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01624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only a total of 128 values that can be used by VMOV</a:t>
            </a:r>
            <a:r>
              <a:rPr lang="en-US" baseline="0" dirty="0"/>
              <a:t> immediate instruction.  These 128 values are: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03845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77261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u="sng" dirty="0"/>
              <a:t>So please note: Moving from FP to Core register</a:t>
            </a:r>
            <a:r>
              <a:rPr lang="en-US" i="1" u="sng" baseline="0" dirty="0"/>
              <a:t> and vice versa will perform a bit by bit transfer and no conversion is performed. </a:t>
            </a:r>
            <a:endParaRPr lang="en-US" i="1" u="sng"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47218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 is a</a:t>
            </a:r>
            <a:r>
              <a:rPr lang="en-US" baseline="0" dirty="0"/>
              <a:t> v</a:t>
            </a:r>
            <a:r>
              <a:rPr lang="en-US" dirty="0"/>
              <a:t>ariable name in memory (like</a:t>
            </a:r>
            <a:r>
              <a:rPr lang="en-US" baseline="0" dirty="0"/>
              <a:t> x, or y).</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35213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Doe</a:t>
            </a:r>
            <a:r>
              <a:rPr lang="en-US" baseline="0" dirty="0"/>
              <a:t>s not support VSTR Sd, &lt;variable in mem&gt;</a:t>
            </a:r>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91658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39575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13363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convert from signed and unsigned integers to floating point and vice versa.</a:t>
            </a:r>
          </a:p>
          <a:p>
            <a:r>
              <a:rPr lang="en-US" dirty="0"/>
              <a:t>Having the R appended to VCVT or not has to do with the rounding mode you would like to use. Next slide we are going to cover these rounding modes.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3948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dirty="0">
                <a:solidFill>
                  <a:schemeClr val="tx1"/>
                </a:solidFill>
                <a:effectLst/>
                <a:latin typeface="+mn-lt"/>
                <a:ea typeface="+mn-ea"/>
                <a:cs typeface="+mn-cs"/>
              </a:rPr>
              <a:t>Floating-point Status and Control Register (FPSCR)</a:t>
            </a:r>
          </a:p>
          <a:p>
            <a:r>
              <a:rPr lang="en-US" sz="1200" b="1" i="0" u="none" strike="noStrike" kern="1200" dirty="0" err="1">
                <a:solidFill>
                  <a:schemeClr val="tx1"/>
                </a:solidFill>
                <a:effectLst/>
                <a:latin typeface="+mn-lt"/>
                <a:ea typeface="+mn-ea"/>
                <a:cs typeface="+mn-cs"/>
              </a:rPr>
              <a:t>ToZero</a:t>
            </a:r>
            <a:r>
              <a:rPr lang="en-US" sz="1200" b="1" i="0" u="none" strike="noStrike" kern="1200" dirty="0">
                <a:solidFill>
                  <a:schemeClr val="tx1"/>
                </a:solidFill>
                <a:effectLst/>
                <a:latin typeface="+mn-lt"/>
                <a:ea typeface="+mn-ea"/>
                <a:cs typeface="+mn-cs"/>
              </a:rPr>
              <a:t> means </a:t>
            </a:r>
            <a:r>
              <a:rPr lang="en-US" sz="1200" b="1" i="0" u="sng" strike="noStrike" kern="1200" dirty="0">
                <a:solidFill>
                  <a:schemeClr val="tx1"/>
                </a:solidFill>
                <a:effectLst/>
                <a:latin typeface="+mn-lt"/>
                <a:ea typeface="+mn-ea"/>
                <a:cs typeface="+mn-cs"/>
              </a:rPr>
              <a:t>towards zero</a:t>
            </a:r>
            <a:r>
              <a:rPr lang="en-US" sz="1200" b="1" i="0" u="none" strike="noStrike" kern="1200" dirty="0">
                <a:solidFill>
                  <a:schemeClr val="tx1"/>
                </a:solidFill>
                <a:effectLst/>
                <a:latin typeface="+mn-lt"/>
                <a:ea typeface="+mn-ea"/>
                <a:cs typeface="+mn-cs"/>
              </a:rPr>
              <a:t> OR </a:t>
            </a:r>
            <a:r>
              <a:rPr lang="en-US" sz="1200" b="1" i="0" u="sng" strike="noStrike" kern="1200" dirty="0">
                <a:solidFill>
                  <a:schemeClr val="tx1"/>
                </a:solidFill>
                <a:effectLst/>
                <a:latin typeface="+mn-lt"/>
                <a:ea typeface="+mn-ea"/>
                <a:cs typeface="+mn-cs"/>
              </a:rPr>
              <a:t>Truncate</a:t>
            </a:r>
            <a:endParaRPr lang="en-US" u="sng"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77804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Here the CVT.S32.F32     </a:t>
            </a:r>
            <a:r>
              <a:rPr lang="en-US" sz="1200" dirty="0">
                <a:solidFill>
                  <a:srgbClr val="000000"/>
                </a:solidFill>
                <a:effectLst/>
                <a:latin typeface="+mn-lt"/>
                <a:ea typeface="Calibri"/>
                <a:cs typeface="Calibri"/>
              </a:rPr>
              <a:t>S</a:t>
            </a:r>
            <a:r>
              <a:rPr lang="en-US" sz="1200" baseline="-25000" dirty="0">
                <a:solidFill>
                  <a:srgbClr val="000000"/>
                </a:solidFill>
                <a:effectLst/>
                <a:latin typeface="+mn-lt"/>
                <a:ea typeface="Calibri"/>
                <a:cs typeface="Calibri"/>
              </a:rPr>
              <a:t>d</a:t>
            </a:r>
            <a:r>
              <a:rPr lang="en-US" sz="1200" dirty="0">
                <a:solidFill>
                  <a:srgbClr val="000000"/>
                </a:solidFill>
                <a:effectLst/>
                <a:latin typeface="+mn-lt"/>
                <a:ea typeface="Calibri"/>
                <a:cs typeface="Calibri"/>
              </a:rPr>
              <a:t> </a:t>
            </a:r>
            <a:r>
              <a:rPr lang="en-US" sz="1200" dirty="0">
                <a:solidFill>
                  <a:srgbClr val="000000"/>
                </a:solidFill>
                <a:effectLst/>
                <a:latin typeface="+mn-lt"/>
                <a:ea typeface="Calibri"/>
                <a:cs typeface="Calibri"/>
                <a:sym typeface="Wingdings"/>
              </a:rPr>
              <a:t></a:t>
            </a:r>
            <a:r>
              <a:rPr lang="en-US" sz="1200" dirty="0">
                <a:solidFill>
                  <a:srgbClr val="000000"/>
                </a:solidFill>
                <a:effectLst/>
                <a:latin typeface="+mn-lt"/>
                <a:ea typeface="Calibri"/>
                <a:cs typeface="Calibri"/>
              </a:rPr>
              <a:t> (int32_t) S</a:t>
            </a:r>
            <a:r>
              <a:rPr lang="en-US" sz="1200" baseline="-25000" dirty="0">
                <a:solidFill>
                  <a:srgbClr val="000000"/>
                </a:solidFill>
                <a:effectLst/>
                <a:latin typeface="+mn-lt"/>
                <a:ea typeface="Calibri"/>
                <a:cs typeface="Calibri"/>
              </a:rPr>
              <a:t>m</a:t>
            </a:r>
            <a:endParaRPr lang="en-US" sz="1200" b="1" baseline="-25000" dirty="0">
              <a:solidFill>
                <a:srgbClr val="000000"/>
              </a:solidFill>
              <a:effectLst/>
              <a:latin typeface="Arial"/>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solidFill>
                  <a:srgbClr val="000000"/>
                </a:solidFill>
                <a:effectLst/>
                <a:latin typeface="+mn-lt"/>
                <a:ea typeface="Calibri"/>
                <a:cs typeface="Calibri"/>
              </a:rPr>
              <a:t>where S</a:t>
            </a:r>
            <a:r>
              <a:rPr lang="en-US" sz="1200" i="1" baseline="-25000" dirty="0">
                <a:solidFill>
                  <a:srgbClr val="000000"/>
                </a:solidFill>
                <a:effectLst/>
                <a:latin typeface="+mn-lt"/>
                <a:ea typeface="Calibri"/>
                <a:cs typeface="Calibri"/>
              </a:rPr>
              <a:t>m</a:t>
            </a:r>
            <a:r>
              <a:rPr lang="en-US" sz="1200" i="1" dirty="0">
                <a:solidFill>
                  <a:srgbClr val="000000"/>
                </a:solidFill>
                <a:effectLst/>
                <a:latin typeface="+mn-lt"/>
                <a:ea typeface="Calibri"/>
                <a:cs typeface="Calibri"/>
              </a:rPr>
              <a:t> is a</a:t>
            </a:r>
            <a:r>
              <a:rPr lang="en-US" sz="1200" i="1" baseline="0" dirty="0">
                <a:solidFill>
                  <a:srgbClr val="000000"/>
                </a:solidFill>
                <a:effectLst/>
                <a:latin typeface="+mn-lt"/>
                <a:ea typeface="Calibri"/>
                <a:cs typeface="Calibri"/>
              </a:rPr>
              <a:t> float rounded towards zero (or truncate).</a:t>
            </a:r>
            <a:endParaRPr lang="en-US" sz="1200" dirty="0">
              <a:solidFill>
                <a:srgbClr val="000000"/>
              </a:solidFill>
              <a:effectLst/>
              <a:latin typeface="Arial"/>
              <a:ea typeface="Arial"/>
              <a:cs typeface="Calibri"/>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28383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Here the CVT.S32.F32     </a:t>
            </a:r>
            <a:r>
              <a:rPr lang="en-US" sz="1200" dirty="0">
                <a:solidFill>
                  <a:srgbClr val="000000"/>
                </a:solidFill>
                <a:effectLst/>
                <a:latin typeface="+mn-lt"/>
                <a:ea typeface="Calibri"/>
                <a:cs typeface="Calibri"/>
              </a:rPr>
              <a:t>S</a:t>
            </a:r>
            <a:r>
              <a:rPr lang="en-US" sz="1200" baseline="-25000" dirty="0">
                <a:solidFill>
                  <a:srgbClr val="000000"/>
                </a:solidFill>
                <a:effectLst/>
                <a:latin typeface="+mn-lt"/>
                <a:ea typeface="Calibri"/>
                <a:cs typeface="Calibri"/>
              </a:rPr>
              <a:t>d</a:t>
            </a:r>
            <a:r>
              <a:rPr lang="en-US" sz="1200" dirty="0">
                <a:solidFill>
                  <a:srgbClr val="000000"/>
                </a:solidFill>
                <a:effectLst/>
                <a:latin typeface="+mn-lt"/>
                <a:ea typeface="Calibri"/>
                <a:cs typeface="Calibri"/>
              </a:rPr>
              <a:t> </a:t>
            </a:r>
            <a:r>
              <a:rPr lang="en-US" sz="1200" dirty="0">
                <a:solidFill>
                  <a:srgbClr val="000000"/>
                </a:solidFill>
                <a:effectLst/>
                <a:latin typeface="+mn-lt"/>
                <a:ea typeface="Calibri"/>
                <a:cs typeface="Calibri"/>
                <a:sym typeface="Wingdings"/>
              </a:rPr>
              <a:t></a:t>
            </a:r>
            <a:r>
              <a:rPr lang="en-US" sz="1200" dirty="0">
                <a:solidFill>
                  <a:srgbClr val="000000"/>
                </a:solidFill>
                <a:effectLst/>
                <a:latin typeface="+mn-lt"/>
                <a:ea typeface="Calibri"/>
                <a:cs typeface="Calibri"/>
              </a:rPr>
              <a:t> (int32_t) S</a:t>
            </a:r>
            <a:r>
              <a:rPr lang="en-US" sz="1200" baseline="-25000" dirty="0">
                <a:solidFill>
                  <a:srgbClr val="000000"/>
                </a:solidFill>
                <a:effectLst/>
                <a:latin typeface="+mn-lt"/>
                <a:ea typeface="Calibri"/>
                <a:cs typeface="Calibri"/>
              </a:rPr>
              <a:t>m</a:t>
            </a:r>
            <a:endParaRPr lang="en-US" sz="1200" b="1" baseline="-25000" dirty="0">
              <a:solidFill>
                <a:srgbClr val="000000"/>
              </a:solidFill>
              <a:effectLst/>
              <a:latin typeface="Arial"/>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solidFill>
                  <a:srgbClr val="000000"/>
                </a:solidFill>
                <a:effectLst/>
                <a:latin typeface="+mn-lt"/>
                <a:ea typeface="Calibri"/>
                <a:cs typeface="Calibri"/>
              </a:rPr>
              <a:t>where S</a:t>
            </a:r>
            <a:r>
              <a:rPr lang="en-US" sz="1200" i="1" baseline="-25000" dirty="0">
                <a:solidFill>
                  <a:srgbClr val="000000"/>
                </a:solidFill>
                <a:effectLst/>
                <a:latin typeface="+mn-lt"/>
                <a:ea typeface="Calibri"/>
                <a:cs typeface="Calibri"/>
              </a:rPr>
              <a:t>m</a:t>
            </a:r>
            <a:r>
              <a:rPr lang="en-US" sz="1200" i="1" dirty="0">
                <a:solidFill>
                  <a:srgbClr val="000000"/>
                </a:solidFill>
                <a:effectLst/>
                <a:latin typeface="+mn-lt"/>
                <a:ea typeface="Calibri"/>
                <a:cs typeface="Calibri"/>
              </a:rPr>
              <a:t> is a</a:t>
            </a:r>
            <a:r>
              <a:rPr lang="en-US" sz="1200" i="1" baseline="0" dirty="0">
                <a:solidFill>
                  <a:srgbClr val="000000"/>
                </a:solidFill>
                <a:effectLst/>
                <a:latin typeface="+mn-lt"/>
                <a:ea typeface="Calibri"/>
                <a:cs typeface="Calibri"/>
              </a:rPr>
              <a:t> float rounded towards zero (or truncate).</a:t>
            </a:r>
            <a:endParaRPr lang="en-US" sz="1200" dirty="0">
              <a:solidFill>
                <a:srgbClr val="000000"/>
              </a:solidFill>
              <a:effectLst/>
              <a:latin typeface="Arial"/>
              <a:ea typeface="Arial"/>
              <a:cs typeface="Calibri"/>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87227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FPSCR (Floating Point Status and Control Register)</a:t>
            </a:r>
          </a:p>
          <a:p>
            <a:r>
              <a:rPr lang="en-US" baseline="0" dirty="0"/>
              <a:t>APSR (Application Program Status Register). </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45474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05705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 * r</a:t>
            </a:r>
            <a:r>
              <a:rPr lang="en-US" baseline="30000" dirty="0"/>
              <a:t>2</a:t>
            </a:r>
            <a:r>
              <a:rPr lang="en-US" dirty="0"/>
              <a:t> * h / 3</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4E776C-1A39-48C6-A8DB-FFC32122A9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6523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6D5B4C3-9B00-474A-97E8-C13B4A35C414}"/>
              </a:ext>
            </a:extLst>
          </p:cNvPr>
          <p:cNvSpPr>
            <a:spLocks noGrp="1"/>
          </p:cNvSpPr>
          <p:nvPr>
            <p:ph type="subTitle" idx="1"/>
          </p:nvPr>
        </p:nvSpPr>
        <p:spPr>
          <a:xfrm>
            <a:off x="1524000" y="3391831"/>
            <a:ext cx="9144000" cy="1655762"/>
          </a:xfrm>
        </p:spPr>
        <p:txBody>
          <a:bodyPr/>
          <a:lstStyle>
            <a:lvl1pPr marL="0" indent="0" algn="l">
              <a:buNone/>
              <a:defRPr sz="2400" b="1" i="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Title 6">
            <a:extLst>
              <a:ext uri="{FF2B5EF4-FFF2-40B4-BE49-F238E27FC236}">
                <a16:creationId xmlns:a16="http://schemas.microsoft.com/office/drawing/2014/main" id="{2D22AE50-6F90-E24E-B822-6568D311B38B}"/>
              </a:ext>
            </a:extLst>
          </p:cNvPr>
          <p:cNvSpPr>
            <a:spLocks noGrp="1"/>
          </p:cNvSpPr>
          <p:nvPr>
            <p:ph type="title"/>
          </p:nvPr>
        </p:nvSpPr>
        <p:spPr>
          <a:xfrm>
            <a:off x="1524000" y="2032145"/>
            <a:ext cx="9144000" cy="1144151"/>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85B2EB50-2D06-0F47-91A8-A0077BC58DDD}"/>
              </a:ext>
            </a:extLst>
          </p:cNvPr>
          <p:cNvSpPr>
            <a:spLocks noGrp="1"/>
          </p:cNvSpPr>
          <p:nvPr>
            <p:ph type="body" sz="quarter" idx="10" hasCustomPrompt="1"/>
          </p:nvPr>
        </p:nvSpPr>
        <p:spPr>
          <a:xfrm>
            <a:off x="7550150" y="6172200"/>
            <a:ext cx="3873500" cy="4826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2038669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AA9E0-FD26-B94E-9B92-E4BB7FDAC55D}"/>
              </a:ext>
            </a:extLst>
          </p:cNvPr>
          <p:cNvSpPr>
            <a:spLocks noGrp="1"/>
          </p:cNvSpPr>
          <p:nvPr>
            <p:ph type="title"/>
          </p:nvPr>
        </p:nvSpPr>
        <p:spPr/>
        <p:txBody>
          <a:bodyPr>
            <a:normAutofit/>
          </a:bodyPr>
          <a:lstStyle>
            <a:lvl1pPr>
              <a:defRPr sz="3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AAD2F48-A24B-4049-960D-8B798AEFA8BE}"/>
              </a:ext>
            </a:extLst>
          </p:cNvPr>
          <p:cNvSpPr>
            <a:spLocks noGrp="1"/>
          </p:cNvSpPr>
          <p:nvPr>
            <p:ph idx="1"/>
          </p:nvPr>
        </p:nvSpPr>
        <p:spPr>
          <a:xfrm>
            <a:off x="936516" y="2449386"/>
            <a:ext cx="10417284" cy="3805364"/>
          </a:xfrm>
        </p:spPr>
        <p:txBody>
          <a:bodyPr/>
          <a:lstStyle>
            <a:lvl1pPr>
              <a:buClr>
                <a:srgbClr val="B30738"/>
              </a:buClr>
              <a:defRPr b="0" i="0">
                <a:latin typeface="Arial Narrow" panose="020B0604020202020204" pitchFamily="34" charset="0"/>
                <a:cs typeface="Arial Narrow" panose="020B0604020202020204" pitchFamily="34" charset="0"/>
              </a:defRPr>
            </a:lvl1pPr>
            <a:lvl2pPr>
              <a:buClr>
                <a:srgbClr val="B30738"/>
              </a:buClr>
              <a:defRPr b="0" i="0">
                <a:solidFill>
                  <a:schemeClr val="tx1">
                    <a:lumMod val="65000"/>
                    <a:lumOff val="35000"/>
                  </a:schemeClr>
                </a:solidFill>
                <a:latin typeface="Arial Narrow" panose="020B0604020202020204" pitchFamily="34" charset="0"/>
                <a:cs typeface="Arial Narrow" panose="020B0604020202020204" pitchFamily="34" charset="0"/>
              </a:defRPr>
            </a:lvl2pPr>
            <a:lvl3pPr>
              <a:buClr>
                <a:srgbClr val="B30738"/>
              </a:buClr>
              <a:defRPr b="0" i="0">
                <a:solidFill>
                  <a:schemeClr val="tx1">
                    <a:lumMod val="65000"/>
                    <a:lumOff val="35000"/>
                  </a:schemeClr>
                </a:solidFill>
                <a:latin typeface="Arial Narrow" panose="020B0604020202020204" pitchFamily="34" charset="0"/>
                <a:cs typeface="Arial Narrow" panose="020B0604020202020204" pitchFamily="34" charset="0"/>
              </a:defRPr>
            </a:lvl3pPr>
            <a:lvl4pPr>
              <a:buClr>
                <a:srgbClr val="B30738"/>
              </a:buClr>
              <a:defRPr b="0" i="0">
                <a:solidFill>
                  <a:schemeClr val="tx1">
                    <a:lumMod val="65000"/>
                    <a:lumOff val="35000"/>
                  </a:schemeClr>
                </a:solidFill>
                <a:latin typeface="Arial Narrow" panose="020B0604020202020204" pitchFamily="34" charset="0"/>
                <a:cs typeface="Arial Narrow" panose="020B0604020202020204" pitchFamily="34" charset="0"/>
              </a:defRPr>
            </a:lvl4pPr>
            <a:lvl5pPr>
              <a:buClr>
                <a:srgbClr val="B30738"/>
              </a:buClr>
              <a:defRPr b="0" i="0">
                <a:solidFill>
                  <a:schemeClr val="tx1">
                    <a:lumMod val="65000"/>
                    <a:lumOff val="35000"/>
                  </a:schemeClr>
                </a:solidFill>
                <a:latin typeface="Arial Narrow" panose="020B0604020202020204" pitchFamily="34" charset="0"/>
                <a:cs typeface="Arial Narrow"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804C7CA-926E-AD42-9C16-D63E0CBCB0BE}"/>
              </a:ext>
            </a:extLst>
          </p:cNvPr>
          <p:cNvSpPr>
            <a:spLocks noGrp="1"/>
          </p:cNvSpPr>
          <p:nvPr>
            <p:ph type="body" sz="quarter" idx="10" hasCustomPrompt="1"/>
          </p:nvPr>
        </p:nvSpPr>
        <p:spPr>
          <a:xfrm>
            <a:off x="7550150" y="6254750"/>
            <a:ext cx="3873500" cy="40005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1653811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Title Only">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455421C-28F7-134B-8F0E-FE7D28044B4A}"/>
              </a:ext>
            </a:extLst>
          </p:cNvPr>
          <p:cNvPicPr>
            <a:picLocks noChangeAspect="1"/>
          </p:cNvPicPr>
          <p:nvPr/>
        </p:nvPicPr>
        <p:blipFill>
          <a:blip r:embed="rId2">
            <a:alphaModFix amt="35000"/>
          </a:blip>
          <a:stretch>
            <a:fillRect/>
          </a:stretch>
        </p:blipFill>
        <p:spPr>
          <a:xfrm>
            <a:off x="207617" y="1170297"/>
            <a:ext cx="2316923" cy="2158047"/>
          </a:xfrm>
          <a:prstGeom prst="rect">
            <a:avLst/>
          </a:prstGeom>
        </p:spPr>
      </p:pic>
      <p:sp>
        <p:nvSpPr>
          <p:cNvPr id="2" name="Title 1">
            <a:extLst>
              <a:ext uri="{FF2B5EF4-FFF2-40B4-BE49-F238E27FC236}">
                <a16:creationId xmlns:a16="http://schemas.microsoft.com/office/drawing/2014/main" id="{BA2731D7-31B8-F741-9BC2-7ACCA951A533}"/>
              </a:ext>
            </a:extLst>
          </p:cNvPr>
          <p:cNvSpPr>
            <a:spLocks noGrp="1"/>
          </p:cNvSpPr>
          <p:nvPr>
            <p:ph type="title"/>
          </p:nvPr>
        </p:nvSpPr>
        <p:spPr>
          <a:xfrm>
            <a:off x="974035" y="1170297"/>
            <a:ext cx="10379765" cy="4683851"/>
          </a:xfrm>
        </p:spPr>
        <p:txBody>
          <a:bodyPr>
            <a:normAutofit/>
          </a:bodyPr>
          <a:lstStyle>
            <a:lvl1pPr>
              <a:defRPr sz="6000" b="0" i="0">
                <a:solidFill>
                  <a:schemeClr val="tx1">
                    <a:lumMod val="50000"/>
                    <a:lumOff val="50000"/>
                  </a:schemeClr>
                </a:solidFill>
                <a:latin typeface="Garamond" panose="02020404030301010803" pitchFamily="18" charset="0"/>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43C62840-6E05-504B-B2F6-709D240E6923}"/>
              </a:ext>
            </a:extLst>
          </p:cNvPr>
          <p:cNvSpPr>
            <a:spLocks noGrp="1"/>
          </p:cNvSpPr>
          <p:nvPr>
            <p:ph type="body" sz="quarter" idx="10" hasCustomPrompt="1"/>
          </p:nvPr>
        </p:nvSpPr>
        <p:spPr>
          <a:xfrm>
            <a:off x="7550150" y="6172200"/>
            <a:ext cx="3873500" cy="4826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4188698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10691-0E51-0642-89F8-2E84D8B866CC}"/>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1D74316-63BB-3446-BDDD-074CD2479EBE}"/>
              </a:ext>
            </a:extLst>
          </p:cNvPr>
          <p:cNvSpPr>
            <a:spLocks noGrp="1"/>
          </p:cNvSpPr>
          <p:nvPr>
            <p:ph type="body" idx="1"/>
          </p:nvPr>
        </p:nvSpPr>
        <p:spPr>
          <a:xfrm>
            <a:off x="831850" y="4677103"/>
            <a:ext cx="10515600" cy="141254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Text Placeholder 3">
            <a:extLst>
              <a:ext uri="{FF2B5EF4-FFF2-40B4-BE49-F238E27FC236}">
                <a16:creationId xmlns:a16="http://schemas.microsoft.com/office/drawing/2014/main" id="{167D355E-B4A2-6F4F-B305-737A32A3ACE1}"/>
              </a:ext>
            </a:extLst>
          </p:cNvPr>
          <p:cNvSpPr>
            <a:spLocks noGrp="1"/>
          </p:cNvSpPr>
          <p:nvPr>
            <p:ph type="body" sz="quarter" idx="10" hasCustomPrompt="1"/>
          </p:nvPr>
        </p:nvSpPr>
        <p:spPr>
          <a:xfrm>
            <a:off x="7550150" y="6172200"/>
            <a:ext cx="3873500" cy="4826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698417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112F8-AE85-BC4D-8ACE-BD36C70435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0E9A7C-E733-9C48-89C3-E8646610184E}"/>
              </a:ext>
            </a:extLst>
          </p:cNvPr>
          <p:cNvSpPr>
            <a:spLocks noGrp="1"/>
          </p:cNvSpPr>
          <p:nvPr>
            <p:ph sz="half" idx="1"/>
          </p:nvPr>
        </p:nvSpPr>
        <p:spPr>
          <a:xfrm>
            <a:off x="936516" y="2438399"/>
            <a:ext cx="5083284" cy="382905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0853515-618E-BC46-A98D-B716B4327E1F}"/>
              </a:ext>
            </a:extLst>
          </p:cNvPr>
          <p:cNvSpPr>
            <a:spLocks noGrp="1"/>
          </p:cNvSpPr>
          <p:nvPr>
            <p:ph sz="half" idx="2"/>
          </p:nvPr>
        </p:nvSpPr>
        <p:spPr>
          <a:xfrm>
            <a:off x="6172200" y="2438399"/>
            <a:ext cx="5181600" cy="382905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a:extLst>
              <a:ext uri="{FF2B5EF4-FFF2-40B4-BE49-F238E27FC236}">
                <a16:creationId xmlns:a16="http://schemas.microsoft.com/office/drawing/2014/main" id="{BF872C4E-C1EA-6E4F-ACE3-4DD19FF177FE}"/>
              </a:ext>
            </a:extLst>
          </p:cNvPr>
          <p:cNvSpPr>
            <a:spLocks noGrp="1"/>
          </p:cNvSpPr>
          <p:nvPr>
            <p:ph type="body" sz="quarter" idx="10" hasCustomPrompt="1"/>
          </p:nvPr>
        </p:nvSpPr>
        <p:spPr>
          <a:xfrm>
            <a:off x="7550150" y="6172200"/>
            <a:ext cx="3873500" cy="4826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1628494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2EAC0-550E-1740-BE53-8E9F0A34C05A}"/>
              </a:ext>
            </a:extLst>
          </p:cNvPr>
          <p:cNvSpPr>
            <a:spLocks noGrp="1"/>
          </p:cNvSpPr>
          <p:nvPr>
            <p:ph type="title"/>
          </p:nvPr>
        </p:nvSpPr>
        <p:spPr>
          <a:xfrm>
            <a:off x="935420" y="882869"/>
            <a:ext cx="10419967" cy="807819"/>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A6707B4-CFB5-CF4A-9970-F7B61DECC9F7}"/>
              </a:ext>
            </a:extLst>
          </p:cNvPr>
          <p:cNvSpPr>
            <a:spLocks noGrp="1"/>
          </p:cNvSpPr>
          <p:nvPr>
            <p:ph type="body" idx="1"/>
          </p:nvPr>
        </p:nvSpPr>
        <p:spPr>
          <a:xfrm>
            <a:off x="935421" y="1839309"/>
            <a:ext cx="5062154" cy="66576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4EA7258-4408-8940-BE1F-BB96B827782D}"/>
              </a:ext>
            </a:extLst>
          </p:cNvPr>
          <p:cNvSpPr>
            <a:spLocks noGrp="1"/>
          </p:cNvSpPr>
          <p:nvPr>
            <p:ph sz="half" idx="2"/>
          </p:nvPr>
        </p:nvSpPr>
        <p:spPr>
          <a:xfrm>
            <a:off x="935421" y="2653695"/>
            <a:ext cx="5062154" cy="36074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51E6BE5-8409-9441-A406-BB5D9E6F941C}"/>
              </a:ext>
            </a:extLst>
          </p:cNvPr>
          <p:cNvSpPr>
            <a:spLocks noGrp="1"/>
          </p:cNvSpPr>
          <p:nvPr>
            <p:ph type="body" sz="quarter" idx="3"/>
          </p:nvPr>
        </p:nvSpPr>
        <p:spPr>
          <a:xfrm>
            <a:off x="6172200" y="1839309"/>
            <a:ext cx="5183188" cy="6657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E3EBE53-5EFB-6744-957B-B93F2D10CC5D}"/>
              </a:ext>
            </a:extLst>
          </p:cNvPr>
          <p:cNvSpPr>
            <a:spLocks noGrp="1"/>
          </p:cNvSpPr>
          <p:nvPr>
            <p:ph sz="quarter" idx="4"/>
          </p:nvPr>
        </p:nvSpPr>
        <p:spPr>
          <a:xfrm>
            <a:off x="6172200" y="2653695"/>
            <a:ext cx="5183188" cy="360740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
            <a:extLst>
              <a:ext uri="{FF2B5EF4-FFF2-40B4-BE49-F238E27FC236}">
                <a16:creationId xmlns:a16="http://schemas.microsoft.com/office/drawing/2014/main" id="{30A5D7E1-E327-DF48-B848-9BDF99F875D4}"/>
              </a:ext>
            </a:extLst>
          </p:cNvPr>
          <p:cNvSpPr>
            <a:spLocks noGrp="1"/>
          </p:cNvSpPr>
          <p:nvPr>
            <p:ph type="body" sz="quarter" idx="10" hasCustomPrompt="1"/>
          </p:nvPr>
        </p:nvSpPr>
        <p:spPr>
          <a:xfrm>
            <a:off x="7550150" y="6172200"/>
            <a:ext cx="3873500" cy="4826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3268000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731D7-31B8-F741-9BC2-7ACCA951A533}"/>
              </a:ext>
            </a:extLst>
          </p:cNvPr>
          <p:cNvSpPr>
            <a:spLocks noGrp="1"/>
          </p:cNvSpPr>
          <p:nvPr>
            <p:ph type="title"/>
          </p:nvPr>
        </p:nvSpPr>
        <p:spPr>
          <a:xfrm>
            <a:off x="936516" y="1170297"/>
            <a:ext cx="10417284" cy="1144151"/>
          </a:xfrm>
        </p:spPr>
        <p:txBody>
          <a:bodyPr/>
          <a:lstStyle/>
          <a:p>
            <a:r>
              <a:rPr lang="en-US"/>
              <a:t>Click to edit Master title style</a:t>
            </a:r>
            <a:endParaRPr lang="en-US" dirty="0"/>
          </a:p>
        </p:txBody>
      </p:sp>
      <p:sp>
        <p:nvSpPr>
          <p:cNvPr id="3" name="Text Placeholder 3">
            <a:extLst>
              <a:ext uri="{FF2B5EF4-FFF2-40B4-BE49-F238E27FC236}">
                <a16:creationId xmlns:a16="http://schemas.microsoft.com/office/drawing/2014/main" id="{3651EA50-74CA-AA48-8D7F-2B85A97EE66C}"/>
              </a:ext>
            </a:extLst>
          </p:cNvPr>
          <p:cNvSpPr>
            <a:spLocks noGrp="1"/>
          </p:cNvSpPr>
          <p:nvPr>
            <p:ph type="body" sz="quarter" idx="10" hasCustomPrompt="1"/>
          </p:nvPr>
        </p:nvSpPr>
        <p:spPr>
          <a:xfrm>
            <a:off x="7550150" y="6172200"/>
            <a:ext cx="3873500" cy="4826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143540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731D7-31B8-F741-9BC2-7ACCA951A533}"/>
              </a:ext>
            </a:extLst>
          </p:cNvPr>
          <p:cNvSpPr>
            <a:spLocks noGrp="1"/>
          </p:cNvSpPr>
          <p:nvPr>
            <p:ph type="title"/>
          </p:nvPr>
        </p:nvSpPr>
        <p:spPr>
          <a:xfrm>
            <a:off x="936516" y="5973418"/>
            <a:ext cx="6467584" cy="575100"/>
          </a:xfrm>
        </p:spPr>
        <p:txBody>
          <a:bodyPr>
            <a:normAutofit/>
          </a:bodyPr>
          <a:lstStyle>
            <a:lvl1pPr>
              <a:defRPr sz="2000"/>
            </a:lvl1pPr>
          </a:lstStyle>
          <a:p>
            <a:r>
              <a:rPr lang="en-US"/>
              <a:t>Click to edit Master title style</a:t>
            </a:r>
            <a:endParaRPr lang="en-US" dirty="0"/>
          </a:p>
        </p:txBody>
      </p:sp>
      <p:sp>
        <p:nvSpPr>
          <p:cNvPr id="4" name="Picture Placeholder 2">
            <a:extLst>
              <a:ext uri="{FF2B5EF4-FFF2-40B4-BE49-F238E27FC236}">
                <a16:creationId xmlns:a16="http://schemas.microsoft.com/office/drawing/2014/main" id="{5F1C41BA-7C2D-F548-A588-7F002DC2319F}"/>
              </a:ext>
            </a:extLst>
          </p:cNvPr>
          <p:cNvSpPr>
            <a:spLocks noGrp="1"/>
          </p:cNvSpPr>
          <p:nvPr>
            <p:ph type="pic" idx="1"/>
          </p:nvPr>
        </p:nvSpPr>
        <p:spPr>
          <a:xfrm>
            <a:off x="936516" y="956441"/>
            <a:ext cx="10417284" cy="486788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Text Placeholder 3">
            <a:extLst>
              <a:ext uri="{FF2B5EF4-FFF2-40B4-BE49-F238E27FC236}">
                <a16:creationId xmlns:a16="http://schemas.microsoft.com/office/drawing/2014/main" id="{6AC4C19D-273F-DD4F-AB1E-92F31DD503BA}"/>
              </a:ext>
            </a:extLst>
          </p:cNvPr>
          <p:cNvSpPr>
            <a:spLocks noGrp="1"/>
          </p:cNvSpPr>
          <p:nvPr>
            <p:ph type="body" sz="quarter" idx="10" hasCustomPrompt="1"/>
          </p:nvPr>
        </p:nvSpPr>
        <p:spPr>
          <a:xfrm>
            <a:off x="7550150" y="6172200"/>
            <a:ext cx="3873500" cy="4826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790107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731D7-31B8-F741-9BC2-7ACCA951A533}"/>
              </a:ext>
            </a:extLst>
          </p:cNvPr>
          <p:cNvSpPr>
            <a:spLocks noGrp="1"/>
          </p:cNvSpPr>
          <p:nvPr>
            <p:ph type="title"/>
          </p:nvPr>
        </p:nvSpPr>
        <p:spPr>
          <a:xfrm>
            <a:off x="936516" y="5973418"/>
            <a:ext cx="6524734" cy="575100"/>
          </a:xfrm>
        </p:spPr>
        <p:txBody>
          <a:bodyPr>
            <a:normAutofit/>
          </a:bodyPr>
          <a:lstStyle>
            <a:lvl1pPr>
              <a:defRPr sz="2000"/>
            </a:lvl1pPr>
          </a:lstStyle>
          <a:p>
            <a:r>
              <a:rPr lang="en-US"/>
              <a:t>Click to edit Master title style</a:t>
            </a:r>
            <a:endParaRPr lang="en-US" dirty="0"/>
          </a:p>
        </p:txBody>
      </p:sp>
      <p:sp>
        <p:nvSpPr>
          <p:cNvPr id="4" name="Picture Placeholder 2">
            <a:extLst>
              <a:ext uri="{FF2B5EF4-FFF2-40B4-BE49-F238E27FC236}">
                <a16:creationId xmlns:a16="http://schemas.microsoft.com/office/drawing/2014/main" id="{5F1C41BA-7C2D-F548-A588-7F002DC2319F}"/>
              </a:ext>
            </a:extLst>
          </p:cNvPr>
          <p:cNvSpPr>
            <a:spLocks noGrp="1"/>
          </p:cNvSpPr>
          <p:nvPr>
            <p:ph type="pic" idx="1"/>
          </p:nvPr>
        </p:nvSpPr>
        <p:spPr>
          <a:xfrm>
            <a:off x="936516" y="956441"/>
            <a:ext cx="10417284" cy="486788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Text Placeholder 3">
            <a:extLst>
              <a:ext uri="{FF2B5EF4-FFF2-40B4-BE49-F238E27FC236}">
                <a16:creationId xmlns:a16="http://schemas.microsoft.com/office/drawing/2014/main" id="{DA9A9976-053D-644A-ACDD-10A8928C184A}"/>
              </a:ext>
            </a:extLst>
          </p:cNvPr>
          <p:cNvSpPr>
            <a:spLocks noGrp="1"/>
          </p:cNvSpPr>
          <p:nvPr>
            <p:ph type="body" sz="quarter" idx="10" hasCustomPrompt="1"/>
          </p:nvPr>
        </p:nvSpPr>
        <p:spPr>
          <a:xfrm>
            <a:off x="7550150" y="6172200"/>
            <a:ext cx="3873500" cy="4826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35507211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9C3A92E6-32C2-FB44-B5B2-762BF26633E2}"/>
              </a:ext>
            </a:extLst>
          </p:cNvPr>
          <p:cNvSpPr>
            <a:spLocks noGrp="1"/>
          </p:cNvSpPr>
          <p:nvPr>
            <p:ph type="pic" idx="1"/>
          </p:nvPr>
        </p:nvSpPr>
        <p:spPr>
          <a:xfrm>
            <a:off x="936516" y="956441"/>
            <a:ext cx="10417284" cy="534275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3" name="Text Placeholder 3">
            <a:extLst>
              <a:ext uri="{FF2B5EF4-FFF2-40B4-BE49-F238E27FC236}">
                <a16:creationId xmlns:a16="http://schemas.microsoft.com/office/drawing/2014/main" id="{4E849984-83FA-4B45-A602-6A412FE0CCE4}"/>
              </a:ext>
            </a:extLst>
          </p:cNvPr>
          <p:cNvSpPr>
            <a:spLocks noGrp="1"/>
          </p:cNvSpPr>
          <p:nvPr>
            <p:ph type="body" sz="quarter" idx="10" hasCustomPrompt="1"/>
          </p:nvPr>
        </p:nvSpPr>
        <p:spPr>
          <a:xfrm>
            <a:off x="7550150" y="6299200"/>
            <a:ext cx="3873500" cy="3556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292503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C6088-92BE-7449-8B28-318FAB3F2565}"/>
              </a:ext>
            </a:extLst>
          </p:cNvPr>
          <p:cNvSpPr>
            <a:spLocks noGrp="1"/>
          </p:cNvSpPr>
          <p:nvPr>
            <p:ph type="title"/>
          </p:nvPr>
        </p:nvSpPr>
        <p:spPr>
          <a:xfrm>
            <a:off x="839788" y="987425"/>
            <a:ext cx="4138612" cy="1429953"/>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0A42DAB-D135-604C-8CA5-59E8EBB192A1}"/>
              </a:ext>
            </a:extLst>
          </p:cNvPr>
          <p:cNvSpPr>
            <a:spLocks noGrp="1"/>
          </p:cNvSpPr>
          <p:nvPr>
            <p:ph idx="1"/>
          </p:nvPr>
        </p:nvSpPr>
        <p:spPr>
          <a:xfrm>
            <a:off x="5183188" y="987425"/>
            <a:ext cx="6172200" cy="52673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DDFE57F-E4E9-7543-83FD-1DD747CAD0BE}"/>
              </a:ext>
            </a:extLst>
          </p:cNvPr>
          <p:cNvSpPr>
            <a:spLocks noGrp="1"/>
          </p:cNvSpPr>
          <p:nvPr>
            <p:ph type="body" sz="half" idx="2"/>
          </p:nvPr>
        </p:nvSpPr>
        <p:spPr>
          <a:xfrm>
            <a:off x="839788" y="2571750"/>
            <a:ext cx="4138612" cy="38290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Text Placeholder 3">
            <a:extLst>
              <a:ext uri="{FF2B5EF4-FFF2-40B4-BE49-F238E27FC236}">
                <a16:creationId xmlns:a16="http://schemas.microsoft.com/office/drawing/2014/main" id="{2E940D73-0AAB-1944-9712-6637A75B1A9E}"/>
              </a:ext>
            </a:extLst>
          </p:cNvPr>
          <p:cNvSpPr>
            <a:spLocks noGrp="1"/>
          </p:cNvSpPr>
          <p:nvPr>
            <p:ph type="body" sz="quarter" idx="10" hasCustomPrompt="1"/>
          </p:nvPr>
        </p:nvSpPr>
        <p:spPr>
          <a:xfrm>
            <a:off x="7550150" y="6324600"/>
            <a:ext cx="3873500" cy="3302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1001048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42C89-5587-0348-8D17-7C08B2EAD6A2}"/>
              </a:ext>
            </a:extLst>
          </p:cNvPr>
          <p:cNvSpPr>
            <a:spLocks noGrp="1"/>
          </p:cNvSpPr>
          <p:nvPr>
            <p:ph type="title"/>
          </p:nvPr>
        </p:nvSpPr>
        <p:spPr>
          <a:xfrm>
            <a:off x="935421" y="956440"/>
            <a:ext cx="4011228" cy="1166649"/>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521D3EC-E376-5D4E-835F-620AC359D305}"/>
              </a:ext>
            </a:extLst>
          </p:cNvPr>
          <p:cNvSpPr>
            <a:spLocks noGrp="1"/>
          </p:cNvSpPr>
          <p:nvPr>
            <p:ph type="pic" idx="1"/>
          </p:nvPr>
        </p:nvSpPr>
        <p:spPr>
          <a:xfrm>
            <a:off x="5162167" y="956441"/>
            <a:ext cx="6172200" cy="532370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3B5B150-6498-3B43-813F-7D37535FB170}"/>
              </a:ext>
            </a:extLst>
          </p:cNvPr>
          <p:cNvSpPr>
            <a:spLocks noGrp="1"/>
          </p:cNvSpPr>
          <p:nvPr>
            <p:ph type="body" sz="half" idx="2"/>
          </p:nvPr>
        </p:nvSpPr>
        <p:spPr>
          <a:xfrm>
            <a:off x="935420" y="2291254"/>
            <a:ext cx="4011229" cy="398889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Text Placeholder 3">
            <a:extLst>
              <a:ext uri="{FF2B5EF4-FFF2-40B4-BE49-F238E27FC236}">
                <a16:creationId xmlns:a16="http://schemas.microsoft.com/office/drawing/2014/main" id="{131420AC-1CC6-B24D-864B-D3A8C0514E9A}"/>
              </a:ext>
            </a:extLst>
          </p:cNvPr>
          <p:cNvSpPr>
            <a:spLocks noGrp="1"/>
          </p:cNvSpPr>
          <p:nvPr>
            <p:ph type="body" sz="quarter" idx="10" hasCustomPrompt="1"/>
          </p:nvPr>
        </p:nvSpPr>
        <p:spPr>
          <a:xfrm>
            <a:off x="7550150" y="6280150"/>
            <a:ext cx="3873500" cy="37465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893178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707BF-1F09-3444-AFBA-78A9352F15ED}"/>
              </a:ext>
            </a:extLst>
          </p:cNvPr>
          <p:cNvSpPr>
            <a:spLocks noGrp="1"/>
          </p:cNvSpPr>
          <p:nvPr>
            <p:ph type="title"/>
          </p:nvPr>
        </p:nvSpPr>
        <p:spPr>
          <a:xfrm>
            <a:off x="831850" y="1838948"/>
            <a:ext cx="10515600" cy="2464696"/>
          </a:xfrm>
          <a:prstGeom prst="rect">
            <a:avLst/>
          </a:prstGeom>
        </p:spPr>
        <p:txBody>
          <a:bodyPr anchor="ctr">
            <a:normAutofit/>
          </a:bodyPr>
          <a:lstStyle>
            <a:lvl1pPr algn="ctr">
              <a:defRPr sz="5400"/>
            </a:lvl1pPr>
          </a:lstStyle>
          <a:p>
            <a:r>
              <a:rPr lang="en-US" dirty="0"/>
              <a:t>Click to edit Master title style</a:t>
            </a:r>
          </a:p>
        </p:txBody>
      </p:sp>
    </p:spTree>
    <p:extLst>
      <p:ext uri="{BB962C8B-B14F-4D97-AF65-F5344CB8AC3E}">
        <p14:creationId xmlns:p14="http://schemas.microsoft.com/office/powerpoint/2010/main" val="28145046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707BF-1F09-3444-AFBA-78A9352F15ED}"/>
              </a:ext>
            </a:extLst>
          </p:cNvPr>
          <p:cNvSpPr>
            <a:spLocks noGrp="1"/>
          </p:cNvSpPr>
          <p:nvPr>
            <p:ph type="title"/>
          </p:nvPr>
        </p:nvSpPr>
        <p:spPr>
          <a:xfrm>
            <a:off x="831850" y="1838948"/>
            <a:ext cx="10515600" cy="2464696"/>
          </a:xfrm>
          <a:prstGeom prst="rect">
            <a:avLst/>
          </a:prstGeom>
        </p:spPr>
        <p:txBody>
          <a:bodyPr anchor="ctr">
            <a:normAutofit/>
          </a:bodyPr>
          <a:lstStyle>
            <a:lvl1pPr algn="ctr">
              <a:defRPr sz="5400"/>
            </a:lvl1pPr>
          </a:lstStyle>
          <a:p>
            <a:r>
              <a:rPr lang="en-US"/>
              <a:t>Click to edit Master title style</a:t>
            </a:r>
            <a:endParaRPr lang="en-US" dirty="0"/>
          </a:p>
        </p:txBody>
      </p:sp>
    </p:spTree>
    <p:extLst>
      <p:ext uri="{BB962C8B-B14F-4D97-AF65-F5344CB8AC3E}">
        <p14:creationId xmlns:p14="http://schemas.microsoft.com/office/powerpoint/2010/main" val="11987506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707BF-1F09-3444-AFBA-78A9352F15ED}"/>
              </a:ext>
            </a:extLst>
          </p:cNvPr>
          <p:cNvSpPr>
            <a:spLocks noGrp="1"/>
          </p:cNvSpPr>
          <p:nvPr>
            <p:ph type="title"/>
          </p:nvPr>
        </p:nvSpPr>
        <p:spPr>
          <a:xfrm>
            <a:off x="831850" y="1838948"/>
            <a:ext cx="10515600" cy="2464696"/>
          </a:xfrm>
          <a:prstGeom prst="rect">
            <a:avLst/>
          </a:prstGeom>
        </p:spPr>
        <p:txBody>
          <a:bodyPr anchor="ctr">
            <a:normAutofit/>
          </a:bodyPr>
          <a:lstStyle>
            <a:lvl1pPr algn="ctr">
              <a:defRPr sz="5400"/>
            </a:lvl1pPr>
          </a:lstStyle>
          <a:p>
            <a:r>
              <a:rPr lang="en-US"/>
              <a:t>Click to edit Master title style</a:t>
            </a:r>
            <a:endParaRPr lang="en-US" dirty="0"/>
          </a:p>
        </p:txBody>
      </p:sp>
    </p:spTree>
    <p:extLst>
      <p:ext uri="{BB962C8B-B14F-4D97-AF65-F5344CB8AC3E}">
        <p14:creationId xmlns:p14="http://schemas.microsoft.com/office/powerpoint/2010/main" val="21624800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7F930-5302-8041-8D70-01651E15774D}"/>
              </a:ext>
            </a:extLst>
          </p:cNvPr>
          <p:cNvSpPr>
            <a:spLocks noGrp="1"/>
          </p:cNvSpPr>
          <p:nvPr>
            <p:ph type="ctrTitle"/>
          </p:nvPr>
        </p:nvSpPr>
        <p:spPr>
          <a:xfrm>
            <a:off x="944217" y="1351721"/>
            <a:ext cx="10555357" cy="2317267"/>
          </a:xfrm>
          <a:prstGeom prst="rect">
            <a:avLst/>
          </a:prstGeom>
        </p:spPr>
        <p:txBody>
          <a:bodyPr anchor="b">
            <a:normAutofit/>
          </a:bodyPr>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2F13BE-DC53-5D42-92BC-B1405D01D68C}"/>
              </a:ext>
            </a:extLst>
          </p:cNvPr>
          <p:cNvSpPr>
            <a:spLocks noGrp="1"/>
          </p:cNvSpPr>
          <p:nvPr>
            <p:ph type="subTitle" idx="1"/>
          </p:nvPr>
        </p:nvSpPr>
        <p:spPr>
          <a:xfrm>
            <a:off x="944217" y="4228203"/>
            <a:ext cx="10555357" cy="1377467"/>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1846008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7F930-5302-8041-8D70-01651E15774D}"/>
              </a:ext>
            </a:extLst>
          </p:cNvPr>
          <p:cNvSpPr>
            <a:spLocks noGrp="1"/>
          </p:cNvSpPr>
          <p:nvPr>
            <p:ph type="ctrTitle"/>
          </p:nvPr>
        </p:nvSpPr>
        <p:spPr>
          <a:xfrm>
            <a:off x="944217" y="1351721"/>
            <a:ext cx="10555357" cy="2317267"/>
          </a:xfrm>
          <a:prstGeom prst="rect">
            <a:avLst/>
          </a:prstGeom>
        </p:spPr>
        <p:txBody>
          <a:bodyPr anchor="b">
            <a:normAutofit/>
          </a:bodyPr>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2F13BE-DC53-5D42-92BC-B1405D01D68C}"/>
              </a:ext>
            </a:extLst>
          </p:cNvPr>
          <p:cNvSpPr>
            <a:spLocks noGrp="1"/>
          </p:cNvSpPr>
          <p:nvPr>
            <p:ph type="subTitle" idx="1"/>
          </p:nvPr>
        </p:nvSpPr>
        <p:spPr>
          <a:xfrm>
            <a:off x="944217" y="4228203"/>
            <a:ext cx="10555357" cy="1377467"/>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6244086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707BF-1F09-3444-AFBA-78A9352F15ED}"/>
              </a:ext>
            </a:extLst>
          </p:cNvPr>
          <p:cNvSpPr>
            <a:spLocks noGrp="1"/>
          </p:cNvSpPr>
          <p:nvPr>
            <p:ph type="title"/>
          </p:nvPr>
        </p:nvSpPr>
        <p:spPr>
          <a:xfrm>
            <a:off x="831850" y="1838948"/>
            <a:ext cx="10515600" cy="2464696"/>
          </a:xfrm>
          <a:prstGeom prst="rect">
            <a:avLst/>
          </a:prstGeom>
        </p:spPr>
        <p:txBody>
          <a:bodyPr anchor="ctr">
            <a:normAutofit/>
          </a:bodyPr>
          <a:lstStyle>
            <a:lvl1pPr algn="ctr">
              <a:defRPr sz="5400"/>
            </a:lvl1pPr>
          </a:lstStyle>
          <a:p>
            <a:r>
              <a:rPr lang="en-US"/>
              <a:t>Click to edit Master title style</a:t>
            </a:r>
            <a:endParaRPr lang="en-US" dirty="0"/>
          </a:p>
        </p:txBody>
      </p:sp>
    </p:spTree>
    <p:extLst>
      <p:ext uri="{BB962C8B-B14F-4D97-AF65-F5344CB8AC3E}">
        <p14:creationId xmlns:p14="http://schemas.microsoft.com/office/powerpoint/2010/main" val="29822073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80891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6D5B4C3-9B00-474A-97E8-C13B4A35C414}"/>
              </a:ext>
            </a:extLst>
          </p:cNvPr>
          <p:cNvSpPr>
            <a:spLocks noGrp="1"/>
          </p:cNvSpPr>
          <p:nvPr>
            <p:ph type="subTitle" idx="1"/>
          </p:nvPr>
        </p:nvSpPr>
        <p:spPr>
          <a:xfrm>
            <a:off x="1524000" y="3391831"/>
            <a:ext cx="9144000" cy="1655762"/>
          </a:xfrm>
        </p:spPr>
        <p:txBody>
          <a:bodyPr/>
          <a:lstStyle>
            <a:lvl1pPr marL="0" indent="0" algn="l">
              <a:buNone/>
              <a:defRPr sz="2400" b="1" i="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Title 6">
            <a:extLst>
              <a:ext uri="{FF2B5EF4-FFF2-40B4-BE49-F238E27FC236}">
                <a16:creationId xmlns:a16="http://schemas.microsoft.com/office/drawing/2014/main" id="{2D22AE50-6F90-E24E-B822-6568D311B38B}"/>
              </a:ext>
            </a:extLst>
          </p:cNvPr>
          <p:cNvSpPr>
            <a:spLocks noGrp="1"/>
          </p:cNvSpPr>
          <p:nvPr>
            <p:ph type="title"/>
          </p:nvPr>
        </p:nvSpPr>
        <p:spPr>
          <a:xfrm>
            <a:off x="1524000" y="2032145"/>
            <a:ext cx="9144000" cy="1144151"/>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85B2EB50-2D06-0F47-91A8-A0077BC58DDD}"/>
              </a:ext>
            </a:extLst>
          </p:cNvPr>
          <p:cNvSpPr>
            <a:spLocks noGrp="1"/>
          </p:cNvSpPr>
          <p:nvPr>
            <p:ph type="body" sz="quarter" idx="10" hasCustomPrompt="1"/>
          </p:nvPr>
        </p:nvSpPr>
        <p:spPr>
          <a:xfrm>
            <a:off x="7550150" y="6172200"/>
            <a:ext cx="3873500" cy="4826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36234435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AA9E0-FD26-B94E-9B92-E4BB7FDAC55D}"/>
              </a:ext>
            </a:extLst>
          </p:cNvPr>
          <p:cNvSpPr>
            <a:spLocks noGrp="1"/>
          </p:cNvSpPr>
          <p:nvPr>
            <p:ph type="title"/>
          </p:nvPr>
        </p:nvSpPr>
        <p:spPr/>
        <p:txBody>
          <a:bodyPr>
            <a:normAutofit/>
          </a:bodyPr>
          <a:lstStyle>
            <a:lvl1pPr>
              <a:defRPr sz="3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AAD2F48-A24B-4049-960D-8B798AEFA8BE}"/>
              </a:ext>
            </a:extLst>
          </p:cNvPr>
          <p:cNvSpPr>
            <a:spLocks noGrp="1"/>
          </p:cNvSpPr>
          <p:nvPr>
            <p:ph idx="1"/>
          </p:nvPr>
        </p:nvSpPr>
        <p:spPr>
          <a:xfrm>
            <a:off x="936516" y="2449386"/>
            <a:ext cx="10417284" cy="3805364"/>
          </a:xfrm>
        </p:spPr>
        <p:txBody>
          <a:bodyPr/>
          <a:lstStyle>
            <a:lvl1pPr>
              <a:buClr>
                <a:srgbClr val="B30738"/>
              </a:buClr>
              <a:defRPr b="0" i="0">
                <a:latin typeface="Arial Narrow" panose="020B0604020202020204" pitchFamily="34" charset="0"/>
                <a:cs typeface="Arial Narrow" panose="020B0604020202020204" pitchFamily="34" charset="0"/>
              </a:defRPr>
            </a:lvl1pPr>
            <a:lvl2pPr>
              <a:buClr>
                <a:srgbClr val="B30738"/>
              </a:buClr>
              <a:defRPr b="0" i="0">
                <a:solidFill>
                  <a:schemeClr val="tx1">
                    <a:lumMod val="65000"/>
                    <a:lumOff val="35000"/>
                  </a:schemeClr>
                </a:solidFill>
                <a:latin typeface="Arial Narrow" panose="020B0604020202020204" pitchFamily="34" charset="0"/>
                <a:cs typeface="Arial Narrow" panose="020B0604020202020204" pitchFamily="34" charset="0"/>
              </a:defRPr>
            </a:lvl2pPr>
            <a:lvl3pPr>
              <a:buClr>
                <a:srgbClr val="B30738"/>
              </a:buClr>
              <a:defRPr b="0" i="0">
                <a:solidFill>
                  <a:schemeClr val="tx1">
                    <a:lumMod val="65000"/>
                    <a:lumOff val="35000"/>
                  </a:schemeClr>
                </a:solidFill>
                <a:latin typeface="Arial Narrow" panose="020B0604020202020204" pitchFamily="34" charset="0"/>
                <a:cs typeface="Arial Narrow" panose="020B0604020202020204" pitchFamily="34" charset="0"/>
              </a:defRPr>
            </a:lvl3pPr>
            <a:lvl4pPr>
              <a:buClr>
                <a:srgbClr val="B30738"/>
              </a:buClr>
              <a:defRPr b="0" i="0">
                <a:solidFill>
                  <a:schemeClr val="tx1">
                    <a:lumMod val="65000"/>
                    <a:lumOff val="35000"/>
                  </a:schemeClr>
                </a:solidFill>
                <a:latin typeface="Arial Narrow" panose="020B0604020202020204" pitchFamily="34" charset="0"/>
                <a:cs typeface="Arial Narrow" panose="020B0604020202020204" pitchFamily="34" charset="0"/>
              </a:defRPr>
            </a:lvl4pPr>
            <a:lvl5pPr>
              <a:buClr>
                <a:srgbClr val="B30738"/>
              </a:buClr>
              <a:defRPr b="0" i="0">
                <a:solidFill>
                  <a:schemeClr val="tx1">
                    <a:lumMod val="65000"/>
                    <a:lumOff val="35000"/>
                  </a:schemeClr>
                </a:solidFill>
                <a:latin typeface="Arial Narrow" panose="020B0604020202020204" pitchFamily="34" charset="0"/>
                <a:cs typeface="Arial Narrow"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804C7CA-926E-AD42-9C16-D63E0CBCB0BE}"/>
              </a:ext>
            </a:extLst>
          </p:cNvPr>
          <p:cNvSpPr>
            <a:spLocks noGrp="1"/>
          </p:cNvSpPr>
          <p:nvPr>
            <p:ph type="body" sz="quarter" idx="10" hasCustomPrompt="1"/>
          </p:nvPr>
        </p:nvSpPr>
        <p:spPr>
          <a:xfrm>
            <a:off x="7550150" y="6254750"/>
            <a:ext cx="3873500" cy="40005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31419839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3_Title Only">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455421C-28F7-134B-8F0E-FE7D28044B4A}"/>
              </a:ext>
            </a:extLst>
          </p:cNvPr>
          <p:cNvPicPr>
            <a:picLocks noChangeAspect="1"/>
          </p:cNvPicPr>
          <p:nvPr/>
        </p:nvPicPr>
        <p:blipFill>
          <a:blip r:embed="rId2">
            <a:alphaModFix amt="35000"/>
          </a:blip>
          <a:stretch>
            <a:fillRect/>
          </a:stretch>
        </p:blipFill>
        <p:spPr>
          <a:xfrm>
            <a:off x="207617" y="1170297"/>
            <a:ext cx="2316923" cy="2158047"/>
          </a:xfrm>
          <a:prstGeom prst="rect">
            <a:avLst/>
          </a:prstGeom>
        </p:spPr>
      </p:pic>
      <p:sp>
        <p:nvSpPr>
          <p:cNvPr id="2" name="Title 1">
            <a:extLst>
              <a:ext uri="{FF2B5EF4-FFF2-40B4-BE49-F238E27FC236}">
                <a16:creationId xmlns:a16="http://schemas.microsoft.com/office/drawing/2014/main" id="{BA2731D7-31B8-F741-9BC2-7ACCA951A533}"/>
              </a:ext>
            </a:extLst>
          </p:cNvPr>
          <p:cNvSpPr>
            <a:spLocks noGrp="1"/>
          </p:cNvSpPr>
          <p:nvPr>
            <p:ph type="title"/>
          </p:nvPr>
        </p:nvSpPr>
        <p:spPr>
          <a:xfrm>
            <a:off x="974035" y="1170297"/>
            <a:ext cx="10379765" cy="4683851"/>
          </a:xfrm>
        </p:spPr>
        <p:txBody>
          <a:bodyPr>
            <a:normAutofit/>
          </a:bodyPr>
          <a:lstStyle>
            <a:lvl1pPr>
              <a:defRPr sz="6000" b="0" i="0">
                <a:solidFill>
                  <a:schemeClr val="tx1">
                    <a:lumMod val="50000"/>
                    <a:lumOff val="50000"/>
                  </a:schemeClr>
                </a:solidFill>
                <a:latin typeface="Garamond" panose="02020404030301010803" pitchFamily="18" charset="0"/>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43C62840-6E05-504B-B2F6-709D240E6923}"/>
              </a:ext>
            </a:extLst>
          </p:cNvPr>
          <p:cNvSpPr>
            <a:spLocks noGrp="1"/>
          </p:cNvSpPr>
          <p:nvPr>
            <p:ph type="body" sz="quarter" idx="10" hasCustomPrompt="1"/>
          </p:nvPr>
        </p:nvSpPr>
        <p:spPr>
          <a:xfrm>
            <a:off x="7550150" y="6172200"/>
            <a:ext cx="3873500" cy="4826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19027919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10691-0E51-0642-89F8-2E84D8B866CC}"/>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1D74316-63BB-3446-BDDD-074CD2479EBE}"/>
              </a:ext>
            </a:extLst>
          </p:cNvPr>
          <p:cNvSpPr>
            <a:spLocks noGrp="1"/>
          </p:cNvSpPr>
          <p:nvPr>
            <p:ph type="body" idx="1"/>
          </p:nvPr>
        </p:nvSpPr>
        <p:spPr>
          <a:xfrm>
            <a:off x="831850" y="4677103"/>
            <a:ext cx="10515600" cy="141254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Text Placeholder 3">
            <a:extLst>
              <a:ext uri="{FF2B5EF4-FFF2-40B4-BE49-F238E27FC236}">
                <a16:creationId xmlns:a16="http://schemas.microsoft.com/office/drawing/2014/main" id="{167D355E-B4A2-6F4F-B305-737A32A3ACE1}"/>
              </a:ext>
            </a:extLst>
          </p:cNvPr>
          <p:cNvSpPr>
            <a:spLocks noGrp="1"/>
          </p:cNvSpPr>
          <p:nvPr>
            <p:ph type="body" sz="quarter" idx="10" hasCustomPrompt="1"/>
          </p:nvPr>
        </p:nvSpPr>
        <p:spPr>
          <a:xfrm>
            <a:off x="7550150" y="6172200"/>
            <a:ext cx="3873500" cy="4826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2081430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112F8-AE85-BC4D-8ACE-BD36C70435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0E9A7C-E733-9C48-89C3-E8646610184E}"/>
              </a:ext>
            </a:extLst>
          </p:cNvPr>
          <p:cNvSpPr>
            <a:spLocks noGrp="1"/>
          </p:cNvSpPr>
          <p:nvPr>
            <p:ph sz="half" idx="1"/>
          </p:nvPr>
        </p:nvSpPr>
        <p:spPr>
          <a:xfrm>
            <a:off x="936516" y="2438399"/>
            <a:ext cx="5083284" cy="382905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0853515-618E-BC46-A98D-B716B4327E1F}"/>
              </a:ext>
            </a:extLst>
          </p:cNvPr>
          <p:cNvSpPr>
            <a:spLocks noGrp="1"/>
          </p:cNvSpPr>
          <p:nvPr>
            <p:ph sz="half" idx="2"/>
          </p:nvPr>
        </p:nvSpPr>
        <p:spPr>
          <a:xfrm>
            <a:off x="6172200" y="2438399"/>
            <a:ext cx="5181600" cy="382905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a:extLst>
              <a:ext uri="{FF2B5EF4-FFF2-40B4-BE49-F238E27FC236}">
                <a16:creationId xmlns:a16="http://schemas.microsoft.com/office/drawing/2014/main" id="{BF872C4E-C1EA-6E4F-ACE3-4DD19FF177FE}"/>
              </a:ext>
            </a:extLst>
          </p:cNvPr>
          <p:cNvSpPr>
            <a:spLocks noGrp="1"/>
          </p:cNvSpPr>
          <p:nvPr>
            <p:ph type="body" sz="quarter" idx="10" hasCustomPrompt="1"/>
          </p:nvPr>
        </p:nvSpPr>
        <p:spPr>
          <a:xfrm>
            <a:off x="7550150" y="6172200"/>
            <a:ext cx="3873500" cy="4826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38848934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2EAC0-550E-1740-BE53-8E9F0A34C05A}"/>
              </a:ext>
            </a:extLst>
          </p:cNvPr>
          <p:cNvSpPr>
            <a:spLocks noGrp="1"/>
          </p:cNvSpPr>
          <p:nvPr>
            <p:ph type="title"/>
          </p:nvPr>
        </p:nvSpPr>
        <p:spPr>
          <a:xfrm>
            <a:off x="935420" y="882869"/>
            <a:ext cx="10419967" cy="807819"/>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A6707B4-CFB5-CF4A-9970-F7B61DECC9F7}"/>
              </a:ext>
            </a:extLst>
          </p:cNvPr>
          <p:cNvSpPr>
            <a:spLocks noGrp="1"/>
          </p:cNvSpPr>
          <p:nvPr>
            <p:ph type="body" idx="1"/>
          </p:nvPr>
        </p:nvSpPr>
        <p:spPr>
          <a:xfrm>
            <a:off x="935421" y="1839309"/>
            <a:ext cx="5062154" cy="66576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4EA7258-4408-8940-BE1F-BB96B827782D}"/>
              </a:ext>
            </a:extLst>
          </p:cNvPr>
          <p:cNvSpPr>
            <a:spLocks noGrp="1"/>
          </p:cNvSpPr>
          <p:nvPr>
            <p:ph sz="half" idx="2"/>
          </p:nvPr>
        </p:nvSpPr>
        <p:spPr>
          <a:xfrm>
            <a:off x="935421" y="2653695"/>
            <a:ext cx="5062154" cy="36074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51E6BE5-8409-9441-A406-BB5D9E6F941C}"/>
              </a:ext>
            </a:extLst>
          </p:cNvPr>
          <p:cNvSpPr>
            <a:spLocks noGrp="1"/>
          </p:cNvSpPr>
          <p:nvPr>
            <p:ph type="body" sz="quarter" idx="3"/>
          </p:nvPr>
        </p:nvSpPr>
        <p:spPr>
          <a:xfrm>
            <a:off x="6172200" y="1839309"/>
            <a:ext cx="5183188" cy="6657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E3EBE53-5EFB-6744-957B-B93F2D10CC5D}"/>
              </a:ext>
            </a:extLst>
          </p:cNvPr>
          <p:cNvSpPr>
            <a:spLocks noGrp="1"/>
          </p:cNvSpPr>
          <p:nvPr>
            <p:ph sz="quarter" idx="4"/>
          </p:nvPr>
        </p:nvSpPr>
        <p:spPr>
          <a:xfrm>
            <a:off x="6172200" y="2653695"/>
            <a:ext cx="5183188" cy="360740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
            <a:extLst>
              <a:ext uri="{FF2B5EF4-FFF2-40B4-BE49-F238E27FC236}">
                <a16:creationId xmlns:a16="http://schemas.microsoft.com/office/drawing/2014/main" id="{30A5D7E1-E327-DF48-B848-9BDF99F875D4}"/>
              </a:ext>
            </a:extLst>
          </p:cNvPr>
          <p:cNvSpPr>
            <a:spLocks noGrp="1"/>
          </p:cNvSpPr>
          <p:nvPr>
            <p:ph type="body" sz="quarter" idx="10" hasCustomPrompt="1"/>
          </p:nvPr>
        </p:nvSpPr>
        <p:spPr>
          <a:xfrm>
            <a:off x="7550150" y="6172200"/>
            <a:ext cx="3873500" cy="4826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4497763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731D7-31B8-F741-9BC2-7ACCA951A533}"/>
              </a:ext>
            </a:extLst>
          </p:cNvPr>
          <p:cNvSpPr>
            <a:spLocks noGrp="1"/>
          </p:cNvSpPr>
          <p:nvPr>
            <p:ph type="title"/>
          </p:nvPr>
        </p:nvSpPr>
        <p:spPr>
          <a:xfrm>
            <a:off x="936516" y="1170297"/>
            <a:ext cx="10417284" cy="1144151"/>
          </a:xfrm>
        </p:spPr>
        <p:txBody>
          <a:bodyPr/>
          <a:lstStyle/>
          <a:p>
            <a:r>
              <a:rPr lang="en-US"/>
              <a:t>Click to edit Master title style</a:t>
            </a:r>
            <a:endParaRPr lang="en-US" dirty="0"/>
          </a:p>
        </p:txBody>
      </p:sp>
      <p:sp>
        <p:nvSpPr>
          <p:cNvPr id="3" name="Text Placeholder 3">
            <a:extLst>
              <a:ext uri="{FF2B5EF4-FFF2-40B4-BE49-F238E27FC236}">
                <a16:creationId xmlns:a16="http://schemas.microsoft.com/office/drawing/2014/main" id="{3651EA50-74CA-AA48-8D7F-2B85A97EE66C}"/>
              </a:ext>
            </a:extLst>
          </p:cNvPr>
          <p:cNvSpPr>
            <a:spLocks noGrp="1"/>
          </p:cNvSpPr>
          <p:nvPr>
            <p:ph type="body" sz="quarter" idx="10" hasCustomPrompt="1"/>
          </p:nvPr>
        </p:nvSpPr>
        <p:spPr>
          <a:xfrm>
            <a:off x="7550150" y="6172200"/>
            <a:ext cx="3873500" cy="4826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20533113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731D7-31B8-F741-9BC2-7ACCA951A533}"/>
              </a:ext>
            </a:extLst>
          </p:cNvPr>
          <p:cNvSpPr>
            <a:spLocks noGrp="1"/>
          </p:cNvSpPr>
          <p:nvPr>
            <p:ph type="title"/>
          </p:nvPr>
        </p:nvSpPr>
        <p:spPr>
          <a:xfrm>
            <a:off x="936516" y="5973418"/>
            <a:ext cx="6467584" cy="575100"/>
          </a:xfrm>
        </p:spPr>
        <p:txBody>
          <a:bodyPr>
            <a:normAutofit/>
          </a:bodyPr>
          <a:lstStyle>
            <a:lvl1pPr>
              <a:defRPr sz="2000"/>
            </a:lvl1pPr>
          </a:lstStyle>
          <a:p>
            <a:r>
              <a:rPr lang="en-US"/>
              <a:t>Click to edit Master title style</a:t>
            </a:r>
            <a:endParaRPr lang="en-US" dirty="0"/>
          </a:p>
        </p:txBody>
      </p:sp>
      <p:sp>
        <p:nvSpPr>
          <p:cNvPr id="4" name="Picture Placeholder 2">
            <a:extLst>
              <a:ext uri="{FF2B5EF4-FFF2-40B4-BE49-F238E27FC236}">
                <a16:creationId xmlns:a16="http://schemas.microsoft.com/office/drawing/2014/main" id="{5F1C41BA-7C2D-F548-A588-7F002DC2319F}"/>
              </a:ext>
            </a:extLst>
          </p:cNvPr>
          <p:cNvSpPr>
            <a:spLocks noGrp="1"/>
          </p:cNvSpPr>
          <p:nvPr>
            <p:ph type="pic" idx="1"/>
          </p:nvPr>
        </p:nvSpPr>
        <p:spPr>
          <a:xfrm>
            <a:off x="936516" y="956441"/>
            <a:ext cx="10417284" cy="486788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Text Placeholder 3">
            <a:extLst>
              <a:ext uri="{FF2B5EF4-FFF2-40B4-BE49-F238E27FC236}">
                <a16:creationId xmlns:a16="http://schemas.microsoft.com/office/drawing/2014/main" id="{6AC4C19D-273F-DD4F-AB1E-92F31DD503BA}"/>
              </a:ext>
            </a:extLst>
          </p:cNvPr>
          <p:cNvSpPr>
            <a:spLocks noGrp="1"/>
          </p:cNvSpPr>
          <p:nvPr>
            <p:ph type="body" sz="quarter" idx="10" hasCustomPrompt="1"/>
          </p:nvPr>
        </p:nvSpPr>
        <p:spPr>
          <a:xfrm>
            <a:off x="7550150" y="6172200"/>
            <a:ext cx="3873500" cy="4826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41353305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731D7-31B8-F741-9BC2-7ACCA951A533}"/>
              </a:ext>
            </a:extLst>
          </p:cNvPr>
          <p:cNvSpPr>
            <a:spLocks noGrp="1"/>
          </p:cNvSpPr>
          <p:nvPr>
            <p:ph type="title"/>
          </p:nvPr>
        </p:nvSpPr>
        <p:spPr>
          <a:xfrm>
            <a:off x="936516" y="5973418"/>
            <a:ext cx="6524734" cy="575100"/>
          </a:xfrm>
        </p:spPr>
        <p:txBody>
          <a:bodyPr>
            <a:normAutofit/>
          </a:bodyPr>
          <a:lstStyle>
            <a:lvl1pPr>
              <a:defRPr sz="2000"/>
            </a:lvl1pPr>
          </a:lstStyle>
          <a:p>
            <a:r>
              <a:rPr lang="en-US"/>
              <a:t>Click to edit Master title style</a:t>
            </a:r>
            <a:endParaRPr lang="en-US" dirty="0"/>
          </a:p>
        </p:txBody>
      </p:sp>
      <p:sp>
        <p:nvSpPr>
          <p:cNvPr id="4" name="Picture Placeholder 2">
            <a:extLst>
              <a:ext uri="{FF2B5EF4-FFF2-40B4-BE49-F238E27FC236}">
                <a16:creationId xmlns:a16="http://schemas.microsoft.com/office/drawing/2014/main" id="{5F1C41BA-7C2D-F548-A588-7F002DC2319F}"/>
              </a:ext>
            </a:extLst>
          </p:cNvPr>
          <p:cNvSpPr>
            <a:spLocks noGrp="1"/>
          </p:cNvSpPr>
          <p:nvPr>
            <p:ph type="pic" idx="1"/>
          </p:nvPr>
        </p:nvSpPr>
        <p:spPr>
          <a:xfrm>
            <a:off x="936516" y="956441"/>
            <a:ext cx="10417284" cy="486788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Text Placeholder 3">
            <a:extLst>
              <a:ext uri="{FF2B5EF4-FFF2-40B4-BE49-F238E27FC236}">
                <a16:creationId xmlns:a16="http://schemas.microsoft.com/office/drawing/2014/main" id="{DA9A9976-053D-644A-ACDD-10A8928C184A}"/>
              </a:ext>
            </a:extLst>
          </p:cNvPr>
          <p:cNvSpPr>
            <a:spLocks noGrp="1"/>
          </p:cNvSpPr>
          <p:nvPr>
            <p:ph type="body" sz="quarter" idx="10" hasCustomPrompt="1"/>
          </p:nvPr>
        </p:nvSpPr>
        <p:spPr>
          <a:xfrm>
            <a:off x="7550150" y="6172200"/>
            <a:ext cx="3873500" cy="4826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40272113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9C3A92E6-32C2-FB44-B5B2-762BF26633E2}"/>
              </a:ext>
            </a:extLst>
          </p:cNvPr>
          <p:cNvSpPr>
            <a:spLocks noGrp="1"/>
          </p:cNvSpPr>
          <p:nvPr>
            <p:ph type="pic" idx="1"/>
          </p:nvPr>
        </p:nvSpPr>
        <p:spPr>
          <a:xfrm>
            <a:off x="936516" y="956441"/>
            <a:ext cx="10417284" cy="534275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3" name="Text Placeholder 3">
            <a:extLst>
              <a:ext uri="{FF2B5EF4-FFF2-40B4-BE49-F238E27FC236}">
                <a16:creationId xmlns:a16="http://schemas.microsoft.com/office/drawing/2014/main" id="{4E849984-83FA-4B45-A602-6A412FE0CCE4}"/>
              </a:ext>
            </a:extLst>
          </p:cNvPr>
          <p:cNvSpPr>
            <a:spLocks noGrp="1"/>
          </p:cNvSpPr>
          <p:nvPr>
            <p:ph type="body" sz="quarter" idx="10" hasCustomPrompt="1"/>
          </p:nvPr>
        </p:nvSpPr>
        <p:spPr>
          <a:xfrm>
            <a:off x="7550150" y="6299200"/>
            <a:ext cx="3873500" cy="3556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28496587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C6088-92BE-7449-8B28-318FAB3F2565}"/>
              </a:ext>
            </a:extLst>
          </p:cNvPr>
          <p:cNvSpPr>
            <a:spLocks noGrp="1"/>
          </p:cNvSpPr>
          <p:nvPr>
            <p:ph type="title"/>
          </p:nvPr>
        </p:nvSpPr>
        <p:spPr>
          <a:xfrm>
            <a:off x="839788" y="987425"/>
            <a:ext cx="4138612" cy="1429953"/>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0A42DAB-D135-604C-8CA5-59E8EBB192A1}"/>
              </a:ext>
            </a:extLst>
          </p:cNvPr>
          <p:cNvSpPr>
            <a:spLocks noGrp="1"/>
          </p:cNvSpPr>
          <p:nvPr>
            <p:ph idx="1"/>
          </p:nvPr>
        </p:nvSpPr>
        <p:spPr>
          <a:xfrm>
            <a:off x="5183188" y="987425"/>
            <a:ext cx="6172200" cy="52673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DDFE57F-E4E9-7543-83FD-1DD747CAD0BE}"/>
              </a:ext>
            </a:extLst>
          </p:cNvPr>
          <p:cNvSpPr>
            <a:spLocks noGrp="1"/>
          </p:cNvSpPr>
          <p:nvPr>
            <p:ph type="body" sz="half" idx="2"/>
          </p:nvPr>
        </p:nvSpPr>
        <p:spPr>
          <a:xfrm>
            <a:off x="839788" y="2571750"/>
            <a:ext cx="4138612" cy="38290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Text Placeholder 3">
            <a:extLst>
              <a:ext uri="{FF2B5EF4-FFF2-40B4-BE49-F238E27FC236}">
                <a16:creationId xmlns:a16="http://schemas.microsoft.com/office/drawing/2014/main" id="{2E940D73-0AAB-1944-9712-6637A75B1A9E}"/>
              </a:ext>
            </a:extLst>
          </p:cNvPr>
          <p:cNvSpPr>
            <a:spLocks noGrp="1"/>
          </p:cNvSpPr>
          <p:nvPr>
            <p:ph type="body" sz="quarter" idx="10" hasCustomPrompt="1"/>
          </p:nvPr>
        </p:nvSpPr>
        <p:spPr>
          <a:xfrm>
            <a:off x="7550150" y="6324600"/>
            <a:ext cx="3873500" cy="33020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19925413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42C89-5587-0348-8D17-7C08B2EAD6A2}"/>
              </a:ext>
            </a:extLst>
          </p:cNvPr>
          <p:cNvSpPr>
            <a:spLocks noGrp="1"/>
          </p:cNvSpPr>
          <p:nvPr>
            <p:ph type="title"/>
          </p:nvPr>
        </p:nvSpPr>
        <p:spPr>
          <a:xfrm>
            <a:off x="935421" y="956440"/>
            <a:ext cx="4011228" cy="1166649"/>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521D3EC-E376-5D4E-835F-620AC359D305}"/>
              </a:ext>
            </a:extLst>
          </p:cNvPr>
          <p:cNvSpPr>
            <a:spLocks noGrp="1"/>
          </p:cNvSpPr>
          <p:nvPr>
            <p:ph type="pic" idx="1"/>
          </p:nvPr>
        </p:nvSpPr>
        <p:spPr>
          <a:xfrm>
            <a:off x="5162167" y="956441"/>
            <a:ext cx="6172200" cy="532370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3B5B150-6498-3B43-813F-7D37535FB170}"/>
              </a:ext>
            </a:extLst>
          </p:cNvPr>
          <p:cNvSpPr>
            <a:spLocks noGrp="1"/>
          </p:cNvSpPr>
          <p:nvPr>
            <p:ph type="body" sz="half" idx="2"/>
          </p:nvPr>
        </p:nvSpPr>
        <p:spPr>
          <a:xfrm>
            <a:off x="935420" y="2291254"/>
            <a:ext cx="4011229" cy="398889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Text Placeholder 3">
            <a:extLst>
              <a:ext uri="{FF2B5EF4-FFF2-40B4-BE49-F238E27FC236}">
                <a16:creationId xmlns:a16="http://schemas.microsoft.com/office/drawing/2014/main" id="{131420AC-1CC6-B24D-864B-D3A8C0514E9A}"/>
              </a:ext>
            </a:extLst>
          </p:cNvPr>
          <p:cNvSpPr>
            <a:spLocks noGrp="1"/>
          </p:cNvSpPr>
          <p:nvPr>
            <p:ph type="body" sz="quarter" idx="10" hasCustomPrompt="1"/>
          </p:nvPr>
        </p:nvSpPr>
        <p:spPr>
          <a:xfrm>
            <a:off x="7550150" y="6280150"/>
            <a:ext cx="3873500" cy="374650"/>
          </a:xfrm>
        </p:spPr>
        <p:txBody>
          <a:bodyPr anchor="b">
            <a:normAutofit/>
          </a:bodyPr>
          <a:lstStyle>
            <a:lvl1pPr marL="0" indent="0" algn="r">
              <a:buNone/>
              <a:defRPr sz="1400">
                <a:latin typeface="Arial" panose="020B0604020202020204" pitchFamily="34" charset="0"/>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sz="1400" dirty="0">
                <a:latin typeface="Arial" panose="020B0604020202020204" pitchFamily="34" charset="0"/>
                <a:cs typeface="Arial" panose="020B0604020202020204" pitchFamily="34" charset="0"/>
              </a:rPr>
              <a:t>School or Department, Arial 14 pt.</a:t>
            </a:r>
            <a:endParaRPr lang="en-US" dirty="0"/>
          </a:p>
        </p:txBody>
      </p:sp>
    </p:spTree>
    <p:extLst>
      <p:ext uri="{BB962C8B-B14F-4D97-AF65-F5344CB8AC3E}">
        <p14:creationId xmlns:p14="http://schemas.microsoft.com/office/powerpoint/2010/main" val="7296943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707BF-1F09-3444-AFBA-78A9352F15ED}"/>
              </a:ext>
            </a:extLst>
          </p:cNvPr>
          <p:cNvSpPr>
            <a:spLocks noGrp="1"/>
          </p:cNvSpPr>
          <p:nvPr>
            <p:ph type="title"/>
          </p:nvPr>
        </p:nvSpPr>
        <p:spPr>
          <a:xfrm>
            <a:off x="831850" y="1838948"/>
            <a:ext cx="10515600" cy="2464696"/>
          </a:xfrm>
          <a:prstGeom prst="rect">
            <a:avLst/>
          </a:prstGeom>
        </p:spPr>
        <p:txBody>
          <a:bodyPr anchor="ctr">
            <a:normAutofit/>
          </a:bodyPr>
          <a:lstStyle>
            <a:lvl1pPr algn="ctr">
              <a:defRPr sz="5400"/>
            </a:lvl1pPr>
          </a:lstStyle>
          <a:p>
            <a:r>
              <a:rPr lang="en-US" dirty="0"/>
              <a:t>Click to edit Master title style</a:t>
            </a:r>
          </a:p>
        </p:txBody>
      </p:sp>
    </p:spTree>
    <p:extLst>
      <p:ext uri="{BB962C8B-B14F-4D97-AF65-F5344CB8AC3E}">
        <p14:creationId xmlns:p14="http://schemas.microsoft.com/office/powerpoint/2010/main" val="41330395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707BF-1F09-3444-AFBA-78A9352F15ED}"/>
              </a:ext>
            </a:extLst>
          </p:cNvPr>
          <p:cNvSpPr>
            <a:spLocks noGrp="1"/>
          </p:cNvSpPr>
          <p:nvPr>
            <p:ph type="title"/>
          </p:nvPr>
        </p:nvSpPr>
        <p:spPr>
          <a:xfrm>
            <a:off x="831850" y="1838948"/>
            <a:ext cx="10515600" cy="2464696"/>
          </a:xfrm>
          <a:prstGeom prst="rect">
            <a:avLst/>
          </a:prstGeom>
        </p:spPr>
        <p:txBody>
          <a:bodyPr anchor="ctr">
            <a:normAutofit/>
          </a:bodyPr>
          <a:lstStyle>
            <a:lvl1pPr algn="ctr">
              <a:defRPr sz="5400"/>
            </a:lvl1pPr>
          </a:lstStyle>
          <a:p>
            <a:r>
              <a:rPr lang="en-US"/>
              <a:t>Click to edit Master title style</a:t>
            </a:r>
            <a:endParaRPr lang="en-US" dirty="0"/>
          </a:p>
        </p:txBody>
      </p:sp>
    </p:spTree>
    <p:extLst>
      <p:ext uri="{BB962C8B-B14F-4D97-AF65-F5344CB8AC3E}">
        <p14:creationId xmlns:p14="http://schemas.microsoft.com/office/powerpoint/2010/main" val="22707568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707BF-1F09-3444-AFBA-78A9352F15ED}"/>
              </a:ext>
            </a:extLst>
          </p:cNvPr>
          <p:cNvSpPr>
            <a:spLocks noGrp="1"/>
          </p:cNvSpPr>
          <p:nvPr>
            <p:ph type="title"/>
          </p:nvPr>
        </p:nvSpPr>
        <p:spPr>
          <a:xfrm>
            <a:off x="831850" y="1838948"/>
            <a:ext cx="10515600" cy="2464696"/>
          </a:xfrm>
          <a:prstGeom prst="rect">
            <a:avLst/>
          </a:prstGeom>
        </p:spPr>
        <p:txBody>
          <a:bodyPr anchor="ctr">
            <a:normAutofit/>
          </a:bodyPr>
          <a:lstStyle>
            <a:lvl1pPr algn="ctr">
              <a:defRPr sz="5400"/>
            </a:lvl1pPr>
          </a:lstStyle>
          <a:p>
            <a:r>
              <a:rPr lang="en-US"/>
              <a:t>Click to edit Master title style</a:t>
            </a:r>
            <a:endParaRPr lang="en-US" dirty="0"/>
          </a:p>
        </p:txBody>
      </p:sp>
    </p:spTree>
    <p:extLst>
      <p:ext uri="{BB962C8B-B14F-4D97-AF65-F5344CB8AC3E}">
        <p14:creationId xmlns:p14="http://schemas.microsoft.com/office/powerpoint/2010/main" val="19265799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7F930-5302-8041-8D70-01651E15774D}"/>
              </a:ext>
            </a:extLst>
          </p:cNvPr>
          <p:cNvSpPr>
            <a:spLocks noGrp="1"/>
          </p:cNvSpPr>
          <p:nvPr>
            <p:ph type="ctrTitle"/>
          </p:nvPr>
        </p:nvSpPr>
        <p:spPr>
          <a:xfrm>
            <a:off x="944217" y="1351721"/>
            <a:ext cx="10555357" cy="2317267"/>
          </a:xfrm>
          <a:prstGeom prst="rect">
            <a:avLst/>
          </a:prstGeom>
        </p:spPr>
        <p:txBody>
          <a:bodyPr anchor="b">
            <a:normAutofit/>
          </a:bodyPr>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2F13BE-DC53-5D42-92BC-B1405D01D68C}"/>
              </a:ext>
            </a:extLst>
          </p:cNvPr>
          <p:cNvSpPr>
            <a:spLocks noGrp="1"/>
          </p:cNvSpPr>
          <p:nvPr>
            <p:ph type="subTitle" idx="1"/>
          </p:nvPr>
        </p:nvSpPr>
        <p:spPr>
          <a:xfrm>
            <a:off x="944217" y="4228203"/>
            <a:ext cx="10555357" cy="1377467"/>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43795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4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707BF-1F09-3444-AFBA-78A9352F15ED}"/>
              </a:ext>
            </a:extLst>
          </p:cNvPr>
          <p:cNvSpPr>
            <a:spLocks noGrp="1"/>
          </p:cNvSpPr>
          <p:nvPr>
            <p:ph type="title"/>
          </p:nvPr>
        </p:nvSpPr>
        <p:spPr>
          <a:xfrm>
            <a:off x="831850" y="1838948"/>
            <a:ext cx="10515600" cy="2464696"/>
          </a:xfrm>
          <a:prstGeom prst="rect">
            <a:avLst/>
          </a:prstGeom>
        </p:spPr>
        <p:txBody>
          <a:bodyPr anchor="ctr">
            <a:normAutofit/>
          </a:bodyPr>
          <a:lstStyle>
            <a:lvl1pPr algn="ctr">
              <a:defRPr sz="5400"/>
            </a:lvl1pPr>
          </a:lstStyle>
          <a:p>
            <a:r>
              <a:rPr lang="en-US"/>
              <a:t>Click to edit Master title style</a:t>
            </a:r>
            <a:endParaRPr lang="en-US" dirty="0"/>
          </a:p>
        </p:txBody>
      </p:sp>
    </p:spTree>
    <p:extLst>
      <p:ext uri="{BB962C8B-B14F-4D97-AF65-F5344CB8AC3E}">
        <p14:creationId xmlns:p14="http://schemas.microsoft.com/office/powerpoint/2010/main" val="32398971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CB289B0-9BEC-4093-861C-76154CD68B5D}" type="datetimeFigureOut">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9/22/2026</a:t>
            </a:fld>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7136E94-7335-4773-A64D-0D46B1CA62E8}" type="slidenum">
              <a:rPr kumimoji="0" lang="en-US" altLang="en-US" sz="1800" b="0" i="0" u="none" strike="noStrike" kern="1200" cap="none" spc="0" normalizeH="0" baseline="0" noProof="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alt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380244945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cSld name="4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71918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9/22/2026</a:t>
            </a:fld>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 name="Footer Placeholder 7"/>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 name="Slide Number Placeholder 8"/>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118877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21" Type="http://schemas.openxmlformats.org/officeDocument/2006/relationships/theme" Target="../theme/theme3.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slideLayout" Target="../slideLayouts/slideLayout39.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23" Type="http://schemas.openxmlformats.org/officeDocument/2006/relationships/image" Target="../media/image2.png"/><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58DCC4-D98B-2742-9141-E813C534FE1D}"/>
              </a:ext>
            </a:extLst>
          </p:cNvPr>
          <p:cNvSpPr>
            <a:spLocks noGrp="1"/>
          </p:cNvSpPr>
          <p:nvPr>
            <p:ph type="title"/>
          </p:nvPr>
        </p:nvSpPr>
        <p:spPr>
          <a:xfrm>
            <a:off x="936516" y="1170297"/>
            <a:ext cx="10417284" cy="114415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521E8D8-70CD-BF4D-805E-3BA2B3E84893}"/>
              </a:ext>
            </a:extLst>
          </p:cNvPr>
          <p:cNvSpPr>
            <a:spLocks noGrp="1"/>
          </p:cNvSpPr>
          <p:nvPr>
            <p:ph type="body" idx="1"/>
          </p:nvPr>
        </p:nvSpPr>
        <p:spPr>
          <a:xfrm>
            <a:off x="936516" y="2449386"/>
            <a:ext cx="10417284" cy="38358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0" name="Straight Connector 9">
            <a:extLst>
              <a:ext uri="{FF2B5EF4-FFF2-40B4-BE49-F238E27FC236}">
                <a16:creationId xmlns:a16="http://schemas.microsoft.com/office/drawing/2014/main" id="{50FD0265-AE87-AC4A-BBB3-EF8B93299236}"/>
              </a:ext>
            </a:extLst>
          </p:cNvPr>
          <p:cNvCxnSpPr>
            <a:cxnSpLocks/>
          </p:cNvCxnSpPr>
          <p:nvPr/>
        </p:nvCxnSpPr>
        <p:spPr>
          <a:xfrm>
            <a:off x="936516" y="730089"/>
            <a:ext cx="11255484"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1606507F-9FCF-7C40-9CCC-8081F5D27FC8}"/>
              </a:ext>
            </a:extLst>
          </p:cNvPr>
          <p:cNvPicPr>
            <a:picLocks noChangeAspect="1"/>
          </p:cNvPicPr>
          <p:nvPr/>
        </p:nvPicPr>
        <p:blipFill>
          <a:blip r:embed="rId18"/>
          <a:stretch>
            <a:fillRect/>
          </a:stretch>
        </p:blipFill>
        <p:spPr>
          <a:xfrm>
            <a:off x="8050924" y="471954"/>
            <a:ext cx="3880944" cy="160105"/>
          </a:xfrm>
          <a:prstGeom prst="rect">
            <a:avLst/>
          </a:prstGeom>
        </p:spPr>
      </p:pic>
      <p:cxnSp>
        <p:nvCxnSpPr>
          <p:cNvPr id="14" name="Straight Connector 13">
            <a:extLst>
              <a:ext uri="{FF2B5EF4-FFF2-40B4-BE49-F238E27FC236}">
                <a16:creationId xmlns:a16="http://schemas.microsoft.com/office/drawing/2014/main" id="{A215C687-9087-C947-AB5A-223EF7DA7E9A}"/>
              </a:ext>
            </a:extLst>
          </p:cNvPr>
          <p:cNvCxnSpPr>
            <a:cxnSpLocks/>
          </p:cNvCxnSpPr>
          <p:nvPr/>
        </p:nvCxnSpPr>
        <p:spPr>
          <a:xfrm>
            <a:off x="936516" y="388502"/>
            <a:ext cx="11255484"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9" name="Picture 28">
            <a:extLst>
              <a:ext uri="{FF2B5EF4-FFF2-40B4-BE49-F238E27FC236}">
                <a16:creationId xmlns:a16="http://schemas.microsoft.com/office/drawing/2014/main" id="{3AF69D0A-C2A3-A54B-87B3-155829A53D57}"/>
              </a:ext>
            </a:extLst>
          </p:cNvPr>
          <p:cNvPicPr>
            <a:picLocks noChangeAspect="1"/>
          </p:cNvPicPr>
          <p:nvPr/>
        </p:nvPicPr>
        <p:blipFill>
          <a:blip r:embed="rId19"/>
          <a:stretch>
            <a:fillRect/>
          </a:stretch>
        </p:blipFill>
        <p:spPr>
          <a:xfrm>
            <a:off x="132474" y="160495"/>
            <a:ext cx="804042" cy="804042"/>
          </a:xfrm>
          <a:prstGeom prst="rect">
            <a:avLst/>
          </a:prstGeom>
        </p:spPr>
      </p:pic>
      <p:cxnSp>
        <p:nvCxnSpPr>
          <p:cNvPr id="32" name="Straight Connector 31">
            <a:extLst>
              <a:ext uri="{FF2B5EF4-FFF2-40B4-BE49-F238E27FC236}">
                <a16:creationId xmlns:a16="http://schemas.microsoft.com/office/drawing/2014/main" id="{72A6E712-938E-934E-86D2-CF80E3166B5B}"/>
              </a:ext>
            </a:extLst>
          </p:cNvPr>
          <p:cNvCxnSpPr>
            <a:cxnSpLocks/>
          </p:cNvCxnSpPr>
          <p:nvPr/>
        </p:nvCxnSpPr>
        <p:spPr>
          <a:xfrm>
            <a:off x="936516" y="6652668"/>
            <a:ext cx="1041728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92432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82" r:id="rId13"/>
    <p:sldLayoutId id="2147483683" r:id="rId14"/>
    <p:sldLayoutId id="2147483685" r:id="rId15"/>
    <p:sldLayoutId id="2147483686" r:id="rId16"/>
  </p:sldLayoutIdLst>
  <p:hf hdr="0" ftr="0" dt="0"/>
  <p:txStyles>
    <p:titleStyle>
      <a:lvl1pPr algn="l" defTabSz="914400" rtl="0" eaLnBrk="1" latinLnBrk="0" hangingPunct="1">
        <a:lnSpc>
          <a:spcPct val="90000"/>
        </a:lnSpc>
        <a:spcBef>
          <a:spcPct val="0"/>
        </a:spcBef>
        <a:buNone/>
        <a:defRPr sz="3600" b="1" i="0" kern="1200" baseline="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Clr>
          <a:srgbClr val="B30738"/>
        </a:buClr>
        <a:buFont typeface="Arial" panose="020B0604020202020204" pitchFamily="34" charset="0"/>
        <a:buChar char="•"/>
        <a:defRPr sz="2400" b="0" i="0" kern="1200">
          <a:solidFill>
            <a:schemeClr val="tx1">
              <a:lumMod val="65000"/>
              <a:lumOff val="35000"/>
            </a:schemeClr>
          </a:solidFill>
          <a:latin typeface="Arial Narrow" panose="020B0604020202020204" pitchFamily="34" charset="0"/>
          <a:ea typeface="+mn-ea"/>
          <a:cs typeface="Arial Narrow" panose="020B0604020202020204" pitchFamily="34" charset="0"/>
        </a:defRPr>
      </a:lvl1pPr>
      <a:lvl2pPr marL="685800" indent="-228600" algn="l" defTabSz="914400" rtl="0" eaLnBrk="1" latinLnBrk="0" hangingPunct="1">
        <a:lnSpc>
          <a:spcPct val="90000"/>
        </a:lnSpc>
        <a:spcBef>
          <a:spcPts val="500"/>
        </a:spcBef>
        <a:buClr>
          <a:srgbClr val="B30738"/>
        </a:buClr>
        <a:buFont typeface="Arial" panose="020B0604020202020204" pitchFamily="34" charset="0"/>
        <a:buChar char="•"/>
        <a:defRPr sz="2000" b="0" i="0" kern="1200">
          <a:solidFill>
            <a:schemeClr val="tx1">
              <a:lumMod val="65000"/>
              <a:lumOff val="35000"/>
            </a:schemeClr>
          </a:solidFill>
          <a:latin typeface="Arial Narrow" panose="020B0604020202020204" pitchFamily="34" charset="0"/>
          <a:ea typeface="+mn-ea"/>
          <a:cs typeface="Arial Narrow" panose="020B0604020202020204" pitchFamily="34" charset="0"/>
        </a:defRPr>
      </a:lvl2pPr>
      <a:lvl3pPr marL="1143000" indent="-228600" algn="l" defTabSz="914400" rtl="0" eaLnBrk="1" latinLnBrk="0" hangingPunct="1">
        <a:lnSpc>
          <a:spcPct val="90000"/>
        </a:lnSpc>
        <a:spcBef>
          <a:spcPts val="500"/>
        </a:spcBef>
        <a:buClr>
          <a:srgbClr val="B30738"/>
        </a:buClr>
        <a:buFont typeface="Arial" panose="020B0604020202020204" pitchFamily="34" charset="0"/>
        <a:buChar char="•"/>
        <a:defRPr sz="1800" b="0" i="0" kern="1200">
          <a:solidFill>
            <a:schemeClr val="tx1">
              <a:lumMod val="65000"/>
              <a:lumOff val="35000"/>
            </a:schemeClr>
          </a:solidFill>
          <a:latin typeface="Arial Narrow" panose="020B0604020202020204" pitchFamily="34" charset="0"/>
          <a:ea typeface="+mn-ea"/>
          <a:cs typeface="Arial Narrow" panose="020B0604020202020204" pitchFamily="34" charset="0"/>
        </a:defRPr>
      </a:lvl3pPr>
      <a:lvl4pPr marL="1600200" indent="-228600" algn="l" defTabSz="914400" rtl="0" eaLnBrk="1" latinLnBrk="0" hangingPunct="1">
        <a:lnSpc>
          <a:spcPct val="90000"/>
        </a:lnSpc>
        <a:spcBef>
          <a:spcPts val="500"/>
        </a:spcBef>
        <a:buClr>
          <a:srgbClr val="B30738"/>
        </a:buClr>
        <a:buFont typeface="Arial" panose="020B0604020202020204" pitchFamily="34" charset="0"/>
        <a:buChar char="•"/>
        <a:defRPr sz="1600" b="0" i="0" kern="1200">
          <a:solidFill>
            <a:schemeClr val="tx1">
              <a:lumMod val="65000"/>
              <a:lumOff val="35000"/>
            </a:schemeClr>
          </a:solidFill>
          <a:latin typeface="Arial Narrow" panose="020B0604020202020204" pitchFamily="34" charset="0"/>
          <a:ea typeface="+mn-ea"/>
          <a:cs typeface="Arial Narrow" panose="020B0604020202020204" pitchFamily="34" charset="0"/>
        </a:defRPr>
      </a:lvl4pPr>
      <a:lvl5pPr marL="2057400" indent="-228600" algn="l" defTabSz="914400" rtl="0" eaLnBrk="1" latinLnBrk="0" hangingPunct="1">
        <a:lnSpc>
          <a:spcPct val="90000"/>
        </a:lnSpc>
        <a:spcBef>
          <a:spcPts val="500"/>
        </a:spcBef>
        <a:buClr>
          <a:srgbClr val="B30738"/>
        </a:buClr>
        <a:buFont typeface="Arial" panose="020B0604020202020204" pitchFamily="34" charset="0"/>
        <a:buChar char="•"/>
        <a:defRPr sz="1400" b="0" i="0" kern="1200">
          <a:solidFill>
            <a:schemeClr val="tx1">
              <a:lumMod val="65000"/>
              <a:lumOff val="35000"/>
            </a:schemeClr>
          </a:solidFill>
          <a:latin typeface="Arial Narrow" panose="020B0604020202020204" pitchFamily="34" charset="0"/>
          <a:ea typeface="+mn-ea"/>
          <a:cs typeface="Arial Narrow"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B30738"/>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EF7EA9-7F89-AB44-B414-A35A39B88682}"/>
              </a:ext>
            </a:extLst>
          </p:cNvPr>
          <p:cNvSpPr>
            <a:spLocks noGrp="1"/>
          </p:cNvSpPr>
          <p:nvPr>
            <p:ph type="title"/>
          </p:nvPr>
        </p:nvSpPr>
        <p:spPr>
          <a:xfrm>
            <a:off x="838200" y="1820015"/>
            <a:ext cx="10515600" cy="6427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FD578A8-B26A-4945-96B6-DF5E5BC7DEDE}"/>
              </a:ext>
            </a:extLst>
          </p:cNvPr>
          <p:cNvSpPr>
            <a:spLocks noGrp="1"/>
          </p:cNvSpPr>
          <p:nvPr>
            <p:ph type="body" idx="1"/>
          </p:nvPr>
        </p:nvSpPr>
        <p:spPr>
          <a:xfrm>
            <a:off x="838200" y="2697162"/>
            <a:ext cx="10515600" cy="3246438"/>
          </a:xfrm>
          <a:prstGeom prst="rect">
            <a:avLst/>
          </a:prstGeom>
        </p:spPr>
        <p:txBody>
          <a:bodyPr vert="horz" lIns="91440" tIns="45720" rIns="91440" bIns="45720" rtlCol="0">
            <a:normAutofit/>
          </a:bodyPr>
          <a:lstStyle/>
          <a:p>
            <a:pPr lvl="0"/>
            <a:r>
              <a:rPr lang="en-US" dirty="0"/>
              <a:t>Edit Master text styles</a:t>
            </a:r>
          </a:p>
          <a:p>
            <a:pPr lvl="1"/>
            <a:r>
              <a:rPr lang="en-US" dirty="0" err="1"/>
              <a:t>Secod</a:t>
            </a:r>
            <a:r>
              <a:rPr lang="en-US" dirty="0"/>
              <a:t>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694CFB0A-34C6-5D42-83C5-6E58C3499080}"/>
              </a:ext>
            </a:extLst>
          </p:cNvPr>
          <p:cNvCxnSpPr>
            <a:cxnSpLocks/>
          </p:cNvCxnSpPr>
          <p:nvPr/>
        </p:nvCxnSpPr>
        <p:spPr>
          <a:xfrm>
            <a:off x="956394" y="730089"/>
            <a:ext cx="11255484"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06B758-975E-984A-8DF2-F551E50A3FBA}"/>
              </a:ext>
            </a:extLst>
          </p:cNvPr>
          <p:cNvCxnSpPr>
            <a:cxnSpLocks/>
          </p:cNvCxnSpPr>
          <p:nvPr/>
        </p:nvCxnSpPr>
        <p:spPr>
          <a:xfrm>
            <a:off x="956394" y="388502"/>
            <a:ext cx="11255484"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4BCBDF38-9EC5-8347-AE99-4FA5381A78A6}"/>
              </a:ext>
            </a:extLst>
          </p:cNvPr>
          <p:cNvPicPr>
            <a:picLocks noChangeAspect="1"/>
          </p:cNvPicPr>
          <p:nvPr/>
        </p:nvPicPr>
        <p:blipFill>
          <a:blip r:embed="rId5"/>
          <a:stretch>
            <a:fillRect/>
          </a:stretch>
        </p:blipFill>
        <p:spPr>
          <a:xfrm>
            <a:off x="8050924" y="472981"/>
            <a:ext cx="3880944" cy="172629"/>
          </a:xfrm>
          <a:prstGeom prst="rect">
            <a:avLst/>
          </a:prstGeom>
        </p:spPr>
      </p:pic>
      <p:pic>
        <p:nvPicPr>
          <p:cNvPr id="18" name="Picture 17">
            <a:extLst>
              <a:ext uri="{FF2B5EF4-FFF2-40B4-BE49-F238E27FC236}">
                <a16:creationId xmlns:a16="http://schemas.microsoft.com/office/drawing/2014/main" id="{FA5D1952-D4DE-0B48-9AEC-F81A6CB6ED07}"/>
              </a:ext>
            </a:extLst>
          </p:cNvPr>
          <p:cNvPicPr>
            <a:picLocks noChangeAspect="1"/>
          </p:cNvPicPr>
          <p:nvPr/>
        </p:nvPicPr>
        <p:blipFill>
          <a:blip r:embed="rId6"/>
          <a:stretch>
            <a:fillRect/>
          </a:stretch>
        </p:blipFill>
        <p:spPr>
          <a:xfrm>
            <a:off x="132474" y="157274"/>
            <a:ext cx="804042" cy="804042"/>
          </a:xfrm>
          <a:prstGeom prst="rect">
            <a:avLst/>
          </a:prstGeom>
        </p:spPr>
      </p:pic>
    </p:spTree>
    <p:extLst>
      <p:ext uri="{BB962C8B-B14F-4D97-AF65-F5344CB8AC3E}">
        <p14:creationId xmlns:p14="http://schemas.microsoft.com/office/powerpoint/2010/main" val="154862673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Lst>
  <p:hf hdr="0" ftr="0" dt="0"/>
  <p:txStyles>
    <p:titleStyle>
      <a:lvl1pPr algn="l" defTabSz="914400" rtl="0" eaLnBrk="1" latinLnBrk="0" hangingPunct="1">
        <a:lnSpc>
          <a:spcPct val="90000"/>
        </a:lnSpc>
        <a:spcBef>
          <a:spcPct val="0"/>
        </a:spcBef>
        <a:buNone/>
        <a:defRPr sz="4400" b="1" i="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58DCC4-D98B-2742-9141-E813C534FE1D}"/>
              </a:ext>
            </a:extLst>
          </p:cNvPr>
          <p:cNvSpPr>
            <a:spLocks noGrp="1"/>
          </p:cNvSpPr>
          <p:nvPr>
            <p:ph type="title"/>
          </p:nvPr>
        </p:nvSpPr>
        <p:spPr>
          <a:xfrm>
            <a:off x="936516" y="1170297"/>
            <a:ext cx="10417284" cy="114415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521E8D8-70CD-BF4D-805E-3BA2B3E84893}"/>
              </a:ext>
            </a:extLst>
          </p:cNvPr>
          <p:cNvSpPr>
            <a:spLocks noGrp="1"/>
          </p:cNvSpPr>
          <p:nvPr>
            <p:ph type="body" idx="1"/>
          </p:nvPr>
        </p:nvSpPr>
        <p:spPr>
          <a:xfrm>
            <a:off x="936516" y="2449386"/>
            <a:ext cx="10417284" cy="38358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0" name="Straight Connector 9">
            <a:extLst>
              <a:ext uri="{FF2B5EF4-FFF2-40B4-BE49-F238E27FC236}">
                <a16:creationId xmlns:a16="http://schemas.microsoft.com/office/drawing/2014/main" id="{50FD0265-AE87-AC4A-BBB3-EF8B93299236}"/>
              </a:ext>
            </a:extLst>
          </p:cNvPr>
          <p:cNvCxnSpPr>
            <a:cxnSpLocks/>
          </p:cNvCxnSpPr>
          <p:nvPr/>
        </p:nvCxnSpPr>
        <p:spPr>
          <a:xfrm>
            <a:off x="936516" y="730089"/>
            <a:ext cx="11255484"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1606507F-9FCF-7C40-9CCC-8081F5D27FC8}"/>
              </a:ext>
            </a:extLst>
          </p:cNvPr>
          <p:cNvPicPr>
            <a:picLocks noChangeAspect="1"/>
          </p:cNvPicPr>
          <p:nvPr/>
        </p:nvPicPr>
        <p:blipFill>
          <a:blip r:embed="rId22"/>
          <a:stretch>
            <a:fillRect/>
          </a:stretch>
        </p:blipFill>
        <p:spPr>
          <a:xfrm>
            <a:off x="8050924" y="471954"/>
            <a:ext cx="3880944" cy="160105"/>
          </a:xfrm>
          <a:prstGeom prst="rect">
            <a:avLst/>
          </a:prstGeom>
        </p:spPr>
      </p:pic>
      <p:cxnSp>
        <p:nvCxnSpPr>
          <p:cNvPr id="14" name="Straight Connector 13">
            <a:extLst>
              <a:ext uri="{FF2B5EF4-FFF2-40B4-BE49-F238E27FC236}">
                <a16:creationId xmlns:a16="http://schemas.microsoft.com/office/drawing/2014/main" id="{A215C687-9087-C947-AB5A-223EF7DA7E9A}"/>
              </a:ext>
            </a:extLst>
          </p:cNvPr>
          <p:cNvCxnSpPr>
            <a:cxnSpLocks/>
          </p:cNvCxnSpPr>
          <p:nvPr/>
        </p:nvCxnSpPr>
        <p:spPr>
          <a:xfrm>
            <a:off x="936516" y="388502"/>
            <a:ext cx="11255484"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9" name="Picture 28">
            <a:extLst>
              <a:ext uri="{FF2B5EF4-FFF2-40B4-BE49-F238E27FC236}">
                <a16:creationId xmlns:a16="http://schemas.microsoft.com/office/drawing/2014/main" id="{3AF69D0A-C2A3-A54B-87B3-155829A53D57}"/>
              </a:ext>
            </a:extLst>
          </p:cNvPr>
          <p:cNvPicPr>
            <a:picLocks noChangeAspect="1"/>
          </p:cNvPicPr>
          <p:nvPr/>
        </p:nvPicPr>
        <p:blipFill>
          <a:blip r:embed="rId23"/>
          <a:stretch>
            <a:fillRect/>
          </a:stretch>
        </p:blipFill>
        <p:spPr>
          <a:xfrm>
            <a:off x="132474" y="160495"/>
            <a:ext cx="804042" cy="804042"/>
          </a:xfrm>
          <a:prstGeom prst="rect">
            <a:avLst/>
          </a:prstGeom>
        </p:spPr>
      </p:pic>
      <p:cxnSp>
        <p:nvCxnSpPr>
          <p:cNvPr id="32" name="Straight Connector 31">
            <a:extLst>
              <a:ext uri="{FF2B5EF4-FFF2-40B4-BE49-F238E27FC236}">
                <a16:creationId xmlns:a16="http://schemas.microsoft.com/office/drawing/2014/main" id="{72A6E712-938E-934E-86D2-CF80E3166B5B}"/>
              </a:ext>
            </a:extLst>
          </p:cNvPr>
          <p:cNvCxnSpPr>
            <a:cxnSpLocks/>
          </p:cNvCxnSpPr>
          <p:nvPr/>
        </p:nvCxnSpPr>
        <p:spPr>
          <a:xfrm>
            <a:off x="936516" y="6652668"/>
            <a:ext cx="1041728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0207964"/>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 id="2147483705" r:id="rId18"/>
    <p:sldLayoutId id="2147483706" r:id="rId19"/>
    <p:sldLayoutId id="2147483707" r:id="rId20"/>
  </p:sldLayoutIdLst>
  <p:hf hdr="0" ftr="0" dt="0"/>
  <p:txStyles>
    <p:titleStyle>
      <a:lvl1pPr algn="l" defTabSz="914400" rtl="0" eaLnBrk="1" latinLnBrk="0" hangingPunct="1">
        <a:lnSpc>
          <a:spcPct val="90000"/>
        </a:lnSpc>
        <a:spcBef>
          <a:spcPct val="0"/>
        </a:spcBef>
        <a:buNone/>
        <a:defRPr sz="3600" b="1" i="0" kern="1200" baseline="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Clr>
          <a:srgbClr val="B30738"/>
        </a:buClr>
        <a:buFont typeface="Arial" panose="020B0604020202020204" pitchFamily="34" charset="0"/>
        <a:buChar char="•"/>
        <a:defRPr sz="2400" b="0" i="0" kern="1200">
          <a:solidFill>
            <a:schemeClr val="tx1">
              <a:lumMod val="65000"/>
              <a:lumOff val="35000"/>
            </a:schemeClr>
          </a:solidFill>
          <a:latin typeface="Arial Narrow" panose="020B0604020202020204" pitchFamily="34" charset="0"/>
          <a:ea typeface="+mn-ea"/>
          <a:cs typeface="Arial Narrow" panose="020B0604020202020204" pitchFamily="34" charset="0"/>
        </a:defRPr>
      </a:lvl1pPr>
      <a:lvl2pPr marL="685800" indent="-228600" algn="l" defTabSz="914400" rtl="0" eaLnBrk="1" latinLnBrk="0" hangingPunct="1">
        <a:lnSpc>
          <a:spcPct val="90000"/>
        </a:lnSpc>
        <a:spcBef>
          <a:spcPts val="500"/>
        </a:spcBef>
        <a:buClr>
          <a:srgbClr val="B30738"/>
        </a:buClr>
        <a:buFont typeface="Arial" panose="020B0604020202020204" pitchFamily="34" charset="0"/>
        <a:buChar char="•"/>
        <a:defRPr sz="2000" b="0" i="0" kern="1200">
          <a:solidFill>
            <a:schemeClr val="tx1">
              <a:lumMod val="65000"/>
              <a:lumOff val="35000"/>
            </a:schemeClr>
          </a:solidFill>
          <a:latin typeface="Arial Narrow" panose="020B0604020202020204" pitchFamily="34" charset="0"/>
          <a:ea typeface="+mn-ea"/>
          <a:cs typeface="Arial Narrow" panose="020B0604020202020204" pitchFamily="34" charset="0"/>
        </a:defRPr>
      </a:lvl2pPr>
      <a:lvl3pPr marL="1143000" indent="-228600" algn="l" defTabSz="914400" rtl="0" eaLnBrk="1" latinLnBrk="0" hangingPunct="1">
        <a:lnSpc>
          <a:spcPct val="90000"/>
        </a:lnSpc>
        <a:spcBef>
          <a:spcPts val="500"/>
        </a:spcBef>
        <a:buClr>
          <a:srgbClr val="B30738"/>
        </a:buClr>
        <a:buFont typeface="Arial" panose="020B0604020202020204" pitchFamily="34" charset="0"/>
        <a:buChar char="•"/>
        <a:defRPr sz="1800" b="0" i="0" kern="1200">
          <a:solidFill>
            <a:schemeClr val="tx1">
              <a:lumMod val="65000"/>
              <a:lumOff val="35000"/>
            </a:schemeClr>
          </a:solidFill>
          <a:latin typeface="Arial Narrow" panose="020B0604020202020204" pitchFamily="34" charset="0"/>
          <a:ea typeface="+mn-ea"/>
          <a:cs typeface="Arial Narrow" panose="020B0604020202020204" pitchFamily="34" charset="0"/>
        </a:defRPr>
      </a:lvl3pPr>
      <a:lvl4pPr marL="1600200" indent="-228600" algn="l" defTabSz="914400" rtl="0" eaLnBrk="1" latinLnBrk="0" hangingPunct="1">
        <a:lnSpc>
          <a:spcPct val="90000"/>
        </a:lnSpc>
        <a:spcBef>
          <a:spcPts val="500"/>
        </a:spcBef>
        <a:buClr>
          <a:srgbClr val="B30738"/>
        </a:buClr>
        <a:buFont typeface="Arial" panose="020B0604020202020204" pitchFamily="34" charset="0"/>
        <a:buChar char="•"/>
        <a:defRPr sz="1600" b="0" i="0" kern="1200">
          <a:solidFill>
            <a:schemeClr val="tx1">
              <a:lumMod val="65000"/>
              <a:lumOff val="35000"/>
            </a:schemeClr>
          </a:solidFill>
          <a:latin typeface="Arial Narrow" panose="020B0604020202020204" pitchFamily="34" charset="0"/>
          <a:ea typeface="+mn-ea"/>
          <a:cs typeface="Arial Narrow" panose="020B0604020202020204" pitchFamily="34" charset="0"/>
        </a:defRPr>
      </a:lvl4pPr>
      <a:lvl5pPr marL="2057400" indent="-228600" algn="l" defTabSz="914400" rtl="0" eaLnBrk="1" latinLnBrk="0" hangingPunct="1">
        <a:lnSpc>
          <a:spcPct val="90000"/>
        </a:lnSpc>
        <a:spcBef>
          <a:spcPts val="500"/>
        </a:spcBef>
        <a:buClr>
          <a:srgbClr val="B30738"/>
        </a:buClr>
        <a:buFont typeface="Arial" panose="020B0604020202020204" pitchFamily="34" charset="0"/>
        <a:buChar char="•"/>
        <a:defRPr sz="1400" b="0" i="0" kern="1200">
          <a:solidFill>
            <a:schemeClr val="tx1">
              <a:lumMod val="65000"/>
              <a:lumOff val="35000"/>
            </a:schemeClr>
          </a:solidFill>
          <a:latin typeface="Arial Narrow" panose="020B0604020202020204" pitchFamily="34" charset="0"/>
          <a:ea typeface="+mn-ea"/>
          <a:cs typeface="Arial Narrow"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hyperlink" Target="https://www.h-schmidt.net/FloatConverter/IEEE754.html" TargetMode="External"/><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37.xml"/><Relationship Id="rId4" Type="http://schemas.openxmlformats.org/officeDocument/2006/relationships/image" Target="../media/image6.emf"/></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0.png"/><Relationship Id="rId2" Type="http://schemas.openxmlformats.org/officeDocument/2006/relationships/notesSlide" Target="../notesSlides/notesSlide21.xml"/><Relationship Id="rId1" Type="http://schemas.openxmlformats.org/officeDocument/2006/relationships/slideLayout" Target="../slideLayouts/slideLayout3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400.png"/><Relationship Id="rId2" Type="http://schemas.openxmlformats.org/officeDocument/2006/relationships/image" Target="../media/image14.png"/><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3" Type="http://schemas.openxmlformats.org/officeDocument/2006/relationships/hyperlink" Target="https://www.h-schmidt.net/FloatConverter/IEEE754.html" TargetMode="External"/><Relationship Id="rId2" Type="http://schemas.openxmlformats.org/officeDocument/2006/relationships/image" Target="../media/image15.png"/><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3.xml"/><Relationship Id="rId1" Type="http://schemas.openxmlformats.org/officeDocument/2006/relationships/slideLayout" Target="../slideLayouts/slideLayout38.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3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38.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38.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8.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Layout" Target="../slideLayouts/slideLayout38.xml"/><Relationship Id="rId4" Type="http://schemas.openxmlformats.org/officeDocument/2006/relationships/image" Target="../media/image23.png"/></Relationships>
</file>

<file path=ppt/slides/_rels/slide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8.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38.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AF3DE3F-7502-904F-9BAB-B1F5DEA23BEF}"/>
              </a:ext>
            </a:extLst>
          </p:cNvPr>
          <p:cNvSpPr>
            <a:spLocks noGrp="1"/>
          </p:cNvSpPr>
          <p:nvPr>
            <p:ph type="subTitle" idx="1"/>
          </p:nvPr>
        </p:nvSpPr>
        <p:spPr>
          <a:xfrm>
            <a:off x="942472" y="2004189"/>
            <a:ext cx="10395285" cy="4621200"/>
          </a:xfrm>
        </p:spPr>
        <p:txBody>
          <a:bodyPr>
            <a:normAutofit/>
          </a:bodyPr>
          <a:lstStyle/>
          <a:p>
            <a:r>
              <a:rPr lang="en-US" dirty="0">
                <a:solidFill>
                  <a:schemeClr val="tx1"/>
                </a:solidFill>
              </a:rPr>
              <a:t>Fall 2026</a:t>
            </a:r>
          </a:p>
          <a:p>
            <a:endParaRPr lang="en-US" dirty="0">
              <a:solidFill>
                <a:schemeClr val="tx1"/>
              </a:solidFill>
            </a:endParaRPr>
          </a:p>
          <a:p>
            <a:r>
              <a:rPr lang="en-US" dirty="0">
                <a:solidFill>
                  <a:schemeClr val="tx1"/>
                </a:solidFill>
              </a:rPr>
              <a:t>	</a:t>
            </a:r>
          </a:p>
          <a:p>
            <a:r>
              <a:rPr lang="en-US" sz="3200" dirty="0">
                <a:solidFill>
                  <a:schemeClr val="tx1"/>
                </a:solidFill>
              </a:rPr>
              <a:t>	Introduction to Embedded Systems</a:t>
            </a:r>
          </a:p>
          <a:p>
            <a:endParaRPr lang="en-US" dirty="0">
              <a:solidFill>
                <a:schemeClr val="tx1"/>
              </a:solidFill>
            </a:endParaRPr>
          </a:p>
          <a:p>
            <a:endParaRPr lang="en-US" dirty="0">
              <a:solidFill>
                <a:schemeClr val="tx1"/>
              </a:solidFill>
            </a:endParaRPr>
          </a:p>
          <a:p>
            <a:endParaRPr lang="en-US" dirty="0">
              <a:solidFill>
                <a:schemeClr val="tx1"/>
              </a:solidFill>
            </a:endParaRPr>
          </a:p>
          <a:p>
            <a:endParaRPr lang="en-US" sz="2200" dirty="0">
              <a:solidFill>
                <a:schemeClr val="tx1"/>
              </a:solidFill>
            </a:endParaRPr>
          </a:p>
          <a:p>
            <a:endParaRPr lang="en-US" sz="2200" dirty="0">
              <a:solidFill>
                <a:schemeClr val="tx1"/>
              </a:solidFill>
            </a:endParaRPr>
          </a:p>
          <a:p>
            <a:r>
              <a:rPr lang="en-US" sz="2200" dirty="0">
                <a:solidFill>
                  <a:schemeClr val="tx1"/>
                </a:solidFill>
              </a:rPr>
              <a:t>Michael Schimpf, PhD, mschimpf@scu.edu</a:t>
            </a:r>
          </a:p>
        </p:txBody>
      </p:sp>
      <p:sp>
        <p:nvSpPr>
          <p:cNvPr id="3" name="Title 2">
            <a:extLst>
              <a:ext uri="{FF2B5EF4-FFF2-40B4-BE49-F238E27FC236}">
                <a16:creationId xmlns:a16="http://schemas.microsoft.com/office/drawing/2014/main" id="{4A818BAB-0338-734A-B1E8-2463F3B297A4}"/>
              </a:ext>
            </a:extLst>
          </p:cNvPr>
          <p:cNvSpPr>
            <a:spLocks noGrp="1"/>
          </p:cNvSpPr>
          <p:nvPr>
            <p:ph type="title"/>
          </p:nvPr>
        </p:nvSpPr>
        <p:spPr>
          <a:xfrm>
            <a:off x="942473" y="756797"/>
            <a:ext cx="9144000" cy="1144151"/>
          </a:xfrm>
        </p:spPr>
        <p:txBody>
          <a:bodyPr/>
          <a:lstStyle/>
          <a:p>
            <a:r>
              <a:rPr lang="en-US" dirty="0"/>
              <a:t>CSEN20</a:t>
            </a:r>
          </a:p>
        </p:txBody>
      </p:sp>
    </p:spTree>
    <p:extLst>
      <p:ext uri="{BB962C8B-B14F-4D97-AF65-F5344CB8AC3E}">
        <p14:creationId xmlns:p14="http://schemas.microsoft.com/office/powerpoint/2010/main" val="4052080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Chapter 9</a:t>
            </a:r>
          </a:p>
        </p:txBody>
      </p:sp>
      <p:sp>
        <p:nvSpPr>
          <p:cNvPr id="3" name="Subtitle 2"/>
          <p:cNvSpPr>
            <a:spLocks noGrp="1"/>
          </p:cNvSpPr>
          <p:nvPr>
            <p:ph type="subTitle" idx="1"/>
          </p:nvPr>
        </p:nvSpPr>
        <p:spPr/>
        <p:txBody>
          <a:bodyPr/>
          <a:lstStyle/>
          <a:p>
            <a:r>
              <a:rPr lang="en-US" dirty="0"/>
              <a:t>Getting Started with Floating Point</a:t>
            </a:r>
          </a:p>
        </p:txBody>
      </p:sp>
    </p:spTree>
    <p:extLst>
      <p:ext uri="{BB962C8B-B14F-4D97-AF65-F5344CB8AC3E}">
        <p14:creationId xmlns:p14="http://schemas.microsoft.com/office/powerpoint/2010/main" val="609917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763A24E8-0A6A-8A4C-A020-EDE591DF5655}"/>
              </a:ext>
            </a:extLst>
          </p:cNvPr>
          <p:cNvSpPr>
            <a:spLocks noGrp="1" noChangeArrowheads="1"/>
          </p:cNvSpPr>
          <p:nvPr>
            <p:ph type="title"/>
          </p:nvPr>
        </p:nvSpPr>
        <p:spPr>
          <a:xfrm>
            <a:off x="936516" y="753478"/>
            <a:ext cx="8259762" cy="708025"/>
          </a:xfrm>
        </p:spPr>
        <p:txBody>
          <a:bodyPr/>
          <a:lstStyle/>
          <a:p>
            <a:pPr eaLnBrk="1" hangingPunct="1"/>
            <a:r>
              <a:rPr lang="en-US" altLang="en-US" sz="4000" dirty="0">
                <a:ea typeface="ＭＳ Ｐゴシック" panose="020B0600070205080204" pitchFamily="34" charset="-128"/>
              </a:rPr>
              <a:t>Floating Point Standard (Recall)</a:t>
            </a:r>
            <a:endParaRPr lang="en-AU" altLang="en-US" sz="4000" dirty="0">
              <a:ea typeface="ＭＳ Ｐゴシック" panose="020B0600070205080204" pitchFamily="34" charset="-128"/>
            </a:endParaRPr>
          </a:p>
        </p:txBody>
      </p:sp>
      <p:sp>
        <p:nvSpPr>
          <p:cNvPr id="97283" name="Rectangle 3">
            <a:extLst>
              <a:ext uri="{FF2B5EF4-FFF2-40B4-BE49-F238E27FC236}">
                <a16:creationId xmlns:a16="http://schemas.microsoft.com/office/drawing/2014/main" id="{C33096E7-183E-1B44-8E3F-CCC262F65670}"/>
              </a:ext>
            </a:extLst>
          </p:cNvPr>
          <p:cNvSpPr>
            <a:spLocks noGrp="1" noChangeArrowheads="1"/>
          </p:cNvSpPr>
          <p:nvPr>
            <p:ph type="body" idx="1"/>
          </p:nvPr>
        </p:nvSpPr>
        <p:spPr>
          <a:xfrm>
            <a:off x="936515" y="1687386"/>
            <a:ext cx="10425305" cy="4974098"/>
          </a:xfrm>
        </p:spPr>
        <p:txBody>
          <a:bodyPr>
            <a:normAutofit lnSpcReduction="10000"/>
          </a:bodyPr>
          <a:lstStyle/>
          <a:p>
            <a:pPr eaLnBrk="1" hangingPunct="1"/>
            <a:r>
              <a:rPr lang="en-US" altLang="en-US" dirty="0">
                <a:solidFill>
                  <a:schemeClr val="tx1"/>
                </a:solidFill>
                <a:ea typeface="ＭＳ Ｐゴシック" panose="020B0600070205080204" pitchFamily="34" charset="-128"/>
              </a:rPr>
              <a:t>Defined by </a:t>
            </a:r>
            <a:r>
              <a:rPr lang="en-US" altLang="en-US" b="1" dirty="0">
                <a:solidFill>
                  <a:schemeClr val="tx1"/>
                </a:solidFill>
                <a:ea typeface="ＭＳ Ｐゴシック" panose="020B0600070205080204" pitchFamily="34" charset="-128"/>
              </a:rPr>
              <a:t>IEEE Standard 754 </a:t>
            </a:r>
            <a:r>
              <a:rPr lang="en-US" altLang="en-US" dirty="0">
                <a:solidFill>
                  <a:schemeClr val="tx1"/>
                </a:solidFill>
                <a:ea typeface="ＭＳ Ｐゴシック" panose="020B0600070205080204" pitchFamily="34" charset="-128"/>
              </a:rPr>
              <a:t>-1985</a:t>
            </a:r>
          </a:p>
          <a:p>
            <a:pPr eaLnBrk="1" hangingPunct="1"/>
            <a:endParaRPr lang="en-US" altLang="en-US" dirty="0">
              <a:solidFill>
                <a:schemeClr val="tx1"/>
              </a:solidFill>
              <a:ea typeface="ＭＳ Ｐゴシック" panose="020B0600070205080204" pitchFamily="34" charset="-128"/>
            </a:endParaRPr>
          </a:p>
          <a:p>
            <a:pPr eaLnBrk="1" hangingPunct="1"/>
            <a:r>
              <a:rPr lang="en-US" altLang="en-US" dirty="0">
                <a:solidFill>
                  <a:schemeClr val="tx1"/>
                </a:solidFill>
                <a:ea typeface="ＭＳ Ｐゴシック" panose="020B0600070205080204" pitchFamily="34" charset="-128"/>
              </a:rPr>
              <a:t>Developed in response to divergence of representations</a:t>
            </a:r>
          </a:p>
          <a:p>
            <a:pPr lvl="1" eaLnBrk="1" hangingPunct="1"/>
            <a:r>
              <a:rPr lang="en-US" altLang="en-US" dirty="0">
                <a:solidFill>
                  <a:schemeClr val="tx1"/>
                </a:solidFill>
                <a:ea typeface="ＭＳ Ｐゴシック" panose="020B0600070205080204" pitchFamily="34" charset="-128"/>
              </a:rPr>
              <a:t>Portability issues for scientific code</a:t>
            </a:r>
          </a:p>
          <a:p>
            <a:pPr eaLnBrk="1" hangingPunct="1"/>
            <a:endParaRPr lang="en-US" altLang="en-US" dirty="0">
              <a:solidFill>
                <a:schemeClr val="tx1"/>
              </a:solidFill>
              <a:ea typeface="ＭＳ Ｐゴシック" panose="020B0600070205080204" pitchFamily="34" charset="-128"/>
            </a:endParaRPr>
          </a:p>
          <a:p>
            <a:pPr eaLnBrk="1" hangingPunct="1"/>
            <a:r>
              <a:rPr lang="en-US" altLang="en-US" dirty="0">
                <a:solidFill>
                  <a:schemeClr val="tx1"/>
                </a:solidFill>
                <a:ea typeface="ＭＳ Ｐゴシック" panose="020B0600070205080204" pitchFamily="34" charset="-128"/>
              </a:rPr>
              <a:t>Now almost universally adopted</a:t>
            </a:r>
          </a:p>
          <a:p>
            <a:pPr eaLnBrk="1" hangingPunct="1"/>
            <a:endParaRPr lang="en-US" altLang="en-US" dirty="0">
              <a:solidFill>
                <a:schemeClr val="tx1"/>
              </a:solidFill>
              <a:ea typeface="ＭＳ Ｐゴシック" panose="020B0600070205080204" pitchFamily="34" charset="-128"/>
            </a:endParaRPr>
          </a:p>
          <a:p>
            <a:pPr eaLnBrk="1" hangingPunct="1"/>
            <a:r>
              <a:rPr lang="en-US" altLang="en-US" dirty="0">
                <a:solidFill>
                  <a:schemeClr val="tx1"/>
                </a:solidFill>
                <a:ea typeface="ＭＳ Ｐゴシック" panose="020B0600070205080204" pitchFamily="34" charset="-128"/>
              </a:rPr>
              <a:t>Two representations</a:t>
            </a:r>
          </a:p>
          <a:p>
            <a:pPr lvl="1" eaLnBrk="1" hangingPunct="1"/>
            <a:r>
              <a:rPr lang="en-US" altLang="en-US" dirty="0">
                <a:solidFill>
                  <a:schemeClr val="tx1"/>
                </a:solidFill>
                <a:ea typeface="ＭＳ Ｐゴシック" panose="020B0600070205080204" pitchFamily="34" charset="-128"/>
              </a:rPr>
              <a:t>Single precision (32-bit representation)</a:t>
            </a:r>
          </a:p>
          <a:p>
            <a:pPr lvl="1" eaLnBrk="1" hangingPunct="1"/>
            <a:r>
              <a:rPr lang="en-US" altLang="en-US" dirty="0">
                <a:solidFill>
                  <a:schemeClr val="tx1"/>
                </a:solidFill>
                <a:ea typeface="ＭＳ Ｐゴシック" panose="020B0600070205080204" pitchFamily="34" charset="-128"/>
              </a:rPr>
              <a:t>Double precision (64-bit representation) </a:t>
            </a:r>
          </a:p>
          <a:p>
            <a:pPr marL="57150" indent="0">
              <a:buNone/>
            </a:pPr>
            <a:endParaRPr lang="en-US" altLang="en-US" dirty="0">
              <a:solidFill>
                <a:schemeClr val="tx1"/>
              </a:solidFill>
              <a:ea typeface="ＭＳ Ｐゴシック" panose="020B0600070205080204" pitchFamily="34" charset="-128"/>
            </a:endParaRPr>
          </a:p>
          <a:p>
            <a:pPr marL="57150" indent="0">
              <a:buNone/>
            </a:pPr>
            <a:r>
              <a:rPr lang="en-US" altLang="en-US" dirty="0">
                <a:ea typeface="ＭＳ Ｐゴシック" panose="020B0600070205080204" pitchFamily="34" charset="-128"/>
                <a:hlinkClick r:id="rId3"/>
              </a:rPr>
              <a:t>https://www.h-schmidt.net/FloatConverter/IEEE754.html</a:t>
            </a:r>
          </a:p>
        </p:txBody>
      </p:sp>
    </p:spTree>
    <p:extLst>
      <p:ext uri="{BB962C8B-B14F-4D97-AF65-F5344CB8AC3E}">
        <p14:creationId xmlns:p14="http://schemas.microsoft.com/office/powerpoint/2010/main" val="486476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4">
            <a:extLst>
              <a:ext uri="{FF2B5EF4-FFF2-40B4-BE49-F238E27FC236}">
                <a16:creationId xmlns:a16="http://schemas.microsoft.com/office/drawing/2014/main" id="{FA93C443-6A2E-4179-B1FF-3597A3C06C12}"/>
              </a:ext>
            </a:extLst>
          </p:cNvPr>
          <p:cNvSpPr>
            <a:spLocks noGrp="1" noChangeArrowheads="1"/>
          </p:cNvSpPr>
          <p:nvPr>
            <p:ph type="title"/>
          </p:nvPr>
        </p:nvSpPr>
        <p:spPr>
          <a:xfrm>
            <a:off x="936516" y="753202"/>
            <a:ext cx="5660800" cy="714651"/>
          </a:xfrm>
        </p:spPr>
        <p:txBody>
          <a:bodyPr/>
          <a:lstStyle/>
          <a:p>
            <a:pPr eaLnBrk="1" hangingPunct="1"/>
            <a:r>
              <a:rPr lang="en-US" altLang="en-US" dirty="0"/>
              <a:t>Floating-Point Precision</a:t>
            </a:r>
          </a:p>
        </p:txBody>
      </p:sp>
      <p:sp>
        <p:nvSpPr>
          <p:cNvPr id="121860" name="Rectangle 5">
            <a:extLst>
              <a:ext uri="{FF2B5EF4-FFF2-40B4-BE49-F238E27FC236}">
                <a16:creationId xmlns:a16="http://schemas.microsoft.com/office/drawing/2014/main" id="{46B4E3DA-97B4-47F2-829D-BDCDD80C7043}"/>
              </a:ext>
            </a:extLst>
          </p:cNvPr>
          <p:cNvSpPr>
            <a:spLocks noGrp="1" noChangeArrowheads="1"/>
          </p:cNvSpPr>
          <p:nvPr>
            <p:ph type="body" idx="1"/>
          </p:nvPr>
        </p:nvSpPr>
        <p:spPr>
          <a:xfrm>
            <a:off x="936516" y="1723479"/>
            <a:ext cx="10433326" cy="4909931"/>
          </a:xfrm>
        </p:spPr>
        <p:txBody>
          <a:bodyPr/>
          <a:lstStyle/>
          <a:p>
            <a:pPr marL="0" indent="0" eaLnBrk="1" hangingPunct="1">
              <a:buNone/>
            </a:pPr>
            <a:endParaRPr lang="en-US" altLang="en-US" dirty="0"/>
          </a:p>
          <a:p>
            <a:pPr marL="0" indent="0" eaLnBrk="1" hangingPunct="1">
              <a:buNone/>
            </a:pPr>
            <a:r>
              <a:rPr lang="en-US" altLang="en-US" b="1" dirty="0">
                <a:solidFill>
                  <a:schemeClr val="tx1"/>
                </a:solidFill>
              </a:rPr>
              <a:t>Relative precision:</a:t>
            </a:r>
          </a:p>
          <a:p>
            <a:pPr lvl="1" eaLnBrk="1" hangingPunct="1"/>
            <a:endParaRPr lang="en-US" altLang="en-US" dirty="0">
              <a:solidFill>
                <a:schemeClr val="tx1"/>
              </a:solidFill>
            </a:endParaRPr>
          </a:p>
          <a:p>
            <a:pPr lvl="1" eaLnBrk="1" hangingPunct="1"/>
            <a:r>
              <a:rPr lang="en-US" altLang="en-US" dirty="0">
                <a:solidFill>
                  <a:schemeClr val="tx1"/>
                </a:solidFill>
              </a:rPr>
              <a:t>all fraction bits are significant</a:t>
            </a:r>
          </a:p>
          <a:p>
            <a:pPr lvl="1" eaLnBrk="1" hangingPunct="1"/>
            <a:endParaRPr lang="en-US" altLang="en-US" dirty="0"/>
          </a:p>
          <a:p>
            <a:pPr lvl="1" eaLnBrk="1" hangingPunct="1"/>
            <a:r>
              <a:rPr lang="en-US" altLang="en-US" b="1" dirty="0">
                <a:solidFill>
                  <a:srgbClr val="FF0000"/>
                </a:solidFill>
              </a:rPr>
              <a:t>Single</a:t>
            </a:r>
            <a:r>
              <a:rPr lang="en-US" altLang="en-US" dirty="0">
                <a:solidFill>
                  <a:schemeClr val="tx1"/>
                </a:solidFill>
              </a:rPr>
              <a:t>: </a:t>
            </a:r>
            <a:r>
              <a:rPr lang="en-US" altLang="en-US" dirty="0" err="1">
                <a:solidFill>
                  <a:schemeClr val="tx1"/>
                </a:solidFill>
              </a:rPr>
              <a:t>approx</a:t>
            </a:r>
            <a:r>
              <a:rPr lang="en-US" altLang="en-US" dirty="0">
                <a:solidFill>
                  <a:schemeClr val="tx1"/>
                </a:solidFill>
              </a:rPr>
              <a:t> 2</a:t>
            </a:r>
            <a:r>
              <a:rPr lang="en-US" altLang="en-US" baseline="30000" dirty="0">
                <a:solidFill>
                  <a:schemeClr val="tx1"/>
                </a:solidFill>
              </a:rPr>
              <a:t>–23</a:t>
            </a:r>
          </a:p>
          <a:p>
            <a:pPr lvl="2" eaLnBrk="1" hangingPunct="1"/>
            <a:r>
              <a:rPr lang="en-US" altLang="en-US" dirty="0">
                <a:solidFill>
                  <a:schemeClr val="tx1"/>
                </a:solidFill>
              </a:rPr>
              <a:t>Equivalent to 23 × log</a:t>
            </a:r>
            <a:r>
              <a:rPr lang="en-US" altLang="en-US" baseline="-25000" dirty="0">
                <a:solidFill>
                  <a:schemeClr val="tx1"/>
                </a:solidFill>
              </a:rPr>
              <a:t>10</a:t>
            </a:r>
            <a:r>
              <a:rPr lang="en-US" altLang="en-US" dirty="0">
                <a:solidFill>
                  <a:schemeClr val="tx1"/>
                </a:solidFill>
              </a:rPr>
              <a:t>2 ≈ 23 × 0.3 ≈ 6 decimal digits of precision</a:t>
            </a:r>
          </a:p>
          <a:p>
            <a:pPr lvl="1" eaLnBrk="1" hangingPunct="1"/>
            <a:endParaRPr lang="en-US" altLang="en-US" dirty="0"/>
          </a:p>
          <a:p>
            <a:pPr lvl="1" eaLnBrk="1" hangingPunct="1"/>
            <a:r>
              <a:rPr lang="en-US" altLang="en-US" b="1" dirty="0">
                <a:solidFill>
                  <a:srgbClr val="00B0F0"/>
                </a:solidFill>
              </a:rPr>
              <a:t>Double</a:t>
            </a:r>
            <a:r>
              <a:rPr lang="en-US" altLang="en-US" dirty="0">
                <a:solidFill>
                  <a:schemeClr val="tx1"/>
                </a:solidFill>
              </a:rPr>
              <a:t>: </a:t>
            </a:r>
            <a:r>
              <a:rPr lang="en-US" altLang="en-US" dirty="0" err="1">
                <a:solidFill>
                  <a:schemeClr val="tx1"/>
                </a:solidFill>
              </a:rPr>
              <a:t>approx</a:t>
            </a:r>
            <a:r>
              <a:rPr lang="en-US" altLang="en-US" dirty="0">
                <a:solidFill>
                  <a:schemeClr val="tx1"/>
                </a:solidFill>
              </a:rPr>
              <a:t> 2</a:t>
            </a:r>
            <a:r>
              <a:rPr lang="en-US" altLang="en-US" baseline="30000" dirty="0">
                <a:solidFill>
                  <a:schemeClr val="tx1"/>
                </a:solidFill>
              </a:rPr>
              <a:t>–52</a:t>
            </a:r>
          </a:p>
          <a:p>
            <a:pPr lvl="2" eaLnBrk="1" hangingPunct="1"/>
            <a:r>
              <a:rPr lang="en-US" altLang="en-US" dirty="0">
                <a:solidFill>
                  <a:schemeClr val="tx1"/>
                </a:solidFill>
              </a:rPr>
              <a:t>Equivalent to 52 × log</a:t>
            </a:r>
            <a:r>
              <a:rPr lang="en-US" altLang="en-US" baseline="-25000" dirty="0">
                <a:solidFill>
                  <a:schemeClr val="tx1"/>
                </a:solidFill>
              </a:rPr>
              <a:t>10</a:t>
            </a:r>
            <a:r>
              <a:rPr lang="en-US" altLang="en-US" dirty="0">
                <a:solidFill>
                  <a:schemeClr val="tx1"/>
                </a:solidFill>
              </a:rPr>
              <a:t>2 ≈ 52 × 0.3 ≈ 16 decimal digits of precision</a:t>
            </a:r>
          </a:p>
        </p:txBody>
      </p:sp>
    </p:spTree>
    <p:extLst>
      <p:ext uri="{BB962C8B-B14F-4D97-AF65-F5344CB8AC3E}">
        <p14:creationId xmlns:p14="http://schemas.microsoft.com/office/powerpoint/2010/main" val="3401258718"/>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558CF567-BE34-7946-ACAC-6676704A6787}"/>
              </a:ext>
            </a:extLst>
          </p:cNvPr>
          <p:cNvSpPr>
            <a:spLocks noGrp="1" noChangeArrowheads="1"/>
          </p:cNvSpPr>
          <p:nvPr>
            <p:ph type="title"/>
          </p:nvPr>
        </p:nvSpPr>
        <p:spPr>
          <a:xfrm>
            <a:off x="922421" y="738338"/>
            <a:ext cx="5137484" cy="685399"/>
          </a:xfrm>
        </p:spPr>
        <p:txBody>
          <a:bodyPr/>
          <a:lstStyle/>
          <a:p>
            <a:pPr eaLnBrk="1" hangingPunct="1"/>
            <a:r>
              <a:rPr lang="en-US" altLang="en-US" dirty="0">
                <a:ea typeface="ＭＳ Ｐゴシック" panose="020B0600070205080204" pitchFamily="34" charset="-128"/>
              </a:rPr>
              <a:t>Floating Point (recall)</a:t>
            </a:r>
            <a:endParaRPr lang="en-AU" altLang="en-US" dirty="0">
              <a:ea typeface="ＭＳ Ｐゴシック" panose="020B0600070205080204" pitchFamily="34" charset="-128"/>
            </a:endParaRPr>
          </a:p>
        </p:txBody>
      </p:sp>
      <p:sp>
        <p:nvSpPr>
          <p:cNvPr id="93187" name="Rectangle 3">
            <a:extLst>
              <a:ext uri="{FF2B5EF4-FFF2-40B4-BE49-F238E27FC236}">
                <a16:creationId xmlns:a16="http://schemas.microsoft.com/office/drawing/2014/main" id="{BE84D51A-97A3-A04A-87F3-2A2C675B8446}"/>
              </a:ext>
            </a:extLst>
          </p:cNvPr>
          <p:cNvSpPr>
            <a:spLocks noGrp="1" noChangeArrowheads="1"/>
          </p:cNvSpPr>
          <p:nvPr>
            <p:ph type="body" idx="1"/>
          </p:nvPr>
        </p:nvSpPr>
        <p:spPr>
          <a:xfrm>
            <a:off x="922421" y="1548359"/>
            <a:ext cx="10443411" cy="5089062"/>
          </a:xfrm>
        </p:spPr>
        <p:txBody>
          <a:bodyPr>
            <a:normAutofit/>
          </a:bodyPr>
          <a:lstStyle/>
          <a:p>
            <a:pPr eaLnBrk="1" hangingPunct="1"/>
            <a:r>
              <a:rPr lang="en-US" altLang="en-US" sz="3100" dirty="0">
                <a:solidFill>
                  <a:schemeClr val="tx1"/>
                </a:solidFill>
                <a:ea typeface="ＭＳ Ｐゴシック" panose="020B0600070205080204" pitchFamily="34" charset="-128"/>
              </a:rPr>
              <a:t>Representation for non-integral numbers</a:t>
            </a:r>
          </a:p>
          <a:p>
            <a:pPr lvl="1" eaLnBrk="1" hangingPunct="1"/>
            <a:r>
              <a:rPr lang="en-US" altLang="en-US" dirty="0">
                <a:solidFill>
                  <a:schemeClr val="tx1"/>
                </a:solidFill>
                <a:ea typeface="ＭＳ Ｐゴシック" panose="020B0600070205080204" pitchFamily="34" charset="-128"/>
              </a:rPr>
              <a:t>Including very small and very large numbers</a:t>
            </a:r>
          </a:p>
          <a:p>
            <a:pPr eaLnBrk="1" hangingPunct="1"/>
            <a:endParaRPr lang="en-US" altLang="en-US" sz="3100" dirty="0">
              <a:solidFill>
                <a:schemeClr val="tx1"/>
              </a:solidFill>
              <a:ea typeface="ＭＳ Ｐゴシック" panose="020B0600070205080204" pitchFamily="34" charset="-128"/>
            </a:endParaRPr>
          </a:p>
          <a:p>
            <a:pPr eaLnBrk="1" hangingPunct="1"/>
            <a:r>
              <a:rPr lang="en-US" altLang="en-US" sz="3100" dirty="0">
                <a:solidFill>
                  <a:schemeClr val="tx1"/>
                </a:solidFill>
                <a:ea typeface="ＭＳ Ｐゴシック" panose="020B0600070205080204" pitchFamily="34" charset="-128"/>
              </a:rPr>
              <a:t>Like scientific notation</a:t>
            </a:r>
          </a:p>
          <a:p>
            <a:pPr lvl="1"/>
            <a:r>
              <a:rPr lang="en-US" altLang="en-US" dirty="0">
                <a:solidFill>
                  <a:schemeClr val="tx1"/>
                </a:solidFill>
                <a:ea typeface="ＭＳ Ｐゴシック" panose="020B0600070205080204" pitchFamily="34" charset="-128"/>
              </a:rPr>
              <a:t>–</a:t>
            </a:r>
            <a:r>
              <a:rPr lang="en-US" altLang="en-US" dirty="0">
                <a:solidFill>
                  <a:srgbClr val="FF0000"/>
                </a:solidFill>
                <a:ea typeface="ＭＳ Ｐゴシック" panose="020B0600070205080204" pitchFamily="34" charset="-128"/>
              </a:rPr>
              <a:t>2</a:t>
            </a:r>
            <a:r>
              <a:rPr lang="en-US" altLang="en-US" dirty="0">
                <a:solidFill>
                  <a:schemeClr val="tx1"/>
                </a:solidFill>
                <a:ea typeface="ＭＳ Ｐゴシック" panose="020B0600070205080204" pitchFamily="34" charset="-128"/>
              </a:rPr>
              <a:t>.34</a:t>
            </a:r>
            <a:r>
              <a:rPr lang="en-US" baseline="-25000" dirty="0">
                <a:solidFill>
                  <a:schemeClr val="tx1"/>
                </a:solidFill>
              </a:rPr>
              <a:t>10</a:t>
            </a:r>
            <a:r>
              <a:rPr lang="en-US" altLang="en-US" dirty="0">
                <a:solidFill>
                  <a:schemeClr val="tx1"/>
                </a:solidFill>
                <a:ea typeface="ＭＳ Ｐゴシック" panose="020B0600070205080204" pitchFamily="34" charset="-128"/>
              </a:rPr>
              <a:t> × 10</a:t>
            </a:r>
            <a:r>
              <a:rPr lang="en-US" altLang="en-US" baseline="30000" dirty="0">
                <a:solidFill>
                  <a:schemeClr val="tx1"/>
                </a:solidFill>
                <a:ea typeface="ＭＳ Ｐゴシック" panose="020B0600070205080204" pitchFamily="34" charset="-128"/>
              </a:rPr>
              <a:t>56</a:t>
            </a:r>
            <a:endParaRPr lang="en-US" altLang="en-US" dirty="0">
              <a:solidFill>
                <a:schemeClr val="tx1"/>
              </a:solidFill>
              <a:ea typeface="ＭＳ Ｐゴシック" panose="020B0600070205080204" pitchFamily="34" charset="-128"/>
            </a:endParaRPr>
          </a:p>
          <a:p>
            <a:pPr lvl="1"/>
            <a:r>
              <a:rPr lang="en-US" altLang="en-US" dirty="0">
                <a:solidFill>
                  <a:schemeClr val="tx1"/>
                </a:solidFill>
                <a:ea typeface="ＭＳ Ｐゴシック" panose="020B0600070205080204" pitchFamily="34" charset="-128"/>
              </a:rPr>
              <a:t>+0.002</a:t>
            </a:r>
            <a:r>
              <a:rPr lang="en-US" baseline="-25000" dirty="0">
                <a:solidFill>
                  <a:schemeClr val="tx1"/>
                </a:solidFill>
              </a:rPr>
              <a:t>10</a:t>
            </a:r>
            <a:r>
              <a:rPr lang="en-US" altLang="en-US" dirty="0">
                <a:solidFill>
                  <a:schemeClr val="tx1"/>
                </a:solidFill>
                <a:ea typeface="ＭＳ Ｐゴシック" panose="020B0600070205080204" pitchFamily="34" charset="-128"/>
              </a:rPr>
              <a:t> × 10</a:t>
            </a:r>
            <a:r>
              <a:rPr lang="en-US" altLang="en-US" baseline="30000" dirty="0">
                <a:solidFill>
                  <a:schemeClr val="tx1"/>
                </a:solidFill>
                <a:ea typeface="ＭＳ Ｐゴシック" panose="020B0600070205080204" pitchFamily="34" charset="-128"/>
              </a:rPr>
              <a:t>–4</a:t>
            </a:r>
            <a:endParaRPr lang="en-US" altLang="en-US" dirty="0">
              <a:solidFill>
                <a:schemeClr val="tx1"/>
              </a:solidFill>
              <a:ea typeface="ＭＳ Ｐゴシック" panose="020B0600070205080204" pitchFamily="34" charset="-128"/>
            </a:endParaRPr>
          </a:p>
          <a:p>
            <a:pPr lvl="1"/>
            <a:r>
              <a:rPr lang="en-US" altLang="en-US" dirty="0">
                <a:solidFill>
                  <a:schemeClr val="tx1"/>
                </a:solidFill>
                <a:ea typeface="ＭＳ Ｐゴシック" panose="020B0600070205080204" pitchFamily="34" charset="-128"/>
              </a:rPr>
              <a:t>+987.02</a:t>
            </a:r>
            <a:r>
              <a:rPr lang="en-US" baseline="-25000" dirty="0">
                <a:solidFill>
                  <a:schemeClr val="tx1"/>
                </a:solidFill>
              </a:rPr>
              <a:t>10</a:t>
            </a:r>
            <a:r>
              <a:rPr lang="en-US" altLang="en-US" dirty="0">
                <a:solidFill>
                  <a:schemeClr val="tx1"/>
                </a:solidFill>
                <a:ea typeface="ＭＳ Ｐゴシック" panose="020B0600070205080204" pitchFamily="34" charset="-128"/>
              </a:rPr>
              <a:t> × 10</a:t>
            </a:r>
            <a:r>
              <a:rPr lang="en-US" altLang="en-US" baseline="30000" dirty="0">
                <a:solidFill>
                  <a:schemeClr val="tx1"/>
                </a:solidFill>
                <a:ea typeface="ＭＳ Ｐゴシック" panose="020B0600070205080204" pitchFamily="34" charset="-128"/>
              </a:rPr>
              <a:t>9</a:t>
            </a:r>
            <a:endParaRPr lang="en-US" altLang="en-US" dirty="0">
              <a:solidFill>
                <a:schemeClr val="tx1"/>
              </a:solidFill>
              <a:ea typeface="ＭＳ Ｐゴシック" panose="020B0600070205080204" pitchFamily="34" charset="-128"/>
            </a:endParaRPr>
          </a:p>
          <a:p>
            <a:pPr eaLnBrk="1" hangingPunct="1"/>
            <a:endParaRPr lang="en-US" altLang="en-US" sz="3100" dirty="0">
              <a:ea typeface="ＭＳ Ｐゴシック" panose="020B0600070205080204" pitchFamily="34" charset="-128"/>
            </a:endParaRPr>
          </a:p>
          <a:p>
            <a:pPr eaLnBrk="1" hangingPunct="1"/>
            <a:r>
              <a:rPr lang="en-US" altLang="en-US" sz="3100" dirty="0">
                <a:solidFill>
                  <a:schemeClr val="tx1"/>
                </a:solidFill>
                <a:ea typeface="ＭＳ Ｐゴシック" panose="020B0600070205080204" pitchFamily="34" charset="-128"/>
              </a:rPr>
              <a:t>In binary</a:t>
            </a:r>
          </a:p>
          <a:p>
            <a:pPr lvl="1" eaLnBrk="1" hangingPunct="1"/>
            <a:r>
              <a:rPr lang="en-US" altLang="en-US" dirty="0">
                <a:solidFill>
                  <a:schemeClr val="tx1"/>
                </a:solidFill>
                <a:ea typeface="ＭＳ Ｐゴシック" panose="020B0600070205080204" pitchFamily="34" charset="-128"/>
              </a:rPr>
              <a:t>±1.</a:t>
            </a:r>
            <a:r>
              <a:rPr lang="en-US" altLang="en-US" i="1" dirty="0">
                <a:solidFill>
                  <a:schemeClr val="tx1"/>
                </a:solidFill>
                <a:ea typeface="ＭＳ Ｐゴシック" panose="020B0600070205080204" pitchFamily="34" charset="-128"/>
              </a:rPr>
              <a:t>xxxxxxx</a:t>
            </a:r>
            <a:r>
              <a:rPr lang="en-US" altLang="en-US" baseline="-25000" dirty="0">
                <a:solidFill>
                  <a:schemeClr val="tx1"/>
                </a:solidFill>
                <a:ea typeface="ＭＳ Ｐゴシック" panose="020B0600070205080204" pitchFamily="34" charset="-128"/>
              </a:rPr>
              <a:t>2</a:t>
            </a:r>
            <a:r>
              <a:rPr lang="en-US" altLang="en-US" dirty="0">
                <a:solidFill>
                  <a:schemeClr val="tx1"/>
                </a:solidFill>
                <a:ea typeface="ＭＳ Ｐゴシック" panose="020B0600070205080204" pitchFamily="34" charset="-128"/>
              </a:rPr>
              <a:t> × 2</a:t>
            </a:r>
            <a:r>
              <a:rPr lang="en-US" altLang="en-US" i="1" baseline="30000" dirty="0">
                <a:solidFill>
                  <a:schemeClr val="tx1"/>
                </a:solidFill>
                <a:ea typeface="ＭＳ Ｐゴシック" panose="020B0600070205080204" pitchFamily="34" charset="-128"/>
              </a:rPr>
              <a:t>yyyy</a:t>
            </a:r>
          </a:p>
          <a:p>
            <a:pPr eaLnBrk="1" hangingPunct="1"/>
            <a:r>
              <a:rPr lang="en-US" altLang="en-US" dirty="0">
                <a:solidFill>
                  <a:schemeClr val="tx1"/>
                </a:solidFill>
                <a:ea typeface="ＭＳ Ｐゴシック" panose="020B0600070205080204" pitchFamily="34" charset="-128"/>
              </a:rPr>
              <a:t>Types in C: </a:t>
            </a:r>
            <a:r>
              <a:rPr lang="en-US" altLang="en-US" dirty="0">
                <a:solidFill>
                  <a:schemeClr val="tx1"/>
                </a:solidFill>
                <a:latin typeface="Lucida Console" panose="020B0609040504020204" pitchFamily="49" charset="0"/>
                <a:ea typeface="ＭＳ Ｐゴシック" panose="020B0600070205080204" pitchFamily="34" charset="-128"/>
              </a:rPr>
              <a:t>float</a:t>
            </a:r>
            <a:r>
              <a:rPr lang="en-US" altLang="en-US" dirty="0">
                <a:solidFill>
                  <a:schemeClr val="tx1"/>
                </a:solidFill>
                <a:ea typeface="ＭＳ Ｐゴシック" panose="020B0600070205080204" pitchFamily="34" charset="-128"/>
              </a:rPr>
              <a:t> (single-precision FP) and </a:t>
            </a:r>
            <a:r>
              <a:rPr lang="en-US" altLang="en-US" dirty="0">
                <a:solidFill>
                  <a:schemeClr val="tx1"/>
                </a:solidFill>
                <a:latin typeface="Lucida Console" panose="020B0609040504020204" pitchFamily="49" charset="0"/>
                <a:ea typeface="ＭＳ Ｐゴシック" panose="020B0600070205080204" pitchFamily="34" charset="-128"/>
              </a:rPr>
              <a:t>double</a:t>
            </a:r>
            <a:r>
              <a:rPr lang="en-US" altLang="en-US" dirty="0">
                <a:solidFill>
                  <a:schemeClr val="tx1"/>
                </a:solidFill>
                <a:ea typeface="ＭＳ Ｐゴシック" panose="020B0600070205080204" pitchFamily="34" charset="-128"/>
              </a:rPr>
              <a:t> (double-precision FP) </a:t>
            </a:r>
            <a:endParaRPr lang="en-AU" altLang="en-US" dirty="0">
              <a:solidFill>
                <a:schemeClr val="tx1"/>
              </a:solidFill>
              <a:ea typeface="ＭＳ Ｐゴシック" panose="020B0600070205080204" pitchFamily="34" charset="-128"/>
            </a:endParaRPr>
          </a:p>
        </p:txBody>
      </p:sp>
      <p:sp>
        <p:nvSpPr>
          <p:cNvPr id="93188" name="AutoShape 4">
            <a:extLst>
              <a:ext uri="{FF2B5EF4-FFF2-40B4-BE49-F238E27FC236}">
                <a16:creationId xmlns:a16="http://schemas.microsoft.com/office/drawing/2014/main" id="{4DF4B4DA-1174-7D40-ADC3-04A33079FA87}"/>
              </a:ext>
            </a:extLst>
          </p:cNvPr>
          <p:cNvSpPr>
            <a:spLocks/>
          </p:cNvSpPr>
          <p:nvPr/>
        </p:nvSpPr>
        <p:spPr bwMode="auto">
          <a:xfrm>
            <a:off x="6388724" y="3134209"/>
            <a:ext cx="1508125" cy="401638"/>
          </a:xfrm>
          <a:prstGeom prst="borderCallout1">
            <a:avLst>
              <a:gd name="adj1" fmla="val 28458"/>
              <a:gd name="adj2" fmla="val -5051"/>
              <a:gd name="adj3" fmla="val 124905"/>
              <a:gd name="adj4" fmla="val -212017"/>
            </a:avLst>
          </a:prstGeom>
          <a:solidFill>
            <a:schemeClr val="accent3">
              <a:lumMod val="60000"/>
              <a:lumOff val="40000"/>
            </a:schemeClr>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normalized</a:t>
            </a:r>
            <a:endParaRPr kumimoji="0" lang="en-AU"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 name="AutoShape 4">
            <a:extLst>
              <a:ext uri="{FF2B5EF4-FFF2-40B4-BE49-F238E27FC236}">
                <a16:creationId xmlns:a16="http://schemas.microsoft.com/office/drawing/2014/main" id="{4D7E8FDF-BD88-7449-9F6A-56F96FED13A3}"/>
              </a:ext>
            </a:extLst>
          </p:cNvPr>
          <p:cNvSpPr>
            <a:spLocks/>
          </p:cNvSpPr>
          <p:nvPr/>
        </p:nvSpPr>
        <p:spPr bwMode="auto">
          <a:xfrm>
            <a:off x="6346698" y="4565323"/>
            <a:ext cx="1944687" cy="360363"/>
          </a:xfrm>
          <a:prstGeom prst="borderCallout1">
            <a:avLst>
              <a:gd name="adj1" fmla="val 54977"/>
              <a:gd name="adj2" fmla="val -2843"/>
              <a:gd name="adj3" fmla="val 316710"/>
              <a:gd name="adj4" fmla="val -133941"/>
            </a:avLst>
          </a:prstGeom>
          <a:solidFill>
            <a:schemeClr val="accent3">
              <a:lumMod val="60000"/>
              <a:lumOff val="40000"/>
            </a:schemeClr>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normalized </a:t>
            </a:r>
          </a:p>
        </p:txBody>
      </p:sp>
      <p:grpSp>
        <p:nvGrpSpPr>
          <p:cNvPr id="5" name="Group 4">
            <a:extLst>
              <a:ext uri="{FF2B5EF4-FFF2-40B4-BE49-F238E27FC236}">
                <a16:creationId xmlns:a16="http://schemas.microsoft.com/office/drawing/2014/main" id="{4BD8001C-5595-8E49-BD14-12A4C104112E}"/>
              </a:ext>
            </a:extLst>
          </p:cNvPr>
          <p:cNvGrpSpPr>
            <a:grpSpLocks/>
          </p:cNvGrpSpPr>
          <p:nvPr/>
        </p:nvGrpSpPr>
        <p:grpSpPr bwMode="auto">
          <a:xfrm>
            <a:off x="3404938" y="3798975"/>
            <a:ext cx="5179049" cy="526260"/>
            <a:chOff x="2948608" y="3573463"/>
            <a:chExt cx="4647580" cy="526259"/>
          </a:xfrm>
          <a:solidFill>
            <a:srgbClr val="00B0F0"/>
          </a:solidFill>
        </p:grpSpPr>
        <p:cxnSp>
          <p:nvCxnSpPr>
            <p:cNvPr id="93192" name="Straight Arrow Connector 2">
              <a:extLst>
                <a:ext uri="{FF2B5EF4-FFF2-40B4-BE49-F238E27FC236}">
                  <a16:creationId xmlns:a16="http://schemas.microsoft.com/office/drawing/2014/main" id="{2D381532-8DD8-BD46-AD82-95E158E02FB1}"/>
                </a:ext>
              </a:extLst>
            </p:cNvPr>
            <p:cNvCxnSpPr>
              <a:cxnSpLocks/>
            </p:cNvCxnSpPr>
            <p:nvPr/>
          </p:nvCxnSpPr>
          <p:spPr bwMode="auto">
            <a:xfrm flipH="1">
              <a:off x="2948608" y="3774281"/>
              <a:ext cx="2702892" cy="325441"/>
            </a:xfrm>
            <a:prstGeom prst="straightConnector1">
              <a:avLst/>
            </a:prstGeom>
            <a:grpFill/>
            <a:ln w="9525" algn="ctr">
              <a:solidFill>
                <a:schemeClr val="tx1"/>
              </a:solidFill>
              <a:round/>
              <a:headEnd/>
              <a:tailEnd type="triangle" w="med" len="med"/>
            </a:ln>
          </p:spPr>
        </p:cxnSp>
        <p:sp>
          <p:nvSpPr>
            <p:cNvPr id="93193" name="AutoShape 5">
              <a:extLst>
                <a:ext uri="{FF2B5EF4-FFF2-40B4-BE49-F238E27FC236}">
                  <a16:creationId xmlns:a16="http://schemas.microsoft.com/office/drawing/2014/main" id="{A65E3159-6FF1-984C-B7CF-F1E77EF8B0AC}"/>
                </a:ext>
              </a:extLst>
            </p:cNvPr>
            <p:cNvSpPr>
              <a:spLocks/>
            </p:cNvSpPr>
            <p:nvPr/>
          </p:nvSpPr>
          <p:spPr bwMode="auto">
            <a:xfrm>
              <a:off x="5651500" y="3573463"/>
              <a:ext cx="1944688" cy="401637"/>
            </a:xfrm>
            <a:prstGeom prst="borderCallout1">
              <a:avLst>
                <a:gd name="adj1" fmla="val 28458"/>
                <a:gd name="adj2" fmla="val -3917"/>
                <a:gd name="adj3" fmla="val 45107"/>
                <a:gd name="adj4" fmla="val -140571"/>
              </a:avLst>
            </a:prstGeom>
            <a:grpFill/>
            <a:ln w="9525">
              <a:solidFill>
                <a:schemeClr val="tx1"/>
              </a:solidFill>
              <a:miter lim="800000"/>
              <a:headEnd/>
              <a:tailEnd type="triangle" w="med" len="med"/>
            </a:ln>
          </p:spPr>
          <p:txBody>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not normalized</a:t>
              </a:r>
              <a:endParaRPr kumimoji="0" lang="en-AU"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Tree>
    <p:extLst>
      <p:ext uri="{BB962C8B-B14F-4D97-AF65-F5344CB8AC3E}">
        <p14:creationId xmlns:p14="http://schemas.microsoft.com/office/powerpoint/2010/main" val="1676929798"/>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558CF567-BE34-7946-ACAC-6676704A6787}"/>
              </a:ext>
            </a:extLst>
          </p:cNvPr>
          <p:cNvSpPr>
            <a:spLocks noGrp="1" noChangeArrowheads="1"/>
          </p:cNvSpPr>
          <p:nvPr>
            <p:ph type="title"/>
          </p:nvPr>
        </p:nvSpPr>
        <p:spPr>
          <a:xfrm>
            <a:off x="945951" y="746769"/>
            <a:ext cx="5835849" cy="635883"/>
          </a:xfrm>
        </p:spPr>
        <p:txBody>
          <a:bodyPr/>
          <a:lstStyle/>
          <a:p>
            <a:pPr eaLnBrk="1" hangingPunct="1"/>
            <a:r>
              <a:rPr lang="en-US" altLang="en-US" dirty="0">
                <a:ea typeface="ＭＳ Ｐゴシック" panose="020B0600070205080204" pitchFamily="34" charset="-128"/>
              </a:rPr>
              <a:t>Scientific Notation (why?)</a:t>
            </a:r>
            <a:endParaRPr lang="en-AU" altLang="en-US" dirty="0">
              <a:ea typeface="ＭＳ Ｐゴシック" panose="020B0600070205080204" pitchFamily="34" charset="-128"/>
            </a:endParaRPr>
          </a:p>
        </p:txBody>
      </p:sp>
      <mc:AlternateContent xmlns:mc="http://schemas.openxmlformats.org/markup-compatibility/2006" xmlns:a14="http://schemas.microsoft.com/office/drawing/2010/main">
        <mc:Choice Requires="a14">
          <p:sp>
            <p:nvSpPr>
              <p:cNvPr id="93187" name="Rectangle 3">
                <a:extLst>
                  <a:ext uri="{FF2B5EF4-FFF2-40B4-BE49-F238E27FC236}">
                    <a16:creationId xmlns:a16="http://schemas.microsoft.com/office/drawing/2014/main" id="{BE84D51A-97A3-A04A-87F3-2A2C675B8446}"/>
                  </a:ext>
                </a:extLst>
              </p:cNvPr>
              <p:cNvSpPr>
                <a:spLocks noGrp="1" noChangeArrowheads="1"/>
              </p:cNvSpPr>
              <p:nvPr>
                <p:ph type="body" idx="1"/>
              </p:nvPr>
            </p:nvSpPr>
            <p:spPr>
              <a:xfrm>
                <a:off x="2111587" y="1576070"/>
                <a:ext cx="8270875" cy="4975063"/>
              </a:xfrm>
            </p:spPr>
            <p:txBody>
              <a:bodyPr>
                <a:normAutofit/>
              </a:bodyPr>
              <a:lstStyle/>
              <a:p>
                <a:pPr marL="0" indent="0">
                  <a:buNone/>
                </a:pPr>
                <a:r>
                  <a:rPr lang="en-US" altLang="en-US" sz="3100" b="1" dirty="0">
                    <a:solidFill>
                      <a:schemeClr val="tx1"/>
                    </a:solidFill>
                    <a:ea typeface="ＭＳ Ｐゴシック" panose="020B0600070205080204" pitchFamily="34" charset="-128"/>
                  </a:rPr>
                  <a:t>Because calculates easier:</a:t>
                </a:r>
              </a:p>
              <a:p>
                <a:pPr marL="0" indent="0">
                  <a:buNone/>
                </a:pPr>
                <a:endParaRPr lang="en-US" altLang="en-US" sz="3100" dirty="0">
                  <a:ea typeface="ＭＳ Ｐゴシック" panose="020B0600070205080204" pitchFamily="34" charset="-128"/>
                </a:endParaRPr>
              </a:p>
              <a:p>
                <a:pPr marL="457200" lvl="1" indent="0">
                  <a:buNone/>
                </a:pPr>
                <a14:m>
                  <m:oMathPara xmlns:m="http://schemas.openxmlformats.org/officeDocument/2006/math">
                    <m:oMathParaPr>
                      <m:jc m:val="left"/>
                    </m:oMathParaPr>
                    <m:oMath>
                      <m:f>
                        <m:fPr>
                          <m:ctrlPr>
                            <a:rPr lang="en-US" altLang="en-US" b="0" i="1" smtClean="0">
                              <a:solidFill>
                                <a:schemeClr val="tx1"/>
                              </a:solidFill>
                              <a:latin typeface="Cambria Math" panose="02040503050406030204" pitchFamily="18" charset="0"/>
                              <a:ea typeface="ＭＳ Ｐゴシック" panose="020B0600070205080204" pitchFamily="34" charset="-128"/>
                            </a:rPr>
                          </m:ctrlPr>
                        </m:fPr>
                        <m:num>
                          <m:sSub>
                            <m:sSubPr>
                              <m:ctrlPr>
                                <a:rPr lang="en-US" altLang="en-US" b="0" i="1" smtClean="0">
                                  <a:solidFill>
                                    <a:schemeClr val="tx1"/>
                                  </a:solidFill>
                                  <a:latin typeface="Cambria Math" panose="02040503050406030204" pitchFamily="18" charset="0"/>
                                  <a:ea typeface="ＭＳ Ｐゴシック" panose="020B0600070205080204" pitchFamily="34" charset="-128"/>
                                </a:rPr>
                              </m:ctrlPr>
                            </m:sSubPr>
                            <m:e>
                              <m:r>
                                <a:rPr lang="en-US" altLang="en-US" b="0" i="1" smtClean="0">
                                  <a:solidFill>
                                    <a:schemeClr val="tx1"/>
                                  </a:solidFill>
                                  <a:latin typeface="Cambria Math" panose="02040503050406030204" pitchFamily="18" charset="0"/>
                                  <a:ea typeface="ＭＳ Ｐゴシック" panose="020B0600070205080204" pitchFamily="34" charset="-128"/>
                                </a:rPr>
                                <m:t>3,400</m:t>
                              </m:r>
                            </m:e>
                            <m:sub>
                              <m:r>
                                <a:rPr lang="en-US" altLang="en-US" b="0" i="1" smtClean="0">
                                  <a:solidFill>
                                    <a:schemeClr val="tx1"/>
                                  </a:solidFill>
                                  <a:latin typeface="Cambria Math" panose="02040503050406030204" pitchFamily="18" charset="0"/>
                                  <a:ea typeface="ＭＳ Ｐゴシック" panose="020B0600070205080204" pitchFamily="34" charset="-128"/>
                                </a:rPr>
                                <m:t>10</m:t>
                              </m:r>
                            </m:sub>
                          </m:sSub>
                          <m:r>
                            <a:rPr lang="en-US" altLang="en-US" b="0" i="1" smtClean="0">
                              <a:solidFill>
                                <a:schemeClr val="tx1"/>
                              </a:solidFill>
                              <a:latin typeface="Cambria Math" panose="02040503050406030204" pitchFamily="18" charset="0"/>
                              <a:ea typeface="ＭＳ Ｐゴシック" panose="020B0600070205080204" pitchFamily="34" charset="-128"/>
                            </a:rPr>
                            <m:t>𝑥</m:t>
                          </m:r>
                          <m:r>
                            <a:rPr lang="en-US" altLang="en-US" b="0" i="1" smtClean="0">
                              <a:solidFill>
                                <a:schemeClr val="tx1"/>
                              </a:solidFill>
                              <a:latin typeface="Cambria Math" panose="02040503050406030204" pitchFamily="18" charset="0"/>
                              <a:ea typeface="ＭＳ Ｐゴシック" panose="020B0600070205080204" pitchFamily="34" charset="-128"/>
                            </a:rPr>
                            <m:t> </m:t>
                          </m:r>
                          <m:sSub>
                            <m:sSubPr>
                              <m:ctrlPr>
                                <a:rPr lang="en-US" altLang="en-US" b="0" i="1" smtClean="0">
                                  <a:solidFill>
                                    <a:schemeClr val="tx1"/>
                                  </a:solidFill>
                                  <a:latin typeface="Cambria Math" panose="02040503050406030204" pitchFamily="18" charset="0"/>
                                  <a:ea typeface="ＭＳ Ｐゴシック" panose="020B0600070205080204" pitchFamily="34" charset="-128"/>
                                </a:rPr>
                              </m:ctrlPr>
                            </m:sSubPr>
                            <m:e>
                              <m:r>
                                <a:rPr lang="en-US" altLang="en-US" b="0" i="1" smtClean="0">
                                  <a:solidFill>
                                    <a:schemeClr val="tx1"/>
                                  </a:solidFill>
                                  <a:latin typeface="Cambria Math" panose="02040503050406030204" pitchFamily="18" charset="0"/>
                                  <a:ea typeface="ＭＳ Ｐゴシック" panose="020B0600070205080204" pitchFamily="34" charset="-128"/>
                                </a:rPr>
                                <m:t>0.006</m:t>
                              </m:r>
                            </m:e>
                            <m:sub>
                              <m:r>
                                <a:rPr lang="en-US" altLang="en-US" b="0" i="1" smtClean="0">
                                  <a:solidFill>
                                    <a:schemeClr val="tx1"/>
                                  </a:solidFill>
                                  <a:latin typeface="Cambria Math" panose="02040503050406030204" pitchFamily="18" charset="0"/>
                                  <a:ea typeface="ＭＳ Ｐゴシック" panose="020B0600070205080204" pitchFamily="34" charset="-128"/>
                                </a:rPr>
                                <m:t>10</m:t>
                              </m:r>
                            </m:sub>
                          </m:sSub>
                        </m:num>
                        <m:den>
                          <m:sSub>
                            <m:sSubPr>
                              <m:ctrlPr>
                                <a:rPr lang="en-US" altLang="en-US" b="0" i="1" smtClean="0">
                                  <a:solidFill>
                                    <a:schemeClr val="tx1"/>
                                  </a:solidFill>
                                  <a:latin typeface="Cambria Math" panose="02040503050406030204" pitchFamily="18" charset="0"/>
                                  <a:ea typeface="ＭＳ Ｐゴシック" panose="020B0600070205080204" pitchFamily="34" charset="-128"/>
                                </a:rPr>
                              </m:ctrlPr>
                            </m:sSubPr>
                            <m:e>
                              <m:r>
                                <a:rPr lang="en-US" altLang="en-US" b="0" i="1" smtClean="0">
                                  <a:solidFill>
                                    <a:schemeClr val="tx1"/>
                                  </a:solidFill>
                                  <a:latin typeface="Cambria Math" panose="02040503050406030204" pitchFamily="18" charset="0"/>
                                  <a:ea typeface="ＭＳ Ｐゴシック" panose="020B0600070205080204" pitchFamily="34" charset="-128"/>
                                </a:rPr>
                                <m:t>0.004</m:t>
                              </m:r>
                            </m:e>
                            <m:sub>
                              <m:r>
                                <a:rPr lang="en-US" altLang="en-US" b="0" i="1" smtClean="0">
                                  <a:solidFill>
                                    <a:schemeClr val="tx1"/>
                                  </a:solidFill>
                                  <a:latin typeface="Cambria Math" panose="02040503050406030204" pitchFamily="18" charset="0"/>
                                  <a:ea typeface="ＭＳ Ｐゴシック" panose="020B0600070205080204" pitchFamily="34" charset="-128"/>
                                </a:rPr>
                                <m:t>10</m:t>
                              </m:r>
                            </m:sub>
                          </m:sSub>
                          <m:r>
                            <a:rPr lang="en-US" altLang="en-US" b="0" i="1" smtClean="0">
                              <a:solidFill>
                                <a:schemeClr val="tx1"/>
                              </a:solidFill>
                              <a:latin typeface="Cambria Math" panose="02040503050406030204" pitchFamily="18" charset="0"/>
                              <a:ea typeface="ＭＳ Ｐゴシック" panose="020B0600070205080204" pitchFamily="34" charset="-128"/>
                            </a:rPr>
                            <m:t>𝑥</m:t>
                          </m:r>
                          <m:sSub>
                            <m:sSubPr>
                              <m:ctrlPr>
                                <a:rPr lang="en-US" altLang="en-US" b="0" i="1" smtClean="0">
                                  <a:solidFill>
                                    <a:schemeClr val="tx1"/>
                                  </a:solidFill>
                                  <a:latin typeface="Cambria Math" panose="02040503050406030204" pitchFamily="18" charset="0"/>
                                  <a:ea typeface="ＭＳ Ｐゴシック" panose="020B0600070205080204" pitchFamily="34" charset="-128"/>
                                </a:rPr>
                              </m:ctrlPr>
                            </m:sSubPr>
                            <m:e>
                              <m:r>
                                <a:rPr lang="en-US" altLang="en-US" b="0" i="1" smtClean="0">
                                  <a:solidFill>
                                    <a:schemeClr val="tx1"/>
                                  </a:solidFill>
                                  <a:latin typeface="Cambria Math" panose="02040503050406030204" pitchFamily="18" charset="0"/>
                                  <a:ea typeface="ＭＳ Ｐゴシック" panose="020B0600070205080204" pitchFamily="34" charset="-128"/>
                                </a:rPr>
                                <m:t>0.017</m:t>
                              </m:r>
                            </m:e>
                            <m:sub>
                              <m:r>
                                <a:rPr lang="en-US" altLang="en-US" b="0" i="1" smtClean="0">
                                  <a:solidFill>
                                    <a:schemeClr val="tx1"/>
                                  </a:solidFill>
                                  <a:latin typeface="Cambria Math" panose="02040503050406030204" pitchFamily="18" charset="0"/>
                                  <a:ea typeface="ＭＳ Ｐゴシック" panose="020B0600070205080204" pitchFamily="34" charset="-128"/>
                                </a:rPr>
                                <m:t>10</m:t>
                              </m:r>
                            </m:sub>
                          </m:sSub>
                        </m:den>
                      </m:f>
                      <m:r>
                        <a:rPr lang="en-US" altLang="en-US" b="0" i="1" smtClean="0">
                          <a:solidFill>
                            <a:schemeClr val="tx1"/>
                          </a:solidFill>
                          <a:latin typeface="Cambria Math" panose="02040503050406030204" pitchFamily="18" charset="0"/>
                          <a:ea typeface="ＭＳ Ｐゴシック" panose="020B0600070205080204" pitchFamily="34" charset="-128"/>
                        </a:rPr>
                        <m:t>⇒ </m:t>
                      </m:r>
                      <m:f>
                        <m:fPr>
                          <m:ctrlPr>
                            <a:rPr lang="en-US" altLang="en-US" b="0" i="1" smtClean="0">
                              <a:solidFill>
                                <a:schemeClr val="tx1"/>
                              </a:solidFill>
                              <a:latin typeface="Cambria Math" panose="02040503050406030204" pitchFamily="18" charset="0"/>
                              <a:ea typeface="ＭＳ Ｐゴシック" panose="020B0600070205080204" pitchFamily="34" charset="-128"/>
                            </a:rPr>
                          </m:ctrlPr>
                        </m:fPr>
                        <m:num>
                          <m:r>
                            <a:rPr lang="en-US" altLang="en-US" b="0" i="1" smtClean="0">
                              <a:solidFill>
                                <a:schemeClr val="tx1"/>
                              </a:solidFill>
                              <a:latin typeface="Cambria Math" panose="02040503050406030204" pitchFamily="18" charset="0"/>
                              <a:ea typeface="ＭＳ Ｐゴシック" panose="020B0600070205080204" pitchFamily="34" charset="-128"/>
                            </a:rPr>
                            <m:t>(</m:t>
                          </m:r>
                          <m:sSub>
                            <m:sSubPr>
                              <m:ctrlPr>
                                <a:rPr lang="en-US" altLang="en-US" b="0" i="1" smtClean="0">
                                  <a:solidFill>
                                    <a:schemeClr val="tx1"/>
                                  </a:solidFill>
                                  <a:latin typeface="Cambria Math" panose="02040503050406030204" pitchFamily="18" charset="0"/>
                                  <a:ea typeface="ＭＳ Ｐゴシック" panose="020B0600070205080204" pitchFamily="34" charset="-128"/>
                                </a:rPr>
                              </m:ctrlPr>
                            </m:sSubPr>
                            <m:e>
                              <m:r>
                                <a:rPr lang="en-US" altLang="en-US" b="0" i="1" smtClean="0">
                                  <a:solidFill>
                                    <a:schemeClr val="tx1"/>
                                  </a:solidFill>
                                  <a:latin typeface="Cambria Math" panose="02040503050406030204" pitchFamily="18" charset="0"/>
                                  <a:ea typeface="ＭＳ Ｐゴシック" panose="020B0600070205080204" pitchFamily="34" charset="-128"/>
                                </a:rPr>
                                <m:t>3.4</m:t>
                              </m:r>
                            </m:e>
                            <m:sub>
                              <m:r>
                                <a:rPr lang="en-US" altLang="en-US" b="0" i="1" smtClean="0">
                                  <a:solidFill>
                                    <a:schemeClr val="tx1"/>
                                  </a:solidFill>
                                  <a:latin typeface="Cambria Math" panose="02040503050406030204" pitchFamily="18" charset="0"/>
                                  <a:ea typeface="ＭＳ Ｐゴシック" panose="020B0600070205080204" pitchFamily="34" charset="-128"/>
                                </a:rPr>
                                <m:t>10</m:t>
                              </m:r>
                            </m:sub>
                          </m:sSub>
                          <m:r>
                            <a:rPr lang="en-US" altLang="en-US" b="0" i="1" smtClean="0">
                              <a:solidFill>
                                <a:schemeClr val="tx1"/>
                              </a:solidFill>
                              <a:latin typeface="Cambria Math" panose="02040503050406030204" pitchFamily="18" charset="0"/>
                              <a:ea typeface="ＭＳ Ｐゴシック" panose="020B0600070205080204" pitchFamily="34" charset="-128"/>
                            </a:rPr>
                            <m:t>𝑥</m:t>
                          </m:r>
                          <m:sSubSup>
                            <m:sSubSupPr>
                              <m:ctrlPr>
                                <a:rPr lang="en-US" altLang="en-US" b="0" i="1" smtClean="0">
                                  <a:solidFill>
                                    <a:schemeClr val="tx1"/>
                                  </a:solidFill>
                                  <a:latin typeface="Cambria Math" panose="02040503050406030204" pitchFamily="18" charset="0"/>
                                  <a:ea typeface="ＭＳ Ｐゴシック" panose="020B0600070205080204" pitchFamily="34" charset="-128"/>
                                </a:rPr>
                              </m:ctrlPr>
                            </m:sSubSupPr>
                            <m:e>
                              <m:r>
                                <a:rPr lang="en-US" altLang="en-US" b="0" i="1" smtClean="0">
                                  <a:solidFill>
                                    <a:schemeClr val="tx1"/>
                                  </a:solidFill>
                                  <a:latin typeface="Cambria Math" panose="02040503050406030204" pitchFamily="18" charset="0"/>
                                  <a:ea typeface="ＭＳ Ｐゴシック" panose="020B0600070205080204" pitchFamily="34" charset="-128"/>
                                </a:rPr>
                                <m:t>10</m:t>
                              </m:r>
                            </m:e>
                            <m:sub>
                              <m:r>
                                <a:rPr lang="en-US" altLang="en-US" b="0" i="1" smtClean="0">
                                  <a:solidFill>
                                    <a:schemeClr val="tx1"/>
                                  </a:solidFill>
                                  <a:latin typeface="Cambria Math" panose="02040503050406030204" pitchFamily="18" charset="0"/>
                                  <a:ea typeface="ＭＳ Ｐゴシック" panose="020B0600070205080204" pitchFamily="34" charset="-128"/>
                                </a:rPr>
                                <m:t>10</m:t>
                              </m:r>
                            </m:sub>
                            <m:sup>
                              <m:r>
                                <a:rPr lang="en-US" altLang="en-US" b="0" i="1" smtClean="0">
                                  <a:solidFill>
                                    <a:schemeClr val="tx1"/>
                                  </a:solidFill>
                                  <a:latin typeface="Cambria Math" panose="02040503050406030204" pitchFamily="18" charset="0"/>
                                  <a:ea typeface="ＭＳ Ｐゴシック" panose="020B0600070205080204" pitchFamily="34" charset="-128"/>
                                </a:rPr>
                                <m:t>3</m:t>
                              </m:r>
                            </m:sup>
                          </m:sSubSup>
                          <m:r>
                            <a:rPr lang="en-US" altLang="en-US" b="0" i="1" smtClean="0">
                              <a:solidFill>
                                <a:schemeClr val="tx1"/>
                              </a:solidFill>
                              <a:latin typeface="Cambria Math" panose="02040503050406030204" pitchFamily="18" charset="0"/>
                              <a:ea typeface="ＭＳ Ｐゴシック" panose="020B0600070205080204" pitchFamily="34" charset="-128"/>
                            </a:rPr>
                            <m:t>) </m:t>
                          </m:r>
                          <m:r>
                            <a:rPr lang="en-US" altLang="en-US" b="0" i="1" smtClean="0">
                              <a:solidFill>
                                <a:schemeClr val="tx1"/>
                              </a:solidFill>
                              <a:latin typeface="Cambria Math" panose="02040503050406030204" pitchFamily="18" charset="0"/>
                              <a:ea typeface="ＭＳ Ｐゴシック" panose="020B0600070205080204" pitchFamily="34" charset="-128"/>
                            </a:rPr>
                            <m:t>𝑥</m:t>
                          </m:r>
                          <m:r>
                            <a:rPr lang="en-US" altLang="en-US" b="0" i="1" smtClean="0">
                              <a:solidFill>
                                <a:schemeClr val="tx1"/>
                              </a:solidFill>
                              <a:latin typeface="Cambria Math" panose="02040503050406030204" pitchFamily="18" charset="0"/>
                              <a:ea typeface="ＭＳ Ｐゴシック" panose="020B0600070205080204" pitchFamily="34" charset="-128"/>
                            </a:rPr>
                            <m:t> </m:t>
                          </m:r>
                          <m:sSub>
                            <m:sSubPr>
                              <m:ctrlPr>
                                <a:rPr lang="en-US" altLang="en-US" b="0" i="1" smtClean="0">
                                  <a:solidFill>
                                    <a:schemeClr val="tx1"/>
                                  </a:solidFill>
                                  <a:latin typeface="Cambria Math" panose="02040503050406030204" pitchFamily="18" charset="0"/>
                                  <a:ea typeface="ＭＳ Ｐゴシック" panose="020B0600070205080204" pitchFamily="34" charset="-128"/>
                                </a:rPr>
                              </m:ctrlPr>
                            </m:sSubPr>
                            <m:e>
                              <m:r>
                                <a:rPr lang="en-US" altLang="en-US" b="0" i="1" smtClean="0">
                                  <a:solidFill>
                                    <a:schemeClr val="tx1"/>
                                  </a:solidFill>
                                  <a:latin typeface="Cambria Math" panose="02040503050406030204" pitchFamily="18" charset="0"/>
                                  <a:ea typeface="ＭＳ Ｐゴシック" panose="020B0600070205080204" pitchFamily="34" charset="-128"/>
                                </a:rPr>
                                <m:t>(6</m:t>
                              </m:r>
                            </m:e>
                            <m:sub>
                              <m:r>
                                <a:rPr lang="en-US" altLang="en-US" b="0" i="1" smtClean="0">
                                  <a:solidFill>
                                    <a:schemeClr val="tx1"/>
                                  </a:solidFill>
                                  <a:latin typeface="Cambria Math" panose="02040503050406030204" pitchFamily="18" charset="0"/>
                                  <a:ea typeface="ＭＳ Ｐゴシック" panose="020B0600070205080204" pitchFamily="34" charset="-128"/>
                                </a:rPr>
                                <m:t>10</m:t>
                              </m:r>
                            </m:sub>
                          </m:sSub>
                          <m:r>
                            <a:rPr lang="en-US" altLang="en-US" b="0" i="1" smtClean="0">
                              <a:solidFill>
                                <a:schemeClr val="tx1"/>
                              </a:solidFill>
                              <a:latin typeface="Cambria Math" panose="02040503050406030204" pitchFamily="18" charset="0"/>
                              <a:ea typeface="ＭＳ Ｐゴシック" panose="020B0600070205080204" pitchFamily="34" charset="-128"/>
                            </a:rPr>
                            <m:t>𝑥</m:t>
                          </m:r>
                          <m:sSubSup>
                            <m:sSubSupPr>
                              <m:ctrlPr>
                                <a:rPr lang="en-US" altLang="en-US" b="0" i="1" smtClean="0">
                                  <a:solidFill>
                                    <a:schemeClr val="tx1"/>
                                  </a:solidFill>
                                  <a:latin typeface="Cambria Math" panose="02040503050406030204" pitchFamily="18" charset="0"/>
                                  <a:ea typeface="ＭＳ Ｐゴシック" panose="020B0600070205080204" pitchFamily="34" charset="-128"/>
                                </a:rPr>
                              </m:ctrlPr>
                            </m:sSubSupPr>
                            <m:e>
                              <m:r>
                                <a:rPr lang="en-US" altLang="en-US" b="0" i="1" smtClean="0">
                                  <a:solidFill>
                                    <a:schemeClr val="tx1"/>
                                  </a:solidFill>
                                  <a:latin typeface="Cambria Math" panose="02040503050406030204" pitchFamily="18" charset="0"/>
                                  <a:ea typeface="ＭＳ Ｐゴシック" panose="020B0600070205080204" pitchFamily="34" charset="-128"/>
                                </a:rPr>
                                <m:t>10</m:t>
                              </m:r>
                            </m:e>
                            <m:sub>
                              <m:r>
                                <a:rPr lang="en-US" altLang="en-US" b="0" i="1" smtClean="0">
                                  <a:solidFill>
                                    <a:schemeClr val="tx1"/>
                                  </a:solidFill>
                                  <a:latin typeface="Cambria Math" panose="02040503050406030204" pitchFamily="18" charset="0"/>
                                  <a:ea typeface="ＭＳ Ｐゴシック" panose="020B0600070205080204" pitchFamily="34" charset="-128"/>
                                </a:rPr>
                                <m:t>10</m:t>
                              </m:r>
                            </m:sub>
                            <m:sup>
                              <m:r>
                                <a:rPr lang="en-US" altLang="en-US" b="0" i="1" smtClean="0">
                                  <a:solidFill>
                                    <a:schemeClr val="tx1"/>
                                  </a:solidFill>
                                  <a:latin typeface="Cambria Math" panose="02040503050406030204" pitchFamily="18" charset="0"/>
                                  <a:ea typeface="ＭＳ Ｐゴシック" panose="020B0600070205080204" pitchFamily="34" charset="-128"/>
                                </a:rPr>
                                <m:t>−3</m:t>
                              </m:r>
                            </m:sup>
                          </m:sSubSup>
                          <m:r>
                            <a:rPr lang="en-US" altLang="en-US" b="0" i="1" smtClean="0">
                              <a:solidFill>
                                <a:schemeClr val="tx1"/>
                              </a:solidFill>
                              <a:latin typeface="Cambria Math" panose="02040503050406030204" pitchFamily="18" charset="0"/>
                              <a:ea typeface="ＭＳ Ｐゴシック" panose="020B0600070205080204" pitchFamily="34" charset="-128"/>
                            </a:rPr>
                            <m:t>) </m:t>
                          </m:r>
                        </m:num>
                        <m:den>
                          <m:d>
                            <m:dPr>
                              <m:ctrlPr>
                                <a:rPr lang="en-US" altLang="en-US" b="0" i="1" smtClean="0">
                                  <a:solidFill>
                                    <a:schemeClr val="tx1"/>
                                  </a:solidFill>
                                  <a:latin typeface="Cambria Math" panose="02040503050406030204" pitchFamily="18" charset="0"/>
                                  <a:ea typeface="ＭＳ Ｐゴシック" panose="020B0600070205080204" pitchFamily="34" charset="-128"/>
                                </a:rPr>
                              </m:ctrlPr>
                            </m:dPr>
                            <m:e>
                              <m:sSub>
                                <m:sSubPr>
                                  <m:ctrlPr>
                                    <a:rPr lang="en-US" altLang="en-US" b="0" i="1" smtClean="0">
                                      <a:solidFill>
                                        <a:schemeClr val="tx1"/>
                                      </a:solidFill>
                                      <a:latin typeface="Cambria Math" panose="02040503050406030204" pitchFamily="18" charset="0"/>
                                      <a:ea typeface="ＭＳ Ｐゴシック" panose="020B0600070205080204" pitchFamily="34" charset="-128"/>
                                    </a:rPr>
                                  </m:ctrlPr>
                                </m:sSubPr>
                                <m:e>
                                  <m:r>
                                    <a:rPr lang="en-US" altLang="en-US" b="0" i="1" smtClean="0">
                                      <a:solidFill>
                                        <a:schemeClr val="tx1"/>
                                      </a:solidFill>
                                      <a:latin typeface="Cambria Math" panose="02040503050406030204" pitchFamily="18" charset="0"/>
                                      <a:ea typeface="ＭＳ Ｐゴシック" panose="020B0600070205080204" pitchFamily="34" charset="-128"/>
                                    </a:rPr>
                                    <m:t>4</m:t>
                                  </m:r>
                                </m:e>
                                <m:sub>
                                  <m:r>
                                    <a:rPr lang="en-US" altLang="en-US" b="0" i="1" smtClean="0">
                                      <a:solidFill>
                                        <a:schemeClr val="tx1"/>
                                      </a:solidFill>
                                      <a:latin typeface="Cambria Math" panose="02040503050406030204" pitchFamily="18" charset="0"/>
                                      <a:ea typeface="ＭＳ Ｐゴシック" panose="020B0600070205080204" pitchFamily="34" charset="-128"/>
                                    </a:rPr>
                                    <m:t>10</m:t>
                                  </m:r>
                                </m:sub>
                              </m:sSub>
                              <m:r>
                                <a:rPr lang="en-US" altLang="en-US" b="0" i="1" smtClean="0">
                                  <a:solidFill>
                                    <a:schemeClr val="tx1"/>
                                  </a:solidFill>
                                  <a:latin typeface="Cambria Math" panose="02040503050406030204" pitchFamily="18" charset="0"/>
                                  <a:ea typeface="ＭＳ Ｐゴシック" panose="020B0600070205080204" pitchFamily="34" charset="-128"/>
                                </a:rPr>
                                <m:t>𝑥</m:t>
                              </m:r>
                              <m:sSubSup>
                                <m:sSubSupPr>
                                  <m:ctrlPr>
                                    <a:rPr lang="en-US" altLang="en-US" b="0" i="1" smtClean="0">
                                      <a:solidFill>
                                        <a:schemeClr val="tx1"/>
                                      </a:solidFill>
                                      <a:latin typeface="Cambria Math" panose="02040503050406030204" pitchFamily="18" charset="0"/>
                                      <a:ea typeface="ＭＳ Ｐゴシック" panose="020B0600070205080204" pitchFamily="34" charset="-128"/>
                                    </a:rPr>
                                  </m:ctrlPr>
                                </m:sSubSupPr>
                                <m:e>
                                  <m:r>
                                    <a:rPr lang="en-US" altLang="en-US" b="0" i="1" smtClean="0">
                                      <a:solidFill>
                                        <a:schemeClr val="tx1"/>
                                      </a:solidFill>
                                      <a:latin typeface="Cambria Math" panose="02040503050406030204" pitchFamily="18" charset="0"/>
                                      <a:ea typeface="ＭＳ Ｐゴシック" panose="020B0600070205080204" pitchFamily="34" charset="-128"/>
                                    </a:rPr>
                                    <m:t>10</m:t>
                                  </m:r>
                                </m:e>
                                <m:sub>
                                  <m:r>
                                    <a:rPr lang="en-US" altLang="en-US" b="0" i="1" smtClean="0">
                                      <a:solidFill>
                                        <a:schemeClr val="tx1"/>
                                      </a:solidFill>
                                      <a:latin typeface="Cambria Math" panose="02040503050406030204" pitchFamily="18" charset="0"/>
                                      <a:ea typeface="ＭＳ Ｐゴシック" panose="020B0600070205080204" pitchFamily="34" charset="-128"/>
                                    </a:rPr>
                                    <m:t>10</m:t>
                                  </m:r>
                                </m:sub>
                                <m:sup>
                                  <m:r>
                                    <a:rPr lang="en-US" altLang="en-US" b="0" i="1" smtClean="0">
                                      <a:solidFill>
                                        <a:schemeClr val="tx1"/>
                                      </a:solidFill>
                                      <a:latin typeface="Cambria Math" panose="02040503050406030204" pitchFamily="18" charset="0"/>
                                      <a:ea typeface="ＭＳ Ｐゴシック" panose="020B0600070205080204" pitchFamily="34" charset="-128"/>
                                    </a:rPr>
                                    <m:t>−3</m:t>
                                  </m:r>
                                </m:sup>
                              </m:sSubSup>
                            </m:e>
                          </m:d>
                          <m:r>
                            <a:rPr lang="en-US" altLang="en-US" b="0" i="1" smtClean="0">
                              <a:solidFill>
                                <a:schemeClr val="tx1"/>
                              </a:solidFill>
                              <a:latin typeface="Cambria Math" panose="02040503050406030204" pitchFamily="18" charset="0"/>
                              <a:ea typeface="ＭＳ Ｐゴシック" panose="020B0600070205080204" pitchFamily="34" charset="-128"/>
                            </a:rPr>
                            <m:t>𝑥</m:t>
                          </m:r>
                          <m:r>
                            <a:rPr lang="en-US" altLang="en-US" b="0" i="1" smtClean="0">
                              <a:solidFill>
                                <a:schemeClr val="tx1"/>
                              </a:solidFill>
                              <a:latin typeface="Cambria Math" panose="02040503050406030204" pitchFamily="18" charset="0"/>
                              <a:ea typeface="ＭＳ Ｐゴシック" panose="020B0600070205080204" pitchFamily="34" charset="-128"/>
                            </a:rPr>
                            <m:t> (</m:t>
                          </m:r>
                          <m:sSub>
                            <m:sSubPr>
                              <m:ctrlPr>
                                <a:rPr lang="en-US" altLang="en-US" b="0" i="1" smtClean="0">
                                  <a:solidFill>
                                    <a:schemeClr val="tx1"/>
                                  </a:solidFill>
                                  <a:latin typeface="Cambria Math" panose="02040503050406030204" pitchFamily="18" charset="0"/>
                                  <a:ea typeface="ＭＳ Ｐゴシック" panose="020B0600070205080204" pitchFamily="34" charset="-128"/>
                                </a:rPr>
                              </m:ctrlPr>
                            </m:sSubPr>
                            <m:e>
                              <m:r>
                                <a:rPr lang="en-US" altLang="en-US" b="0" i="1" smtClean="0">
                                  <a:solidFill>
                                    <a:schemeClr val="tx1"/>
                                  </a:solidFill>
                                  <a:latin typeface="Cambria Math" panose="02040503050406030204" pitchFamily="18" charset="0"/>
                                  <a:ea typeface="ＭＳ Ｐゴシック" panose="020B0600070205080204" pitchFamily="34" charset="-128"/>
                                </a:rPr>
                                <m:t>1.7</m:t>
                              </m:r>
                            </m:e>
                            <m:sub>
                              <m:r>
                                <a:rPr lang="en-US" altLang="en-US" b="0" i="1" smtClean="0">
                                  <a:solidFill>
                                    <a:schemeClr val="tx1"/>
                                  </a:solidFill>
                                  <a:latin typeface="Cambria Math" panose="02040503050406030204" pitchFamily="18" charset="0"/>
                                  <a:ea typeface="ＭＳ Ｐゴシック" panose="020B0600070205080204" pitchFamily="34" charset="-128"/>
                                </a:rPr>
                                <m:t>10</m:t>
                              </m:r>
                            </m:sub>
                          </m:sSub>
                          <m:r>
                            <a:rPr lang="en-US" altLang="en-US" b="0" i="1" smtClean="0">
                              <a:solidFill>
                                <a:schemeClr val="tx1"/>
                              </a:solidFill>
                              <a:latin typeface="Cambria Math" panose="02040503050406030204" pitchFamily="18" charset="0"/>
                              <a:ea typeface="ＭＳ Ｐゴシック" panose="020B0600070205080204" pitchFamily="34" charset="-128"/>
                            </a:rPr>
                            <m:t>𝑥</m:t>
                          </m:r>
                          <m:sSubSup>
                            <m:sSubSupPr>
                              <m:ctrlPr>
                                <a:rPr lang="en-US" altLang="en-US" b="0" i="1" smtClean="0">
                                  <a:solidFill>
                                    <a:schemeClr val="tx1"/>
                                  </a:solidFill>
                                  <a:latin typeface="Cambria Math" panose="02040503050406030204" pitchFamily="18" charset="0"/>
                                  <a:ea typeface="ＭＳ Ｐゴシック" panose="020B0600070205080204" pitchFamily="34" charset="-128"/>
                                </a:rPr>
                              </m:ctrlPr>
                            </m:sSubSupPr>
                            <m:e>
                              <m:r>
                                <a:rPr lang="en-US" altLang="en-US" b="0" i="1" smtClean="0">
                                  <a:solidFill>
                                    <a:schemeClr val="tx1"/>
                                  </a:solidFill>
                                  <a:latin typeface="Cambria Math" panose="02040503050406030204" pitchFamily="18" charset="0"/>
                                  <a:ea typeface="ＭＳ Ｐゴシック" panose="020B0600070205080204" pitchFamily="34" charset="-128"/>
                                </a:rPr>
                                <m:t>10</m:t>
                              </m:r>
                            </m:e>
                            <m:sub>
                              <m:r>
                                <a:rPr lang="en-US" altLang="en-US" b="0" i="1" smtClean="0">
                                  <a:solidFill>
                                    <a:schemeClr val="tx1"/>
                                  </a:solidFill>
                                  <a:latin typeface="Cambria Math" panose="02040503050406030204" pitchFamily="18" charset="0"/>
                                  <a:ea typeface="ＭＳ Ｐゴシック" panose="020B0600070205080204" pitchFamily="34" charset="-128"/>
                                </a:rPr>
                                <m:t>10</m:t>
                              </m:r>
                            </m:sub>
                            <m:sup>
                              <m:r>
                                <a:rPr lang="en-US" altLang="en-US" b="0" i="1" smtClean="0">
                                  <a:solidFill>
                                    <a:schemeClr val="tx1"/>
                                  </a:solidFill>
                                  <a:latin typeface="Cambria Math" panose="02040503050406030204" pitchFamily="18" charset="0"/>
                                  <a:ea typeface="ＭＳ Ｐゴシック" panose="020B0600070205080204" pitchFamily="34" charset="-128"/>
                                </a:rPr>
                                <m:t>−2</m:t>
                              </m:r>
                            </m:sup>
                          </m:sSubSup>
                          <m:r>
                            <a:rPr lang="en-US" altLang="en-US" b="0" i="1" smtClean="0">
                              <a:solidFill>
                                <a:schemeClr val="tx1"/>
                              </a:solidFill>
                              <a:latin typeface="Cambria Math" panose="02040503050406030204" pitchFamily="18" charset="0"/>
                              <a:ea typeface="ＭＳ Ｐゴシック" panose="020B0600070205080204" pitchFamily="34" charset="-128"/>
                            </a:rPr>
                            <m:t>)</m:t>
                          </m:r>
                        </m:den>
                      </m:f>
                    </m:oMath>
                  </m:oMathPara>
                </a14:m>
                <a:endParaRPr lang="en-US" altLang="en-US" dirty="0">
                  <a:solidFill>
                    <a:schemeClr val="tx1"/>
                  </a:solidFill>
                  <a:ea typeface="ＭＳ Ｐゴシック" panose="020B0600070205080204" pitchFamily="34" charset="-128"/>
                </a:endParaRPr>
              </a:p>
              <a:p>
                <a:pPr marL="457200" lvl="1" indent="0">
                  <a:buNone/>
                </a:pPr>
                <a:endParaRPr lang="en-US" altLang="en-US" dirty="0">
                  <a:solidFill>
                    <a:schemeClr val="tx1"/>
                  </a:solidFill>
                  <a:ea typeface="ＭＳ Ｐゴシック" panose="020B0600070205080204" pitchFamily="34" charset="-128"/>
                </a:endParaRPr>
              </a:p>
              <a:p>
                <a:pPr marL="457200" lvl="1" indent="0">
                  <a:buNone/>
                </a:pPr>
                <a14:m>
                  <m:oMath xmlns:m="http://schemas.openxmlformats.org/officeDocument/2006/math">
                    <m:f>
                      <m:fPr>
                        <m:ctrlPr>
                          <a:rPr lang="en-US" altLang="en-US" sz="3600" i="1">
                            <a:solidFill>
                              <a:schemeClr val="tx1"/>
                            </a:solidFill>
                            <a:latin typeface="Cambria Math" panose="02040503050406030204" pitchFamily="18" charset="0"/>
                            <a:ea typeface="ＭＳ Ｐゴシック" panose="020B0600070205080204" pitchFamily="34" charset="-128"/>
                          </a:rPr>
                        </m:ctrlPr>
                      </m:fPr>
                      <m:num>
                        <m:sSup>
                          <m:sSupPr>
                            <m:ctrlPr>
                              <a:rPr lang="en-US" altLang="en-US" sz="3600" i="1">
                                <a:solidFill>
                                  <a:schemeClr val="tx1"/>
                                </a:solidFill>
                                <a:latin typeface="Cambria Math" panose="02040503050406030204" pitchFamily="18" charset="0"/>
                                <a:ea typeface="ＭＳ Ｐゴシック" panose="020B0600070205080204" pitchFamily="34" charset="-128"/>
                              </a:rPr>
                            </m:ctrlPr>
                          </m:sSupPr>
                          <m:e>
                            <m:r>
                              <a:rPr lang="en-US" altLang="en-US" sz="3600" i="1">
                                <a:solidFill>
                                  <a:schemeClr val="tx1"/>
                                </a:solidFill>
                                <a:latin typeface="Cambria Math" panose="02040503050406030204" pitchFamily="18" charset="0"/>
                                <a:ea typeface="ＭＳ Ｐゴシック" panose="020B0600070205080204" pitchFamily="34" charset="-128"/>
                              </a:rPr>
                              <m:t>(</m:t>
                            </m:r>
                            <m:sSub>
                              <m:sSubPr>
                                <m:ctrlPr>
                                  <a:rPr lang="en-US" altLang="en-US" sz="3600" i="1">
                                    <a:solidFill>
                                      <a:schemeClr val="tx1"/>
                                    </a:solidFill>
                                    <a:latin typeface="Cambria Math" panose="02040503050406030204" pitchFamily="18" charset="0"/>
                                    <a:ea typeface="ＭＳ Ｐゴシック" panose="020B0600070205080204" pitchFamily="34" charset="-128"/>
                                  </a:rPr>
                                </m:ctrlPr>
                              </m:sSubPr>
                              <m:e>
                                <m:r>
                                  <a:rPr lang="en-US" altLang="en-US" sz="3600" i="1">
                                    <a:solidFill>
                                      <a:schemeClr val="tx1"/>
                                    </a:solidFill>
                                    <a:latin typeface="Cambria Math" panose="02040503050406030204" pitchFamily="18" charset="0"/>
                                    <a:ea typeface="ＭＳ Ｐゴシック" panose="020B0600070205080204" pitchFamily="34" charset="-128"/>
                                  </a:rPr>
                                  <m:t>3.4</m:t>
                                </m:r>
                              </m:e>
                              <m:sub>
                                <m:r>
                                  <a:rPr lang="en-US" altLang="en-US" sz="3600" i="1">
                                    <a:solidFill>
                                      <a:schemeClr val="tx1"/>
                                    </a:solidFill>
                                    <a:latin typeface="Cambria Math" panose="02040503050406030204" pitchFamily="18" charset="0"/>
                                    <a:ea typeface="ＭＳ Ｐゴシック" panose="020B0600070205080204" pitchFamily="34" charset="-128"/>
                                  </a:rPr>
                                  <m:t>10</m:t>
                                </m:r>
                              </m:sub>
                            </m:sSub>
                            <m:r>
                              <a:rPr lang="en-US" altLang="en-US" sz="3600" i="1">
                                <a:solidFill>
                                  <a:schemeClr val="tx1"/>
                                </a:solidFill>
                                <a:latin typeface="Cambria Math" panose="02040503050406030204" pitchFamily="18" charset="0"/>
                                <a:ea typeface="ＭＳ Ｐゴシック" panose="020B0600070205080204" pitchFamily="34" charset="-128"/>
                              </a:rPr>
                              <m:t>𝑥</m:t>
                            </m:r>
                            <m:sSub>
                              <m:sSubPr>
                                <m:ctrlPr>
                                  <a:rPr lang="en-US" altLang="en-US" sz="3600" i="1">
                                    <a:solidFill>
                                      <a:schemeClr val="tx1"/>
                                    </a:solidFill>
                                    <a:latin typeface="Cambria Math" panose="02040503050406030204" pitchFamily="18" charset="0"/>
                                    <a:ea typeface="ＭＳ Ｐゴシック" panose="020B0600070205080204" pitchFamily="34" charset="-128"/>
                                  </a:rPr>
                                </m:ctrlPr>
                              </m:sSubPr>
                              <m:e>
                                <m:r>
                                  <a:rPr lang="en-US" altLang="en-US" sz="3600" i="1">
                                    <a:solidFill>
                                      <a:schemeClr val="tx1"/>
                                    </a:solidFill>
                                    <a:latin typeface="Cambria Math" panose="02040503050406030204" pitchFamily="18" charset="0"/>
                                    <a:ea typeface="ＭＳ Ｐゴシック" panose="020B0600070205080204" pitchFamily="34" charset="-128"/>
                                  </a:rPr>
                                  <m:t>6</m:t>
                                </m:r>
                              </m:e>
                              <m:sub>
                                <m:r>
                                  <a:rPr lang="en-US" altLang="en-US" sz="3600" i="1">
                                    <a:solidFill>
                                      <a:schemeClr val="tx1"/>
                                    </a:solidFill>
                                    <a:latin typeface="Cambria Math" panose="02040503050406030204" pitchFamily="18" charset="0"/>
                                    <a:ea typeface="ＭＳ Ｐゴシック" panose="020B0600070205080204" pitchFamily="34" charset="-128"/>
                                  </a:rPr>
                                  <m:t>10</m:t>
                                </m:r>
                              </m:sub>
                            </m:sSub>
                            <m:r>
                              <a:rPr lang="en-US" altLang="en-US" sz="3600" i="1">
                                <a:solidFill>
                                  <a:schemeClr val="tx1"/>
                                </a:solidFill>
                                <a:latin typeface="Cambria Math" panose="02040503050406030204" pitchFamily="18" charset="0"/>
                                <a:ea typeface="ＭＳ Ｐゴシック" panose="020B0600070205080204" pitchFamily="34" charset="-128"/>
                              </a:rPr>
                              <m:t>)</m:t>
                            </m:r>
                          </m:e>
                          <m:sup>
                            <m:r>
                              <a:rPr lang="en-US" altLang="en-US" sz="3600" i="1">
                                <a:solidFill>
                                  <a:schemeClr val="tx1"/>
                                </a:solidFill>
                                <a:latin typeface="Cambria Math" panose="02040503050406030204" pitchFamily="18" charset="0"/>
                                <a:ea typeface="ＭＳ Ｐゴシック" panose="020B0600070205080204" pitchFamily="34" charset="-128"/>
                              </a:rPr>
                              <m:t>(3+(−3))</m:t>
                            </m:r>
                          </m:sup>
                        </m:sSup>
                      </m:num>
                      <m:den>
                        <m:sSup>
                          <m:sSupPr>
                            <m:ctrlPr>
                              <a:rPr lang="en-US" altLang="en-US" sz="3600" i="1">
                                <a:solidFill>
                                  <a:schemeClr val="tx1"/>
                                </a:solidFill>
                                <a:latin typeface="Cambria Math" panose="02040503050406030204" pitchFamily="18" charset="0"/>
                                <a:ea typeface="ＭＳ Ｐゴシック" panose="020B0600070205080204" pitchFamily="34" charset="-128"/>
                              </a:rPr>
                            </m:ctrlPr>
                          </m:sSupPr>
                          <m:e>
                            <m:r>
                              <a:rPr lang="en-US" altLang="en-US" sz="3600" i="1">
                                <a:solidFill>
                                  <a:schemeClr val="tx1"/>
                                </a:solidFill>
                                <a:latin typeface="Cambria Math" panose="02040503050406030204" pitchFamily="18" charset="0"/>
                                <a:ea typeface="ＭＳ Ｐゴシック" panose="020B0600070205080204" pitchFamily="34" charset="-128"/>
                              </a:rPr>
                              <m:t>(</m:t>
                            </m:r>
                            <m:sSub>
                              <m:sSubPr>
                                <m:ctrlPr>
                                  <a:rPr lang="en-US" altLang="en-US" sz="3600" i="1">
                                    <a:solidFill>
                                      <a:schemeClr val="tx1"/>
                                    </a:solidFill>
                                    <a:latin typeface="Cambria Math" panose="02040503050406030204" pitchFamily="18" charset="0"/>
                                    <a:ea typeface="ＭＳ Ｐゴシック" panose="020B0600070205080204" pitchFamily="34" charset="-128"/>
                                  </a:rPr>
                                </m:ctrlPr>
                              </m:sSubPr>
                              <m:e>
                                <m:r>
                                  <a:rPr lang="en-US" altLang="en-US" sz="3600" i="1">
                                    <a:solidFill>
                                      <a:schemeClr val="tx1"/>
                                    </a:solidFill>
                                    <a:latin typeface="Cambria Math" panose="02040503050406030204" pitchFamily="18" charset="0"/>
                                    <a:ea typeface="ＭＳ Ｐゴシック" panose="020B0600070205080204" pitchFamily="34" charset="-128"/>
                                  </a:rPr>
                                  <m:t>4</m:t>
                                </m:r>
                              </m:e>
                              <m:sub>
                                <m:r>
                                  <a:rPr lang="en-US" altLang="en-US" sz="3600" i="1">
                                    <a:solidFill>
                                      <a:schemeClr val="tx1"/>
                                    </a:solidFill>
                                    <a:latin typeface="Cambria Math" panose="02040503050406030204" pitchFamily="18" charset="0"/>
                                    <a:ea typeface="ＭＳ Ｐゴシック" panose="020B0600070205080204" pitchFamily="34" charset="-128"/>
                                  </a:rPr>
                                  <m:t>10</m:t>
                                </m:r>
                              </m:sub>
                            </m:sSub>
                            <m:r>
                              <a:rPr lang="en-US" altLang="en-US" sz="3600" i="1">
                                <a:solidFill>
                                  <a:schemeClr val="tx1"/>
                                </a:solidFill>
                                <a:latin typeface="Cambria Math" panose="02040503050406030204" pitchFamily="18" charset="0"/>
                                <a:ea typeface="ＭＳ Ｐゴシック" panose="020B0600070205080204" pitchFamily="34" charset="-128"/>
                              </a:rPr>
                              <m:t>𝑥</m:t>
                            </m:r>
                            <m:sSub>
                              <m:sSubPr>
                                <m:ctrlPr>
                                  <a:rPr lang="en-US" altLang="en-US" sz="3600" i="1">
                                    <a:solidFill>
                                      <a:schemeClr val="tx1"/>
                                    </a:solidFill>
                                    <a:latin typeface="Cambria Math" panose="02040503050406030204" pitchFamily="18" charset="0"/>
                                    <a:ea typeface="ＭＳ Ｐゴシック" panose="020B0600070205080204" pitchFamily="34" charset="-128"/>
                                  </a:rPr>
                                </m:ctrlPr>
                              </m:sSubPr>
                              <m:e>
                                <m:r>
                                  <a:rPr lang="en-US" altLang="en-US" sz="3600" i="1">
                                    <a:solidFill>
                                      <a:schemeClr val="tx1"/>
                                    </a:solidFill>
                                    <a:latin typeface="Cambria Math" panose="02040503050406030204" pitchFamily="18" charset="0"/>
                                    <a:ea typeface="ＭＳ Ｐゴシック" panose="020B0600070205080204" pitchFamily="34" charset="-128"/>
                                  </a:rPr>
                                  <m:t>1.7</m:t>
                                </m:r>
                              </m:e>
                              <m:sub>
                                <m:r>
                                  <a:rPr lang="en-US" altLang="en-US" sz="3600" i="1">
                                    <a:solidFill>
                                      <a:schemeClr val="tx1"/>
                                    </a:solidFill>
                                    <a:latin typeface="Cambria Math" panose="02040503050406030204" pitchFamily="18" charset="0"/>
                                    <a:ea typeface="ＭＳ Ｐゴシック" panose="020B0600070205080204" pitchFamily="34" charset="-128"/>
                                  </a:rPr>
                                  <m:t>10</m:t>
                                </m:r>
                              </m:sub>
                            </m:sSub>
                            <m:r>
                              <a:rPr lang="en-US" altLang="en-US" sz="3600" i="1">
                                <a:solidFill>
                                  <a:schemeClr val="tx1"/>
                                </a:solidFill>
                                <a:latin typeface="Cambria Math" panose="02040503050406030204" pitchFamily="18" charset="0"/>
                                <a:ea typeface="ＭＳ Ｐゴシック" panose="020B0600070205080204" pitchFamily="34" charset="-128"/>
                              </a:rPr>
                              <m:t>)</m:t>
                            </m:r>
                          </m:e>
                          <m:sup>
                            <m:r>
                              <a:rPr lang="en-US" altLang="en-US" sz="3600" i="1">
                                <a:solidFill>
                                  <a:schemeClr val="tx1"/>
                                </a:solidFill>
                                <a:latin typeface="Cambria Math" panose="02040503050406030204" pitchFamily="18" charset="0"/>
                                <a:ea typeface="ＭＳ Ｐゴシック" panose="020B0600070205080204" pitchFamily="34" charset="-128"/>
                              </a:rPr>
                              <m:t>(</m:t>
                            </m:r>
                            <m:d>
                              <m:dPr>
                                <m:ctrlPr>
                                  <a:rPr lang="en-US" altLang="en-US" sz="3600" i="1">
                                    <a:solidFill>
                                      <a:schemeClr val="tx1"/>
                                    </a:solidFill>
                                    <a:latin typeface="Cambria Math" panose="02040503050406030204" pitchFamily="18" charset="0"/>
                                    <a:ea typeface="ＭＳ Ｐゴシック" panose="020B0600070205080204" pitchFamily="34" charset="-128"/>
                                  </a:rPr>
                                </m:ctrlPr>
                              </m:dPr>
                              <m:e>
                                <m:r>
                                  <a:rPr lang="en-US" altLang="en-US" sz="3600" i="1">
                                    <a:solidFill>
                                      <a:schemeClr val="tx1"/>
                                    </a:solidFill>
                                    <a:latin typeface="Cambria Math" panose="02040503050406030204" pitchFamily="18" charset="0"/>
                                    <a:ea typeface="ＭＳ Ｐゴシック" panose="020B0600070205080204" pitchFamily="34" charset="-128"/>
                                  </a:rPr>
                                  <m:t>−3</m:t>
                                </m:r>
                              </m:e>
                            </m:d>
                            <m:r>
                              <a:rPr lang="en-US" altLang="en-US" sz="3600" i="1">
                                <a:solidFill>
                                  <a:schemeClr val="tx1"/>
                                </a:solidFill>
                                <a:latin typeface="Cambria Math" panose="02040503050406030204" pitchFamily="18" charset="0"/>
                                <a:ea typeface="ＭＳ Ｐゴシック" panose="020B0600070205080204" pitchFamily="34" charset="-128"/>
                              </a:rPr>
                              <m:t>+</m:t>
                            </m:r>
                            <m:d>
                              <m:dPr>
                                <m:ctrlPr>
                                  <a:rPr lang="en-US" altLang="en-US" sz="3600" i="1">
                                    <a:solidFill>
                                      <a:schemeClr val="tx1"/>
                                    </a:solidFill>
                                    <a:latin typeface="Cambria Math" panose="02040503050406030204" pitchFamily="18" charset="0"/>
                                    <a:ea typeface="ＭＳ Ｐゴシック" panose="020B0600070205080204" pitchFamily="34" charset="-128"/>
                                  </a:rPr>
                                </m:ctrlPr>
                              </m:dPr>
                              <m:e>
                                <m:r>
                                  <a:rPr lang="en-US" altLang="en-US" sz="3600" i="1">
                                    <a:solidFill>
                                      <a:schemeClr val="tx1"/>
                                    </a:solidFill>
                                    <a:latin typeface="Cambria Math" panose="02040503050406030204" pitchFamily="18" charset="0"/>
                                    <a:ea typeface="ＭＳ Ｐゴシック" panose="020B0600070205080204" pitchFamily="34" charset="-128"/>
                                  </a:rPr>
                                  <m:t>−2</m:t>
                                </m:r>
                              </m:e>
                            </m:d>
                            <m:r>
                              <a:rPr lang="en-US" altLang="en-US" sz="3600" i="1">
                                <a:solidFill>
                                  <a:schemeClr val="tx1"/>
                                </a:solidFill>
                                <a:latin typeface="Cambria Math" panose="02040503050406030204" pitchFamily="18" charset="0"/>
                                <a:ea typeface="ＭＳ Ｐゴシック" panose="020B0600070205080204" pitchFamily="34" charset="-128"/>
                              </a:rPr>
                              <m:t>)</m:t>
                            </m:r>
                          </m:sup>
                        </m:sSup>
                      </m:den>
                    </m:f>
                    <m:r>
                      <a:rPr lang="en-US" altLang="en-US" sz="3600" i="1">
                        <a:solidFill>
                          <a:schemeClr val="tx1"/>
                        </a:solidFill>
                        <a:latin typeface="Cambria Math" panose="02040503050406030204" pitchFamily="18" charset="0"/>
                        <a:ea typeface="ＭＳ Ｐゴシック" panose="020B0600070205080204" pitchFamily="34" charset="-128"/>
                      </a:rPr>
                      <m:t>⇒ </m:t>
                    </m:r>
                    <m:f>
                      <m:fPr>
                        <m:ctrlPr>
                          <a:rPr lang="en-US" altLang="en-US" sz="3600" i="1">
                            <a:solidFill>
                              <a:schemeClr val="tx1"/>
                            </a:solidFill>
                            <a:latin typeface="Cambria Math" panose="02040503050406030204" pitchFamily="18" charset="0"/>
                            <a:ea typeface="ＭＳ Ｐゴシック" panose="020B0600070205080204" pitchFamily="34" charset="-128"/>
                          </a:rPr>
                        </m:ctrlPr>
                      </m:fPr>
                      <m:num>
                        <m:r>
                          <a:rPr lang="en-US" altLang="en-US" sz="3600" i="1">
                            <a:solidFill>
                              <a:schemeClr val="tx1"/>
                            </a:solidFill>
                            <a:latin typeface="Cambria Math" panose="02040503050406030204" pitchFamily="18" charset="0"/>
                            <a:ea typeface="ＭＳ Ｐゴシック" panose="020B0600070205080204" pitchFamily="34" charset="-128"/>
                          </a:rPr>
                          <m:t>(</m:t>
                        </m:r>
                        <m:sSub>
                          <m:sSubPr>
                            <m:ctrlPr>
                              <a:rPr lang="en-US" altLang="en-US" sz="3600" i="1">
                                <a:solidFill>
                                  <a:schemeClr val="tx1"/>
                                </a:solidFill>
                                <a:latin typeface="Cambria Math" panose="02040503050406030204" pitchFamily="18" charset="0"/>
                                <a:ea typeface="ＭＳ Ｐゴシック" panose="020B0600070205080204" pitchFamily="34" charset="-128"/>
                              </a:rPr>
                            </m:ctrlPr>
                          </m:sSubPr>
                          <m:e>
                            <m:r>
                              <a:rPr lang="en-US" altLang="en-US" sz="3600" i="1">
                                <a:solidFill>
                                  <a:schemeClr val="tx1"/>
                                </a:solidFill>
                                <a:latin typeface="Cambria Math" panose="02040503050406030204" pitchFamily="18" charset="0"/>
                                <a:ea typeface="ＭＳ Ｐゴシック" panose="020B0600070205080204" pitchFamily="34" charset="-128"/>
                              </a:rPr>
                              <m:t>20.4</m:t>
                            </m:r>
                          </m:e>
                          <m:sub>
                            <m:r>
                              <a:rPr lang="en-US" altLang="en-US" sz="3600" i="1">
                                <a:solidFill>
                                  <a:schemeClr val="tx1"/>
                                </a:solidFill>
                                <a:latin typeface="Cambria Math" panose="02040503050406030204" pitchFamily="18" charset="0"/>
                                <a:ea typeface="ＭＳ Ｐゴシック" panose="020B0600070205080204" pitchFamily="34" charset="-128"/>
                              </a:rPr>
                              <m:t>10</m:t>
                            </m:r>
                          </m:sub>
                        </m:sSub>
                        <m:r>
                          <a:rPr lang="en-US" altLang="en-US" sz="3600" i="1">
                            <a:solidFill>
                              <a:schemeClr val="tx1"/>
                            </a:solidFill>
                            <a:latin typeface="Cambria Math" panose="02040503050406030204" pitchFamily="18" charset="0"/>
                            <a:ea typeface="ＭＳ Ｐゴシック" panose="020B0600070205080204" pitchFamily="34" charset="-128"/>
                          </a:rPr>
                          <m:t>𝑥</m:t>
                        </m:r>
                        <m:sSubSup>
                          <m:sSubSupPr>
                            <m:ctrlPr>
                              <a:rPr lang="en-US" altLang="en-US" sz="3600" i="1">
                                <a:solidFill>
                                  <a:schemeClr val="tx1"/>
                                </a:solidFill>
                                <a:latin typeface="Cambria Math" panose="02040503050406030204" pitchFamily="18" charset="0"/>
                                <a:ea typeface="ＭＳ Ｐゴシック" panose="020B0600070205080204" pitchFamily="34" charset="-128"/>
                              </a:rPr>
                            </m:ctrlPr>
                          </m:sSubSupPr>
                          <m:e>
                            <m:r>
                              <a:rPr lang="en-US" altLang="en-US" sz="3600" i="1">
                                <a:solidFill>
                                  <a:schemeClr val="tx1"/>
                                </a:solidFill>
                                <a:latin typeface="Cambria Math" panose="02040503050406030204" pitchFamily="18" charset="0"/>
                                <a:ea typeface="ＭＳ Ｐゴシック" panose="020B0600070205080204" pitchFamily="34" charset="-128"/>
                              </a:rPr>
                              <m:t>10</m:t>
                            </m:r>
                          </m:e>
                          <m:sub>
                            <m:r>
                              <a:rPr lang="en-US" altLang="en-US" sz="3600" i="1">
                                <a:solidFill>
                                  <a:schemeClr val="tx1"/>
                                </a:solidFill>
                                <a:latin typeface="Cambria Math" panose="02040503050406030204" pitchFamily="18" charset="0"/>
                                <a:ea typeface="ＭＳ Ｐゴシック" panose="020B0600070205080204" pitchFamily="34" charset="-128"/>
                              </a:rPr>
                              <m:t>10</m:t>
                            </m:r>
                          </m:sub>
                          <m:sup>
                            <m:r>
                              <a:rPr lang="en-US" altLang="en-US" sz="3600" i="1">
                                <a:solidFill>
                                  <a:schemeClr val="tx1"/>
                                </a:solidFill>
                                <a:latin typeface="Cambria Math" panose="02040503050406030204" pitchFamily="18" charset="0"/>
                                <a:ea typeface="ＭＳ Ｐゴシック" panose="020B0600070205080204" pitchFamily="34" charset="-128"/>
                              </a:rPr>
                              <m:t>0</m:t>
                            </m:r>
                          </m:sup>
                        </m:sSubSup>
                        <m:r>
                          <a:rPr lang="en-US" altLang="en-US" sz="3600" i="1">
                            <a:solidFill>
                              <a:schemeClr val="tx1"/>
                            </a:solidFill>
                            <a:latin typeface="Cambria Math" panose="02040503050406030204" pitchFamily="18" charset="0"/>
                            <a:ea typeface="ＭＳ Ｐゴシック" panose="020B0600070205080204" pitchFamily="34" charset="-128"/>
                          </a:rPr>
                          <m:t>)</m:t>
                        </m:r>
                      </m:num>
                      <m:den>
                        <m:sSub>
                          <m:sSubPr>
                            <m:ctrlPr>
                              <a:rPr lang="en-US" altLang="en-US" sz="3600" i="1">
                                <a:solidFill>
                                  <a:schemeClr val="tx1"/>
                                </a:solidFill>
                                <a:latin typeface="Cambria Math" panose="02040503050406030204" pitchFamily="18" charset="0"/>
                                <a:ea typeface="ＭＳ Ｐゴシック" panose="020B0600070205080204" pitchFamily="34" charset="-128"/>
                              </a:rPr>
                            </m:ctrlPr>
                          </m:sSubPr>
                          <m:e>
                            <m:r>
                              <a:rPr lang="en-US" altLang="en-US" sz="3600" i="1">
                                <a:solidFill>
                                  <a:schemeClr val="tx1"/>
                                </a:solidFill>
                                <a:latin typeface="Cambria Math" panose="02040503050406030204" pitchFamily="18" charset="0"/>
                                <a:ea typeface="ＭＳ Ｐゴシック" panose="020B0600070205080204" pitchFamily="34" charset="-128"/>
                              </a:rPr>
                              <m:t>(6.8</m:t>
                            </m:r>
                          </m:e>
                          <m:sub>
                            <m:r>
                              <a:rPr lang="en-US" altLang="en-US" sz="3600" i="1">
                                <a:solidFill>
                                  <a:schemeClr val="tx1"/>
                                </a:solidFill>
                                <a:latin typeface="Cambria Math" panose="02040503050406030204" pitchFamily="18" charset="0"/>
                                <a:ea typeface="ＭＳ Ｐゴシック" panose="020B0600070205080204" pitchFamily="34" charset="-128"/>
                              </a:rPr>
                              <m:t>10</m:t>
                            </m:r>
                          </m:sub>
                        </m:sSub>
                        <m:r>
                          <a:rPr lang="en-US" altLang="en-US" sz="3600" i="1">
                            <a:solidFill>
                              <a:schemeClr val="tx1"/>
                            </a:solidFill>
                            <a:latin typeface="Cambria Math" panose="02040503050406030204" pitchFamily="18" charset="0"/>
                            <a:ea typeface="ＭＳ Ｐゴシック" panose="020B0600070205080204" pitchFamily="34" charset="-128"/>
                          </a:rPr>
                          <m:t>𝑥</m:t>
                        </m:r>
                        <m:sSubSup>
                          <m:sSubSupPr>
                            <m:ctrlPr>
                              <a:rPr lang="en-US" altLang="en-US" sz="3600" i="1">
                                <a:solidFill>
                                  <a:schemeClr val="tx1"/>
                                </a:solidFill>
                                <a:latin typeface="Cambria Math" panose="02040503050406030204" pitchFamily="18" charset="0"/>
                                <a:ea typeface="ＭＳ Ｐゴシック" panose="020B0600070205080204" pitchFamily="34" charset="-128"/>
                              </a:rPr>
                            </m:ctrlPr>
                          </m:sSubSupPr>
                          <m:e>
                            <m:r>
                              <a:rPr lang="en-US" altLang="en-US" sz="3600" i="1">
                                <a:solidFill>
                                  <a:schemeClr val="tx1"/>
                                </a:solidFill>
                                <a:latin typeface="Cambria Math" panose="02040503050406030204" pitchFamily="18" charset="0"/>
                                <a:ea typeface="ＭＳ Ｐゴシック" panose="020B0600070205080204" pitchFamily="34" charset="-128"/>
                              </a:rPr>
                              <m:t>10</m:t>
                            </m:r>
                          </m:e>
                          <m:sub>
                            <m:r>
                              <a:rPr lang="en-US" altLang="en-US" sz="3600" i="1">
                                <a:solidFill>
                                  <a:schemeClr val="tx1"/>
                                </a:solidFill>
                                <a:latin typeface="Cambria Math" panose="02040503050406030204" pitchFamily="18" charset="0"/>
                                <a:ea typeface="ＭＳ Ｐゴシック" panose="020B0600070205080204" pitchFamily="34" charset="-128"/>
                              </a:rPr>
                              <m:t>10</m:t>
                            </m:r>
                          </m:sub>
                          <m:sup>
                            <m:r>
                              <a:rPr lang="en-US" altLang="en-US" sz="3600" i="1">
                                <a:solidFill>
                                  <a:schemeClr val="tx1"/>
                                </a:solidFill>
                                <a:latin typeface="Cambria Math" panose="02040503050406030204" pitchFamily="18" charset="0"/>
                                <a:ea typeface="ＭＳ Ｐゴシック" panose="020B0600070205080204" pitchFamily="34" charset="-128"/>
                              </a:rPr>
                              <m:t>−5</m:t>
                            </m:r>
                          </m:sup>
                        </m:sSubSup>
                        <m:r>
                          <a:rPr lang="en-US" altLang="en-US" sz="3600" i="1">
                            <a:solidFill>
                              <a:schemeClr val="tx1"/>
                            </a:solidFill>
                            <a:latin typeface="Cambria Math" panose="02040503050406030204" pitchFamily="18" charset="0"/>
                            <a:ea typeface="ＭＳ Ｐゴシック" panose="020B0600070205080204" pitchFamily="34" charset="-128"/>
                          </a:rPr>
                          <m:t>)</m:t>
                        </m:r>
                      </m:den>
                    </m:f>
                  </m:oMath>
                </a14:m>
                <a:r>
                  <a:rPr lang="en-US" altLang="en-US" sz="3600" dirty="0">
                    <a:solidFill>
                      <a:schemeClr val="tx1"/>
                    </a:solidFill>
                    <a:ea typeface="ＭＳ Ｐゴシック" panose="020B0600070205080204" pitchFamily="34" charset="-128"/>
                  </a:rPr>
                  <a:t> </a:t>
                </a:r>
              </a:p>
              <a:p>
                <a:pPr marL="457200" lvl="1" indent="0">
                  <a:buNone/>
                </a:pPr>
                <a:endParaRPr lang="en-US" altLang="en-US" dirty="0">
                  <a:solidFill>
                    <a:schemeClr val="tx1"/>
                  </a:solidFill>
                  <a:ea typeface="ＭＳ Ｐゴシック" panose="020B0600070205080204" pitchFamily="34" charset="-128"/>
                </a:endParaRPr>
              </a:p>
              <a:p>
                <a:pPr marL="457200" lvl="1" indent="0">
                  <a:buNone/>
                </a:pPr>
                <a14:m>
                  <m:oMathPara xmlns:m="http://schemas.openxmlformats.org/officeDocument/2006/math">
                    <m:oMathParaPr>
                      <m:jc m:val="left"/>
                    </m:oMathParaPr>
                    <m:oMath>
                      <m:sSup>
                        <m:sSupPr>
                          <m:ctrlPr>
                            <a:rPr lang="en-US" altLang="en-US" i="1">
                              <a:solidFill>
                                <a:schemeClr val="tx1"/>
                              </a:solidFill>
                              <a:latin typeface="Cambria Math" panose="02040503050406030204" pitchFamily="18" charset="0"/>
                              <a:ea typeface="ＭＳ Ｐゴシック" panose="020B0600070205080204" pitchFamily="34" charset="-128"/>
                            </a:rPr>
                          </m:ctrlPr>
                        </m:sSupPr>
                        <m:e>
                          <m:d>
                            <m:dPr>
                              <m:ctrlPr>
                                <a:rPr lang="en-US" altLang="en-US" i="1">
                                  <a:solidFill>
                                    <a:schemeClr val="tx1"/>
                                  </a:solidFill>
                                  <a:latin typeface="Cambria Math" panose="02040503050406030204" pitchFamily="18" charset="0"/>
                                  <a:ea typeface="ＭＳ Ｐゴシック" panose="020B0600070205080204" pitchFamily="34" charset="-128"/>
                                </a:rPr>
                              </m:ctrlPr>
                            </m:dPr>
                            <m:e>
                              <m:f>
                                <m:fPr>
                                  <m:ctrlPr>
                                    <a:rPr lang="en-US" altLang="en-US" i="1">
                                      <a:solidFill>
                                        <a:schemeClr val="tx1"/>
                                      </a:solidFill>
                                      <a:latin typeface="Cambria Math" panose="02040503050406030204" pitchFamily="18" charset="0"/>
                                      <a:ea typeface="ＭＳ Ｐゴシック" panose="020B0600070205080204" pitchFamily="34" charset="-128"/>
                                    </a:rPr>
                                  </m:ctrlPr>
                                </m:fPr>
                                <m:num>
                                  <m:sSub>
                                    <m:sSubPr>
                                      <m:ctrlPr>
                                        <a:rPr lang="en-US" altLang="en-US" i="1">
                                          <a:solidFill>
                                            <a:schemeClr val="tx1"/>
                                          </a:solidFill>
                                          <a:latin typeface="Cambria Math" panose="02040503050406030204" pitchFamily="18" charset="0"/>
                                          <a:ea typeface="ＭＳ Ｐゴシック" panose="020B0600070205080204" pitchFamily="34" charset="-128"/>
                                        </a:rPr>
                                      </m:ctrlPr>
                                    </m:sSubPr>
                                    <m:e>
                                      <m:r>
                                        <a:rPr lang="en-US" altLang="en-US" i="1">
                                          <a:solidFill>
                                            <a:schemeClr val="tx1"/>
                                          </a:solidFill>
                                          <a:latin typeface="Cambria Math" panose="02040503050406030204" pitchFamily="18" charset="0"/>
                                          <a:ea typeface="ＭＳ Ｐゴシック" panose="020B0600070205080204" pitchFamily="34" charset="-128"/>
                                        </a:rPr>
                                        <m:t>20.4</m:t>
                                      </m:r>
                                    </m:e>
                                    <m:sub>
                                      <m:r>
                                        <a:rPr lang="en-US" altLang="en-US" i="1">
                                          <a:solidFill>
                                            <a:schemeClr val="tx1"/>
                                          </a:solidFill>
                                          <a:latin typeface="Cambria Math" panose="02040503050406030204" pitchFamily="18" charset="0"/>
                                          <a:ea typeface="ＭＳ Ｐゴシック" panose="020B0600070205080204" pitchFamily="34" charset="-128"/>
                                        </a:rPr>
                                        <m:t>10</m:t>
                                      </m:r>
                                    </m:sub>
                                  </m:sSub>
                                </m:num>
                                <m:den>
                                  <m:sSub>
                                    <m:sSubPr>
                                      <m:ctrlPr>
                                        <a:rPr lang="en-US" altLang="en-US" i="1">
                                          <a:solidFill>
                                            <a:schemeClr val="tx1"/>
                                          </a:solidFill>
                                          <a:latin typeface="Cambria Math" panose="02040503050406030204" pitchFamily="18" charset="0"/>
                                          <a:ea typeface="ＭＳ Ｐゴシック" panose="020B0600070205080204" pitchFamily="34" charset="-128"/>
                                        </a:rPr>
                                      </m:ctrlPr>
                                    </m:sSubPr>
                                    <m:e>
                                      <m:r>
                                        <a:rPr lang="en-US" altLang="en-US" i="1">
                                          <a:solidFill>
                                            <a:schemeClr val="tx1"/>
                                          </a:solidFill>
                                          <a:latin typeface="Cambria Math" panose="02040503050406030204" pitchFamily="18" charset="0"/>
                                          <a:ea typeface="ＭＳ Ｐゴシック" panose="020B0600070205080204" pitchFamily="34" charset="-128"/>
                                        </a:rPr>
                                        <m:t>6.8</m:t>
                                      </m:r>
                                    </m:e>
                                    <m:sub>
                                      <m:r>
                                        <a:rPr lang="en-US" altLang="en-US" i="1">
                                          <a:solidFill>
                                            <a:schemeClr val="tx1"/>
                                          </a:solidFill>
                                          <a:latin typeface="Cambria Math" panose="02040503050406030204" pitchFamily="18" charset="0"/>
                                          <a:ea typeface="ＭＳ Ｐゴシック" panose="020B0600070205080204" pitchFamily="34" charset="-128"/>
                                        </a:rPr>
                                        <m:t>10</m:t>
                                      </m:r>
                                    </m:sub>
                                  </m:sSub>
                                </m:den>
                              </m:f>
                            </m:e>
                          </m:d>
                        </m:e>
                        <m:sup>
                          <m:r>
                            <a:rPr lang="en-US" altLang="en-US" b="0" i="1" smtClean="0">
                              <a:solidFill>
                                <a:schemeClr val="tx1"/>
                              </a:solidFill>
                              <a:latin typeface="Cambria Math" panose="02040503050406030204" pitchFamily="18" charset="0"/>
                              <a:ea typeface="ＭＳ Ｐゴシック" panose="020B0600070205080204" pitchFamily="34" charset="-128"/>
                            </a:rPr>
                            <m:t>(0−</m:t>
                          </m:r>
                          <m:d>
                            <m:dPr>
                              <m:ctrlPr>
                                <a:rPr lang="en-US" altLang="en-US" b="0" i="1" smtClean="0">
                                  <a:solidFill>
                                    <a:schemeClr val="tx1"/>
                                  </a:solidFill>
                                  <a:latin typeface="Cambria Math" panose="02040503050406030204" pitchFamily="18" charset="0"/>
                                  <a:ea typeface="ＭＳ Ｐゴシック" panose="020B0600070205080204" pitchFamily="34" charset="-128"/>
                                </a:rPr>
                              </m:ctrlPr>
                            </m:dPr>
                            <m:e>
                              <m:r>
                                <a:rPr lang="en-US" altLang="en-US" b="0" i="1" smtClean="0">
                                  <a:solidFill>
                                    <a:schemeClr val="tx1"/>
                                  </a:solidFill>
                                  <a:latin typeface="Cambria Math" panose="02040503050406030204" pitchFamily="18" charset="0"/>
                                  <a:ea typeface="ＭＳ Ｐゴシック" panose="020B0600070205080204" pitchFamily="34" charset="-128"/>
                                </a:rPr>
                                <m:t>−5</m:t>
                              </m:r>
                            </m:e>
                          </m:d>
                          <m:r>
                            <a:rPr lang="en-US" altLang="en-US" b="0" i="1" smtClean="0">
                              <a:solidFill>
                                <a:schemeClr val="tx1"/>
                              </a:solidFill>
                              <a:latin typeface="Cambria Math" panose="02040503050406030204" pitchFamily="18" charset="0"/>
                              <a:ea typeface="ＭＳ Ｐゴシック" panose="020B0600070205080204" pitchFamily="34" charset="-128"/>
                            </a:rPr>
                            <m:t>)</m:t>
                          </m:r>
                        </m:sup>
                      </m:sSup>
                      <m:r>
                        <a:rPr lang="en-US" altLang="en-US" b="0" i="1" smtClean="0">
                          <a:solidFill>
                            <a:schemeClr val="tx1"/>
                          </a:solidFill>
                          <a:latin typeface="Cambria Math" panose="02040503050406030204" pitchFamily="18" charset="0"/>
                          <a:ea typeface="ＭＳ Ｐゴシック" panose="020B0600070205080204" pitchFamily="34" charset="-128"/>
                        </a:rPr>
                        <m:t>⇒</m:t>
                      </m:r>
                      <m:sSub>
                        <m:sSubPr>
                          <m:ctrlPr>
                            <a:rPr lang="en-US" altLang="en-US" b="0" i="1" smtClean="0">
                              <a:solidFill>
                                <a:schemeClr val="tx1"/>
                              </a:solidFill>
                              <a:latin typeface="Cambria Math" panose="02040503050406030204" pitchFamily="18" charset="0"/>
                              <a:ea typeface="ＭＳ Ｐゴシック" panose="020B0600070205080204" pitchFamily="34" charset="-128"/>
                            </a:rPr>
                          </m:ctrlPr>
                        </m:sSubPr>
                        <m:e>
                          <m:r>
                            <a:rPr lang="en-US" altLang="en-US" b="0" i="1" smtClean="0">
                              <a:solidFill>
                                <a:schemeClr val="tx1"/>
                              </a:solidFill>
                              <a:latin typeface="Cambria Math" panose="02040503050406030204" pitchFamily="18" charset="0"/>
                              <a:ea typeface="ＭＳ Ｐゴシック" panose="020B0600070205080204" pitchFamily="34" charset="-128"/>
                            </a:rPr>
                            <m:t>3</m:t>
                          </m:r>
                        </m:e>
                        <m:sub>
                          <m:r>
                            <a:rPr lang="en-US" altLang="en-US" b="0" i="1" smtClean="0">
                              <a:solidFill>
                                <a:schemeClr val="tx1"/>
                              </a:solidFill>
                              <a:latin typeface="Cambria Math" panose="02040503050406030204" pitchFamily="18" charset="0"/>
                              <a:ea typeface="ＭＳ Ｐゴシック" panose="020B0600070205080204" pitchFamily="34" charset="-128"/>
                            </a:rPr>
                            <m:t>10</m:t>
                          </m:r>
                        </m:sub>
                      </m:sSub>
                      <m:r>
                        <a:rPr lang="en-US" altLang="en-US" b="0" i="1" smtClean="0">
                          <a:solidFill>
                            <a:schemeClr val="tx1"/>
                          </a:solidFill>
                          <a:latin typeface="Cambria Math" panose="02040503050406030204" pitchFamily="18" charset="0"/>
                          <a:ea typeface="ＭＳ Ｐゴシック" panose="020B0600070205080204" pitchFamily="34" charset="-128"/>
                        </a:rPr>
                        <m:t>𝑥</m:t>
                      </m:r>
                      <m:r>
                        <a:rPr lang="en-US" altLang="en-US" b="0" i="1" smtClean="0">
                          <a:solidFill>
                            <a:schemeClr val="tx1"/>
                          </a:solidFill>
                          <a:latin typeface="Cambria Math" panose="02040503050406030204" pitchFamily="18" charset="0"/>
                          <a:ea typeface="ＭＳ Ｐゴシック" panose="020B0600070205080204" pitchFamily="34" charset="-128"/>
                        </a:rPr>
                        <m:t> </m:t>
                      </m:r>
                      <m:sSubSup>
                        <m:sSubSupPr>
                          <m:ctrlPr>
                            <a:rPr lang="en-US" altLang="en-US" b="0" i="1" smtClean="0">
                              <a:solidFill>
                                <a:schemeClr val="tx1"/>
                              </a:solidFill>
                              <a:latin typeface="Cambria Math" panose="02040503050406030204" pitchFamily="18" charset="0"/>
                              <a:ea typeface="ＭＳ Ｐゴシック" panose="020B0600070205080204" pitchFamily="34" charset="-128"/>
                            </a:rPr>
                          </m:ctrlPr>
                        </m:sSubSupPr>
                        <m:e>
                          <m:r>
                            <a:rPr lang="en-US" altLang="en-US" b="0" i="1" smtClean="0">
                              <a:solidFill>
                                <a:schemeClr val="tx1"/>
                              </a:solidFill>
                              <a:latin typeface="Cambria Math" panose="02040503050406030204" pitchFamily="18" charset="0"/>
                              <a:ea typeface="ＭＳ Ｐゴシック" panose="020B0600070205080204" pitchFamily="34" charset="-128"/>
                            </a:rPr>
                            <m:t>10</m:t>
                          </m:r>
                        </m:e>
                        <m:sub>
                          <m:r>
                            <a:rPr lang="en-US" altLang="en-US" b="0" i="1" smtClean="0">
                              <a:solidFill>
                                <a:schemeClr val="tx1"/>
                              </a:solidFill>
                              <a:latin typeface="Cambria Math" panose="02040503050406030204" pitchFamily="18" charset="0"/>
                              <a:ea typeface="ＭＳ Ｐゴシック" panose="020B0600070205080204" pitchFamily="34" charset="-128"/>
                            </a:rPr>
                            <m:t>10</m:t>
                          </m:r>
                        </m:sub>
                        <m:sup>
                          <m:r>
                            <a:rPr lang="en-US" altLang="en-US" b="0" i="1" smtClean="0">
                              <a:solidFill>
                                <a:schemeClr val="tx1"/>
                              </a:solidFill>
                              <a:latin typeface="Cambria Math" panose="02040503050406030204" pitchFamily="18" charset="0"/>
                              <a:ea typeface="ＭＳ Ｐゴシック" panose="020B0600070205080204" pitchFamily="34" charset="-128"/>
                            </a:rPr>
                            <m:t>5</m:t>
                          </m:r>
                        </m:sup>
                      </m:sSubSup>
                      <m:r>
                        <a:rPr lang="en-US" altLang="en-US" b="0" i="1" smtClean="0">
                          <a:solidFill>
                            <a:schemeClr val="tx1"/>
                          </a:solidFill>
                          <a:latin typeface="Cambria Math" panose="02040503050406030204" pitchFamily="18" charset="0"/>
                          <a:ea typeface="ＭＳ Ｐゴシック" panose="020B0600070205080204" pitchFamily="34" charset="-128"/>
                        </a:rPr>
                        <m:t>⇒ </m:t>
                      </m:r>
                      <m:sSub>
                        <m:sSubPr>
                          <m:ctrlPr>
                            <a:rPr lang="en-US" altLang="en-US" b="0" i="1" smtClean="0">
                              <a:solidFill>
                                <a:schemeClr val="tx1"/>
                              </a:solidFill>
                              <a:latin typeface="Cambria Math" panose="02040503050406030204" pitchFamily="18" charset="0"/>
                              <a:ea typeface="ＭＳ Ｐゴシック" panose="020B0600070205080204" pitchFamily="34" charset="-128"/>
                            </a:rPr>
                          </m:ctrlPr>
                        </m:sSubPr>
                        <m:e>
                          <m:r>
                            <a:rPr lang="en-US" altLang="en-US" b="0" i="1" smtClean="0">
                              <a:solidFill>
                                <a:schemeClr val="tx1"/>
                              </a:solidFill>
                              <a:latin typeface="Cambria Math" panose="02040503050406030204" pitchFamily="18" charset="0"/>
                              <a:ea typeface="ＭＳ Ｐゴシック" panose="020B0600070205080204" pitchFamily="34" charset="-128"/>
                            </a:rPr>
                            <m:t>300,000</m:t>
                          </m:r>
                        </m:e>
                        <m:sub>
                          <m:r>
                            <a:rPr lang="en-US" altLang="en-US" b="0" i="1" smtClean="0">
                              <a:solidFill>
                                <a:schemeClr val="tx1"/>
                              </a:solidFill>
                              <a:latin typeface="Cambria Math" panose="02040503050406030204" pitchFamily="18" charset="0"/>
                              <a:ea typeface="ＭＳ Ｐゴシック" panose="020B0600070205080204" pitchFamily="34" charset="-128"/>
                            </a:rPr>
                            <m:t>10</m:t>
                          </m:r>
                        </m:sub>
                      </m:sSub>
                    </m:oMath>
                  </m:oMathPara>
                </a14:m>
                <a:endParaRPr lang="en-US" altLang="en-US" sz="3200" dirty="0">
                  <a:solidFill>
                    <a:schemeClr val="tx1"/>
                  </a:solidFill>
                  <a:ea typeface="ＭＳ Ｐゴシック" panose="020B0600070205080204" pitchFamily="34" charset="-128"/>
                </a:endParaRPr>
              </a:p>
              <a:p>
                <a:pPr marL="457200" lvl="1" indent="0">
                  <a:buNone/>
                </a:pPr>
                <a:endParaRPr lang="en-US" altLang="en-US" dirty="0">
                  <a:ea typeface="ＭＳ Ｐゴシック" panose="020B0600070205080204" pitchFamily="34" charset="-128"/>
                </a:endParaRPr>
              </a:p>
            </p:txBody>
          </p:sp>
        </mc:Choice>
        <mc:Fallback xmlns="">
          <p:sp>
            <p:nvSpPr>
              <p:cNvPr id="93187" name="Rectangle 3">
                <a:extLst>
                  <a:ext uri="{FF2B5EF4-FFF2-40B4-BE49-F238E27FC236}">
                    <a16:creationId xmlns:a16="http://schemas.microsoft.com/office/drawing/2014/main" id="{BE84D51A-97A3-A04A-87F3-2A2C675B8446}"/>
                  </a:ext>
                </a:extLst>
              </p:cNvPr>
              <p:cNvSpPr>
                <a:spLocks noGrp="1" noRot="1" noChangeAspect="1" noMove="1" noResize="1" noEditPoints="1" noAdjustHandles="1" noChangeArrowheads="1" noChangeShapeType="1" noTextEdit="1"/>
              </p:cNvSpPr>
              <p:nvPr>
                <p:ph type="body" idx="1"/>
              </p:nvPr>
            </p:nvSpPr>
            <p:spPr>
              <a:xfrm>
                <a:off x="2111587" y="1576070"/>
                <a:ext cx="8270875" cy="4975063"/>
              </a:xfrm>
              <a:blipFill>
                <a:blip r:embed="rId3"/>
                <a:stretch>
                  <a:fillRect l="-1769" t="-2574"/>
                </a:stretch>
              </a:blipFill>
            </p:spPr>
            <p:txBody>
              <a:bodyPr/>
              <a:lstStyle/>
              <a:p>
                <a:r>
                  <a:rPr lang="en-US">
                    <a:noFill/>
                  </a:rPr>
                  <a:t> </a:t>
                </a:r>
              </a:p>
            </p:txBody>
          </p:sp>
        </mc:Fallback>
      </mc:AlternateContent>
      <p:sp>
        <p:nvSpPr>
          <p:cNvPr id="2" name="TextBox 1"/>
          <p:cNvSpPr txBox="1"/>
          <p:nvPr/>
        </p:nvSpPr>
        <p:spPr>
          <a:xfrm>
            <a:off x="6893856" y="2091921"/>
            <a:ext cx="1402948" cy="369332"/>
          </a:xfrm>
          <a:prstGeom prst="rect">
            <a:avLst/>
          </a:prstGeom>
          <a:solidFill>
            <a:schemeClr val="accent3">
              <a:lumMod val="20000"/>
              <a:lumOff val="80000"/>
            </a:schemeClr>
          </a:solidFill>
          <a:ln w="28575">
            <a:solidFill>
              <a:schemeClr val="tx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normalized</a:t>
            </a:r>
          </a:p>
        </p:txBody>
      </p:sp>
      <p:sp>
        <p:nvSpPr>
          <p:cNvPr id="10" name="TextBox 9"/>
          <p:cNvSpPr txBox="1"/>
          <p:nvPr/>
        </p:nvSpPr>
        <p:spPr>
          <a:xfrm>
            <a:off x="3199350" y="2091921"/>
            <a:ext cx="1954381" cy="369332"/>
          </a:xfrm>
          <a:prstGeom prst="rect">
            <a:avLst/>
          </a:prstGeom>
          <a:solidFill>
            <a:schemeClr val="accent6">
              <a:lumMod val="40000"/>
              <a:lumOff val="60000"/>
            </a:schemeClr>
          </a:solidFill>
          <a:ln w="28575">
            <a:solidFill>
              <a:schemeClr val="tx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NOT normalized</a:t>
            </a:r>
          </a:p>
        </p:txBody>
      </p:sp>
      <p:cxnSp>
        <p:nvCxnSpPr>
          <p:cNvPr id="4" name="Straight Connector 3"/>
          <p:cNvCxnSpPr/>
          <p:nvPr/>
        </p:nvCxnSpPr>
        <p:spPr>
          <a:xfrm>
            <a:off x="5871243" y="5464578"/>
            <a:ext cx="2045226" cy="108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877546" y="5552046"/>
            <a:ext cx="2045226" cy="108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696340" y="4163747"/>
            <a:ext cx="1620957" cy="307777"/>
          </a:xfrm>
          <a:prstGeom prst="rect">
            <a:avLst/>
          </a:prstGeom>
          <a:solidFill>
            <a:srgbClr val="FFFF00"/>
          </a:solidFill>
          <a:ln w="28575">
            <a:solidFill>
              <a:schemeClr val="tx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rPr>
              <a:t>Subscript = base</a:t>
            </a:r>
          </a:p>
        </p:txBody>
      </p:sp>
      <p:cxnSp>
        <p:nvCxnSpPr>
          <p:cNvPr id="7" name="Straight Arrow Connector 6"/>
          <p:cNvCxnSpPr>
            <a:stCxn id="14" idx="1"/>
          </p:cNvCxnSpPr>
          <p:nvPr/>
        </p:nvCxnSpPr>
        <p:spPr>
          <a:xfrm flipH="1">
            <a:off x="8822005" y="4317636"/>
            <a:ext cx="874334" cy="969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9702643" y="3793274"/>
            <a:ext cx="1691489" cy="307777"/>
          </a:xfrm>
          <a:prstGeom prst="rect">
            <a:avLst/>
          </a:prstGeom>
          <a:solidFill>
            <a:srgbClr val="FFFF00"/>
          </a:solidFill>
          <a:ln w="28575">
            <a:solidFill>
              <a:schemeClr val="tx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rPr>
              <a:t>Superscript = </a:t>
            </a:r>
            <a:r>
              <a:rPr kumimoji="0" lang="en-US" sz="1400" b="1" i="0" u="none" strike="noStrike" kern="1200" cap="none" spc="0" normalizeH="0" baseline="0" noProof="0" dirty="0" err="1">
                <a:ln>
                  <a:noFill/>
                </a:ln>
                <a:solidFill>
                  <a:srgbClr val="000000"/>
                </a:solidFill>
                <a:effectLst/>
                <a:uLnTx/>
                <a:uFillTx/>
                <a:latin typeface="Arial" panose="020B0604020202020204"/>
                <a:ea typeface="+mn-ea"/>
                <a:cs typeface="+mn-cs"/>
              </a:rPr>
              <a:t>exp</a:t>
            </a:r>
            <a:endPar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11" name="Straight Arrow Connector 10"/>
          <p:cNvCxnSpPr>
            <a:stCxn id="17" idx="1"/>
          </p:cNvCxnSpPr>
          <p:nvPr/>
        </p:nvCxnSpPr>
        <p:spPr>
          <a:xfrm flipH="1">
            <a:off x="8865550" y="3947163"/>
            <a:ext cx="837093" cy="2714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0519789"/>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42B43195-F360-9144-AD85-4FEBF53D4DEE}"/>
              </a:ext>
            </a:extLst>
          </p:cNvPr>
          <p:cNvSpPr>
            <a:spLocks noGrp="1" noChangeArrowheads="1"/>
          </p:cNvSpPr>
          <p:nvPr>
            <p:ph type="title"/>
          </p:nvPr>
        </p:nvSpPr>
        <p:spPr>
          <a:xfrm>
            <a:off x="914347" y="749947"/>
            <a:ext cx="3505254" cy="806137"/>
          </a:xfrm>
        </p:spPr>
        <p:txBody>
          <a:bodyPr/>
          <a:lstStyle/>
          <a:p>
            <a:pPr eaLnBrk="1" hangingPunct="1"/>
            <a:r>
              <a:rPr lang="en-US" altLang="en-US" dirty="0">
                <a:ea typeface="ＭＳ Ｐゴシック" panose="020B0600070205080204" pitchFamily="34" charset="-128"/>
              </a:rPr>
              <a:t>Floating Point</a:t>
            </a:r>
            <a:endParaRPr lang="en-AU" altLang="en-US" dirty="0">
              <a:ea typeface="ＭＳ Ｐゴシック" panose="020B0600070205080204" pitchFamily="34" charset="-128"/>
            </a:endParaRPr>
          </a:p>
        </p:txBody>
      </p:sp>
      <p:sp>
        <p:nvSpPr>
          <p:cNvPr id="95234" name="Rectangle 3">
            <a:extLst>
              <a:ext uri="{FF2B5EF4-FFF2-40B4-BE49-F238E27FC236}">
                <a16:creationId xmlns:a16="http://schemas.microsoft.com/office/drawing/2014/main" id="{AE177F99-64AB-1344-A255-A4224BF05098}"/>
              </a:ext>
            </a:extLst>
          </p:cNvPr>
          <p:cNvSpPr>
            <a:spLocks noGrp="1" noChangeArrowheads="1"/>
          </p:cNvSpPr>
          <p:nvPr>
            <p:ph type="body" idx="1"/>
          </p:nvPr>
        </p:nvSpPr>
        <p:spPr>
          <a:xfrm>
            <a:off x="1981200" y="1610730"/>
            <a:ext cx="8573176" cy="4032250"/>
          </a:xfrm>
        </p:spPr>
        <p:txBody>
          <a:bodyPr/>
          <a:lstStyle/>
          <a:p>
            <a:pPr eaLnBrk="1" hangingPunct="1"/>
            <a:r>
              <a:rPr lang="en-US" altLang="en-US" dirty="0">
                <a:solidFill>
                  <a:schemeClr val="tx1"/>
                </a:solidFill>
                <a:ea typeface="ＭＳ Ｐゴシック" panose="020B0600070205080204" pitchFamily="34" charset="-128"/>
              </a:rPr>
              <a:t>In binary</a:t>
            </a:r>
          </a:p>
          <a:p>
            <a:pPr lvl="1"/>
            <a:r>
              <a:rPr lang="en-US" altLang="en-US" dirty="0">
                <a:solidFill>
                  <a:schemeClr val="tx1"/>
                </a:solidFill>
                <a:ea typeface="ＭＳ Ｐゴシック" panose="020B0600070205080204" pitchFamily="34" charset="-128"/>
              </a:rPr>
              <a:t>±1.</a:t>
            </a:r>
            <a:r>
              <a:rPr lang="en-US" altLang="en-US" i="1" dirty="0">
                <a:solidFill>
                  <a:srgbClr val="FF0000"/>
                </a:solidFill>
                <a:ea typeface="ＭＳ Ｐゴシック" panose="020B0600070205080204" pitchFamily="34" charset="-128"/>
              </a:rPr>
              <a:t>xxxxxxx</a:t>
            </a:r>
            <a:r>
              <a:rPr lang="en-US" altLang="en-US" baseline="-25000" dirty="0">
                <a:solidFill>
                  <a:schemeClr val="tx1"/>
                </a:solidFill>
                <a:ea typeface="ＭＳ Ｐゴシック" panose="020B0600070205080204" pitchFamily="34" charset="-128"/>
              </a:rPr>
              <a:t>2</a:t>
            </a:r>
            <a:r>
              <a:rPr lang="en-US" altLang="en-US" dirty="0">
                <a:solidFill>
                  <a:schemeClr val="tx1"/>
                </a:solidFill>
                <a:ea typeface="ＭＳ Ｐゴシック" panose="020B0600070205080204" pitchFamily="34" charset="-128"/>
              </a:rPr>
              <a:t> × 2</a:t>
            </a:r>
            <a:r>
              <a:rPr lang="en-US" altLang="en-US" i="1" baseline="30000" dirty="0">
                <a:solidFill>
                  <a:srgbClr val="FF0000"/>
                </a:solidFill>
                <a:ea typeface="ＭＳ Ｐゴシック" panose="020B0600070205080204" pitchFamily="34" charset="-128"/>
              </a:rPr>
              <a:t>yyyy</a:t>
            </a:r>
            <a:r>
              <a:rPr lang="en-US" altLang="en-US" i="1" baseline="30000" dirty="0">
                <a:ea typeface="ＭＳ Ｐゴシック" panose="020B0600070205080204" pitchFamily="34" charset="-128"/>
              </a:rPr>
              <a:t>    </a:t>
            </a:r>
            <a:r>
              <a:rPr lang="en-US" altLang="en-US" dirty="0">
                <a:solidFill>
                  <a:schemeClr val="tx1"/>
                </a:solidFill>
                <a:ea typeface="ＭＳ Ｐゴシック" panose="020B0600070205080204" pitchFamily="34" charset="-128"/>
              </a:rPr>
              <a:t>(for example, 1.0</a:t>
            </a:r>
            <a:r>
              <a:rPr lang="en-US" altLang="en-US" baseline="-25000" dirty="0">
                <a:solidFill>
                  <a:schemeClr val="tx1"/>
                </a:solidFill>
                <a:ea typeface="ＭＳ Ｐゴシック" panose="020B0600070205080204" pitchFamily="34" charset="-128"/>
              </a:rPr>
              <a:t>2 </a:t>
            </a:r>
            <a:r>
              <a:rPr lang="en-US" altLang="en-US" dirty="0">
                <a:solidFill>
                  <a:schemeClr val="tx1"/>
                </a:solidFill>
                <a:ea typeface="ＭＳ Ｐゴシック" panose="020B0600070205080204" pitchFamily="34" charset="-128"/>
              </a:rPr>
              <a:t> x 2</a:t>
            </a:r>
            <a:r>
              <a:rPr lang="en-US" altLang="en-US" baseline="30000" dirty="0">
                <a:solidFill>
                  <a:schemeClr val="tx1"/>
                </a:solidFill>
                <a:ea typeface="ＭＳ Ｐゴシック" panose="020B0600070205080204" pitchFamily="34" charset="-128"/>
              </a:rPr>
              <a:t>-1</a:t>
            </a:r>
            <a:r>
              <a:rPr lang="en-US" altLang="en-US" dirty="0">
                <a:solidFill>
                  <a:schemeClr val="tx2">
                    <a:lumMod val="60000"/>
                    <a:lumOff val="40000"/>
                  </a:schemeClr>
                </a:solidFill>
                <a:ea typeface="ＭＳ Ｐゴシック" panose="020B0600070205080204" pitchFamily="34" charset="-128"/>
              </a:rPr>
              <a:t>=&gt;</a:t>
            </a:r>
            <a:r>
              <a:rPr lang="en-US" altLang="en-US" dirty="0">
                <a:ea typeface="ＭＳ Ｐゴシック" panose="020B0600070205080204" pitchFamily="34" charset="-128"/>
              </a:rPr>
              <a:t> </a:t>
            </a:r>
            <a:r>
              <a:rPr lang="en-US" altLang="en-US" dirty="0">
                <a:solidFill>
                  <a:schemeClr val="tx2">
                    <a:lumMod val="60000"/>
                    <a:lumOff val="40000"/>
                  </a:schemeClr>
                </a:solidFill>
                <a:ea typeface="ＭＳ Ｐゴシック" panose="020B0600070205080204" pitchFamily="34" charset="-128"/>
              </a:rPr>
              <a:t>0.1</a:t>
            </a:r>
            <a:r>
              <a:rPr lang="en-US" altLang="en-US" baseline="-25000" dirty="0">
                <a:solidFill>
                  <a:schemeClr val="tx2">
                    <a:lumMod val="60000"/>
                    <a:lumOff val="40000"/>
                  </a:schemeClr>
                </a:solidFill>
                <a:ea typeface="ＭＳ Ｐゴシック" panose="020B0600070205080204" pitchFamily="34" charset="-128"/>
              </a:rPr>
              <a:t>2</a:t>
            </a:r>
            <a:r>
              <a:rPr lang="en-US" altLang="en-US" dirty="0">
                <a:solidFill>
                  <a:schemeClr val="tx1"/>
                </a:solidFill>
                <a:ea typeface="ＭＳ Ｐゴシック" panose="020B0600070205080204" pitchFamily="34" charset="-128"/>
              </a:rPr>
              <a:t>)</a:t>
            </a:r>
          </a:p>
          <a:p>
            <a:pPr lvl="1" eaLnBrk="1" hangingPunct="1"/>
            <a:endParaRPr lang="en-US" altLang="en-US" dirty="0">
              <a:ea typeface="ＭＳ Ｐゴシック" panose="020B0600070205080204" pitchFamily="34" charset="-128"/>
            </a:endParaRPr>
          </a:p>
          <a:p>
            <a:pPr lvl="1" eaLnBrk="1" hangingPunct="1"/>
            <a:endParaRPr lang="en-US" altLang="en-US" dirty="0">
              <a:ea typeface="ＭＳ Ｐゴシック" panose="020B0600070205080204" pitchFamily="34" charset="-128"/>
            </a:endParaRPr>
          </a:p>
          <a:p>
            <a:pPr lvl="1" eaLnBrk="1" hangingPunct="1"/>
            <a:endParaRPr lang="en-US" altLang="en-US" dirty="0">
              <a:ea typeface="ＭＳ Ｐゴシック" panose="020B0600070205080204" pitchFamily="34" charset="-128"/>
            </a:endParaRPr>
          </a:p>
          <a:p>
            <a:pPr lvl="1" eaLnBrk="1" hangingPunct="1"/>
            <a:endParaRPr lang="en-US" altLang="en-US" dirty="0">
              <a:ea typeface="ＭＳ Ｐゴシック" panose="020B0600070205080204" pitchFamily="34" charset="-128"/>
            </a:endParaRPr>
          </a:p>
          <a:p>
            <a:pPr lvl="1" eaLnBrk="1" hangingPunct="1">
              <a:buFont typeface="Wingdings" pitchFamily="2" charset="2"/>
              <a:buNone/>
            </a:pPr>
            <a:endParaRPr lang="en-US" altLang="en-US" dirty="0">
              <a:ea typeface="ＭＳ Ｐゴシック" panose="020B0600070205080204" pitchFamily="34" charset="-128"/>
            </a:endParaRPr>
          </a:p>
        </p:txBody>
      </p:sp>
      <p:cxnSp>
        <p:nvCxnSpPr>
          <p:cNvPr id="7" name="Straight Arrow Connector 6">
            <a:extLst>
              <a:ext uri="{FF2B5EF4-FFF2-40B4-BE49-F238E27FC236}">
                <a16:creationId xmlns:a16="http://schemas.microsoft.com/office/drawing/2014/main" id="{7C300250-1F1D-6D4F-9B51-4F0D3B91C985}"/>
              </a:ext>
            </a:extLst>
          </p:cNvPr>
          <p:cNvCxnSpPr/>
          <p:nvPr/>
        </p:nvCxnSpPr>
        <p:spPr>
          <a:xfrm flipV="1">
            <a:off x="2122487" y="2318084"/>
            <a:ext cx="1037808" cy="1750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236" name="TextBox 13">
            <a:extLst>
              <a:ext uri="{FF2B5EF4-FFF2-40B4-BE49-F238E27FC236}">
                <a16:creationId xmlns:a16="http://schemas.microsoft.com/office/drawing/2014/main" id="{C2052633-363D-044F-85C6-53DCB692A397}"/>
              </a:ext>
            </a:extLst>
          </p:cNvPr>
          <p:cNvSpPr txBox="1">
            <a:spLocks noChangeArrowheads="1"/>
          </p:cNvSpPr>
          <p:nvPr/>
        </p:nvSpPr>
        <p:spPr bwMode="auto">
          <a:xfrm>
            <a:off x="1571626" y="4068180"/>
            <a:ext cx="8397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Binary</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point</a:t>
            </a:r>
          </a:p>
        </p:txBody>
      </p:sp>
      <p:cxnSp>
        <p:nvCxnSpPr>
          <p:cNvPr id="10" name="Straight Arrow Connector 9">
            <a:extLst>
              <a:ext uri="{FF2B5EF4-FFF2-40B4-BE49-F238E27FC236}">
                <a16:creationId xmlns:a16="http://schemas.microsoft.com/office/drawing/2014/main" id="{67C05F28-8FC4-8D45-BA4F-52969C07079D}"/>
              </a:ext>
            </a:extLst>
          </p:cNvPr>
          <p:cNvCxnSpPr/>
          <p:nvPr/>
        </p:nvCxnSpPr>
        <p:spPr>
          <a:xfrm flipH="1" flipV="1">
            <a:off x="3561347" y="2318084"/>
            <a:ext cx="548692" cy="2186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3D6B1B5-48F8-3D41-ACAB-8DFFE31747A2}"/>
              </a:ext>
            </a:extLst>
          </p:cNvPr>
          <p:cNvCxnSpPr>
            <a:cxnSpLocks/>
          </p:cNvCxnSpPr>
          <p:nvPr/>
        </p:nvCxnSpPr>
        <p:spPr>
          <a:xfrm flipH="1" flipV="1">
            <a:off x="4578350" y="2281989"/>
            <a:ext cx="1922464" cy="2584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1660C91-F5EC-C74F-977A-A97E60AD939B}"/>
              </a:ext>
            </a:extLst>
          </p:cNvPr>
          <p:cNvSpPr txBox="1">
            <a:spLocks noChangeArrowheads="1"/>
          </p:cNvSpPr>
          <p:nvPr/>
        </p:nvSpPr>
        <p:spPr bwMode="auto">
          <a:xfrm>
            <a:off x="3935412" y="4504742"/>
            <a:ext cx="9413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fraction</a:t>
            </a:r>
          </a:p>
        </p:txBody>
      </p:sp>
      <p:sp>
        <p:nvSpPr>
          <p:cNvPr id="20" name="TextBox 19">
            <a:extLst>
              <a:ext uri="{FF2B5EF4-FFF2-40B4-BE49-F238E27FC236}">
                <a16:creationId xmlns:a16="http://schemas.microsoft.com/office/drawing/2014/main" id="{F54722D7-19CB-2A4A-A556-5E1B52DB8989}"/>
              </a:ext>
            </a:extLst>
          </p:cNvPr>
          <p:cNvSpPr txBox="1">
            <a:spLocks noChangeArrowheads="1"/>
          </p:cNvSpPr>
          <p:nvPr/>
        </p:nvSpPr>
        <p:spPr bwMode="auto">
          <a:xfrm>
            <a:off x="6122988" y="4866692"/>
            <a:ext cx="1135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exponent</a:t>
            </a:r>
          </a:p>
        </p:txBody>
      </p:sp>
      <p:sp>
        <p:nvSpPr>
          <p:cNvPr id="95241" name="TextBox 21">
            <a:extLst>
              <a:ext uri="{FF2B5EF4-FFF2-40B4-BE49-F238E27FC236}">
                <a16:creationId xmlns:a16="http://schemas.microsoft.com/office/drawing/2014/main" id="{D878B28C-0E97-AC47-9D41-06365920A95D}"/>
              </a:ext>
            </a:extLst>
          </p:cNvPr>
          <p:cNvSpPr txBox="1">
            <a:spLocks noChangeArrowheads="1"/>
          </p:cNvSpPr>
          <p:nvPr/>
        </p:nvSpPr>
        <p:spPr bwMode="auto">
          <a:xfrm>
            <a:off x="4343401" y="3523667"/>
            <a:ext cx="9032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Base 2</a:t>
            </a:r>
          </a:p>
        </p:txBody>
      </p:sp>
      <p:cxnSp>
        <p:nvCxnSpPr>
          <p:cNvPr id="17" name="Straight Arrow Connector 16">
            <a:extLst>
              <a:ext uri="{FF2B5EF4-FFF2-40B4-BE49-F238E27FC236}">
                <a16:creationId xmlns:a16="http://schemas.microsoft.com/office/drawing/2014/main" id="{C84EA778-5E68-1F4A-9B84-42BB3CEB1975}"/>
              </a:ext>
            </a:extLst>
          </p:cNvPr>
          <p:cNvCxnSpPr>
            <a:cxnSpLocks/>
          </p:cNvCxnSpPr>
          <p:nvPr/>
        </p:nvCxnSpPr>
        <p:spPr>
          <a:xfrm flipH="1" flipV="1">
            <a:off x="3966411" y="2366211"/>
            <a:ext cx="611939" cy="1011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A18BEFB8-F1A3-9F45-B57D-BCC90D4B1CE6}"/>
              </a:ext>
            </a:extLst>
          </p:cNvPr>
          <p:cNvSpPr>
            <a:spLocks noChangeArrowheads="1"/>
          </p:cNvSpPr>
          <p:nvPr/>
        </p:nvSpPr>
        <p:spPr bwMode="auto">
          <a:xfrm>
            <a:off x="3286125" y="5735055"/>
            <a:ext cx="51244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FF0000"/>
                </a:solidFill>
                <a:effectLst/>
                <a:uLnTx/>
                <a:uFillTx/>
                <a:latin typeface="Times New Roman" panose="02020603050405020304" pitchFamily="18" charset="0"/>
                <a:ea typeface="ＭＳ Ｐゴシック" panose="020B0600070205080204" pitchFamily="34" charset="-128"/>
                <a:cs typeface="+mn-cs"/>
              </a:rPr>
              <a:t>A tradeoff between precision and range.</a:t>
            </a:r>
            <a:endParaRPr kumimoji="0" lang="en-US" altLang="en-US" sz="24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364036497"/>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10"/>
          <p:cNvSpPr>
            <a:spLocks noGrp="1" noChangeArrowheads="1"/>
          </p:cNvSpPr>
          <p:nvPr>
            <p:ph type="title"/>
          </p:nvPr>
        </p:nvSpPr>
        <p:spPr>
          <a:xfrm>
            <a:off x="952919" y="743659"/>
            <a:ext cx="8259762" cy="646331"/>
          </a:xfrm>
        </p:spPr>
        <p:txBody>
          <a:bodyPr/>
          <a:lstStyle/>
          <a:p>
            <a:pPr eaLnBrk="1" hangingPunct="1"/>
            <a:r>
              <a:rPr lang="en-US" dirty="0">
                <a:latin typeface="Arial" charset="0"/>
              </a:rPr>
              <a:t>IEEE 754 Floating-Point Format </a:t>
            </a:r>
          </a:p>
        </p:txBody>
      </p:sp>
      <p:grpSp>
        <p:nvGrpSpPr>
          <p:cNvPr id="2" name="Group 1">
            <a:extLst>
              <a:ext uri="{FF2B5EF4-FFF2-40B4-BE49-F238E27FC236}">
                <a16:creationId xmlns:a16="http://schemas.microsoft.com/office/drawing/2014/main" id="{1CC838C6-0FE8-894C-A418-A8F097488685}"/>
              </a:ext>
            </a:extLst>
          </p:cNvPr>
          <p:cNvGrpSpPr/>
          <p:nvPr/>
        </p:nvGrpSpPr>
        <p:grpSpPr>
          <a:xfrm>
            <a:off x="2248743" y="4240954"/>
            <a:ext cx="7926920" cy="469890"/>
            <a:chOff x="1037568" y="3134035"/>
            <a:chExt cx="7926920" cy="469890"/>
          </a:xfrm>
        </p:grpSpPr>
        <p:sp>
          <p:nvSpPr>
            <p:cNvPr id="99334" name="Text Box 4"/>
            <p:cNvSpPr txBox="1">
              <a:spLocks noChangeArrowheads="1"/>
            </p:cNvSpPr>
            <p:nvPr/>
          </p:nvSpPr>
          <p:spPr bwMode="auto">
            <a:xfrm>
              <a:off x="1037568" y="3134035"/>
              <a:ext cx="506355" cy="469890"/>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charset="0"/>
                  <a:ea typeface="ＭＳ Ｐゴシック" charset="0"/>
                </a:rPr>
                <a:t>S</a:t>
              </a:r>
            </a:p>
          </p:txBody>
        </p:sp>
        <p:sp>
          <p:nvSpPr>
            <p:cNvPr id="99335" name="Text Box 5"/>
            <p:cNvSpPr txBox="1">
              <a:spLocks noChangeArrowheads="1"/>
            </p:cNvSpPr>
            <p:nvPr/>
          </p:nvSpPr>
          <p:spPr bwMode="auto">
            <a:xfrm>
              <a:off x="1543923" y="3134035"/>
              <a:ext cx="2236028" cy="461656"/>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rial" charset="0"/>
                  <a:ea typeface="ＭＳ Ｐゴシック" charset="0"/>
                </a:rPr>
                <a:t>Stored Exp.</a:t>
              </a:r>
            </a:p>
          </p:txBody>
        </p:sp>
        <p:sp>
          <p:nvSpPr>
            <p:cNvPr id="99336" name="Text Box 6"/>
            <p:cNvSpPr txBox="1">
              <a:spLocks noChangeArrowheads="1"/>
            </p:cNvSpPr>
            <p:nvPr/>
          </p:nvSpPr>
          <p:spPr bwMode="auto">
            <a:xfrm>
              <a:off x="3782192" y="3134035"/>
              <a:ext cx="5182296" cy="469890"/>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Arial" charset="0"/>
                  <a:ea typeface="ＭＳ Ｐゴシック" charset="0"/>
                </a:rPr>
                <a:t>Fraction</a:t>
              </a:r>
            </a:p>
          </p:txBody>
        </p:sp>
      </p:grpSp>
      <p:sp>
        <p:nvSpPr>
          <p:cNvPr id="99337" name="Text Box 7"/>
          <p:cNvSpPr txBox="1">
            <a:spLocks noChangeArrowheads="1"/>
          </p:cNvSpPr>
          <p:nvPr/>
        </p:nvSpPr>
        <p:spPr bwMode="auto">
          <a:xfrm>
            <a:off x="2843708" y="4729462"/>
            <a:ext cx="1788182"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ahoma" charset="0"/>
                <a:ea typeface="ＭＳ Ｐゴシック" charset="0"/>
              </a:rPr>
              <a:t>  single: 8 bits</a:t>
            </a:r>
          </a:p>
        </p:txBody>
      </p:sp>
      <p:sp>
        <p:nvSpPr>
          <p:cNvPr id="99338" name="Text Box 8"/>
          <p:cNvSpPr txBox="1">
            <a:spLocks noChangeArrowheads="1"/>
          </p:cNvSpPr>
          <p:nvPr/>
        </p:nvSpPr>
        <p:spPr bwMode="auto">
          <a:xfrm>
            <a:off x="6461020" y="4745152"/>
            <a:ext cx="1767343"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ahoma" charset="0"/>
                <a:ea typeface="ＭＳ Ｐゴシック" charset="0"/>
              </a:rPr>
              <a:t>single: 23 bits</a:t>
            </a:r>
          </a:p>
        </p:txBody>
      </p:sp>
      <p:graphicFrame>
        <p:nvGraphicFramePr>
          <p:cNvPr id="99339" name="Object 9"/>
          <p:cNvGraphicFramePr>
            <a:graphicFrameLocks noChangeAspect="1"/>
          </p:cNvGraphicFramePr>
          <p:nvPr>
            <p:extLst>
              <p:ext uri="{D42A27DB-BD31-4B8C-83A1-F6EECF244321}">
                <p14:modId xmlns:p14="http://schemas.microsoft.com/office/powerpoint/2010/main" val="721283245"/>
              </p:ext>
            </p:extLst>
          </p:nvPr>
        </p:nvGraphicFramePr>
        <p:xfrm>
          <a:off x="1893800" y="2591233"/>
          <a:ext cx="8281988" cy="546089"/>
        </p:xfrm>
        <a:graphic>
          <a:graphicData uri="http://schemas.openxmlformats.org/presentationml/2006/ole">
            <mc:AlternateContent xmlns:mc="http://schemas.openxmlformats.org/markup-compatibility/2006">
              <mc:Choice xmlns:v="urn:schemas-microsoft-com:vml" Requires="v">
                <p:oleObj name="Equation" r:id="rId3" imgW="2451100" imgH="228600" progId="Equation.3">
                  <p:embed/>
                </p:oleObj>
              </mc:Choice>
              <mc:Fallback>
                <p:oleObj name="Equation" r:id="rId3" imgW="2451100" imgH="228600" progId="Equation.3">
                  <p:embed/>
                  <p:pic>
                    <p:nvPicPr>
                      <p:cNvPr id="99339"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3800" y="2591233"/>
                        <a:ext cx="8281988" cy="546089"/>
                      </a:xfrm>
                      <a:prstGeom prst="rect">
                        <a:avLst/>
                      </a:prstGeom>
                      <a:solidFill>
                        <a:srgbClr val="BFBFBF"/>
                      </a:solidFill>
                      <a:ln>
                        <a:noFill/>
                      </a:ln>
                      <a:extLs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cxnSp>
        <p:nvCxnSpPr>
          <p:cNvPr id="4" name="Straight Arrow Connector 3"/>
          <p:cNvCxnSpPr>
            <a:cxnSpLocks/>
            <a:endCxn id="99334" idx="0"/>
          </p:cNvCxnSpPr>
          <p:nvPr/>
        </p:nvCxnSpPr>
        <p:spPr bwMode="auto">
          <a:xfrm flipH="1">
            <a:off x="2501921" y="2864282"/>
            <a:ext cx="1220682" cy="1376672"/>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8" name="Straight Arrow Connector 7"/>
          <p:cNvCxnSpPr/>
          <p:nvPr/>
        </p:nvCxnSpPr>
        <p:spPr bwMode="auto">
          <a:xfrm>
            <a:off x="6035589" y="3127808"/>
            <a:ext cx="1131887" cy="1114425"/>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p:cNvCxnSpPr>
            <a:endCxn id="99335" idx="0"/>
          </p:cNvCxnSpPr>
          <p:nvPr/>
        </p:nvCxnSpPr>
        <p:spPr bwMode="auto">
          <a:xfrm flipH="1">
            <a:off x="3873414" y="2864282"/>
            <a:ext cx="4352925" cy="1376362"/>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99331" name="TextBox 4"/>
          <p:cNvSpPr txBox="1">
            <a:spLocks noChangeArrowheads="1"/>
          </p:cNvSpPr>
          <p:nvPr/>
        </p:nvSpPr>
        <p:spPr bwMode="auto">
          <a:xfrm>
            <a:off x="5567275" y="3599294"/>
            <a:ext cx="76835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rPr>
              <a:t>+ 127</a:t>
            </a:r>
          </a:p>
        </p:txBody>
      </p:sp>
      <p:sp>
        <p:nvSpPr>
          <p:cNvPr id="5" name="TextBox 4">
            <a:extLst>
              <a:ext uri="{FF2B5EF4-FFF2-40B4-BE49-F238E27FC236}">
                <a16:creationId xmlns:a16="http://schemas.microsoft.com/office/drawing/2014/main" id="{8A1A1EEF-E802-F74D-AE35-B69AAD262546}"/>
              </a:ext>
            </a:extLst>
          </p:cNvPr>
          <p:cNvSpPr txBox="1"/>
          <p:nvPr/>
        </p:nvSpPr>
        <p:spPr>
          <a:xfrm>
            <a:off x="4627356" y="2228156"/>
            <a:ext cx="287707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panose="020B0604020202020204"/>
                <a:ea typeface="+mn-ea"/>
                <a:cs typeface="+mn-cs"/>
              </a:rPr>
              <a:t>Example: -111111.01 x 2</a:t>
            </a:r>
            <a:r>
              <a:rPr kumimoji="0" lang="en-US" sz="1800" b="0" i="0" u="none" strike="noStrike" kern="1200" cap="none" spc="0" normalizeH="0" baseline="30000" noProof="0" dirty="0">
                <a:ln>
                  <a:noFill/>
                </a:ln>
                <a:solidFill>
                  <a:srgbClr val="FF0000"/>
                </a:solidFill>
                <a:effectLst/>
                <a:uLnTx/>
                <a:uFillTx/>
                <a:latin typeface="Arial" panose="020B0604020202020204"/>
                <a:ea typeface="+mn-ea"/>
                <a:cs typeface="+mn-cs"/>
              </a:rPr>
              <a:t>7</a:t>
            </a:r>
            <a:r>
              <a:rPr kumimoji="0" lang="en-US" sz="1800" b="0" i="0" u="none" strike="noStrike" kern="1200" cap="none" spc="0" normalizeH="0" baseline="0" noProof="0" dirty="0">
                <a:ln>
                  <a:noFill/>
                </a:ln>
                <a:solidFill>
                  <a:srgbClr val="FF0000"/>
                </a:solidFill>
                <a:effectLst/>
                <a:uLnTx/>
                <a:uFillTx/>
                <a:latin typeface="Arial" panose="020B0604020202020204"/>
                <a:ea typeface="+mn-ea"/>
                <a:cs typeface="+mn-cs"/>
              </a:rPr>
              <a:t> </a:t>
            </a:r>
          </a:p>
        </p:txBody>
      </p:sp>
    </p:spTree>
    <p:extLst>
      <p:ext uri="{BB962C8B-B14F-4D97-AF65-F5344CB8AC3E}">
        <p14:creationId xmlns:p14="http://schemas.microsoft.com/office/powerpoint/2010/main" val="315115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3048000" y="3306766"/>
            <a:ext cx="6324601" cy="953750"/>
            <a:chOff x="2133599" y="2209800"/>
            <a:chExt cx="4876801" cy="635833"/>
          </a:xfrm>
        </p:grpSpPr>
        <p:sp>
          <p:nvSpPr>
            <p:cNvPr id="4" name="Rectangle 3"/>
            <p:cNvSpPr/>
            <p:nvPr/>
          </p:nvSpPr>
          <p:spPr>
            <a:xfrm>
              <a:off x="2133600" y="2514600"/>
              <a:ext cx="304800" cy="304800"/>
            </a:xfrm>
            <a:prstGeom prst="rect">
              <a:avLst/>
            </a:prstGeom>
            <a:solidFill>
              <a:schemeClr val="bg1">
                <a:lumMod val="95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Rectangle 4"/>
            <p:cNvSpPr/>
            <p:nvPr/>
          </p:nvSpPr>
          <p:spPr>
            <a:xfrm>
              <a:off x="2438400" y="2514600"/>
              <a:ext cx="1066800" cy="304800"/>
            </a:xfrm>
            <a:prstGeom prst="rect">
              <a:avLst/>
            </a:prstGeom>
            <a:solidFill>
              <a:schemeClr val="bg1">
                <a:lumMod val="95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Exponent</a:t>
              </a:r>
            </a:p>
          </p:txBody>
        </p:sp>
        <p:sp>
          <p:nvSpPr>
            <p:cNvPr id="6" name="Rectangle 5"/>
            <p:cNvSpPr/>
            <p:nvPr/>
          </p:nvSpPr>
          <p:spPr>
            <a:xfrm>
              <a:off x="3505200" y="2514600"/>
              <a:ext cx="3505200" cy="304800"/>
            </a:xfrm>
            <a:prstGeom prst="rect">
              <a:avLst/>
            </a:prstGeom>
            <a:solidFill>
              <a:schemeClr val="bg1">
                <a:lumMod val="95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Significand</a:t>
              </a:r>
              <a:endPar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7" name="Rectangle 6"/>
            <p:cNvSpPr/>
            <p:nvPr/>
          </p:nvSpPr>
          <p:spPr>
            <a:xfrm>
              <a:off x="2133600" y="2209800"/>
              <a:ext cx="304800" cy="304800"/>
            </a:xfrm>
            <a:prstGeom prst="rect">
              <a:avLst/>
            </a:prstGeom>
            <a:noFill/>
            <a:ln w="3175">
              <a:noFill/>
            </a:ln>
          </p:spPr>
          <p:style>
            <a:lnRef idx="2">
              <a:schemeClr val="dk1"/>
            </a:lnRef>
            <a:fillRef idx="1">
              <a:schemeClr val="lt1"/>
            </a:fillRef>
            <a:effectRef idx="0">
              <a:schemeClr val="dk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31</a:t>
              </a:r>
            </a:p>
          </p:txBody>
        </p:sp>
        <p:sp>
          <p:nvSpPr>
            <p:cNvPr id="10" name="Rectangle 9"/>
            <p:cNvSpPr/>
            <p:nvPr/>
          </p:nvSpPr>
          <p:spPr>
            <a:xfrm>
              <a:off x="2438400" y="2209800"/>
              <a:ext cx="304800" cy="304800"/>
            </a:xfrm>
            <a:prstGeom prst="rect">
              <a:avLst/>
            </a:prstGeom>
            <a:noFill/>
            <a:ln w="3175">
              <a:noFill/>
            </a:ln>
          </p:spPr>
          <p:style>
            <a:lnRef idx="2">
              <a:schemeClr val="dk1"/>
            </a:lnRef>
            <a:fillRef idx="1">
              <a:schemeClr val="lt1"/>
            </a:fillRef>
            <a:effectRef idx="0">
              <a:schemeClr val="dk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30</a:t>
              </a:r>
            </a:p>
          </p:txBody>
        </p:sp>
        <p:sp>
          <p:nvSpPr>
            <p:cNvPr id="11" name="Rectangle 10"/>
            <p:cNvSpPr/>
            <p:nvPr/>
          </p:nvSpPr>
          <p:spPr>
            <a:xfrm>
              <a:off x="3200400" y="2209800"/>
              <a:ext cx="304800" cy="304800"/>
            </a:xfrm>
            <a:prstGeom prst="rect">
              <a:avLst/>
            </a:prstGeom>
            <a:noFill/>
            <a:ln w="3175">
              <a:noFill/>
            </a:ln>
          </p:spPr>
          <p:style>
            <a:lnRef idx="2">
              <a:schemeClr val="dk1"/>
            </a:lnRef>
            <a:fillRef idx="1">
              <a:schemeClr val="lt1"/>
            </a:fillRef>
            <a:effectRef idx="0">
              <a:schemeClr val="dk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23</a:t>
              </a:r>
            </a:p>
          </p:txBody>
        </p:sp>
        <p:sp>
          <p:nvSpPr>
            <p:cNvPr id="12" name="Rectangle 11"/>
            <p:cNvSpPr/>
            <p:nvPr/>
          </p:nvSpPr>
          <p:spPr>
            <a:xfrm>
              <a:off x="3505200" y="2209800"/>
              <a:ext cx="304800" cy="304800"/>
            </a:xfrm>
            <a:prstGeom prst="rect">
              <a:avLst/>
            </a:prstGeom>
            <a:noFill/>
            <a:ln w="3175">
              <a:noFill/>
            </a:ln>
          </p:spPr>
          <p:style>
            <a:lnRef idx="2">
              <a:schemeClr val="dk1"/>
            </a:lnRef>
            <a:fillRef idx="1">
              <a:schemeClr val="lt1"/>
            </a:fillRef>
            <a:effectRef idx="0">
              <a:schemeClr val="dk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22</a:t>
              </a:r>
            </a:p>
          </p:txBody>
        </p:sp>
        <p:sp>
          <p:nvSpPr>
            <p:cNvPr id="13" name="Rectangle 12"/>
            <p:cNvSpPr/>
            <p:nvPr/>
          </p:nvSpPr>
          <p:spPr>
            <a:xfrm>
              <a:off x="6705600" y="2209800"/>
              <a:ext cx="304800" cy="304800"/>
            </a:xfrm>
            <a:prstGeom prst="rect">
              <a:avLst/>
            </a:prstGeom>
            <a:noFill/>
            <a:ln w="3175">
              <a:noFill/>
            </a:ln>
          </p:spPr>
          <p:style>
            <a:lnRef idx="2">
              <a:schemeClr val="dk1"/>
            </a:lnRef>
            <a:fillRef idx="1">
              <a:schemeClr val="lt1"/>
            </a:fillRef>
            <a:effectRef idx="0">
              <a:schemeClr val="dk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0</a:t>
              </a:r>
            </a:p>
          </p:txBody>
        </p:sp>
        <p:sp>
          <p:nvSpPr>
            <p:cNvPr id="16" name="Rectangle 15"/>
            <p:cNvSpPr/>
            <p:nvPr/>
          </p:nvSpPr>
          <p:spPr>
            <a:xfrm>
              <a:off x="2133599" y="2496820"/>
              <a:ext cx="294428" cy="34881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Arial" panose="020B0604020202020204"/>
                  <a:ea typeface="+mn-ea"/>
                  <a:cs typeface="+mn-cs"/>
                </a:rPr>
                <a:t>±</a:t>
              </a:r>
            </a:p>
          </p:txBody>
        </p:sp>
      </p:grpSp>
      <p:sp>
        <p:nvSpPr>
          <p:cNvPr id="2" name="Title 1"/>
          <p:cNvSpPr>
            <a:spLocks noGrp="1"/>
          </p:cNvSpPr>
          <p:nvPr>
            <p:ph type="title"/>
          </p:nvPr>
        </p:nvSpPr>
        <p:spPr>
          <a:xfrm>
            <a:off x="936516" y="747971"/>
            <a:ext cx="6823852" cy="662361"/>
          </a:xfrm>
        </p:spPr>
        <p:txBody>
          <a:bodyPr>
            <a:normAutofit/>
          </a:bodyPr>
          <a:lstStyle/>
          <a:p>
            <a:r>
              <a:rPr lang="en-US" dirty="0"/>
              <a:t>FLOATING-POINT DATA TYPE</a:t>
            </a:r>
          </a:p>
        </p:txBody>
      </p:sp>
      <p:sp>
        <p:nvSpPr>
          <p:cNvPr id="15" name="TextBox 14"/>
          <p:cNvSpPr txBox="1"/>
          <p:nvPr/>
        </p:nvSpPr>
        <p:spPr>
          <a:xfrm>
            <a:off x="2967790" y="1750740"/>
            <a:ext cx="6324601"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Single-precision floating-point (float)</a:t>
            </a:r>
          </a:p>
        </p:txBody>
      </p:sp>
      <p:cxnSp>
        <p:nvCxnSpPr>
          <p:cNvPr id="18" name="Straight Arrow Connector 17"/>
          <p:cNvCxnSpPr/>
          <p:nvPr/>
        </p:nvCxnSpPr>
        <p:spPr>
          <a:xfrm flipV="1">
            <a:off x="4826794" y="4461433"/>
            <a:ext cx="4545807" cy="11351"/>
          </a:xfrm>
          <a:prstGeom prst="straightConnector1">
            <a:avLst/>
          </a:prstGeom>
          <a:ln w="19050">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6642496" y="4270932"/>
            <a:ext cx="914400" cy="381000"/>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23 bits</a:t>
            </a:r>
          </a:p>
        </p:txBody>
      </p:sp>
      <p:cxnSp>
        <p:nvCxnSpPr>
          <p:cNvPr id="22" name="Straight Arrow Connector 21"/>
          <p:cNvCxnSpPr/>
          <p:nvPr/>
        </p:nvCxnSpPr>
        <p:spPr>
          <a:xfrm>
            <a:off x="3412200" y="4461433"/>
            <a:ext cx="1414592" cy="1945"/>
          </a:xfrm>
          <a:prstGeom prst="straightConnector1">
            <a:avLst/>
          </a:prstGeom>
          <a:ln w="19050">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743392" y="4270932"/>
            <a:ext cx="738121" cy="369332"/>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8 bits</a:t>
            </a:r>
          </a:p>
        </p:txBody>
      </p:sp>
      <p:sp>
        <p:nvSpPr>
          <p:cNvPr id="24" name="TextBox 23"/>
          <p:cNvSpPr txBox="1"/>
          <p:nvPr/>
        </p:nvSpPr>
        <p:spPr>
          <a:xfrm>
            <a:off x="5559654" y="4705290"/>
            <a:ext cx="467922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Precision: 23 bits ≈  7 decimal digits</a:t>
            </a:r>
          </a:p>
        </p:txBody>
      </p:sp>
      <p:sp>
        <p:nvSpPr>
          <p:cNvPr id="25" name="TextBox 24"/>
          <p:cNvSpPr txBox="1"/>
          <p:nvPr/>
        </p:nvSpPr>
        <p:spPr>
          <a:xfrm>
            <a:off x="3007894" y="4726023"/>
            <a:ext cx="259005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Range: 2</a:t>
            </a:r>
            <a:r>
              <a:rPr kumimoji="0" lang="en-US" sz="2000" b="0" i="0" u="none" strike="noStrike" kern="1200" cap="none" spc="0" normalizeH="0" baseline="30000" noProof="0" dirty="0">
                <a:ln>
                  <a:noFill/>
                </a:ln>
                <a:solidFill>
                  <a:srgbClr val="000000"/>
                </a:solidFill>
                <a:effectLst/>
                <a:uLnTx/>
                <a:uFillTx/>
                <a:latin typeface="Arial" panose="020B0604020202020204"/>
                <a:ea typeface="+mn-ea"/>
                <a:cs typeface="+mn-cs"/>
              </a:rPr>
              <a:t>±127</a:t>
            </a: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 ≈ 10</a:t>
            </a:r>
            <a:r>
              <a:rPr kumimoji="0" lang="en-US" sz="2000" b="0" i="0" u="none" strike="noStrike" kern="1200" cap="none" spc="0" normalizeH="0" baseline="30000" noProof="0" dirty="0">
                <a:ln>
                  <a:noFill/>
                </a:ln>
                <a:solidFill>
                  <a:srgbClr val="000000"/>
                </a:solidFill>
                <a:effectLst/>
                <a:uLnTx/>
                <a:uFillTx/>
                <a:latin typeface="Arial" panose="020B0604020202020204"/>
                <a:ea typeface="+mn-ea"/>
                <a:cs typeface="+mn-cs"/>
              </a:rPr>
              <a:t>±38</a:t>
            </a: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6" name="TextBox 25"/>
          <p:cNvSpPr txBox="1"/>
          <p:nvPr/>
        </p:nvSpPr>
        <p:spPr>
          <a:xfrm>
            <a:off x="7010401" y="5385137"/>
            <a:ext cx="3545303" cy="1015663"/>
          </a:xfrm>
          <a:prstGeom prst="rect">
            <a:avLst/>
          </a:prstGeom>
          <a:solidFill>
            <a:schemeClr val="accent4">
              <a:lumMod val="40000"/>
              <a:lumOff val="60000"/>
            </a:schemeClr>
          </a:solidFill>
          <a:ln/>
        </p:spPr>
        <p:style>
          <a:lnRef idx="1">
            <a:schemeClr val="accent2"/>
          </a:lnRef>
          <a:fillRef idx="2">
            <a:schemeClr val="accent2"/>
          </a:fillRef>
          <a:effectRef idx="1">
            <a:schemeClr val="accent2"/>
          </a:effectRef>
          <a:fontRef idx="minor">
            <a:schemeClr val="dk1"/>
          </a:fontRef>
        </p:style>
        <p:txBody>
          <a:bodyPr wrap="square" tIns="91440" bIns="91440" rtlCol="0">
            <a:spAutoFit/>
          </a:bodyPr>
          <a:lstStyle/>
          <a:p>
            <a:pPr marL="1027113" marR="0" lvl="1"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panose="020B0604020202020204"/>
              </a:rPr>
              <a:t>Our</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 Cortex-M4 FPU </a:t>
            </a:r>
            <a:r>
              <a:rPr kumimoji="0" lang="en-US" sz="1800" b="1" i="0" u="none" strike="noStrike" kern="1200" cap="none" spc="0" normalizeH="0" baseline="0" noProof="0" dirty="0">
                <a:ln>
                  <a:noFill/>
                </a:ln>
                <a:solidFill>
                  <a:srgbClr val="FF0000"/>
                </a:solidFill>
                <a:effectLst/>
                <a:uLnTx/>
                <a:uFillTx/>
                <a:latin typeface="Arial" panose="020B0604020202020204"/>
                <a:ea typeface="+mn-ea"/>
                <a:cs typeface="+mn-cs"/>
              </a:rPr>
              <a:t>doesn’t</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 support double</a:t>
            </a:r>
            <a:r>
              <a:rPr lang="en-US" dirty="0">
                <a:solidFill>
                  <a:srgbClr val="000000"/>
                </a:solidFill>
                <a:latin typeface="Arial" panose="020B0604020202020204"/>
              </a:rPr>
              <a:t>!</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7" name="Picture 4" descr="http://www.aamu.edu/campuslife/living-on-campus/residentialLife/SiteAssets/pages/default/Warning_sig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7105375" y="5461337"/>
            <a:ext cx="971826" cy="838200"/>
          </a:xfrm>
          <a:prstGeom prst="rect">
            <a:avLst/>
          </a:prstGeom>
          <a:noFill/>
          <a:extLst>
            <a:ext uri="{909E8E84-426E-40dd-AFC4-6F175D3DCCD1}">
              <a14:hiddenFill xmlns:a14="http://schemas.microsoft.com/office/drawing/2010/main" xmlns="">
                <a:solidFill>
                  <a:srgbClr val="FFFFFF"/>
                </a:solidFill>
              </a14:hiddenFill>
            </a:ext>
          </a:extLst>
        </p:spPr>
      </p:pic>
      <p:sp>
        <p:nvSpPr>
          <p:cNvPr id="30" name="Rectangle 29"/>
          <p:cNvSpPr/>
          <p:nvPr/>
        </p:nvSpPr>
        <p:spPr>
          <a:xfrm>
            <a:off x="2563059" y="2479993"/>
            <a:ext cx="2193425" cy="819014"/>
          </a:xfrm>
          <a:prstGeom prst="rect">
            <a:avLst/>
          </a:prstGeom>
          <a:solidFill>
            <a:srgbClr val="FF0000">
              <a:alpha val="25000"/>
            </a:srgb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ysClr val="windowText" lastClr="000000"/>
                </a:solidFill>
                <a:effectLst/>
                <a:uLnTx/>
                <a:uFillTx/>
                <a:latin typeface="Arial" panose="020B0604020202020204"/>
                <a:ea typeface="+mn-ea"/>
                <a:cs typeface="+mn-cs"/>
              </a:rPr>
              <a:t>Excess-127</a:t>
            </a:r>
            <a:r>
              <a:rPr kumimoji="0" lang="en-US" sz="1800" b="0" i="0" u="none" strike="noStrike" kern="1200" cap="none" spc="0" normalizeH="0" baseline="0" noProof="0" dirty="0">
                <a:ln>
                  <a:noFill/>
                </a:ln>
                <a:solidFill>
                  <a:sysClr val="windowText" lastClr="000000"/>
                </a:solidFill>
                <a:effectLst/>
                <a:uLnTx/>
                <a:uFillTx/>
                <a:latin typeface="Arial" panose="020B0604020202020204"/>
                <a:ea typeface="+mn-ea"/>
                <a:cs typeface="+mn-cs"/>
              </a:rPr>
              <a:t> format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Text" lastClr="000000"/>
                </a:solidFill>
                <a:effectLst/>
                <a:uLnTx/>
                <a:uFillTx/>
                <a:latin typeface="Arial" panose="020B0604020202020204"/>
                <a:ea typeface="+mn-ea"/>
                <a:cs typeface="+mn-cs"/>
              </a:rPr>
              <a:t>2</a:t>
            </a:r>
            <a:r>
              <a:rPr kumimoji="0" lang="en-US" sz="1800" b="0" i="0" u="none" strike="noStrike" kern="1200" cap="none" spc="0" normalizeH="0" baseline="30000" noProof="0" dirty="0">
                <a:ln>
                  <a:noFill/>
                </a:ln>
                <a:solidFill>
                  <a:sysClr val="windowText" lastClr="000000"/>
                </a:solidFill>
                <a:effectLst/>
                <a:uLnTx/>
                <a:uFillTx/>
                <a:latin typeface="Arial" panose="020B0604020202020204"/>
                <a:ea typeface="+mn-ea"/>
                <a:cs typeface="+mn-cs"/>
              </a:rPr>
              <a:t>0</a:t>
            </a:r>
            <a:r>
              <a:rPr kumimoji="0" lang="en-US" sz="1800" b="0" i="0" u="none" strike="noStrike" kern="1200" cap="none" spc="0" normalizeH="0" baseline="0" noProof="0" dirty="0">
                <a:ln>
                  <a:noFill/>
                </a:ln>
                <a:solidFill>
                  <a:sysClr val="windowText" lastClr="000000"/>
                </a:solidFill>
                <a:effectLst/>
                <a:uLnTx/>
                <a:uFillTx/>
                <a:latin typeface="Arial" panose="020B0604020202020204"/>
                <a:ea typeface="+mn-ea"/>
                <a:cs typeface="+mn-cs"/>
              </a:rPr>
              <a:t> </a:t>
            </a:r>
            <a:r>
              <a:rPr kumimoji="0" lang="en-US" sz="1800" b="0" i="0" u="none" strike="noStrike" kern="1200" cap="none" spc="0" normalizeH="0" baseline="0" noProof="0" dirty="0">
                <a:ln>
                  <a:noFill/>
                </a:ln>
                <a:solidFill>
                  <a:sysClr val="windowText" lastClr="000000"/>
                </a:solidFill>
                <a:effectLst/>
                <a:uLnTx/>
                <a:uFillTx/>
                <a:latin typeface="Arial" panose="020B0604020202020204"/>
                <a:ea typeface="+mn-ea"/>
                <a:cs typeface="+mn-cs"/>
                <a:sym typeface="Wingdings" panose="05000000000000000000" pitchFamily="2" charset="2"/>
              </a:rPr>
              <a:t> 01111111</a:t>
            </a:r>
            <a:endParaRPr kumimoji="0" lang="en-US" sz="1800" b="0" i="0" u="none" strike="noStrike" kern="1200" cap="none" spc="0" normalizeH="0" baseline="0" noProof="0" dirty="0">
              <a:ln>
                <a:noFill/>
              </a:ln>
              <a:solidFill>
                <a:sysClr val="windowText" lastClr="000000"/>
              </a:solidFill>
              <a:effectLst/>
              <a:uLnTx/>
              <a:uFillTx/>
              <a:latin typeface="Arial" panose="020B0604020202020204"/>
              <a:ea typeface="+mn-ea"/>
              <a:cs typeface="+mn-cs"/>
            </a:endParaRPr>
          </a:p>
        </p:txBody>
      </p:sp>
      <p:sp>
        <p:nvSpPr>
          <p:cNvPr id="31" name="Rectangle 30"/>
          <p:cNvSpPr/>
          <p:nvPr/>
        </p:nvSpPr>
        <p:spPr>
          <a:xfrm>
            <a:off x="5605966" y="2479993"/>
            <a:ext cx="2753173" cy="710863"/>
          </a:xfrm>
          <a:prstGeom prst="rect">
            <a:avLst/>
          </a:prstGeom>
          <a:solidFill>
            <a:srgbClr val="FF0000">
              <a:alpha val="25000"/>
            </a:srgb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Normalized: MS-Bit is always 1; </a:t>
            </a:r>
            <a:r>
              <a:rPr kumimoji="0" lang="en-US" sz="1800" b="1" i="0" u="none" strike="noStrike" kern="1200" cap="none" spc="0" normalizeH="0" baseline="0" noProof="0" dirty="0">
                <a:ln>
                  <a:noFill/>
                </a:ln>
                <a:solidFill>
                  <a:srgbClr val="FF0000"/>
                </a:solidFill>
                <a:effectLst/>
                <a:uLnTx/>
                <a:uFillTx/>
                <a:latin typeface="Arial" panose="020B0604020202020204"/>
                <a:ea typeface="+mn-ea"/>
                <a:cs typeface="+mn-cs"/>
              </a:rPr>
              <a:t>never stored</a:t>
            </a:r>
          </a:p>
        </p:txBody>
      </p:sp>
      <p:cxnSp>
        <p:nvCxnSpPr>
          <p:cNvPr id="33" name="Straight Arrow Connector 32"/>
          <p:cNvCxnSpPr/>
          <p:nvPr/>
        </p:nvCxnSpPr>
        <p:spPr>
          <a:xfrm>
            <a:off x="4114800" y="3306766"/>
            <a:ext cx="0" cy="581554"/>
          </a:xfrm>
          <a:prstGeom prst="straightConnector1">
            <a:avLst/>
          </a:prstGeom>
          <a:ln w="1905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a:off x="4954191" y="3158436"/>
            <a:ext cx="664302" cy="880164"/>
          </a:xfrm>
          <a:prstGeom prst="straightConnector1">
            <a:avLst/>
          </a:prstGeom>
          <a:ln w="1905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3443287" y="3768191"/>
            <a:ext cx="1386652" cy="460734"/>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panose="020B0604020202020204"/>
              <a:ea typeface="+mn-ea"/>
              <a:cs typeface="+mn-cs"/>
            </a:endParaRPr>
          </a:p>
        </p:txBody>
      </p:sp>
      <p:sp>
        <p:nvSpPr>
          <p:cNvPr id="40" name="Rectangle 39"/>
          <p:cNvSpPr/>
          <p:nvPr/>
        </p:nvSpPr>
        <p:spPr>
          <a:xfrm>
            <a:off x="4823647" y="3762097"/>
            <a:ext cx="4548953" cy="468697"/>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panose="020B0604020202020204"/>
              <a:ea typeface="+mn-ea"/>
              <a:cs typeface="+mn-cs"/>
            </a:endParaRPr>
          </a:p>
        </p:txBody>
      </p:sp>
      <p:sp>
        <p:nvSpPr>
          <p:cNvPr id="41" name="Rectangle 40"/>
          <p:cNvSpPr/>
          <p:nvPr/>
        </p:nvSpPr>
        <p:spPr>
          <a:xfrm>
            <a:off x="3044855" y="3762097"/>
            <a:ext cx="396858" cy="466828"/>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Text" lastClr="000000"/>
              </a:solidFill>
              <a:effectLst/>
              <a:uLnTx/>
              <a:uFillTx/>
              <a:latin typeface="Arial" panose="020B0604020202020204"/>
              <a:ea typeface="+mn-ea"/>
              <a:cs typeface="+mn-cs"/>
            </a:endParaRPr>
          </a:p>
        </p:txBody>
      </p:sp>
      <p:sp>
        <p:nvSpPr>
          <p:cNvPr id="42" name="Rectangle 41"/>
          <p:cNvSpPr/>
          <p:nvPr/>
        </p:nvSpPr>
        <p:spPr>
          <a:xfrm>
            <a:off x="2011810" y="5374636"/>
            <a:ext cx="1429904" cy="709270"/>
          </a:xfrm>
          <a:prstGeom prst="rect">
            <a:avLst/>
          </a:prstGeom>
          <a:solidFill>
            <a:srgbClr val="FF0000">
              <a:alpha val="25000"/>
            </a:srgb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Text" lastClr="000000"/>
                </a:solidFill>
                <a:effectLst/>
                <a:uLnTx/>
                <a:uFillTx/>
                <a:latin typeface="Arial" panose="020B0604020202020204"/>
                <a:ea typeface="+mn-ea"/>
                <a:cs typeface="+mn-cs"/>
              </a:rPr>
              <a:t>0 if positive,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Text" lastClr="000000"/>
                </a:solidFill>
                <a:effectLst/>
                <a:uLnTx/>
                <a:uFillTx/>
                <a:latin typeface="Arial" panose="020B0604020202020204"/>
                <a:ea typeface="+mn-ea"/>
                <a:cs typeface="+mn-cs"/>
              </a:rPr>
              <a:t>1 if negative</a:t>
            </a:r>
          </a:p>
        </p:txBody>
      </p:sp>
      <p:cxnSp>
        <p:nvCxnSpPr>
          <p:cNvPr id="43" name="Straight Arrow Connector 42"/>
          <p:cNvCxnSpPr>
            <a:endCxn id="16" idx="2"/>
          </p:cNvCxnSpPr>
          <p:nvPr/>
        </p:nvCxnSpPr>
        <p:spPr>
          <a:xfrm flipV="1">
            <a:off x="2743200" y="4260516"/>
            <a:ext cx="486900" cy="1114120"/>
          </a:xfrm>
          <a:prstGeom prst="straightConnector1">
            <a:avLst/>
          </a:prstGeom>
          <a:ln w="1905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9932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0579" y="748763"/>
            <a:ext cx="4525821" cy="665659"/>
          </a:xfrm>
        </p:spPr>
        <p:txBody>
          <a:bodyPr/>
          <a:lstStyle/>
          <a:p>
            <a:r>
              <a:rPr lang="en-US" dirty="0"/>
              <a:t>float versus int32_t</a:t>
            </a:r>
          </a:p>
        </p:txBody>
      </p:sp>
      <p:graphicFrame>
        <p:nvGraphicFramePr>
          <p:cNvPr id="13" name="Table 12"/>
          <p:cNvGraphicFramePr>
            <a:graphicFrameLocks noGrp="1"/>
          </p:cNvGraphicFramePr>
          <p:nvPr>
            <p:extLst>
              <p:ext uri="{D42A27DB-BD31-4B8C-83A1-F6EECF244321}">
                <p14:modId xmlns:p14="http://schemas.microsoft.com/office/powerpoint/2010/main" val="2416308088"/>
              </p:ext>
            </p:extLst>
          </p:nvPr>
        </p:nvGraphicFramePr>
        <p:xfrm>
          <a:off x="1576146" y="3995472"/>
          <a:ext cx="9464832" cy="1193800"/>
        </p:xfrm>
        <a:graphic>
          <a:graphicData uri="http://schemas.openxmlformats.org/drawingml/2006/table">
            <a:tbl>
              <a:tblPr firstRow="1" bandRow="1">
                <a:tableStyleId>{5940675A-B579-460E-94D1-54222C63F5DA}</a:tableStyleId>
              </a:tblPr>
              <a:tblGrid>
                <a:gridCol w="295776">
                  <a:extLst>
                    <a:ext uri="{9D8B030D-6E8A-4147-A177-3AD203B41FA5}">
                      <a16:colId xmlns:a16="http://schemas.microsoft.com/office/drawing/2014/main" val="2501350769"/>
                    </a:ext>
                  </a:extLst>
                </a:gridCol>
                <a:gridCol w="317701">
                  <a:extLst>
                    <a:ext uri="{9D8B030D-6E8A-4147-A177-3AD203B41FA5}">
                      <a16:colId xmlns:a16="http://schemas.microsoft.com/office/drawing/2014/main" val="3349062796"/>
                    </a:ext>
                  </a:extLst>
                </a:gridCol>
                <a:gridCol w="273851">
                  <a:extLst>
                    <a:ext uri="{9D8B030D-6E8A-4147-A177-3AD203B41FA5}">
                      <a16:colId xmlns:a16="http://schemas.microsoft.com/office/drawing/2014/main" val="2322356487"/>
                    </a:ext>
                  </a:extLst>
                </a:gridCol>
                <a:gridCol w="295776">
                  <a:extLst>
                    <a:ext uri="{9D8B030D-6E8A-4147-A177-3AD203B41FA5}">
                      <a16:colId xmlns:a16="http://schemas.microsoft.com/office/drawing/2014/main" val="3124822370"/>
                    </a:ext>
                  </a:extLst>
                </a:gridCol>
                <a:gridCol w="295776">
                  <a:extLst>
                    <a:ext uri="{9D8B030D-6E8A-4147-A177-3AD203B41FA5}">
                      <a16:colId xmlns:a16="http://schemas.microsoft.com/office/drawing/2014/main" val="2892886046"/>
                    </a:ext>
                  </a:extLst>
                </a:gridCol>
                <a:gridCol w="295776">
                  <a:extLst>
                    <a:ext uri="{9D8B030D-6E8A-4147-A177-3AD203B41FA5}">
                      <a16:colId xmlns:a16="http://schemas.microsoft.com/office/drawing/2014/main" val="3193256877"/>
                    </a:ext>
                  </a:extLst>
                </a:gridCol>
                <a:gridCol w="295776">
                  <a:extLst>
                    <a:ext uri="{9D8B030D-6E8A-4147-A177-3AD203B41FA5}">
                      <a16:colId xmlns:a16="http://schemas.microsoft.com/office/drawing/2014/main" val="576756725"/>
                    </a:ext>
                  </a:extLst>
                </a:gridCol>
                <a:gridCol w="295776">
                  <a:extLst>
                    <a:ext uri="{9D8B030D-6E8A-4147-A177-3AD203B41FA5}">
                      <a16:colId xmlns:a16="http://schemas.microsoft.com/office/drawing/2014/main" val="3929931725"/>
                    </a:ext>
                  </a:extLst>
                </a:gridCol>
                <a:gridCol w="295776">
                  <a:extLst>
                    <a:ext uri="{9D8B030D-6E8A-4147-A177-3AD203B41FA5}">
                      <a16:colId xmlns:a16="http://schemas.microsoft.com/office/drawing/2014/main" val="2047873513"/>
                    </a:ext>
                  </a:extLst>
                </a:gridCol>
                <a:gridCol w="295776">
                  <a:extLst>
                    <a:ext uri="{9D8B030D-6E8A-4147-A177-3AD203B41FA5}">
                      <a16:colId xmlns:a16="http://schemas.microsoft.com/office/drawing/2014/main" val="632814679"/>
                    </a:ext>
                  </a:extLst>
                </a:gridCol>
                <a:gridCol w="295776">
                  <a:extLst>
                    <a:ext uri="{9D8B030D-6E8A-4147-A177-3AD203B41FA5}">
                      <a16:colId xmlns:a16="http://schemas.microsoft.com/office/drawing/2014/main" val="2862102919"/>
                    </a:ext>
                  </a:extLst>
                </a:gridCol>
                <a:gridCol w="295776">
                  <a:extLst>
                    <a:ext uri="{9D8B030D-6E8A-4147-A177-3AD203B41FA5}">
                      <a16:colId xmlns:a16="http://schemas.microsoft.com/office/drawing/2014/main" val="451823578"/>
                    </a:ext>
                  </a:extLst>
                </a:gridCol>
                <a:gridCol w="295776">
                  <a:extLst>
                    <a:ext uri="{9D8B030D-6E8A-4147-A177-3AD203B41FA5}">
                      <a16:colId xmlns:a16="http://schemas.microsoft.com/office/drawing/2014/main" val="4119153476"/>
                    </a:ext>
                  </a:extLst>
                </a:gridCol>
                <a:gridCol w="295776">
                  <a:extLst>
                    <a:ext uri="{9D8B030D-6E8A-4147-A177-3AD203B41FA5}">
                      <a16:colId xmlns:a16="http://schemas.microsoft.com/office/drawing/2014/main" val="2935761772"/>
                    </a:ext>
                  </a:extLst>
                </a:gridCol>
                <a:gridCol w="295776">
                  <a:extLst>
                    <a:ext uri="{9D8B030D-6E8A-4147-A177-3AD203B41FA5}">
                      <a16:colId xmlns:a16="http://schemas.microsoft.com/office/drawing/2014/main" val="1735474298"/>
                    </a:ext>
                  </a:extLst>
                </a:gridCol>
                <a:gridCol w="295776">
                  <a:extLst>
                    <a:ext uri="{9D8B030D-6E8A-4147-A177-3AD203B41FA5}">
                      <a16:colId xmlns:a16="http://schemas.microsoft.com/office/drawing/2014/main" val="4214739541"/>
                    </a:ext>
                  </a:extLst>
                </a:gridCol>
                <a:gridCol w="295776">
                  <a:extLst>
                    <a:ext uri="{9D8B030D-6E8A-4147-A177-3AD203B41FA5}">
                      <a16:colId xmlns:a16="http://schemas.microsoft.com/office/drawing/2014/main" val="407833324"/>
                    </a:ext>
                  </a:extLst>
                </a:gridCol>
                <a:gridCol w="295776">
                  <a:extLst>
                    <a:ext uri="{9D8B030D-6E8A-4147-A177-3AD203B41FA5}">
                      <a16:colId xmlns:a16="http://schemas.microsoft.com/office/drawing/2014/main" val="372611213"/>
                    </a:ext>
                  </a:extLst>
                </a:gridCol>
                <a:gridCol w="295776">
                  <a:extLst>
                    <a:ext uri="{9D8B030D-6E8A-4147-A177-3AD203B41FA5}">
                      <a16:colId xmlns:a16="http://schemas.microsoft.com/office/drawing/2014/main" val="3644415226"/>
                    </a:ext>
                  </a:extLst>
                </a:gridCol>
                <a:gridCol w="295776">
                  <a:extLst>
                    <a:ext uri="{9D8B030D-6E8A-4147-A177-3AD203B41FA5}">
                      <a16:colId xmlns:a16="http://schemas.microsoft.com/office/drawing/2014/main" val="3282145197"/>
                    </a:ext>
                  </a:extLst>
                </a:gridCol>
                <a:gridCol w="295776">
                  <a:extLst>
                    <a:ext uri="{9D8B030D-6E8A-4147-A177-3AD203B41FA5}">
                      <a16:colId xmlns:a16="http://schemas.microsoft.com/office/drawing/2014/main" val="407434176"/>
                    </a:ext>
                  </a:extLst>
                </a:gridCol>
                <a:gridCol w="295776">
                  <a:extLst>
                    <a:ext uri="{9D8B030D-6E8A-4147-A177-3AD203B41FA5}">
                      <a16:colId xmlns:a16="http://schemas.microsoft.com/office/drawing/2014/main" val="2552326724"/>
                    </a:ext>
                  </a:extLst>
                </a:gridCol>
                <a:gridCol w="295776">
                  <a:extLst>
                    <a:ext uri="{9D8B030D-6E8A-4147-A177-3AD203B41FA5}">
                      <a16:colId xmlns:a16="http://schemas.microsoft.com/office/drawing/2014/main" val="4216009349"/>
                    </a:ext>
                  </a:extLst>
                </a:gridCol>
                <a:gridCol w="295776">
                  <a:extLst>
                    <a:ext uri="{9D8B030D-6E8A-4147-A177-3AD203B41FA5}">
                      <a16:colId xmlns:a16="http://schemas.microsoft.com/office/drawing/2014/main" val="2016062041"/>
                    </a:ext>
                  </a:extLst>
                </a:gridCol>
                <a:gridCol w="295776">
                  <a:extLst>
                    <a:ext uri="{9D8B030D-6E8A-4147-A177-3AD203B41FA5}">
                      <a16:colId xmlns:a16="http://schemas.microsoft.com/office/drawing/2014/main" val="3565272988"/>
                    </a:ext>
                  </a:extLst>
                </a:gridCol>
                <a:gridCol w="295776">
                  <a:extLst>
                    <a:ext uri="{9D8B030D-6E8A-4147-A177-3AD203B41FA5}">
                      <a16:colId xmlns:a16="http://schemas.microsoft.com/office/drawing/2014/main" val="1936296527"/>
                    </a:ext>
                  </a:extLst>
                </a:gridCol>
                <a:gridCol w="295776">
                  <a:extLst>
                    <a:ext uri="{9D8B030D-6E8A-4147-A177-3AD203B41FA5}">
                      <a16:colId xmlns:a16="http://schemas.microsoft.com/office/drawing/2014/main" val="160326010"/>
                    </a:ext>
                  </a:extLst>
                </a:gridCol>
                <a:gridCol w="295776">
                  <a:extLst>
                    <a:ext uri="{9D8B030D-6E8A-4147-A177-3AD203B41FA5}">
                      <a16:colId xmlns:a16="http://schemas.microsoft.com/office/drawing/2014/main" val="856095501"/>
                    </a:ext>
                  </a:extLst>
                </a:gridCol>
                <a:gridCol w="295776">
                  <a:extLst>
                    <a:ext uri="{9D8B030D-6E8A-4147-A177-3AD203B41FA5}">
                      <a16:colId xmlns:a16="http://schemas.microsoft.com/office/drawing/2014/main" val="110658166"/>
                    </a:ext>
                  </a:extLst>
                </a:gridCol>
                <a:gridCol w="295776">
                  <a:extLst>
                    <a:ext uri="{9D8B030D-6E8A-4147-A177-3AD203B41FA5}">
                      <a16:colId xmlns:a16="http://schemas.microsoft.com/office/drawing/2014/main" val="1665178638"/>
                    </a:ext>
                  </a:extLst>
                </a:gridCol>
                <a:gridCol w="295776">
                  <a:extLst>
                    <a:ext uri="{9D8B030D-6E8A-4147-A177-3AD203B41FA5}">
                      <a16:colId xmlns:a16="http://schemas.microsoft.com/office/drawing/2014/main" val="3318507392"/>
                    </a:ext>
                  </a:extLst>
                </a:gridCol>
                <a:gridCol w="295776">
                  <a:extLst>
                    <a:ext uri="{9D8B030D-6E8A-4147-A177-3AD203B41FA5}">
                      <a16:colId xmlns:a16="http://schemas.microsoft.com/office/drawing/2014/main" val="3795560285"/>
                    </a:ext>
                  </a:extLst>
                </a:gridCol>
              </a:tblGrid>
              <a:tr h="370840">
                <a:tc>
                  <a:txBody>
                    <a:bodyPr/>
                    <a:lstStyle/>
                    <a:p>
                      <a:pPr algn="ctr"/>
                      <a:r>
                        <a:rPr lang="en-US" sz="1600" dirty="0"/>
                        <a:t>31</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30</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6">
                  <a:txBody>
                    <a:bodyPr/>
                    <a:lstStyle/>
                    <a:p>
                      <a:pPr algn="ctr"/>
                      <a:r>
                        <a:rPr lang="en-US" sz="2400" i="1" dirty="0"/>
                        <a:t>excess 127 exponent</a:t>
                      </a:r>
                      <a:endParaRPr lang="en-US" sz="1600" i="1"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23</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22</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1">
                  <a:txBody>
                    <a:bodyPr/>
                    <a:lstStyle/>
                    <a:p>
                      <a:pPr algn="ctr"/>
                      <a:r>
                        <a:rPr lang="en-US" sz="2400" i="1" dirty="0"/>
                        <a:t>significand</a:t>
                      </a:r>
                      <a:endParaRPr lang="en-US" sz="1600" i="1"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0</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2346665"/>
                  </a:ext>
                </a:extLst>
              </a:tr>
              <a:tr h="370840">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335249"/>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4134598903"/>
              </p:ext>
            </p:extLst>
          </p:nvPr>
        </p:nvGraphicFramePr>
        <p:xfrm>
          <a:off x="1992630" y="1524000"/>
          <a:ext cx="8229632" cy="949960"/>
        </p:xfrm>
        <a:graphic>
          <a:graphicData uri="http://schemas.openxmlformats.org/drawingml/2006/table">
            <a:tbl>
              <a:tblPr firstRow="1" bandRow="1">
                <a:tableStyleId>{5940675A-B579-460E-94D1-54222C63F5DA}</a:tableStyleId>
              </a:tblPr>
              <a:tblGrid>
                <a:gridCol w="257176">
                  <a:extLst>
                    <a:ext uri="{9D8B030D-6E8A-4147-A177-3AD203B41FA5}">
                      <a16:colId xmlns:a16="http://schemas.microsoft.com/office/drawing/2014/main" val="2501350769"/>
                    </a:ext>
                  </a:extLst>
                </a:gridCol>
                <a:gridCol w="276240">
                  <a:extLst>
                    <a:ext uri="{9D8B030D-6E8A-4147-A177-3AD203B41FA5}">
                      <a16:colId xmlns:a16="http://schemas.microsoft.com/office/drawing/2014/main" val="3349062796"/>
                    </a:ext>
                  </a:extLst>
                </a:gridCol>
                <a:gridCol w="238112">
                  <a:extLst>
                    <a:ext uri="{9D8B030D-6E8A-4147-A177-3AD203B41FA5}">
                      <a16:colId xmlns:a16="http://schemas.microsoft.com/office/drawing/2014/main" val="2322356487"/>
                    </a:ext>
                  </a:extLst>
                </a:gridCol>
                <a:gridCol w="257176">
                  <a:extLst>
                    <a:ext uri="{9D8B030D-6E8A-4147-A177-3AD203B41FA5}">
                      <a16:colId xmlns:a16="http://schemas.microsoft.com/office/drawing/2014/main" val="3124822370"/>
                    </a:ext>
                  </a:extLst>
                </a:gridCol>
                <a:gridCol w="257176">
                  <a:extLst>
                    <a:ext uri="{9D8B030D-6E8A-4147-A177-3AD203B41FA5}">
                      <a16:colId xmlns:a16="http://schemas.microsoft.com/office/drawing/2014/main" val="2892886046"/>
                    </a:ext>
                  </a:extLst>
                </a:gridCol>
                <a:gridCol w="257176">
                  <a:extLst>
                    <a:ext uri="{9D8B030D-6E8A-4147-A177-3AD203B41FA5}">
                      <a16:colId xmlns:a16="http://schemas.microsoft.com/office/drawing/2014/main" val="3193256877"/>
                    </a:ext>
                  </a:extLst>
                </a:gridCol>
                <a:gridCol w="257176">
                  <a:extLst>
                    <a:ext uri="{9D8B030D-6E8A-4147-A177-3AD203B41FA5}">
                      <a16:colId xmlns:a16="http://schemas.microsoft.com/office/drawing/2014/main" val="576756725"/>
                    </a:ext>
                  </a:extLst>
                </a:gridCol>
                <a:gridCol w="249299">
                  <a:extLst>
                    <a:ext uri="{9D8B030D-6E8A-4147-A177-3AD203B41FA5}">
                      <a16:colId xmlns:a16="http://schemas.microsoft.com/office/drawing/2014/main" val="3929931725"/>
                    </a:ext>
                  </a:extLst>
                </a:gridCol>
                <a:gridCol w="265053">
                  <a:extLst>
                    <a:ext uri="{9D8B030D-6E8A-4147-A177-3AD203B41FA5}">
                      <a16:colId xmlns:a16="http://schemas.microsoft.com/office/drawing/2014/main" val="2047873513"/>
                    </a:ext>
                  </a:extLst>
                </a:gridCol>
                <a:gridCol w="257176">
                  <a:extLst>
                    <a:ext uri="{9D8B030D-6E8A-4147-A177-3AD203B41FA5}">
                      <a16:colId xmlns:a16="http://schemas.microsoft.com/office/drawing/2014/main" val="632814679"/>
                    </a:ext>
                  </a:extLst>
                </a:gridCol>
                <a:gridCol w="257176">
                  <a:extLst>
                    <a:ext uri="{9D8B030D-6E8A-4147-A177-3AD203B41FA5}">
                      <a16:colId xmlns:a16="http://schemas.microsoft.com/office/drawing/2014/main" val="2862102919"/>
                    </a:ext>
                  </a:extLst>
                </a:gridCol>
                <a:gridCol w="257176">
                  <a:extLst>
                    <a:ext uri="{9D8B030D-6E8A-4147-A177-3AD203B41FA5}">
                      <a16:colId xmlns:a16="http://schemas.microsoft.com/office/drawing/2014/main" val="451823578"/>
                    </a:ext>
                  </a:extLst>
                </a:gridCol>
                <a:gridCol w="257176">
                  <a:extLst>
                    <a:ext uri="{9D8B030D-6E8A-4147-A177-3AD203B41FA5}">
                      <a16:colId xmlns:a16="http://schemas.microsoft.com/office/drawing/2014/main" val="4119153476"/>
                    </a:ext>
                  </a:extLst>
                </a:gridCol>
                <a:gridCol w="257176">
                  <a:extLst>
                    <a:ext uri="{9D8B030D-6E8A-4147-A177-3AD203B41FA5}">
                      <a16:colId xmlns:a16="http://schemas.microsoft.com/office/drawing/2014/main" val="2935761772"/>
                    </a:ext>
                  </a:extLst>
                </a:gridCol>
                <a:gridCol w="257176">
                  <a:extLst>
                    <a:ext uri="{9D8B030D-6E8A-4147-A177-3AD203B41FA5}">
                      <a16:colId xmlns:a16="http://schemas.microsoft.com/office/drawing/2014/main" val="1735474298"/>
                    </a:ext>
                  </a:extLst>
                </a:gridCol>
                <a:gridCol w="257176">
                  <a:extLst>
                    <a:ext uri="{9D8B030D-6E8A-4147-A177-3AD203B41FA5}">
                      <a16:colId xmlns:a16="http://schemas.microsoft.com/office/drawing/2014/main" val="4214739541"/>
                    </a:ext>
                  </a:extLst>
                </a:gridCol>
                <a:gridCol w="257176">
                  <a:extLst>
                    <a:ext uri="{9D8B030D-6E8A-4147-A177-3AD203B41FA5}">
                      <a16:colId xmlns:a16="http://schemas.microsoft.com/office/drawing/2014/main" val="407833324"/>
                    </a:ext>
                  </a:extLst>
                </a:gridCol>
                <a:gridCol w="257176">
                  <a:extLst>
                    <a:ext uri="{9D8B030D-6E8A-4147-A177-3AD203B41FA5}">
                      <a16:colId xmlns:a16="http://schemas.microsoft.com/office/drawing/2014/main" val="372611213"/>
                    </a:ext>
                  </a:extLst>
                </a:gridCol>
                <a:gridCol w="257176">
                  <a:extLst>
                    <a:ext uri="{9D8B030D-6E8A-4147-A177-3AD203B41FA5}">
                      <a16:colId xmlns:a16="http://schemas.microsoft.com/office/drawing/2014/main" val="3644415226"/>
                    </a:ext>
                  </a:extLst>
                </a:gridCol>
                <a:gridCol w="257176">
                  <a:extLst>
                    <a:ext uri="{9D8B030D-6E8A-4147-A177-3AD203B41FA5}">
                      <a16:colId xmlns:a16="http://schemas.microsoft.com/office/drawing/2014/main" val="3282145197"/>
                    </a:ext>
                  </a:extLst>
                </a:gridCol>
                <a:gridCol w="257176">
                  <a:extLst>
                    <a:ext uri="{9D8B030D-6E8A-4147-A177-3AD203B41FA5}">
                      <a16:colId xmlns:a16="http://schemas.microsoft.com/office/drawing/2014/main" val="407434176"/>
                    </a:ext>
                  </a:extLst>
                </a:gridCol>
                <a:gridCol w="257176">
                  <a:extLst>
                    <a:ext uri="{9D8B030D-6E8A-4147-A177-3AD203B41FA5}">
                      <a16:colId xmlns:a16="http://schemas.microsoft.com/office/drawing/2014/main" val="2552326724"/>
                    </a:ext>
                  </a:extLst>
                </a:gridCol>
                <a:gridCol w="257176">
                  <a:extLst>
                    <a:ext uri="{9D8B030D-6E8A-4147-A177-3AD203B41FA5}">
                      <a16:colId xmlns:a16="http://schemas.microsoft.com/office/drawing/2014/main" val="4216009349"/>
                    </a:ext>
                  </a:extLst>
                </a:gridCol>
                <a:gridCol w="257176">
                  <a:extLst>
                    <a:ext uri="{9D8B030D-6E8A-4147-A177-3AD203B41FA5}">
                      <a16:colId xmlns:a16="http://schemas.microsoft.com/office/drawing/2014/main" val="2016062041"/>
                    </a:ext>
                  </a:extLst>
                </a:gridCol>
                <a:gridCol w="257176">
                  <a:extLst>
                    <a:ext uri="{9D8B030D-6E8A-4147-A177-3AD203B41FA5}">
                      <a16:colId xmlns:a16="http://schemas.microsoft.com/office/drawing/2014/main" val="3565272988"/>
                    </a:ext>
                  </a:extLst>
                </a:gridCol>
                <a:gridCol w="257176">
                  <a:extLst>
                    <a:ext uri="{9D8B030D-6E8A-4147-A177-3AD203B41FA5}">
                      <a16:colId xmlns:a16="http://schemas.microsoft.com/office/drawing/2014/main" val="1936296527"/>
                    </a:ext>
                  </a:extLst>
                </a:gridCol>
                <a:gridCol w="257176">
                  <a:extLst>
                    <a:ext uri="{9D8B030D-6E8A-4147-A177-3AD203B41FA5}">
                      <a16:colId xmlns:a16="http://schemas.microsoft.com/office/drawing/2014/main" val="160326010"/>
                    </a:ext>
                  </a:extLst>
                </a:gridCol>
                <a:gridCol w="257176">
                  <a:extLst>
                    <a:ext uri="{9D8B030D-6E8A-4147-A177-3AD203B41FA5}">
                      <a16:colId xmlns:a16="http://schemas.microsoft.com/office/drawing/2014/main" val="856095501"/>
                    </a:ext>
                  </a:extLst>
                </a:gridCol>
                <a:gridCol w="257176">
                  <a:extLst>
                    <a:ext uri="{9D8B030D-6E8A-4147-A177-3AD203B41FA5}">
                      <a16:colId xmlns:a16="http://schemas.microsoft.com/office/drawing/2014/main" val="110658166"/>
                    </a:ext>
                  </a:extLst>
                </a:gridCol>
                <a:gridCol w="257176">
                  <a:extLst>
                    <a:ext uri="{9D8B030D-6E8A-4147-A177-3AD203B41FA5}">
                      <a16:colId xmlns:a16="http://schemas.microsoft.com/office/drawing/2014/main" val="1665178638"/>
                    </a:ext>
                  </a:extLst>
                </a:gridCol>
                <a:gridCol w="257176">
                  <a:extLst>
                    <a:ext uri="{9D8B030D-6E8A-4147-A177-3AD203B41FA5}">
                      <a16:colId xmlns:a16="http://schemas.microsoft.com/office/drawing/2014/main" val="3318507392"/>
                    </a:ext>
                  </a:extLst>
                </a:gridCol>
                <a:gridCol w="257176">
                  <a:extLst>
                    <a:ext uri="{9D8B030D-6E8A-4147-A177-3AD203B41FA5}">
                      <a16:colId xmlns:a16="http://schemas.microsoft.com/office/drawing/2014/main" val="3795560285"/>
                    </a:ext>
                  </a:extLst>
                </a:gridCol>
              </a:tblGrid>
              <a:tr h="370840">
                <a:tc>
                  <a:txBody>
                    <a:bodyPr/>
                    <a:lstStyle/>
                    <a:p>
                      <a:pPr algn="ctr"/>
                      <a:r>
                        <a:rPr lang="en-US" sz="1600" dirty="0"/>
                        <a:t>31</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0</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275902"/>
                  </a:ext>
                </a:extLst>
              </a:tr>
              <a:tr h="370840">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335249"/>
                  </a:ext>
                </a:extLst>
              </a:tr>
            </a:tbl>
          </a:graphicData>
        </a:graphic>
      </p:graphicFrame>
      <p:sp>
        <p:nvSpPr>
          <p:cNvPr id="15" name="TextBox 14"/>
          <p:cNvSpPr txBox="1"/>
          <p:nvPr/>
        </p:nvSpPr>
        <p:spPr>
          <a:xfrm>
            <a:off x="4430537" y="4044711"/>
            <a:ext cx="3583421"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float x = 1000.0</a:t>
            </a:r>
            <a:r>
              <a:rPr kumimoji="0" lang="en-US" sz="2400" b="0" i="0" u="none" strike="noStrike" kern="1200" cap="none" spc="0" normalizeH="0" baseline="-25000" noProof="0" dirty="0">
                <a:ln>
                  <a:noFill/>
                </a:ln>
                <a:solidFill>
                  <a:srgbClr val="000000"/>
                </a:solidFill>
                <a:effectLst/>
                <a:uLnTx/>
                <a:uFillTx/>
                <a:latin typeface="Arial" panose="020B0604020202020204"/>
                <a:ea typeface="+mn-ea"/>
                <a:cs typeface="+mn-cs"/>
              </a:rPr>
              <a:t>10</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16" name="TextBox 15"/>
          <p:cNvSpPr txBox="1"/>
          <p:nvPr/>
        </p:nvSpPr>
        <p:spPr>
          <a:xfrm>
            <a:off x="4381484" y="1590025"/>
            <a:ext cx="358342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int32_t y = 1000</a:t>
            </a:r>
            <a:r>
              <a:rPr kumimoji="0" lang="en-US" sz="2400" b="0" i="0" u="none" strike="noStrike" kern="1200" cap="none" spc="0" normalizeH="0" baseline="-25000" noProof="0" dirty="0">
                <a:ln>
                  <a:noFill/>
                </a:ln>
                <a:solidFill>
                  <a:srgbClr val="000000"/>
                </a:solidFill>
                <a:effectLst/>
                <a:uLnTx/>
                <a:uFillTx/>
                <a:latin typeface="Arial" panose="020B0604020202020204"/>
                <a:ea typeface="+mn-ea"/>
                <a:cs typeface="+mn-cs"/>
              </a:rPr>
              <a:t>10</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20" name="Left Brace 19"/>
          <p:cNvSpPr/>
          <p:nvPr/>
        </p:nvSpPr>
        <p:spPr>
          <a:xfrm rot="16200000">
            <a:off x="2879042" y="4196490"/>
            <a:ext cx="351260" cy="2336823"/>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 name="Left Brace 20"/>
          <p:cNvSpPr/>
          <p:nvPr/>
        </p:nvSpPr>
        <p:spPr>
          <a:xfrm rot="16200000">
            <a:off x="7457386" y="1956940"/>
            <a:ext cx="349290" cy="6817894"/>
          </a:xfrm>
          <a:prstGeom prst="leftBrace">
            <a:avLst>
              <a:gd name="adj1" fmla="val 14074"/>
              <a:gd name="adj2" fmla="val 5000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2" name="TextBox 21"/>
          <p:cNvSpPr txBox="1"/>
          <p:nvPr/>
        </p:nvSpPr>
        <p:spPr>
          <a:xfrm>
            <a:off x="1564670" y="5593138"/>
            <a:ext cx="217578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00000"/>
                </a:solidFill>
                <a:latin typeface="Arial" panose="020B0604020202020204"/>
              </a:rPr>
              <a:t>9+127 =</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136</a:t>
            </a:r>
            <a:r>
              <a:rPr kumimoji="0" lang="en-US" sz="2400" b="0" i="0" u="none" strike="noStrike" kern="1200" cap="none" spc="0" normalizeH="0" baseline="-25000" noProof="0" dirty="0">
                <a:ln>
                  <a:noFill/>
                </a:ln>
                <a:solidFill>
                  <a:srgbClr val="000000"/>
                </a:solidFill>
                <a:effectLst/>
                <a:uLnTx/>
                <a:uFillTx/>
                <a:latin typeface="Arial" panose="020B0604020202020204"/>
                <a:ea typeface="+mn-ea"/>
                <a:cs typeface="+mn-cs"/>
              </a:rPr>
              <a:t>10</a:t>
            </a:r>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3" name="Rectangle 22"/>
          <p:cNvSpPr/>
          <p:nvPr/>
        </p:nvSpPr>
        <p:spPr>
          <a:xfrm>
            <a:off x="6686594" y="5540532"/>
            <a:ext cx="1890873"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111101</a:t>
            </a:r>
          </a:p>
        </p:txBody>
      </p:sp>
      <p:sp>
        <p:nvSpPr>
          <p:cNvPr id="24" name="Rectangle 23"/>
          <p:cNvSpPr/>
          <p:nvPr/>
        </p:nvSpPr>
        <p:spPr>
          <a:xfrm>
            <a:off x="4482069" y="2923730"/>
            <a:ext cx="5806846"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 value</a:t>
            </a:r>
            <a:r>
              <a:rPr kumimoji="0" lang="en-US" sz="2400" b="0" i="0" u="none" strike="noStrike" kern="1200" cap="none" spc="0" normalizeH="0" baseline="-25000" noProof="0" dirty="0">
                <a:ln>
                  <a:noFill/>
                </a:ln>
                <a:solidFill>
                  <a:srgbClr val="000000"/>
                </a:solidFill>
                <a:effectLst/>
                <a:uLnTx/>
                <a:uFillTx/>
                <a:latin typeface="Arial" panose="020B0604020202020204"/>
                <a:ea typeface="+mn-ea"/>
                <a:cs typeface="+mn-cs"/>
              </a:rPr>
              <a:t>2</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 = + </a:t>
            </a:r>
            <a:r>
              <a:rPr kumimoji="0" lang="en-US" sz="2400" b="0" i="0" u="none" strike="noStrike" kern="1200" cap="none" spc="0" normalizeH="0" baseline="0" noProof="0" dirty="0">
                <a:ln>
                  <a:noFill/>
                </a:ln>
                <a:solidFill>
                  <a:srgbClr val="00B050"/>
                </a:solidFill>
                <a:effectLst/>
                <a:uLnTx/>
                <a:uFillTx/>
                <a:latin typeface="Arial" panose="020B0604020202020204"/>
                <a:ea typeface="+mn-ea"/>
                <a:cs typeface="+mn-cs"/>
              </a:rPr>
              <a:t>1</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a:t>
            </a:r>
            <a:r>
              <a:rPr kumimoji="0" lang="en-US" sz="2400" b="0" i="0" u="none" strike="noStrike" kern="1200" cap="none" spc="0" normalizeH="0" baseline="0" noProof="0" dirty="0">
                <a:ln>
                  <a:noFill/>
                </a:ln>
                <a:solidFill>
                  <a:srgbClr val="FF0000"/>
                </a:solidFill>
                <a:effectLst/>
                <a:uLnTx/>
                <a:uFillTx/>
                <a:latin typeface="Arial" panose="020B0604020202020204"/>
                <a:ea typeface="+mn-ea"/>
                <a:cs typeface="+mn-cs"/>
              </a:rPr>
              <a:t>111101000 </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 2</a:t>
            </a:r>
            <a:r>
              <a:rPr kumimoji="0" lang="en-US" sz="2400" b="0" i="0" u="none" strike="noStrike" kern="1200" cap="none" spc="0" normalizeH="0" baseline="30000" noProof="0" dirty="0">
                <a:ln>
                  <a:noFill/>
                </a:ln>
                <a:solidFill>
                  <a:srgbClr val="000000"/>
                </a:solidFill>
                <a:effectLst/>
                <a:uLnTx/>
                <a:uFillTx/>
                <a:latin typeface="Arial" panose="020B0604020202020204"/>
                <a:ea typeface="+mn-ea"/>
                <a:cs typeface="+mn-cs"/>
              </a:rPr>
              <a:t>9 </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  or (1000</a:t>
            </a:r>
            <a:r>
              <a:rPr kumimoji="0" lang="en-US" sz="2400" b="0" i="0" u="none" strike="noStrike" kern="1200" cap="none" spc="0" normalizeH="0" baseline="-25000" noProof="0" dirty="0">
                <a:ln>
                  <a:noFill/>
                </a:ln>
                <a:solidFill>
                  <a:srgbClr val="000000"/>
                </a:solidFill>
                <a:effectLst/>
                <a:uLnTx/>
                <a:uFillTx/>
                <a:latin typeface="Arial" panose="020B0604020202020204"/>
                <a:ea typeface="+mn-ea"/>
                <a:cs typeface="+mn-cs"/>
              </a:rPr>
              <a:t>10</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a:t>
            </a:r>
            <a:endParaRPr kumimoji="0" lang="en-US" sz="2400" b="0" i="0" u="none" strike="noStrike" kern="1200" cap="none" spc="0" normalizeH="0" baseline="-25000" noProof="0" dirty="0">
              <a:ln>
                <a:noFill/>
              </a:ln>
              <a:solidFill>
                <a:srgbClr val="000000"/>
              </a:solidFill>
              <a:effectLst/>
              <a:uLnTx/>
              <a:uFillTx/>
              <a:latin typeface="Arial" panose="020B0604020202020204"/>
              <a:ea typeface="+mn-ea"/>
              <a:cs typeface="+mn-cs"/>
            </a:endParaRPr>
          </a:p>
        </p:txBody>
      </p:sp>
      <p:sp>
        <p:nvSpPr>
          <p:cNvPr id="25" name="Rectangle 24"/>
          <p:cNvSpPr/>
          <p:nvPr/>
        </p:nvSpPr>
        <p:spPr>
          <a:xfrm>
            <a:off x="1960317" y="6357979"/>
            <a:ext cx="827133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http://www.h-schmidt.net/FloatConverter/IEEE754.html</a:t>
            </a:r>
          </a:p>
        </p:txBody>
      </p:sp>
      <p:sp>
        <p:nvSpPr>
          <p:cNvPr id="3" name="TextBox 2"/>
          <p:cNvSpPr txBox="1"/>
          <p:nvPr/>
        </p:nvSpPr>
        <p:spPr>
          <a:xfrm>
            <a:off x="10288915" y="2090829"/>
            <a:ext cx="1903085" cy="369332"/>
          </a:xfrm>
          <a:prstGeom prst="rect">
            <a:avLst/>
          </a:prstGeom>
          <a:noFill/>
        </p:spPr>
        <p:txBody>
          <a:bodyPr wrap="none" rtlCol="0">
            <a:spAutoFit/>
          </a:bodyPr>
          <a:lstStyle/>
          <a:p>
            <a:r>
              <a:rPr lang="en-US" dirty="0"/>
              <a:t>Standard Integer</a:t>
            </a:r>
          </a:p>
        </p:txBody>
      </p:sp>
      <p:sp>
        <p:nvSpPr>
          <p:cNvPr id="18" name="TextBox 17"/>
          <p:cNvSpPr txBox="1"/>
          <p:nvPr/>
        </p:nvSpPr>
        <p:spPr>
          <a:xfrm>
            <a:off x="11159200" y="4819939"/>
            <a:ext cx="620683" cy="369332"/>
          </a:xfrm>
          <a:prstGeom prst="rect">
            <a:avLst/>
          </a:prstGeom>
          <a:noFill/>
        </p:spPr>
        <p:txBody>
          <a:bodyPr wrap="none" rtlCol="0">
            <a:spAutoFit/>
          </a:bodyPr>
          <a:lstStyle/>
          <a:p>
            <a:r>
              <a:rPr lang="en-US" dirty="0"/>
              <a:t>float</a:t>
            </a:r>
          </a:p>
        </p:txBody>
      </p:sp>
      <p:sp>
        <p:nvSpPr>
          <p:cNvPr id="19" name="Rectangle 18"/>
          <p:cNvSpPr/>
          <p:nvPr/>
        </p:nvSpPr>
        <p:spPr>
          <a:xfrm>
            <a:off x="7913352" y="2113861"/>
            <a:ext cx="2308910" cy="359918"/>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Rectangle 25"/>
          <p:cNvSpPr/>
          <p:nvPr/>
        </p:nvSpPr>
        <p:spPr>
          <a:xfrm>
            <a:off x="4227777" y="4819939"/>
            <a:ext cx="2666318" cy="359918"/>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27" name="Straight Arrow Connector 26"/>
          <p:cNvCxnSpPr>
            <a:endCxn id="26" idx="0"/>
          </p:cNvCxnSpPr>
          <p:nvPr/>
        </p:nvCxnSpPr>
        <p:spPr bwMode="auto">
          <a:xfrm flipH="1">
            <a:off x="5560936" y="2473779"/>
            <a:ext cx="3320506" cy="234616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8" name="Rectangle 27"/>
          <p:cNvSpPr/>
          <p:nvPr/>
        </p:nvSpPr>
        <p:spPr>
          <a:xfrm>
            <a:off x="6386057" y="2963754"/>
            <a:ext cx="1483311" cy="359918"/>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29" name="Straight Arrow Connector 28"/>
          <p:cNvCxnSpPr/>
          <p:nvPr/>
        </p:nvCxnSpPr>
        <p:spPr bwMode="auto">
          <a:xfrm flipH="1">
            <a:off x="1886260" y="3122719"/>
            <a:ext cx="6437346" cy="2561284"/>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9" name="Straight Arrow Connector 8"/>
          <p:cNvCxnSpPr/>
          <p:nvPr/>
        </p:nvCxnSpPr>
        <p:spPr>
          <a:xfrm flipH="1">
            <a:off x="2444097" y="4214491"/>
            <a:ext cx="922946" cy="14695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0146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p:cNvSpPr>
            <a:spLocks noGrp="1" noChangeArrowheads="1"/>
          </p:cNvSpPr>
          <p:nvPr>
            <p:ph type="title"/>
          </p:nvPr>
        </p:nvSpPr>
        <p:spPr>
          <a:xfrm>
            <a:off x="936516" y="741462"/>
            <a:ext cx="10417284" cy="630590"/>
          </a:xfrm>
        </p:spPr>
        <p:txBody>
          <a:bodyPr>
            <a:normAutofit/>
          </a:bodyPr>
          <a:lstStyle/>
          <a:p>
            <a:r>
              <a:rPr lang="en-US" sz="2800" dirty="0"/>
              <a:t>Single-precision Floating-point Representing </a:t>
            </a:r>
            <a:r>
              <a:rPr lang="en-US" sz="2800" dirty="0">
                <a:solidFill>
                  <a:srgbClr val="FF0000"/>
                </a:solidFill>
              </a:rPr>
              <a:t>Zero</a:t>
            </a:r>
            <a:r>
              <a:rPr lang="en-US" sz="2800" dirty="0"/>
              <a:t> and </a:t>
            </a:r>
            <a:r>
              <a:rPr lang="en-US" sz="2800" dirty="0">
                <a:solidFill>
                  <a:srgbClr val="92D050"/>
                </a:solidFill>
              </a:rPr>
              <a:t>One</a:t>
            </a:r>
          </a:p>
        </p:txBody>
      </p:sp>
      <p:sp>
        <p:nvSpPr>
          <p:cNvPr id="155651" name="Text Box 3"/>
          <p:cNvSpPr txBox="1">
            <a:spLocks noChangeArrowheads="1"/>
          </p:cNvSpPr>
          <p:nvPr/>
        </p:nvSpPr>
        <p:spPr bwMode="auto">
          <a:xfrm>
            <a:off x="1828800" y="1447800"/>
            <a:ext cx="8534400" cy="47244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rPr>
              <a:t>      S(1)  </a:t>
            </a:r>
            <a:r>
              <a:rPr kumimoji="0" lang="en-US" sz="2000" b="1" i="0" u="none" strike="noStrike" kern="1200" cap="none" spc="0" normalizeH="0" baseline="0" noProof="0" dirty="0">
                <a:ln>
                  <a:noFill/>
                </a:ln>
                <a:solidFill>
                  <a:srgbClr val="000000"/>
                </a:solidFill>
                <a:effectLst/>
                <a:uLnTx/>
                <a:uFillTx/>
                <a:latin typeface="Courier New" charset="0"/>
                <a:ea typeface="ＭＳ Ｐゴシック" charset="0"/>
              </a:rPr>
              <a:t>Exp</a:t>
            </a:r>
            <a:r>
              <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rPr>
              <a:t>+127(8)  (</a:t>
            </a:r>
            <a:r>
              <a:rPr kumimoji="0" lang="en-US" sz="2000" b="0" i="0" u="none" strike="noStrike" kern="1200" cap="none" spc="0" normalizeH="0" baseline="0" noProof="0" dirty="0">
                <a:ln>
                  <a:noFill/>
                </a:ln>
                <a:solidFill>
                  <a:srgbClr val="0000FF"/>
                </a:solidFill>
                <a:effectLst/>
                <a:uLnTx/>
                <a:uFillTx/>
                <a:latin typeface="Courier New" charset="0"/>
                <a:ea typeface="ＭＳ Ｐゴシック" charset="0"/>
              </a:rPr>
              <a:t>implied 0</a:t>
            </a:r>
            <a:r>
              <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rPr>
              <a:t>).</a:t>
            </a:r>
            <a:r>
              <a:rPr kumimoji="0" lang="en-US" sz="2000" b="1" i="0" u="none" strike="noStrike" kern="1200" cap="none" spc="0" normalizeH="0" baseline="0" noProof="0" dirty="0">
                <a:ln>
                  <a:noFill/>
                </a:ln>
                <a:solidFill>
                  <a:srgbClr val="000000"/>
                </a:solidFill>
                <a:effectLst/>
                <a:uLnTx/>
                <a:uFillTx/>
                <a:latin typeface="Courier New" charset="0"/>
                <a:ea typeface="ＭＳ Ｐゴシック" charset="0"/>
              </a:rPr>
              <a:t>Significand</a:t>
            </a:r>
            <a:r>
              <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rPr>
              <a:t>(23)</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rPr>
              <a:t> </a:t>
            </a:r>
            <a:r>
              <a:rPr kumimoji="0" lang="en-US" sz="2000" b="1" i="0" u="none" strike="noStrike" kern="1200" cap="none" spc="0" normalizeH="0" baseline="0" noProof="0" dirty="0">
                <a:ln>
                  <a:noFill/>
                </a:ln>
                <a:solidFill>
                  <a:srgbClr val="000000"/>
                </a:solidFill>
                <a:effectLst/>
                <a:uLnTx/>
                <a:uFillTx/>
                <a:latin typeface="Courier New" charset="0"/>
                <a:ea typeface="ＭＳ Ｐゴシック" charset="0"/>
              </a:rPr>
              <a:t>0.000 0    </a:t>
            </a:r>
            <a:r>
              <a:rPr kumimoji="0" lang="en-US" sz="2000" b="1" i="0" u="none" strike="noStrike" kern="1200" cap="none" spc="0" normalizeH="0" baseline="0" noProof="0" dirty="0">
                <a:ln>
                  <a:noFill/>
                </a:ln>
                <a:solidFill>
                  <a:srgbClr val="FF0000"/>
                </a:solidFill>
                <a:effectLst/>
                <a:uLnTx/>
                <a:uFillTx/>
                <a:latin typeface="Courier New" charset="0"/>
                <a:ea typeface="ＭＳ Ｐゴシック" charset="0"/>
              </a:rPr>
              <a:t>00000000</a:t>
            </a:r>
            <a:r>
              <a:rPr kumimoji="0" lang="en-US" sz="2000" b="1" i="0" u="none" strike="noStrike" kern="1200" cap="none" spc="0" normalizeH="0" baseline="0" noProof="0" dirty="0">
                <a:ln>
                  <a:noFill/>
                </a:ln>
                <a:solidFill>
                  <a:srgbClr val="000000"/>
                </a:solidFill>
                <a:effectLst/>
                <a:uLnTx/>
                <a:uFillTx/>
                <a:latin typeface="Courier New" charset="0"/>
                <a:ea typeface="ＭＳ Ｐゴシック" charset="0"/>
              </a:rPr>
              <a:t>    (</a:t>
            </a:r>
            <a:r>
              <a:rPr kumimoji="0" lang="en-US" sz="2000" b="1" i="0" u="none" strike="noStrike" kern="1200" cap="none" spc="0" normalizeH="0" baseline="0" noProof="0" dirty="0">
                <a:ln>
                  <a:noFill/>
                </a:ln>
                <a:solidFill>
                  <a:srgbClr val="0000FF"/>
                </a:solidFill>
                <a:effectLst/>
                <a:uLnTx/>
                <a:uFillTx/>
                <a:latin typeface="Courier New" charset="0"/>
                <a:ea typeface="ＭＳ Ｐゴシック" charset="0"/>
              </a:rPr>
              <a:t>0</a:t>
            </a:r>
            <a:r>
              <a:rPr kumimoji="0" lang="en-US" sz="2000" b="1" i="0" u="none" strike="noStrike" kern="1200" cap="none" spc="0" normalizeH="0" baseline="0" noProof="0" dirty="0">
                <a:ln>
                  <a:noFill/>
                </a:ln>
                <a:solidFill>
                  <a:srgbClr val="000000"/>
                </a:solidFill>
                <a:effectLst/>
                <a:uLnTx/>
                <a:uFillTx/>
                <a:latin typeface="Courier New" charset="0"/>
                <a:ea typeface="ＭＳ Ｐゴシック" charset="0"/>
              </a:rPr>
              <a:t>).</a:t>
            </a:r>
            <a:r>
              <a:rPr kumimoji="0" lang="en-US" sz="2000" b="1" i="0" u="none" strike="noStrike" kern="1200" cap="none" spc="0" normalizeH="0" baseline="0" noProof="0" dirty="0">
                <a:ln>
                  <a:noFill/>
                </a:ln>
                <a:solidFill>
                  <a:srgbClr val="FF0000"/>
                </a:solidFill>
                <a:effectLst/>
                <a:uLnTx/>
                <a:uFillTx/>
                <a:latin typeface="Courier New" charset="0"/>
                <a:ea typeface="ＭＳ Ｐゴシック" charset="0"/>
              </a:rPr>
              <a:t>00000000000000000000000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rPr>
              <a:t>Implied 0, if and only if, both stored exponent and the fractional part are zero.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rPr>
              <a:t>	S(1)  </a:t>
            </a:r>
            <a:r>
              <a:rPr kumimoji="0" lang="en-US" sz="2000" b="1" i="0" u="none" strike="noStrike" kern="1200" cap="none" spc="0" normalizeH="0" baseline="0" noProof="0" dirty="0">
                <a:ln>
                  <a:noFill/>
                </a:ln>
                <a:solidFill>
                  <a:srgbClr val="000000"/>
                </a:solidFill>
                <a:effectLst/>
                <a:uLnTx/>
                <a:uFillTx/>
                <a:latin typeface="Courier New" charset="0"/>
                <a:ea typeface="ＭＳ Ｐゴシック" charset="0"/>
              </a:rPr>
              <a:t>Exp</a:t>
            </a:r>
            <a:r>
              <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rPr>
              <a:t>+127(8)  (implied 1).</a:t>
            </a:r>
            <a:r>
              <a:rPr kumimoji="0" lang="en-US" sz="2000" b="1" i="0" u="none" strike="noStrike" kern="1200" cap="none" spc="0" normalizeH="0" baseline="0" noProof="0" dirty="0">
                <a:ln>
                  <a:noFill/>
                </a:ln>
                <a:solidFill>
                  <a:srgbClr val="000000"/>
                </a:solidFill>
                <a:effectLst/>
                <a:uLnTx/>
                <a:uFillTx/>
                <a:latin typeface="Courier New" charset="0"/>
                <a:ea typeface="ＭＳ Ｐゴシック" charset="0"/>
              </a:rPr>
              <a:t>Significand</a:t>
            </a:r>
            <a:r>
              <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rPr>
              <a:t>(23)</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rPr>
              <a:t> </a:t>
            </a:r>
            <a:r>
              <a:rPr kumimoji="0" lang="en-US" sz="2000" b="1" i="0" u="none" strike="noStrike" kern="1200" cap="none" spc="0" normalizeH="0" baseline="0" noProof="0" dirty="0">
                <a:ln>
                  <a:noFill/>
                </a:ln>
                <a:solidFill>
                  <a:srgbClr val="000000"/>
                </a:solidFill>
                <a:effectLst/>
                <a:uLnTx/>
                <a:uFillTx/>
                <a:latin typeface="Courier New" charset="0"/>
                <a:ea typeface="ＭＳ Ｐゴシック" charset="0"/>
              </a:rPr>
              <a:t>0.000 0    01111111    (1).00000000000000000000000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rPr>
              <a:t>1.000</a:t>
            </a:r>
            <a:r>
              <a:rPr kumimoji="0" lang="en-US" sz="2000" b="0" i="0" u="none" strike="noStrike" kern="1200" cap="none" spc="0" normalizeH="0" baseline="-25000" noProof="0" dirty="0">
                <a:ln>
                  <a:noFill/>
                </a:ln>
                <a:solidFill>
                  <a:srgbClr val="000000"/>
                </a:solidFill>
                <a:effectLst/>
                <a:uLnTx/>
                <a:uFillTx/>
                <a:latin typeface="Courier New" charset="0"/>
                <a:ea typeface="ＭＳ Ｐゴシック" charset="0"/>
              </a:rPr>
              <a:t>10</a:t>
            </a:r>
            <a:r>
              <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rPr>
              <a:t> -&gt; 0001</a:t>
            </a:r>
            <a:r>
              <a:rPr kumimoji="0" lang="en-US" sz="2000" b="0" i="0" u="none" strike="noStrike" kern="1200" cap="none" spc="0" normalizeH="0" baseline="-25000" noProof="0" dirty="0">
                <a:ln>
                  <a:noFill/>
                </a:ln>
                <a:solidFill>
                  <a:srgbClr val="000000"/>
                </a:solidFill>
                <a:effectLst/>
                <a:uLnTx/>
                <a:uFillTx/>
                <a:latin typeface="Courier New" charset="0"/>
                <a:ea typeface="ＭＳ Ｐゴシック" charset="0"/>
              </a:rPr>
              <a:t>2</a:t>
            </a:r>
            <a:r>
              <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rPr>
              <a:t> then normalize it as </a:t>
            </a:r>
            <a:r>
              <a:rPr kumimoji="0" lang="en-US" sz="2000" b="1" i="0" u="none" strike="noStrike" kern="1200" cap="none" spc="0" normalizeH="0" baseline="0" noProof="0" dirty="0">
                <a:ln>
                  <a:noFill/>
                </a:ln>
                <a:solidFill>
                  <a:srgbClr val="000000"/>
                </a:solidFill>
                <a:effectLst/>
                <a:uLnTx/>
                <a:uFillTx/>
                <a:latin typeface="Courier New" charset="0"/>
                <a:ea typeface="ＭＳ Ｐゴシック" charset="0"/>
              </a:rPr>
              <a:t>1.0 x 2</a:t>
            </a:r>
            <a:r>
              <a:rPr kumimoji="0" lang="en-US" sz="2000" b="1" i="0" u="none" strike="noStrike" kern="1200" cap="none" spc="0" normalizeH="0" baseline="30000" noProof="0" dirty="0">
                <a:ln>
                  <a:noFill/>
                </a:ln>
                <a:solidFill>
                  <a:srgbClr val="FF6600"/>
                </a:solidFill>
                <a:effectLst/>
                <a:uLnTx/>
                <a:uFillTx/>
                <a:latin typeface="Courier New" charset="0"/>
                <a:ea typeface="ＭＳ Ｐゴシック" charset="0"/>
              </a:rPr>
              <a:t>0</a:t>
            </a:r>
            <a:r>
              <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rPr>
              <a:t>Actual exponent = </a:t>
            </a:r>
            <a:r>
              <a:rPr kumimoji="0" lang="en-US" sz="2000" b="0" i="0" u="none" strike="noStrike" kern="1200" cap="none" spc="0" normalizeH="0" baseline="0" noProof="0" dirty="0">
                <a:ln>
                  <a:noFill/>
                </a:ln>
                <a:solidFill>
                  <a:srgbClr val="FF6600"/>
                </a:solidFill>
                <a:effectLst/>
                <a:uLnTx/>
                <a:uFillTx/>
                <a:latin typeface="Courier New" charset="0"/>
                <a:ea typeface="ＭＳ Ｐゴシック" charset="0"/>
              </a:rPr>
              <a:t>0</a:t>
            </a:r>
            <a:r>
              <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rPr>
              <a:t> so the stored storage in single precision becomes </a:t>
            </a:r>
            <a:r>
              <a:rPr kumimoji="0" lang="en-US" sz="2000" b="0" i="0" u="none" strike="noStrike" kern="1200" cap="none" spc="0" normalizeH="0" baseline="0" noProof="0" dirty="0">
                <a:ln>
                  <a:noFill/>
                </a:ln>
                <a:solidFill>
                  <a:srgbClr val="FF6600"/>
                </a:solidFill>
                <a:effectLst/>
                <a:uLnTx/>
                <a:uFillTx/>
                <a:latin typeface="Courier New" charset="0"/>
                <a:ea typeface="ＭＳ Ｐゴシック" charset="0"/>
              </a:rPr>
              <a:t>0</a:t>
            </a:r>
            <a:r>
              <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rPr>
              <a:t>+127 = 127 or 01111111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endParaRPr>
          </a:p>
        </p:txBody>
      </p:sp>
      <p:cxnSp>
        <p:nvCxnSpPr>
          <p:cNvPr id="3" name="Straight Arrow Connector 2"/>
          <p:cNvCxnSpPr>
            <a:cxnSpLocks noChangeShapeType="1"/>
          </p:cNvCxnSpPr>
          <p:nvPr/>
        </p:nvCxnSpPr>
        <p:spPr bwMode="auto">
          <a:xfrm flipV="1">
            <a:off x="2971800" y="2362200"/>
            <a:ext cx="2590800" cy="381000"/>
          </a:xfrm>
          <a:prstGeom prst="straightConnector1">
            <a:avLst/>
          </a:prstGeom>
          <a:noFill/>
          <a:ln w="9525">
            <a:solidFill>
              <a:schemeClr val="tx1"/>
            </a:solidFill>
            <a:round/>
            <a:headEnd/>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 name="Rectangle 1"/>
          <p:cNvSpPr/>
          <p:nvPr/>
        </p:nvSpPr>
        <p:spPr>
          <a:xfrm>
            <a:off x="3709903" y="2066869"/>
            <a:ext cx="1331020" cy="36251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Rectangle 6"/>
          <p:cNvSpPr/>
          <p:nvPr/>
        </p:nvSpPr>
        <p:spPr>
          <a:xfrm>
            <a:off x="5596417" y="2066869"/>
            <a:ext cx="4173415" cy="36251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 name="Straight Connector 4"/>
          <p:cNvCxnSpPr/>
          <p:nvPr/>
        </p:nvCxnSpPr>
        <p:spPr>
          <a:xfrm flipV="1">
            <a:off x="1524000" y="3587277"/>
            <a:ext cx="9144000" cy="486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3709903" y="4514519"/>
            <a:ext cx="1331020" cy="36251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Rectangle 11"/>
          <p:cNvSpPr/>
          <p:nvPr/>
        </p:nvSpPr>
        <p:spPr>
          <a:xfrm>
            <a:off x="5584243" y="4514519"/>
            <a:ext cx="4223464" cy="36251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13" name="Straight Arrow Connector 12"/>
          <p:cNvCxnSpPr>
            <a:cxnSpLocks noChangeShapeType="1"/>
            <a:stCxn id="10" idx="2"/>
          </p:cNvCxnSpPr>
          <p:nvPr/>
        </p:nvCxnSpPr>
        <p:spPr bwMode="auto">
          <a:xfrm>
            <a:off x="4375413" y="4877032"/>
            <a:ext cx="4285236" cy="322605"/>
          </a:xfrm>
          <a:prstGeom prst="straightConnector1">
            <a:avLst/>
          </a:prstGeom>
          <a:noFill/>
          <a:ln w="9525">
            <a:solidFill>
              <a:schemeClr val="tx1"/>
            </a:solidFill>
            <a:round/>
            <a:headEnd/>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6" name="Straight Arrow Connector 15"/>
          <p:cNvCxnSpPr>
            <a:cxnSpLocks noChangeShapeType="1"/>
          </p:cNvCxnSpPr>
          <p:nvPr/>
        </p:nvCxnSpPr>
        <p:spPr bwMode="auto">
          <a:xfrm>
            <a:off x="5803827" y="4783017"/>
            <a:ext cx="1796335" cy="492369"/>
          </a:xfrm>
          <a:prstGeom prst="straightConnector1">
            <a:avLst/>
          </a:prstGeom>
          <a:noFill/>
          <a:ln w="9525">
            <a:solidFill>
              <a:schemeClr val="tx1"/>
            </a:solidFill>
            <a:round/>
            <a:headEnd/>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186672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a:extLst>
              <a:ext uri="{FF2B5EF4-FFF2-40B4-BE49-F238E27FC236}">
                <a16:creationId xmlns:a16="http://schemas.microsoft.com/office/drawing/2014/main" id="{3591DCC7-B4E1-5D4B-9FE1-2BF4C20B9D34}"/>
              </a:ext>
            </a:extLst>
          </p:cNvPr>
          <p:cNvSpPr>
            <a:spLocks noGrp="1" noChangeArrowheads="1"/>
          </p:cNvSpPr>
          <p:nvPr>
            <p:ph type="title"/>
          </p:nvPr>
        </p:nvSpPr>
        <p:spPr>
          <a:xfrm>
            <a:off x="948548" y="749192"/>
            <a:ext cx="5139431" cy="566261"/>
          </a:xfrm>
        </p:spPr>
        <p:txBody>
          <a:bodyPr>
            <a:normAutofit fontScale="90000"/>
          </a:bodyPr>
          <a:lstStyle/>
          <a:p>
            <a:r>
              <a:rPr lang="en-US" altLang="en-US" dirty="0">
                <a:ea typeface="ＭＳ Ｐゴシック" panose="020B0600070205080204" pitchFamily="34" charset="-128"/>
              </a:rPr>
              <a:t>Floating-Point Example 1 </a:t>
            </a:r>
          </a:p>
        </p:txBody>
      </p:sp>
      <p:sp>
        <p:nvSpPr>
          <p:cNvPr id="120836" name="Rectangle 2">
            <a:extLst>
              <a:ext uri="{FF2B5EF4-FFF2-40B4-BE49-F238E27FC236}">
                <a16:creationId xmlns:a16="http://schemas.microsoft.com/office/drawing/2014/main" id="{A4F196C1-3C62-1A41-BF13-ABCD38EF047A}"/>
              </a:ext>
            </a:extLst>
          </p:cNvPr>
          <p:cNvSpPr>
            <a:spLocks noChangeArrowheads="1"/>
          </p:cNvSpPr>
          <p:nvPr/>
        </p:nvSpPr>
        <p:spPr bwMode="auto">
          <a:xfrm>
            <a:off x="948548" y="1811632"/>
            <a:ext cx="85010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effectLst/>
                <a:uLnTx/>
                <a:uFillTx/>
                <a:latin typeface="Courier New" panose="02070309020205020404" pitchFamily="49" charset="0"/>
                <a:ea typeface="ＭＳ Ｐゴシック" panose="020B0600070205080204" pitchFamily="34" charset="-128"/>
                <a:cs typeface="+mn-cs"/>
              </a:rPr>
              <a:t>Representing decimal 2.0 in IEEE 754 single-precision format:</a:t>
            </a:r>
            <a:endParaRPr kumimoji="0" lang="en-US" altLang="en-US" sz="2400" b="0" i="0" u="none" strike="noStrike" kern="1200" cap="none" spc="0" normalizeH="0" baseline="0" noProof="0" dirty="0">
              <a:ln>
                <a:noFill/>
              </a:ln>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476915854"/>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a:extLst>
              <a:ext uri="{FF2B5EF4-FFF2-40B4-BE49-F238E27FC236}">
                <a16:creationId xmlns:a16="http://schemas.microsoft.com/office/drawing/2014/main" id="{3591DCC7-B4E1-5D4B-9FE1-2BF4C20B9D34}"/>
              </a:ext>
            </a:extLst>
          </p:cNvPr>
          <p:cNvSpPr>
            <a:spLocks noGrp="1" noChangeArrowheads="1"/>
          </p:cNvSpPr>
          <p:nvPr>
            <p:ph type="title"/>
          </p:nvPr>
        </p:nvSpPr>
        <p:spPr>
          <a:xfrm>
            <a:off x="932506" y="737160"/>
            <a:ext cx="5745020" cy="598345"/>
          </a:xfrm>
        </p:spPr>
        <p:txBody>
          <a:bodyPr/>
          <a:lstStyle/>
          <a:p>
            <a:r>
              <a:rPr lang="en-US" altLang="en-US" dirty="0">
                <a:ea typeface="ＭＳ Ｐゴシック" panose="020B0600070205080204" pitchFamily="34" charset="-128"/>
              </a:rPr>
              <a:t>Floating-Point Example 1 </a:t>
            </a:r>
          </a:p>
        </p:txBody>
      </p:sp>
      <p:sp>
        <p:nvSpPr>
          <p:cNvPr id="2" name="Rectangle 1">
            <a:extLst>
              <a:ext uri="{FF2B5EF4-FFF2-40B4-BE49-F238E27FC236}">
                <a16:creationId xmlns:a16="http://schemas.microsoft.com/office/drawing/2014/main" id="{69FAC789-823C-CF46-9D2F-67192E131101}"/>
              </a:ext>
            </a:extLst>
          </p:cNvPr>
          <p:cNvSpPr>
            <a:spLocks noChangeArrowheads="1"/>
          </p:cNvSpPr>
          <p:nvPr/>
        </p:nvSpPr>
        <p:spPr bwMode="auto">
          <a:xfrm>
            <a:off x="1981200" y="1623108"/>
            <a:ext cx="8430986" cy="5004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Binary number 2.0</a:t>
            </a:r>
            <a:r>
              <a:rPr kumimoji="0" lang="en-US" sz="24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10 </a:t>
            </a: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0000 0010.0</a:t>
            </a:r>
            <a:r>
              <a:rPr kumimoji="0" lang="en-US" sz="24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a:t>
            </a: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x 2</a:t>
            </a:r>
            <a:r>
              <a:rPr kumimoji="0" lang="en-US" sz="2400" b="0" i="0" u="none" strike="noStrike" kern="1200" cap="none" spc="0" normalizeH="0" baseline="30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a:t>
            </a:r>
            <a:endPar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Char char="n"/>
              <a:tabLst/>
              <a:defRPr/>
            </a:pP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 Normalize</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=&gt; move binary point 1 bit to the left:</a:t>
            </a: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sz="2000" b="1" i="0" u="none" strike="noStrike" kern="1200" cap="none" spc="0" normalizeH="0" baseline="0" noProof="0" dirty="0">
                <a:ln>
                  <a:noFill/>
                </a:ln>
                <a:solidFill>
                  <a:srgbClr val="00FF00"/>
                </a:solidFill>
                <a:effectLst/>
                <a:uLnTx/>
                <a:uFillTx/>
                <a:latin typeface="Arial" panose="020B0604020202020204" pitchFamily="34" charset="0"/>
                <a:ea typeface="ＭＳ Ｐゴシック" panose="020B0600070205080204" pitchFamily="34" charset="-128"/>
                <a:cs typeface="+mn-cs"/>
              </a:rPr>
              <a:t>1.0000 0000</a:t>
            </a:r>
            <a:r>
              <a:rPr kumimoji="0" lang="en-US" sz="2000" b="1" i="0" u="none" strike="noStrike" kern="1200" cap="none" spc="0" normalizeH="0" baseline="-25000" noProof="0" dirty="0">
                <a:ln>
                  <a:noFill/>
                </a:ln>
                <a:solidFill>
                  <a:srgbClr val="00FF00"/>
                </a:solidFill>
                <a:effectLst/>
                <a:uLnTx/>
                <a:uFillTx/>
                <a:latin typeface="Arial" panose="020B0604020202020204" pitchFamily="34" charset="0"/>
                <a:ea typeface="ＭＳ Ｐゴシック" panose="020B0600070205080204" pitchFamily="34" charset="-128"/>
                <a:cs typeface="+mn-cs"/>
              </a:rPr>
              <a:t>2</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x 2</a:t>
            </a:r>
            <a:r>
              <a:rPr kumimoji="0" lang="en-US" sz="2000" b="1" i="0" u="none" strike="noStrike" kern="1200" cap="none" spc="0" normalizeH="0" baseline="3000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sz="2000" b="1" i="0" u="none" strike="noStrike" kern="1200" cap="none" spc="0" normalizeH="0" baseline="0" noProof="0" dirty="0">
                <a:ln>
                  <a:noFill/>
                </a:ln>
                <a:solidFill>
                  <a:srgbClr val="0000FF"/>
                </a:solidFill>
                <a:effectLst/>
                <a:uLnTx/>
                <a:uFillTx/>
                <a:latin typeface="Arial" panose="020B0604020202020204" pitchFamily="34" charset="0"/>
                <a:ea typeface="ＭＳ Ｐゴシック" panose="020B0600070205080204" pitchFamily="34" charset="-128"/>
                <a:cs typeface="+mn-cs"/>
              </a:rPr>
              <a:t>sign  positive =&gt; S = 0</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Char char="n"/>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 Exponent</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(stored) = Actual Exponent (1) + </a:t>
            </a: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bias</a:t>
            </a: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so Stored Exp. = </a:t>
            </a:r>
            <a:r>
              <a:rPr kumimoji="0" lang="en-US" sz="2000" b="1"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a:t>
            </a:r>
            <a:r>
              <a:rPr kumimoji="0" lang="en-US" sz="2000" b="1" i="0" u="none" strike="noStrike" kern="1200" cap="none" spc="0" normalizeH="0" baseline="-2500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10</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+ 127</a:t>
            </a:r>
            <a:r>
              <a:rPr kumimoji="0" lang="en-US" sz="20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10</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lang="en-US" sz="2000" dirty="0">
                <a:solidFill>
                  <a:srgbClr val="000000"/>
                </a:solidFill>
              </a:rPr>
              <a:t> </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0000 0001</a:t>
            </a:r>
            <a:r>
              <a:rPr kumimoji="0" lang="en-US" sz="20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a:t>
            </a:r>
          </a:p>
          <a:p>
            <a:pPr marL="1257300" marR="0" lvl="2" indent="-342900" algn="l" defTabSz="914400" rtl="0" eaLnBrk="1" fontAlgn="auto" latinLnBrk="0" hangingPunct="1">
              <a:lnSpc>
                <a:spcPct val="100000"/>
              </a:lnSpc>
              <a:spcBef>
                <a:spcPct val="20000"/>
              </a:spcBef>
              <a:spcAft>
                <a:spcPts val="0"/>
              </a:spcAft>
              <a:buClr>
                <a:srgbClr val="954F72"/>
              </a:buClr>
              <a:buSzPct val="50000"/>
              <a:buFont typeface="Symbol" panose="05050102010706020507" pitchFamily="18" charset="2"/>
              <a:buChar char="Þ"/>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Stored Exp. = </a:t>
            </a:r>
            <a:r>
              <a:rPr kumimoji="0" lang="en-US" sz="2000" b="1"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a:t>
            </a:r>
            <a:r>
              <a:rPr kumimoji="0" lang="en-US" sz="2000" b="1" i="0" u="none" strike="noStrike" kern="1200" cap="none" spc="0" normalizeH="0" baseline="-2500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10</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+ 127</a:t>
            </a:r>
            <a:r>
              <a:rPr kumimoji="0" lang="en-US" sz="20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10</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0111 1111</a:t>
            </a:r>
            <a:r>
              <a:rPr kumimoji="0" lang="en-US" sz="20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 </a:t>
            </a:r>
          </a:p>
          <a:p>
            <a:pPr marL="1257300" marR="0" lvl="2" indent="-342900" algn="l" defTabSz="914400" rtl="0" eaLnBrk="1" fontAlgn="auto" latinLnBrk="0" hangingPunct="1">
              <a:lnSpc>
                <a:spcPct val="100000"/>
              </a:lnSpc>
              <a:spcBef>
                <a:spcPct val="20000"/>
              </a:spcBef>
              <a:spcAft>
                <a:spcPts val="0"/>
              </a:spcAft>
              <a:buClr>
                <a:srgbClr val="954F72"/>
              </a:buClr>
              <a:buSzPct val="50000"/>
              <a:buFont typeface="Symbol" panose="05050102010706020507" pitchFamily="18" charset="2"/>
              <a:buChar char="Þ"/>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Stored Exp. = </a:t>
            </a:r>
            <a:r>
              <a:rPr kumimoji="0" lang="en-US" sz="2000" b="1"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128</a:t>
            </a:r>
            <a:r>
              <a:rPr kumimoji="0" lang="en-US" sz="2000" b="1" i="0" u="none" strike="noStrike" kern="1200" cap="none" spc="0" normalizeH="0" baseline="-2500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10</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sz="2000" b="1"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1000 0000</a:t>
            </a:r>
            <a:r>
              <a:rPr kumimoji="0" lang="en-US" sz="2000" b="1" i="0" u="none" strike="noStrike" kern="1200" cap="none" spc="0" normalizeH="0" baseline="-2500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2</a:t>
            </a: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Final bit pattern: </a:t>
            </a:r>
            <a:endParaRPr kumimoji="0" lang="en-US" sz="2000" b="1" i="0" u="none" strike="noStrike" kern="1200" cap="none" spc="0" normalizeH="0" baseline="0" noProof="0" dirty="0">
              <a:ln>
                <a:noFill/>
              </a:ln>
              <a:solidFill>
                <a:srgbClr val="00FF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FF"/>
                </a:solidFill>
                <a:effectLst/>
                <a:uLnTx/>
                <a:uFillTx/>
                <a:latin typeface="Courier New" panose="02070309020205020404" pitchFamily="49" charset="0"/>
                <a:ea typeface="ＭＳ Ｐゴシック" panose="020B0600070205080204" pitchFamily="34" charset="-128"/>
                <a:cs typeface="+mn-cs"/>
              </a:rPr>
              <a:t>S(1)</a:t>
            </a:r>
            <a:r>
              <a:rPr kumimoji="0" lang="en-US" altLang="en-US" sz="2000" b="0" i="0" u="none" strike="noStrike" kern="1200" cap="none" spc="0" normalizeH="0" baseline="0" noProof="0" dirty="0">
                <a:ln>
                  <a:noFill/>
                </a:ln>
                <a:solidFill>
                  <a:srgbClr val="FF0000"/>
                </a:solidFill>
                <a:effectLst/>
                <a:uLnTx/>
                <a:uFillTx/>
                <a:latin typeface="Courier New" panose="02070309020205020404" pitchFamily="49" charset="0"/>
                <a:ea typeface="ＭＳ Ｐゴシック" panose="020B0600070205080204" pitchFamily="34" charset="-128"/>
                <a:cs typeface="+mn-cs"/>
              </a:rPr>
              <a:t>  </a:t>
            </a:r>
            <a:r>
              <a:rPr kumimoji="0" lang="en-US" altLang="en-US" sz="2000" b="1" i="0" u="none" strike="noStrike" kern="1200" cap="none" spc="0" normalizeH="0" baseline="0" noProof="0" dirty="0">
                <a:ln>
                  <a:noFill/>
                </a:ln>
                <a:solidFill>
                  <a:srgbClr val="FF0000"/>
                </a:solidFill>
                <a:effectLst/>
                <a:uLnTx/>
                <a:uFillTx/>
                <a:latin typeface="Courier New" panose="02070309020205020404" pitchFamily="49" charset="0"/>
                <a:ea typeface="ＭＳ Ｐゴシック" panose="020B0600070205080204" pitchFamily="34" charset="-128"/>
                <a:cs typeface="+mn-cs"/>
              </a:rPr>
              <a:t>Exp+127(8u)</a:t>
            </a:r>
            <a:r>
              <a:rPr kumimoji="0" lang="en-US" altLang="en-US" sz="2000" b="1" i="0" u="none" strike="noStrike" kern="1200" cap="none" spc="0" normalizeH="0" baseline="0" noProof="0" dirty="0">
                <a:ln>
                  <a:noFill/>
                </a:ln>
                <a:solidFill>
                  <a:srgbClr val="00FF00"/>
                </a:solidFill>
                <a:effectLst/>
                <a:uLnTx/>
                <a:uFillTx/>
                <a:latin typeface="Courier New" panose="02070309020205020404" pitchFamily="49" charset="0"/>
                <a:ea typeface="ＭＳ Ｐゴシック" panose="020B0600070205080204" pitchFamily="34" charset="-128"/>
                <a:cs typeface="+mn-cs"/>
              </a:rPr>
              <a:t>(implied 1).Significand(23)</a:t>
            </a:r>
            <a:br>
              <a:rPr kumimoji="0" lang="en-US" altLang="en-US" sz="2000" b="1" i="0" u="none" strike="noStrike" kern="1200" cap="none" spc="0" normalizeH="0" baseline="0" noProof="0" dirty="0">
                <a:ln>
                  <a:noFill/>
                </a:ln>
                <a:solidFill>
                  <a:srgbClr val="00FF00"/>
                </a:solidFill>
                <a:effectLst/>
                <a:uLnTx/>
                <a:uFillTx/>
                <a:latin typeface="Courier New" panose="02070309020205020404" pitchFamily="49" charset="0"/>
                <a:ea typeface="ＭＳ Ｐゴシック" panose="020B0600070205080204" pitchFamily="34" charset="-128"/>
                <a:cs typeface="+mn-cs"/>
              </a:rPr>
            </a:br>
            <a:endParaRPr kumimoji="0" lang="en-US" altLang="en-US" sz="2000" b="0" i="0" u="none" strike="noStrike" kern="1200" cap="none" spc="0" normalizeH="0" baseline="0" noProof="0" dirty="0">
              <a:ln>
                <a:noFill/>
              </a:ln>
              <a:solidFill>
                <a:srgbClr val="000000"/>
              </a:solidFill>
              <a:effectLst/>
              <a:uLnTx/>
              <a:uFillTx/>
              <a:latin typeface="Courier New" panose="02070309020205020404" pitchFamily="49"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FF"/>
                </a:solidFill>
                <a:effectLst/>
                <a:uLnTx/>
                <a:uFillTx/>
                <a:latin typeface="Courier New" panose="02070309020205020404" pitchFamily="49" charset="0"/>
                <a:ea typeface="ＭＳ Ｐゴシック" panose="020B0600070205080204" pitchFamily="34" charset="-128"/>
                <a:cs typeface="+mn-cs"/>
              </a:rPr>
              <a:t>0</a:t>
            </a:r>
            <a:r>
              <a:rPr kumimoji="0" lang="en-US" altLang="en-US" sz="2000" b="0" i="0" u="none" strike="noStrike" kern="1200" cap="none" spc="0" normalizeH="0" baseline="0" noProof="0" dirty="0">
                <a:ln>
                  <a:noFill/>
                </a:ln>
                <a:solidFill>
                  <a:srgbClr val="000000"/>
                </a:solidFill>
                <a:effectLst/>
                <a:uLnTx/>
                <a:uFillTx/>
                <a:latin typeface="Courier New" panose="02070309020205020404" pitchFamily="49" charset="0"/>
                <a:ea typeface="ＭＳ Ｐゴシック" panose="020B0600070205080204" pitchFamily="34" charset="-128"/>
                <a:cs typeface="+mn-cs"/>
              </a:rPr>
              <a:t>   </a:t>
            </a:r>
            <a:r>
              <a:rPr kumimoji="0" lang="en-US" altLang="en-US" sz="2000" b="1" i="0" u="none" strike="noStrike" kern="1200" cap="none" spc="0" normalizeH="0" baseline="0" noProof="0" dirty="0">
                <a:ln>
                  <a:noFill/>
                </a:ln>
                <a:solidFill>
                  <a:srgbClr val="FF0000"/>
                </a:solidFill>
                <a:effectLst/>
                <a:uLnTx/>
                <a:uFillTx/>
                <a:latin typeface="Courier New" panose="02070309020205020404" pitchFamily="49" charset="0"/>
                <a:ea typeface="ＭＳ Ｐゴシック" panose="020B0600070205080204" pitchFamily="34" charset="-128"/>
                <a:cs typeface="+mn-cs"/>
              </a:rPr>
              <a:t>  1000 0000 </a:t>
            </a:r>
            <a:r>
              <a:rPr kumimoji="0" lang="en-US" altLang="en-US" sz="2000" b="0" i="0" u="none" strike="noStrike" kern="1200" cap="none" spc="0" normalizeH="0" baseline="0" noProof="0" dirty="0">
                <a:ln>
                  <a:noFill/>
                </a:ln>
                <a:solidFill>
                  <a:srgbClr val="000000"/>
                </a:solidFill>
                <a:effectLst/>
                <a:uLnTx/>
                <a:uFillTx/>
                <a:latin typeface="Courier New" panose="02070309020205020404" pitchFamily="49" charset="0"/>
                <a:ea typeface="ＭＳ Ｐゴシック" panose="020B0600070205080204" pitchFamily="34" charset="-128"/>
                <a:cs typeface="+mn-cs"/>
              </a:rPr>
              <a:t> </a:t>
            </a:r>
            <a:r>
              <a:rPr kumimoji="0" lang="en-US" altLang="en-US" sz="2000" b="1" i="0" u="none" strike="noStrike" kern="1200" cap="none" spc="0" normalizeH="0" baseline="0" noProof="0" dirty="0">
                <a:ln>
                  <a:noFill/>
                </a:ln>
                <a:solidFill>
                  <a:srgbClr val="00FF00"/>
                </a:solidFill>
                <a:effectLst/>
                <a:uLnTx/>
                <a:uFillTx/>
                <a:latin typeface="Courier New" panose="02070309020205020404" pitchFamily="49" charset="0"/>
                <a:ea typeface="ＭＳ Ｐゴシック" panose="020B0600070205080204" pitchFamily="34" charset="-128"/>
                <a:cs typeface="+mn-cs"/>
              </a:rPr>
              <a:t>(1).0000 0000 0000 0000 0000 000</a:t>
            </a:r>
            <a:r>
              <a:rPr kumimoji="0" lang="en-US" sz="2000" b="1" i="0" u="none" strike="noStrike" kern="1200" cap="none" spc="0" normalizeH="0" baseline="0" noProof="0" dirty="0">
                <a:ln>
                  <a:noFill/>
                </a:ln>
                <a:solidFill>
                  <a:srgbClr val="00FF00"/>
                </a:solidFill>
                <a:effectLst/>
                <a:uLnTx/>
                <a:uFillTx/>
                <a:latin typeface="Arial" panose="020B0604020202020204" pitchFamily="34" charset="0"/>
                <a:ea typeface="ＭＳ Ｐゴシック" panose="020B0600070205080204" pitchFamily="34" charset="-128"/>
                <a:cs typeface="+mn-cs"/>
              </a:rPr>
              <a:t> </a:t>
            </a:r>
          </a:p>
        </p:txBody>
      </p:sp>
      <p:sp>
        <p:nvSpPr>
          <p:cNvPr id="3" name="Rectangle 2"/>
          <p:cNvSpPr/>
          <p:nvPr/>
        </p:nvSpPr>
        <p:spPr>
          <a:xfrm>
            <a:off x="2024743" y="5599118"/>
            <a:ext cx="8001000" cy="10069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16" name="Straight Connector 15"/>
          <p:cNvCxnSpPr/>
          <p:nvPr/>
        </p:nvCxnSpPr>
        <p:spPr>
          <a:xfrm flipH="1">
            <a:off x="2966357" y="2818261"/>
            <a:ext cx="163286" cy="2122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031671" y="2818261"/>
            <a:ext cx="97972" cy="2122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0790392"/>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226A834C-5B5E-B343-87FC-0E0B9DF3DF9E}"/>
              </a:ext>
            </a:extLst>
          </p:cNvPr>
          <p:cNvSpPr>
            <a:spLocks noGrp="1" noChangeArrowheads="1"/>
          </p:cNvSpPr>
          <p:nvPr>
            <p:ph type="title"/>
          </p:nvPr>
        </p:nvSpPr>
        <p:spPr>
          <a:xfrm>
            <a:off x="918410" y="747880"/>
            <a:ext cx="5293895" cy="571583"/>
          </a:xfrm>
        </p:spPr>
        <p:txBody>
          <a:bodyPr>
            <a:normAutofit fontScale="90000"/>
          </a:bodyPr>
          <a:lstStyle/>
          <a:p>
            <a:r>
              <a:rPr lang="en-US" altLang="en-US" dirty="0">
                <a:ea typeface="ＭＳ Ｐゴシック" panose="020B0600070205080204" pitchFamily="34" charset="-128"/>
              </a:rPr>
              <a:t>Floating-Point Example 2 </a:t>
            </a:r>
          </a:p>
        </p:txBody>
      </p:sp>
      <p:sp>
        <p:nvSpPr>
          <p:cNvPr id="122885" name="Rectangle 2">
            <a:extLst>
              <a:ext uri="{FF2B5EF4-FFF2-40B4-BE49-F238E27FC236}">
                <a16:creationId xmlns:a16="http://schemas.microsoft.com/office/drawing/2014/main" id="{E6102F6B-1AAB-B148-A0CA-E4F34D360937}"/>
              </a:ext>
            </a:extLst>
          </p:cNvPr>
          <p:cNvSpPr>
            <a:spLocks noChangeArrowheads="1"/>
          </p:cNvSpPr>
          <p:nvPr/>
        </p:nvSpPr>
        <p:spPr bwMode="auto">
          <a:xfrm>
            <a:off x="1329658" y="1799391"/>
            <a:ext cx="85883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ourier New" panose="02070309020205020404" pitchFamily="49" charset="0"/>
                <a:ea typeface="ＭＳ Ｐゴシック" panose="020B0600070205080204" pitchFamily="34" charset="-128"/>
                <a:cs typeface="+mn-cs"/>
              </a:rPr>
              <a:t>Representing decimal 0.75 in IEEE 754 single-precision format:  </a:t>
            </a:r>
            <a:endParaRPr kumimoji="0" lang="en-US" altLang="en-US" sz="2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875112587"/>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a:extLst>
              <a:ext uri="{FF2B5EF4-FFF2-40B4-BE49-F238E27FC236}">
                <a16:creationId xmlns:a16="http://schemas.microsoft.com/office/drawing/2014/main" id="{3591DCC7-B4E1-5D4B-9FE1-2BF4C20B9D34}"/>
              </a:ext>
            </a:extLst>
          </p:cNvPr>
          <p:cNvSpPr>
            <a:spLocks noGrp="1" noChangeArrowheads="1"/>
          </p:cNvSpPr>
          <p:nvPr>
            <p:ph type="title"/>
          </p:nvPr>
        </p:nvSpPr>
        <p:spPr>
          <a:xfrm>
            <a:off x="954506" y="731838"/>
            <a:ext cx="5819273" cy="699920"/>
          </a:xfrm>
        </p:spPr>
        <p:txBody>
          <a:bodyPr/>
          <a:lstStyle/>
          <a:p>
            <a:r>
              <a:rPr lang="en-US" altLang="en-US" dirty="0">
                <a:ea typeface="ＭＳ Ｐゴシック" panose="020B0600070205080204" pitchFamily="34" charset="-128"/>
              </a:rPr>
              <a:t>Floating-Point Example 2 </a:t>
            </a:r>
          </a:p>
        </p:txBody>
      </p:sp>
      <p:sp>
        <p:nvSpPr>
          <p:cNvPr id="2" name="Rectangle 1">
            <a:extLst>
              <a:ext uri="{FF2B5EF4-FFF2-40B4-BE49-F238E27FC236}">
                <a16:creationId xmlns:a16="http://schemas.microsoft.com/office/drawing/2014/main" id="{69FAC789-823C-CF46-9D2F-67192E131101}"/>
              </a:ext>
            </a:extLst>
          </p:cNvPr>
          <p:cNvSpPr>
            <a:spLocks noChangeArrowheads="1"/>
          </p:cNvSpPr>
          <p:nvPr/>
        </p:nvSpPr>
        <p:spPr bwMode="auto">
          <a:xfrm>
            <a:off x="1981200" y="1627110"/>
            <a:ext cx="8430986" cy="5004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Binary number 0.75</a:t>
            </a:r>
            <a:r>
              <a:rPr kumimoji="0" lang="en-US" sz="24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10 </a:t>
            </a: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0000 0000.11</a:t>
            </a:r>
            <a:r>
              <a:rPr kumimoji="0" lang="en-US" sz="24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a:t>
            </a: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x 2</a:t>
            </a:r>
            <a:r>
              <a:rPr kumimoji="0" lang="en-US" sz="2400" b="0" i="0" u="none" strike="noStrike" kern="1200" cap="none" spc="0" normalizeH="0" baseline="30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a:t>
            </a:r>
            <a:endPar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Char char="n"/>
              <a:tabLst/>
              <a:defRPr/>
            </a:pP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 Normalize</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=&gt; move binary point 1 bit to the right:</a:t>
            </a: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sz="2000" b="1" i="0" u="none" strike="noStrike" kern="1200" cap="none" spc="0" normalizeH="0" baseline="0" noProof="0" dirty="0">
                <a:ln>
                  <a:noFill/>
                </a:ln>
                <a:solidFill>
                  <a:srgbClr val="00FF00"/>
                </a:solidFill>
                <a:effectLst/>
                <a:uLnTx/>
                <a:uFillTx/>
                <a:latin typeface="Arial" panose="020B0604020202020204" pitchFamily="34" charset="0"/>
                <a:ea typeface="ＭＳ Ｐゴシック" panose="020B0600070205080204" pitchFamily="34" charset="-128"/>
                <a:cs typeface="+mn-cs"/>
              </a:rPr>
              <a:t>1.1000 0000</a:t>
            </a:r>
            <a:r>
              <a:rPr kumimoji="0" lang="en-US" sz="2000" b="1" i="0" u="none" strike="noStrike" kern="1200" cap="none" spc="0" normalizeH="0" baseline="-25000" noProof="0" dirty="0">
                <a:ln>
                  <a:noFill/>
                </a:ln>
                <a:solidFill>
                  <a:srgbClr val="00FF00"/>
                </a:solidFill>
                <a:effectLst/>
                <a:uLnTx/>
                <a:uFillTx/>
                <a:latin typeface="Arial" panose="020B0604020202020204" pitchFamily="34" charset="0"/>
                <a:ea typeface="ＭＳ Ｐゴシック" panose="020B0600070205080204" pitchFamily="34" charset="-128"/>
                <a:cs typeface="+mn-cs"/>
              </a:rPr>
              <a:t>2</a:t>
            </a:r>
            <a:r>
              <a:rPr kumimoji="0" lang="en-US" sz="2000" b="1" i="0" u="none" strike="noStrike" kern="1200" cap="none" spc="0" normalizeH="0" baseline="0" noProof="0" dirty="0">
                <a:ln>
                  <a:noFill/>
                </a:ln>
                <a:solidFill>
                  <a:srgbClr val="00FF00"/>
                </a:solidFill>
                <a:effectLst/>
                <a:uLnTx/>
                <a:uFillTx/>
                <a:latin typeface="Arial" panose="020B0604020202020204" pitchFamily="34" charset="0"/>
                <a:ea typeface="ＭＳ Ｐゴシック" panose="020B0600070205080204" pitchFamily="34" charset="-128"/>
                <a:cs typeface="+mn-cs"/>
              </a:rPr>
              <a:t> </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x 2</a:t>
            </a:r>
            <a:r>
              <a:rPr kumimoji="0" lang="en-US" sz="2000" b="1" i="0" u="none" strike="noStrike" kern="1200" cap="none" spc="0" normalizeH="0" baseline="3000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sz="2000" b="1" i="0" u="none" strike="noStrike" kern="1200" cap="none" spc="0" normalizeH="0" baseline="0" noProof="0" dirty="0">
                <a:ln>
                  <a:noFill/>
                </a:ln>
                <a:solidFill>
                  <a:srgbClr val="0000FF"/>
                </a:solidFill>
                <a:effectLst/>
                <a:uLnTx/>
                <a:uFillTx/>
                <a:latin typeface="Arial" panose="020B0604020202020204" pitchFamily="34" charset="0"/>
                <a:ea typeface="ＭＳ Ｐゴシック" panose="020B0600070205080204" pitchFamily="34" charset="-128"/>
                <a:cs typeface="+mn-cs"/>
              </a:rPr>
              <a:t>sign  positive =&gt; S = 0</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Char char="n"/>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 Exponent</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(stored) = Actual Exponent (1) + </a:t>
            </a: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bias</a:t>
            </a: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so Stored Exp. = </a:t>
            </a:r>
            <a:r>
              <a:rPr kumimoji="0" lang="en-US" sz="2000" b="1"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a:t>
            </a:r>
            <a:r>
              <a:rPr kumimoji="0" lang="en-US" sz="2000" b="1" i="0" u="none" strike="noStrike" kern="1200" cap="none" spc="0" normalizeH="0" baseline="-2500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10</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+ 127</a:t>
            </a:r>
            <a:r>
              <a:rPr kumimoji="0" lang="en-US" sz="20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10</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sz="2000" b="1"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0000 0001</a:t>
            </a:r>
            <a:r>
              <a:rPr kumimoji="0" lang="en-US" sz="20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a:t>
            </a:r>
          </a:p>
          <a:p>
            <a:pPr marL="1257300" marR="0" lvl="2" indent="-342900" algn="l" defTabSz="914400" rtl="0" eaLnBrk="1" fontAlgn="auto" latinLnBrk="0" hangingPunct="1">
              <a:lnSpc>
                <a:spcPct val="100000"/>
              </a:lnSpc>
              <a:spcBef>
                <a:spcPct val="20000"/>
              </a:spcBef>
              <a:spcAft>
                <a:spcPts val="0"/>
              </a:spcAft>
              <a:buClr>
                <a:srgbClr val="954F72"/>
              </a:buClr>
              <a:buSzPct val="50000"/>
              <a:buFont typeface="Symbol" panose="05050102010706020507" pitchFamily="18" charset="2"/>
              <a:buChar char="Þ"/>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Stored Exp. = </a:t>
            </a:r>
            <a:r>
              <a:rPr kumimoji="0" lang="en-US" sz="2000" b="1"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a:t>
            </a:r>
            <a:r>
              <a:rPr kumimoji="0" lang="en-US" sz="2000" b="1" i="0" u="none" strike="noStrike" kern="1200" cap="none" spc="0" normalizeH="0" baseline="-2500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10</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+ 127</a:t>
            </a:r>
            <a:r>
              <a:rPr kumimoji="0" lang="en-US" sz="20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10</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0111 1111</a:t>
            </a:r>
            <a:r>
              <a:rPr kumimoji="0" lang="en-US" sz="20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 </a:t>
            </a:r>
          </a:p>
          <a:p>
            <a:pPr marL="1257300" marR="0" lvl="2" indent="-342900" algn="l" defTabSz="914400" rtl="0" eaLnBrk="1" fontAlgn="auto" latinLnBrk="0" hangingPunct="1">
              <a:lnSpc>
                <a:spcPct val="100000"/>
              </a:lnSpc>
              <a:spcBef>
                <a:spcPct val="20000"/>
              </a:spcBef>
              <a:spcAft>
                <a:spcPts val="0"/>
              </a:spcAft>
              <a:buClr>
                <a:srgbClr val="954F72"/>
              </a:buClr>
              <a:buSzPct val="50000"/>
              <a:buFont typeface="Symbol" panose="05050102010706020507" pitchFamily="18" charset="2"/>
              <a:buChar char="Þ"/>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Stored Exp. = </a:t>
            </a:r>
            <a:r>
              <a:rPr kumimoji="0" lang="en-US" sz="2000" b="1"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126</a:t>
            </a:r>
            <a:r>
              <a:rPr kumimoji="0" lang="en-US" sz="2000" b="1" i="0" u="none" strike="noStrike" kern="1200" cap="none" spc="0" normalizeH="0" baseline="-2500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10</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sz="2000" b="1"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0111 1110</a:t>
            </a:r>
            <a:r>
              <a:rPr kumimoji="0" lang="en-US" sz="2000" b="1" i="0" u="none" strike="noStrike" kern="1200" cap="none" spc="0" normalizeH="0" baseline="-2500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2</a:t>
            </a: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Final bit pattern: </a:t>
            </a:r>
            <a:endParaRPr kumimoji="0" lang="en-US" sz="2000" b="1" i="0" u="none" strike="noStrike" kern="1200" cap="none" spc="0" normalizeH="0" baseline="0" noProof="0" dirty="0">
              <a:ln>
                <a:noFill/>
              </a:ln>
              <a:solidFill>
                <a:srgbClr val="00FF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FF"/>
                </a:solidFill>
                <a:effectLst/>
                <a:uLnTx/>
                <a:uFillTx/>
                <a:latin typeface="Courier New" panose="02070309020205020404" pitchFamily="49" charset="0"/>
                <a:ea typeface="ＭＳ Ｐゴシック" panose="020B0600070205080204" pitchFamily="34" charset="-128"/>
                <a:cs typeface="+mn-cs"/>
              </a:rPr>
              <a:t>S(1)</a:t>
            </a:r>
            <a:r>
              <a:rPr kumimoji="0" lang="en-US" altLang="en-US" sz="2000" b="0" i="0" u="none" strike="noStrike" kern="1200" cap="none" spc="0" normalizeH="0" baseline="0" noProof="0" dirty="0">
                <a:ln>
                  <a:noFill/>
                </a:ln>
                <a:solidFill>
                  <a:srgbClr val="FF0000"/>
                </a:solidFill>
                <a:effectLst/>
                <a:uLnTx/>
                <a:uFillTx/>
                <a:latin typeface="Courier New" panose="02070309020205020404" pitchFamily="49" charset="0"/>
                <a:ea typeface="ＭＳ Ｐゴシック" panose="020B0600070205080204" pitchFamily="34" charset="-128"/>
                <a:cs typeface="+mn-cs"/>
              </a:rPr>
              <a:t>  </a:t>
            </a:r>
            <a:r>
              <a:rPr kumimoji="0" lang="en-US" altLang="en-US" sz="2000" b="1" i="0" u="none" strike="noStrike" kern="1200" cap="none" spc="0" normalizeH="0" baseline="0" noProof="0" dirty="0">
                <a:ln>
                  <a:noFill/>
                </a:ln>
                <a:solidFill>
                  <a:srgbClr val="FF0000"/>
                </a:solidFill>
                <a:effectLst/>
                <a:uLnTx/>
                <a:uFillTx/>
                <a:latin typeface="Courier New" panose="02070309020205020404" pitchFamily="49" charset="0"/>
                <a:ea typeface="ＭＳ Ｐゴシック" panose="020B0600070205080204" pitchFamily="34" charset="-128"/>
                <a:cs typeface="+mn-cs"/>
              </a:rPr>
              <a:t>Exp+127(8u)</a:t>
            </a:r>
            <a:r>
              <a:rPr kumimoji="0" lang="en-US" altLang="en-US" sz="2000" b="1" i="0" u="none" strike="noStrike" kern="1200" cap="none" spc="0" normalizeH="0" baseline="0" noProof="0" dirty="0">
                <a:ln>
                  <a:noFill/>
                </a:ln>
                <a:solidFill>
                  <a:srgbClr val="00FF00"/>
                </a:solidFill>
                <a:effectLst/>
                <a:uLnTx/>
                <a:uFillTx/>
                <a:latin typeface="Courier New" panose="02070309020205020404" pitchFamily="49" charset="0"/>
                <a:ea typeface="ＭＳ Ｐゴシック" panose="020B0600070205080204" pitchFamily="34" charset="-128"/>
                <a:cs typeface="+mn-cs"/>
              </a:rPr>
              <a:t>(implied 1).Significand(23)</a:t>
            </a:r>
            <a:br>
              <a:rPr kumimoji="0" lang="en-US" altLang="en-US" sz="2000" b="1" i="0" u="none" strike="noStrike" kern="1200" cap="none" spc="0" normalizeH="0" baseline="0" noProof="0" dirty="0">
                <a:ln>
                  <a:noFill/>
                </a:ln>
                <a:solidFill>
                  <a:srgbClr val="00FF00"/>
                </a:solidFill>
                <a:effectLst/>
                <a:uLnTx/>
                <a:uFillTx/>
                <a:latin typeface="Courier New" panose="02070309020205020404" pitchFamily="49" charset="0"/>
                <a:ea typeface="ＭＳ Ｐゴシック" panose="020B0600070205080204" pitchFamily="34" charset="-128"/>
                <a:cs typeface="+mn-cs"/>
              </a:rPr>
            </a:br>
            <a:endParaRPr kumimoji="0" lang="en-US" altLang="en-US" sz="2000" b="0" i="0" u="none" strike="noStrike" kern="1200" cap="none" spc="0" normalizeH="0" baseline="0" noProof="0" dirty="0">
              <a:ln>
                <a:noFill/>
              </a:ln>
              <a:solidFill>
                <a:srgbClr val="000000"/>
              </a:solidFill>
              <a:effectLst/>
              <a:uLnTx/>
              <a:uFillTx/>
              <a:latin typeface="Courier New" panose="02070309020205020404" pitchFamily="49"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FF"/>
                </a:solidFill>
                <a:effectLst/>
                <a:uLnTx/>
                <a:uFillTx/>
                <a:latin typeface="Courier New" panose="02070309020205020404" pitchFamily="49" charset="0"/>
                <a:ea typeface="ＭＳ Ｐゴシック" panose="020B0600070205080204" pitchFamily="34" charset="-128"/>
                <a:cs typeface="+mn-cs"/>
              </a:rPr>
              <a:t>   0</a:t>
            </a:r>
            <a:r>
              <a:rPr kumimoji="0" lang="en-US" altLang="en-US" sz="2000" b="0" i="0" u="none" strike="noStrike" kern="1200" cap="none" spc="0" normalizeH="0" baseline="0" noProof="0" dirty="0">
                <a:ln>
                  <a:noFill/>
                </a:ln>
                <a:solidFill>
                  <a:srgbClr val="000000"/>
                </a:solidFill>
                <a:effectLst/>
                <a:uLnTx/>
                <a:uFillTx/>
                <a:latin typeface="Courier New" panose="02070309020205020404" pitchFamily="49" charset="0"/>
                <a:ea typeface="ＭＳ Ｐゴシック" panose="020B0600070205080204" pitchFamily="34" charset="-128"/>
                <a:cs typeface="+mn-cs"/>
              </a:rPr>
              <a:t>   </a:t>
            </a:r>
            <a:r>
              <a:rPr kumimoji="0" lang="en-US" altLang="en-US" sz="2000" b="1" i="0" u="none" strike="noStrike" kern="1200" cap="none" spc="0" normalizeH="0" baseline="0" noProof="0" dirty="0">
                <a:ln>
                  <a:noFill/>
                </a:ln>
                <a:solidFill>
                  <a:srgbClr val="FF0000"/>
                </a:solidFill>
                <a:effectLst/>
                <a:uLnTx/>
                <a:uFillTx/>
                <a:latin typeface="Courier New" panose="02070309020205020404" pitchFamily="49" charset="0"/>
                <a:ea typeface="ＭＳ Ｐゴシック" panose="020B0600070205080204" pitchFamily="34" charset="-128"/>
                <a:cs typeface="+mn-cs"/>
              </a:rPr>
              <a:t> 0111 1110 </a:t>
            </a:r>
            <a:r>
              <a:rPr kumimoji="0" lang="en-US" altLang="en-US" sz="2000" b="0" i="0" u="none" strike="noStrike" kern="1200" cap="none" spc="0" normalizeH="0" baseline="0" noProof="0" dirty="0">
                <a:ln>
                  <a:noFill/>
                </a:ln>
                <a:solidFill>
                  <a:srgbClr val="000000"/>
                </a:solidFill>
                <a:effectLst/>
                <a:uLnTx/>
                <a:uFillTx/>
                <a:latin typeface="Courier New" panose="02070309020205020404" pitchFamily="49" charset="0"/>
                <a:ea typeface="ＭＳ Ｐゴシック" panose="020B0600070205080204" pitchFamily="34" charset="-128"/>
                <a:cs typeface="+mn-cs"/>
              </a:rPr>
              <a:t> </a:t>
            </a:r>
            <a:r>
              <a:rPr kumimoji="0" lang="en-US" altLang="en-US" sz="2000" b="1" i="0" u="none" strike="noStrike" kern="1200" cap="none" spc="0" normalizeH="0" baseline="0" noProof="0" dirty="0">
                <a:ln>
                  <a:noFill/>
                </a:ln>
                <a:solidFill>
                  <a:srgbClr val="00FF00"/>
                </a:solidFill>
                <a:effectLst/>
                <a:uLnTx/>
                <a:uFillTx/>
                <a:latin typeface="Courier New" panose="02070309020205020404" pitchFamily="49" charset="0"/>
                <a:ea typeface="ＭＳ Ｐゴシック" panose="020B0600070205080204" pitchFamily="34" charset="-128"/>
                <a:cs typeface="+mn-cs"/>
              </a:rPr>
              <a:t>(1).1000 0000 0000 0000 0000 000</a:t>
            </a:r>
            <a:r>
              <a:rPr kumimoji="0" lang="en-US" sz="2000" b="1" i="0" u="none" strike="noStrike" kern="1200" cap="none" spc="0" normalizeH="0" baseline="0" noProof="0" dirty="0">
                <a:ln>
                  <a:noFill/>
                </a:ln>
                <a:solidFill>
                  <a:srgbClr val="00FF00"/>
                </a:solidFill>
                <a:effectLst/>
                <a:uLnTx/>
                <a:uFillTx/>
                <a:latin typeface="Arial" panose="020B0604020202020204" pitchFamily="34" charset="0"/>
                <a:ea typeface="ＭＳ Ｐゴシック" panose="020B0600070205080204" pitchFamily="34" charset="-128"/>
                <a:cs typeface="+mn-cs"/>
              </a:rPr>
              <a:t> </a:t>
            </a:r>
          </a:p>
        </p:txBody>
      </p:sp>
      <p:sp>
        <p:nvSpPr>
          <p:cNvPr id="3" name="Rectangle 2"/>
          <p:cNvSpPr/>
          <p:nvPr/>
        </p:nvSpPr>
        <p:spPr>
          <a:xfrm>
            <a:off x="2024743" y="5624184"/>
            <a:ext cx="8001000" cy="10069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17" name="Straight Connector 16"/>
          <p:cNvCxnSpPr/>
          <p:nvPr/>
        </p:nvCxnSpPr>
        <p:spPr>
          <a:xfrm>
            <a:off x="3031671" y="2810230"/>
            <a:ext cx="97972" cy="2122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2966357" y="2810230"/>
            <a:ext cx="163286" cy="2122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4727137"/>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10"/>
          <p:cNvSpPr>
            <a:spLocks noGrp="1" noChangeArrowheads="1"/>
          </p:cNvSpPr>
          <p:nvPr>
            <p:ph type="title"/>
          </p:nvPr>
        </p:nvSpPr>
        <p:spPr>
          <a:xfrm>
            <a:off x="956569" y="724428"/>
            <a:ext cx="5736999" cy="651184"/>
          </a:xfrm>
        </p:spPr>
        <p:txBody>
          <a:bodyPr/>
          <a:lstStyle/>
          <a:p>
            <a:pPr eaLnBrk="1" hangingPunct="1"/>
            <a:r>
              <a:rPr lang="en-US" dirty="0">
                <a:latin typeface="Arial" charset="0"/>
              </a:rPr>
              <a:t>Floating-Point Example 3 </a:t>
            </a:r>
          </a:p>
        </p:txBody>
      </p:sp>
      <p:sp>
        <p:nvSpPr>
          <p:cNvPr id="3" name="Rectangle 2"/>
          <p:cNvSpPr>
            <a:spLocks noChangeArrowheads="1"/>
          </p:cNvSpPr>
          <p:nvPr/>
        </p:nvSpPr>
        <p:spPr bwMode="auto">
          <a:xfrm>
            <a:off x="1076410" y="1801814"/>
            <a:ext cx="8353425"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What is the binary representation of the number </a:t>
            </a:r>
            <a:b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b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63.25</a:t>
            </a:r>
            <a:r>
              <a:rPr kumimoji="0" lang="en-US" sz="2400" b="0" i="0" u="none" strike="noStrike" kern="1200" cap="none" spc="0" normalizeH="0" baseline="-25000" noProof="0" dirty="0">
                <a:ln>
                  <a:noFill/>
                </a:ln>
                <a:solidFill>
                  <a:srgbClr val="000000"/>
                </a:solidFill>
                <a:effectLst/>
                <a:uLnTx/>
                <a:uFillTx/>
                <a:latin typeface="Arial" panose="020B0604020202020204"/>
                <a:ea typeface="+mn-ea"/>
                <a:cs typeface="+mn-cs"/>
              </a:rPr>
              <a:t>10</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 = 0011 1111.01</a:t>
            </a:r>
            <a:r>
              <a:rPr kumimoji="0" lang="en-US" sz="2400" b="0" i="0" u="none" strike="noStrike" kern="1200" cap="none" spc="0" normalizeH="0" baseline="-25000" noProof="0" dirty="0">
                <a:ln>
                  <a:noFill/>
                </a:ln>
                <a:solidFill>
                  <a:srgbClr val="000000"/>
                </a:solidFill>
                <a:effectLst/>
                <a:uLnTx/>
                <a:uFillTx/>
                <a:latin typeface="Arial" panose="020B0604020202020204"/>
                <a:ea typeface="+mn-ea"/>
                <a:cs typeface="+mn-cs"/>
              </a:rPr>
              <a:t>2</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 x 2</a:t>
            </a:r>
            <a:r>
              <a:rPr kumimoji="0" lang="en-US" sz="2400" b="0" i="0" u="none" strike="noStrike" kern="1200" cap="none" spc="0" normalizeH="0" baseline="30000" noProof="0" dirty="0">
                <a:ln>
                  <a:noFill/>
                </a:ln>
                <a:solidFill>
                  <a:srgbClr val="000000"/>
                </a:solidFill>
                <a:effectLst/>
                <a:uLnTx/>
                <a:uFillTx/>
                <a:latin typeface="Arial" panose="020B0604020202020204"/>
                <a:ea typeface="+mn-ea"/>
                <a:cs typeface="+mn-cs"/>
              </a:rPr>
              <a:t>0</a:t>
            </a:r>
            <a:b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b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In the IEEE 754 single precision format? </a:t>
            </a:r>
          </a:p>
        </p:txBody>
      </p:sp>
    </p:spTree>
    <p:extLst>
      <p:ext uri="{BB962C8B-B14F-4D97-AF65-F5344CB8AC3E}">
        <p14:creationId xmlns:p14="http://schemas.microsoft.com/office/powerpoint/2010/main" val="3771042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a:extLst>
              <a:ext uri="{FF2B5EF4-FFF2-40B4-BE49-F238E27FC236}">
                <a16:creationId xmlns:a16="http://schemas.microsoft.com/office/drawing/2014/main" id="{3591DCC7-B4E1-5D4B-9FE1-2BF4C20B9D34}"/>
              </a:ext>
            </a:extLst>
          </p:cNvPr>
          <p:cNvSpPr>
            <a:spLocks noGrp="1" noChangeArrowheads="1"/>
          </p:cNvSpPr>
          <p:nvPr>
            <p:ph type="title"/>
          </p:nvPr>
        </p:nvSpPr>
        <p:spPr>
          <a:xfrm>
            <a:off x="958516" y="787991"/>
            <a:ext cx="5674895" cy="647777"/>
          </a:xfrm>
        </p:spPr>
        <p:txBody>
          <a:bodyPr/>
          <a:lstStyle/>
          <a:p>
            <a:r>
              <a:rPr lang="en-US" altLang="en-US" dirty="0">
                <a:ea typeface="ＭＳ Ｐゴシック" panose="020B0600070205080204" pitchFamily="34" charset="-128"/>
              </a:rPr>
              <a:t>Floating-Point Example 3 </a:t>
            </a:r>
          </a:p>
        </p:txBody>
      </p:sp>
      <p:sp>
        <p:nvSpPr>
          <p:cNvPr id="2" name="Rectangle 1">
            <a:extLst>
              <a:ext uri="{FF2B5EF4-FFF2-40B4-BE49-F238E27FC236}">
                <a16:creationId xmlns:a16="http://schemas.microsoft.com/office/drawing/2014/main" id="{69FAC789-823C-CF46-9D2F-67192E131101}"/>
              </a:ext>
            </a:extLst>
          </p:cNvPr>
          <p:cNvSpPr>
            <a:spLocks noChangeArrowheads="1"/>
          </p:cNvSpPr>
          <p:nvPr/>
        </p:nvSpPr>
        <p:spPr bwMode="auto">
          <a:xfrm>
            <a:off x="1981200" y="1627119"/>
            <a:ext cx="8430986" cy="5004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Binary number 63.25</a:t>
            </a:r>
            <a:r>
              <a:rPr kumimoji="0" lang="en-US" sz="24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10 </a:t>
            </a: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0011 1111.01</a:t>
            </a:r>
            <a:r>
              <a:rPr kumimoji="0" lang="en-US" sz="24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a:t>
            </a: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x 2</a:t>
            </a:r>
            <a:r>
              <a:rPr kumimoji="0" lang="en-US" sz="2400" b="0" i="0" u="none" strike="noStrike" kern="1200" cap="none" spc="0" normalizeH="0" baseline="30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a:t>
            </a:r>
            <a:endPar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Char char="n"/>
              <a:tabLst/>
              <a:defRPr/>
            </a:pP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 Normalize</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=&gt; move binary point 5 bits to the left:</a:t>
            </a: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sz="2000" b="1" i="0" u="none" strike="noStrike" kern="1200" cap="none" spc="0" normalizeH="0" baseline="0" noProof="0" dirty="0">
                <a:ln>
                  <a:noFill/>
                </a:ln>
                <a:solidFill>
                  <a:srgbClr val="00FF00"/>
                </a:solidFill>
                <a:effectLst/>
                <a:uLnTx/>
                <a:uFillTx/>
                <a:latin typeface="Arial" panose="020B0604020202020204" pitchFamily="34" charset="0"/>
                <a:ea typeface="ＭＳ Ｐゴシック" panose="020B0600070205080204" pitchFamily="34" charset="-128"/>
                <a:cs typeface="+mn-cs"/>
              </a:rPr>
              <a:t>1.1111 1010</a:t>
            </a:r>
            <a:r>
              <a:rPr kumimoji="0" lang="en-US" sz="2000" b="1" i="0" u="none" strike="noStrike" kern="1200" cap="none" spc="0" normalizeH="0" baseline="-25000" noProof="0" dirty="0">
                <a:ln>
                  <a:noFill/>
                </a:ln>
                <a:solidFill>
                  <a:srgbClr val="00FF00"/>
                </a:solidFill>
                <a:effectLst/>
                <a:uLnTx/>
                <a:uFillTx/>
                <a:latin typeface="Arial" panose="020B0604020202020204" pitchFamily="34" charset="0"/>
                <a:ea typeface="ＭＳ Ｐゴシック" panose="020B0600070205080204" pitchFamily="34" charset="-128"/>
                <a:cs typeface="+mn-cs"/>
              </a:rPr>
              <a:t>2</a:t>
            </a:r>
            <a:r>
              <a:rPr kumimoji="0" lang="en-US" sz="2000" b="1" i="0" u="none" strike="noStrike" kern="1200" cap="none" spc="0" normalizeH="0" baseline="0" noProof="0" dirty="0">
                <a:ln>
                  <a:noFill/>
                </a:ln>
                <a:solidFill>
                  <a:srgbClr val="00FF00"/>
                </a:solidFill>
                <a:effectLst/>
                <a:uLnTx/>
                <a:uFillTx/>
                <a:latin typeface="Arial" panose="020B0604020202020204" pitchFamily="34" charset="0"/>
                <a:ea typeface="ＭＳ Ｐゴシック" panose="020B0600070205080204" pitchFamily="34" charset="-128"/>
                <a:cs typeface="+mn-cs"/>
              </a:rPr>
              <a:t> </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x 2</a:t>
            </a:r>
            <a:r>
              <a:rPr kumimoji="0" lang="en-US" sz="2000" b="1" i="0" u="none" strike="noStrike" kern="1200" cap="none" spc="0" normalizeH="0" baseline="3000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5</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sz="2000" b="1" i="0" u="none" strike="noStrike" kern="1200" cap="none" spc="0" normalizeH="0" baseline="0" noProof="0" dirty="0">
                <a:ln>
                  <a:noFill/>
                </a:ln>
                <a:solidFill>
                  <a:srgbClr val="0000FF"/>
                </a:solidFill>
                <a:effectLst/>
                <a:uLnTx/>
                <a:uFillTx/>
                <a:latin typeface="Arial" panose="020B0604020202020204" pitchFamily="34" charset="0"/>
                <a:ea typeface="ＭＳ Ｐゴシック" panose="020B0600070205080204" pitchFamily="34" charset="-128"/>
                <a:cs typeface="+mn-cs"/>
              </a:rPr>
              <a:t>sign  positive =&gt; S = 0</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Char char="n"/>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 Exponent</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(stored) = Actual Exponent (1) + </a:t>
            </a: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bias</a:t>
            </a: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so Stored Exp. = </a:t>
            </a:r>
            <a:r>
              <a:rPr kumimoji="0" lang="en-US" sz="2000" b="1"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5</a:t>
            </a:r>
            <a:r>
              <a:rPr kumimoji="0" lang="en-US" sz="2000" b="1" i="0" u="none" strike="noStrike" kern="1200" cap="none" spc="0" normalizeH="0" baseline="-2500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10</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+ 127</a:t>
            </a:r>
            <a:r>
              <a:rPr kumimoji="0" lang="en-US" sz="20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10</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sz="2000" b="1"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 </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0000 0101</a:t>
            </a:r>
            <a:r>
              <a:rPr kumimoji="0" lang="en-US" sz="20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a:t>
            </a:r>
          </a:p>
          <a:p>
            <a:pPr marL="1257300" marR="0" lvl="2" indent="-342900" algn="l" defTabSz="914400" rtl="0" eaLnBrk="1" fontAlgn="auto" latinLnBrk="0" hangingPunct="1">
              <a:lnSpc>
                <a:spcPct val="100000"/>
              </a:lnSpc>
              <a:spcBef>
                <a:spcPct val="20000"/>
              </a:spcBef>
              <a:spcAft>
                <a:spcPts val="0"/>
              </a:spcAft>
              <a:buClr>
                <a:srgbClr val="954F72"/>
              </a:buClr>
              <a:buSzPct val="50000"/>
              <a:buFont typeface="Symbol" panose="05050102010706020507" pitchFamily="18" charset="2"/>
              <a:buChar char="Þ"/>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Stored Exp. = </a:t>
            </a:r>
            <a:r>
              <a:rPr kumimoji="0" lang="en-US" sz="2000" b="1"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5</a:t>
            </a:r>
            <a:r>
              <a:rPr kumimoji="0" lang="en-US" sz="2000" b="1" i="0" u="none" strike="noStrike" kern="1200" cap="none" spc="0" normalizeH="0" baseline="-2500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10</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+ 127</a:t>
            </a:r>
            <a:r>
              <a:rPr kumimoji="0" lang="en-US" sz="20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10</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0111 1111</a:t>
            </a:r>
            <a:r>
              <a:rPr kumimoji="0" lang="en-US" sz="20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 </a:t>
            </a:r>
          </a:p>
          <a:p>
            <a:pPr marL="1257300" marR="0" lvl="2" indent="-342900" algn="l" defTabSz="914400" rtl="0" eaLnBrk="1" fontAlgn="auto" latinLnBrk="0" hangingPunct="1">
              <a:lnSpc>
                <a:spcPct val="100000"/>
              </a:lnSpc>
              <a:spcBef>
                <a:spcPct val="20000"/>
              </a:spcBef>
              <a:spcAft>
                <a:spcPts val="0"/>
              </a:spcAft>
              <a:buClr>
                <a:srgbClr val="954F72"/>
              </a:buClr>
              <a:buSzPct val="50000"/>
              <a:buFont typeface="Symbol" panose="05050102010706020507" pitchFamily="18" charset="2"/>
              <a:buChar char="Þ"/>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Stored Exp. = </a:t>
            </a:r>
            <a:r>
              <a:rPr kumimoji="0" lang="en-US" sz="2000" b="1"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132</a:t>
            </a:r>
            <a:r>
              <a:rPr kumimoji="0" lang="en-US" sz="2000" b="1" i="0" u="none" strike="noStrike" kern="1200" cap="none" spc="0" normalizeH="0" baseline="-2500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10</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sz="2000" b="1"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1000 0100</a:t>
            </a:r>
            <a:r>
              <a:rPr kumimoji="0" lang="en-US" sz="2000" b="1" i="0" u="none" strike="noStrike" kern="1200" cap="none" spc="0" normalizeH="0" baseline="-2500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2</a:t>
            </a: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20000"/>
              </a:spcBef>
              <a:spcAft>
                <a:spcPts val="0"/>
              </a:spcAft>
              <a:buClr>
                <a:srgbClr val="954F72"/>
              </a:buClr>
              <a:buSzPct val="60000"/>
              <a:buFont typeface="Wingdings" pitchFamily="2" charset="2"/>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Final bit pattern: </a:t>
            </a:r>
            <a:endParaRPr kumimoji="0" lang="en-US" sz="2000" b="1" i="0" u="none" strike="noStrike" kern="1200" cap="none" spc="0" normalizeH="0" baseline="0" noProof="0" dirty="0">
              <a:ln>
                <a:noFill/>
              </a:ln>
              <a:solidFill>
                <a:srgbClr val="00FF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FF"/>
                </a:solidFill>
                <a:effectLst/>
                <a:uLnTx/>
                <a:uFillTx/>
                <a:latin typeface="Courier New" panose="02070309020205020404" pitchFamily="49" charset="0"/>
                <a:ea typeface="ＭＳ Ｐゴシック" panose="020B0600070205080204" pitchFamily="34" charset="-128"/>
                <a:cs typeface="+mn-cs"/>
              </a:rPr>
              <a:t>S(1)</a:t>
            </a:r>
            <a:r>
              <a:rPr kumimoji="0" lang="en-US" altLang="en-US" sz="2000" b="0" i="0" u="none" strike="noStrike" kern="1200" cap="none" spc="0" normalizeH="0" baseline="0" noProof="0" dirty="0">
                <a:ln>
                  <a:noFill/>
                </a:ln>
                <a:solidFill>
                  <a:srgbClr val="FF0000"/>
                </a:solidFill>
                <a:effectLst/>
                <a:uLnTx/>
                <a:uFillTx/>
                <a:latin typeface="Courier New" panose="02070309020205020404" pitchFamily="49" charset="0"/>
                <a:ea typeface="ＭＳ Ｐゴシック" panose="020B0600070205080204" pitchFamily="34" charset="-128"/>
                <a:cs typeface="+mn-cs"/>
              </a:rPr>
              <a:t>  </a:t>
            </a:r>
            <a:r>
              <a:rPr kumimoji="0" lang="en-US" altLang="en-US" sz="2000" b="1" i="0" u="none" strike="noStrike" kern="1200" cap="none" spc="0" normalizeH="0" baseline="0" noProof="0" dirty="0">
                <a:ln>
                  <a:noFill/>
                </a:ln>
                <a:solidFill>
                  <a:srgbClr val="FF0000"/>
                </a:solidFill>
                <a:effectLst/>
                <a:uLnTx/>
                <a:uFillTx/>
                <a:latin typeface="Courier New" panose="02070309020205020404" pitchFamily="49" charset="0"/>
                <a:ea typeface="ＭＳ Ｐゴシック" panose="020B0600070205080204" pitchFamily="34" charset="-128"/>
                <a:cs typeface="+mn-cs"/>
              </a:rPr>
              <a:t>Exp+127(8u)</a:t>
            </a:r>
            <a:r>
              <a:rPr kumimoji="0" lang="en-US" altLang="en-US" sz="2000" b="1" i="0" u="none" strike="noStrike" kern="1200" cap="none" spc="0" normalizeH="0" baseline="0" noProof="0" dirty="0">
                <a:ln>
                  <a:noFill/>
                </a:ln>
                <a:solidFill>
                  <a:srgbClr val="00FF00"/>
                </a:solidFill>
                <a:effectLst/>
                <a:uLnTx/>
                <a:uFillTx/>
                <a:latin typeface="Courier New" panose="02070309020205020404" pitchFamily="49" charset="0"/>
                <a:ea typeface="ＭＳ Ｐゴシック" panose="020B0600070205080204" pitchFamily="34" charset="-128"/>
                <a:cs typeface="+mn-cs"/>
              </a:rPr>
              <a:t>(implied 1).Significand(23)</a:t>
            </a:r>
            <a:br>
              <a:rPr kumimoji="0" lang="en-US" altLang="en-US" sz="2000" b="1" i="0" u="none" strike="noStrike" kern="1200" cap="none" spc="0" normalizeH="0" baseline="0" noProof="0" dirty="0">
                <a:ln>
                  <a:noFill/>
                </a:ln>
                <a:solidFill>
                  <a:srgbClr val="00FF00"/>
                </a:solidFill>
                <a:effectLst/>
                <a:uLnTx/>
                <a:uFillTx/>
                <a:latin typeface="Courier New" panose="02070309020205020404" pitchFamily="49" charset="0"/>
                <a:ea typeface="ＭＳ Ｐゴシック" panose="020B0600070205080204" pitchFamily="34" charset="-128"/>
                <a:cs typeface="+mn-cs"/>
              </a:rPr>
            </a:br>
            <a:endParaRPr kumimoji="0" lang="en-US" altLang="en-US" sz="2000" b="0" i="0" u="none" strike="noStrike" kern="1200" cap="none" spc="0" normalizeH="0" baseline="0" noProof="0" dirty="0">
              <a:ln>
                <a:noFill/>
              </a:ln>
              <a:solidFill>
                <a:srgbClr val="000000"/>
              </a:solidFill>
              <a:effectLst/>
              <a:uLnTx/>
              <a:uFillTx/>
              <a:latin typeface="Courier New" panose="02070309020205020404" pitchFamily="49"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FF"/>
                </a:solidFill>
                <a:effectLst/>
                <a:uLnTx/>
                <a:uFillTx/>
                <a:latin typeface="Courier New" panose="02070309020205020404" pitchFamily="49" charset="0"/>
                <a:ea typeface="ＭＳ Ｐゴシック" panose="020B0600070205080204" pitchFamily="34" charset="-128"/>
                <a:cs typeface="+mn-cs"/>
              </a:rPr>
              <a:t> 0</a:t>
            </a:r>
            <a:r>
              <a:rPr kumimoji="0" lang="en-US" altLang="en-US" sz="2000" b="0" i="0" u="none" strike="noStrike" kern="1200" cap="none" spc="0" normalizeH="0" baseline="0" noProof="0" dirty="0">
                <a:ln>
                  <a:noFill/>
                </a:ln>
                <a:solidFill>
                  <a:srgbClr val="000000"/>
                </a:solidFill>
                <a:effectLst/>
                <a:uLnTx/>
                <a:uFillTx/>
                <a:latin typeface="Courier New" panose="02070309020205020404" pitchFamily="49" charset="0"/>
                <a:ea typeface="ＭＳ Ｐゴシック" panose="020B0600070205080204" pitchFamily="34" charset="-128"/>
                <a:cs typeface="+mn-cs"/>
              </a:rPr>
              <a:t>   </a:t>
            </a:r>
            <a:r>
              <a:rPr kumimoji="0" lang="en-US" altLang="en-US" sz="2000" b="1" i="0" u="none" strike="noStrike" kern="1200" cap="none" spc="0" normalizeH="0" baseline="0" noProof="0" dirty="0">
                <a:ln>
                  <a:noFill/>
                </a:ln>
                <a:solidFill>
                  <a:srgbClr val="FF0000"/>
                </a:solidFill>
                <a:effectLst/>
                <a:uLnTx/>
                <a:uFillTx/>
                <a:latin typeface="Courier New" panose="02070309020205020404" pitchFamily="49" charset="0"/>
                <a:ea typeface="ＭＳ Ｐゴシック" panose="020B0600070205080204" pitchFamily="34" charset="-128"/>
                <a:cs typeface="+mn-cs"/>
              </a:rPr>
              <a:t> 1000 0100 </a:t>
            </a:r>
            <a:r>
              <a:rPr kumimoji="0" lang="en-US" altLang="en-US" sz="2000" b="0" i="0" u="none" strike="noStrike" kern="1200" cap="none" spc="0" normalizeH="0" baseline="0" noProof="0" dirty="0">
                <a:ln>
                  <a:noFill/>
                </a:ln>
                <a:solidFill>
                  <a:srgbClr val="000000"/>
                </a:solidFill>
                <a:effectLst/>
                <a:uLnTx/>
                <a:uFillTx/>
                <a:latin typeface="Courier New" panose="02070309020205020404" pitchFamily="49" charset="0"/>
                <a:ea typeface="ＭＳ Ｐゴシック" panose="020B0600070205080204" pitchFamily="34" charset="-128"/>
                <a:cs typeface="+mn-cs"/>
              </a:rPr>
              <a:t> </a:t>
            </a:r>
            <a:r>
              <a:rPr kumimoji="0" lang="en-US" altLang="en-US" sz="2000" b="1" i="0" u="none" strike="noStrike" kern="1200" cap="none" spc="0" normalizeH="0" baseline="0" noProof="0" dirty="0">
                <a:ln>
                  <a:noFill/>
                </a:ln>
                <a:solidFill>
                  <a:srgbClr val="00FF00"/>
                </a:solidFill>
                <a:effectLst/>
                <a:uLnTx/>
                <a:uFillTx/>
                <a:latin typeface="Courier New" panose="02070309020205020404" pitchFamily="49" charset="0"/>
                <a:ea typeface="ＭＳ Ｐゴシック" panose="020B0600070205080204" pitchFamily="34" charset="-128"/>
                <a:cs typeface="+mn-cs"/>
              </a:rPr>
              <a:t>(1).</a:t>
            </a:r>
            <a:r>
              <a:rPr kumimoji="0" lang="en-US" altLang="en-US" sz="2000" b="1" i="0" u="none" strike="noStrike" kern="1200" cap="none" spc="0" normalizeH="0" baseline="0" noProof="0">
                <a:ln>
                  <a:noFill/>
                </a:ln>
                <a:solidFill>
                  <a:srgbClr val="00FF00"/>
                </a:solidFill>
                <a:effectLst/>
                <a:uLnTx/>
                <a:uFillTx/>
                <a:latin typeface="Courier New" panose="02070309020205020404" pitchFamily="49" charset="0"/>
                <a:ea typeface="ＭＳ Ｐゴシック" panose="020B0600070205080204" pitchFamily="34" charset="-128"/>
                <a:cs typeface="+mn-cs"/>
              </a:rPr>
              <a:t>1111 1010 </a:t>
            </a:r>
            <a:r>
              <a:rPr kumimoji="0" lang="en-US" altLang="en-US" sz="2000" b="1" i="0" u="none" strike="noStrike" kern="1200" cap="none" spc="0" normalizeH="0" baseline="0" noProof="0" dirty="0">
                <a:ln>
                  <a:noFill/>
                </a:ln>
                <a:solidFill>
                  <a:srgbClr val="00FF00"/>
                </a:solidFill>
                <a:effectLst/>
                <a:uLnTx/>
                <a:uFillTx/>
                <a:latin typeface="Courier New" panose="02070309020205020404" pitchFamily="49" charset="0"/>
                <a:ea typeface="ＭＳ Ｐゴシック" panose="020B0600070205080204" pitchFamily="34" charset="-128"/>
                <a:cs typeface="+mn-cs"/>
              </a:rPr>
              <a:t>0000 0000 0000 000</a:t>
            </a:r>
            <a:r>
              <a:rPr kumimoji="0" lang="en-US" sz="2000" b="1" i="0" u="none" strike="noStrike" kern="1200" cap="none" spc="0" normalizeH="0" baseline="0" noProof="0" dirty="0">
                <a:ln>
                  <a:noFill/>
                </a:ln>
                <a:solidFill>
                  <a:srgbClr val="00FF00"/>
                </a:solidFill>
                <a:effectLst/>
                <a:uLnTx/>
                <a:uFillTx/>
                <a:latin typeface="Arial" panose="020B0604020202020204" pitchFamily="34" charset="0"/>
                <a:ea typeface="ＭＳ Ｐゴシック" panose="020B0600070205080204" pitchFamily="34" charset="-128"/>
                <a:cs typeface="+mn-cs"/>
              </a:rPr>
              <a:t> </a:t>
            </a:r>
          </a:p>
        </p:txBody>
      </p:sp>
      <p:sp>
        <p:nvSpPr>
          <p:cNvPr id="3" name="Rectangle 2"/>
          <p:cNvSpPr/>
          <p:nvPr/>
        </p:nvSpPr>
        <p:spPr>
          <a:xfrm>
            <a:off x="2024743" y="5624193"/>
            <a:ext cx="8001000" cy="10069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17" name="Straight Connector 16"/>
          <p:cNvCxnSpPr/>
          <p:nvPr/>
        </p:nvCxnSpPr>
        <p:spPr>
          <a:xfrm>
            <a:off x="3031671" y="2810239"/>
            <a:ext cx="97972" cy="2122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2966357" y="2810239"/>
            <a:ext cx="163286" cy="2122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1562293"/>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386CA-1D14-43C2-B2D8-608A4D0DBE9F}"/>
              </a:ext>
            </a:extLst>
          </p:cNvPr>
          <p:cNvSpPr>
            <a:spLocks noGrp="1"/>
          </p:cNvSpPr>
          <p:nvPr>
            <p:ph type="title"/>
          </p:nvPr>
        </p:nvSpPr>
        <p:spPr/>
        <p:txBody>
          <a:bodyPr/>
          <a:lstStyle/>
          <a:p>
            <a:r>
              <a:rPr lang="en-US" dirty="0"/>
              <a:t>The FPU itself …</a:t>
            </a:r>
          </a:p>
        </p:txBody>
      </p:sp>
    </p:spTree>
    <p:extLst>
      <p:ext uri="{BB962C8B-B14F-4D97-AF65-F5344CB8AC3E}">
        <p14:creationId xmlns:p14="http://schemas.microsoft.com/office/powerpoint/2010/main" val="2748266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Arrow Connector 22"/>
          <p:cNvCxnSpPr/>
          <p:nvPr/>
        </p:nvCxnSpPr>
        <p:spPr>
          <a:xfrm>
            <a:off x="4443856" y="1945143"/>
            <a:ext cx="1676400" cy="0"/>
          </a:xfrm>
          <a:prstGeom prst="straightConnector1">
            <a:avLst/>
          </a:prstGeom>
          <a:ln w="317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4810917" y="1752600"/>
            <a:ext cx="990600" cy="338554"/>
          </a:xfrm>
          <a:prstGeom prst="rect">
            <a:avLst/>
          </a:prstGeom>
          <a:solidFill>
            <a:schemeClr val="bg1"/>
          </a:solidFill>
        </p:spPr>
        <p:txBody>
          <a:bodyPr wrap="square" lIns="9144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32 bits</a:t>
            </a:r>
          </a:p>
        </p:txBody>
      </p:sp>
      <p:grpSp>
        <p:nvGrpSpPr>
          <p:cNvPr id="32" name="Group 31"/>
          <p:cNvGrpSpPr/>
          <p:nvPr/>
        </p:nvGrpSpPr>
        <p:grpSpPr>
          <a:xfrm>
            <a:off x="4468018" y="2091154"/>
            <a:ext cx="1680117" cy="3657600"/>
            <a:chOff x="3730083" y="2590800"/>
            <a:chExt cx="1680117" cy="3657600"/>
          </a:xfrm>
        </p:grpSpPr>
        <p:sp>
          <p:nvSpPr>
            <p:cNvPr id="4" name="Rectangle 3"/>
            <p:cNvSpPr/>
            <p:nvPr/>
          </p:nvSpPr>
          <p:spPr>
            <a:xfrm>
              <a:off x="3733800" y="2590800"/>
              <a:ext cx="1676400" cy="304800"/>
            </a:xfrm>
            <a:prstGeom prst="rect">
              <a:avLst/>
            </a:prstGeom>
            <a:solidFill>
              <a:schemeClr val="bg1">
                <a:lumMod val="95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S0</a:t>
              </a:r>
            </a:p>
          </p:txBody>
        </p:sp>
        <p:sp>
          <p:nvSpPr>
            <p:cNvPr id="5" name="Rectangle 4"/>
            <p:cNvSpPr/>
            <p:nvPr/>
          </p:nvSpPr>
          <p:spPr>
            <a:xfrm>
              <a:off x="3733800" y="2895600"/>
              <a:ext cx="1676400" cy="304800"/>
            </a:xfrm>
            <a:prstGeom prst="rect">
              <a:avLst/>
            </a:prstGeom>
            <a:solidFill>
              <a:schemeClr val="bg1">
                <a:lumMod val="95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S1</a:t>
              </a:r>
            </a:p>
          </p:txBody>
        </p:sp>
        <p:sp>
          <p:nvSpPr>
            <p:cNvPr id="6" name="Rectangle 5"/>
            <p:cNvSpPr/>
            <p:nvPr/>
          </p:nvSpPr>
          <p:spPr>
            <a:xfrm>
              <a:off x="3733800" y="3200400"/>
              <a:ext cx="1676400" cy="304800"/>
            </a:xfrm>
            <a:prstGeom prst="rect">
              <a:avLst/>
            </a:prstGeom>
            <a:solidFill>
              <a:schemeClr val="bg1">
                <a:lumMod val="95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Arial" panose="020B0604020202020204"/>
                  <a:ea typeface="+mn-ea"/>
                  <a:cs typeface="+mn-cs"/>
                </a:rPr>
                <a:t>…</a:t>
              </a:r>
            </a:p>
          </p:txBody>
        </p:sp>
        <p:sp>
          <p:nvSpPr>
            <p:cNvPr id="7" name="Rectangle 6"/>
            <p:cNvSpPr/>
            <p:nvPr/>
          </p:nvSpPr>
          <p:spPr>
            <a:xfrm>
              <a:off x="3733800" y="3505200"/>
              <a:ext cx="1676400" cy="304800"/>
            </a:xfrm>
            <a:prstGeom prst="rect">
              <a:avLst/>
            </a:prstGeom>
            <a:solidFill>
              <a:schemeClr val="bg1">
                <a:lumMod val="95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Arial" panose="020B0604020202020204"/>
                  <a:ea typeface="+mn-ea"/>
                  <a:cs typeface="+mn-cs"/>
                </a:rPr>
                <a:t>…</a:t>
              </a:r>
            </a:p>
          </p:txBody>
        </p:sp>
        <p:sp>
          <p:nvSpPr>
            <p:cNvPr id="8" name="Rectangle 7"/>
            <p:cNvSpPr/>
            <p:nvPr/>
          </p:nvSpPr>
          <p:spPr>
            <a:xfrm>
              <a:off x="3733800" y="3810000"/>
              <a:ext cx="1676400" cy="304800"/>
            </a:xfrm>
            <a:prstGeom prst="rect">
              <a:avLst/>
            </a:prstGeom>
            <a:solidFill>
              <a:schemeClr val="bg1">
                <a:lumMod val="95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S14</a:t>
              </a:r>
            </a:p>
          </p:txBody>
        </p:sp>
        <p:sp>
          <p:nvSpPr>
            <p:cNvPr id="9" name="Rectangle 8"/>
            <p:cNvSpPr/>
            <p:nvPr/>
          </p:nvSpPr>
          <p:spPr>
            <a:xfrm>
              <a:off x="3733800" y="4114800"/>
              <a:ext cx="1676400" cy="304800"/>
            </a:xfrm>
            <a:prstGeom prst="rect">
              <a:avLst/>
            </a:prstGeom>
            <a:solidFill>
              <a:schemeClr val="bg1">
                <a:lumMod val="95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S15</a:t>
              </a:r>
            </a:p>
          </p:txBody>
        </p:sp>
        <p:sp>
          <p:nvSpPr>
            <p:cNvPr id="10" name="Rectangle 9"/>
            <p:cNvSpPr/>
            <p:nvPr/>
          </p:nvSpPr>
          <p:spPr>
            <a:xfrm>
              <a:off x="3730083" y="5029200"/>
              <a:ext cx="1676400" cy="304800"/>
            </a:xfrm>
            <a:prstGeom prst="rect">
              <a:avLst/>
            </a:prstGeom>
            <a:solidFill>
              <a:schemeClr val="bg1">
                <a:lumMod val="95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Arial" panose="020B0604020202020204"/>
                  <a:ea typeface="+mn-ea"/>
                  <a:cs typeface="+mn-cs"/>
                </a:rPr>
                <a:t>…</a:t>
              </a:r>
            </a:p>
          </p:txBody>
        </p:sp>
        <p:sp>
          <p:nvSpPr>
            <p:cNvPr id="11" name="Rectangle 10"/>
            <p:cNvSpPr/>
            <p:nvPr/>
          </p:nvSpPr>
          <p:spPr>
            <a:xfrm>
              <a:off x="3730083" y="5334000"/>
              <a:ext cx="1676400" cy="304800"/>
            </a:xfrm>
            <a:prstGeom prst="rect">
              <a:avLst/>
            </a:prstGeom>
            <a:solidFill>
              <a:schemeClr val="bg1">
                <a:lumMod val="95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Arial" panose="020B0604020202020204"/>
                  <a:ea typeface="+mn-ea"/>
                  <a:cs typeface="+mn-cs"/>
                </a:rPr>
                <a:t>…</a:t>
              </a:r>
            </a:p>
          </p:txBody>
        </p:sp>
        <p:sp>
          <p:nvSpPr>
            <p:cNvPr id="12" name="Rectangle 11"/>
            <p:cNvSpPr/>
            <p:nvPr/>
          </p:nvSpPr>
          <p:spPr>
            <a:xfrm>
              <a:off x="3730083" y="5638800"/>
              <a:ext cx="1676400" cy="304800"/>
            </a:xfrm>
            <a:prstGeom prst="rect">
              <a:avLst/>
            </a:prstGeom>
            <a:solidFill>
              <a:schemeClr val="bg1">
                <a:lumMod val="95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S30</a:t>
              </a:r>
            </a:p>
          </p:txBody>
        </p:sp>
        <p:sp>
          <p:nvSpPr>
            <p:cNvPr id="13" name="Rectangle 12"/>
            <p:cNvSpPr/>
            <p:nvPr/>
          </p:nvSpPr>
          <p:spPr>
            <a:xfrm>
              <a:off x="3730083" y="5943600"/>
              <a:ext cx="1676400" cy="304800"/>
            </a:xfrm>
            <a:prstGeom prst="rect">
              <a:avLst/>
            </a:prstGeom>
            <a:solidFill>
              <a:schemeClr val="bg1">
                <a:lumMod val="95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S31</a:t>
              </a:r>
            </a:p>
          </p:txBody>
        </p:sp>
        <p:sp>
          <p:nvSpPr>
            <p:cNvPr id="22" name="Rectangle 21"/>
            <p:cNvSpPr/>
            <p:nvPr/>
          </p:nvSpPr>
          <p:spPr>
            <a:xfrm>
              <a:off x="3733800" y="4419600"/>
              <a:ext cx="1676400" cy="304800"/>
            </a:xfrm>
            <a:prstGeom prst="rect">
              <a:avLst/>
            </a:prstGeom>
            <a:solidFill>
              <a:schemeClr val="bg1">
                <a:lumMod val="95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S16</a:t>
              </a:r>
            </a:p>
          </p:txBody>
        </p:sp>
        <p:sp>
          <p:nvSpPr>
            <p:cNvPr id="24" name="Rectangle 23"/>
            <p:cNvSpPr/>
            <p:nvPr/>
          </p:nvSpPr>
          <p:spPr>
            <a:xfrm>
              <a:off x="3733800" y="4724400"/>
              <a:ext cx="1676400" cy="304800"/>
            </a:xfrm>
            <a:prstGeom prst="rect">
              <a:avLst/>
            </a:prstGeom>
            <a:solidFill>
              <a:schemeClr val="bg1">
                <a:lumMod val="95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S17</a:t>
              </a:r>
            </a:p>
          </p:txBody>
        </p:sp>
      </p:grpSp>
      <p:sp>
        <p:nvSpPr>
          <p:cNvPr id="3" name="Left Brace 2"/>
          <p:cNvSpPr/>
          <p:nvPr/>
        </p:nvSpPr>
        <p:spPr>
          <a:xfrm>
            <a:off x="4166934" y="2091154"/>
            <a:ext cx="276922" cy="182880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Left Brace 24"/>
          <p:cNvSpPr/>
          <p:nvPr/>
        </p:nvSpPr>
        <p:spPr>
          <a:xfrm>
            <a:off x="4166934" y="3919954"/>
            <a:ext cx="276922" cy="182880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33" name="Group 32"/>
          <p:cNvGrpSpPr/>
          <p:nvPr/>
        </p:nvGrpSpPr>
        <p:grpSpPr>
          <a:xfrm>
            <a:off x="6220616" y="2091154"/>
            <a:ext cx="1218909" cy="3657600"/>
            <a:chOff x="5482683" y="2590800"/>
            <a:chExt cx="914400" cy="3657600"/>
          </a:xfrm>
        </p:grpSpPr>
        <p:sp>
          <p:nvSpPr>
            <p:cNvPr id="14" name="Right Brace 13"/>
            <p:cNvSpPr/>
            <p:nvPr/>
          </p:nvSpPr>
          <p:spPr>
            <a:xfrm>
              <a:off x="5486400" y="2590800"/>
              <a:ext cx="228600" cy="6096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5" name="Right Brace 14"/>
            <p:cNvSpPr/>
            <p:nvPr/>
          </p:nvSpPr>
          <p:spPr>
            <a:xfrm>
              <a:off x="5482683" y="4419600"/>
              <a:ext cx="228600" cy="6096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Right Brace 15"/>
            <p:cNvSpPr/>
            <p:nvPr/>
          </p:nvSpPr>
          <p:spPr>
            <a:xfrm>
              <a:off x="5486400" y="3810000"/>
              <a:ext cx="228600" cy="6096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7" name="Right Brace 16"/>
            <p:cNvSpPr/>
            <p:nvPr/>
          </p:nvSpPr>
          <p:spPr>
            <a:xfrm>
              <a:off x="5482683" y="5638800"/>
              <a:ext cx="228600" cy="6096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 name="TextBox 17"/>
            <p:cNvSpPr txBox="1"/>
            <p:nvPr/>
          </p:nvSpPr>
          <p:spPr>
            <a:xfrm>
              <a:off x="5715000" y="2710934"/>
              <a:ext cx="4572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D0</a:t>
              </a:r>
            </a:p>
          </p:txBody>
        </p:sp>
        <p:sp>
          <p:nvSpPr>
            <p:cNvPr id="19" name="TextBox 18"/>
            <p:cNvSpPr txBox="1"/>
            <p:nvPr/>
          </p:nvSpPr>
          <p:spPr>
            <a:xfrm>
              <a:off x="5715000" y="4539734"/>
              <a:ext cx="4572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D8</a:t>
              </a:r>
            </a:p>
          </p:txBody>
        </p:sp>
        <p:sp>
          <p:nvSpPr>
            <p:cNvPr id="20" name="TextBox 19"/>
            <p:cNvSpPr txBox="1"/>
            <p:nvPr/>
          </p:nvSpPr>
          <p:spPr>
            <a:xfrm>
              <a:off x="5715000" y="3930134"/>
              <a:ext cx="4572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D7</a:t>
              </a:r>
            </a:p>
          </p:txBody>
        </p:sp>
        <p:sp>
          <p:nvSpPr>
            <p:cNvPr id="21" name="TextBox 20"/>
            <p:cNvSpPr txBox="1"/>
            <p:nvPr/>
          </p:nvSpPr>
          <p:spPr>
            <a:xfrm>
              <a:off x="5711283" y="5758934"/>
              <a:ext cx="685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D15</a:t>
              </a:r>
            </a:p>
          </p:txBody>
        </p:sp>
        <p:sp>
          <p:nvSpPr>
            <p:cNvPr id="26" name="TextBox 25"/>
            <p:cNvSpPr txBox="1"/>
            <p:nvPr/>
          </p:nvSpPr>
          <p:spPr>
            <a:xfrm>
              <a:off x="5812108" y="3171550"/>
              <a:ext cx="262983" cy="630942"/>
            </a:xfrm>
            <a:prstGeom prst="rect">
              <a:avLst/>
            </a:prstGeom>
            <a:noFill/>
          </p:spPr>
          <p:txBody>
            <a:bodyPr wrap="square" rtlCol="0">
              <a:spAutoFit/>
            </a:bodyP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rPr>
                <a:t>.</a:t>
              </a: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rPr>
                <a:t>.</a:t>
              </a: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rPr>
                <a:t>.</a:t>
              </a:r>
            </a:p>
          </p:txBody>
        </p:sp>
        <p:sp>
          <p:nvSpPr>
            <p:cNvPr id="27" name="TextBox 26"/>
            <p:cNvSpPr txBox="1"/>
            <p:nvPr/>
          </p:nvSpPr>
          <p:spPr>
            <a:xfrm>
              <a:off x="5812108" y="5000350"/>
              <a:ext cx="262983" cy="630942"/>
            </a:xfrm>
            <a:prstGeom prst="rect">
              <a:avLst/>
            </a:prstGeom>
            <a:noFill/>
          </p:spPr>
          <p:txBody>
            <a:bodyPr wrap="square" rtlCol="0">
              <a:spAutoFit/>
            </a:bodyP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rPr>
                <a:t>.</a:t>
              </a: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rPr>
                <a:t>.</a:t>
              </a: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rPr>
                <a:t>.</a:t>
              </a:r>
            </a:p>
          </p:txBody>
        </p:sp>
      </p:grpSp>
      <p:sp>
        <p:nvSpPr>
          <p:cNvPr id="28" name="TextBox 27"/>
          <p:cNvSpPr txBox="1"/>
          <p:nvPr/>
        </p:nvSpPr>
        <p:spPr>
          <a:xfrm>
            <a:off x="2414334" y="2543890"/>
            <a:ext cx="1724722"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S0-S15 may be modified by functions</a:t>
            </a:r>
          </a:p>
        </p:txBody>
      </p:sp>
      <p:sp>
        <p:nvSpPr>
          <p:cNvPr id="29" name="TextBox 28"/>
          <p:cNvSpPr txBox="1"/>
          <p:nvPr/>
        </p:nvSpPr>
        <p:spPr>
          <a:xfrm>
            <a:off x="2414335" y="4393882"/>
            <a:ext cx="1761893"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S16-S31 must be preserved by functions</a:t>
            </a:r>
          </a:p>
        </p:txBody>
      </p:sp>
      <p:sp>
        <p:nvSpPr>
          <p:cNvPr id="30" name="Title 29"/>
          <p:cNvSpPr>
            <a:spLocks noGrp="1"/>
          </p:cNvSpPr>
          <p:nvPr>
            <p:ph type="title"/>
          </p:nvPr>
        </p:nvSpPr>
        <p:spPr>
          <a:xfrm>
            <a:off x="952559" y="751497"/>
            <a:ext cx="7277041" cy="748419"/>
          </a:xfrm>
        </p:spPr>
        <p:txBody>
          <a:bodyPr/>
          <a:lstStyle/>
          <a:p>
            <a:r>
              <a:rPr lang="en-US" dirty="0"/>
              <a:t>FLOATING-POINT REGISTERS </a:t>
            </a:r>
          </a:p>
        </p:txBody>
      </p:sp>
      <p:sp>
        <p:nvSpPr>
          <p:cNvPr id="36" name="TextBox 35"/>
          <p:cNvSpPr txBox="1"/>
          <p:nvPr/>
        </p:nvSpPr>
        <p:spPr>
          <a:xfrm>
            <a:off x="7650230" y="3258234"/>
            <a:ext cx="3206977"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D0-D15 may be used to hold 64-bit values, but all floating-point arithmetic is 32-bits.</a:t>
            </a:r>
          </a:p>
        </p:txBody>
      </p:sp>
    </p:spTree>
    <p:extLst>
      <p:ext uri="{BB962C8B-B14F-4D97-AF65-F5344CB8AC3E}">
        <p14:creationId xmlns:p14="http://schemas.microsoft.com/office/powerpoint/2010/main" val="41013460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29"/>
          <p:cNvSpPr>
            <a:spLocks noGrp="1"/>
          </p:cNvSpPr>
          <p:nvPr>
            <p:ph type="title"/>
          </p:nvPr>
        </p:nvSpPr>
        <p:spPr>
          <a:xfrm>
            <a:off x="952558" y="757212"/>
            <a:ext cx="10417284" cy="762777"/>
          </a:xfrm>
        </p:spPr>
        <p:txBody>
          <a:bodyPr/>
          <a:lstStyle/>
          <a:p>
            <a:r>
              <a:rPr lang="en-US" dirty="0"/>
              <a:t>FLOATING-POINT UNIT </a:t>
            </a:r>
          </a:p>
        </p:txBody>
      </p:sp>
      <p:pic>
        <p:nvPicPr>
          <p:cNvPr id="37" name="Picture 3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5890" y="1382952"/>
            <a:ext cx="6950620" cy="5223704"/>
          </a:xfrm>
          <a:prstGeom prst="rect">
            <a:avLst/>
          </a:prstGeom>
        </p:spPr>
      </p:pic>
    </p:spTree>
    <p:extLst>
      <p:ext uri="{BB962C8B-B14F-4D97-AF65-F5344CB8AC3E}">
        <p14:creationId xmlns:p14="http://schemas.microsoft.com/office/powerpoint/2010/main" val="2368260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438400" y="1676400"/>
          <a:ext cx="7315200" cy="1963485"/>
        </p:xfrm>
        <a:graphic>
          <a:graphicData uri="http://schemas.openxmlformats.org/drawingml/2006/table">
            <a:tbl>
              <a:tblPr firstRow="1" firstCol="1" bandRow="1"/>
              <a:tblGrid>
                <a:gridCol w="17526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895600">
                  <a:extLst>
                    <a:ext uri="{9D8B030D-6E8A-4147-A177-3AD203B41FA5}">
                      <a16:colId xmlns:a16="http://schemas.microsoft.com/office/drawing/2014/main" val="20002"/>
                    </a:ext>
                  </a:extLst>
                </a:gridCol>
              </a:tblGrid>
              <a:tr h="383352">
                <a:tc>
                  <a:txBody>
                    <a:bodyPr/>
                    <a:lstStyle/>
                    <a:p>
                      <a:pPr marL="0" marR="0" algn="ctr">
                        <a:lnSpc>
                          <a:spcPct val="115000"/>
                        </a:lnSpc>
                        <a:spcBef>
                          <a:spcPts val="0"/>
                        </a:spcBef>
                        <a:spcAft>
                          <a:spcPts val="0"/>
                        </a:spcAft>
                      </a:pPr>
                      <a:r>
                        <a:rPr lang="en-US" sz="2800" b="1" i="1" dirty="0">
                          <a:solidFill>
                            <a:schemeClr val="bg1"/>
                          </a:solidFill>
                          <a:effectLst/>
                          <a:latin typeface="Calibri"/>
                          <a:ea typeface="Calibri"/>
                          <a:cs typeface="Calibri"/>
                        </a:rPr>
                        <a:t>Instruction</a:t>
                      </a:r>
                      <a:endParaRPr lang="en-US" sz="2800" dirty="0">
                        <a:solidFill>
                          <a:schemeClr val="bg1"/>
                        </a:solidFill>
                        <a:effectLst/>
                        <a:latin typeface="Arial"/>
                        <a:ea typeface="Arial"/>
                        <a:cs typeface="Calibri"/>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nSpc>
                          <a:spcPct val="115000"/>
                        </a:lnSpc>
                        <a:spcBef>
                          <a:spcPts val="0"/>
                        </a:spcBef>
                        <a:spcAft>
                          <a:spcPts val="0"/>
                        </a:spcAft>
                      </a:pPr>
                      <a:r>
                        <a:rPr lang="en-US" sz="2800" b="1" i="1" dirty="0">
                          <a:solidFill>
                            <a:schemeClr val="bg1"/>
                          </a:solidFill>
                          <a:effectLst/>
                          <a:latin typeface="Calibri"/>
                          <a:ea typeface="Calibri"/>
                          <a:cs typeface="Calibri"/>
                        </a:rPr>
                        <a:t>  Syntax</a:t>
                      </a:r>
                      <a:endParaRPr lang="en-US" sz="2800" dirty="0">
                        <a:solidFill>
                          <a:schemeClr val="bg1"/>
                        </a:solidFill>
                        <a:effectLst/>
                        <a:latin typeface="Arial"/>
                        <a:ea typeface="Arial"/>
                        <a:cs typeface="Calibri"/>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nSpc>
                          <a:spcPct val="115000"/>
                        </a:lnSpc>
                        <a:spcBef>
                          <a:spcPts val="0"/>
                        </a:spcBef>
                        <a:spcAft>
                          <a:spcPts val="0"/>
                        </a:spcAft>
                      </a:pPr>
                      <a:r>
                        <a:rPr lang="en-US" sz="2800" b="1" i="1" dirty="0">
                          <a:solidFill>
                            <a:schemeClr val="bg1"/>
                          </a:solidFill>
                          <a:effectLst/>
                          <a:latin typeface="Calibri"/>
                          <a:ea typeface="Calibri"/>
                          <a:cs typeface="Calibri"/>
                        </a:rPr>
                        <a:t>Operation</a:t>
                      </a:r>
                      <a:endParaRPr lang="en-US" sz="2800" dirty="0">
                        <a:solidFill>
                          <a:schemeClr val="bg1"/>
                        </a:solidFill>
                        <a:effectLst/>
                        <a:latin typeface="Arial"/>
                        <a:ea typeface="Arial"/>
                        <a:cs typeface="Calibri"/>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746236">
                <a:tc>
                  <a:txBody>
                    <a:bodyPr/>
                    <a:lstStyle/>
                    <a:p>
                      <a:pPr marL="0" marR="0">
                        <a:lnSpc>
                          <a:spcPct val="100000"/>
                        </a:lnSpc>
                        <a:spcBef>
                          <a:spcPts val="0"/>
                        </a:spcBef>
                        <a:spcAft>
                          <a:spcPts val="0"/>
                        </a:spcAft>
                      </a:pPr>
                      <a:r>
                        <a:rPr lang="en-US" sz="2000">
                          <a:solidFill>
                            <a:srgbClr val="000000"/>
                          </a:solidFill>
                          <a:effectLst/>
                          <a:latin typeface="Calibri"/>
                          <a:ea typeface="Calibri"/>
                          <a:cs typeface="Calibri"/>
                        </a:rPr>
                        <a:t>Push FPU Registers</a:t>
                      </a:r>
                      <a:endParaRPr lang="en-US" sz="200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555625" algn="l"/>
                        </a:tabLst>
                      </a:pPr>
                      <a:r>
                        <a:rPr lang="en-US" sz="2000" dirty="0">
                          <a:solidFill>
                            <a:srgbClr val="000000"/>
                          </a:solidFill>
                          <a:effectLst/>
                          <a:latin typeface="Calibri"/>
                          <a:ea typeface="Calibri"/>
                          <a:cs typeface="Calibri"/>
                        </a:rPr>
                        <a:t>VPUSH	{ </a:t>
                      </a:r>
                      <a:r>
                        <a:rPr lang="en-US" sz="2000" i="1" dirty="0">
                          <a:solidFill>
                            <a:srgbClr val="000000"/>
                          </a:solidFill>
                          <a:effectLst/>
                          <a:latin typeface="Calibri"/>
                          <a:ea typeface="Calibri"/>
                          <a:cs typeface="Calibri"/>
                        </a:rPr>
                        <a:t>register list }</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solidFill>
                            <a:srgbClr val="000000"/>
                          </a:solidFill>
                          <a:effectLst/>
                          <a:latin typeface="Calibri"/>
                          <a:ea typeface="Calibri"/>
                          <a:cs typeface="Calibri"/>
                        </a:rPr>
                        <a:t>SP </a:t>
                      </a:r>
                      <a:r>
                        <a:rPr lang="en-US" sz="2000" dirty="0">
                          <a:solidFill>
                            <a:srgbClr val="000000"/>
                          </a:solidFill>
                          <a:effectLst/>
                          <a:latin typeface="Calibri"/>
                          <a:ea typeface="Calibri"/>
                          <a:cs typeface="Calibri"/>
                          <a:sym typeface="Wingdings"/>
                        </a:rPr>
                        <a:t>=</a:t>
                      </a:r>
                      <a:r>
                        <a:rPr lang="en-US" sz="2000" dirty="0">
                          <a:solidFill>
                            <a:srgbClr val="000000"/>
                          </a:solidFill>
                          <a:effectLst/>
                          <a:latin typeface="Calibri"/>
                          <a:ea typeface="Calibri"/>
                          <a:cs typeface="Calibri"/>
                        </a:rPr>
                        <a:t> SP – 4 × #registers,</a:t>
                      </a:r>
                    </a:p>
                    <a:p>
                      <a:pPr marL="0" marR="0">
                        <a:lnSpc>
                          <a:spcPct val="115000"/>
                        </a:lnSpc>
                        <a:spcBef>
                          <a:spcPts val="0"/>
                        </a:spcBef>
                        <a:spcAft>
                          <a:spcPts val="0"/>
                        </a:spcAft>
                      </a:pPr>
                      <a:r>
                        <a:rPr lang="en-US" sz="2000" dirty="0">
                          <a:solidFill>
                            <a:srgbClr val="000000"/>
                          </a:solidFill>
                          <a:effectLst/>
                          <a:latin typeface="Calibri"/>
                          <a:ea typeface="Calibri"/>
                          <a:cs typeface="Calibri"/>
                        </a:rPr>
                        <a:t>copy registers to mem[SP]</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46236">
                <a:tc>
                  <a:txBody>
                    <a:bodyPr/>
                    <a:lstStyle/>
                    <a:p>
                      <a:pPr marL="0" marR="0">
                        <a:lnSpc>
                          <a:spcPct val="100000"/>
                        </a:lnSpc>
                        <a:spcBef>
                          <a:spcPts val="0"/>
                        </a:spcBef>
                        <a:spcAft>
                          <a:spcPts val="0"/>
                        </a:spcAft>
                      </a:pPr>
                      <a:r>
                        <a:rPr lang="en-US" sz="2000" dirty="0">
                          <a:solidFill>
                            <a:srgbClr val="000000"/>
                          </a:solidFill>
                          <a:effectLst/>
                          <a:latin typeface="Calibri"/>
                          <a:ea typeface="Calibri"/>
                          <a:cs typeface="Calibri"/>
                        </a:rPr>
                        <a:t>POP FPU Registers</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555625" algn="l"/>
                        </a:tabLst>
                      </a:pPr>
                      <a:r>
                        <a:rPr lang="en-US" sz="2000" dirty="0">
                          <a:solidFill>
                            <a:srgbClr val="000000"/>
                          </a:solidFill>
                          <a:effectLst/>
                          <a:latin typeface="Calibri"/>
                          <a:ea typeface="Calibri"/>
                          <a:cs typeface="Calibri"/>
                        </a:rPr>
                        <a:t>VPOP	{ </a:t>
                      </a:r>
                      <a:r>
                        <a:rPr lang="en-US" sz="2000" i="1" dirty="0">
                          <a:solidFill>
                            <a:srgbClr val="000000"/>
                          </a:solidFill>
                          <a:effectLst/>
                          <a:latin typeface="Calibri"/>
                          <a:ea typeface="Calibri"/>
                          <a:cs typeface="Calibri"/>
                        </a:rPr>
                        <a:t>register list }</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solidFill>
                            <a:srgbClr val="000000"/>
                          </a:solidFill>
                          <a:effectLst/>
                          <a:latin typeface="Calibri"/>
                          <a:ea typeface="Calibri"/>
                          <a:cs typeface="Calibri"/>
                        </a:rPr>
                        <a:t>Copy mem[SP]</a:t>
                      </a:r>
                      <a:r>
                        <a:rPr lang="en-US" sz="2000" baseline="0" dirty="0">
                          <a:solidFill>
                            <a:srgbClr val="000000"/>
                          </a:solidFill>
                          <a:effectLst/>
                          <a:latin typeface="Calibri"/>
                          <a:ea typeface="Calibri"/>
                          <a:cs typeface="Calibri"/>
                        </a:rPr>
                        <a:t> to registers</a:t>
                      </a:r>
                      <a:endParaRPr lang="en-US" sz="2000" dirty="0">
                        <a:solidFill>
                          <a:srgbClr val="000000"/>
                        </a:solidFill>
                        <a:effectLst/>
                        <a:latin typeface="Arial"/>
                        <a:ea typeface="Arial"/>
                        <a:cs typeface="Calibri"/>
                      </a:endParaRPr>
                    </a:p>
                    <a:p>
                      <a:pPr marL="0" marR="0">
                        <a:lnSpc>
                          <a:spcPct val="115000"/>
                        </a:lnSpc>
                        <a:spcBef>
                          <a:spcPts val="0"/>
                        </a:spcBef>
                        <a:spcAft>
                          <a:spcPts val="0"/>
                        </a:spcAft>
                      </a:pPr>
                      <a:r>
                        <a:rPr lang="en-US" sz="2000" dirty="0">
                          <a:solidFill>
                            <a:srgbClr val="000000"/>
                          </a:solidFill>
                          <a:effectLst/>
                          <a:latin typeface="Calibri"/>
                          <a:ea typeface="Calibri"/>
                          <a:cs typeface="Calibri"/>
                        </a:rPr>
                        <a:t>SP </a:t>
                      </a:r>
                      <a:r>
                        <a:rPr lang="en-US" sz="2000" dirty="0">
                          <a:solidFill>
                            <a:srgbClr val="000000"/>
                          </a:solidFill>
                          <a:effectLst/>
                          <a:latin typeface="Calibri"/>
                          <a:ea typeface="Calibri"/>
                          <a:cs typeface="Calibri"/>
                          <a:sym typeface="Wingdings"/>
                        </a:rPr>
                        <a:t>=</a:t>
                      </a:r>
                      <a:r>
                        <a:rPr lang="en-US" sz="2000" dirty="0">
                          <a:solidFill>
                            <a:srgbClr val="000000"/>
                          </a:solidFill>
                          <a:effectLst/>
                          <a:latin typeface="Calibri"/>
                          <a:ea typeface="Calibri"/>
                          <a:cs typeface="Calibri"/>
                        </a:rPr>
                        <a:t> SP + </a:t>
                      </a:r>
                      <a:r>
                        <a:rPr lang="en-US" sz="2000" dirty="0">
                          <a:solidFill>
                            <a:srgbClr val="000000"/>
                          </a:solidFill>
                          <a:effectLst/>
                          <a:latin typeface="+mn-lt"/>
                          <a:ea typeface="Calibri"/>
                          <a:cs typeface="Calibri"/>
                        </a:rPr>
                        <a:t>4 × #registers</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 name="Title 2"/>
          <p:cNvSpPr>
            <a:spLocks noGrp="1"/>
          </p:cNvSpPr>
          <p:nvPr>
            <p:ph type="title"/>
          </p:nvPr>
        </p:nvSpPr>
        <p:spPr>
          <a:xfrm>
            <a:off x="952558" y="761223"/>
            <a:ext cx="7152716" cy="686577"/>
          </a:xfrm>
        </p:spPr>
        <p:txBody>
          <a:bodyPr/>
          <a:lstStyle/>
          <a:p>
            <a:r>
              <a:rPr lang="en-US" dirty="0"/>
              <a:t>FLOATING-POINT PUSH &amp; POP</a:t>
            </a:r>
          </a:p>
        </p:txBody>
      </p:sp>
      <p:sp>
        <p:nvSpPr>
          <p:cNvPr id="4" name="Rectangle 3"/>
          <p:cNvSpPr/>
          <p:nvPr/>
        </p:nvSpPr>
        <p:spPr>
          <a:xfrm>
            <a:off x="2209800" y="4343400"/>
            <a:ext cx="7772400" cy="1143000"/>
          </a:xfrm>
          <a:prstGeom prst="rect">
            <a:avLst/>
          </a:prstGeom>
          <a:solidFill>
            <a:schemeClr val="accent4">
              <a:lumMod val="20000"/>
              <a:lumOff val="80000"/>
            </a:schemeClr>
          </a:solidFill>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Use these instructions at function entry and exit to preserve and restore any of the registers </a:t>
            </a:r>
            <a:r>
              <a:rPr kumimoji="0" lang="en-US" sz="2400" b="1" i="0" u="none" strike="noStrike" kern="1200" cap="none" spc="0" normalizeH="0" baseline="0" noProof="0" dirty="0">
                <a:ln>
                  <a:noFill/>
                </a:ln>
                <a:solidFill>
                  <a:srgbClr val="FF0000"/>
                </a:solidFill>
                <a:effectLst/>
                <a:uLnTx/>
                <a:uFillTx/>
                <a:latin typeface="Arial" panose="020B0604020202020204"/>
                <a:ea typeface="+mn-ea"/>
                <a:cs typeface="+mn-cs"/>
              </a:rPr>
              <a:t>S16-S31</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 that are modified.</a:t>
            </a:r>
          </a:p>
        </p:txBody>
      </p:sp>
    </p:spTree>
    <p:extLst>
      <p:ext uri="{BB962C8B-B14F-4D97-AF65-F5344CB8AC3E}">
        <p14:creationId xmlns:p14="http://schemas.microsoft.com/office/powerpoint/2010/main" val="1426370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3156" y="1397858"/>
            <a:ext cx="3432552" cy="1047979"/>
          </a:xfrm>
          <a:prstGeom prst="rect">
            <a:avLst/>
          </a:prstGeom>
        </p:spPr>
        <p:txBody>
          <a:bodyPr wrap="square">
            <a:spAutoFit/>
          </a:bodyPr>
          <a:lstStyle/>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float foo(float f){</a:t>
            </a: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Times New Roman" panose="02020603050405020304" pitchFamily="18" charset="0"/>
              </a:rPr>
              <a:t>	return bar(void) + f;</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7" name="Group 6"/>
          <p:cNvGrpSpPr/>
          <p:nvPr/>
        </p:nvGrpSpPr>
        <p:grpSpPr>
          <a:xfrm>
            <a:off x="8387599" y="3827962"/>
            <a:ext cx="2974531" cy="1292662"/>
            <a:chOff x="574260" y="4600127"/>
            <a:chExt cx="2974531" cy="1292662"/>
          </a:xfrm>
        </p:grpSpPr>
        <p:sp>
          <p:nvSpPr>
            <p:cNvPr id="8" name="TextBox 7"/>
            <p:cNvSpPr txBox="1"/>
            <p:nvPr/>
          </p:nvSpPr>
          <p:spPr>
            <a:xfrm>
              <a:off x="574260" y="4600127"/>
              <a:ext cx="2974531" cy="1292662"/>
            </a:xfrm>
            <a:prstGeom prst="rect">
              <a:avLst/>
            </a:prstGeom>
            <a:solidFill>
              <a:schemeClr val="accent4">
                <a:lumMod val="20000"/>
                <a:lumOff val="80000"/>
              </a:schemeClr>
            </a:solidFill>
            <a:ln/>
          </p:spPr>
          <p:style>
            <a:lnRef idx="1">
              <a:schemeClr val="accent2"/>
            </a:lnRef>
            <a:fillRef idx="2">
              <a:schemeClr val="accent2"/>
            </a:fillRef>
            <a:effectRef idx="1">
              <a:schemeClr val="accent2"/>
            </a:effectRef>
            <a:fontRef idx="minor">
              <a:schemeClr val="dk1"/>
            </a:fontRef>
          </p:style>
          <p:txBody>
            <a:bodyPr wrap="square" tIns="91440" bIns="91440" rtlCol="0">
              <a:spAutoFit/>
            </a:bodyPr>
            <a:lstStyle/>
            <a:p>
              <a:pPr marL="1027113"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Faster to preserve FPU registers in the core registers.</a:t>
              </a:r>
            </a:p>
          </p:txBody>
        </p:sp>
        <p:pic>
          <p:nvPicPr>
            <p:cNvPr id="9" name="Picture 4" descr="http://www.aamu.edu/campuslife/living-on-campus/residentialLife/SiteAssets/pages/default/Warning_sig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671965" y="4688858"/>
              <a:ext cx="971826" cy="838200"/>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itle 9"/>
          <p:cNvSpPr>
            <a:spLocks noGrp="1"/>
          </p:cNvSpPr>
          <p:nvPr>
            <p:ph type="title"/>
          </p:nvPr>
        </p:nvSpPr>
        <p:spPr>
          <a:xfrm>
            <a:off x="954505" y="748367"/>
            <a:ext cx="8229600" cy="649491"/>
          </a:xfrm>
        </p:spPr>
        <p:txBody>
          <a:bodyPr/>
          <a:lstStyle/>
          <a:p>
            <a:r>
              <a:rPr lang="en-US" dirty="0"/>
              <a:t>Preserving Floating-Point Registers</a:t>
            </a:r>
          </a:p>
        </p:txBody>
      </p:sp>
      <p:sp>
        <p:nvSpPr>
          <p:cNvPr id="11" name="Rectangle 10">
            <a:extLst>
              <a:ext uri="{FF2B5EF4-FFF2-40B4-BE49-F238E27FC236}">
                <a16:creationId xmlns:a16="http://schemas.microsoft.com/office/drawing/2014/main" id="{C5769431-4388-4572-B029-87D6CDBA94EB}"/>
              </a:ext>
            </a:extLst>
          </p:cNvPr>
          <p:cNvSpPr/>
          <p:nvPr/>
        </p:nvSpPr>
        <p:spPr>
          <a:xfrm>
            <a:off x="6844147" y="1359702"/>
            <a:ext cx="3249682" cy="2301912"/>
          </a:xfrm>
          <a:prstGeom prst="rect">
            <a:avLst/>
          </a:prstGeom>
        </p:spPr>
        <p:txBody>
          <a:bodyPr wrap="square">
            <a:spAutoFit/>
          </a:bodyPr>
          <a:lstStyle/>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32004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foo: // S0 = f</a:t>
            </a: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32004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PUSH	{R4,LR}</a:t>
            </a: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32004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VMOV	R4,S0</a:t>
            </a: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32004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BL	bar</a:t>
            </a: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32004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VMOV	S1,R4</a:t>
            </a: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32004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VADD.F32	S0,S0,S1</a:t>
            </a: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32004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POP	{R4,PC}</a:t>
            </a:r>
          </a:p>
        </p:txBody>
      </p:sp>
      <p:sp>
        <p:nvSpPr>
          <p:cNvPr id="12" name="Arrow: Down 11">
            <a:extLst>
              <a:ext uri="{FF2B5EF4-FFF2-40B4-BE49-F238E27FC236}">
                <a16:creationId xmlns:a16="http://schemas.microsoft.com/office/drawing/2014/main" id="{D644AE7B-2608-4DA0-81B8-F9E314E6E2DB}"/>
              </a:ext>
            </a:extLst>
          </p:cNvPr>
          <p:cNvSpPr/>
          <p:nvPr/>
        </p:nvSpPr>
        <p:spPr>
          <a:xfrm>
            <a:off x="3029455" y="2310183"/>
            <a:ext cx="314037" cy="16065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Arrow: Down 12">
            <a:extLst>
              <a:ext uri="{FF2B5EF4-FFF2-40B4-BE49-F238E27FC236}">
                <a16:creationId xmlns:a16="http://schemas.microsoft.com/office/drawing/2014/main" id="{12C4B151-05B4-47C1-B2FF-AFC8848A2DDD}"/>
              </a:ext>
            </a:extLst>
          </p:cNvPr>
          <p:cNvSpPr/>
          <p:nvPr/>
        </p:nvSpPr>
        <p:spPr>
          <a:xfrm rot="13998733">
            <a:off x="5536918" y="1802450"/>
            <a:ext cx="314037" cy="292561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Rectangle 13">
            <a:extLst>
              <a:ext uri="{FF2B5EF4-FFF2-40B4-BE49-F238E27FC236}">
                <a16:creationId xmlns:a16="http://schemas.microsoft.com/office/drawing/2014/main" id="{F9819A6E-27E4-4779-AFF3-014755AC5AA7}"/>
              </a:ext>
            </a:extLst>
          </p:cNvPr>
          <p:cNvSpPr/>
          <p:nvPr/>
        </p:nvSpPr>
        <p:spPr>
          <a:xfrm>
            <a:off x="1698141" y="4072676"/>
            <a:ext cx="8240186" cy="2620461"/>
          </a:xfrm>
          <a:prstGeom prst="rect">
            <a:avLst/>
          </a:prstGeom>
        </p:spPr>
        <p:txBody>
          <a:bodyPr wrap="square">
            <a:spAutoFit/>
          </a:bodyPr>
          <a:lstStyle/>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2854325"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foo: // S0 = f</a:t>
            </a: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2854325"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PUSH	{LR}	// preserve LR</a:t>
            </a: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2854325"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VPUSH	{S16}	// preserve S16</a:t>
            </a: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2854325"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VMOV	S16,S0	// keep parameter f in S16</a:t>
            </a: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2854325"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BL	bar	// </a:t>
            </a:r>
            <a:r>
              <a:rPr kumimoji="0" lang="en-US" sz="1800" b="1" i="0" u="none" strike="noStrike" kern="1200" cap="none" spc="0" normalizeH="0" baseline="0" noProof="0" dirty="0">
                <a:ln>
                  <a:noFill/>
                </a:ln>
                <a:solidFill>
                  <a:srgbClr val="FF0000"/>
                </a:solidFill>
                <a:effectLst/>
                <a:uLnTx/>
                <a:uFillTx/>
                <a:latin typeface="Consolas" panose="020B0609020204030204" pitchFamily="49" charset="0"/>
                <a:ea typeface="Calibri" panose="020F0502020204030204" pitchFamily="34" charset="0"/>
                <a:cs typeface="Consolas" panose="020B0609020204030204" pitchFamily="49" charset="0"/>
              </a:rPr>
              <a:t>may modify S0-S15 (and R0-R3, R12)</a:t>
            </a: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2854325"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VADD.F32	S0,S0,S16	// S16 = parameter f</a:t>
            </a: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2854325"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VPOP	{S16}	// restore S16</a:t>
            </a: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2854325"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POP	{PC}	// return (uses stack copy of LR)</a:t>
            </a:r>
          </a:p>
        </p:txBody>
      </p:sp>
      <p:sp>
        <p:nvSpPr>
          <p:cNvPr id="15" name="Left Bracket 14">
            <a:extLst>
              <a:ext uri="{FF2B5EF4-FFF2-40B4-BE49-F238E27FC236}">
                <a16:creationId xmlns:a16="http://schemas.microsoft.com/office/drawing/2014/main" id="{FE48969B-BAEE-4773-A35E-80E814EB5888}"/>
              </a:ext>
            </a:extLst>
          </p:cNvPr>
          <p:cNvSpPr/>
          <p:nvPr/>
        </p:nvSpPr>
        <p:spPr>
          <a:xfrm>
            <a:off x="1981200" y="4843625"/>
            <a:ext cx="152401" cy="1346444"/>
          </a:xfrm>
          <a:prstGeom prst="leftBracket">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Left Bracket 15">
            <a:extLst>
              <a:ext uri="{FF2B5EF4-FFF2-40B4-BE49-F238E27FC236}">
                <a16:creationId xmlns:a16="http://schemas.microsoft.com/office/drawing/2014/main" id="{69BF9E51-DDC6-4D99-905F-FF350E858031}"/>
              </a:ext>
            </a:extLst>
          </p:cNvPr>
          <p:cNvSpPr/>
          <p:nvPr/>
        </p:nvSpPr>
        <p:spPr>
          <a:xfrm>
            <a:off x="1822174" y="4601415"/>
            <a:ext cx="264998" cy="1902691"/>
          </a:xfrm>
          <a:prstGeom prst="leftBracket">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34129199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0"/>
          <p:cNvGrpSpPr/>
          <p:nvPr/>
        </p:nvGrpSpPr>
        <p:grpSpPr>
          <a:xfrm>
            <a:off x="4647441" y="5844055"/>
            <a:ext cx="3988080" cy="738664"/>
            <a:chOff x="885173" y="4876800"/>
            <a:chExt cx="3988080" cy="738664"/>
          </a:xfrm>
        </p:grpSpPr>
        <p:sp>
          <p:nvSpPr>
            <p:cNvPr id="42" name="TextBox 41"/>
            <p:cNvSpPr txBox="1"/>
            <p:nvPr/>
          </p:nvSpPr>
          <p:spPr>
            <a:xfrm>
              <a:off x="885173" y="4876800"/>
              <a:ext cx="3988080" cy="738664"/>
            </a:xfrm>
            <a:prstGeom prst="rect">
              <a:avLst/>
            </a:prstGeom>
            <a:solidFill>
              <a:schemeClr val="accent5">
                <a:lumMod val="20000"/>
                <a:lumOff val="80000"/>
              </a:schemeClr>
            </a:solidFill>
            <a:ln/>
          </p:spPr>
          <p:style>
            <a:lnRef idx="1">
              <a:schemeClr val="accent2"/>
            </a:lnRef>
            <a:fillRef idx="2">
              <a:schemeClr val="accent2"/>
            </a:fillRef>
            <a:effectRef idx="1">
              <a:schemeClr val="accent2"/>
            </a:effectRef>
            <a:fontRef idx="minor">
              <a:schemeClr val="dk1"/>
            </a:fontRef>
          </p:style>
          <p:txBody>
            <a:bodyPr wrap="square" tIns="91440" bIns="91440" rtlCol="0">
              <a:spAutoFit/>
            </a:bodyPr>
            <a:lstStyle/>
            <a:p>
              <a:pPr marL="1027113"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VLDR cannot be used as a pseudo-instruction.</a:t>
              </a:r>
            </a:p>
          </p:txBody>
        </p:sp>
        <p:pic>
          <p:nvPicPr>
            <p:cNvPr id="43" name="Picture 4" descr="http://www.aamu.edu/campuslife/living-on-campus/residentialLife/SiteAssets/pages/default/Warning_sig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1131232" y="4966460"/>
              <a:ext cx="605883" cy="522574"/>
            </a:xfrm>
            <a:prstGeom prst="rect">
              <a:avLst/>
            </a:prstGeom>
            <a:noFill/>
            <a:extLst>
              <a:ext uri="{909E8E84-426E-40dd-AFC4-6F175D3DCCD1}">
                <a14:hiddenFill xmlns:a14="http://schemas.microsoft.com/office/drawing/2010/main" xmlns="">
                  <a:solidFill>
                    <a:srgbClr val="FFFFFF"/>
                  </a:solidFill>
                </a14:hiddenFill>
              </a:ext>
            </a:extLst>
          </p:spPr>
        </p:pic>
      </p:grpSp>
      <p:grpSp>
        <p:nvGrpSpPr>
          <p:cNvPr id="38" name="Group 37"/>
          <p:cNvGrpSpPr/>
          <p:nvPr/>
        </p:nvGrpSpPr>
        <p:grpSpPr>
          <a:xfrm>
            <a:off x="4647441" y="2916544"/>
            <a:ext cx="3988080" cy="738664"/>
            <a:chOff x="885173" y="4876800"/>
            <a:chExt cx="3866096" cy="738664"/>
          </a:xfrm>
          <a:solidFill>
            <a:schemeClr val="accent4">
              <a:lumMod val="20000"/>
              <a:lumOff val="80000"/>
            </a:schemeClr>
          </a:solidFill>
        </p:grpSpPr>
        <p:sp>
          <p:nvSpPr>
            <p:cNvPr id="39" name="TextBox 38"/>
            <p:cNvSpPr txBox="1"/>
            <p:nvPr/>
          </p:nvSpPr>
          <p:spPr>
            <a:xfrm>
              <a:off x="885173" y="4876800"/>
              <a:ext cx="3866096" cy="738664"/>
            </a:xfrm>
            <a:prstGeom prst="rect">
              <a:avLst/>
            </a:prstGeom>
            <a:grpFill/>
            <a:ln/>
          </p:spPr>
          <p:style>
            <a:lnRef idx="1">
              <a:schemeClr val="accent2"/>
            </a:lnRef>
            <a:fillRef idx="2">
              <a:schemeClr val="accent2"/>
            </a:fillRef>
            <a:effectRef idx="1">
              <a:schemeClr val="accent2"/>
            </a:effectRef>
            <a:fontRef idx="minor">
              <a:schemeClr val="dk1"/>
            </a:fontRef>
          </p:style>
          <p:txBody>
            <a:bodyPr wrap="square" tIns="91440" bIns="91440" rtlCol="0">
              <a:spAutoFit/>
            </a:bodyPr>
            <a:lstStyle/>
            <a:p>
              <a:pPr marL="1027113"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VMOV only works with a limited set of constants.</a:t>
              </a:r>
            </a:p>
          </p:txBody>
        </p:sp>
        <p:pic>
          <p:nvPicPr>
            <p:cNvPr id="40" name="Picture 4" descr="http://www.aamu.edu/campuslife/living-on-campus/residentialLife/SiteAssets/pages/default/Warning_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1103337" y="4975270"/>
              <a:ext cx="628086" cy="541724"/>
            </a:xfrm>
            <a:prstGeom prst="rect">
              <a:avLst/>
            </a:prstGeom>
            <a:grpFill/>
            <a:extLst>
              <a:ext uri="{909E8E84-426E-40dd-AFC4-6F175D3DCCD1}">
                <a14:hiddenFill xmlns:a14="http://schemas.microsoft.com/office/drawing/2010/main" xmlns="">
                  <a:solidFill>
                    <a:srgbClr val="FFFFFF"/>
                  </a:solidFill>
                </a14:hiddenFill>
              </a:ext>
            </a:extLst>
          </p:spPr>
        </p:pic>
      </p:grpSp>
      <p:sp>
        <p:nvSpPr>
          <p:cNvPr id="2" name="Title 1"/>
          <p:cNvSpPr>
            <a:spLocks noGrp="1"/>
          </p:cNvSpPr>
          <p:nvPr>
            <p:ph type="title"/>
          </p:nvPr>
        </p:nvSpPr>
        <p:spPr>
          <a:xfrm>
            <a:off x="951447" y="709474"/>
            <a:ext cx="9467899" cy="699692"/>
          </a:xfrm>
        </p:spPr>
        <p:txBody>
          <a:bodyPr>
            <a:normAutofit fontScale="90000"/>
          </a:bodyPr>
          <a:lstStyle/>
          <a:p>
            <a:r>
              <a:rPr lang="en-US" sz="4000" dirty="0"/>
              <a:t>LOADING FLOATING-POINT CONSTANTS  </a:t>
            </a:r>
          </a:p>
        </p:txBody>
      </p:sp>
      <p:sp>
        <p:nvSpPr>
          <p:cNvPr id="9" name="TextBox 8"/>
          <p:cNvSpPr txBox="1"/>
          <p:nvPr/>
        </p:nvSpPr>
        <p:spPr>
          <a:xfrm>
            <a:off x="4145330" y="3675530"/>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grpSp>
        <p:nvGrpSpPr>
          <p:cNvPr id="44" name="Group 43"/>
          <p:cNvGrpSpPr/>
          <p:nvPr/>
        </p:nvGrpSpPr>
        <p:grpSpPr>
          <a:xfrm>
            <a:off x="2287825" y="1571731"/>
            <a:ext cx="2359617" cy="1208427"/>
            <a:chOff x="787889" y="1323071"/>
            <a:chExt cx="2359617" cy="1208427"/>
          </a:xfrm>
        </p:grpSpPr>
        <p:sp>
          <p:nvSpPr>
            <p:cNvPr id="10" name="Rectangle 9"/>
            <p:cNvSpPr/>
            <p:nvPr/>
          </p:nvSpPr>
          <p:spPr>
            <a:xfrm>
              <a:off x="787889" y="1323071"/>
              <a:ext cx="2359617" cy="54416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a:ea typeface="+mn-ea"/>
                  <a:cs typeface="+mn-cs"/>
                </a:rPr>
                <a:t>Integer</a:t>
              </a:r>
            </a:p>
          </p:txBody>
        </p:sp>
        <p:sp>
          <p:nvSpPr>
            <p:cNvPr id="11" name="Rectangle 10"/>
            <p:cNvSpPr/>
            <p:nvPr/>
          </p:nvSpPr>
          <p:spPr>
            <a:xfrm>
              <a:off x="787889" y="1850902"/>
              <a:ext cx="2359617" cy="68059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MOV R0,5</a:t>
              </a:r>
            </a:p>
          </p:txBody>
        </p:sp>
      </p:grpSp>
      <p:grpSp>
        <p:nvGrpSpPr>
          <p:cNvPr id="46" name="Group 45"/>
          <p:cNvGrpSpPr/>
          <p:nvPr/>
        </p:nvGrpSpPr>
        <p:grpSpPr>
          <a:xfrm>
            <a:off x="4624588" y="1563170"/>
            <a:ext cx="2615729" cy="1473706"/>
            <a:chOff x="3124652" y="1314511"/>
            <a:chExt cx="2615729" cy="1473706"/>
          </a:xfrm>
        </p:grpSpPr>
        <p:pic>
          <p:nvPicPr>
            <p:cNvPr id="15" name="Picture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69066" y="2274779"/>
              <a:ext cx="449259" cy="513438"/>
            </a:xfrm>
            <a:prstGeom prst="rect">
              <a:avLst/>
            </a:prstGeom>
          </p:spPr>
        </p:pic>
        <p:sp>
          <p:nvSpPr>
            <p:cNvPr id="21" name="Rectangle 20"/>
            <p:cNvSpPr/>
            <p:nvPr/>
          </p:nvSpPr>
          <p:spPr>
            <a:xfrm>
              <a:off x="3124652" y="1314511"/>
              <a:ext cx="2603596" cy="54416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a:ea typeface="+mn-ea"/>
                  <a:cs typeface="+mn-cs"/>
                </a:rPr>
                <a:t>Floating Point</a:t>
              </a:r>
            </a:p>
          </p:txBody>
        </p:sp>
        <p:sp>
          <p:nvSpPr>
            <p:cNvPr id="22" name="Rectangle 21"/>
            <p:cNvSpPr/>
            <p:nvPr/>
          </p:nvSpPr>
          <p:spPr>
            <a:xfrm>
              <a:off x="3136785" y="1858538"/>
              <a:ext cx="2603596" cy="677342"/>
            </a:xfrm>
            <a:prstGeom prst="rect">
              <a:avLst/>
            </a:prstGeom>
            <a:solidFill>
              <a:srgbClr val="FF0000">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VMOV S0,3.14159</a:t>
              </a:r>
            </a:p>
          </p:txBody>
        </p:sp>
      </p:grpSp>
      <p:grpSp>
        <p:nvGrpSpPr>
          <p:cNvPr id="47" name="Group 46"/>
          <p:cNvGrpSpPr/>
          <p:nvPr/>
        </p:nvGrpSpPr>
        <p:grpSpPr>
          <a:xfrm>
            <a:off x="7252449" y="1571422"/>
            <a:ext cx="2610656" cy="1415632"/>
            <a:chOff x="5752514" y="1322763"/>
            <a:chExt cx="2610656" cy="1415632"/>
          </a:xfrm>
        </p:grpSpPr>
        <p:pic>
          <p:nvPicPr>
            <p:cNvPr id="18" name="Picture 2" descr="Image result for CHECK MAR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839885" y="2173562"/>
              <a:ext cx="442581" cy="564833"/>
            </a:xfrm>
            <a:prstGeom prst="rect">
              <a:avLst/>
            </a:prstGeom>
            <a:noFill/>
            <a:extLst>
              <a:ext uri="{909E8E84-426E-40dd-AFC4-6F175D3DCCD1}">
                <a14:hiddenFill xmlns:a14="http://schemas.microsoft.com/office/drawing/2010/main" xmlns="">
                  <a:solidFill>
                    <a:srgbClr val="FFFFFF"/>
                  </a:solidFill>
                </a14:hiddenFill>
              </a:ext>
            </a:extLst>
          </p:spPr>
        </p:pic>
        <p:sp>
          <p:nvSpPr>
            <p:cNvPr id="23" name="Rectangle 22"/>
            <p:cNvSpPr/>
            <p:nvPr/>
          </p:nvSpPr>
          <p:spPr>
            <a:xfrm>
              <a:off x="5759574" y="1322763"/>
              <a:ext cx="2603596" cy="54416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a:ea typeface="+mn-ea"/>
                  <a:cs typeface="+mn-cs"/>
                </a:rPr>
                <a:t>Floating Point</a:t>
              </a:r>
            </a:p>
          </p:txBody>
        </p:sp>
        <p:sp>
          <p:nvSpPr>
            <p:cNvPr id="25" name="Rectangle 24"/>
            <p:cNvSpPr/>
            <p:nvPr/>
          </p:nvSpPr>
          <p:spPr>
            <a:xfrm>
              <a:off x="5752514" y="1858671"/>
              <a:ext cx="2603596" cy="672827"/>
            </a:xfrm>
            <a:prstGeom prst="rect">
              <a:avLst/>
            </a:prstGeom>
            <a:solidFill>
              <a:srgbClr val="00B050">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VMOV S0,0.5</a:t>
              </a:r>
            </a:p>
          </p:txBody>
        </p:sp>
      </p:grpSp>
      <p:grpSp>
        <p:nvGrpSpPr>
          <p:cNvPr id="48" name="Group 47"/>
          <p:cNvGrpSpPr/>
          <p:nvPr/>
        </p:nvGrpSpPr>
        <p:grpSpPr>
          <a:xfrm>
            <a:off x="2287825" y="3713886"/>
            <a:ext cx="2359617" cy="2099474"/>
            <a:chOff x="787889" y="3721904"/>
            <a:chExt cx="2359617" cy="2099474"/>
          </a:xfrm>
        </p:grpSpPr>
        <p:sp>
          <p:nvSpPr>
            <p:cNvPr id="28" name="Rectangle 27"/>
            <p:cNvSpPr/>
            <p:nvPr/>
          </p:nvSpPr>
          <p:spPr>
            <a:xfrm>
              <a:off x="787889" y="3721904"/>
              <a:ext cx="2359617" cy="54416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a:ea typeface="+mn-ea"/>
                  <a:cs typeface="+mn-cs"/>
                </a:rPr>
                <a:t>Integer</a:t>
              </a:r>
            </a:p>
          </p:txBody>
        </p:sp>
        <p:sp>
          <p:nvSpPr>
            <p:cNvPr id="29" name="Rectangle 28"/>
            <p:cNvSpPr/>
            <p:nvPr/>
          </p:nvSpPr>
          <p:spPr>
            <a:xfrm>
              <a:off x="787889" y="4266064"/>
              <a:ext cx="2359617" cy="155531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LDR R0,=5</a:t>
              </a:r>
            </a:p>
          </p:txBody>
        </p:sp>
      </p:grpSp>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79276" y="5544490"/>
            <a:ext cx="449259" cy="513438"/>
          </a:xfrm>
          <a:prstGeom prst="rect">
            <a:avLst/>
          </a:prstGeom>
        </p:spPr>
      </p:pic>
      <p:sp>
        <p:nvSpPr>
          <p:cNvPr id="30" name="Rectangle 29"/>
          <p:cNvSpPr/>
          <p:nvPr/>
        </p:nvSpPr>
        <p:spPr>
          <a:xfrm>
            <a:off x="4624587" y="3709504"/>
            <a:ext cx="2603596" cy="54416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a:ea typeface="+mn-ea"/>
                <a:cs typeface="+mn-cs"/>
              </a:rPr>
              <a:t>Floating Point</a:t>
            </a:r>
          </a:p>
        </p:txBody>
      </p:sp>
      <p:sp>
        <p:nvSpPr>
          <p:cNvPr id="31" name="Rectangle 30"/>
          <p:cNvSpPr/>
          <p:nvPr/>
        </p:nvSpPr>
        <p:spPr>
          <a:xfrm>
            <a:off x="4636720" y="4253531"/>
            <a:ext cx="2603596" cy="1547679"/>
          </a:xfrm>
          <a:prstGeom prst="rect">
            <a:avLst/>
          </a:prstGeom>
          <a:solidFill>
            <a:srgbClr val="FF0000">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VLDR S0,=3.14159</a:t>
            </a:r>
          </a:p>
        </p:txBody>
      </p:sp>
      <p:grpSp>
        <p:nvGrpSpPr>
          <p:cNvPr id="50" name="Group 49"/>
          <p:cNvGrpSpPr/>
          <p:nvPr/>
        </p:nvGrpSpPr>
        <p:grpSpPr>
          <a:xfrm>
            <a:off x="7252448" y="3713579"/>
            <a:ext cx="3166897" cy="2437525"/>
            <a:chOff x="5752513" y="3721596"/>
            <a:chExt cx="3166897" cy="2437525"/>
          </a:xfrm>
        </p:grpSpPr>
        <p:pic>
          <p:nvPicPr>
            <p:cNvPr id="16" name="Picture 2" descr="Image result for CHECK MAR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867986" y="5594288"/>
              <a:ext cx="442581" cy="564833"/>
            </a:xfrm>
            <a:prstGeom prst="rect">
              <a:avLst/>
            </a:prstGeom>
            <a:noFill/>
            <a:extLst>
              <a:ext uri="{909E8E84-426E-40dd-AFC4-6F175D3DCCD1}">
                <a14:hiddenFill xmlns:a14="http://schemas.microsoft.com/office/drawing/2010/main" xmlns="">
                  <a:solidFill>
                    <a:srgbClr val="FFFFFF"/>
                  </a:solidFill>
                </a14:hiddenFill>
              </a:ext>
            </a:extLst>
          </p:spPr>
        </p:pic>
        <p:sp>
          <p:nvSpPr>
            <p:cNvPr id="32" name="Rectangle 31"/>
            <p:cNvSpPr/>
            <p:nvPr/>
          </p:nvSpPr>
          <p:spPr>
            <a:xfrm>
              <a:off x="5759574" y="3721596"/>
              <a:ext cx="2603596" cy="54416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a:ea typeface="+mn-ea"/>
                  <a:cs typeface="+mn-cs"/>
                </a:rPr>
                <a:t>Floating Point</a:t>
              </a:r>
            </a:p>
          </p:txBody>
        </p:sp>
        <mc:AlternateContent xmlns:mc="http://schemas.openxmlformats.org/markup-compatibility/2006" xmlns:a14="http://schemas.microsoft.com/office/drawing/2010/main">
          <mc:Choice Requires="a14">
            <p:sp>
              <p:nvSpPr>
                <p:cNvPr id="33" name="Rectangle 32"/>
                <p:cNvSpPr/>
                <p:nvPr/>
              </p:nvSpPr>
              <p:spPr>
                <a:xfrm>
                  <a:off x="5752513" y="4286428"/>
                  <a:ext cx="3166897" cy="1534951"/>
                </a:xfrm>
                <a:prstGeom prst="rect">
                  <a:avLst/>
                </a:prstGeom>
                <a:solidFill>
                  <a:srgbClr val="00B050">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tab pos="457200" algn="l"/>
                      <a:tab pos="1322388" algn="l"/>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LDR   R0,=pi</a:t>
                  </a:r>
                </a:p>
                <a:p>
                  <a:pPr marL="0" marR="0" lvl="0" indent="0" algn="l" defTabSz="914400" rtl="0" eaLnBrk="1" fontAlgn="auto" latinLnBrk="0" hangingPunct="1">
                    <a:lnSpc>
                      <a:spcPct val="100000"/>
                    </a:lnSpc>
                    <a:spcBef>
                      <a:spcPts val="0"/>
                    </a:spcBef>
                    <a:spcAft>
                      <a:spcPts val="0"/>
                    </a:spcAft>
                    <a:buClrTx/>
                    <a:buSzTx/>
                    <a:buFontTx/>
                    <a:buNone/>
                    <a:tabLst>
                      <a:tab pos="457200" algn="l"/>
                      <a:tab pos="1322388" algn="l"/>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VLDR S0,[R0]</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tab pos="457200" algn="l"/>
                      <a:tab pos="1322388" algn="l"/>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pi:	.float	3.14159</a:t>
                  </a:r>
                </a:p>
              </p:txBody>
            </p:sp>
          </mc:Choice>
          <mc:Fallback xmlns="">
            <p:sp>
              <p:nvSpPr>
                <p:cNvPr id="33" name="Rectangle 32"/>
                <p:cNvSpPr>
                  <a:spLocks noRot="1" noChangeAspect="1" noMove="1" noResize="1" noEditPoints="1" noAdjustHandles="1" noChangeArrowheads="1" noChangeShapeType="1" noTextEdit="1"/>
                </p:cNvSpPr>
                <p:nvPr/>
              </p:nvSpPr>
              <p:spPr>
                <a:xfrm>
                  <a:off x="5752513" y="4286428"/>
                  <a:ext cx="3166897" cy="1534951"/>
                </a:xfrm>
                <a:prstGeom prst="rect">
                  <a:avLst/>
                </a:prstGeom>
                <a:blipFill>
                  <a:blip r:embed="rId7"/>
                  <a:stretch>
                    <a:fillRect l="-2879" t="-3150" b="-9449"/>
                  </a:stretch>
                </a:blipFill>
              </p:spPr>
              <p:txBody>
                <a:bodyPr/>
                <a:lstStyle/>
                <a:p>
                  <a:r>
                    <a:rPr lang="en-US">
                      <a:noFill/>
                    </a:rPr>
                    <a:t> </a:t>
                  </a:r>
                </a:p>
              </p:txBody>
            </p:sp>
          </mc:Fallback>
        </mc:AlternateContent>
      </p:grpSp>
    </p:spTree>
    <p:extLst>
      <p:ext uri="{BB962C8B-B14F-4D97-AF65-F5344CB8AC3E}">
        <p14:creationId xmlns:p14="http://schemas.microsoft.com/office/powerpoint/2010/main" val="8350735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0527" y="753203"/>
            <a:ext cx="6426810" cy="706630"/>
          </a:xfrm>
        </p:spPr>
        <p:txBody>
          <a:bodyPr/>
          <a:lstStyle/>
          <a:p>
            <a:r>
              <a:rPr lang="en-US" dirty="0"/>
              <a:t>VMOV Immediate Constants</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970258" y="1674316"/>
                <a:ext cx="8229600" cy="4525963"/>
              </a:xfrm>
            </p:spPr>
            <p:txBody>
              <a:bodyPr>
                <a:normAutofit/>
              </a:bodyPr>
              <a:lstStyle/>
              <a:p>
                <a:pPr marL="0" indent="0">
                  <a:buNone/>
                </a:pPr>
                <a:endParaRPr lang="en-US" dirty="0"/>
              </a:p>
              <a:p>
                <a:pPr marL="0" indent="0">
                  <a:buNone/>
                </a:pPr>
                <a:r>
                  <a:rPr lang="en-US" dirty="0">
                    <a:solidFill>
                      <a:schemeClr val="tx1"/>
                    </a:solidFill>
                  </a:rPr>
                  <a:t>The encoding of the VMOV instruction only provides 8 bits for a floating-point constant:</a:t>
                </a:r>
              </a:p>
              <a:p>
                <a:pPr marL="0" indent="0">
                  <a:buNone/>
                </a:pPr>
                <a:endParaRPr lang="en-US" sz="2000" dirty="0"/>
              </a:p>
              <a:p>
                <a:pPr marL="0" indent="0">
                  <a:buNone/>
                </a:pPr>
                <a:endParaRPr lang="en-US" sz="2000" dirty="0"/>
              </a:p>
              <a:p>
                <a:pPr marL="0" indent="0">
                  <a:buNone/>
                </a:pPr>
                <a:endParaRPr lang="en-US" sz="2000" dirty="0"/>
              </a:p>
              <a:p>
                <a:pPr marL="0" indent="0" algn="ctr">
                  <a:buNone/>
                </a:pPr>
                <a:endParaRPr lang="en-US" dirty="0"/>
              </a:p>
              <a:p>
                <a:pPr marL="0" indent="0" algn="ctr">
                  <a:buNone/>
                </a:pPr>
                <a:r>
                  <a:rPr lang="en-US" dirty="0">
                    <a:solidFill>
                      <a:schemeClr val="tx1"/>
                    </a:solidFill>
                  </a:rPr>
                  <a:t>VMOV constants are limited to </a:t>
                </a:r>
                <a14:m>
                  <m:oMath xmlns:m="http://schemas.openxmlformats.org/officeDocument/2006/math">
                    <m:f>
                      <m:fPr>
                        <m:type m:val="lin"/>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𝑚</m:t>
                        </m:r>
                      </m:num>
                      <m:den>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2</m:t>
                            </m:r>
                          </m:e>
                          <m:sup>
                            <m:r>
                              <a:rPr lang="en-US" i="1">
                                <a:solidFill>
                                  <a:schemeClr val="tx1"/>
                                </a:solidFill>
                                <a:latin typeface="Cambria Math" panose="02040503050406030204" pitchFamily="18" charset="0"/>
                              </a:rPr>
                              <m:t>𝑘</m:t>
                            </m:r>
                          </m:sup>
                        </m:sSup>
                      </m:den>
                    </m:f>
                  </m:oMath>
                </a14:m>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970258" y="1674316"/>
                <a:ext cx="8229600" cy="4525963"/>
              </a:xfrm>
              <a:blipFill>
                <a:blip r:embed="rId2"/>
                <a:stretch>
                  <a:fillRect l="-1111" r="-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3">
                <a:extLst>
                  <a:ext uri="{FF2B5EF4-FFF2-40B4-BE49-F238E27FC236}">
                    <a16:creationId xmlns:a16="http://schemas.microsoft.com/office/drawing/2014/main" id="{A718FBAE-9777-4BCA-9C34-44C3D616D2A2}"/>
                  </a:ext>
                </a:extLst>
              </p:cNvPr>
              <p:cNvGraphicFramePr>
                <a:graphicFrameLocks noGrp="1"/>
              </p:cNvGraphicFramePr>
              <p:nvPr/>
            </p:nvGraphicFramePr>
            <p:xfrm>
              <a:off x="2953931" y="3571535"/>
              <a:ext cx="6096000" cy="741680"/>
            </p:xfrm>
            <a:graphic>
              <a:graphicData uri="http://schemas.openxmlformats.org/drawingml/2006/table">
                <a:tbl>
                  <a:tblPr firstRow="1" bandRow="1">
                    <a:tableStyleId>{073A0DAA-6AF3-43AB-8588-CEC1D06C72B9}</a:tableStyleId>
                  </a:tblPr>
                  <a:tblGrid>
                    <a:gridCol w="762000">
                      <a:extLst>
                        <a:ext uri="{9D8B030D-6E8A-4147-A177-3AD203B41FA5}">
                          <a16:colId xmlns:a16="http://schemas.microsoft.com/office/drawing/2014/main" val="2940897065"/>
                        </a:ext>
                      </a:extLst>
                    </a:gridCol>
                    <a:gridCol w="762000">
                      <a:extLst>
                        <a:ext uri="{9D8B030D-6E8A-4147-A177-3AD203B41FA5}">
                          <a16:colId xmlns:a16="http://schemas.microsoft.com/office/drawing/2014/main" val="2765758070"/>
                        </a:ext>
                      </a:extLst>
                    </a:gridCol>
                    <a:gridCol w="762000">
                      <a:extLst>
                        <a:ext uri="{9D8B030D-6E8A-4147-A177-3AD203B41FA5}">
                          <a16:colId xmlns:a16="http://schemas.microsoft.com/office/drawing/2014/main" val="1732806981"/>
                        </a:ext>
                      </a:extLst>
                    </a:gridCol>
                    <a:gridCol w="762000">
                      <a:extLst>
                        <a:ext uri="{9D8B030D-6E8A-4147-A177-3AD203B41FA5}">
                          <a16:colId xmlns:a16="http://schemas.microsoft.com/office/drawing/2014/main" val="1840983673"/>
                        </a:ext>
                      </a:extLst>
                    </a:gridCol>
                    <a:gridCol w="762000">
                      <a:extLst>
                        <a:ext uri="{9D8B030D-6E8A-4147-A177-3AD203B41FA5}">
                          <a16:colId xmlns:a16="http://schemas.microsoft.com/office/drawing/2014/main" val="115014203"/>
                        </a:ext>
                      </a:extLst>
                    </a:gridCol>
                    <a:gridCol w="762000">
                      <a:extLst>
                        <a:ext uri="{9D8B030D-6E8A-4147-A177-3AD203B41FA5}">
                          <a16:colId xmlns:a16="http://schemas.microsoft.com/office/drawing/2014/main" val="1331868188"/>
                        </a:ext>
                      </a:extLst>
                    </a:gridCol>
                    <a:gridCol w="762000">
                      <a:extLst>
                        <a:ext uri="{9D8B030D-6E8A-4147-A177-3AD203B41FA5}">
                          <a16:colId xmlns:a16="http://schemas.microsoft.com/office/drawing/2014/main" val="399389003"/>
                        </a:ext>
                      </a:extLst>
                    </a:gridCol>
                    <a:gridCol w="762000">
                      <a:extLst>
                        <a:ext uri="{9D8B030D-6E8A-4147-A177-3AD203B41FA5}">
                          <a16:colId xmlns:a16="http://schemas.microsoft.com/office/drawing/2014/main" val="1662699916"/>
                        </a:ext>
                      </a:extLst>
                    </a:gridCol>
                  </a:tblGrid>
                  <a:tr h="370840">
                    <a:tc>
                      <a:txBody>
                        <a:bodyPr/>
                        <a:lstStyle/>
                        <a:p>
                          <a:pPr algn="ctr"/>
                          <a:r>
                            <a:rPr lang="en-US" b="0" dirty="0">
                              <a:solidFill>
                                <a:sysClr val="windowText" lastClr="000000"/>
                              </a:solidFill>
                            </a:rPr>
                            <a:t>7</a:t>
                          </a:r>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ysClr val="windowText" lastClr="000000"/>
                              </a:solidFill>
                            </a:rPr>
                            <a:t>6</a:t>
                          </a:r>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b="0">
                            <a:solidFill>
                              <a:sysClr val="windowText" lastClr="000000"/>
                            </a:solidFill>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lang="en-US" b="0" dirty="0">
                              <a:solidFill>
                                <a:sysClr val="windowText" lastClr="000000"/>
                              </a:solidFill>
                            </a:rPr>
                            <a:t>4</a:t>
                          </a:r>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ysClr val="windowText" lastClr="000000"/>
                              </a:solidFill>
                            </a:rPr>
                            <a:t>3</a:t>
                          </a:r>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b="0">
                            <a:solidFill>
                              <a:sysClr val="windowText" lastClr="000000"/>
                            </a:solidFill>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b="0">
                            <a:solidFill>
                              <a:sysClr val="windowText" lastClr="000000"/>
                            </a:solidFill>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lang="en-US" b="0" dirty="0">
                              <a:solidFill>
                                <a:sysClr val="windowText" lastClr="000000"/>
                              </a:solidFill>
                            </a:rPr>
                            <a:t>0</a:t>
                          </a:r>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8362884"/>
                      </a:ext>
                    </a:extLst>
                  </a:tr>
                  <a:tr h="370840">
                    <a:tc>
                      <a:txBody>
                        <a:bodyPr/>
                        <a:lstStyle/>
                        <a:p>
                          <a:pPr algn="ctr"/>
                          <a:r>
                            <a:rPr lang="en-US" dirty="0"/>
                            <a:t>sign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14:m>
                            <m:oMathPara xmlns:m="http://schemas.openxmlformats.org/officeDocument/2006/math">
                              <m:oMath>
                                <m:r>
                                  <a:rPr lang="en-US" b="0" i="1" dirty="0" smtClean="0">
                                    <a:latin typeface="Cambria Math" panose="02040503050406030204" pitchFamily="18" charset="0"/>
                                  </a:rPr>
                                  <m:t>0</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𝑘</m:t>
                                </m:r>
                                <m:r>
                                  <a:rPr lang="en-US" b="0" i="1" dirty="0" smtClean="0">
                                    <a:latin typeface="Cambria Math" panose="02040503050406030204" pitchFamily="18" charset="0"/>
                                    <a:ea typeface="Cambria Math" panose="02040503050406030204" pitchFamily="18" charset="0"/>
                                  </a:rPr>
                                  <m:t>≤7</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dirty="0"/>
                        </a:p>
                      </a:txBody>
                      <a:tcPr/>
                    </a:tc>
                    <a:tc gridSpan="4">
                      <a:txBody>
                        <a:bodyPr/>
                        <a:lstStyle/>
                        <a:p>
                          <a:pPr algn="ctr"/>
                          <a14:m>
                            <m:oMathPara xmlns:m="http://schemas.openxmlformats.org/officeDocument/2006/math">
                              <m:oMath>
                                <m:r>
                                  <a:rPr lang="en-US" b="0" i="1" dirty="0" smtClean="0">
                                    <a:latin typeface="Cambria Math" panose="02040503050406030204" pitchFamily="18" charset="0"/>
                                  </a:rPr>
                                  <m:t>16</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𝑚</m:t>
                                </m:r>
                                <m:r>
                                  <a:rPr lang="en-US" b="0" i="1" dirty="0" smtClean="0">
                                    <a:latin typeface="Cambria Math" panose="02040503050406030204" pitchFamily="18" charset="0"/>
                                    <a:ea typeface="Cambria Math" panose="02040503050406030204" pitchFamily="18" charset="0"/>
                                  </a:rPr>
                                  <m:t>≤31</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275441146"/>
                      </a:ext>
                    </a:extLst>
                  </a:tr>
                </a:tbl>
              </a:graphicData>
            </a:graphic>
          </p:graphicFrame>
        </mc:Choice>
        <mc:Fallback xmlns="">
          <p:graphicFrame>
            <p:nvGraphicFramePr>
              <p:cNvPr id="3" name="Table 3">
                <a:extLst>
                  <a:ext uri="{FF2B5EF4-FFF2-40B4-BE49-F238E27FC236}">
                    <a16:creationId xmlns:a16="http://schemas.microsoft.com/office/drawing/2014/main" id="{A718FBAE-9777-4BCA-9C34-44C3D616D2A2}"/>
                  </a:ext>
                </a:extLst>
              </p:cNvPr>
              <p:cNvGraphicFramePr>
                <a:graphicFrameLocks noGrp="1"/>
              </p:cNvGraphicFramePr>
              <p:nvPr>
                <p:extLst>
                  <p:ext uri="{D42A27DB-BD31-4B8C-83A1-F6EECF244321}">
                    <p14:modId xmlns:p14="http://schemas.microsoft.com/office/powerpoint/2010/main" val="1767973159"/>
                  </p:ext>
                </p:extLst>
              </p:nvPr>
            </p:nvGraphicFramePr>
            <p:xfrm>
              <a:off x="2953931" y="3571535"/>
              <a:ext cx="6096000" cy="741680"/>
            </p:xfrm>
            <a:graphic>
              <a:graphicData uri="http://schemas.openxmlformats.org/drawingml/2006/table">
                <a:tbl>
                  <a:tblPr firstRow="1" bandRow="1">
                    <a:tableStyleId>{073A0DAA-6AF3-43AB-8588-CEC1D06C72B9}</a:tableStyleId>
                  </a:tblPr>
                  <a:tblGrid>
                    <a:gridCol w="762000">
                      <a:extLst>
                        <a:ext uri="{9D8B030D-6E8A-4147-A177-3AD203B41FA5}">
                          <a16:colId xmlns:a16="http://schemas.microsoft.com/office/drawing/2014/main" val="2940897065"/>
                        </a:ext>
                      </a:extLst>
                    </a:gridCol>
                    <a:gridCol w="762000">
                      <a:extLst>
                        <a:ext uri="{9D8B030D-6E8A-4147-A177-3AD203B41FA5}">
                          <a16:colId xmlns:a16="http://schemas.microsoft.com/office/drawing/2014/main" val="2765758070"/>
                        </a:ext>
                      </a:extLst>
                    </a:gridCol>
                    <a:gridCol w="762000">
                      <a:extLst>
                        <a:ext uri="{9D8B030D-6E8A-4147-A177-3AD203B41FA5}">
                          <a16:colId xmlns:a16="http://schemas.microsoft.com/office/drawing/2014/main" val="1732806981"/>
                        </a:ext>
                      </a:extLst>
                    </a:gridCol>
                    <a:gridCol w="762000">
                      <a:extLst>
                        <a:ext uri="{9D8B030D-6E8A-4147-A177-3AD203B41FA5}">
                          <a16:colId xmlns:a16="http://schemas.microsoft.com/office/drawing/2014/main" val="1840983673"/>
                        </a:ext>
                      </a:extLst>
                    </a:gridCol>
                    <a:gridCol w="762000">
                      <a:extLst>
                        <a:ext uri="{9D8B030D-6E8A-4147-A177-3AD203B41FA5}">
                          <a16:colId xmlns:a16="http://schemas.microsoft.com/office/drawing/2014/main" val="115014203"/>
                        </a:ext>
                      </a:extLst>
                    </a:gridCol>
                    <a:gridCol w="762000">
                      <a:extLst>
                        <a:ext uri="{9D8B030D-6E8A-4147-A177-3AD203B41FA5}">
                          <a16:colId xmlns:a16="http://schemas.microsoft.com/office/drawing/2014/main" val="1331868188"/>
                        </a:ext>
                      </a:extLst>
                    </a:gridCol>
                    <a:gridCol w="762000">
                      <a:extLst>
                        <a:ext uri="{9D8B030D-6E8A-4147-A177-3AD203B41FA5}">
                          <a16:colId xmlns:a16="http://schemas.microsoft.com/office/drawing/2014/main" val="399389003"/>
                        </a:ext>
                      </a:extLst>
                    </a:gridCol>
                    <a:gridCol w="762000">
                      <a:extLst>
                        <a:ext uri="{9D8B030D-6E8A-4147-A177-3AD203B41FA5}">
                          <a16:colId xmlns:a16="http://schemas.microsoft.com/office/drawing/2014/main" val="1662699916"/>
                        </a:ext>
                      </a:extLst>
                    </a:gridCol>
                  </a:tblGrid>
                  <a:tr h="370840">
                    <a:tc>
                      <a:txBody>
                        <a:bodyPr/>
                        <a:lstStyle/>
                        <a:p>
                          <a:pPr algn="ctr"/>
                          <a:r>
                            <a:rPr lang="en-US" b="0" dirty="0">
                              <a:solidFill>
                                <a:sysClr val="windowText" lastClr="000000"/>
                              </a:solidFill>
                            </a:rPr>
                            <a:t>7</a:t>
                          </a:r>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ysClr val="windowText" lastClr="000000"/>
                              </a:solidFill>
                            </a:rPr>
                            <a:t>6</a:t>
                          </a:r>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b="0">
                            <a:solidFill>
                              <a:sysClr val="windowText" lastClr="000000"/>
                            </a:solidFill>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lang="en-US" b="0" dirty="0">
                              <a:solidFill>
                                <a:sysClr val="windowText" lastClr="000000"/>
                              </a:solidFill>
                            </a:rPr>
                            <a:t>4</a:t>
                          </a:r>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ysClr val="windowText" lastClr="000000"/>
                              </a:solidFill>
                            </a:rPr>
                            <a:t>3</a:t>
                          </a:r>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b="0">
                            <a:solidFill>
                              <a:sysClr val="windowText" lastClr="000000"/>
                            </a:solidFill>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b="0">
                            <a:solidFill>
                              <a:sysClr val="windowText" lastClr="000000"/>
                            </a:solidFill>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lang="en-US" b="0" dirty="0">
                              <a:solidFill>
                                <a:sysClr val="windowText" lastClr="000000"/>
                              </a:solidFill>
                            </a:rPr>
                            <a:t>0</a:t>
                          </a:r>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8362884"/>
                      </a:ext>
                    </a:extLst>
                  </a:tr>
                  <a:tr h="370840">
                    <a:tc>
                      <a:txBody>
                        <a:bodyPr/>
                        <a:lstStyle/>
                        <a:p>
                          <a:pPr algn="ctr"/>
                          <a:r>
                            <a:rPr lang="en-US" dirty="0"/>
                            <a:t>sign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3511" t="-109836" r="-133511" b="-24590"/>
                          </a:stretch>
                        </a:blipFill>
                      </a:tcPr>
                    </a:tc>
                    <a:tc hMerge="1">
                      <a:txBody>
                        <a:bodyPr/>
                        <a:lstStyle/>
                        <a:p>
                          <a:endParaRPr lang="en-US"/>
                        </a:p>
                      </a:txBody>
                      <a:tcPr/>
                    </a:tc>
                    <a:tc hMerge="1">
                      <a:txBody>
                        <a:bodyPr/>
                        <a:lstStyle/>
                        <a:p>
                          <a:endParaRPr lang="en-US" dirty="0"/>
                        </a:p>
                      </a:txBody>
                      <a:tcPr/>
                    </a:tc>
                    <a:tc gridSpan="4">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400" t="-109836" r="-400" b="-24590"/>
                          </a:stretch>
                        </a:blipFill>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275441146"/>
                      </a:ext>
                    </a:extLst>
                  </a:tr>
                </a:tbl>
              </a:graphicData>
            </a:graphic>
          </p:graphicFrame>
        </mc:Fallback>
      </mc:AlternateContent>
    </p:spTree>
    <p:extLst>
      <p:ext uri="{BB962C8B-B14F-4D97-AF65-F5344CB8AC3E}">
        <p14:creationId xmlns:p14="http://schemas.microsoft.com/office/powerpoint/2010/main" val="42943494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0526" y="763323"/>
            <a:ext cx="6527074" cy="732604"/>
          </a:xfrm>
        </p:spPr>
        <p:txBody>
          <a:bodyPr>
            <a:normAutofit/>
          </a:bodyPr>
          <a:lstStyle/>
          <a:p>
            <a:r>
              <a:rPr lang="en-US" dirty="0"/>
              <a:t>VMOV Immediate Constants</a:t>
            </a:r>
          </a:p>
        </p:txBody>
      </p:sp>
      <p:graphicFrame>
        <p:nvGraphicFramePr>
          <p:cNvPr id="6" name="Table 5"/>
          <p:cNvGraphicFramePr>
            <a:graphicFrameLocks noGrp="1"/>
          </p:cNvGraphicFramePr>
          <p:nvPr/>
        </p:nvGraphicFramePr>
        <p:xfrm>
          <a:off x="880083" y="1588770"/>
          <a:ext cx="8229602" cy="4468559"/>
        </p:xfrm>
        <a:graphic>
          <a:graphicData uri="http://schemas.openxmlformats.org/drawingml/2006/table">
            <a:tbl>
              <a:tblPr firstRow="1" firstCol="1" bandRow="1">
                <a:tableStyleId>{5C22544A-7EE6-4342-B048-85BDC9FD1C3A}</a:tableStyleId>
              </a:tblPr>
              <a:tblGrid>
                <a:gridCol w="1501843">
                  <a:extLst>
                    <a:ext uri="{9D8B030D-6E8A-4147-A177-3AD203B41FA5}">
                      <a16:colId xmlns:a16="http://schemas.microsoft.com/office/drawing/2014/main" val="3297298909"/>
                    </a:ext>
                  </a:extLst>
                </a:gridCol>
                <a:gridCol w="1374146">
                  <a:extLst>
                    <a:ext uri="{9D8B030D-6E8A-4147-A177-3AD203B41FA5}">
                      <a16:colId xmlns:a16="http://schemas.microsoft.com/office/drawing/2014/main" val="1581116532"/>
                    </a:ext>
                  </a:extLst>
                </a:gridCol>
                <a:gridCol w="1195089">
                  <a:extLst>
                    <a:ext uri="{9D8B030D-6E8A-4147-A177-3AD203B41FA5}">
                      <a16:colId xmlns:a16="http://schemas.microsoft.com/office/drawing/2014/main" val="4262004061"/>
                    </a:ext>
                  </a:extLst>
                </a:gridCol>
                <a:gridCol w="999377">
                  <a:extLst>
                    <a:ext uri="{9D8B030D-6E8A-4147-A177-3AD203B41FA5}">
                      <a16:colId xmlns:a16="http://schemas.microsoft.com/office/drawing/2014/main" val="501001571"/>
                    </a:ext>
                  </a:extLst>
                </a:gridCol>
                <a:gridCol w="874456">
                  <a:extLst>
                    <a:ext uri="{9D8B030D-6E8A-4147-A177-3AD203B41FA5}">
                      <a16:colId xmlns:a16="http://schemas.microsoft.com/office/drawing/2014/main" val="2742649834"/>
                    </a:ext>
                  </a:extLst>
                </a:gridCol>
                <a:gridCol w="749534">
                  <a:extLst>
                    <a:ext uri="{9D8B030D-6E8A-4147-A177-3AD203B41FA5}">
                      <a16:colId xmlns:a16="http://schemas.microsoft.com/office/drawing/2014/main" val="3645509685"/>
                    </a:ext>
                  </a:extLst>
                </a:gridCol>
                <a:gridCol w="749534">
                  <a:extLst>
                    <a:ext uri="{9D8B030D-6E8A-4147-A177-3AD203B41FA5}">
                      <a16:colId xmlns:a16="http://schemas.microsoft.com/office/drawing/2014/main" val="2030785173"/>
                    </a:ext>
                  </a:extLst>
                </a:gridCol>
                <a:gridCol w="785623">
                  <a:extLst>
                    <a:ext uri="{9D8B030D-6E8A-4147-A177-3AD203B41FA5}">
                      <a16:colId xmlns:a16="http://schemas.microsoft.com/office/drawing/2014/main" val="1889719348"/>
                    </a:ext>
                  </a:extLst>
                </a:gridCol>
              </a:tblGrid>
              <a:tr h="4286250">
                <a:tc>
                  <a:txBody>
                    <a:bodyPr/>
                    <a:lstStyle/>
                    <a:p>
                      <a:pPr marL="0" marR="0">
                        <a:lnSpc>
                          <a:spcPct val="115000"/>
                        </a:lnSpc>
                        <a:spcBef>
                          <a:spcPts val="0"/>
                        </a:spcBef>
                        <a:spcAft>
                          <a:spcPts val="0"/>
                        </a:spcAft>
                      </a:pPr>
                      <a:r>
                        <a:rPr lang="en-US" sz="1600">
                          <a:solidFill>
                            <a:schemeClr val="tx1"/>
                          </a:solidFill>
                          <a:effectLst/>
                        </a:rPr>
                        <a:t>0.125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0.1328125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0.140625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0.1484375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0.15625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0.1640625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0.171875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0.1796875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0.1875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0.1953125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0.203125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0.2109375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0.21875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0.2265625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0.234375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0.2421875</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36830" marT="0" marB="0">
                    <a:noFill/>
                  </a:tcPr>
                </a:tc>
                <a:tc>
                  <a:txBody>
                    <a:bodyPr/>
                    <a:lstStyle/>
                    <a:p>
                      <a:pPr marL="0" marR="0">
                        <a:lnSpc>
                          <a:spcPct val="115000"/>
                        </a:lnSpc>
                        <a:spcBef>
                          <a:spcPts val="0"/>
                        </a:spcBef>
                        <a:spcAft>
                          <a:spcPts val="0"/>
                        </a:spcAft>
                      </a:pPr>
                      <a:r>
                        <a:rPr lang="en-US" sz="1600" dirty="0">
                          <a:solidFill>
                            <a:schemeClr val="tx1"/>
                          </a:solidFill>
                          <a:effectLst/>
                        </a:rPr>
                        <a:t>0.25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0.265625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0.28125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0.296875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0.3125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0.328125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0.34375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0.359375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0.375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0.390625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0.40625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0.421875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0.4375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0.453125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0.46875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0.484375</a:t>
                      </a:r>
                      <a:endPar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36830" marT="0" marB="0">
                    <a:noFill/>
                  </a:tcPr>
                </a:tc>
                <a:tc>
                  <a:txBody>
                    <a:bodyPr/>
                    <a:lstStyle/>
                    <a:p>
                      <a:pPr marL="0" marR="0">
                        <a:lnSpc>
                          <a:spcPct val="115000"/>
                        </a:lnSpc>
                        <a:spcBef>
                          <a:spcPts val="0"/>
                        </a:spcBef>
                        <a:spcAft>
                          <a:spcPts val="0"/>
                        </a:spcAft>
                      </a:pPr>
                      <a:r>
                        <a:rPr lang="en-US" sz="1600">
                          <a:solidFill>
                            <a:schemeClr val="tx1"/>
                          </a:solidFill>
                          <a:effectLst/>
                        </a:rPr>
                        <a:t>0.5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0.53125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0.5625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0.59375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0.625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0.65625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0.6875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0.71875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0.78125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0.8125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0.84375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0.875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0.90625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0.9375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0.96875</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36830" marT="0" marB="0">
                    <a:noFill/>
                  </a:tcPr>
                </a:tc>
                <a:tc>
                  <a:txBody>
                    <a:bodyPr/>
                    <a:lstStyle/>
                    <a:p>
                      <a:pPr marL="0" marR="0">
                        <a:lnSpc>
                          <a:spcPct val="115000"/>
                        </a:lnSpc>
                        <a:spcBef>
                          <a:spcPts val="0"/>
                        </a:spcBef>
                        <a:spcAft>
                          <a:spcPts val="0"/>
                        </a:spcAft>
                      </a:pPr>
                      <a:r>
                        <a:rPr lang="en-US" sz="1600">
                          <a:solidFill>
                            <a:schemeClr val="tx1"/>
                          </a:solidFill>
                          <a:effectLst/>
                        </a:rPr>
                        <a:t>1.0</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1.0625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1.125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1.1875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1.3125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1.375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1.4375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1.5625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1.625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1.6875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1.8125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1.875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1.9375</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36830" marT="0" marB="0">
                    <a:noFill/>
                  </a:tcPr>
                </a:tc>
                <a:tc>
                  <a:txBody>
                    <a:bodyPr/>
                    <a:lstStyle/>
                    <a:p>
                      <a:pPr marL="0" marR="0">
                        <a:lnSpc>
                          <a:spcPct val="115000"/>
                        </a:lnSpc>
                        <a:spcBef>
                          <a:spcPts val="0"/>
                        </a:spcBef>
                        <a:spcAft>
                          <a:spcPts val="0"/>
                        </a:spcAft>
                      </a:pPr>
                      <a:r>
                        <a:rPr lang="en-US" sz="1600" dirty="0">
                          <a:solidFill>
                            <a:schemeClr val="tx1"/>
                          </a:solidFill>
                          <a:effectLst/>
                        </a:rPr>
                        <a:t>2.0</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2.125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2.25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2.375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2.5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2.625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2.75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2.875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3.0</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3.125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3.25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3.375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3.5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3.625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3.75</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3.875</a:t>
                      </a:r>
                      <a:endPar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36830" marT="0" marB="0">
                    <a:noFill/>
                  </a:tcPr>
                </a:tc>
                <a:tc>
                  <a:txBody>
                    <a:bodyPr/>
                    <a:lstStyle/>
                    <a:p>
                      <a:pPr marL="0" marR="0">
                        <a:lnSpc>
                          <a:spcPct val="115000"/>
                        </a:lnSpc>
                        <a:spcBef>
                          <a:spcPts val="0"/>
                        </a:spcBef>
                        <a:spcAft>
                          <a:spcPts val="0"/>
                        </a:spcAft>
                      </a:pPr>
                      <a:r>
                        <a:rPr lang="en-US" sz="1600">
                          <a:solidFill>
                            <a:schemeClr val="tx1"/>
                          </a:solidFill>
                          <a:effectLst/>
                        </a:rPr>
                        <a:t>4.0</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4.25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4.5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4.75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5.0</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5.25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5.5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5.75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6.0</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6.25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6.5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6.75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7.0</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7.25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7.5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7.75</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36830" marT="0" marB="0">
                    <a:noFill/>
                  </a:tcPr>
                </a:tc>
                <a:tc>
                  <a:txBody>
                    <a:bodyPr/>
                    <a:lstStyle/>
                    <a:p>
                      <a:pPr marL="0" marR="0">
                        <a:lnSpc>
                          <a:spcPct val="115000"/>
                        </a:lnSpc>
                        <a:spcBef>
                          <a:spcPts val="0"/>
                        </a:spcBef>
                        <a:spcAft>
                          <a:spcPts val="0"/>
                        </a:spcAft>
                      </a:pPr>
                      <a:r>
                        <a:rPr lang="en-US" sz="1600">
                          <a:solidFill>
                            <a:schemeClr val="tx1"/>
                          </a:solidFill>
                          <a:effectLst/>
                        </a:rPr>
                        <a:t>8.0</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8.5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9.0</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9.5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10.0</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10.5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11.0</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11.5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12.0</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12.5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13.0</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13.5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14.0</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14.5</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15.0</a:t>
                      </a:r>
                      <a:endParaRPr lang="en-US" sz="2000">
                        <a:solidFill>
                          <a:schemeClr val="tx1"/>
                        </a:solidFill>
                        <a:effectLst/>
                      </a:endParaRPr>
                    </a:p>
                    <a:p>
                      <a:pPr marL="0" marR="0">
                        <a:lnSpc>
                          <a:spcPct val="115000"/>
                        </a:lnSpc>
                        <a:spcBef>
                          <a:spcPts val="0"/>
                        </a:spcBef>
                        <a:spcAft>
                          <a:spcPts val="0"/>
                        </a:spcAft>
                      </a:pPr>
                      <a:r>
                        <a:rPr lang="en-US" sz="1600">
                          <a:solidFill>
                            <a:schemeClr val="tx1"/>
                          </a:solidFill>
                          <a:effectLst/>
                        </a:rPr>
                        <a:t>15.5</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36830" marT="0" marB="0">
                    <a:noFill/>
                  </a:tcPr>
                </a:tc>
                <a:tc>
                  <a:txBody>
                    <a:bodyPr/>
                    <a:lstStyle/>
                    <a:p>
                      <a:pPr marL="0" marR="0">
                        <a:lnSpc>
                          <a:spcPct val="115000"/>
                        </a:lnSpc>
                        <a:spcBef>
                          <a:spcPts val="0"/>
                        </a:spcBef>
                        <a:spcAft>
                          <a:spcPts val="0"/>
                        </a:spcAft>
                      </a:pPr>
                      <a:r>
                        <a:rPr lang="en-US" sz="1600" dirty="0">
                          <a:solidFill>
                            <a:schemeClr val="tx1"/>
                          </a:solidFill>
                          <a:effectLst/>
                        </a:rPr>
                        <a:t>16.0</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17.0</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18.0</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19.0</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20.0</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21.0</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22.0</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23.0</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24.0</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25.0</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26.0</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27.0</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28.0</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29.0</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30.0</a:t>
                      </a:r>
                      <a:endParaRPr lang="en-US" sz="2000" dirty="0">
                        <a:solidFill>
                          <a:schemeClr val="tx1"/>
                        </a:solidFill>
                        <a:effectLst/>
                      </a:endParaRPr>
                    </a:p>
                    <a:p>
                      <a:pPr marL="0" marR="0">
                        <a:lnSpc>
                          <a:spcPct val="115000"/>
                        </a:lnSpc>
                        <a:spcBef>
                          <a:spcPts val="0"/>
                        </a:spcBef>
                        <a:spcAft>
                          <a:spcPts val="0"/>
                        </a:spcAft>
                      </a:pPr>
                      <a:r>
                        <a:rPr lang="en-US" sz="1600" dirty="0">
                          <a:solidFill>
                            <a:schemeClr val="tx1"/>
                          </a:solidFill>
                          <a:effectLst/>
                        </a:rPr>
                        <a:t>31.0</a:t>
                      </a:r>
                      <a:endPar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36830" marT="0" marB="0">
                    <a:noFill/>
                  </a:tcPr>
                </a:tc>
                <a:extLst>
                  <a:ext uri="{0D108BD9-81ED-4DB2-BD59-A6C34878D82A}">
                    <a16:rowId xmlns:a16="http://schemas.microsoft.com/office/drawing/2014/main" val="248809375"/>
                  </a:ext>
                </a:extLst>
              </a:tr>
            </a:tbl>
          </a:graphicData>
        </a:graphic>
      </p:graphicFrame>
      <p:sp>
        <p:nvSpPr>
          <p:cNvPr id="3" name="Rectangle 2"/>
          <p:cNvSpPr/>
          <p:nvPr/>
        </p:nvSpPr>
        <p:spPr>
          <a:xfrm>
            <a:off x="4931875" y="1588771"/>
            <a:ext cx="3872385" cy="308499"/>
          </a:xfrm>
          <a:prstGeom prst="rect">
            <a:avLst/>
          </a:prstGeom>
          <a:gradFill flip="none" rotWithShape="1">
            <a:gsLst>
              <a:gs pos="0">
                <a:schemeClr val="accent1">
                  <a:shade val="51000"/>
                  <a:satMod val="130000"/>
                  <a:alpha val="34000"/>
                </a:schemeClr>
              </a:gs>
              <a:gs pos="80000">
                <a:schemeClr val="accent1">
                  <a:shade val="93000"/>
                  <a:satMod val="130000"/>
                  <a:alpha val="34000"/>
                </a:schemeClr>
              </a:gs>
              <a:gs pos="100000">
                <a:schemeClr val="accent1">
                  <a:shade val="94000"/>
                  <a:satMod val="135000"/>
                  <a:alpha val="34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Rectangle 3"/>
          <p:cNvSpPr/>
          <p:nvPr/>
        </p:nvSpPr>
        <p:spPr>
          <a:xfrm>
            <a:off x="8286895" y="1897270"/>
            <a:ext cx="517364" cy="4178155"/>
          </a:xfrm>
          <a:prstGeom prst="rect">
            <a:avLst/>
          </a:prstGeom>
          <a:gradFill flip="none" rotWithShape="1">
            <a:gsLst>
              <a:gs pos="0">
                <a:schemeClr val="accent1">
                  <a:shade val="51000"/>
                  <a:satMod val="130000"/>
                  <a:alpha val="30000"/>
                </a:schemeClr>
              </a:gs>
              <a:gs pos="80000">
                <a:schemeClr val="accent1">
                  <a:shade val="93000"/>
                  <a:satMod val="130000"/>
                  <a:alpha val="30000"/>
                </a:schemeClr>
              </a:gs>
              <a:gs pos="100000">
                <a:schemeClr val="accent1">
                  <a:shade val="94000"/>
                  <a:satMod val="135000"/>
                  <a:alpha val="3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p:cNvSpPr/>
          <p:nvPr/>
        </p:nvSpPr>
        <p:spPr>
          <a:xfrm>
            <a:off x="3724695" y="1588771"/>
            <a:ext cx="438975" cy="308499"/>
          </a:xfrm>
          <a:prstGeom prst="rect">
            <a:avLst/>
          </a:prstGeom>
          <a:solidFill>
            <a:srgbClr val="FF0000">
              <a:alpha val="38000"/>
            </a:srgb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Rectangle 6"/>
          <p:cNvSpPr/>
          <p:nvPr/>
        </p:nvSpPr>
        <p:spPr>
          <a:xfrm>
            <a:off x="2345060" y="1588771"/>
            <a:ext cx="548719" cy="308499"/>
          </a:xfrm>
          <a:prstGeom prst="rect">
            <a:avLst/>
          </a:prstGeom>
          <a:solidFill>
            <a:srgbClr val="008000">
              <a:alpha val="28000"/>
            </a:srgb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Rectangle 7"/>
          <p:cNvSpPr/>
          <p:nvPr/>
        </p:nvSpPr>
        <p:spPr>
          <a:xfrm>
            <a:off x="880084" y="1588771"/>
            <a:ext cx="587027" cy="308499"/>
          </a:xfrm>
          <a:prstGeom prst="rect">
            <a:avLst/>
          </a:prstGeom>
          <a:solidFill>
            <a:srgbClr val="CCFFCC">
              <a:alpha val="37000"/>
            </a:srgb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Rectangle 8"/>
          <p:cNvSpPr/>
          <p:nvPr/>
        </p:nvSpPr>
        <p:spPr>
          <a:xfrm>
            <a:off x="7526996" y="2193286"/>
            <a:ext cx="442441" cy="197223"/>
          </a:xfrm>
          <a:prstGeom prst="rect">
            <a:avLst/>
          </a:prstGeom>
          <a:gradFill flip="none" rotWithShape="1">
            <a:gsLst>
              <a:gs pos="0">
                <a:schemeClr val="accent1">
                  <a:shade val="51000"/>
                  <a:satMod val="130000"/>
                  <a:alpha val="34000"/>
                </a:schemeClr>
              </a:gs>
              <a:gs pos="80000">
                <a:schemeClr val="accent1">
                  <a:shade val="93000"/>
                  <a:satMod val="130000"/>
                  <a:alpha val="34000"/>
                </a:schemeClr>
              </a:gs>
              <a:gs pos="100000">
                <a:schemeClr val="accent1">
                  <a:shade val="94000"/>
                  <a:satMod val="135000"/>
                  <a:alpha val="34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9"/>
          <p:cNvSpPr/>
          <p:nvPr/>
        </p:nvSpPr>
        <p:spPr>
          <a:xfrm>
            <a:off x="7579139" y="2710590"/>
            <a:ext cx="442441" cy="265692"/>
          </a:xfrm>
          <a:prstGeom prst="rect">
            <a:avLst/>
          </a:prstGeom>
          <a:gradFill flip="none" rotWithShape="1">
            <a:gsLst>
              <a:gs pos="0">
                <a:schemeClr val="accent1">
                  <a:shade val="51000"/>
                  <a:satMod val="130000"/>
                  <a:alpha val="34000"/>
                </a:schemeClr>
              </a:gs>
              <a:gs pos="80000">
                <a:schemeClr val="accent1">
                  <a:shade val="93000"/>
                  <a:satMod val="130000"/>
                  <a:alpha val="34000"/>
                </a:schemeClr>
              </a:gs>
              <a:gs pos="100000">
                <a:schemeClr val="accent1">
                  <a:shade val="94000"/>
                  <a:satMod val="135000"/>
                  <a:alpha val="34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Rectangle 10"/>
          <p:cNvSpPr/>
          <p:nvPr/>
        </p:nvSpPr>
        <p:spPr>
          <a:xfrm flipV="1">
            <a:off x="7575128" y="3276953"/>
            <a:ext cx="442441" cy="283623"/>
          </a:xfrm>
          <a:prstGeom prst="rect">
            <a:avLst/>
          </a:prstGeom>
          <a:gradFill flip="none" rotWithShape="1">
            <a:gsLst>
              <a:gs pos="0">
                <a:schemeClr val="accent1">
                  <a:shade val="51000"/>
                  <a:satMod val="130000"/>
                  <a:alpha val="34000"/>
                </a:schemeClr>
              </a:gs>
              <a:gs pos="80000">
                <a:schemeClr val="accent1">
                  <a:shade val="93000"/>
                  <a:satMod val="130000"/>
                  <a:alpha val="34000"/>
                </a:schemeClr>
              </a:gs>
              <a:gs pos="100000">
                <a:schemeClr val="accent1">
                  <a:shade val="94000"/>
                  <a:satMod val="135000"/>
                  <a:alpha val="34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Rectangle 11"/>
          <p:cNvSpPr/>
          <p:nvPr/>
        </p:nvSpPr>
        <p:spPr>
          <a:xfrm flipV="1">
            <a:off x="7575128" y="3844535"/>
            <a:ext cx="442441" cy="283623"/>
          </a:xfrm>
          <a:prstGeom prst="rect">
            <a:avLst/>
          </a:prstGeom>
          <a:gradFill flip="none" rotWithShape="1">
            <a:gsLst>
              <a:gs pos="0">
                <a:schemeClr val="accent1">
                  <a:shade val="51000"/>
                  <a:satMod val="130000"/>
                  <a:alpha val="34000"/>
                </a:schemeClr>
              </a:gs>
              <a:gs pos="80000">
                <a:schemeClr val="accent1">
                  <a:shade val="93000"/>
                  <a:satMod val="130000"/>
                  <a:alpha val="34000"/>
                </a:schemeClr>
              </a:gs>
              <a:gs pos="100000">
                <a:schemeClr val="accent1">
                  <a:shade val="94000"/>
                  <a:satMod val="135000"/>
                  <a:alpha val="34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Rectangle 12"/>
          <p:cNvSpPr/>
          <p:nvPr/>
        </p:nvSpPr>
        <p:spPr>
          <a:xfrm flipV="1">
            <a:off x="6799880" y="2719828"/>
            <a:ext cx="442441" cy="283623"/>
          </a:xfrm>
          <a:prstGeom prst="rect">
            <a:avLst/>
          </a:prstGeom>
          <a:gradFill flip="none" rotWithShape="1">
            <a:gsLst>
              <a:gs pos="0">
                <a:schemeClr val="accent1">
                  <a:shade val="51000"/>
                  <a:satMod val="130000"/>
                  <a:alpha val="34000"/>
                </a:schemeClr>
              </a:gs>
              <a:gs pos="80000">
                <a:schemeClr val="accent1">
                  <a:shade val="93000"/>
                  <a:satMod val="130000"/>
                  <a:alpha val="34000"/>
                </a:schemeClr>
              </a:gs>
              <a:gs pos="100000">
                <a:schemeClr val="accent1">
                  <a:shade val="94000"/>
                  <a:satMod val="135000"/>
                  <a:alpha val="34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Rectangle 13"/>
          <p:cNvSpPr/>
          <p:nvPr/>
        </p:nvSpPr>
        <p:spPr>
          <a:xfrm flipV="1">
            <a:off x="6821668" y="3832099"/>
            <a:ext cx="442441" cy="283623"/>
          </a:xfrm>
          <a:prstGeom prst="rect">
            <a:avLst/>
          </a:prstGeom>
          <a:gradFill flip="none" rotWithShape="1">
            <a:gsLst>
              <a:gs pos="0">
                <a:schemeClr val="accent1">
                  <a:shade val="51000"/>
                  <a:satMod val="130000"/>
                  <a:alpha val="34000"/>
                </a:schemeClr>
              </a:gs>
              <a:gs pos="80000">
                <a:schemeClr val="accent1">
                  <a:shade val="93000"/>
                  <a:satMod val="130000"/>
                  <a:alpha val="34000"/>
                </a:schemeClr>
              </a:gs>
              <a:gs pos="100000">
                <a:schemeClr val="accent1">
                  <a:shade val="94000"/>
                  <a:satMod val="135000"/>
                  <a:alpha val="34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Rectangle 14"/>
          <p:cNvSpPr/>
          <p:nvPr/>
        </p:nvSpPr>
        <p:spPr>
          <a:xfrm flipV="1">
            <a:off x="6793198" y="4932337"/>
            <a:ext cx="442441" cy="283623"/>
          </a:xfrm>
          <a:prstGeom prst="rect">
            <a:avLst/>
          </a:prstGeom>
          <a:gradFill flip="none" rotWithShape="1">
            <a:gsLst>
              <a:gs pos="0">
                <a:schemeClr val="accent1">
                  <a:shade val="51000"/>
                  <a:satMod val="130000"/>
                  <a:alpha val="34000"/>
                </a:schemeClr>
              </a:gs>
              <a:gs pos="80000">
                <a:schemeClr val="accent1">
                  <a:shade val="93000"/>
                  <a:satMod val="130000"/>
                  <a:alpha val="34000"/>
                </a:schemeClr>
              </a:gs>
              <a:gs pos="100000">
                <a:schemeClr val="accent1">
                  <a:shade val="94000"/>
                  <a:satMod val="135000"/>
                  <a:alpha val="34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Rectangle 15"/>
          <p:cNvSpPr/>
          <p:nvPr/>
        </p:nvSpPr>
        <p:spPr>
          <a:xfrm flipV="1">
            <a:off x="5929587" y="3832099"/>
            <a:ext cx="442441" cy="283623"/>
          </a:xfrm>
          <a:prstGeom prst="rect">
            <a:avLst/>
          </a:prstGeom>
          <a:gradFill flip="none" rotWithShape="1">
            <a:gsLst>
              <a:gs pos="0">
                <a:schemeClr val="accent1">
                  <a:shade val="51000"/>
                  <a:satMod val="130000"/>
                  <a:alpha val="34000"/>
                </a:schemeClr>
              </a:gs>
              <a:gs pos="80000">
                <a:schemeClr val="accent1">
                  <a:shade val="93000"/>
                  <a:satMod val="130000"/>
                  <a:alpha val="34000"/>
                </a:schemeClr>
              </a:gs>
              <a:gs pos="100000">
                <a:schemeClr val="accent1">
                  <a:shade val="94000"/>
                  <a:satMod val="135000"/>
                  <a:alpha val="34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7" name="Rectangle 16"/>
          <p:cNvSpPr/>
          <p:nvPr/>
        </p:nvSpPr>
        <p:spPr>
          <a:xfrm flipV="1">
            <a:off x="7585504" y="4386810"/>
            <a:ext cx="442441" cy="283623"/>
          </a:xfrm>
          <a:prstGeom prst="rect">
            <a:avLst/>
          </a:prstGeom>
          <a:gradFill flip="none" rotWithShape="1">
            <a:gsLst>
              <a:gs pos="0">
                <a:schemeClr val="accent1">
                  <a:shade val="51000"/>
                  <a:satMod val="130000"/>
                  <a:alpha val="34000"/>
                </a:schemeClr>
              </a:gs>
              <a:gs pos="80000">
                <a:schemeClr val="accent1">
                  <a:shade val="93000"/>
                  <a:satMod val="130000"/>
                  <a:alpha val="34000"/>
                </a:schemeClr>
              </a:gs>
              <a:gs pos="100000">
                <a:schemeClr val="accent1">
                  <a:shade val="94000"/>
                  <a:satMod val="135000"/>
                  <a:alpha val="34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Rectangle 17"/>
          <p:cNvSpPr/>
          <p:nvPr/>
        </p:nvSpPr>
        <p:spPr>
          <a:xfrm flipV="1">
            <a:off x="7577482" y="4959981"/>
            <a:ext cx="442441" cy="283623"/>
          </a:xfrm>
          <a:prstGeom prst="rect">
            <a:avLst/>
          </a:prstGeom>
          <a:gradFill flip="none" rotWithShape="1">
            <a:gsLst>
              <a:gs pos="0">
                <a:schemeClr val="accent1">
                  <a:shade val="51000"/>
                  <a:satMod val="130000"/>
                  <a:alpha val="34000"/>
                </a:schemeClr>
              </a:gs>
              <a:gs pos="80000">
                <a:schemeClr val="accent1">
                  <a:shade val="93000"/>
                  <a:satMod val="130000"/>
                  <a:alpha val="34000"/>
                </a:schemeClr>
              </a:gs>
              <a:gs pos="100000">
                <a:schemeClr val="accent1">
                  <a:shade val="94000"/>
                  <a:satMod val="135000"/>
                  <a:alpha val="34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 name="Rectangle 18"/>
          <p:cNvSpPr/>
          <p:nvPr/>
        </p:nvSpPr>
        <p:spPr>
          <a:xfrm flipV="1">
            <a:off x="7574413" y="5517704"/>
            <a:ext cx="442441" cy="283623"/>
          </a:xfrm>
          <a:prstGeom prst="rect">
            <a:avLst/>
          </a:prstGeom>
          <a:gradFill flip="none" rotWithShape="1">
            <a:gsLst>
              <a:gs pos="0">
                <a:schemeClr val="accent1">
                  <a:shade val="51000"/>
                  <a:satMod val="130000"/>
                  <a:alpha val="34000"/>
                </a:schemeClr>
              </a:gs>
              <a:gs pos="80000">
                <a:schemeClr val="accent1">
                  <a:shade val="93000"/>
                  <a:satMod val="130000"/>
                  <a:alpha val="34000"/>
                </a:schemeClr>
              </a:gs>
              <a:gs pos="100000">
                <a:schemeClr val="accent1">
                  <a:shade val="94000"/>
                  <a:satMod val="135000"/>
                  <a:alpha val="34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20" name="Group 19">
            <a:extLst>
              <a:ext uri="{FF2B5EF4-FFF2-40B4-BE49-F238E27FC236}">
                <a16:creationId xmlns:a16="http://schemas.microsoft.com/office/drawing/2014/main" id="{1F31EE0D-30EB-F747-9BC2-208CED69D78A}"/>
              </a:ext>
            </a:extLst>
          </p:cNvPr>
          <p:cNvGrpSpPr/>
          <p:nvPr/>
        </p:nvGrpSpPr>
        <p:grpSpPr>
          <a:xfrm>
            <a:off x="8908494" y="3099097"/>
            <a:ext cx="3123085" cy="1569660"/>
            <a:chOff x="1406484" y="4962819"/>
            <a:chExt cx="3876561" cy="1569660"/>
          </a:xfrm>
          <a:solidFill>
            <a:schemeClr val="accent4">
              <a:lumMod val="20000"/>
              <a:lumOff val="80000"/>
            </a:schemeClr>
          </a:solidFill>
        </p:grpSpPr>
        <p:sp>
          <p:nvSpPr>
            <p:cNvPr id="21" name="TextBox 20">
              <a:extLst>
                <a:ext uri="{FF2B5EF4-FFF2-40B4-BE49-F238E27FC236}">
                  <a16:creationId xmlns:a16="http://schemas.microsoft.com/office/drawing/2014/main" id="{6B392591-32F9-D74A-88F6-B91564514D30}"/>
                </a:ext>
              </a:extLst>
            </p:cNvPr>
            <p:cNvSpPr txBox="1"/>
            <p:nvPr/>
          </p:nvSpPr>
          <p:spPr>
            <a:xfrm>
              <a:off x="1406484" y="4962819"/>
              <a:ext cx="3876561" cy="1569660"/>
            </a:xfrm>
            <a:prstGeom prst="rect">
              <a:avLst/>
            </a:prstGeom>
            <a:grpFill/>
            <a:ln/>
          </p:spPr>
          <p:style>
            <a:lnRef idx="1">
              <a:schemeClr val="accent2"/>
            </a:lnRef>
            <a:fillRef idx="2">
              <a:schemeClr val="accent2"/>
            </a:fillRef>
            <a:effectRef idx="1">
              <a:schemeClr val="accent2"/>
            </a:effectRef>
            <a:fontRef idx="minor">
              <a:schemeClr val="dk1"/>
            </a:fontRef>
          </p:style>
          <p:txBody>
            <a:bodyPr wrap="square" tIns="91440" bIns="91440" rtlCol="0">
              <a:spAutoFit/>
            </a:bodyPr>
            <a:lstStyle/>
            <a:p>
              <a:pPr marL="1027113" marR="0" lvl="1"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VMOV works for constants equal to ±m × 2</a:t>
              </a:r>
              <a:r>
                <a:rPr kumimoji="0" lang="en-US" sz="1800" b="0" i="0" u="none" strike="noStrike" kern="1200" cap="none" spc="0" normalizeH="0" baseline="30000" noProof="0" dirty="0">
                  <a:ln>
                    <a:noFill/>
                  </a:ln>
                  <a:solidFill>
                    <a:srgbClr val="000000"/>
                  </a:solidFill>
                  <a:effectLst/>
                  <a:uLnTx/>
                  <a:uFillTx/>
                  <a:latin typeface="Arial" panose="020B0604020202020204"/>
                  <a:ea typeface="+mn-ea"/>
                  <a:cs typeface="+mn-cs"/>
                </a:rPr>
                <a:t>-k</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 </a:t>
              </a:r>
              <a:b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b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where 16 ≤ m ≤ 31         and  0 ≤ k ≤ 7</a:t>
              </a:r>
            </a:p>
          </p:txBody>
        </p:sp>
        <p:pic>
          <p:nvPicPr>
            <p:cNvPr id="22" name="Picture 4" descr="http://www.aamu.edu/campuslife/living-on-campus/residentialLife/SiteAssets/pages/default/Warning_sign.png">
              <a:extLst>
                <a:ext uri="{FF2B5EF4-FFF2-40B4-BE49-F238E27FC236}">
                  <a16:creationId xmlns:a16="http://schemas.microsoft.com/office/drawing/2014/main" id="{79AE5BB6-80AC-2743-BE3B-43B23D208F4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1444318" y="5053253"/>
              <a:ext cx="971826" cy="838200"/>
            </a:xfrm>
            <a:prstGeom prst="rect">
              <a:avLst/>
            </a:prstGeom>
            <a:grpFill/>
            <a:extLst>
              <a:ext uri="{909E8E84-426E-40dd-AFC4-6F175D3DCCD1}">
                <a14:hiddenFill xmlns:a14="http://schemas.microsoft.com/office/drawing/2010/main" xmlns="">
                  <a:solidFill>
                    <a:srgbClr val="FFFFFF"/>
                  </a:solidFill>
                </a14:hiddenFill>
              </a:ext>
            </a:extLst>
          </p:spPr>
        </p:pic>
      </p:grpSp>
      <p:sp>
        <p:nvSpPr>
          <p:cNvPr id="23" name="Rectangle 22">
            <a:extLst>
              <a:ext uri="{FF2B5EF4-FFF2-40B4-BE49-F238E27FC236}">
                <a16:creationId xmlns:a16="http://schemas.microsoft.com/office/drawing/2014/main" id="{D87E73F9-BDC3-1C42-88AE-5076F5C2AB9D}"/>
              </a:ext>
            </a:extLst>
          </p:cNvPr>
          <p:cNvSpPr/>
          <p:nvPr/>
        </p:nvSpPr>
        <p:spPr>
          <a:xfrm>
            <a:off x="4932686" y="1895735"/>
            <a:ext cx="734162" cy="237865"/>
          </a:xfrm>
          <a:prstGeom prst="rect">
            <a:avLst/>
          </a:prstGeom>
          <a:solidFill>
            <a:srgbClr val="FF0000">
              <a:alpha val="38000"/>
            </a:srgb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TextBox 23">
            <a:extLst>
              <a:ext uri="{FF2B5EF4-FFF2-40B4-BE49-F238E27FC236}">
                <a16:creationId xmlns:a16="http://schemas.microsoft.com/office/drawing/2014/main" id="{65553E73-F200-A740-91CA-64EF1554B60C}"/>
              </a:ext>
            </a:extLst>
          </p:cNvPr>
          <p:cNvSpPr txBox="1"/>
          <p:nvPr/>
        </p:nvSpPr>
        <p:spPr>
          <a:xfrm>
            <a:off x="2175510" y="6367549"/>
            <a:ext cx="448231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Arial" panose="020B0604020202020204"/>
                <a:ea typeface="+mn-ea"/>
                <a:cs typeface="+mn-cs"/>
              </a:rPr>
              <a:t>For m = 17 and k = 4 </a:t>
            </a:r>
            <a:r>
              <a:rPr kumimoji="0" lang="en-US" sz="1800" b="1" i="0" u="none" strike="noStrike" kern="1200" cap="none" spc="0" normalizeH="0" baseline="0" noProof="0" dirty="0">
                <a:ln>
                  <a:noFill/>
                </a:ln>
                <a:solidFill>
                  <a:srgbClr val="FF0000"/>
                </a:solidFill>
                <a:effectLst/>
                <a:uLnTx/>
                <a:uFillTx/>
                <a:latin typeface="Arial" panose="020B0604020202020204"/>
                <a:ea typeface="+mn-ea"/>
                <a:cs typeface="+mn-cs"/>
                <a:sym typeface="Wingdings" pitchFamily="2" charset="2"/>
              </a:rPr>
              <a:t> 17 x 2</a:t>
            </a:r>
            <a:r>
              <a:rPr kumimoji="0" lang="en-US" sz="1800" b="1" i="0" u="none" strike="noStrike" kern="1200" cap="none" spc="0" normalizeH="0" baseline="30000" noProof="0" dirty="0">
                <a:ln>
                  <a:noFill/>
                </a:ln>
                <a:solidFill>
                  <a:srgbClr val="FF0000"/>
                </a:solidFill>
                <a:effectLst/>
                <a:uLnTx/>
                <a:uFillTx/>
                <a:latin typeface="Arial" panose="020B0604020202020204"/>
                <a:ea typeface="+mn-ea"/>
                <a:cs typeface="+mn-cs"/>
                <a:sym typeface="Wingdings" pitchFamily="2" charset="2"/>
              </a:rPr>
              <a:t>-4 </a:t>
            </a:r>
            <a:r>
              <a:rPr kumimoji="0" lang="en-US" sz="1800" b="1" i="0" u="none" strike="noStrike" kern="1200" cap="none" spc="0" normalizeH="0" baseline="0" noProof="0" dirty="0">
                <a:ln>
                  <a:noFill/>
                </a:ln>
                <a:solidFill>
                  <a:srgbClr val="FF0000"/>
                </a:solidFill>
                <a:effectLst/>
                <a:uLnTx/>
                <a:uFillTx/>
                <a:latin typeface="Arial" panose="020B0604020202020204"/>
                <a:ea typeface="+mn-ea"/>
                <a:cs typeface="+mn-cs"/>
                <a:sym typeface="Wingdings" pitchFamily="2" charset="2"/>
              </a:rPr>
              <a:t>= 1.0625</a:t>
            </a:r>
            <a:endParaRPr kumimoji="0" lang="en-US" sz="1800" b="1" i="0" u="none" strike="noStrike" kern="1200" cap="none" spc="0" normalizeH="0" baseline="30000" noProof="0" dirty="0">
              <a:ln>
                <a:noFill/>
              </a:ln>
              <a:solidFill>
                <a:srgbClr val="FF0000"/>
              </a:solidFill>
              <a:effectLst/>
              <a:uLnTx/>
              <a:uFillTx/>
              <a:latin typeface="Arial" panose="020B0604020202020204"/>
              <a:ea typeface="+mn-ea"/>
              <a:cs typeface="+mn-cs"/>
            </a:endParaRPr>
          </a:p>
        </p:txBody>
      </p:sp>
      <p:sp>
        <p:nvSpPr>
          <p:cNvPr id="26" name="TextBox 25"/>
          <p:cNvSpPr txBox="1"/>
          <p:nvPr/>
        </p:nvSpPr>
        <p:spPr>
          <a:xfrm>
            <a:off x="7467599" y="890775"/>
            <a:ext cx="4384557" cy="461665"/>
          </a:xfrm>
          <a:prstGeom prst="rect">
            <a:avLst/>
          </a:prstGeom>
          <a:solidFill>
            <a:schemeClr val="accent3">
              <a:lumMod val="20000"/>
              <a:lumOff val="80000"/>
            </a:schemeClr>
          </a:solidFill>
          <a:ln/>
        </p:spPr>
        <p:style>
          <a:lnRef idx="1">
            <a:schemeClr val="accent2"/>
          </a:lnRef>
          <a:fillRef idx="2">
            <a:schemeClr val="accent2"/>
          </a:fillRef>
          <a:effectRef idx="1">
            <a:schemeClr val="accent2"/>
          </a:effectRef>
          <a:fontRef idx="minor">
            <a:schemeClr val="dk1"/>
          </a:fontRef>
        </p:style>
        <p:txBody>
          <a:bodyPr wrap="square" tIns="91440" bIns="91440" rtlCol="0">
            <a:spAutoFit/>
          </a:bodyPr>
          <a:lstStyle/>
          <a:p>
            <a:pPr marL="1027113" marR="0" lvl="1"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Visual Studio Example (VMOV)</a:t>
            </a:r>
          </a:p>
        </p:txBody>
      </p:sp>
    </p:spTree>
    <p:extLst>
      <p:ext uri="{BB962C8B-B14F-4D97-AF65-F5344CB8AC3E}">
        <p14:creationId xmlns:p14="http://schemas.microsoft.com/office/powerpoint/2010/main" val="35403880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6516" y="749193"/>
            <a:ext cx="6402747" cy="730692"/>
          </a:xfrm>
        </p:spPr>
        <p:txBody>
          <a:bodyPr>
            <a:normAutofit/>
          </a:bodyPr>
          <a:lstStyle/>
          <a:p>
            <a:r>
              <a:rPr lang="en-US" dirty="0"/>
              <a:t>Common VMOV </a:t>
            </a:r>
            <a:r>
              <a:rPr lang="en-US" dirty="0" err="1"/>
              <a:t>Immediates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36516" y="2016241"/>
                <a:ext cx="10433326" cy="4649253"/>
              </a:xfrm>
            </p:spPr>
            <p:txBody>
              <a:bodyPr>
                <a:normAutofit/>
              </a:bodyPr>
              <a:lstStyle/>
              <a:p>
                <a:pPr marL="0" indent="0">
                  <a:buNone/>
                </a:pPr>
                <a:r>
                  <a:rPr lang="en-US" dirty="0">
                    <a:solidFill>
                      <a:schemeClr val="tx1"/>
                    </a:solidFill>
                  </a:rPr>
                  <a:t>There are a total of 128 values that can be used as VMOV immediate. The magnitudes of the most commonly used values are easily remembered as:</a:t>
                </a:r>
              </a:p>
              <a:p>
                <a:pPr marL="0" indent="0">
                  <a:buNone/>
                </a:pPr>
                <a:r>
                  <a:rPr lang="en-US" dirty="0">
                    <a:solidFill>
                      <a:schemeClr val="tx1"/>
                    </a:solidFill>
                  </a:rPr>
                  <a:t> </a:t>
                </a:r>
              </a:p>
              <a:p>
                <a:pPr marL="0" indent="0">
                  <a:buNone/>
                  <a:tabLst>
                    <a:tab pos="3886200" algn="l"/>
                    <a:tab pos="6629400" algn="l"/>
                    <a:tab pos="7543800" algn="r"/>
                  </a:tabLst>
                </a:pPr>
                <a:r>
                  <a:rPr lang="en-US" dirty="0">
                    <a:solidFill>
                      <a:schemeClr val="tx1"/>
                    </a:solidFill>
                  </a:rPr>
                  <a:t>The first 31 multiples of </a:t>
                </a:r>
                <a14:m>
                  <m:oMath xmlns:m="http://schemas.openxmlformats.org/officeDocument/2006/math">
                    <m:r>
                      <a:rPr lang="en-US" i="1">
                        <a:solidFill>
                          <a:schemeClr val="tx1"/>
                        </a:solidFill>
                        <a:latin typeface="Cambria Math" panose="02040503050406030204" pitchFamily="18" charset="0"/>
                      </a:rPr>
                      <m:t>1</m:t>
                    </m:r>
                  </m:oMath>
                </a14:m>
                <a:r>
                  <a:rPr lang="en-US" dirty="0">
                    <a:solidFill>
                      <a:schemeClr val="tx1"/>
                    </a:solidFill>
                  </a:rPr>
                  <a:t>:	1.0, 2.0, 3.0, 4.0,	…	31.0</a:t>
                </a:r>
              </a:p>
              <a:p>
                <a:pPr marL="0" indent="0">
                  <a:buNone/>
                  <a:tabLst>
                    <a:tab pos="3886200" algn="l"/>
                    <a:tab pos="6629400" algn="l"/>
                    <a:tab pos="7543800" algn="r"/>
                  </a:tabLst>
                </a:pPr>
                <a:r>
                  <a:rPr lang="en-US" dirty="0">
                    <a:solidFill>
                      <a:schemeClr val="tx1"/>
                    </a:solidFill>
                  </a:rPr>
                  <a:t>The first 32 multiples of </a:t>
                </a:r>
                <a14:m>
                  <m:oMath xmlns:m="http://schemas.openxmlformats.org/officeDocument/2006/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1</m:t>
                        </m:r>
                      </m:num>
                      <m:den>
                        <m:r>
                          <a:rPr lang="en-US" i="1">
                            <a:solidFill>
                              <a:schemeClr val="tx1"/>
                            </a:solidFill>
                            <a:latin typeface="Cambria Math" panose="02040503050406030204" pitchFamily="18" charset="0"/>
                          </a:rPr>
                          <m:t>2</m:t>
                        </m:r>
                      </m:den>
                    </m:f>
                  </m:oMath>
                </a14:m>
                <a:r>
                  <a:rPr lang="en-US" dirty="0">
                    <a:solidFill>
                      <a:schemeClr val="tx1"/>
                    </a:solidFill>
                  </a:rPr>
                  <a:t>:	0.5, 1.0, 1.5, 2.0,	…	16.0</a:t>
                </a:r>
              </a:p>
              <a:p>
                <a:pPr marL="0" indent="0">
                  <a:buNone/>
                  <a:tabLst>
                    <a:tab pos="3886200" algn="l"/>
                    <a:tab pos="6629400" algn="l"/>
                    <a:tab pos="7543800" algn="r"/>
                  </a:tabLst>
                </a:pPr>
                <a:r>
                  <a:rPr lang="en-US" dirty="0">
                    <a:solidFill>
                      <a:schemeClr val="tx1"/>
                    </a:solidFill>
                  </a:rPr>
                  <a:t>The first 32 multiples of </a:t>
                </a:r>
                <a14:m>
                  <m:oMath xmlns:m="http://schemas.openxmlformats.org/officeDocument/2006/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1</m:t>
                        </m:r>
                      </m:num>
                      <m:den>
                        <m:r>
                          <a:rPr lang="en-US" i="1">
                            <a:solidFill>
                              <a:schemeClr val="tx1"/>
                            </a:solidFill>
                            <a:latin typeface="Cambria Math" panose="02040503050406030204" pitchFamily="18" charset="0"/>
                          </a:rPr>
                          <m:t>4</m:t>
                        </m:r>
                      </m:den>
                    </m:f>
                  </m:oMath>
                </a14:m>
                <a:r>
                  <a:rPr lang="en-US" dirty="0">
                    <a:solidFill>
                      <a:schemeClr val="tx1"/>
                    </a:solidFill>
                  </a:rPr>
                  <a:t>:	0.25, 0.5, 0.75, 1.0,	…	8.0</a:t>
                </a:r>
              </a:p>
              <a:p>
                <a:pPr marL="0" indent="0">
                  <a:buNone/>
                  <a:tabLst>
                    <a:tab pos="3886200" algn="l"/>
                    <a:tab pos="6629400" algn="l"/>
                    <a:tab pos="7543800" algn="r"/>
                  </a:tabLst>
                </a:pPr>
                <a:r>
                  <a:rPr lang="en-US" dirty="0">
                    <a:solidFill>
                      <a:schemeClr val="tx1"/>
                    </a:solidFill>
                  </a:rPr>
                  <a:t>The first 32 multiples of </a:t>
                </a:r>
                <a14:m>
                  <m:oMath xmlns:m="http://schemas.openxmlformats.org/officeDocument/2006/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1</m:t>
                        </m:r>
                      </m:num>
                      <m:den>
                        <m:r>
                          <a:rPr lang="en-US" i="1">
                            <a:solidFill>
                              <a:schemeClr val="tx1"/>
                            </a:solidFill>
                            <a:latin typeface="Cambria Math" panose="02040503050406030204" pitchFamily="18" charset="0"/>
                          </a:rPr>
                          <m:t>8</m:t>
                        </m:r>
                      </m:den>
                    </m:f>
                  </m:oMath>
                </a14:m>
                <a:r>
                  <a:rPr lang="en-US" dirty="0">
                    <a:solidFill>
                      <a:schemeClr val="tx1"/>
                    </a:solidFill>
                  </a:rPr>
                  <a:t>:	0.125, 0.25, 0.375,	…	4.0</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36516" y="2016241"/>
                <a:ext cx="10433326" cy="4649253"/>
              </a:xfrm>
              <a:blipFill>
                <a:blip r:embed="rId2"/>
                <a:stretch>
                  <a:fillRect l="-935" t="-1706"/>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1B5B02EE-CAC2-45CC-92E5-218E3A02EE8E}"/>
              </a:ext>
            </a:extLst>
          </p:cNvPr>
          <p:cNvGrpSpPr/>
          <p:nvPr/>
        </p:nvGrpSpPr>
        <p:grpSpPr>
          <a:xfrm>
            <a:off x="3320473" y="5381649"/>
            <a:ext cx="5738751" cy="658128"/>
            <a:chOff x="1916545" y="5802996"/>
            <a:chExt cx="5738751" cy="658128"/>
          </a:xfrm>
        </p:grpSpPr>
        <p:sp>
          <p:nvSpPr>
            <p:cNvPr id="4" name="TextBox 3">
              <a:extLst>
                <a:ext uri="{FF2B5EF4-FFF2-40B4-BE49-F238E27FC236}">
                  <a16:creationId xmlns:a16="http://schemas.microsoft.com/office/drawing/2014/main" id="{D72E6170-37D6-49A8-8EE3-A6B332ACB9F6}"/>
                </a:ext>
              </a:extLst>
            </p:cNvPr>
            <p:cNvSpPr txBox="1"/>
            <p:nvPr/>
          </p:nvSpPr>
          <p:spPr>
            <a:xfrm>
              <a:off x="1916545" y="5814793"/>
              <a:ext cx="171334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Not supported: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VMOV S0,0.0</a:t>
              </a:r>
            </a:p>
          </p:txBody>
        </p:sp>
        <p:sp>
          <p:nvSpPr>
            <p:cNvPr id="5" name="TextBox 4">
              <a:extLst>
                <a:ext uri="{FF2B5EF4-FFF2-40B4-BE49-F238E27FC236}">
                  <a16:creationId xmlns:a16="http://schemas.microsoft.com/office/drawing/2014/main" id="{B1F0FF38-73CB-4262-B153-A2F206C5DD98}"/>
                </a:ext>
              </a:extLst>
            </p:cNvPr>
            <p:cNvSpPr txBox="1"/>
            <p:nvPr/>
          </p:nvSpPr>
          <p:spPr>
            <a:xfrm>
              <a:off x="5106060" y="5802996"/>
              <a:ext cx="254923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Use this instead: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Consolas" panose="020B0609020204030204" pitchFamily="49" charset="0"/>
                  <a:ea typeface="+mn-ea"/>
                  <a:cs typeface="+mn-cs"/>
                </a:rPr>
                <a:t>VSUB.F32 S0,S0,S0</a:t>
              </a:r>
            </a:p>
          </p:txBody>
        </p:sp>
        <p:sp>
          <p:nvSpPr>
            <p:cNvPr id="7" name="Arrow: Right 6">
              <a:extLst>
                <a:ext uri="{FF2B5EF4-FFF2-40B4-BE49-F238E27FC236}">
                  <a16:creationId xmlns:a16="http://schemas.microsoft.com/office/drawing/2014/main" id="{87F4CB7C-2CBC-4208-A81A-11339DFED0BB}"/>
                </a:ext>
              </a:extLst>
            </p:cNvPr>
            <p:cNvSpPr/>
            <p:nvPr/>
          </p:nvSpPr>
          <p:spPr>
            <a:xfrm>
              <a:off x="3925454" y="5985164"/>
              <a:ext cx="840509" cy="32356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9" name="Rectangle 8"/>
          <p:cNvSpPr/>
          <p:nvPr/>
        </p:nvSpPr>
        <p:spPr>
          <a:xfrm>
            <a:off x="2674657" y="6296162"/>
            <a:ext cx="5936305" cy="369332"/>
          </a:xfrm>
          <a:prstGeom prst="rect">
            <a:avLst/>
          </a:prstGeom>
        </p:spPr>
        <p:txBody>
          <a:bodyPr wrap="none">
            <a:spAutoFit/>
          </a:bodyPr>
          <a:lstStyle/>
          <a:p>
            <a:pPr marL="5715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a:ea typeface="ＭＳ Ｐゴシック" panose="020B0600070205080204" pitchFamily="34" charset="-128"/>
                <a:cs typeface="+mn-cs"/>
                <a:hlinkClick r:id="rId3"/>
              </a:rPr>
              <a:t>https://www.h-schmidt.net/FloatConverter/IEEE754.html</a:t>
            </a:r>
          </a:p>
        </p:txBody>
      </p:sp>
    </p:spTree>
    <p:extLst>
      <p:ext uri="{BB962C8B-B14F-4D97-AF65-F5344CB8AC3E}">
        <p14:creationId xmlns:p14="http://schemas.microsoft.com/office/powerpoint/2010/main" val="28102468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1774303" y="1329856"/>
                <a:ext cx="8492646" cy="4870564"/>
              </a:xfrm>
              <a:prstGeom prst="rect">
                <a:avLst/>
              </a:prstGeom>
            </p:spPr>
            <p:txBody>
              <a:bodyPr wrap="square">
                <a:spAutoFit/>
              </a:bodyPr>
              <a:lstStyle/>
              <a:p>
                <a:pPr marL="0" marR="0" lvl="0" indent="0" algn="l" defTabSz="914400" rtl="0" eaLnBrk="1" fontAlgn="auto" latinLnBrk="0" hangingPunct="1">
                  <a:lnSpc>
                    <a:spcPct val="115000"/>
                  </a:lnSpc>
                  <a:spcBef>
                    <a:spcPts val="0"/>
                  </a:spcBef>
                  <a:spcAft>
                    <a:spcPts val="0"/>
                  </a:spcAft>
                  <a:buClrTx/>
                  <a:buSzTx/>
                  <a:buFontTx/>
                  <a:buNone/>
                  <a:tabLst>
                    <a:tab pos="1311275" algn="l"/>
                    <a:tab pos="2513013" algn="l"/>
                    <a:tab pos="4913313"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LDR	R0,=</a:t>
                </a:r>
                <a:r>
                  <a:rPr kumimoji="0" lang="en-US" sz="1800" b="1" i="0" u="none" strike="noStrike" kern="1200" cap="none" spc="0" normalizeH="0" baseline="0" noProof="0" dirty="0">
                    <a:ln>
                      <a:noFill/>
                    </a:ln>
                    <a:solidFill>
                      <a:srgbClr val="92D050"/>
                    </a:solidFill>
                    <a:effectLst/>
                    <a:uLnTx/>
                    <a:uFillTx/>
                    <a:latin typeface="Consolas" panose="020B0609020204030204" pitchFamily="49" charset="0"/>
                    <a:ea typeface="Calibri" panose="020F0502020204030204" pitchFamily="34" charset="0"/>
                    <a:cs typeface="Consolas" panose="020B0609020204030204" pitchFamily="49" charset="0"/>
                  </a:rPr>
                  <a:t>(3*4) &lt;&lt; 2</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r>
                  <a:rPr kumimoji="0" lang="en-US" sz="1800" b="1" i="0" u="none" strike="noStrike" kern="1200" cap="none" spc="0" normalizeH="0" baseline="0" noProof="0" dirty="0">
                    <a:ln>
                      <a:noFill/>
                    </a:ln>
                    <a:solidFill>
                      <a:srgbClr val="92D050"/>
                    </a:solidFill>
                    <a:effectLst/>
                    <a:uLnTx/>
                    <a:uFillTx/>
                    <a:latin typeface="Consolas" panose="020B0609020204030204" pitchFamily="49" charset="0"/>
                    <a:ea typeface="Calibri" panose="020F0502020204030204" pitchFamily="34" charset="0"/>
                    <a:cs typeface="Consolas" panose="020B0609020204030204" pitchFamily="49" charset="0"/>
                  </a:rPr>
                  <a:t>// this works</a:t>
                </a:r>
              </a:p>
              <a:p>
                <a:pPr marL="0" marR="0" lvl="0" indent="0" algn="l" defTabSz="914400" rtl="0" eaLnBrk="1" fontAlgn="auto" latinLnBrk="0" hangingPunct="1">
                  <a:lnSpc>
                    <a:spcPct val="115000"/>
                  </a:lnSpc>
                  <a:spcBef>
                    <a:spcPts val="0"/>
                  </a:spcBef>
                  <a:spcAft>
                    <a:spcPts val="0"/>
                  </a:spcAft>
                  <a:buClrTx/>
                  <a:buSzTx/>
                  <a:buFontTx/>
                  <a:buNone/>
                  <a:tabLst>
                    <a:tab pos="1311275" algn="l"/>
                    <a:tab pos="2513013" algn="l"/>
                    <a:tab pos="4913313"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ADD	R0,R0,</a:t>
                </a:r>
                <a:r>
                  <a:rPr kumimoji="0" lang="en-US" sz="1800" b="1" i="0" u="none" strike="noStrike" kern="1200" cap="none" spc="0" normalizeH="0" baseline="0" noProof="0" dirty="0">
                    <a:ln>
                      <a:noFill/>
                    </a:ln>
                    <a:solidFill>
                      <a:srgbClr val="92D050"/>
                    </a:solidFill>
                    <a:effectLst/>
                    <a:uLnTx/>
                    <a:uFillTx/>
                    <a:latin typeface="Consolas" panose="020B0609020204030204" pitchFamily="49" charset="0"/>
                    <a:ea typeface="Calibri" panose="020F0502020204030204" pitchFamily="34" charset="0"/>
                    <a:cs typeface="Consolas" panose="020B0609020204030204" pitchFamily="49" charset="0"/>
                  </a:rPr>
                  <a:t>5+7</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r>
                  <a:rPr kumimoji="0" lang="en-US" sz="1800" b="1" i="0" u="none" strike="noStrike" kern="1200" cap="none" spc="0" normalizeH="0" baseline="0" noProof="0" dirty="0">
                    <a:ln>
                      <a:noFill/>
                    </a:ln>
                    <a:solidFill>
                      <a:srgbClr val="92D050"/>
                    </a:solidFill>
                    <a:effectLst/>
                    <a:uLnTx/>
                    <a:uFillTx/>
                    <a:latin typeface="Consolas" panose="020B0609020204030204" pitchFamily="49" charset="0"/>
                    <a:ea typeface="Calibri" panose="020F0502020204030204" pitchFamily="34" charset="0"/>
                    <a:cs typeface="Consolas" panose="020B0609020204030204" pitchFamily="49" charset="0"/>
                  </a:rPr>
                  <a:t>// this works</a:t>
                </a:r>
              </a:p>
              <a:p>
                <a:pPr marL="0" marR="0" lvl="0" indent="0" algn="l" defTabSz="914400" rtl="0" eaLnBrk="1" fontAlgn="auto" latinLnBrk="0" hangingPunct="1">
                  <a:lnSpc>
                    <a:spcPct val="115000"/>
                  </a:lnSpc>
                  <a:spcBef>
                    <a:spcPts val="0"/>
                  </a:spcBef>
                  <a:spcAft>
                    <a:spcPts val="0"/>
                  </a:spcAft>
                  <a:buClrTx/>
                  <a:buSzTx/>
                  <a:buFontTx/>
                  <a:buNone/>
                  <a:tabLst>
                    <a:tab pos="1311275" algn="l"/>
                    <a:tab pos="2513013" algn="l"/>
                    <a:tab pos="4913313" algn="l"/>
                  </a:tabLst>
                  <a:defRPr/>
                </a:pPr>
                <a:endParaRPr kumimoji="0" lang="en-US" sz="1800" b="0" i="0" u="none" strike="noStrike" kern="1200" cap="none" spc="0" normalizeH="0" baseline="0" noProof="0" dirty="0">
                  <a:ln>
                    <a:noFill/>
                  </a:ln>
                  <a:solidFill>
                    <a:srgbClr val="FF0000"/>
                  </a:solidFill>
                  <a:effectLst/>
                  <a:uLnTx/>
                  <a:uFillTx/>
                  <a:latin typeface="Consolas" panose="020B0609020204030204" pitchFamily="49" charset="0"/>
                  <a:ea typeface="Calibri" panose="020F0502020204030204" pitchFamily="34" charset="0"/>
                  <a:cs typeface="Consolas" panose="020B0609020204030204" pitchFamily="49" charset="0"/>
                </a:endParaRPr>
              </a:p>
              <a:p>
                <a:pPr marL="0" marR="0" lvl="0" indent="0" algn="l" defTabSz="914400" rtl="0" eaLnBrk="1" fontAlgn="auto" latinLnBrk="0" hangingPunct="1">
                  <a:lnSpc>
                    <a:spcPct val="115000"/>
                  </a:lnSpc>
                  <a:spcBef>
                    <a:spcPts val="0"/>
                  </a:spcBef>
                  <a:spcAft>
                    <a:spcPts val="0"/>
                  </a:spcAft>
                  <a:buClrTx/>
                  <a:buSzTx/>
                  <a:buFontTx/>
                  <a:buNone/>
                  <a:tabLst>
                    <a:tab pos="1311275" algn="l"/>
                    <a:tab pos="2513013" algn="l"/>
                    <a:tab pos="4913313" algn="l"/>
                  </a:tabLst>
                  <a:defRPr/>
                </a:pPr>
                <a:endParaRPr kumimoji="0" lang="en-US" sz="1800" b="0" i="0" u="none" strike="noStrike" kern="1200" cap="none" spc="0" normalizeH="0" baseline="0" noProof="0" dirty="0">
                  <a:ln>
                    <a:noFill/>
                  </a:ln>
                  <a:solidFill>
                    <a:srgbClr val="FF0000"/>
                  </a:solidFill>
                  <a:effectLst/>
                  <a:uLnTx/>
                  <a:uFillTx/>
                  <a:latin typeface="Consolas" panose="020B0609020204030204" pitchFamily="49" charset="0"/>
                  <a:ea typeface="Calibri" panose="020F0502020204030204" pitchFamily="34" charset="0"/>
                  <a:cs typeface="Consolas" panose="020B0609020204030204" pitchFamily="49" charset="0"/>
                </a:endParaRPr>
              </a:p>
              <a:p>
                <a:pPr marL="0" marR="0" lvl="0" indent="0" algn="l" defTabSz="914400" rtl="0" eaLnBrk="1" fontAlgn="auto" latinLnBrk="0" hangingPunct="1">
                  <a:lnSpc>
                    <a:spcPct val="115000"/>
                  </a:lnSpc>
                  <a:spcBef>
                    <a:spcPts val="0"/>
                  </a:spcBef>
                  <a:spcAft>
                    <a:spcPts val="0"/>
                  </a:spcAft>
                  <a:buClrTx/>
                  <a:buSzTx/>
                  <a:buFontTx/>
                  <a:buNone/>
                  <a:tabLst>
                    <a:tab pos="1311275" algn="l"/>
                    <a:tab pos="2513013" algn="l"/>
                    <a:tab pos="4913313" algn="l"/>
                  </a:tabLst>
                  <a:defRPr/>
                </a:pPr>
                <a:endParaRPr kumimoji="0" lang="en-US" sz="1800" b="0" i="0" u="none" strike="noStrike" kern="1200" cap="none" spc="0" normalizeH="0" baseline="0" noProof="0" dirty="0">
                  <a:ln>
                    <a:noFill/>
                  </a:ln>
                  <a:solidFill>
                    <a:srgbClr val="FF0000"/>
                  </a:solidFill>
                  <a:effectLst/>
                  <a:uLnTx/>
                  <a:uFillTx/>
                  <a:latin typeface="Consolas" panose="020B0609020204030204" pitchFamily="49" charset="0"/>
                  <a:ea typeface="Calibri" panose="020F0502020204030204" pitchFamily="34" charset="0"/>
                  <a:cs typeface="Consolas" panose="020B0609020204030204" pitchFamily="49" charset="0"/>
                </a:endParaRPr>
              </a:p>
              <a:p>
                <a:pPr marL="0" marR="0" lvl="0" indent="0" algn="l" defTabSz="914400" rtl="0" eaLnBrk="1" fontAlgn="auto" latinLnBrk="0" hangingPunct="1">
                  <a:lnSpc>
                    <a:spcPct val="115000"/>
                  </a:lnSpc>
                  <a:spcBef>
                    <a:spcPts val="0"/>
                  </a:spcBef>
                  <a:spcAft>
                    <a:spcPts val="0"/>
                  </a:spcAft>
                  <a:buClrTx/>
                  <a:buSzTx/>
                  <a:buFontTx/>
                  <a:buNone/>
                  <a:tabLst>
                    <a:tab pos="1311275" algn="l"/>
                    <a:tab pos="2513013" algn="l"/>
                    <a:tab pos="4913313" algn="l"/>
                  </a:tabLst>
                  <a:defRPr/>
                </a:pPr>
                <a:endParaRPr kumimoji="0" lang="en-US" sz="1800" b="0" i="0" u="none" strike="noStrike" kern="1200" cap="none" spc="0" normalizeH="0" baseline="0" noProof="0" dirty="0">
                  <a:ln>
                    <a:noFill/>
                  </a:ln>
                  <a:solidFill>
                    <a:srgbClr val="FF0000"/>
                  </a:solidFill>
                  <a:effectLst/>
                  <a:uLnTx/>
                  <a:uFillTx/>
                  <a:latin typeface="Consolas" panose="020B0609020204030204" pitchFamily="49" charset="0"/>
                  <a:ea typeface="Calibri" panose="020F0502020204030204" pitchFamily="34" charset="0"/>
                  <a:cs typeface="Consolas" panose="020B0609020204030204" pitchFamily="49" charset="0"/>
                </a:endParaRPr>
              </a:p>
              <a:p>
                <a:pPr marL="0" marR="0" lvl="0" indent="0" algn="l" defTabSz="914400" rtl="0" eaLnBrk="1" fontAlgn="auto" latinLnBrk="0" hangingPunct="1">
                  <a:lnSpc>
                    <a:spcPct val="115000"/>
                  </a:lnSpc>
                  <a:spcBef>
                    <a:spcPts val="0"/>
                  </a:spcBef>
                  <a:spcAft>
                    <a:spcPts val="0"/>
                  </a:spcAft>
                  <a:buClrTx/>
                  <a:buSzTx/>
                  <a:buFontTx/>
                  <a:buNone/>
                  <a:tabLst>
                    <a:tab pos="1311275" algn="l"/>
                    <a:tab pos="2513013" algn="l"/>
                    <a:tab pos="4913313" algn="l"/>
                  </a:tabLst>
                  <a:defRPr/>
                </a:pPr>
                <a:r>
                  <a:rPr kumimoji="0" lang="en-US" sz="1800" b="0" i="0" u="none" strike="noStrike" kern="1200" cap="none" spc="0" normalizeH="0" baseline="0" noProof="0" dirty="0">
                    <a:ln>
                      <a:noFill/>
                    </a:ln>
                    <a:solidFill>
                      <a:srgbClr val="FF0000"/>
                    </a:solidFill>
                    <a:effectLst/>
                    <a:uLnTx/>
                    <a:uFillTx/>
                    <a:latin typeface="Consolas" panose="020B0609020204030204" pitchFamily="49" charset="0"/>
                    <a:ea typeface="Calibri" panose="020F0502020204030204" pitchFamily="34" charset="0"/>
                    <a:cs typeface="Consolas" panose="020B0609020204030204" pitchFamily="49" charset="0"/>
                  </a:rPr>
                  <a:t>	</a:t>
                </a:r>
                <a:r>
                  <a:rPr kumimoji="0" lang="en-US" sz="1800" b="0" i="0" u="none" strike="sngStrike" kern="1200" cap="none" spc="0" normalizeH="0" baseline="0" noProof="0" dirty="0">
                    <a:ln>
                      <a:noFill/>
                    </a:ln>
                    <a:solidFill>
                      <a:srgbClr val="FF0000"/>
                    </a:solidFill>
                    <a:effectLst/>
                    <a:uLnTx/>
                    <a:uFillTx/>
                    <a:latin typeface="Consolas" panose="020B0609020204030204" pitchFamily="49" charset="0"/>
                    <a:ea typeface="Calibri" panose="020F0502020204030204" pitchFamily="34" charset="0"/>
                    <a:cs typeface="Consolas" panose="020B0609020204030204" pitchFamily="49" charset="0"/>
                  </a:rPr>
                  <a:t>VMOV	S0,0.5/2.0</a:t>
                </a:r>
                <a:r>
                  <a:rPr kumimoji="0" lang="en-US" sz="1800" b="0" i="0" u="none" strike="noStrike" kern="1200" cap="none" spc="0" normalizeH="0" baseline="0" noProof="0" dirty="0">
                    <a:ln>
                      <a:noFill/>
                    </a:ln>
                    <a:solidFill>
                      <a:srgbClr val="FF0000"/>
                    </a:solidFill>
                    <a:effectLst/>
                    <a:uLnTx/>
                    <a:uFillTx/>
                    <a:latin typeface="Consolas" panose="020B0609020204030204" pitchFamily="49" charset="0"/>
                    <a:ea typeface="Calibri" panose="020F0502020204030204" pitchFamily="34" charset="0"/>
                    <a:cs typeface="Consolas" panose="020B0609020204030204" pitchFamily="49" charset="0"/>
                  </a:rPr>
                  <a:t>	// syntax error!!</a:t>
                </a:r>
                <a:endParaRPr kumimoji="0" lang="en-US" sz="18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1311275" algn="l"/>
                    <a:tab pos="2513013" algn="l"/>
                    <a:tab pos="4913313" algn="l"/>
                  </a:tabLst>
                  <a:defRPr/>
                </a:pPr>
                <a:r>
                  <a:rPr kumimoji="0" lang="en-US" sz="1800" b="1" i="0" u="none" strike="noStrike" kern="1200" cap="none" spc="0" normalizeH="0" baseline="0" noProof="0" dirty="0">
                    <a:ln>
                      <a:noFill/>
                    </a:ln>
                    <a:solidFill>
                      <a:srgbClr val="92D050"/>
                    </a:solidFill>
                    <a:effectLst/>
                    <a:uLnTx/>
                    <a:uFillTx/>
                    <a:latin typeface="Consolas" panose="020B0609020204030204" pitchFamily="49" charset="0"/>
                    <a:ea typeface="Calibri" panose="020F0502020204030204" pitchFamily="34" charset="0"/>
                    <a:cs typeface="Consolas" panose="020B0609020204030204" pitchFamily="49" charset="0"/>
                  </a:rPr>
                  <a:t>	VMOV	S0,0.25	// this works</a:t>
                </a:r>
              </a:p>
              <a:p>
                <a:pPr marL="0" marR="0" lvl="0" indent="0" algn="l" defTabSz="914400" rtl="0" eaLnBrk="1" fontAlgn="auto" latinLnBrk="0" hangingPunct="1">
                  <a:lnSpc>
                    <a:spcPct val="115000"/>
                  </a:lnSpc>
                  <a:spcBef>
                    <a:spcPts val="0"/>
                  </a:spcBef>
                  <a:spcAft>
                    <a:spcPts val="0"/>
                  </a:spcAft>
                  <a:buClrTx/>
                  <a:buSzTx/>
                  <a:buFontTx/>
                  <a:buNone/>
                  <a:tabLst>
                    <a:tab pos="1311275" algn="l"/>
                    <a:tab pos="2513013" algn="l"/>
                    <a:tab pos="4913313"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14:m>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onsolas" panose="020B0609020204030204" pitchFamily="49" charset="0"/>
                      </a:rPr>
                      <m:t>⋮</m:t>
                    </m:r>
                  </m:oMath>
                </a14:m>
                <a:endPar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endParaRPr>
              </a:p>
              <a:p>
                <a:pPr marL="0" marR="0" lvl="0" indent="0" algn="l" defTabSz="914400" rtl="0" eaLnBrk="1" fontAlgn="auto" latinLnBrk="0" hangingPunct="1">
                  <a:lnSpc>
                    <a:spcPct val="115000"/>
                  </a:lnSpc>
                  <a:spcBef>
                    <a:spcPts val="0"/>
                  </a:spcBef>
                  <a:spcAft>
                    <a:spcPts val="0"/>
                  </a:spcAft>
                  <a:buClrTx/>
                  <a:buSzTx/>
                  <a:buFontTx/>
                  <a:buNone/>
                  <a:tabLst>
                    <a:tab pos="1311275" algn="l"/>
                    <a:tab pos="2513013" algn="l"/>
                    <a:tab pos="4913313"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LDR	R0,=factor</a:t>
                </a:r>
              </a:p>
              <a:p>
                <a:pPr marL="0" marR="0" lvl="0" indent="0" algn="l" defTabSz="914400" rtl="0" eaLnBrk="1" fontAlgn="auto" latinLnBrk="0" hangingPunct="1">
                  <a:lnSpc>
                    <a:spcPct val="115000"/>
                  </a:lnSpc>
                  <a:spcBef>
                    <a:spcPts val="0"/>
                  </a:spcBef>
                  <a:spcAft>
                    <a:spcPts val="0"/>
                  </a:spcAft>
                  <a:buClrTx/>
                  <a:buSzTx/>
                  <a:buFontTx/>
                  <a:buNone/>
                  <a:tabLst>
                    <a:tab pos="1311275" algn="l"/>
                    <a:tab pos="2513013" algn="l"/>
                    <a:tab pos="4913313"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VLDR	S0,[</a:t>
                </a:r>
                <a:r>
                  <a:rPr kumimoji="0" lang="en-US" sz="1800" b="1" i="0" u="none" strike="noStrike" kern="1200" cap="none" spc="0" normalizeH="0" baseline="0" noProof="0" dirty="0">
                    <a:ln>
                      <a:noFill/>
                    </a:ln>
                    <a:solidFill>
                      <a:srgbClr val="FF0000"/>
                    </a:solidFill>
                    <a:effectLst/>
                    <a:uLnTx/>
                    <a:uFillTx/>
                    <a:latin typeface="Consolas" panose="020B0609020204030204" pitchFamily="49" charset="0"/>
                    <a:ea typeface="Calibri" panose="020F0502020204030204" pitchFamily="34" charset="0"/>
                    <a:cs typeface="Consolas" panose="020B0609020204030204" pitchFamily="49" charset="0"/>
                  </a:rPr>
                  <a:t>R</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0]	// S0 = (4.0/3.0)*3.14159</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1311275" algn="l"/>
                    <a:tab pos="2513013" algn="l"/>
                    <a:tab pos="4913313"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14:m>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onsolas" panose="020B0609020204030204" pitchFamily="49" charset="0"/>
                      </a:rPr>
                      <m:t>⋮</m:t>
                    </m:r>
                  </m:oMath>
                </a14:m>
                <a:endPar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endParaRPr>
              </a:p>
              <a:p>
                <a:pPr marL="0" marR="0" lvl="0" indent="0" algn="l" defTabSz="914400" rtl="0" eaLnBrk="1" fontAlgn="auto" latinLnBrk="0" hangingPunct="1">
                  <a:lnSpc>
                    <a:spcPct val="115000"/>
                  </a:lnSpc>
                  <a:spcBef>
                    <a:spcPts val="0"/>
                  </a:spcBef>
                  <a:spcAft>
                    <a:spcPts val="0"/>
                  </a:spcAft>
                  <a:buClrTx/>
                  <a:buSzTx/>
                  <a:buFontTx/>
                  <a:buNone/>
                  <a:tabLst>
                    <a:tab pos="1311275" algn="l"/>
                    <a:tab pos="2513013" algn="l"/>
                    <a:tab pos="4913313" algn="l"/>
                  </a:tabLst>
                  <a:defRPr/>
                </a:pPr>
                <a:r>
                  <a:rPr kumimoji="0" lang="en-US" sz="1800" b="0" i="0" u="none" strike="sngStrike" kern="1200" cap="none" spc="0" normalizeH="0" baseline="0" noProof="0" dirty="0">
                    <a:ln>
                      <a:noFill/>
                    </a:ln>
                    <a:solidFill>
                      <a:srgbClr val="FF0000"/>
                    </a:solidFill>
                    <a:effectLst/>
                    <a:uLnTx/>
                    <a:uFillTx/>
                    <a:latin typeface="Consolas" panose="020B0609020204030204" pitchFamily="49" charset="0"/>
                    <a:ea typeface="Calibri" panose="020F0502020204030204" pitchFamily="34" charset="0"/>
                    <a:cs typeface="Consolas" panose="020B0609020204030204" pitchFamily="49" charset="0"/>
                  </a:rPr>
                  <a:t>factor:	.float	(4.0/3.0)*3.14159</a:t>
                </a:r>
                <a:r>
                  <a:rPr kumimoji="0" lang="en-US" sz="1800" b="0" i="0" u="none" strike="noStrike" kern="1200" cap="none" spc="0" normalizeH="0" baseline="0" noProof="0" dirty="0">
                    <a:ln>
                      <a:noFill/>
                    </a:ln>
                    <a:solidFill>
                      <a:srgbClr val="FF0000"/>
                    </a:solidFill>
                    <a:effectLst/>
                    <a:uLnTx/>
                    <a:uFillTx/>
                    <a:latin typeface="Consolas" panose="020B0609020204030204" pitchFamily="49" charset="0"/>
                    <a:ea typeface="Calibri" panose="020F0502020204030204" pitchFamily="34" charset="0"/>
                    <a:cs typeface="Consolas" panose="020B0609020204030204" pitchFamily="49" charset="0"/>
                  </a:rPr>
                  <a:t>	// syntax error!!</a:t>
                </a:r>
              </a:p>
              <a:p>
                <a:pPr marL="0" marR="0" lvl="0" indent="0" algn="l" defTabSz="914400" rtl="0" eaLnBrk="1" fontAlgn="auto" latinLnBrk="0" hangingPunct="1">
                  <a:lnSpc>
                    <a:spcPct val="115000"/>
                  </a:lnSpc>
                  <a:spcBef>
                    <a:spcPts val="0"/>
                  </a:spcBef>
                  <a:spcAft>
                    <a:spcPts val="0"/>
                  </a:spcAft>
                  <a:buClrTx/>
                  <a:buSzTx/>
                  <a:buFontTx/>
                  <a:buNone/>
                  <a:tabLst>
                    <a:tab pos="1311275" algn="l"/>
                    <a:tab pos="2513013" algn="l"/>
                    <a:tab pos="4913313" algn="l"/>
                  </a:tabLst>
                  <a:defRPr/>
                </a:pPr>
                <a:r>
                  <a:rPr kumimoji="0" lang="en-US" sz="1800" b="1" i="0" u="none" strike="noStrike" kern="1200" cap="none" spc="0" normalizeH="0" baseline="0" noProof="0" dirty="0">
                    <a:ln>
                      <a:noFill/>
                    </a:ln>
                    <a:solidFill>
                      <a:srgbClr val="92D050"/>
                    </a:solidFill>
                    <a:effectLst/>
                    <a:uLnTx/>
                    <a:uFillTx/>
                    <a:latin typeface="Consolas" panose="020B0609020204030204" pitchFamily="49" charset="0"/>
                    <a:ea typeface="Calibri" panose="020F0502020204030204" pitchFamily="34" charset="0"/>
                    <a:cs typeface="Consolas" panose="020B0609020204030204" pitchFamily="49" charset="0"/>
                  </a:rPr>
                  <a:t>factor:	.float	4.18879	// (4.0/3.0)*3.14159</a:t>
                </a:r>
              </a:p>
              <a:p>
                <a:pPr marL="0" marR="0" lvl="0" indent="0" algn="l" defTabSz="914400" rtl="0" eaLnBrk="1" fontAlgn="auto" latinLnBrk="0" hangingPunct="1">
                  <a:lnSpc>
                    <a:spcPct val="115000"/>
                  </a:lnSpc>
                  <a:spcBef>
                    <a:spcPts val="0"/>
                  </a:spcBef>
                  <a:spcAft>
                    <a:spcPts val="0"/>
                  </a:spcAft>
                  <a:buClrTx/>
                  <a:buSzTx/>
                  <a:buFontTx/>
                  <a:buNone/>
                  <a:tabLst>
                    <a:tab pos="914400" algn="l"/>
                    <a:tab pos="2114550" algn="l"/>
                    <a:tab pos="2116138" algn="l"/>
                    <a:tab pos="2805113" algn="l"/>
                  </a:tabLst>
                  <a:defRPr/>
                </a:pPr>
                <a:endParaRPr kumimoji="0" lang="en-US" sz="1800" b="0" i="0" u="none" strike="noStrike" kern="1200" cap="none" spc="0" normalizeH="0" baseline="0" noProof="0" dirty="0">
                  <a:ln>
                    <a:noFill/>
                  </a:ln>
                  <a:solidFill>
                    <a:srgbClr val="00B050"/>
                  </a:solidFill>
                  <a:effectLst/>
                  <a:uLnTx/>
                  <a:uFillTx/>
                  <a:latin typeface="Consolas" panose="020B0609020204030204" pitchFamily="49" charset="0"/>
                  <a:ea typeface="Calibri" panose="020F0502020204030204" pitchFamily="34" charset="0"/>
                  <a:cs typeface="Consolas" panose="020B0609020204030204" pitchFamily="49"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1774303" y="1329856"/>
                <a:ext cx="8492646" cy="4870564"/>
              </a:xfrm>
              <a:prstGeom prst="rect">
                <a:avLst/>
              </a:prstGeom>
              <a:blipFill>
                <a:blip r:embed="rId3"/>
                <a:stretch>
                  <a:fillRect l="-574" t="-125"/>
                </a:stretch>
              </a:blipFill>
            </p:spPr>
            <p:txBody>
              <a:bodyPr/>
              <a:lstStyle/>
              <a:p>
                <a:r>
                  <a:rPr lang="en-US">
                    <a:noFill/>
                  </a:rPr>
                  <a:t> </a:t>
                </a:r>
              </a:p>
            </p:txBody>
          </p:sp>
        </mc:Fallback>
      </mc:AlternateContent>
      <p:grpSp>
        <p:nvGrpSpPr>
          <p:cNvPr id="7" name="Group 6"/>
          <p:cNvGrpSpPr/>
          <p:nvPr/>
        </p:nvGrpSpPr>
        <p:grpSpPr>
          <a:xfrm>
            <a:off x="1722156" y="2018605"/>
            <a:ext cx="3550655" cy="1292662"/>
            <a:chOff x="1271328" y="4445168"/>
            <a:chExt cx="3550655" cy="1292662"/>
          </a:xfrm>
          <a:solidFill>
            <a:schemeClr val="accent4">
              <a:lumMod val="20000"/>
              <a:lumOff val="80000"/>
            </a:schemeClr>
          </a:solidFill>
        </p:grpSpPr>
        <p:sp>
          <p:nvSpPr>
            <p:cNvPr id="8" name="TextBox 7"/>
            <p:cNvSpPr txBox="1"/>
            <p:nvPr/>
          </p:nvSpPr>
          <p:spPr>
            <a:xfrm>
              <a:off x="1271328" y="4445168"/>
              <a:ext cx="3550655" cy="1292662"/>
            </a:xfrm>
            <a:prstGeom prst="rect">
              <a:avLst/>
            </a:prstGeom>
            <a:grpFill/>
            <a:ln/>
          </p:spPr>
          <p:style>
            <a:lnRef idx="1">
              <a:schemeClr val="accent2"/>
            </a:lnRef>
            <a:fillRef idx="2">
              <a:schemeClr val="accent2"/>
            </a:fillRef>
            <a:effectRef idx="1">
              <a:schemeClr val="accent2"/>
            </a:effectRef>
            <a:fontRef idx="minor">
              <a:schemeClr val="dk1"/>
            </a:fontRef>
          </p:style>
          <p:txBody>
            <a:bodyPr wrap="square" tIns="91440" bIns="91440" rtlCol="0">
              <a:spAutoFit/>
            </a:bodyPr>
            <a:lstStyle/>
            <a:p>
              <a:pPr marL="1027113"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But you can't use expressions for floating-point constants:</a:t>
              </a:r>
            </a:p>
          </p:txBody>
        </p:sp>
        <p:pic>
          <p:nvPicPr>
            <p:cNvPr id="9" name="Picture 4" descr="http://www.aamu.edu/campuslife/living-on-campus/residentialLife/SiteAssets/pages/default/Warning_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1323475" y="4509325"/>
              <a:ext cx="971826" cy="838200"/>
            </a:xfrm>
            <a:prstGeom prst="rect">
              <a:avLst/>
            </a:prstGeom>
            <a:grpFill/>
          </p:spPr>
        </p:pic>
      </p:grpSp>
      <p:sp>
        <p:nvSpPr>
          <p:cNvPr id="10" name="Title 9"/>
          <p:cNvSpPr>
            <a:spLocks noGrp="1"/>
          </p:cNvSpPr>
          <p:nvPr>
            <p:ph type="title"/>
          </p:nvPr>
        </p:nvSpPr>
        <p:spPr>
          <a:xfrm>
            <a:off x="918409" y="740811"/>
            <a:ext cx="9593179" cy="620214"/>
          </a:xfrm>
        </p:spPr>
        <p:txBody>
          <a:bodyPr>
            <a:normAutofit/>
          </a:bodyPr>
          <a:lstStyle/>
          <a:p>
            <a:r>
              <a:rPr lang="en-US" dirty="0"/>
              <a:t>Using Expressions to Create Constants</a:t>
            </a:r>
          </a:p>
        </p:txBody>
      </p:sp>
      <p:pic>
        <p:nvPicPr>
          <p:cNvPr id="3" name="Picture 2"/>
          <p:cNvPicPr>
            <a:picLocks noChangeAspect="1"/>
          </p:cNvPicPr>
          <p:nvPr/>
        </p:nvPicPr>
        <p:blipFill>
          <a:blip r:embed="rId5"/>
          <a:stretch>
            <a:fillRect/>
          </a:stretch>
        </p:blipFill>
        <p:spPr>
          <a:xfrm>
            <a:off x="5560651" y="2305857"/>
            <a:ext cx="4784065" cy="821973"/>
          </a:xfrm>
          <a:prstGeom prst="rect">
            <a:avLst/>
          </a:prstGeom>
        </p:spPr>
      </p:pic>
      <p:cxnSp>
        <p:nvCxnSpPr>
          <p:cNvPr id="5" name="Straight Arrow Connector 4"/>
          <p:cNvCxnSpPr/>
          <p:nvPr/>
        </p:nvCxnSpPr>
        <p:spPr>
          <a:xfrm>
            <a:off x="7791315" y="2884052"/>
            <a:ext cx="0" cy="42721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6"/>
          <a:stretch>
            <a:fillRect/>
          </a:stretch>
        </p:blipFill>
        <p:spPr>
          <a:xfrm>
            <a:off x="4129069" y="6041550"/>
            <a:ext cx="5970970" cy="816450"/>
          </a:xfrm>
          <a:prstGeom prst="rect">
            <a:avLst/>
          </a:prstGeom>
        </p:spPr>
      </p:pic>
      <p:cxnSp>
        <p:nvCxnSpPr>
          <p:cNvPr id="12" name="Straight Arrow Connector 11"/>
          <p:cNvCxnSpPr/>
          <p:nvPr/>
        </p:nvCxnSpPr>
        <p:spPr>
          <a:xfrm flipH="1" flipV="1">
            <a:off x="5743074" y="5518484"/>
            <a:ext cx="1042738" cy="52306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61189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840832" y="1340787"/>
          <a:ext cx="8402052" cy="3987483"/>
        </p:xfrm>
        <a:graphic>
          <a:graphicData uri="http://schemas.openxmlformats.org/drawingml/2006/table">
            <a:tbl>
              <a:tblPr firstRow="1" firstCol="1" bandRow="1"/>
              <a:tblGrid>
                <a:gridCol w="2872365">
                  <a:extLst>
                    <a:ext uri="{9D8B030D-6E8A-4147-A177-3AD203B41FA5}">
                      <a16:colId xmlns:a16="http://schemas.microsoft.com/office/drawing/2014/main" val="20000"/>
                    </a:ext>
                  </a:extLst>
                </a:gridCol>
                <a:gridCol w="2918445">
                  <a:extLst>
                    <a:ext uri="{9D8B030D-6E8A-4147-A177-3AD203B41FA5}">
                      <a16:colId xmlns:a16="http://schemas.microsoft.com/office/drawing/2014/main" val="20001"/>
                    </a:ext>
                  </a:extLst>
                </a:gridCol>
                <a:gridCol w="2611242">
                  <a:extLst>
                    <a:ext uri="{9D8B030D-6E8A-4147-A177-3AD203B41FA5}">
                      <a16:colId xmlns:a16="http://schemas.microsoft.com/office/drawing/2014/main" val="20002"/>
                    </a:ext>
                  </a:extLst>
                </a:gridCol>
              </a:tblGrid>
              <a:tr h="0">
                <a:tc>
                  <a:txBody>
                    <a:bodyPr/>
                    <a:lstStyle/>
                    <a:p>
                      <a:pPr marL="0" marR="0">
                        <a:lnSpc>
                          <a:spcPct val="150000"/>
                        </a:lnSpc>
                        <a:spcBef>
                          <a:spcPts val="0"/>
                        </a:spcBef>
                        <a:spcAft>
                          <a:spcPts val="0"/>
                        </a:spcAft>
                      </a:pPr>
                      <a:r>
                        <a:rPr lang="en-US" sz="2800" b="1" i="1" dirty="0">
                          <a:solidFill>
                            <a:schemeClr val="bg1"/>
                          </a:solidFill>
                          <a:effectLst/>
                          <a:latin typeface="Calibri"/>
                          <a:ea typeface="Calibri"/>
                          <a:cs typeface="Calibri"/>
                        </a:rPr>
                        <a:t>Instruction</a:t>
                      </a:r>
                      <a:endParaRPr lang="en-US" sz="2800" dirty="0">
                        <a:solidFill>
                          <a:schemeClr val="bg1"/>
                        </a:solidFill>
                        <a:effectLst/>
                        <a:latin typeface="Arial"/>
                        <a:ea typeface="Arial"/>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nSpc>
                          <a:spcPct val="150000"/>
                        </a:lnSpc>
                        <a:spcBef>
                          <a:spcPts val="0"/>
                        </a:spcBef>
                        <a:spcAft>
                          <a:spcPts val="0"/>
                        </a:spcAft>
                      </a:pPr>
                      <a:r>
                        <a:rPr lang="en-US" sz="2800" b="1" i="1" dirty="0">
                          <a:solidFill>
                            <a:schemeClr val="bg1"/>
                          </a:solidFill>
                          <a:effectLst/>
                          <a:latin typeface="Calibri"/>
                          <a:ea typeface="Calibri"/>
                          <a:cs typeface="Calibri"/>
                        </a:rPr>
                        <a:t>Syntax</a:t>
                      </a:r>
                      <a:endParaRPr lang="en-US" sz="2800" dirty="0">
                        <a:solidFill>
                          <a:schemeClr val="bg1"/>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nSpc>
                          <a:spcPct val="150000"/>
                        </a:lnSpc>
                        <a:spcBef>
                          <a:spcPts val="0"/>
                        </a:spcBef>
                        <a:spcAft>
                          <a:spcPts val="0"/>
                        </a:spcAft>
                      </a:pPr>
                      <a:r>
                        <a:rPr lang="en-US" sz="2800" b="1" i="1" dirty="0">
                          <a:solidFill>
                            <a:schemeClr val="bg1"/>
                          </a:solidFill>
                          <a:effectLst/>
                          <a:latin typeface="Calibri"/>
                          <a:ea typeface="Calibri"/>
                          <a:cs typeface="Calibri"/>
                        </a:rPr>
                        <a:t>Operation</a:t>
                      </a:r>
                      <a:endParaRPr lang="en-US" sz="2800" dirty="0">
                        <a:solidFill>
                          <a:schemeClr val="bg1"/>
                        </a:solidFill>
                        <a:effectLst/>
                        <a:latin typeface="Arial"/>
                        <a:ea typeface="Arial"/>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65760">
                <a:tc>
                  <a:txBody>
                    <a:bodyPr/>
                    <a:lstStyle/>
                    <a:p>
                      <a:pPr marL="0" marR="0">
                        <a:lnSpc>
                          <a:spcPct val="100000"/>
                        </a:lnSpc>
                        <a:spcBef>
                          <a:spcPts val="0"/>
                        </a:spcBef>
                        <a:spcAft>
                          <a:spcPts val="0"/>
                        </a:spcAft>
                      </a:pPr>
                      <a:r>
                        <a:rPr lang="en-US" sz="2000" dirty="0">
                          <a:solidFill>
                            <a:srgbClr val="000000"/>
                          </a:solidFill>
                          <a:effectLst/>
                          <a:latin typeface="Calibri"/>
                          <a:ea typeface="Calibri"/>
                          <a:cs typeface="Calibri"/>
                        </a:rPr>
                        <a:t>Move FP Register </a:t>
                      </a:r>
                      <a:br>
                        <a:rPr lang="en-US" sz="2000" dirty="0">
                          <a:solidFill>
                            <a:srgbClr val="000000"/>
                          </a:solidFill>
                          <a:effectLst/>
                          <a:latin typeface="Calibri"/>
                          <a:ea typeface="Calibri"/>
                          <a:cs typeface="Calibri"/>
                        </a:rPr>
                      </a:br>
                      <a:r>
                        <a:rPr lang="en-US" sz="2000" dirty="0">
                          <a:solidFill>
                            <a:srgbClr val="000000"/>
                          </a:solidFill>
                          <a:effectLst/>
                          <a:latin typeface="Calibri"/>
                          <a:ea typeface="Calibri"/>
                          <a:cs typeface="Calibri"/>
                        </a:rPr>
                        <a:t>to FP Register</a:t>
                      </a:r>
                      <a:endParaRPr lang="en-US" sz="20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512763" algn="l"/>
                        </a:tabLst>
                      </a:pPr>
                      <a:r>
                        <a:rPr lang="en-US" sz="2000" dirty="0">
                          <a:solidFill>
                            <a:srgbClr val="000000"/>
                          </a:solidFill>
                          <a:effectLst/>
                          <a:latin typeface="Calibri"/>
                          <a:ea typeface="Calibri"/>
                          <a:cs typeface="Calibri"/>
                        </a:rPr>
                        <a:t>VMOV	</a:t>
                      </a:r>
                      <a:r>
                        <a:rPr lang="en-US" sz="2000" dirty="0" err="1">
                          <a:solidFill>
                            <a:srgbClr val="000000"/>
                          </a:solidFill>
                          <a:effectLst/>
                          <a:latin typeface="Calibri"/>
                          <a:ea typeface="Calibri"/>
                          <a:cs typeface="Calibri"/>
                        </a:rPr>
                        <a:t>S</a:t>
                      </a:r>
                      <a:r>
                        <a:rPr lang="en-US" sz="2000" baseline="-25000" dirty="0" err="1">
                          <a:solidFill>
                            <a:srgbClr val="000000"/>
                          </a:solidFill>
                          <a:effectLst/>
                          <a:latin typeface="Calibri"/>
                          <a:ea typeface="Calibri"/>
                          <a:cs typeface="Calibri"/>
                        </a:rPr>
                        <a:t>d</a:t>
                      </a:r>
                      <a:r>
                        <a:rPr lang="en-US" sz="2000" dirty="0" err="1">
                          <a:solidFill>
                            <a:srgbClr val="000000"/>
                          </a:solidFill>
                          <a:effectLst/>
                          <a:latin typeface="Calibri"/>
                          <a:ea typeface="Calibri"/>
                          <a:cs typeface="Calibri"/>
                        </a:rPr>
                        <a:t>,S</a:t>
                      </a:r>
                      <a:r>
                        <a:rPr lang="en-US" sz="2000" baseline="-25000" dirty="0" err="1">
                          <a:solidFill>
                            <a:srgbClr val="000000"/>
                          </a:solidFill>
                          <a:effectLst/>
                          <a:latin typeface="Calibri"/>
                          <a:ea typeface="Calibri"/>
                          <a:cs typeface="Calibri"/>
                        </a:rPr>
                        <a:t>m</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2000" dirty="0" err="1">
                          <a:solidFill>
                            <a:srgbClr val="000000"/>
                          </a:solidFill>
                          <a:effectLst/>
                          <a:latin typeface="Calibri"/>
                          <a:ea typeface="Calibri"/>
                          <a:cs typeface="Calibri"/>
                        </a:rPr>
                        <a:t>S</a:t>
                      </a:r>
                      <a:r>
                        <a:rPr lang="en-US" sz="2000" baseline="-25000" dirty="0" err="1">
                          <a:solidFill>
                            <a:srgbClr val="000000"/>
                          </a:solidFill>
                          <a:effectLst/>
                          <a:latin typeface="Calibri"/>
                          <a:ea typeface="Calibri"/>
                          <a:cs typeface="Calibri"/>
                        </a:rPr>
                        <a:t>d</a:t>
                      </a:r>
                      <a:r>
                        <a:rPr lang="en-US" sz="2000" dirty="0">
                          <a:solidFill>
                            <a:srgbClr val="000000"/>
                          </a:solidFill>
                          <a:effectLst/>
                          <a:latin typeface="Calibri"/>
                          <a:ea typeface="Calibri"/>
                          <a:cs typeface="Calibri"/>
                        </a:rPr>
                        <a:t> </a:t>
                      </a:r>
                      <a:r>
                        <a:rPr lang="en-US" sz="2000" dirty="0">
                          <a:solidFill>
                            <a:srgbClr val="000000"/>
                          </a:solidFill>
                          <a:effectLst/>
                          <a:latin typeface="Calibri"/>
                          <a:ea typeface="Calibri"/>
                          <a:cs typeface="Calibri"/>
                          <a:sym typeface="Wingdings"/>
                        </a:rPr>
                        <a:t>=</a:t>
                      </a:r>
                      <a:r>
                        <a:rPr lang="en-US" sz="2000" dirty="0">
                          <a:solidFill>
                            <a:srgbClr val="000000"/>
                          </a:solidFill>
                          <a:effectLst/>
                          <a:latin typeface="Calibri"/>
                          <a:ea typeface="Calibri"/>
                          <a:cs typeface="Calibri"/>
                        </a:rPr>
                        <a:t> S</a:t>
                      </a:r>
                      <a:r>
                        <a:rPr lang="en-US" sz="2000" baseline="-25000" dirty="0">
                          <a:solidFill>
                            <a:srgbClr val="000000"/>
                          </a:solidFill>
                          <a:effectLst/>
                          <a:latin typeface="Calibri"/>
                          <a:ea typeface="Calibri"/>
                          <a:cs typeface="Calibri"/>
                        </a:rPr>
                        <a:t>m</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marR="0">
                        <a:lnSpc>
                          <a:spcPct val="100000"/>
                        </a:lnSpc>
                        <a:spcBef>
                          <a:spcPts val="0"/>
                        </a:spcBef>
                        <a:spcAft>
                          <a:spcPts val="0"/>
                        </a:spcAft>
                      </a:pPr>
                      <a:r>
                        <a:rPr lang="en-US" sz="2000" dirty="0">
                          <a:solidFill>
                            <a:srgbClr val="000000"/>
                          </a:solidFill>
                          <a:effectLst/>
                          <a:latin typeface="Calibri"/>
                          <a:ea typeface="Calibri"/>
                          <a:cs typeface="Calibri"/>
                        </a:rPr>
                        <a:t>Move FP Register </a:t>
                      </a:r>
                      <a:br>
                        <a:rPr lang="en-US" sz="2000" dirty="0">
                          <a:solidFill>
                            <a:srgbClr val="000000"/>
                          </a:solidFill>
                          <a:effectLst/>
                          <a:latin typeface="Calibri"/>
                          <a:ea typeface="Calibri"/>
                          <a:cs typeface="Calibri"/>
                        </a:rPr>
                      </a:br>
                      <a:r>
                        <a:rPr lang="en-US" sz="2000" dirty="0">
                          <a:solidFill>
                            <a:srgbClr val="000000"/>
                          </a:solidFill>
                          <a:effectLst/>
                          <a:latin typeface="Calibri"/>
                          <a:ea typeface="Calibri"/>
                          <a:cs typeface="Calibri"/>
                        </a:rPr>
                        <a:t>to Core Register</a:t>
                      </a:r>
                      <a:endParaRPr lang="en-US" sz="20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512763" algn="l"/>
                        </a:tabLst>
                      </a:pPr>
                      <a:r>
                        <a:rPr lang="en-US" sz="2000" dirty="0">
                          <a:solidFill>
                            <a:srgbClr val="000000"/>
                          </a:solidFill>
                          <a:effectLst/>
                          <a:latin typeface="Calibri"/>
                          <a:ea typeface="Calibri"/>
                          <a:cs typeface="Calibri"/>
                        </a:rPr>
                        <a:t>VMOV	</a:t>
                      </a:r>
                      <a:r>
                        <a:rPr lang="en-US" sz="2000" b="1" dirty="0" err="1">
                          <a:solidFill>
                            <a:srgbClr val="FF0000"/>
                          </a:solidFill>
                          <a:effectLst/>
                          <a:latin typeface="Calibri"/>
                          <a:ea typeface="Calibri"/>
                          <a:cs typeface="Calibri"/>
                        </a:rPr>
                        <a:t>R</a:t>
                      </a:r>
                      <a:r>
                        <a:rPr lang="en-US" sz="2000" baseline="-25000" dirty="0" err="1">
                          <a:solidFill>
                            <a:srgbClr val="000000"/>
                          </a:solidFill>
                          <a:effectLst/>
                          <a:latin typeface="Calibri"/>
                          <a:ea typeface="Calibri"/>
                          <a:cs typeface="Calibri"/>
                        </a:rPr>
                        <a:t>d</a:t>
                      </a:r>
                      <a:r>
                        <a:rPr lang="en-US" sz="2000" dirty="0" err="1">
                          <a:solidFill>
                            <a:srgbClr val="000000"/>
                          </a:solidFill>
                          <a:effectLst/>
                          <a:latin typeface="Calibri"/>
                          <a:ea typeface="Calibri"/>
                          <a:cs typeface="Calibri"/>
                        </a:rPr>
                        <a:t>,S</a:t>
                      </a:r>
                      <a:r>
                        <a:rPr lang="en-US" sz="2000" baseline="-25000" dirty="0" err="1">
                          <a:solidFill>
                            <a:srgbClr val="000000"/>
                          </a:solidFill>
                          <a:effectLst/>
                          <a:latin typeface="Calibri"/>
                          <a:ea typeface="Calibri"/>
                          <a:cs typeface="Calibri"/>
                        </a:rPr>
                        <a:t>m</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2000" b="1" dirty="0">
                          <a:solidFill>
                            <a:srgbClr val="FF0000"/>
                          </a:solidFill>
                          <a:effectLst/>
                          <a:latin typeface="Calibri"/>
                          <a:ea typeface="Calibri"/>
                          <a:cs typeface="Calibri"/>
                        </a:rPr>
                        <a:t>R</a:t>
                      </a:r>
                      <a:r>
                        <a:rPr lang="en-US" sz="2000" baseline="-25000" dirty="0">
                          <a:solidFill>
                            <a:srgbClr val="000000"/>
                          </a:solidFill>
                          <a:effectLst/>
                          <a:latin typeface="Calibri"/>
                          <a:ea typeface="Calibri"/>
                          <a:cs typeface="Calibri"/>
                        </a:rPr>
                        <a:t>d</a:t>
                      </a:r>
                      <a:r>
                        <a:rPr lang="en-US" sz="2000" dirty="0">
                          <a:solidFill>
                            <a:srgbClr val="000000"/>
                          </a:solidFill>
                          <a:effectLst/>
                          <a:latin typeface="Calibri"/>
                          <a:ea typeface="Calibri"/>
                          <a:cs typeface="Calibri"/>
                        </a:rPr>
                        <a:t> </a:t>
                      </a:r>
                      <a:r>
                        <a:rPr lang="en-US" sz="2000" dirty="0">
                          <a:solidFill>
                            <a:srgbClr val="000000"/>
                          </a:solidFill>
                          <a:effectLst/>
                          <a:latin typeface="Calibri"/>
                          <a:ea typeface="Calibri"/>
                          <a:cs typeface="Calibri"/>
                          <a:sym typeface="Wingdings"/>
                        </a:rPr>
                        <a:t>=</a:t>
                      </a:r>
                      <a:r>
                        <a:rPr lang="en-US" sz="2000" dirty="0">
                          <a:solidFill>
                            <a:srgbClr val="000000"/>
                          </a:solidFill>
                          <a:effectLst/>
                          <a:latin typeface="Calibri"/>
                          <a:ea typeface="Calibri"/>
                          <a:cs typeface="Calibri"/>
                        </a:rPr>
                        <a:t> S</a:t>
                      </a:r>
                      <a:r>
                        <a:rPr lang="en-US" sz="2000" baseline="-25000" dirty="0">
                          <a:solidFill>
                            <a:srgbClr val="000000"/>
                          </a:solidFill>
                          <a:effectLst/>
                          <a:latin typeface="Calibri"/>
                          <a:ea typeface="Calibri"/>
                          <a:cs typeface="Calibri"/>
                        </a:rPr>
                        <a:t>m</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marR="0">
                        <a:lnSpc>
                          <a:spcPct val="100000"/>
                        </a:lnSpc>
                        <a:spcBef>
                          <a:spcPts val="0"/>
                        </a:spcBef>
                        <a:spcAft>
                          <a:spcPts val="0"/>
                        </a:spcAft>
                      </a:pPr>
                      <a:r>
                        <a:rPr lang="en-US" sz="2000" dirty="0">
                          <a:solidFill>
                            <a:srgbClr val="000000"/>
                          </a:solidFill>
                          <a:effectLst/>
                          <a:latin typeface="Calibri"/>
                          <a:ea typeface="Calibri"/>
                          <a:cs typeface="Calibri"/>
                        </a:rPr>
                        <a:t>Move Core Register </a:t>
                      </a:r>
                      <a:br>
                        <a:rPr lang="en-US" sz="2000" dirty="0">
                          <a:solidFill>
                            <a:srgbClr val="000000"/>
                          </a:solidFill>
                          <a:effectLst/>
                          <a:latin typeface="Calibri"/>
                          <a:ea typeface="Calibri"/>
                          <a:cs typeface="Calibri"/>
                        </a:rPr>
                      </a:br>
                      <a:r>
                        <a:rPr lang="en-US" sz="2000" dirty="0">
                          <a:solidFill>
                            <a:srgbClr val="000000"/>
                          </a:solidFill>
                          <a:effectLst/>
                          <a:latin typeface="Calibri"/>
                          <a:ea typeface="Calibri"/>
                          <a:cs typeface="Calibri"/>
                        </a:rPr>
                        <a:t>to FP Register</a:t>
                      </a:r>
                      <a:endParaRPr lang="en-US" sz="20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512763" algn="l"/>
                        </a:tabLst>
                      </a:pPr>
                      <a:r>
                        <a:rPr lang="en-US" sz="2000" dirty="0">
                          <a:solidFill>
                            <a:srgbClr val="000000"/>
                          </a:solidFill>
                          <a:effectLst/>
                          <a:latin typeface="Calibri"/>
                          <a:ea typeface="Calibri"/>
                          <a:cs typeface="Calibri"/>
                        </a:rPr>
                        <a:t>VMOV	</a:t>
                      </a:r>
                      <a:r>
                        <a:rPr lang="en-US" sz="2000" dirty="0" err="1">
                          <a:solidFill>
                            <a:srgbClr val="000000"/>
                          </a:solidFill>
                          <a:effectLst/>
                          <a:latin typeface="Calibri"/>
                          <a:ea typeface="Calibri"/>
                          <a:cs typeface="Calibri"/>
                        </a:rPr>
                        <a:t>S</a:t>
                      </a:r>
                      <a:r>
                        <a:rPr lang="en-US" sz="2000" baseline="-25000" dirty="0" err="1">
                          <a:solidFill>
                            <a:srgbClr val="000000"/>
                          </a:solidFill>
                          <a:effectLst/>
                          <a:latin typeface="Calibri"/>
                          <a:ea typeface="Calibri"/>
                          <a:cs typeface="Calibri"/>
                        </a:rPr>
                        <a:t>d</a:t>
                      </a:r>
                      <a:r>
                        <a:rPr lang="en-US" sz="2000" dirty="0" err="1">
                          <a:solidFill>
                            <a:srgbClr val="000000"/>
                          </a:solidFill>
                          <a:effectLst/>
                          <a:latin typeface="Calibri"/>
                          <a:ea typeface="Calibri"/>
                          <a:cs typeface="Calibri"/>
                        </a:rPr>
                        <a:t>,</a:t>
                      </a:r>
                      <a:r>
                        <a:rPr lang="en-US" sz="2000" b="1" dirty="0" err="1">
                          <a:solidFill>
                            <a:srgbClr val="FF0000"/>
                          </a:solidFill>
                          <a:effectLst/>
                          <a:latin typeface="Calibri"/>
                          <a:ea typeface="Calibri"/>
                          <a:cs typeface="Calibri"/>
                        </a:rPr>
                        <a:t>R</a:t>
                      </a:r>
                      <a:r>
                        <a:rPr lang="en-US" sz="2000" baseline="-25000" dirty="0" err="1">
                          <a:solidFill>
                            <a:srgbClr val="000000"/>
                          </a:solidFill>
                          <a:effectLst/>
                          <a:latin typeface="Calibri"/>
                          <a:ea typeface="Calibri"/>
                          <a:cs typeface="Calibri"/>
                        </a:rPr>
                        <a:t>m</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2000" dirty="0" err="1">
                          <a:solidFill>
                            <a:srgbClr val="000000"/>
                          </a:solidFill>
                          <a:effectLst/>
                          <a:latin typeface="Calibri"/>
                          <a:ea typeface="Calibri"/>
                          <a:cs typeface="Calibri"/>
                        </a:rPr>
                        <a:t>S</a:t>
                      </a:r>
                      <a:r>
                        <a:rPr lang="en-US" sz="2000" baseline="-25000" dirty="0" err="1">
                          <a:solidFill>
                            <a:srgbClr val="000000"/>
                          </a:solidFill>
                          <a:effectLst/>
                          <a:latin typeface="Calibri"/>
                          <a:ea typeface="Calibri"/>
                          <a:cs typeface="Calibri"/>
                        </a:rPr>
                        <a:t>d</a:t>
                      </a:r>
                      <a:r>
                        <a:rPr lang="en-US" sz="2000" dirty="0">
                          <a:solidFill>
                            <a:srgbClr val="000000"/>
                          </a:solidFill>
                          <a:effectLst/>
                          <a:latin typeface="Calibri"/>
                          <a:ea typeface="Calibri"/>
                          <a:cs typeface="Calibri"/>
                        </a:rPr>
                        <a:t> </a:t>
                      </a:r>
                      <a:r>
                        <a:rPr lang="en-US" sz="2000" dirty="0">
                          <a:solidFill>
                            <a:srgbClr val="000000"/>
                          </a:solidFill>
                          <a:effectLst/>
                          <a:latin typeface="Calibri"/>
                          <a:ea typeface="Calibri"/>
                          <a:cs typeface="Calibri"/>
                          <a:sym typeface="Wingdings"/>
                        </a:rPr>
                        <a:t>=</a:t>
                      </a:r>
                      <a:r>
                        <a:rPr lang="en-US" sz="2000" dirty="0">
                          <a:solidFill>
                            <a:srgbClr val="000000"/>
                          </a:solidFill>
                          <a:effectLst/>
                          <a:latin typeface="Calibri"/>
                          <a:ea typeface="Calibri"/>
                          <a:cs typeface="Calibri"/>
                        </a:rPr>
                        <a:t> </a:t>
                      </a:r>
                      <a:r>
                        <a:rPr lang="en-US" sz="2000" b="1" dirty="0">
                          <a:solidFill>
                            <a:srgbClr val="FF0000"/>
                          </a:solidFill>
                          <a:effectLst/>
                          <a:latin typeface="Calibri"/>
                          <a:ea typeface="Calibri"/>
                          <a:cs typeface="Calibri"/>
                        </a:rPr>
                        <a:t>R</a:t>
                      </a:r>
                      <a:r>
                        <a:rPr lang="en-US" sz="2000" baseline="-25000" dirty="0">
                          <a:solidFill>
                            <a:srgbClr val="000000"/>
                          </a:solidFill>
                          <a:effectLst/>
                          <a:latin typeface="Calibri"/>
                          <a:ea typeface="Calibri"/>
                          <a:cs typeface="Calibri"/>
                        </a:rPr>
                        <a:t>m</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effectLst/>
                          <a:latin typeface="+mn-lt"/>
                          <a:ea typeface="Calibri"/>
                          <a:cs typeface="Calibri"/>
                        </a:rPr>
                        <a:t>Move 2 FP Registers </a:t>
                      </a:r>
                      <a:br>
                        <a:rPr lang="en-US" sz="2000" dirty="0">
                          <a:solidFill>
                            <a:srgbClr val="000000"/>
                          </a:solidFill>
                          <a:effectLst/>
                          <a:latin typeface="+mn-lt"/>
                          <a:ea typeface="Calibri"/>
                          <a:cs typeface="Calibri"/>
                        </a:rPr>
                      </a:br>
                      <a:r>
                        <a:rPr lang="en-US" sz="2000" dirty="0">
                          <a:solidFill>
                            <a:srgbClr val="000000"/>
                          </a:solidFill>
                          <a:effectLst/>
                          <a:latin typeface="+mn-lt"/>
                          <a:ea typeface="Calibri"/>
                          <a:cs typeface="Calibri"/>
                        </a:rPr>
                        <a:t>to Core Registers</a:t>
                      </a:r>
                      <a:endParaRPr lang="en-US" sz="20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512763" algn="l"/>
                        </a:tabLst>
                        <a:defRPr/>
                      </a:pPr>
                      <a:r>
                        <a:rPr lang="en-US" sz="2000" dirty="0">
                          <a:solidFill>
                            <a:srgbClr val="000000"/>
                          </a:solidFill>
                          <a:effectLst/>
                          <a:latin typeface="+mn-lt"/>
                          <a:ea typeface="Calibri"/>
                          <a:cs typeface="Calibri"/>
                        </a:rPr>
                        <a:t>VMOV	</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t</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t2</a:t>
                      </a:r>
                      <a:r>
                        <a:rPr lang="en-US" sz="2000" dirty="0">
                          <a:solidFill>
                            <a:srgbClr val="000000"/>
                          </a:solidFill>
                          <a:effectLst/>
                          <a:latin typeface="+mn-lt"/>
                          <a:ea typeface="Calibri"/>
                          <a:cs typeface="Calibri"/>
                        </a:rPr>
                        <a:t>,S</a:t>
                      </a:r>
                      <a:r>
                        <a:rPr lang="en-US" sz="2000" baseline="-25000" dirty="0">
                          <a:solidFill>
                            <a:srgbClr val="000000"/>
                          </a:solidFill>
                          <a:effectLst/>
                          <a:latin typeface="+mn-lt"/>
                          <a:ea typeface="Calibri"/>
                          <a:cs typeface="Calibri"/>
                        </a:rPr>
                        <a:t>m</a:t>
                      </a:r>
                      <a:r>
                        <a:rPr lang="en-US" sz="2000" dirty="0">
                          <a:solidFill>
                            <a:srgbClr val="000000"/>
                          </a:solidFill>
                          <a:effectLst/>
                          <a:latin typeface="+mn-lt"/>
                          <a:ea typeface="Calibri"/>
                          <a:cs typeface="Calibri"/>
                        </a:rPr>
                        <a:t>,S</a:t>
                      </a:r>
                      <a:r>
                        <a:rPr lang="en-US" sz="2000" baseline="-25000" dirty="0">
                          <a:solidFill>
                            <a:srgbClr val="000000"/>
                          </a:solidFill>
                          <a:effectLst/>
                          <a:latin typeface="+mn-lt"/>
                          <a:ea typeface="Calibri"/>
                          <a:cs typeface="Calibri"/>
                        </a:rPr>
                        <a:t>m1</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err="1">
                          <a:solidFill>
                            <a:srgbClr val="FF0000"/>
                          </a:solidFill>
                          <a:effectLst/>
                          <a:latin typeface="+mn-lt"/>
                          <a:ea typeface="Calibri"/>
                          <a:cs typeface="Calibri"/>
                        </a:rPr>
                        <a:t>R</a:t>
                      </a:r>
                      <a:r>
                        <a:rPr lang="en-US" sz="2000" baseline="-25000" dirty="0" err="1">
                          <a:solidFill>
                            <a:srgbClr val="000000"/>
                          </a:solidFill>
                          <a:effectLst/>
                          <a:latin typeface="+mn-lt"/>
                          <a:ea typeface="Calibri"/>
                          <a:cs typeface="Calibri"/>
                        </a:rPr>
                        <a:t>t</a:t>
                      </a:r>
                      <a:r>
                        <a:rPr lang="en-US" sz="2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sym typeface="Wingdings"/>
                        </a:rPr>
                        <a:t>=</a:t>
                      </a:r>
                      <a:r>
                        <a:rPr lang="en-US" sz="2000" dirty="0">
                          <a:solidFill>
                            <a:srgbClr val="000000"/>
                          </a:solidFill>
                          <a:effectLst/>
                          <a:latin typeface="+mn-lt"/>
                          <a:ea typeface="Calibri"/>
                          <a:cs typeface="Calibri"/>
                        </a:rPr>
                        <a:t> S</a:t>
                      </a:r>
                      <a:r>
                        <a:rPr lang="en-US" sz="2000" baseline="-25000" dirty="0">
                          <a:solidFill>
                            <a:srgbClr val="000000"/>
                          </a:solidFill>
                          <a:effectLst/>
                          <a:latin typeface="+mn-lt"/>
                          <a:ea typeface="Calibri"/>
                          <a:cs typeface="Calibri"/>
                        </a:rPr>
                        <a:t>m </a:t>
                      </a:r>
                      <a:r>
                        <a:rPr lang="en-US" sz="2000" dirty="0">
                          <a:solidFill>
                            <a:srgbClr val="000000"/>
                          </a:solidFill>
                          <a:effectLst/>
                          <a:latin typeface="+mn-lt"/>
                          <a:ea typeface="Calibri"/>
                          <a:cs typeface="Calibri"/>
                        </a:rPr>
                        <a:t>; </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t2</a:t>
                      </a:r>
                      <a:r>
                        <a:rPr lang="en-US" sz="2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sym typeface="Wingdings"/>
                        </a:rPr>
                        <a:t>=</a:t>
                      </a:r>
                      <a:r>
                        <a:rPr lang="en-US" sz="2000" dirty="0">
                          <a:solidFill>
                            <a:srgbClr val="000000"/>
                          </a:solidFill>
                          <a:effectLst/>
                          <a:latin typeface="+mn-lt"/>
                          <a:ea typeface="Calibri"/>
                          <a:cs typeface="Calibri"/>
                        </a:rPr>
                        <a:t> S</a:t>
                      </a:r>
                      <a:r>
                        <a:rPr lang="en-US" sz="2000" baseline="-25000" dirty="0">
                          <a:solidFill>
                            <a:srgbClr val="000000"/>
                          </a:solidFill>
                          <a:effectLst/>
                          <a:latin typeface="+mn-lt"/>
                          <a:ea typeface="Calibri"/>
                          <a:cs typeface="Calibri"/>
                        </a:rPr>
                        <a:t>m1</a:t>
                      </a:r>
                      <a:br>
                        <a:rPr lang="en-US" sz="2000" baseline="-25000" dirty="0">
                          <a:solidFill>
                            <a:srgbClr val="000000"/>
                          </a:solidFill>
                          <a:effectLst/>
                          <a:latin typeface="+mn-lt"/>
                          <a:ea typeface="Calibri"/>
                          <a:cs typeface="Calibri"/>
                        </a:rPr>
                      </a:br>
                      <a:r>
                        <a:rPr lang="en-US" sz="2000" dirty="0">
                          <a:solidFill>
                            <a:srgbClr val="000000"/>
                          </a:solidFill>
                          <a:effectLst/>
                          <a:latin typeface="+mn-lt"/>
                          <a:ea typeface="Calibri"/>
                          <a:cs typeface="Calibri"/>
                        </a:rPr>
                        <a:t>Note: m1 = m + 1</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effectLst/>
                          <a:latin typeface="+mn-lt"/>
                          <a:ea typeface="Calibri"/>
                          <a:cs typeface="Calibri"/>
                        </a:rPr>
                        <a:t>Move 2 Core Registers </a:t>
                      </a:r>
                      <a:br>
                        <a:rPr lang="en-US" sz="2000" dirty="0">
                          <a:solidFill>
                            <a:srgbClr val="000000"/>
                          </a:solidFill>
                          <a:effectLst/>
                          <a:latin typeface="+mn-lt"/>
                          <a:ea typeface="Calibri"/>
                          <a:cs typeface="Calibri"/>
                        </a:rPr>
                      </a:br>
                      <a:r>
                        <a:rPr lang="en-US" sz="2000" dirty="0">
                          <a:solidFill>
                            <a:srgbClr val="000000"/>
                          </a:solidFill>
                          <a:effectLst/>
                          <a:latin typeface="+mn-lt"/>
                          <a:ea typeface="Calibri"/>
                          <a:cs typeface="Calibri"/>
                        </a:rPr>
                        <a:t>to FP Registers</a:t>
                      </a:r>
                      <a:endParaRPr lang="en-US" sz="20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512763" algn="l"/>
                        </a:tabLst>
                        <a:defRPr/>
                      </a:pPr>
                      <a:r>
                        <a:rPr lang="en-US" sz="2000" dirty="0">
                          <a:solidFill>
                            <a:srgbClr val="000000"/>
                          </a:solidFill>
                          <a:effectLst/>
                          <a:latin typeface="+mn-lt"/>
                          <a:ea typeface="Calibri"/>
                          <a:cs typeface="Calibri"/>
                        </a:rPr>
                        <a:t>VMOV	S</a:t>
                      </a:r>
                      <a:r>
                        <a:rPr lang="en-US" sz="2000" baseline="-25000" dirty="0">
                          <a:solidFill>
                            <a:srgbClr val="000000"/>
                          </a:solidFill>
                          <a:effectLst/>
                          <a:latin typeface="+mn-lt"/>
                          <a:ea typeface="Calibri"/>
                          <a:cs typeface="Calibri"/>
                        </a:rPr>
                        <a:t>m</a:t>
                      </a:r>
                      <a:r>
                        <a:rPr lang="en-US" sz="2000" dirty="0">
                          <a:solidFill>
                            <a:srgbClr val="000000"/>
                          </a:solidFill>
                          <a:effectLst/>
                          <a:latin typeface="+mn-lt"/>
                          <a:ea typeface="Calibri"/>
                          <a:cs typeface="Calibri"/>
                        </a:rPr>
                        <a:t>,S</a:t>
                      </a:r>
                      <a:r>
                        <a:rPr lang="en-US" sz="2000" baseline="-25000" dirty="0">
                          <a:solidFill>
                            <a:srgbClr val="000000"/>
                          </a:solidFill>
                          <a:effectLst/>
                          <a:latin typeface="+mn-lt"/>
                          <a:ea typeface="Calibri"/>
                          <a:cs typeface="Calibri"/>
                        </a:rPr>
                        <a:t>m1</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t</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t2</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effectLst/>
                          <a:latin typeface="+mn-lt"/>
                          <a:ea typeface="Calibri"/>
                          <a:cs typeface="Calibri"/>
                        </a:rPr>
                        <a:t>S</a:t>
                      </a:r>
                      <a:r>
                        <a:rPr lang="en-US" sz="2000" baseline="-25000" dirty="0">
                          <a:solidFill>
                            <a:srgbClr val="000000"/>
                          </a:solidFill>
                          <a:effectLst/>
                          <a:latin typeface="+mn-lt"/>
                          <a:ea typeface="Calibri"/>
                          <a:cs typeface="Calibri"/>
                        </a:rPr>
                        <a:t>m</a:t>
                      </a:r>
                      <a:r>
                        <a:rPr lang="en-US" sz="2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sym typeface="Wingdings"/>
                        </a:rPr>
                        <a:t>=</a:t>
                      </a:r>
                      <a:r>
                        <a:rPr lang="en-US" sz="2000" dirty="0">
                          <a:solidFill>
                            <a:srgbClr val="000000"/>
                          </a:solidFill>
                          <a:effectLst/>
                          <a:latin typeface="+mn-lt"/>
                          <a:ea typeface="Calibri"/>
                          <a:cs typeface="Calibri"/>
                        </a:rPr>
                        <a:t> </a:t>
                      </a:r>
                      <a:r>
                        <a:rPr lang="en-US" sz="2000" b="1" dirty="0" err="1">
                          <a:solidFill>
                            <a:srgbClr val="FF0000"/>
                          </a:solidFill>
                          <a:effectLst/>
                          <a:latin typeface="+mn-lt"/>
                          <a:ea typeface="Calibri"/>
                          <a:cs typeface="Calibri"/>
                        </a:rPr>
                        <a:t>R</a:t>
                      </a:r>
                      <a:r>
                        <a:rPr lang="en-US" sz="2000" baseline="-25000" dirty="0" err="1">
                          <a:solidFill>
                            <a:srgbClr val="000000"/>
                          </a:solidFill>
                          <a:effectLst/>
                          <a:latin typeface="+mn-lt"/>
                          <a:ea typeface="Calibri"/>
                          <a:cs typeface="Calibri"/>
                        </a:rPr>
                        <a:t>t</a:t>
                      </a:r>
                      <a:r>
                        <a:rPr lang="en-US" sz="2000" baseline="-25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rPr>
                        <a:t>; S</a:t>
                      </a:r>
                      <a:r>
                        <a:rPr lang="en-US" sz="2000" baseline="-25000" dirty="0">
                          <a:solidFill>
                            <a:srgbClr val="000000"/>
                          </a:solidFill>
                          <a:effectLst/>
                          <a:latin typeface="+mn-lt"/>
                          <a:ea typeface="Calibri"/>
                          <a:cs typeface="Calibri"/>
                        </a:rPr>
                        <a:t>m1 </a:t>
                      </a:r>
                      <a:r>
                        <a:rPr lang="en-US" sz="2000" baseline="0" dirty="0">
                          <a:solidFill>
                            <a:srgbClr val="000000"/>
                          </a:solidFill>
                          <a:effectLst/>
                          <a:latin typeface="+mn-lt"/>
                          <a:ea typeface="Calibri"/>
                          <a:cs typeface="Calibri"/>
                          <a:sym typeface="Wingdings"/>
                        </a:rPr>
                        <a:t>=</a:t>
                      </a:r>
                      <a:r>
                        <a:rPr lang="en-US" sz="2000" dirty="0">
                          <a:solidFill>
                            <a:srgbClr val="000000"/>
                          </a:solidFill>
                          <a:effectLst/>
                          <a:latin typeface="+mn-lt"/>
                          <a:ea typeface="Calibri"/>
                          <a:cs typeface="Calibri"/>
                        </a:rPr>
                        <a:t> </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t2</a:t>
                      </a:r>
                      <a:br>
                        <a:rPr lang="en-US" sz="2000" baseline="-25000" dirty="0">
                          <a:solidFill>
                            <a:srgbClr val="000000"/>
                          </a:solidFill>
                          <a:effectLst/>
                          <a:latin typeface="+mn-lt"/>
                          <a:ea typeface="Calibri"/>
                          <a:cs typeface="Calibri"/>
                        </a:rPr>
                      </a:br>
                      <a:r>
                        <a:rPr lang="en-US" sz="2000" dirty="0">
                          <a:solidFill>
                            <a:srgbClr val="000000"/>
                          </a:solidFill>
                          <a:effectLst/>
                          <a:latin typeface="+mn-lt"/>
                          <a:ea typeface="Calibri"/>
                          <a:cs typeface="Calibri"/>
                        </a:rPr>
                        <a:t>Note: m1 = m + 1</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Title 2"/>
          <p:cNvSpPr>
            <a:spLocks noGrp="1"/>
          </p:cNvSpPr>
          <p:nvPr>
            <p:ph type="title"/>
          </p:nvPr>
        </p:nvSpPr>
        <p:spPr>
          <a:xfrm>
            <a:off x="936516" y="751166"/>
            <a:ext cx="10417284" cy="488087"/>
          </a:xfrm>
        </p:spPr>
        <p:txBody>
          <a:bodyPr>
            <a:normAutofit/>
          </a:bodyPr>
          <a:lstStyle/>
          <a:p>
            <a:r>
              <a:rPr lang="en-US" sz="2800" u="sng" dirty="0"/>
              <a:t>COPYING</a:t>
            </a:r>
            <a:r>
              <a:rPr lang="en-US" sz="2800" dirty="0"/>
              <a:t> FLOATING-POINT DATA - Register -&gt; Register</a:t>
            </a:r>
          </a:p>
        </p:txBody>
      </p:sp>
      <p:grpSp>
        <p:nvGrpSpPr>
          <p:cNvPr id="4" name="Group 3"/>
          <p:cNvGrpSpPr/>
          <p:nvPr/>
        </p:nvGrpSpPr>
        <p:grpSpPr>
          <a:xfrm>
            <a:off x="2730016" y="5550267"/>
            <a:ext cx="5904650" cy="1015663"/>
            <a:chOff x="877151" y="4928637"/>
            <a:chExt cx="5904650" cy="1015663"/>
          </a:xfrm>
        </p:grpSpPr>
        <p:sp>
          <p:nvSpPr>
            <p:cNvPr id="5" name="TextBox 4"/>
            <p:cNvSpPr txBox="1"/>
            <p:nvPr/>
          </p:nvSpPr>
          <p:spPr>
            <a:xfrm>
              <a:off x="877151" y="4928637"/>
              <a:ext cx="5904650" cy="1015663"/>
            </a:xfrm>
            <a:prstGeom prst="rect">
              <a:avLst/>
            </a:prstGeom>
            <a:solidFill>
              <a:schemeClr val="accent4">
                <a:lumMod val="20000"/>
                <a:lumOff val="80000"/>
              </a:schemeClr>
            </a:solidFill>
            <a:ln/>
          </p:spPr>
          <p:style>
            <a:lnRef idx="1">
              <a:schemeClr val="accent2"/>
            </a:lnRef>
            <a:fillRef idx="2">
              <a:schemeClr val="accent2"/>
            </a:fillRef>
            <a:effectRef idx="1">
              <a:schemeClr val="accent2"/>
            </a:effectRef>
            <a:fontRef idx="minor">
              <a:schemeClr val="dk1"/>
            </a:fontRef>
          </p:style>
          <p:txBody>
            <a:bodyPr wrap="square" tIns="91440" bIns="91440" rtlCol="0">
              <a:spAutoFit/>
            </a:bodyPr>
            <a:lstStyle/>
            <a:p>
              <a:pPr marL="1027113"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These only copy data. They do NOT convert between integer and floating-point representations.</a:t>
              </a:r>
            </a:p>
          </p:txBody>
        </p:sp>
        <p:pic>
          <p:nvPicPr>
            <p:cNvPr id="6" name="Picture 4" descr="http://www.aamu.edu/campuslife/living-on-campus/residentialLife/SiteAssets/pages/default/Warning_sig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980147" y="4953000"/>
              <a:ext cx="971826" cy="838200"/>
            </a:xfrm>
            <a:prstGeom prst="rect">
              <a:avLst/>
            </a:prstGeom>
            <a:noFill/>
            <a:extLst>
              <a:ext uri="{909E8E84-426E-40dd-AFC4-6F175D3DCCD1}">
                <a14:hiddenFill xmlns:a14="http://schemas.microsoft.com/office/drawing/2010/main" xmlns="">
                  <a:solidFill>
                    <a:srgbClr val="FFFFFF"/>
                  </a:solidFill>
                </a14:hiddenFill>
              </a:ext>
            </a:extLst>
          </p:spPr>
        </p:pic>
      </p:grpSp>
    </p:spTree>
    <p:extLst>
      <p:ext uri="{BB962C8B-B14F-4D97-AF65-F5344CB8AC3E}">
        <p14:creationId xmlns:p14="http://schemas.microsoft.com/office/powerpoint/2010/main" val="41325648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573223" y="1329735"/>
          <a:ext cx="8136426" cy="3474718"/>
        </p:xfrm>
        <a:graphic>
          <a:graphicData uri="http://schemas.openxmlformats.org/drawingml/2006/table">
            <a:tbl>
              <a:tblPr firstRow="1" firstCol="1" bandRow="1"/>
              <a:tblGrid>
                <a:gridCol w="1686912">
                  <a:extLst>
                    <a:ext uri="{9D8B030D-6E8A-4147-A177-3AD203B41FA5}">
                      <a16:colId xmlns:a16="http://schemas.microsoft.com/office/drawing/2014/main" val="20000"/>
                    </a:ext>
                  </a:extLst>
                </a:gridCol>
                <a:gridCol w="2923187">
                  <a:extLst>
                    <a:ext uri="{9D8B030D-6E8A-4147-A177-3AD203B41FA5}">
                      <a16:colId xmlns:a16="http://schemas.microsoft.com/office/drawing/2014/main" val="20001"/>
                    </a:ext>
                  </a:extLst>
                </a:gridCol>
                <a:gridCol w="3526327">
                  <a:extLst>
                    <a:ext uri="{9D8B030D-6E8A-4147-A177-3AD203B41FA5}">
                      <a16:colId xmlns:a16="http://schemas.microsoft.com/office/drawing/2014/main" val="20002"/>
                    </a:ext>
                  </a:extLst>
                </a:gridCol>
              </a:tblGrid>
              <a:tr h="616288">
                <a:tc>
                  <a:txBody>
                    <a:bodyPr/>
                    <a:lstStyle/>
                    <a:p>
                      <a:pPr marL="0" marR="0">
                        <a:lnSpc>
                          <a:spcPct val="150000"/>
                        </a:lnSpc>
                        <a:spcBef>
                          <a:spcPts val="0"/>
                        </a:spcBef>
                        <a:spcAft>
                          <a:spcPts val="0"/>
                        </a:spcAft>
                      </a:pPr>
                      <a:r>
                        <a:rPr lang="en-US" sz="2400" b="1" i="1" dirty="0">
                          <a:solidFill>
                            <a:schemeClr val="bg1"/>
                          </a:solidFill>
                          <a:effectLst/>
                          <a:latin typeface="Calibri"/>
                          <a:ea typeface="Calibri"/>
                          <a:cs typeface="Calibri"/>
                        </a:rPr>
                        <a:t>Instruction</a:t>
                      </a:r>
                      <a:endParaRPr lang="en-US" sz="2400" dirty="0">
                        <a:solidFill>
                          <a:schemeClr val="bg1"/>
                        </a:solidFill>
                        <a:effectLst/>
                        <a:latin typeface="Arial"/>
                        <a:ea typeface="Arial"/>
                        <a:cs typeface="Calibri"/>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nSpc>
                          <a:spcPct val="150000"/>
                        </a:lnSpc>
                        <a:spcBef>
                          <a:spcPts val="0"/>
                        </a:spcBef>
                        <a:spcAft>
                          <a:spcPts val="0"/>
                        </a:spcAft>
                      </a:pPr>
                      <a:r>
                        <a:rPr lang="en-US" sz="2400" b="1" i="1" dirty="0">
                          <a:solidFill>
                            <a:schemeClr val="bg1"/>
                          </a:solidFill>
                          <a:effectLst/>
                          <a:latin typeface="Calibri"/>
                          <a:ea typeface="Calibri"/>
                          <a:cs typeface="Calibri"/>
                        </a:rPr>
                        <a:t>Syntax</a:t>
                      </a:r>
                      <a:endParaRPr lang="en-US" sz="2400" dirty="0">
                        <a:solidFill>
                          <a:schemeClr val="bg1"/>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nSpc>
                          <a:spcPct val="150000"/>
                        </a:lnSpc>
                        <a:spcBef>
                          <a:spcPts val="0"/>
                        </a:spcBef>
                        <a:spcAft>
                          <a:spcPts val="0"/>
                        </a:spcAft>
                      </a:pPr>
                      <a:r>
                        <a:rPr lang="en-US" sz="2400" b="1" i="1" dirty="0">
                          <a:solidFill>
                            <a:schemeClr val="bg1"/>
                          </a:solidFill>
                          <a:effectLst/>
                          <a:latin typeface="Calibri"/>
                          <a:ea typeface="Calibri"/>
                          <a:cs typeface="Calibri"/>
                        </a:rPr>
                        <a:t>Operation</a:t>
                      </a:r>
                      <a:endParaRPr lang="en-US" sz="2400" dirty="0">
                        <a:solidFill>
                          <a:schemeClr val="bg1"/>
                        </a:solidFill>
                        <a:effectLst/>
                        <a:latin typeface="Arial"/>
                        <a:ea typeface="Arial"/>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476405">
                <a:tc rowSpan="3">
                  <a:txBody>
                    <a:bodyPr/>
                    <a:lstStyle/>
                    <a:p>
                      <a:pPr marL="0" marR="0">
                        <a:lnSpc>
                          <a:spcPct val="100000"/>
                        </a:lnSpc>
                        <a:spcBef>
                          <a:spcPts val="0"/>
                        </a:spcBef>
                        <a:spcAft>
                          <a:spcPts val="0"/>
                        </a:spcAft>
                      </a:pPr>
                      <a:r>
                        <a:rPr lang="en-US" sz="1600" dirty="0">
                          <a:solidFill>
                            <a:srgbClr val="000000"/>
                          </a:solidFill>
                          <a:effectLst/>
                          <a:latin typeface="Calibri"/>
                          <a:ea typeface="Calibri"/>
                          <a:cs typeface="Calibri"/>
                        </a:rPr>
                        <a:t>Load single-precision FPU Register from Memory</a:t>
                      </a:r>
                      <a:endParaRPr lang="en-US" sz="16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852488" algn="l"/>
                        </a:tabLst>
                      </a:pPr>
                      <a:r>
                        <a:rPr lang="en-US" sz="2000" dirty="0">
                          <a:solidFill>
                            <a:srgbClr val="000000"/>
                          </a:solidFill>
                          <a:effectLst/>
                          <a:latin typeface="+mn-lt"/>
                          <a:ea typeface="Calibri"/>
                          <a:cs typeface="Calibri"/>
                        </a:rPr>
                        <a:t>VLDR	S</a:t>
                      </a:r>
                      <a:r>
                        <a:rPr lang="en-US" sz="2000" baseline="-25000" dirty="0">
                          <a:solidFill>
                            <a:srgbClr val="000000"/>
                          </a:solidFill>
                          <a:effectLst/>
                          <a:latin typeface="+mn-lt"/>
                          <a:ea typeface="Calibri"/>
                          <a:cs typeface="Calibri"/>
                        </a:rPr>
                        <a:t>d</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n</a:t>
                      </a:r>
                      <a:r>
                        <a:rPr lang="en-US" sz="2000" dirty="0">
                          <a:solidFill>
                            <a:srgbClr val="000000"/>
                          </a:solidFill>
                          <a:effectLst/>
                          <a:latin typeface="+mn-lt"/>
                          <a:ea typeface="Calibri"/>
                          <a:cs typeface="Calibri"/>
                        </a:rPr>
                        <a:t>]</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err="1">
                          <a:solidFill>
                            <a:srgbClr val="000000"/>
                          </a:solidFill>
                          <a:effectLst/>
                          <a:latin typeface="+mn-lt"/>
                          <a:ea typeface="Calibri"/>
                          <a:cs typeface="Calibri"/>
                        </a:rPr>
                        <a:t>S</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sym typeface="Wingdings"/>
                        </a:rPr>
                        <a:t>= </a:t>
                      </a:r>
                      <a:r>
                        <a:rPr lang="en-US" sz="2000" dirty="0">
                          <a:solidFill>
                            <a:srgbClr val="000000"/>
                          </a:solidFill>
                          <a:effectLst/>
                          <a:latin typeface="+mn-lt"/>
                          <a:ea typeface="Calibri"/>
                          <a:cs typeface="Calibri"/>
                        </a:rPr>
                        <a:t>mem</a:t>
                      </a:r>
                      <a:r>
                        <a:rPr lang="en-US" sz="2000" baseline="-25000" dirty="0">
                          <a:solidFill>
                            <a:srgbClr val="000000"/>
                          </a:solidFill>
                          <a:effectLst/>
                          <a:latin typeface="+mn-lt"/>
                          <a:ea typeface="Calibri"/>
                          <a:cs typeface="Calibri"/>
                        </a:rPr>
                        <a:t>32</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n</a:t>
                      </a:r>
                      <a:r>
                        <a:rPr lang="en-US" sz="2000" dirty="0">
                          <a:solidFill>
                            <a:srgbClr val="000000"/>
                          </a:solidFill>
                          <a:effectLst/>
                          <a:latin typeface="+mn-lt"/>
                          <a:ea typeface="Calibri"/>
                          <a:cs typeface="Calibri"/>
                        </a:rPr>
                        <a:t>]</a:t>
                      </a: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76405">
                <a:tc vMerge="1">
                  <a:txBody>
                    <a:bodyPr/>
                    <a:lstStyle/>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852488" algn="l"/>
                        </a:tabLst>
                        <a:defRPr/>
                      </a:pPr>
                      <a:r>
                        <a:rPr lang="en-US" sz="2000" dirty="0">
                          <a:solidFill>
                            <a:srgbClr val="000000"/>
                          </a:solidFill>
                          <a:effectLst/>
                          <a:latin typeface="+mn-lt"/>
                          <a:ea typeface="Calibri"/>
                          <a:cs typeface="Calibri"/>
                        </a:rPr>
                        <a:t>VLDR	S</a:t>
                      </a:r>
                      <a:r>
                        <a:rPr lang="en-US" sz="2000" baseline="-25000" dirty="0">
                          <a:solidFill>
                            <a:srgbClr val="000000"/>
                          </a:solidFill>
                          <a:effectLst/>
                          <a:latin typeface="+mn-lt"/>
                          <a:ea typeface="Calibri"/>
                          <a:cs typeface="Calibri"/>
                        </a:rPr>
                        <a:t>d</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n</a:t>
                      </a:r>
                      <a:r>
                        <a:rPr lang="en-US" sz="2000" dirty="0">
                          <a:solidFill>
                            <a:srgbClr val="000000"/>
                          </a:solidFill>
                          <a:effectLst/>
                          <a:latin typeface="+mn-lt"/>
                          <a:ea typeface="Calibri"/>
                          <a:cs typeface="Calibri"/>
                        </a:rPr>
                        <a:t>, </a:t>
                      </a:r>
                      <a:r>
                        <a:rPr lang="en-US" sz="2000" i="1" dirty="0">
                          <a:solidFill>
                            <a:srgbClr val="000000"/>
                          </a:solidFill>
                          <a:effectLst/>
                          <a:latin typeface="+mn-lt"/>
                          <a:ea typeface="Calibri"/>
                          <a:cs typeface="Calibri"/>
                        </a:rPr>
                        <a:t>constant</a:t>
                      </a:r>
                      <a:r>
                        <a:rPr lang="en-US" sz="2000" dirty="0">
                          <a:solidFill>
                            <a:srgbClr val="000000"/>
                          </a:solidFill>
                          <a:effectLst/>
                          <a:latin typeface="+mn-lt"/>
                          <a:ea typeface="Calibri"/>
                          <a:cs typeface="Calibri"/>
                        </a:rPr>
                        <a:t>]</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err="1">
                          <a:solidFill>
                            <a:srgbClr val="000000"/>
                          </a:solidFill>
                          <a:effectLst/>
                          <a:latin typeface="+mn-lt"/>
                          <a:ea typeface="Calibri"/>
                          <a:cs typeface="Calibri"/>
                        </a:rPr>
                        <a:t>S</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sym typeface="Wingdings"/>
                        </a:rPr>
                        <a:t>=</a:t>
                      </a:r>
                      <a:r>
                        <a:rPr lang="en-US" sz="2000" baseline="0" dirty="0">
                          <a:solidFill>
                            <a:srgbClr val="000000"/>
                          </a:solidFill>
                          <a:effectLst/>
                          <a:latin typeface="+mn-lt"/>
                          <a:ea typeface="Calibri"/>
                          <a:cs typeface="Calibri"/>
                          <a:sym typeface="Wingdings"/>
                        </a:rPr>
                        <a:t> </a:t>
                      </a:r>
                      <a:r>
                        <a:rPr lang="en-US" sz="2000" dirty="0">
                          <a:solidFill>
                            <a:srgbClr val="000000"/>
                          </a:solidFill>
                          <a:effectLst/>
                          <a:latin typeface="+mn-lt"/>
                          <a:ea typeface="Calibri"/>
                          <a:cs typeface="Calibri"/>
                        </a:rPr>
                        <a:t>mem</a:t>
                      </a:r>
                      <a:r>
                        <a:rPr lang="en-US" sz="2000" baseline="-25000" dirty="0">
                          <a:solidFill>
                            <a:srgbClr val="000000"/>
                          </a:solidFill>
                          <a:effectLst/>
                          <a:latin typeface="+mn-lt"/>
                          <a:ea typeface="Calibri"/>
                          <a:cs typeface="Calibri"/>
                        </a:rPr>
                        <a:t>32</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n</a:t>
                      </a:r>
                      <a:r>
                        <a:rPr lang="en-US" sz="2000" dirty="0">
                          <a:solidFill>
                            <a:srgbClr val="000000"/>
                          </a:solidFill>
                          <a:effectLst/>
                          <a:latin typeface="+mn-lt"/>
                          <a:ea typeface="Calibri"/>
                          <a:cs typeface="Calibri"/>
                        </a:rPr>
                        <a:t> + </a:t>
                      </a:r>
                      <a:r>
                        <a:rPr lang="en-US" sz="2000" i="1" dirty="0">
                          <a:solidFill>
                            <a:srgbClr val="000000"/>
                          </a:solidFill>
                          <a:effectLst/>
                          <a:latin typeface="+mn-lt"/>
                          <a:ea typeface="Calibri"/>
                          <a:cs typeface="Calibri"/>
                        </a:rPr>
                        <a:t>constant</a:t>
                      </a:r>
                      <a:r>
                        <a:rPr lang="en-US" sz="2000" dirty="0">
                          <a:solidFill>
                            <a:srgbClr val="000000"/>
                          </a:solidFill>
                          <a:effectLst/>
                          <a:latin typeface="+mn-lt"/>
                          <a:ea typeface="Calibri"/>
                          <a:cs typeface="Calibri"/>
                        </a:rPr>
                        <a:t>]</a:t>
                      </a: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76405">
                <a:tc vMerge="1">
                  <a:txBody>
                    <a:bodyPr/>
                    <a:lstStyle/>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852488" algn="l"/>
                        </a:tabLst>
                        <a:defRPr/>
                      </a:pPr>
                      <a:r>
                        <a:rPr lang="en-US" sz="2000" dirty="0">
                          <a:solidFill>
                            <a:srgbClr val="000000"/>
                          </a:solidFill>
                          <a:effectLst/>
                          <a:latin typeface="+mn-lt"/>
                          <a:ea typeface="Calibri"/>
                          <a:cs typeface="Calibri"/>
                        </a:rPr>
                        <a:t>VLDR	</a:t>
                      </a:r>
                      <a:r>
                        <a:rPr lang="en-US" sz="2000" dirty="0" err="1">
                          <a:solidFill>
                            <a:srgbClr val="000000"/>
                          </a:solidFill>
                          <a:effectLst/>
                          <a:latin typeface="+mn-lt"/>
                          <a:ea typeface="Calibri"/>
                          <a:cs typeface="Calibri"/>
                        </a:rPr>
                        <a:t>S</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a:t>
                      </a:r>
                      <a:r>
                        <a:rPr lang="en-US" sz="2000" i="1" dirty="0">
                          <a:solidFill>
                            <a:srgbClr val="000000"/>
                          </a:solidFill>
                          <a:effectLst/>
                          <a:latin typeface="+mn-lt"/>
                          <a:ea typeface="Calibri"/>
                          <a:cs typeface="Calibri"/>
                        </a:rPr>
                        <a:t>label</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err="1">
                          <a:solidFill>
                            <a:srgbClr val="000000"/>
                          </a:solidFill>
                          <a:effectLst/>
                          <a:latin typeface="+mn-lt"/>
                          <a:ea typeface="Calibri"/>
                          <a:cs typeface="Calibri"/>
                        </a:rPr>
                        <a:t>S</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sym typeface="Wingdings"/>
                        </a:rPr>
                        <a:t>=</a:t>
                      </a:r>
                      <a:r>
                        <a:rPr lang="en-US" sz="2000" baseline="0" dirty="0">
                          <a:solidFill>
                            <a:srgbClr val="000000"/>
                          </a:solidFill>
                          <a:effectLst/>
                          <a:latin typeface="+mn-lt"/>
                          <a:ea typeface="Calibri"/>
                          <a:cs typeface="Calibri"/>
                          <a:sym typeface="Wingdings"/>
                        </a:rPr>
                        <a:t> </a:t>
                      </a:r>
                      <a:r>
                        <a:rPr lang="en-US" sz="2000" dirty="0">
                          <a:solidFill>
                            <a:srgbClr val="000000"/>
                          </a:solidFill>
                          <a:effectLst/>
                          <a:latin typeface="+mn-lt"/>
                          <a:ea typeface="Calibri"/>
                          <a:cs typeface="Calibri"/>
                        </a:rPr>
                        <a:t>mem</a:t>
                      </a:r>
                      <a:r>
                        <a:rPr lang="en-US" sz="2000" baseline="-25000" dirty="0">
                          <a:solidFill>
                            <a:srgbClr val="000000"/>
                          </a:solidFill>
                          <a:effectLst/>
                          <a:latin typeface="+mn-lt"/>
                          <a:ea typeface="Calibri"/>
                          <a:cs typeface="Calibri"/>
                        </a:rPr>
                        <a:t>32</a:t>
                      </a:r>
                      <a:r>
                        <a:rPr lang="en-US" sz="2000" dirty="0">
                          <a:solidFill>
                            <a:srgbClr val="000000"/>
                          </a:solidFill>
                          <a:effectLst/>
                          <a:latin typeface="+mn-lt"/>
                          <a:ea typeface="Calibri"/>
                          <a:cs typeface="Calibri"/>
                        </a:rPr>
                        <a:t>[</a:t>
                      </a:r>
                      <a:r>
                        <a:rPr lang="en-US" sz="2000" dirty="0" err="1">
                          <a:solidFill>
                            <a:srgbClr val="000000"/>
                          </a:solidFill>
                          <a:effectLst/>
                          <a:latin typeface="+mn-lt"/>
                          <a:ea typeface="Calibri"/>
                          <a:cs typeface="Calibri"/>
                        </a:rPr>
                        <a:t>addrs</a:t>
                      </a:r>
                      <a:r>
                        <a:rPr lang="en-US" sz="2000" baseline="0" dirty="0">
                          <a:solidFill>
                            <a:srgbClr val="000000"/>
                          </a:solidFill>
                          <a:effectLst/>
                          <a:latin typeface="+mn-lt"/>
                          <a:ea typeface="Calibri"/>
                          <a:cs typeface="Calibri"/>
                        </a:rPr>
                        <a:t> of </a:t>
                      </a:r>
                      <a:r>
                        <a:rPr lang="en-US" sz="2000" i="1" baseline="0" dirty="0">
                          <a:solidFill>
                            <a:srgbClr val="000000"/>
                          </a:solidFill>
                          <a:effectLst/>
                          <a:latin typeface="+mn-lt"/>
                          <a:ea typeface="Calibri"/>
                          <a:cs typeface="Calibri"/>
                        </a:rPr>
                        <a:t>label</a:t>
                      </a:r>
                      <a:r>
                        <a:rPr lang="en-US" sz="2000" baseline="0" dirty="0">
                          <a:solidFill>
                            <a:srgbClr val="000000"/>
                          </a:solidFill>
                          <a:effectLst/>
                          <a:latin typeface="+mn-lt"/>
                          <a:ea typeface="Calibri"/>
                          <a:cs typeface="Calibri"/>
                        </a:rPr>
                        <a:t>]</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76405">
                <a:tc rowSpan="3">
                  <a:txBody>
                    <a:bodyPr/>
                    <a:lstStyle/>
                    <a:p>
                      <a:pPr marL="0" marR="0">
                        <a:lnSpc>
                          <a:spcPct val="100000"/>
                        </a:lnSpc>
                        <a:spcBef>
                          <a:spcPts val="0"/>
                        </a:spcBef>
                        <a:spcAft>
                          <a:spcPts val="0"/>
                        </a:spcAft>
                      </a:pPr>
                      <a:r>
                        <a:rPr lang="en-US" sz="1600" dirty="0">
                          <a:solidFill>
                            <a:srgbClr val="000000"/>
                          </a:solidFill>
                          <a:effectLst/>
                          <a:latin typeface="Calibri"/>
                          <a:ea typeface="Calibri"/>
                          <a:cs typeface="Calibri"/>
                        </a:rPr>
                        <a:t>Load double-precision FPU Register from Memory</a:t>
                      </a:r>
                      <a:endParaRPr lang="en-US" sz="16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852488" algn="l"/>
                        </a:tabLst>
                      </a:pPr>
                      <a:r>
                        <a:rPr lang="en-US" sz="2000" dirty="0">
                          <a:solidFill>
                            <a:srgbClr val="000000"/>
                          </a:solidFill>
                          <a:effectLst/>
                          <a:latin typeface="+mn-lt"/>
                          <a:ea typeface="Calibri"/>
                          <a:cs typeface="Calibri"/>
                        </a:rPr>
                        <a:t>VLDR	</a:t>
                      </a:r>
                      <a:r>
                        <a:rPr lang="en-US" sz="2000" dirty="0" err="1">
                          <a:solidFill>
                            <a:srgbClr val="000000"/>
                          </a:solidFill>
                          <a:effectLst/>
                          <a:latin typeface="+mn-lt"/>
                          <a:ea typeface="Calibri"/>
                          <a:cs typeface="Calibri"/>
                        </a:rPr>
                        <a:t>D</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n</a:t>
                      </a:r>
                      <a:r>
                        <a:rPr lang="en-US" sz="2000" dirty="0">
                          <a:solidFill>
                            <a:srgbClr val="000000"/>
                          </a:solidFill>
                          <a:effectLst/>
                          <a:latin typeface="+mn-lt"/>
                          <a:ea typeface="Calibri"/>
                          <a:cs typeface="Calibri"/>
                        </a:rPr>
                        <a:t>]</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aseline="0" dirty="0" err="1">
                          <a:solidFill>
                            <a:srgbClr val="000000"/>
                          </a:solidFill>
                          <a:effectLst/>
                          <a:latin typeface="+mn-lt"/>
                          <a:ea typeface="Calibri"/>
                          <a:cs typeface="Calibri"/>
                        </a:rPr>
                        <a:t>D</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sym typeface="Wingdings"/>
                        </a:rPr>
                        <a:t>=</a:t>
                      </a:r>
                      <a:r>
                        <a:rPr lang="en-US" sz="2000" baseline="0" dirty="0">
                          <a:solidFill>
                            <a:srgbClr val="000000"/>
                          </a:solidFill>
                          <a:effectLst/>
                          <a:latin typeface="+mn-lt"/>
                          <a:ea typeface="Calibri"/>
                          <a:cs typeface="Calibri"/>
                          <a:sym typeface="Wingdings"/>
                        </a:rPr>
                        <a:t> </a:t>
                      </a:r>
                      <a:r>
                        <a:rPr lang="en-US" sz="2000" dirty="0">
                          <a:solidFill>
                            <a:srgbClr val="000000"/>
                          </a:solidFill>
                          <a:effectLst/>
                          <a:latin typeface="+mn-lt"/>
                          <a:ea typeface="Calibri"/>
                          <a:cs typeface="Calibri"/>
                        </a:rPr>
                        <a:t>mem</a:t>
                      </a:r>
                      <a:r>
                        <a:rPr lang="en-US" sz="2000" baseline="-25000" dirty="0">
                          <a:solidFill>
                            <a:srgbClr val="000000"/>
                          </a:solidFill>
                          <a:effectLst/>
                          <a:latin typeface="+mn-lt"/>
                          <a:ea typeface="Calibri"/>
                          <a:cs typeface="Calibri"/>
                        </a:rPr>
                        <a:t>64</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n</a:t>
                      </a:r>
                      <a:r>
                        <a:rPr lang="en-US" sz="2000" dirty="0">
                          <a:solidFill>
                            <a:srgbClr val="000000"/>
                          </a:solidFill>
                          <a:effectLst/>
                          <a:latin typeface="+mn-lt"/>
                          <a:ea typeface="Calibri"/>
                          <a:cs typeface="Calibri"/>
                        </a:rPr>
                        <a:t>]</a:t>
                      </a: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76405">
                <a:tc vMerge="1">
                  <a:txBody>
                    <a:bodyPr/>
                    <a:lstStyle/>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852488" algn="l"/>
                        </a:tabLst>
                        <a:defRPr/>
                      </a:pPr>
                      <a:r>
                        <a:rPr lang="en-US" sz="2000" dirty="0">
                          <a:solidFill>
                            <a:srgbClr val="000000"/>
                          </a:solidFill>
                          <a:effectLst/>
                          <a:latin typeface="+mn-lt"/>
                          <a:ea typeface="Calibri"/>
                          <a:cs typeface="Calibri"/>
                        </a:rPr>
                        <a:t>VLDR	</a:t>
                      </a:r>
                      <a:r>
                        <a:rPr lang="en-US" sz="2000" dirty="0" err="1">
                          <a:solidFill>
                            <a:srgbClr val="000000"/>
                          </a:solidFill>
                          <a:effectLst/>
                          <a:latin typeface="+mn-lt"/>
                          <a:ea typeface="Calibri"/>
                          <a:cs typeface="Calibri"/>
                        </a:rPr>
                        <a:t>D</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n</a:t>
                      </a:r>
                      <a:r>
                        <a:rPr lang="en-US" sz="2000" dirty="0">
                          <a:solidFill>
                            <a:srgbClr val="000000"/>
                          </a:solidFill>
                          <a:effectLst/>
                          <a:latin typeface="+mn-lt"/>
                          <a:ea typeface="Calibri"/>
                          <a:cs typeface="Calibri"/>
                        </a:rPr>
                        <a:t>, </a:t>
                      </a:r>
                      <a:r>
                        <a:rPr lang="en-US" sz="2000" i="1" dirty="0">
                          <a:solidFill>
                            <a:srgbClr val="000000"/>
                          </a:solidFill>
                          <a:effectLst/>
                          <a:latin typeface="+mn-lt"/>
                          <a:ea typeface="Calibri"/>
                          <a:cs typeface="Calibri"/>
                        </a:rPr>
                        <a:t>constant</a:t>
                      </a:r>
                      <a:r>
                        <a:rPr lang="en-US" sz="2000" dirty="0">
                          <a:solidFill>
                            <a:srgbClr val="000000"/>
                          </a:solidFill>
                          <a:effectLst/>
                          <a:latin typeface="+mn-lt"/>
                          <a:ea typeface="Calibri"/>
                          <a:cs typeface="Calibri"/>
                        </a:rPr>
                        <a:t>]</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aseline="0" dirty="0" err="1">
                          <a:solidFill>
                            <a:srgbClr val="000000"/>
                          </a:solidFill>
                          <a:effectLst/>
                          <a:latin typeface="+mn-lt"/>
                          <a:ea typeface="Calibri"/>
                          <a:cs typeface="Calibri"/>
                        </a:rPr>
                        <a:t>D</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sym typeface="Wingdings"/>
                        </a:rPr>
                        <a:t>=</a:t>
                      </a:r>
                      <a:r>
                        <a:rPr lang="en-US" sz="2000" baseline="0" dirty="0">
                          <a:solidFill>
                            <a:srgbClr val="000000"/>
                          </a:solidFill>
                          <a:effectLst/>
                          <a:latin typeface="+mn-lt"/>
                          <a:ea typeface="Calibri"/>
                          <a:cs typeface="Calibri"/>
                          <a:sym typeface="Wingdings"/>
                        </a:rPr>
                        <a:t> </a:t>
                      </a:r>
                      <a:r>
                        <a:rPr lang="en-US" sz="2000" dirty="0">
                          <a:solidFill>
                            <a:srgbClr val="000000"/>
                          </a:solidFill>
                          <a:effectLst/>
                          <a:latin typeface="+mn-lt"/>
                          <a:ea typeface="Calibri"/>
                          <a:cs typeface="Calibri"/>
                        </a:rPr>
                        <a:t>mem</a:t>
                      </a:r>
                      <a:r>
                        <a:rPr lang="en-US" sz="2000" baseline="-25000" dirty="0">
                          <a:solidFill>
                            <a:srgbClr val="000000"/>
                          </a:solidFill>
                          <a:effectLst/>
                          <a:latin typeface="+mn-lt"/>
                          <a:ea typeface="Calibri"/>
                          <a:cs typeface="Calibri"/>
                        </a:rPr>
                        <a:t>64</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n</a:t>
                      </a:r>
                      <a:r>
                        <a:rPr lang="en-US" sz="2000" dirty="0">
                          <a:solidFill>
                            <a:srgbClr val="000000"/>
                          </a:solidFill>
                          <a:effectLst/>
                          <a:latin typeface="+mn-lt"/>
                          <a:ea typeface="Calibri"/>
                          <a:cs typeface="Calibri"/>
                        </a:rPr>
                        <a:t> + </a:t>
                      </a:r>
                      <a:r>
                        <a:rPr lang="en-US" sz="2000" i="1" dirty="0">
                          <a:solidFill>
                            <a:srgbClr val="000000"/>
                          </a:solidFill>
                          <a:effectLst/>
                          <a:latin typeface="+mn-lt"/>
                          <a:ea typeface="Calibri"/>
                          <a:cs typeface="Calibri"/>
                        </a:rPr>
                        <a:t>constant</a:t>
                      </a:r>
                      <a:r>
                        <a:rPr lang="en-US" sz="2000" dirty="0">
                          <a:solidFill>
                            <a:srgbClr val="000000"/>
                          </a:solidFill>
                          <a:effectLst/>
                          <a:latin typeface="+mn-lt"/>
                          <a:ea typeface="Calibri"/>
                          <a:cs typeface="Calibri"/>
                        </a:rPr>
                        <a:t>]</a:t>
                      </a: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76405">
                <a:tc vMerge="1">
                  <a:txBody>
                    <a:bodyPr/>
                    <a:lstStyle/>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852488" algn="l"/>
                        </a:tabLst>
                        <a:defRPr/>
                      </a:pPr>
                      <a:r>
                        <a:rPr lang="en-US" sz="2000" dirty="0">
                          <a:solidFill>
                            <a:srgbClr val="000000"/>
                          </a:solidFill>
                          <a:effectLst/>
                          <a:latin typeface="+mn-lt"/>
                          <a:ea typeface="Calibri"/>
                          <a:cs typeface="Calibri"/>
                        </a:rPr>
                        <a:t>VLDR	</a:t>
                      </a:r>
                      <a:r>
                        <a:rPr lang="en-US" sz="2000" dirty="0" err="1">
                          <a:solidFill>
                            <a:srgbClr val="000000"/>
                          </a:solidFill>
                          <a:effectLst/>
                          <a:latin typeface="+mn-lt"/>
                          <a:ea typeface="Calibri"/>
                          <a:cs typeface="Calibri"/>
                        </a:rPr>
                        <a:t>D</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a:t>
                      </a:r>
                      <a:r>
                        <a:rPr lang="en-US" sz="2000" i="1" dirty="0">
                          <a:solidFill>
                            <a:srgbClr val="000000"/>
                          </a:solidFill>
                          <a:effectLst/>
                          <a:latin typeface="+mn-lt"/>
                          <a:ea typeface="Calibri"/>
                          <a:cs typeface="Calibri"/>
                        </a:rPr>
                        <a:t>label</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aseline="0" dirty="0" err="1">
                          <a:solidFill>
                            <a:srgbClr val="000000"/>
                          </a:solidFill>
                          <a:effectLst/>
                          <a:latin typeface="+mn-lt"/>
                          <a:ea typeface="Calibri"/>
                          <a:cs typeface="Calibri"/>
                        </a:rPr>
                        <a:t>D</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sym typeface="Wingdings"/>
                        </a:rPr>
                        <a:t>=</a:t>
                      </a:r>
                      <a:r>
                        <a:rPr lang="en-US" sz="2000" baseline="0" dirty="0">
                          <a:solidFill>
                            <a:srgbClr val="000000"/>
                          </a:solidFill>
                          <a:effectLst/>
                          <a:latin typeface="+mn-lt"/>
                          <a:ea typeface="Calibri"/>
                          <a:cs typeface="Calibri"/>
                          <a:sym typeface="Wingdings"/>
                        </a:rPr>
                        <a:t> </a:t>
                      </a:r>
                      <a:r>
                        <a:rPr lang="en-US" sz="2000" dirty="0">
                          <a:solidFill>
                            <a:srgbClr val="000000"/>
                          </a:solidFill>
                          <a:effectLst/>
                          <a:latin typeface="+mn-lt"/>
                          <a:ea typeface="Calibri"/>
                          <a:cs typeface="Calibri"/>
                        </a:rPr>
                        <a:t>mem</a:t>
                      </a:r>
                      <a:r>
                        <a:rPr lang="en-US" sz="2000" baseline="-25000" dirty="0">
                          <a:solidFill>
                            <a:srgbClr val="000000"/>
                          </a:solidFill>
                          <a:effectLst/>
                          <a:latin typeface="+mn-lt"/>
                          <a:ea typeface="Calibri"/>
                          <a:cs typeface="Calibri"/>
                        </a:rPr>
                        <a:t>64</a:t>
                      </a:r>
                      <a:r>
                        <a:rPr lang="en-US" sz="2000" dirty="0">
                          <a:solidFill>
                            <a:srgbClr val="000000"/>
                          </a:solidFill>
                          <a:effectLst/>
                          <a:latin typeface="+mn-lt"/>
                          <a:ea typeface="Calibri"/>
                          <a:cs typeface="Calibri"/>
                        </a:rPr>
                        <a:t>[</a:t>
                      </a:r>
                      <a:r>
                        <a:rPr lang="en-US" sz="2000" dirty="0" err="1">
                          <a:solidFill>
                            <a:srgbClr val="000000"/>
                          </a:solidFill>
                          <a:effectLst/>
                          <a:latin typeface="+mn-lt"/>
                          <a:ea typeface="Calibri"/>
                          <a:cs typeface="Calibri"/>
                        </a:rPr>
                        <a:t>addrs</a:t>
                      </a:r>
                      <a:r>
                        <a:rPr lang="en-US" sz="2000" baseline="0" dirty="0">
                          <a:solidFill>
                            <a:srgbClr val="000000"/>
                          </a:solidFill>
                          <a:effectLst/>
                          <a:latin typeface="+mn-lt"/>
                          <a:ea typeface="Calibri"/>
                          <a:cs typeface="Calibri"/>
                        </a:rPr>
                        <a:t> of </a:t>
                      </a:r>
                      <a:r>
                        <a:rPr lang="en-US" sz="2000" i="1" baseline="0" dirty="0">
                          <a:solidFill>
                            <a:srgbClr val="000000"/>
                          </a:solidFill>
                          <a:effectLst/>
                          <a:latin typeface="+mn-lt"/>
                          <a:ea typeface="Calibri"/>
                          <a:cs typeface="Calibri"/>
                        </a:rPr>
                        <a:t>label</a:t>
                      </a:r>
                      <a:r>
                        <a:rPr lang="en-US" sz="2000" baseline="0" dirty="0">
                          <a:solidFill>
                            <a:srgbClr val="000000"/>
                          </a:solidFill>
                          <a:effectLst/>
                          <a:latin typeface="+mn-lt"/>
                          <a:ea typeface="Calibri"/>
                          <a:cs typeface="Calibri"/>
                        </a:rPr>
                        <a:t>]</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 name="Title 2"/>
          <p:cNvSpPr>
            <a:spLocks noGrp="1"/>
          </p:cNvSpPr>
          <p:nvPr>
            <p:ph type="title"/>
          </p:nvPr>
        </p:nvSpPr>
        <p:spPr>
          <a:xfrm>
            <a:off x="940868" y="753203"/>
            <a:ext cx="10417284" cy="514124"/>
          </a:xfrm>
        </p:spPr>
        <p:txBody>
          <a:bodyPr>
            <a:normAutofit/>
          </a:bodyPr>
          <a:lstStyle/>
          <a:p>
            <a:r>
              <a:rPr lang="en-US" sz="2000" u="sng" dirty="0"/>
              <a:t>COPYING</a:t>
            </a:r>
            <a:r>
              <a:rPr lang="en-US" sz="2000" dirty="0"/>
              <a:t> FLOATING-POINT DATA - Memory -&gt; (Single or Double) Register</a:t>
            </a:r>
          </a:p>
        </p:txBody>
      </p:sp>
      <p:grpSp>
        <p:nvGrpSpPr>
          <p:cNvPr id="4" name="Group 3">
            <a:extLst>
              <a:ext uri="{FF2B5EF4-FFF2-40B4-BE49-F238E27FC236}">
                <a16:creationId xmlns:a16="http://schemas.microsoft.com/office/drawing/2014/main" id="{DDC4EEE9-9448-3647-B096-8DFB4E6B04AE}"/>
              </a:ext>
            </a:extLst>
          </p:cNvPr>
          <p:cNvGrpSpPr/>
          <p:nvPr/>
        </p:nvGrpSpPr>
        <p:grpSpPr>
          <a:xfrm>
            <a:off x="6061282" y="5070227"/>
            <a:ext cx="5930196" cy="1015663"/>
            <a:chOff x="885172" y="4876800"/>
            <a:chExt cx="5930196" cy="1015663"/>
          </a:xfrm>
        </p:grpSpPr>
        <p:sp>
          <p:nvSpPr>
            <p:cNvPr id="5" name="TextBox 4">
              <a:extLst>
                <a:ext uri="{FF2B5EF4-FFF2-40B4-BE49-F238E27FC236}">
                  <a16:creationId xmlns:a16="http://schemas.microsoft.com/office/drawing/2014/main" id="{0022BEBF-FFB8-F741-A99E-CABA02FC0F93}"/>
                </a:ext>
              </a:extLst>
            </p:cNvPr>
            <p:cNvSpPr txBox="1"/>
            <p:nvPr/>
          </p:nvSpPr>
          <p:spPr>
            <a:xfrm>
              <a:off x="885172" y="4876800"/>
              <a:ext cx="5930196" cy="1015663"/>
            </a:xfrm>
            <a:prstGeom prst="rect">
              <a:avLst/>
            </a:prstGeom>
            <a:solidFill>
              <a:schemeClr val="accent4">
                <a:lumMod val="20000"/>
                <a:lumOff val="80000"/>
              </a:schemeClr>
            </a:solidFill>
            <a:ln/>
          </p:spPr>
          <p:style>
            <a:lnRef idx="1">
              <a:schemeClr val="accent2"/>
            </a:lnRef>
            <a:fillRef idx="2">
              <a:schemeClr val="accent2"/>
            </a:fillRef>
            <a:effectRef idx="1">
              <a:schemeClr val="accent2"/>
            </a:effectRef>
            <a:fontRef idx="minor">
              <a:schemeClr val="dk1"/>
            </a:fontRef>
          </p:style>
          <p:txBody>
            <a:bodyPr wrap="square" tIns="91440" bIns="91440" rtlCol="0">
              <a:spAutoFit/>
            </a:bodyPr>
            <a:lstStyle/>
            <a:p>
              <a:pPr marL="1027113"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PC-relative can only be used to reference constants stored in the read-only code space (near the instruction).</a:t>
              </a:r>
            </a:p>
          </p:txBody>
        </p:sp>
        <p:pic>
          <p:nvPicPr>
            <p:cNvPr id="6" name="Picture 4" descr="http://www.aamu.edu/campuslife/living-on-campus/residentialLife/SiteAssets/pages/default/Warning_sign.png">
              <a:extLst>
                <a:ext uri="{FF2B5EF4-FFF2-40B4-BE49-F238E27FC236}">
                  <a16:creationId xmlns:a16="http://schemas.microsoft.com/office/drawing/2014/main" id="{5F7B2183-135E-AF43-A923-5A61039EBD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980147" y="4953000"/>
              <a:ext cx="971826" cy="838200"/>
            </a:xfrm>
            <a:prstGeom prst="rect">
              <a:avLst/>
            </a:prstGeom>
            <a:noFill/>
            <a:extLst>
              <a:ext uri="{909E8E84-426E-40DD-AFC4-6F175D3DCCD1}">
                <a14:hiddenFill xmlns:a14="http://schemas.microsoft.com/office/drawing/2010/main">
                  <a:solidFill>
                    <a:srgbClr val="FFFFFF"/>
                  </a:solidFill>
                </a14:hiddenFill>
              </a:ext>
            </a:extLst>
          </p:spPr>
        </p:pic>
      </p:grpSp>
      <p:pic>
        <p:nvPicPr>
          <p:cNvPr id="7" name="Picture 6"/>
          <p:cNvPicPr>
            <a:picLocks noChangeAspect="1"/>
          </p:cNvPicPr>
          <p:nvPr/>
        </p:nvPicPr>
        <p:blipFill>
          <a:blip r:embed="rId4"/>
          <a:stretch>
            <a:fillRect/>
          </a:stretch>
        </p:blipFill>
        <p:spPr>
          <a:xfrm>
            <a:off x="247577" y="3491217"/>
            <a:ext cx="1837374" cy="1796127"/>
          </a:xfrm>
          <a:prstGeom prst="rect">
            <a:avLst/>
          </a:prstGeom>
          <a:ln>
            <a:solidFill>
              <a:schemeClr val="tx1"/>
            </a:solidFill>
          </a:ln>
        </p:spPr>
      </p:pic>
      <p:sp>
        <p:nvSpPr>
          <p:cNvPr id="9" name="Rectangle 8"/>
          <p:cNvSpPr/>
          <p:nvPr/>
        </p:nvSpPr>
        <p:spPr>
          <a:xfrm>
            <a:off x="1632289" y="4129017"/>
            <a:ext cx="208546" cy="14219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11" name="Straight Arrow Connector 10"/>
          <p:cNvCxnSpPr/>
          <p:nvPr/>
        </p:nvCxnSpPr>
        <p:spPr>
          <a:xfrm flipH="1">
            <a:off x="1840835" y="3148264"/>
            <a:ext cx="2406313" cy="829169"/>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p:nvPicPr>
        <p:blipFill>
          <a:blip r:embed="rId5"/>
          <a:stretch>
            <a:fillRect/>
          </a:stretch>
        </p:blipFill>
        <p:spPr>
          <a:xfrm>
            <a:off x="170412" y="5465836"/>
            <a:ext cx="5843022" cy="763392"/>
          </a:xfrm>
          <a:prstGeom prst="rect">
            <a:avLst/>
          </a:prstGeom>
          <a:ln>
            <a:solidFill>
              <a:schemeClr val="tx1"/>
            </a:solidFill>
          </a:ln>
        </p:spPr>
      </p:pic>
      <p:sp>
        <p:nvSpPr>
          <p:cNvPr id="16" name="Rectangle 15"/>
          <p:cNvSpPr/>
          <p:nvPr/>
        </p:nvSpPr>
        <p:spPr>
          <a:xfrm>
            <a:off x="5598695" y="5870261"/>
            <a:ext cx="204537" cy="18563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18" name="Straight Arrow Connector 17"/>
          <p:cNvCxnSpPr>
            <a:stCxn id="9" idx="2"/>
            <a:endCxn id="16" idx="0"/>
          </p:cNvCxnSpPr>
          <p:nvPr/>
        </p:nvCxnSpPr>
        <p:spPr>
          <a:xfrm>
            <a:off x="1736562" y="4271215"/>
            <a:ext cx="3964402" cy="15990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0" name="Picture 19"/>
          <p:cNvPicPr>
            <a:picLocks noChangeAspect="1"/>
          </p:cNvPicPr>
          <p:nvPr/>
        </p:nvPicPr>
        <p:blipFill>
          <a:blip r:embed="rId6"/>
          <a:stretch>
            <a:fillRect/>
          </a:stretch>
        </p:blipFill>
        <p:spPr>
          <a:xfrm>
            <a:off x="247577" y="1630324"/>
            <a:ext cx="1805289" cy="1797640"/>
          </a:xfrm>
          <a:prstGeom prst="rect">
            <a:avLst/>
          </a:prstGeom>
          <a:ln>
            <a:solidFill>
              <a:schemeClr val="tx1"/>
            </a:solidFill>
          </a:ln>
        </p:spPr>
      </p:pic>
      <p:sp>
        <p:nvSpPr>
          <p:cNvPr id="27" name="TextBox 26"/>
          <p:cNvSpPr txBox="1"/>
          <p:nvPr/>
        </p:nvSpPr>
        <p:spPr>
          <a:xfrm>
            <a:off x="2023047" y="2054334"/>
            <a:ext cx="53091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92D050"/>
                </a:solidFill>
                <a:effectLst/>
                <a:uLnTx/>
                <a:uFillTx/>
                <a:latin typeface="Arial" panose="020B0604020202020204"/>
                <a:ea typeface="+mn-ea"/>
                <a:cs typeface="+mn-cs"/>
              </a:rPr>
              <a:t>OK</a:t>
            </a:r>
          </a:p>
        </p:txBody>
      </p:sp>
      <p:sp>
        <p:nvSpPr>
          <p:cNvPr id="28" name="TextBox 27"/>
          <p:cNvSpPr txBox="1"/>
          <p:nvPr/>
        </p:nvSpPr>
        <p:spPr>
          <a:xfrm>
            <a:off x="2023047" y="4039841"/>
            <a:ext cx="62549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0000"/>
                </a:solidFill>
                <a:effectLst/>
                <a:uLnTx/>
                <a:uFillTx/>
                <a:latin typeface="Arial" panose="020B0604020202020204"/>
                <a:ea typeface="+mn-ea"/>
                <a:cs typeface="+mn-cs"/>
              </a:rPr>
              <a:t>Error</a:t>
            </a:r>
          </a:p>
        </p:txBody>
      </p:sp>
      <p:sp>
        <p:nvSpPr>
          <p:cNvPr id="12" name="TextBox 11">
            <a:extLst>
              <a:ext uri="{FF2B5EF4-FFF2-40B4-BE49-F238E27FC236}">
                <a16:creationId xmlns:a16="http://schemas.microsoft.com/office/drawing/2014/main" id="{2F43EF6C-5B1E-D164-A878-5D957203AB50}"/>
              </a:ext>
            </a:extLst>
          </p:cNvPr>
          <p:cNvSpPr txBox="1"/>
          <p:nvPr/>
        </p:nvSpPr>
        <p:spPr>
          <a:xfrm>
            <a:off x="185401" y="6281010"/>
            <a:ext cx="1929640" cy="338554"/>
          </a:xfrm>
          <a:prstGeom prst="rect">
            <a:avLst/>
          </a:prstGeom>
          <a:noFill/>
          <a:ln w="19050">
            <a:solidFill>
              <a:srgbClr val="00B0F0"/>
            </a:solidFill>
          </a:ln>
        </p:spPr>
        <p:txBody>
          <a:bodyPr wrap="square" rtlCol="0">
            <a:spAutoFit/>
          </a:bodyPr>
          <a:lstStyle/>
          <a:p>
            <a:r>
              <a:rPr lang="en-US" sz="1600" b="1" dirty="0" err="1">
                <a:solidFill>
                  <a:srgbClr val="00B0F0"/>
                </a:solidFill>
              </a:rPr>
              <a:t>CPULator</a:t>
            </a:r>
            <a:r>
              <a:rPr lang="en-US" sz="1600" b="1" dirty="0">
                <a:solidFill>
                  <a:srgbClr val="00B0F0"/>
                </a:solidFill>
              </a:rPr>
              <a:t>: </a:t>
            </a:r>
            <a:r>
              <a:rPr lang="en-US" sz="1600" b="1" dirty="0">
                <a:solidFill>
                  <a:srgbClr val="FF0000"/>
                </a:solidFill>
              </a:rPr>
              <a:t>01-pi.s</a:t>
            </a:r>
          </a:p>
        </p:txBody>
      </p:sp>
    </p:spTree>
    <p:extLst>
      <p:ext uri="{BB962C8B-B14F-4D97-AF65-F5344CB8AC3E}">
        <p14:creationId xmlns:p14="http://schemas.microsoft.com/office/powerpoint/2010/main" val="7313135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981200" y="2300787"/>
          <a:ext cx="8903368" cy="2760345"/>
        </p:xfrm>
        <a:graphic>
          <a:graphicData uri="http://schemas.openxmlformats.org/drawingml/2006/table">
            <a:tbl>
              <a:tblPr firstRow="1" firstCol="1" bandRow="1"/>
              <a:tblGrid>
                <a:gridCol w="2030592">
                  <a:extLst>
                    <a:ext uri="{9D8B030D-6E8A-4147-A177-3AD203B41FA5}">
                      <a16:colId xmlns:a16="http://schemas.microsoft.com/office/drawing/2014/main" val="20000"/>
                    </a:ext>
                  </a:extLst>
                </a:gridCol>
                <a:gridCol w="3436388">
                  <a:extLst>
                    <a:ext uri="{9D8B030D-6E8A-4147-A177-3AD203B41FA5}">
                      <a16:colId xmlns:a16="http://schemas.microsoft.com/office/drawing/2014/main" val="20001"/>
                    </a:ext>
                  </a:extLst>
                </a:gridCol>
                <a:gridCol w="3436388">
                  <a:extLst>
                    <a:ext uri="{9D8B030D-6E8A-4147-A177-3AD203B41FA5}">
                      <a16:colId xmlns:a16="http://schemas.microsoft.com/office/drawing/2014/main" val="20002"/>
                    </a:ext>
                  </a:extLst>
                </a:gridCol>
              </a:tblGrid>
              <a:tr h="481405">
                <a:tc>
                  <a:txBody>
                    <a:bodyPr/>
                    <a:lstStyle/>
                    <a:p>
                      <a:pPr marL="0" marR="0">
                        <a:lnSpc>
                          <a:spcPct val="150000"/>
                        </a:lnSpc>
                        <a:spcBef>
                          <a:spcPts val="0"/>
                        </a:spcBef>
                        <a:spcAft>
                          <a:spcPts val="0"/>
                        </a:spcAft>
                      </a:pPr>
                      <a:r>
                        <a:rPr lang="en-US" sz="2400" b="1" i="1" dirty="0">
                          <a:solidFill>
                            <a:schemeClr val="bg1"/>
                          </a:solidFill>
                          <a:effectLst/>
                          <a:latin typeface="Calibri"/>
                          <a:ea typeface="Calibri"/>
                          <a:cs typeface="Calibri"/>
                        </a:rPr>
                        <a:t>Instruction</a:t>
                      </a:r>
                      <a:endParaRPr lang="en-US" sz="2400" dirty="0">
                        <a:solidFill>
                          <a:schemeClr val="bg1"/>
                        </a:solidFill>
                        <a:effectLst/>
                        <a:latin typeface="Arial"/>
                        <a:ea typeface="Arial"/>
                        <a:cs typeface="Calibri"/>
                      </a:endParaRPr>
                    </a:p>
                  </a:txBody>
                  <a:tcPr marL="36576"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nSpc>
                          <a:spcPct val="150000"/>
                        </a:lnSpc>
                        <a:spcBef>
                          <a:spcPts val="0"/>
                        </a:spcBef>
                        <a:spcAft>
                          <a:spcPts val="0"/>
                        </a:spcAft>
                      </a:pPr>
                      <a:r>
                        <a:rPr lang="en-US" sz="2400" b="1" i="1" dirty="0">
                          <a:solidFill>
                            <a:schemeClr val="bg1"/>
                          </a:solidFill>
                          <a:effectLst/>
                          <a:latin typeface="Calibri"/>
                          <a:ea typeface="Calibri"/>
                          <a:cs typeface="Calibri"/>
                        </a:rPr>
                        <a:t>Syntax</a:t>
                      </a:r>
                      <a:endParaRPr lang="en-US" sz="2400" dirty="0">
                        <a:solidFill>
                          <a:schemeClr val="bg1"/>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nSpc>
                          <a:spcPct val="150000"/>
                        </a:lnSpc>
                        <a:spcBef>
                          <a:spcPts val="0"/>
                        </a:spcBef>
                        <a:spcAft>
                          <a:spcPts val="0"/>
                        </a:spcAft>
                      </a:pPr>
                      <a:r>
                        <a:rPr lang="en-US" sz="2400" b="1" i="1" dirty="0">
                          <a:solidFill>
                            <a:schemeClr val="bg1"/>
                          </a:solidFill>
                          <a:effectLst/>
                          <a:latin typeface="Calibri"/>
                          <a:ea typeface="Calibri"/>
                          <a:cs typeface="Calibri"/>
                        </a:rPr>
                        <a:t>Operation</a:t>
                      </a:r>
                      <a:endParaRPr lang="en-US" sz="2400" dirty="0">
                        <a:solidFill>
                          <a:schemeClr val="bg1"/>
                        </a:solidFill>
                        <a:effectLst/>
                        <a:latin typeface="Arial"/>
                        <a:ea typeface="Arial"/>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72137">
                <a:tc rowSpan="3">
                  <a:txBody>
                    <a:bodyPr/>
                    <a:lstStyle/>
                    <a:p>
                      <a:pPr marL="0" marR="0">
                        <a:lnSpc>
                          <a:spcPct val="100000"/>
                        </a:lnSpc>
                        <a:spcBef>
                          <a:spcPts val="0"/>
                        </a:spcBef>
                        <a:spcAft>
                          <a:spcPts val="0"/>
                        </a:spcAft>
                      </a:pPr>
                      <a:r>
                        <a:rPr lang="en-US" sz="1600" dirty="0">
                          <a:solidFill>
                            <a:srgbClr val="000000"/>
                          </a:solidFill>
                          <a:effectLst/>
                          <a:latin typeface="Calibri"/>
                          <a:ea typeface="Calibri"/>
                          <a:cs typeface="Calibri"/>
                        </a:rPr>
                        <a:t>Store </a:t>
                      </a:r>
                      <a:r>
                        <a:rPr lang="en-US" sz="1600" b="1" dirty="0">
                          <a:solidFill>
                            <a:srgbClr val="00B0F0"/>
                          </a:solidFill>
                          <a:effectLst/>
                          <a:latin typeface="Calibri"/>
                          <a:ea typeface="Calibri"/>
                          <a:cs typeface="Calibri"/>
                        </a:rPr>
                        <a:t>single</a:t>
                      </a:r>
                      <a:r>
                        <a:rPr lang="en-US" sz="1600" dirty="0">
                          <a:solidFill>
                            <a:srgbClr val="000000"/>
                          </a:solidFill>
                          <a:effectLst/>
                          <a:latin typeface="Calibri"/>
                          <a:ea typeface="Calibri"/>
                          <a:cs typeface="Calibri"/>
                        </a:rPr>
                        <a:t>-precision FPU Register to Memory</a:t>
                      </a:r>
                      <a:endParaRPr lang="en-US" sz="1600" dirty="0">
                        <a:solidFill>
                          <a:srgbClr val="000000"/>
                        </a:solidFill>
                        <a:effectLst/>
                        <a:latin typeface="Arial"/>
                        <a:ea typeface="Arial"/>
                        <a:cs typeface="Calibri"/>
                      </a:endParaRPr>
                    </a:p>
                  </a:txBody>
                  <a:tcPr marL="36576"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1201738" algn="l"/>
                        </a:tabLst>
                      </a:pPr>
                      <a:r>
                        <a:rPr lang="en-US" sz="2000" dirty="0">
                          <a:solidFill>
                            <a:srgbClr val="000000"/>
                          </a:solidFill>
                          <a:effectLst/>
                          <a:latin typeface="Calibri"/>
                          <a:ea typeface="Calibri"/>
                          <a:cs typeface="Calibri"/>
                        </a:rPr>
                        <a:t>VSTR	S</a:t>
                      </a:r>
                      <a:r>
                        <a:rPr lang="en-US" sz="2000" baseline="-25000" dirty="0">
                          <a:solidFill>
                            <a:srgbClr val="000000"/>
                          </a:solidFill>
                          <a:effectLst/>
                          <a:latin typeface="Calibri"/>
                          <a:ea typeface="Calibri"/>
                          <a:cs typeface="Calibri"/>
                        </a:rPr>
                        <a:t>d</a:t>
                      </a:r>
                      <a:r>
                        <a:rPr lang="en-US" sz="2000" dirty="0">
                          <a:solidFill>
                            <a:srgbClr val="000000"/>
                          </a:solidFill>
                          <a:effectLst/>
                          <a:latin typeface="Calibri"/>
                          <a:ea typeface="Calibri"/>
                          <a:cs typeface="Calibri"/>
                        </a:rPr>
                        <a:t>,[</a:t>
                      </a:r>
                      <a:r>
                        <a:rPr lang="en-US" sz="2000" b="1" dirty="0">
                          <a:solidFill>
                            <a:srgbClr val="FF0000"/>
                          </a:solidFill>
                          <a:effectLst/>
                          <a:latin typeface="Calibri"/>
                          <a:ea typeface="Calibri"/>
                          <a:cs typeface="Calibri"/>
                        </a:rPr>
                        <a:t>R</a:t>
                      </a:r>
                      <a:r>
                        <a:rPr lang="en-US" sz="2000" baseline="-25000" dirty="0">
                          <a:solidFill>
                            <a:srgbClr val="000000"/>
                          </a:solidFill>
                          <a:effectLst/>
                          <a:latin typeface="Calibri"/>
                          <a:ea typeface="Calibri"/>
                          <a:cs typeface="Calibri"/>
                        </a:rPr>
                        <a:t>n</a:t>
                      </a:r>
                      <a:r>
                        <a:rPr lang="en-US" sz="2000" dirty="0">
                          <a:solidFill>
                            <a:srgbClr val="000000"/>
                          </a:solidFill>
                          <a:effectLst/>
                          <a:latin typeface="Calibri"/>
                          <a:ea typeface="Calibri"/>
                          <a:cs typeface="Calibri"/>
                        </a:rPr>
                        <a:t>]</a:t>
                      </a:r>
                    </a:p>
                  </a:txBody>
                  <a:tcPr marL="36576" marR="36576"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err="1">
                          <a:solidFill>
                            <a:srgbClr val="000000"/>
                          </a:solidFill>
                          <a:effectLst/>
                          <a:latin typeface="+mn-lt"/>
                          <a:ea typeface="Calibri"/>
                          <a:cs typeface="Calibri"/>
                        </a:rPr>
                        <a:t>S</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sym typeface="Wingdings"/>
                        </a:rPr>
                        <a:t>=</a:t>
                      </a:r>
                      <a:r>
                        <a:rPr lang="en-US" sz="2000" dirty="0">
                          <a:solidFill>
                            <a:srgbClr val="000000"/>
                          </a:solidFill>
                          <a:effectLst/>
                          <a:latin typeface="+mn-lt"/>
                          <a:ea typeface="Calibri"/>
                          <a:cs typeface="Calibri"/>
                        </a:rPr>
                        <a:t> mem</a:t>
                      </a:r>
                      <a:r>
                        <a:rPr lang="en-US" sz="2000" baseline="-25000" dirty="0">
                          <a:solidFill>
                            <a:srgbClr val="000000"/>
                          </a:solidFill>
                          <a:effectLst/>
                          <a:latin typeface="+mn-lt"/>
                          <a:ea typeface="Calibri"/>
                          <a:cs typeface="Calibri"/>
                        </a:rPr>
                        <a:t>32</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n</a:t>
                      </a:r>
                      <a:r>
                        <a:rPr lang="en-US" sz="2000" dirty="0">
                          <a:solidFill>
                            <a:srgbClr val="000000"/>
                          </a:solidFill>
                          <a:effectLst/>
                          <a:latin typeface="+mn-lt"/>
                          <a:ea typeface="Calibri"/>
                          <a:cs typeface="Calibri"/>
                        </a:rPr>
                        <a:t>]</a:t>
                      </a:r>
                    </a:p>
                  </a:txBody>
                  <a:tcPr marL="36576" marR="36576" marT="36830" marB="368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72137">
                <a:tc vMerge="1">
                  <a:txBody>
                    <a:bodyPr/>
                    <a:lstStyle/>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1201738" algn="l"/>
                        </a:tabLst>
                        <a:defRPr/>
                      </a:pPr>
                      <a:r>
                        <a:rPr lang="en-US" sz="2000" dirty="0">
                          <a:solidFill>
                            <a:srgbClr val="000000"/>
                          </a:solidFill>
                          <a:effectLst/>
                          <a:latin typeface="+mn-lt"/>
                          <a:ea typeface="Calibri"/>
                          <a:cs typeface="Calibri"/>
                        </a:rPr>
                        <a:t>VSTR	S</a:t>
                      </a:r>
                      <a:r>
                        <a:rPr lang="en-US" sz="2000" baseline="-25000" dirty="0">
                          <a:solidFill>
                            <a:srgbClr val="000000"/>
                          </a:solidFill>
                          <a:effectLst/>
                          <a:latin typeface="+mn-lt"/>
                          <a:ea typeface="Calibri"/>
                          <a:cs typeface="Calibri"/>
                        </a:rPr>
                        <a:t>d</a:t>
                      </a:r>
                      <a:r>
                        <a:rPr lang="en-US" sz="2000" dirty="0">
                          <a:solidFill>
                            <a:srgbClr val="000000"/>
                          </a:solidFill>
                          <a:effectLst/>
                          <a:latin typeface="+mn-lt"/>
                          <a:ea typeface="Calibri"/>
                          <a:cs typeface="Calibri"/>
                        </a:rPr>
                        <a:t>,[</a:t>
                      </a:r>
                      <a:r>
                        <a:rPr lang="en-US" sz="2000" b="1" dirty="0" err="1">
                          <a:solidFill>
                            <a:srgbClr val="FF0000"/>
                          </a:solidFill>
                          <a:effectLst/>
                          <a:latin typeface="+mn-lt"/>
                          <a:ea typeface="Calibri"/>
                          <a:cs typeface="Calibri"/>
                        </a:rPr>
                        <a:t>R</a:t>
                      </a:r>
                      <a:r>
                        <a:rPr lang="en-US" sz="2000" baseline="-25000" dirty="0" err="1">
                          <a:solidFill>
                            <a:srgbClr val="000000"/>
                          </a:solidFill>
                          <a:effectLst/>
                          <a:latin typeface="+mn-lt"/>
                          <a:ea typeface="Calibri"/>
                          <a:cs typeface="Calibri"/>
                        </a:rPr>
                        <a:t>n</a:t>
                      </a:r>
                      <a:r>
                        <a:rPr lang="en-US" sz="2000" dirty="0" err="1">
                          <a:solidFill>
                            <a:srgbClr val="000000"/>
                          </a:solidFill>
                          <a:effectLst/>
                          <a:latin typeface="+mn-lt"/>
                          <a:ea typeface="Calibri"/>
                          <a:cs typeface="Calibri"/>
                        </a:rPr>
                        <a:t>,</a:t>
                      </a:r>
                      <a:r>
                        <a:rPr lang="en-US" sz="2000" i="1" dirty="0" err="1">
                          <a:solidFill>
                            <a:srgbClr val="000000"/>
                          </a:solidFill>
                          <a:effectLst/>
                          <a:latin typeface="+mn-lt"/>
                          <a:ea typeface="Calibri"/>
                          <a:cs typeface="Calibri"/>
                        </a:rPr>
                        <a:t>constant</a:t>
                      </a:r>
                      <a:r>
                        <a:rPr lang="en-US" sz="2000" i="0" dirty="0">
                          <a:solidFill>
                            <a:srgbClr val="000000"/>
                          </a:solidFill>
                          <a:effectLst/>
                          <a:latin typeface="+mn-lt"/>
                          <a:ea typeface="Calibri"/>
                          <a:cs typeface="Calibri"/>
                        </a:rPr>
                        <a:t>]</a:t>
                      </a:r>
                    </a:p>
                  </a:txBody>
                  <a:tcPr marL="36576" marR="36576"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err="1">
                          <a:solidFill>
                            <a:srgbClr val="000000"/>
                          </a:solidFill>
                          <a:effectLst/>
                          <a:latin typeface="+mn-lt"/>
                          <a:ea typeface="Calibri"/>
                          <a:cs typeface="Calibri"/>
                        </a:rPr>
                        <a:t>S</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sym typeface="Wingdings"/>
                        </a:rPr>
                        <a:t>=</a:t>
                      </a:r>
                      <a:r>
                        <a:rPr lang="en-US" sz="2000" dirty="0">
                          <a:solidFill>
                            <a:srgbClr val="000000"/>
                          </a:solidFill>
                          <a:effectLst/>
                          <a:latin typeface="+mn-lt"/>
                          <a:ea typeface="Calibri"/>
                          <a:cs typeface="Calibri"/>
                        </a:rPr>
                        <a:t> mem</a:t>
                      </a:r>
                      <a:r>
                        <a:rPr lang="en-US" sz="2000" baseline="-25000" dirty="0">
                          <a:solidFill>
                            <a:srgbClr val="000000"/>
                          </a:solidFill>
                          <a:effectLst/>
                          <a:latin typeface="+mn-lt"/>
                          <a:ea typeface="Calibri"/>
                          <a:cs typeface="Calibri"/>
                        </a:rPr>
                        <a:t>32</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n</a:t>
                      </a:r>
                      <a:r>
                        <a:rPr lang="en-US" sz="2000" dirty="0">
                          <a:solidFill>
                            <a:srgbClr val="000000"/>
                          </a:solidFill>
                          <a:effectLst/>
                          <a:latin typeface="+mn-lt"/>
                          <a:ea typeface="Calibri"/>
                          <a:cs typeface="Calibri"/>
                        </a:rPr>
                        <a:t> + </a:t>
                      </a:r>
                      <a:r>
                        <a:rPr lang="en-US" sz="2000" i="1" dirty="0">
                          <a:solidFill>
                            <a:srgbClr val="000000"/>
                          </a:solidFill>
                          <a:effectLst/>
                          <a:latin typeface="+mn-lt"/>
                          <a:ea typeface="Calibri"/>
                          <a:cs typeface="Calibri"/>
                        </a:rPr>
                        <a:t>constant</a:t>
                      </a:r>
                      <a:r>
                        <a:rPr lang="en-US" sz="2000" dirty="0">
                          <a:solidFill>
                            <a:srgbClr val="000000"/>
                          </a:solidFill>
                          <a:effectLst/>
                          <a:latin typeface="+mn-lt"/>
                          <a:ea typeface="Calibri"/>
                          <a:cs typeface="Calibri"/>
                        </a:rPr>
                        <a:t>]</a:t>
                      </a:r>
                    </a:p>
                  </a:txBody>
                  <a:tcPr marL="36576" marR="36576" marT="36830" marB="368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72137">
                <a:tc vMerge="1">
                  <a:txBody>
                    <a:bodyPr/>
                    <a:lstStyle/>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1201738" algn="l"/>
                        </a:tabLst>
                        <a:defRPr/>
                      </a:pPr>
                      <a:r>
                        <a:rPr lang="en-US" sz="2000" dirty="0">
                          <a:solidFill>
                            <a:srgbClr val="000000"/>
                          </a:solidFill>
                          <a:effectLst/>
                          <a:latin typeface="+mn-lt"/>
                          <a:ea typeface="Calibri"/>
                          <a:cs typeface="Calibri"/>
                        </a:rPr>
                        <a:t>VSTR	</a:t>
                      </a:r>
                      <a:r>
                        <a:rPr lang="en-US" sz="2000" dirty="0" err="1">
                          <a:solidFill>
                            <a:srgbClr val="000000"/>
                          </a:solidFill>
                          <a:effectLst/>
                          <a:latin typeface="+mn-lt"/>
                          <a:ea typeface="Calibri"/>
                          <a:cs typeface="Calibri"/>
                        </a:rPr>
                        <a:t>S</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a:t>
                      </a:r>
                      <a:r>
                        <a:rPr lang="en-US" sz="2000" i="1" baseline="0" dirty="0">
                          <a:solidFill>
                            <a:srgbClr val="000000"/>
                          </a:solidFill>
                          <a:effectLst/>
                          <a:latin typeface="+mn-lt"/>
                          <a:ea typeface="Calibri"/>
                          <a:cs typeface="Calibri"/>
                        </a:rPr>
                        <a:t>label</a:t>
                      </a:r>
                      <a:endParaRPr lang="en-US" sz="2000" i="1" dirty="0">
                        <a:solidFill>
                          <a:srgbClr val="000000"/>
                        </a:solidFill>
                        <a:effectLst/>
                        <a:latin typeface="+mn-lt"/>
                        <a:ea typeface="Calibri"/>
                        <a:cs typeface="Calibri"/>
                      </a:endParaRPr>
                    </a:p>
                  </a:txBody>
                  <a:tcPr marL="36576" marR="36576"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err="1">
                          <a:solidFill>
                            <a:srgbClr val="000000"/>
                          </a:solidFill>
                          <a:effectLst/>
                          <a:latin typeface="+mn-lt"/>
                          <a:ea typeface="Calibri"/>
                          <a:cs typeface="Calibri"/>
                        </a:rPr>
                        <a:t>S</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sym typeface="Wingdings"/>
                        </a:rPr>
                        <a:t>=</a:t>
                      </a:r>
                      <a:r>
                        <a:rPr lang="en-US" sz="2000" dirty="0">
                          <a:solidFill>
                            <a:srgbClr val="000000"/>
                          </a:solidFill>
                          <a:effectLst/>
                          <a:latin typeface="+mn-lt"/>
                          <a:ea typeface="Calibri"/>
                          <a:cs typeface="Calibri"/>
                        </a:rPr>
                        <a:t> mem</a:t>
                      </a:r>
                      <a:r>
                        <a:rPr lang="en-US" sz="2000" baseline="-25000" dirty="0">
                          <a:solidFill>
                            <a:srgbClr val="000000"/>
                          </a:solidFill>
                          <a:effectLst/>
                          <a:latin typeface="+mn-lt"/>
                          <a:ea typeface="Calibri"/>
                          <a:cs typeface="Calibri"/>
                        </a:rPr>
                        <a:t>32</a:t>
                      </a:r>
                      <a:r>
                        <a:rPr lang="en-US" sz="2000" dirty="0">
                          <a:solidFill>
                            <a:srgbClr val="000000"/>
                          </a:solidFill>
                          <a:effectLst/>
                          <a:latin typeface="+mn-lt"/>
                          <a:ea typeface="Calibri"/>
                          <a:cs typeface="Calibri"/>
                        </a:rPr>
                        <a:t>[address</a:t>
                      </a:r>
                      <a:r>
                        <a:rPr lang="en-US" sz="2000" baseline="0" dirty="0">
                          <a:solidFill>
                            <a:srgbClr val="000000"/>
                          </a:solidFill>
                          <a:effectLst/>
                          <a:latin typeface="+mn-lt"/>
                          <a:ea typeface="Calibri"/>
                          <a:cs typeface="Calibri"/>
                        </a:rPr>
                        <a:t> of </a:t>
                      </a:r>
                      <a:r>
                        <a:rPr lang="en-US" sz="2000" i="1" baseline="0" dirty="0">
                          <a:solidFill>
                            <a:srgbClr val="000000"/>
                          </a:solidFill>
                          <a:effectLst/>
                          <a:latin typeface="+mn-lt"/>
                          <a:ea typeface="Calibri"/>
                          <a:cs typeface="Calibri"/>
                        </a:rPr>
                        <a:t>label</a:t>
                      </a:r>
                      <a:r>
                        <a:rPr lang="en-US" sz="2000" dirty="0">
                          <a:solidFill>
                            <a:srgbClr val="000000"/>
                          </a:solidFill>
                          <a:effectLst/>
                          <a:latin typeface="+mn-lt"/>
                          <a:ea typeface="Calibri"/>
                          <a:cs typeface="Calibri"/>
                        </a:rPr>
                        <a:t>]</a:t>
                      </a:r>
                    </a:p>
                  </a:txBody>
                  <a:tcPr marL="36576" marR="36576" marT="36830" marB="368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72137">
                <a:tc rowSpan="3">
                  <a:txBody>
                    <a:bodyPr/>
                    <a:lstStyle/>
                    <a:p>
                      <a:pPr marL="0" marR="0">
                        <a:lnSpc>
                          <a:spcPct val="100000"/>
                        </a:lnSpc>
                        <a:spcBef>
                          <a:spcPts val="0"/>
                        </a:spcBef>
                        <a:spcAft>
                          <a:spcPts val="0"/>
                        </a:spcAft>
                      </a:pPr>
                      <a:r>
                        <a:rPr lang="en-US" sz="1600" dirty="0">
                          <a:solidFill>
                            <a:srgbClr val="000000"/>
                          </a:solidFill>
                          <a:effectLst/>
                          <a:latin typeface="Calibri"/>
                          <a:ea typeface="Calibri"/>
                          <a:cs typeface="Calibri"/>
                        </a:rPr>
                        <a:t>Store </a:t>
                      </a:r>
                      <a:r>
                        <a:rPr lang="en-US" sz="1600" b="1" dirty="0">
                          <a:solidFill>
                            <a:srgbClr val="92D050"/>
                          </a:solidFill>
                          <a:effectLst/>
                          <a:latin typeface="Calibri"/>
                          <a:ea typeface="Calibri"/>
                          <a:cs typeface="Calibri"/>
                        </a:rPr>
                        <a:t>double</a:t>
                      </a:r>
                      <a:r>
                        <a:rPr lang="en-US" sz="1600" dirty="0">
                          <a:solidFill>
                            <a:srgbClr val="000000"/>
                          </a:solidFill>
                          <a:effectLst/>
                          <a:latin typeface="Calibri"/>
                          <a:ea typeface="Calibri"/>
                          <a:cs typeface="Calibri"/>
                        </a:rPr>
                        <a:t>-precision FPU Register to Memory</a:t>
                      </a:r>
                      <a:endParaRPr lang="en-US" sz="1600" dirty="0">
                        <a:solidFill>
                          <a:srgbClr val="000000"/>
                        </a:solidFill>
                        <a:effectLst/>
                        <a:latin typeface="Arial"/>
                        <a:ea typeface="Arial"/>
                        <a:cs typeface="Calibri"/>
                      </a:endParaRPr>
                    </a:p>
                  </a:txBody>
                  <a:tcPr marL="36576"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1201738" algn="l"/>
                        </a:tabLst>
                        <a:defRPr/>
                      </a:pPr>
                      <a:r>
                        <a:rPr lang="en-US" sz="2000" dirty="0">
                          <a:solidFill>
                            <a:srgbClr val="000000"/>
                          </a:solidFill>
                          <a:effectLst/>
                          <a:latin typeface="+mn-lt"/>
                          <a:ea typeface="Calibri"/>
                          <a:cs typeface="Calibri"/>
                        </a:rPr>
                        <a:t>VSTR	</a:t>
                      </a:r>
                      <a:r>
                        <a:rPr lang="en-US" sz="2000" dirty="0" err="1">
                          <a:solidFill>
                            <a:srgbClr val="000000"/>
                          </a:solidFill>
                          <a:effectLst/>
                          <a:latin typeface="+mn-lt"/>
                          <a:ea typeface="Calibri"/>
                          <a:cs typeface="Calibri"/>
                        </a:rPr>
                        <a:t>D</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n</a:t>
                      </a:r>
                      <a:r>
                        <a:rPr lang="en-US" sz="2000" dirty="0">
                          <a:solidFill>
                            <a:srgbClr val="000000"/>
                          </a:solidFill>
                          <a:effectLst/>
                          <a:latin typeface="+mn-lt"/>
                          <a:ea typeface="Calibri"/>
                          <a:cs typeface="Calibri"/>
                        </a:rPr>
                        <a:t>]</a:t>
                      </a:r>
                    </a:p>
                  </a:txBody>
                  <a:tcPr marL="36576" marR="36576"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err="1">
                          <a:solidFill>
                            <a:srgbClr val="000000"/>
                          </a:solidFill>
                          <a:effectLst/>
                          <a:latin typeface="+mn-lt"/>
                          <a:ea typeface="Calibri"/>
                          <a:cs typeface="Calibri"/>
                        </a:rPr>
                        <a:t>D</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sym typeface="Wingdings"/>
                        </a:rPr>
                        <a:t>=</a:t>
                      </a:r>
                      <a:r>
                        <a:rPr lang="en-US" sz="2000" dirty="0">
                          <a:solidFill>
                            <a:srgbClr val="000000"/>
                          </a:solidFill>
                          <a:effectLst/>
                          <a:latin typeface="+mn-lt"/>
                          <a:ea typeface="Calibri"/>
                          <a:cs typeface="Calibri"/>
                        </a:rPr>
                        <a:t> mem</a:t>
                      </a:r>
                      <a:r>
                        <a:rPr lang="en-US" sz="2000" baseline="-25000" dirty="0">
                          <a:solidFill>
                            <a:srgbClr val="000000"/>
                          </a:solidFill>
                          <a:effectLst/>
                          <a:latin typeface="+mn-lt"/>
                          <a:ea typeface="Calibri"/>
                          <a:cs typeface="Calibri"/>
                        </a:rPr>
                        <a:t>64</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n</a:t>
                      </a:r>
                      <a:r>
                        <a:rPr lang="en-US" sz="2000" dirty="0">
                          <a:solidFill>
                            <a:srgbClr val="000000"/>
                          </a:solidFill>
                          <a:effectLst/>
                          <a:latin typeface="+mn-lt"/>
                          <a:ea typeface="Calibri"/>
                          <a:cs typeface="Calibri"/>
                        </a:rPr>
                        <a:t>]</a:t>
                      </a:r>
                    </a:p>
                  </a:txBody>
                  <a:tcPr marL="36576" marR="36576" marT="36830" marB="368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72137">
                <a:tc vMerge="1">
                  <a:txBody>
                    <a:bodyPr/>
                    <a:lstStyle/>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1201738" algn="l"/>
                        </a:tabLst>
                        <a:defRPr/>
                      </a:pPr>
                      <a:r>
                        <a:rPr lang="en-US" sz="2000" dirty="0">
                          <a:solidFill>
                            <a:srgbClr val="000000"/>
                          </a:solidFill>
                          <a:effectLst/>
                          <a:latin typeface="+mn-lt"/>
                          <a:ea typeface="Calibri"/>
                          <a:cs typeface="Calibri"/>
                        </a:rPr>
                        <a:t>VSTR	</a:t>
                      </a:r>
                      <a:r>
                        <a:rPr lang="en-US" sz="2000" dirty="0" err="1">
                          <a:solidFill>
                            <a:srgbClr val="000000"/>
                          </a:solidFill>
                          <a:effectLst/>
                          <a:latin typeface="+mn-lt"/>
                          <a:ea typeface="Calibri"/>
                          <a:cs typeface="Calibri"/>
                        </a:rPr>
                        <a:t>D</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a:t>
                      </a:r>
                      <a:r>
                        <a:rPr lang="en-US" sz="2000" b="1" dirty="0" err="1">
                          <a:solidFill>
                            <a:srgbClr val="FF0000"/>
                          </a:solidFill>
                          <a:effectLst/>
                          <a:latin typeface="+mn-lt"/>
                          <a:ea typeface="Calibri"/>
                          <a:cs typeface="Calibri"/>
                        </a:rPr>
                        <a:t>R</a:t>
                      </a:r>
                      <a:r>
                        <a:rPr lang="en-US" sz="2000" baseline="-25000" dirty="0" err="1">
                          <a:solidFill>
                            <a:srgbClr val="000000"/>
                          </a:solidFill>
                          <a:effectLst/>
                          <a:latin typeface="+mn-lt"/>
                          <a:ea typeface="Calibri"/>
                          <a:cs typeface="Calibri"/>
                        </a:rPr>
                        <a:t>n</a:t>
                      </a:r>
                      <a:r>
                        <a:rPr lang="en-US" sz="2000" dirty="0" err="1">
                          <a:solidFill>
                            <a:srgbClr val="000000"/>
                          </a:solidFill>
                          <a:effectLst/>
                          <a:latin typeface="+mn-lt"/>
                          <a:ea typeface="Calibri"/>
                          <a:cs typeface="Calibri"/>
                        </a:rPr>
                        <a:t>,</a:t>
                      </a:r>
                      <a:r>
                        <a:rPr lang="en-US" sz="2000" i="1" dirty="0" err="1">
                          <a:solidFill>
                            <a:srgbClr val="000000"/>
                          </a:solidFill>
                          <a:effectLst/>
                          <a:latin typeface="+mn-lt"/>
                          <a:ea typeface="Calibri"/>
                          <a:cs typeface="Calibri"/>
                        </a:rPr>
                        <a:t>constant</a:t>
                      </a:r>
                      <a:r>
                        <a:rPr lang="en-US" sz="2000" i="0" dirty="0">
                          <a:solidFill>
                            <a:srgbClr val="000000"/>
                          </a:solidFill>
                          <a:effectLst/>
                          <a:latin typeface="+mn-lt"/>
                          <a:ea typeface="Calibri"/>
                          <a:cs typeface="Calibri"/>
                        </a:rPr>
                        <a:t>]</a:t>
                      </a:r>
                      <a:endParaRPr lang="en-US" sz="2000" dirty="0">
                        <a:solidFill>
                          <a:srgbClr val="000000"/>
                        </a:solidFill>
                        <a:effectLst/>
                        <a:latin typeface="Arial"/>
                        <a:ea typeface="Arial"/>
                        <a:cs typeface="Calibri"/>
                      </a:endParaRPr>
                    </a:p>
                  </a:txBody>
                  <a:tcPr marL="36576" marR="36576"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2000" dirty="0" err="1">
                          <a:solidFill>
                            <a:srgbClr val="000000"/>
                          </a:solidFill>
                          <a:effectLst/>
                          <a:latin typeface="+mn-lt"/>
                          <a:ea typeface="Calibri"/>
                          <a:cs typeface="Calibri"/>
                        </a:rPr>
                        <a:t>D</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sym typeface="Wingdings"/>
                        </a:rPr>
                        <a:t>=</a:t>
                      </a:r>
                      <a:r>
                        <a:rPr lang="en-US" sz="2000" dirty="0">
                          <a:solidFill>
                            <a:srgbClr val="000000"/>
                          </a:solidFill>
                          <a:effectLst/>
                          <a:latin typeface="+mn-lt"/>
                          <a:ea typeface="Calibri"/>
                          <a:cs typeface="Calibri"/>
                        </a:rPr>
                        <a:t> mem</a:t>
                      </a:r>
                      <a:r>
                        <a:rPr lang="en-US" sz="2000" baseline="-25000" dirty="0">
                          <a:solidFill>
                            <a:srgbClr val="000000"/>
                          </a:solidFill>
                          <a:effectLst/>
                          <a:latin typeface="+mn-lt"/>
                          <a:ea typeface="Calibri"/>
                          <a:cs typeface="Calibri"/>
                        </a:rPr>
                        <a:t>64</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n</a:t>
                      </a:r>
                      <a:r>
                        <a:rPr lang="en-US" sz="2000" dirty="0">
                          <a:solidFill>
                            <a:srgbClr val="000000"/>
                          </a:solidFill>
                          <a:effectLst/>
                          <a:latin typeface="+mn-lt"/>
                          <a:ea typeface="Calibri"/>
                          <a:cs typeface="Calibri"/>
                        </a:rPr>
                        <a:t> + </a:t>
                      </a:r>
                      <a:r>
                        <a:rPr lang="en-US" sz="2000" i="1" dirty="0">
                          <a:solidFill>
                            <a:srgbClr val="000000"/>
                          </a:solidFill>
                          <a:effectLst/>
                          <a:latin typeface="+mn-lt"/>
                          <a:ea typeface="Calibri"/>
                          <a:cs typeface="Calibri"/>
                        </a:rPr>
                        <a:t>constant</a:t>
                      </a:r>
                      <a:r>
                        <a:rPr lang="en-US" sz="2000" dirty="0">
                          <a:solidFill>
                            <a:srgbClr val="000000"/>
                          </a:solidFill>
                          <a:effectLst/>
                          <a:latin typeface="+mn-lt"/>
                          <a:ea typeface="Calibri"/>
                          <a:cs typeface="Calibri"/>
                        </a:rPr>
                        <a:t>]</a:t>
                      </a:r>
                    </a:p>
                  </a:txBody>
                  <a:tcPr marL="36576" marR="36576" marT="36830" marB="368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72137">
                <a:tc vMerge="1">
                  <a:txBody>
                    <a:bodyPr/>
                    <a:lstStyle/>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1201738" algn="l"/>
                        </a:tabLst>
                        <a:defRPr/>
                      </a:pPr>
                      <a:r>
                        <a:rPr lang="en-US" sz="2000" dirty="0">
                          <a:solidFill>
                            <a:srgbClr val="000000"/>
                          </a:solidFill>
                          <a:effectLst/>
                          <a:latin typeface="+mn-lt"/>
                          <a:ea typeface="Calibri"/>
                          <a:cs typeface="Calibri"/>
                        </a:rPr>
                        <a:t>VSTR	</a:t>
                      </a:r>
                      <a:r>
                        <a:rPr lang="en-US" sz="2000" dirty="0" err="1">
                          <a:solidFill>
                            <a:srgbClr val="000000"/>
                          </a:solidFill>
                          <a:effectLst/>
                          <a:latin typeface="+mn-lt"/>
                          <a:ea typeface="Calibri"/>
                          <a:cs typeface="Calibri"/>
                        </a:rPr>
                        <a:t>D</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a:t>
                      </a:r>
                      <a:r>
                        <a:rPr lang="en-US" sz="2000" i="1" baseline="0" dirty="0">
                          <a:solidFill>
                            <a:srgbClr val="000000"/>
                          </a:solidFill>
                          <a:effectLst/>
                          <a:latin typeface="+mn-lt"/>
                          <a:ea typeface="Calibri"/>
                          <a:cs typeface="Calibri"/>
                        </a:rPr>
                        <a:t>label</a:t>
                      </a:r>
                      <a:endParaRPr lang="en-US" sz="2000" dirty="0">
                        <a:solidFill>
                          <a:srgbClr val="000000"/>
                        </a:solidFill>
                        <a:effectLst/>
                        <a:latin typeface="+mn-lt"/>
                        <a:ea typeface="Calibri"/>
                        <a:cs typeface="Calibri"/>
                      </a:endParaRPr>
                    </a:p>
                  </a:txBody>
                  <a:tcPr marL="36576" marR="36576"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err="1">
                          <a:solidFill>
                            <a:srgbClr val="000000"/>
                          </a:solidFill>
                          <a:effectLst/>
                          <a:latin typeface="+mn-lt"/>
                          <a:ea typeface="Calibri"/>
                          <a:cs typeface="Calibri"/>
                        </a:rPr>
                        <a:t>D</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sym typeface="Wingdings"/>
                        </a:rPr>
                        <a:t>=</a:t>
                      </a:r>
                      <a:r>
                        <a:rPr lang="en-US" sz="2000" dirty="0">
                          <a:solidFill>
                            <a:srgbClr val="000000"/>
                          </a:solidFill>
                          <a:effectLst/>
                          <a:latin typeface="+mn-lt"/>
                          <a:ea typeface="Calibri"/>
                          <a:cs typeface="Calibri"/>
                        </a:rPr>
                        <a:t> mem</a:t>
                      </a:r>
                      <a:r>
                        <a:rPr lang="en-US" sz="2000" baseline="-25000" dirty="0">
                          <a:solidFill>
                            <a:srgbClr val="000000"/>
                          </a:solidFill>
                          <a:effectLst/>
                          <a:latin typeface="+mn-lt"/>
                          <a:ea typeface="Calibri"/>
                          <a:cs typeface="Calibri"/>
                        </a:rPr>
                        <a:t>64</a:t>
                      </a:r>
                      <a:r>
                        <a:rPr lang="en-US" sz="2000" dirty="0">
                          <a:solidFill>
                            <a:srgbClr val="000000"/>
                          </a:solidFill>
                          <a:effectLst/>
                          <a:latin typeface="+mn-lt"/>
                          <a:ea typeface="Calibri"/>
                          <a:cs typeface="Calibri"/>
                        </a:rPr>
                        <a:t>[address</a:t>
                      </a:r>
                      <a:r>
                        <a:rPr lang="en-US" sz="2000" baseline="0" dirty="0">
                          <a:solidFill>
                            <a:srgbClr val="000000"/>
                          </a:solidFill>
                          <a:effectLst/>
                          <a:latin typeface="+mn-lt"/>
                          <a:ea typeface="Calibri"/>
                          <a:cs typeface="Calibri"/>
                        </a:rPr>
                        <a:t> of </a:t>
                      </a:r>
                      <a:r>
                        <a:rPr lang="en-US" sz="2000" i="1" baseline="0" dirty="0">
                          <a:solidFill>
                            <a:srgbClr val="000000"/>
                          </a:solidFill>
                          <a:effectLst/>
                          <a:latin typeface="+mn-lt"/>
                          <a:ea typeface="Calibri"/>
                          <a:cs typeface="Calibri"/>
                        </a:rPr>
                        <a:t>label</a:t>
                      </a:r>
                      <a:r>
                        <a:rPr lang="en-US" sz="2000" dirty="0">
                          <a:solidFill>
                            <a:srgbClr val="000000"/>
                          </a:solidFill>
                          <a:effectLst/>
                          <a:latin typeface="+mn-lt"/>
                          <a:ea typeface="Calibri"/>
                          <a:cs typeface="Calibri"/>
                        </a:rPr>
                        <a:t>]</a:t>
                      </a:r>
                    </a:p>
                  </a:txBody>
                  <a:tcPr marL="36576" marR="36576" marT="36830" marB="368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3" name="Title 2"/>
          <p:cNvSpPr>
            <a:spLocks noGrp="1"/>
          </p:cNvSpPr>
          <p:nvPr>
            <p:ph type="title"/>
          </p:nvPr>
        </p:nvSpPr>
        <p:spPr>
          <a:xfrm>
            <a:off x="920475" y="842857"/>
            <a:ext cx="11159231" cy="474018"/>
          </a:xfrm>
        </p:spPr>
        <p:txBody>
          <a:bodyPr>
            <a:noAutofit/>
          </a:bodyPr>
          <a:lstStyle/>
          <a:p>
            <a:r>
              <a:rPr lang="en-US" sz="2400" u="sng" dirty="0"/>
              <a:t>COPYING</a:t>
            </a:r>
            <a:r>
              <a:rPr lang="en-US" sz="2400" dirty="0"/>
              <a:t> FLOATING-POINT DATA - Register -&gt; (Single or Double) Memory</a:t>
            </a:r>
          </a:p>
        </p:txBody>
      </p:sp>
      <p:cxnSp>
        <p:nvCxnSpPr>
          <p:cNvPr id="10" name="Straight Connector 9"/>
          <p:cNvCxnSpPr/>
          <p:nvPr/>
        </p:nvCxnSpPr>
        <p:spPr>
          <a:xfrm>
            <a:off x="4026569" y="4927725"/>
            <a:ext cx="6805863" cy="522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026569" y="3794593"/>
            <a:ext cx="6805863" cy="3144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5950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6400801" y="4334090"/>
            <a:ext cx="3809999" cy="237151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Rectangle 7"/>
          <p:cNvSpPr/>
          <p:nvPr/>
        </p:nvSpPr>
        <p:spPr>
          <a:xfrm>
            <a:off x="2057402" y="4334090"/>
            <a:ext cx="3733799" cy="237151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2" name="Table 1"/>
          <p:cNvGraphicFramePr>
            <a:graphicFrameLocks noGrp="1"/>
          </p:cNvGraphicFramePr>
          <p:nvPr/>
        </p:nvGraphicFramePr>
        <p:xfrm>
          <a:off x="2057401" y="1752600"/>
          <a:ext cx="9087853" cy="1447800"/>
        </p:xfrm>
        <a:graphic>
          <a:graphicData uri="http://schemas.openxmlformats.org/drawingml/2006/table">
            <a:tbl>
              <a:tblPr firstRow="1" firstCol="1" bandRow="1"/>
              <a:tblGrid>
                <a:gridCol w="1880248">
                  <a:extLst>
                    <a:ext uri="{9D8B030D-6E8A-4147-A177-3AD203B41FA5}">
                      <a16:colId xmlns:a16="http://schemas.microsoft.com/office/drawing/2014/main" val="20000"/>
                    </a:ext>
                  </a:extLst>
                </a:gridCol>
                <a:gridCol w="2752776">
                  <a:extLst>
                    <a:ext uri="{9D8B030D-6E8A-4147-A177-3AD203B41FA5}">
                      <a16:colId xmlns:a16="http://schemas.microsoft.com/office/drawing/2014/main" val="20001"/>
                    </a:ext>
                  </a:extLst>
                </a:gridCol>
                <a:gridCol w="4454829">
                  <a:extLst>
                    <a:ext uri="{9D8B030D-6E8A-4147-A177-3AD203B41FA5}">
                      <a16:colId xmlns:a16="http://schemas.microsoft.com/office/drawing/2014/main" val="20002"/>
                    </a:ext>
                  </a:extLst>
                </a:gridCol>
              </a:tblGrid>
              <a:tr h="549604">
                <a:tc>
                  <a:txBody>
                    <a:bodyPr/>
                    <a:lstStyle/>
                    <a:p>
                      <a:pPr marL="0" marR="0">
                        <a:lnSpc>
                          <a:spcPct val="150000"/>
                        </a:lnSpc>
                        <a:spcBef>
                          <a:spcPts val="0"/>
                        </a:spcBef>
                        <a:spcAft>
                          <a:spcPts val="0"/>
                        </a:spcAft>
                      </a:pPr>
                      <a:r>
                        <a:rPr lang="en-US" sz="2400" b="1" i="1" dirty="0">
                          <a:solidFill>
                            <a:schemeClr val="bg1"/>
                          </a:solidFill>
                          <a:effectLst/>
                          <a:latin typeface="Calibri"/>
                          <a:ea typeface="Calibri"/>
                          <a:cs typeface="Calibri"/>
                        </a:rPr>
                        <a:t>Instruction</a:t>
                      </a:r>
                      <a:endParaRPr lang="en-US" sz="2400" dirty="0">
                        <a:solidFill>
                          <a:schemeClr val="bg1"/>
                        </a:solidFill>
                        <a:effectLst/>
                        <a:latin typeface="Arial"/>
                        <a:ea typeface="Arial"/>
                        <a:cs typeface="Calibri"/>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nSpc>
                          <a:spcPct val="150000"/>
                        </a:lnSpc>
                        <a:spcBef>
                          <a:spcPts val="0"/>
                        </a:spcBef>
                        <a:spcAft>
                          <a:spcPts val="0"/>
                        </a:spcAft>
                      </a:pPr>
                      <a:r>
                        <a:rPr lang="en-US" sz="2400" b="1" i="1" dirty="0">
                          <a:solidFill>
                            <a:schemeClr val="bg1"/>
                          </a:solidFill>
                          <a:effectLst/>
                          <a:latin typeface="Calibri"/>
                          <a:ea typeface="Calibri"/>
                          <a:cs typeface="Calibri"/>
                        </a:rPr>
                        <a:t>Syntax</a:t>
                      </a:r>
                      <a:endParaRPr lang="en-US" sz="2400" dirty="0">
                        <a:solidFill>
                          <a:schemeClr val="bg1"/>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nSpc>
                          <a:spcPct val="150000"/>
                        </a:lnSpc>
                        <a:spcBef>
                          <a:spcPts val="0"/>
                        </a:spcBef>
                        <a:spcAft>
                          <a:spcPts val="0"/>
                        </a:spcAft>
                      </a:pPr>
                      <a:r>
                        <a:rPr lang="en-US" sz="2400" b="1" i="1" dirty="0">
                          <a:solidFill>
                            <a:schemeClr val="bg1"/>
                          </a:solidFill>
                          <a:effectLst/>
                          <a:latin typeface="Calibri"/>
                          <a:ea typeface="Calibri"/>
                          <a:cs typeface="Calibri"/>
                        </a:rPr>
                        <a:t>Operation</a:t>
                      </a:r>
                      <a:endParaRPr lang="en-US" sz="2400" dirty="0">
                        <a:solidFill>
                          <a:schemeClr val="bg1"/>
                        </a:solidFill>
                        <a:effectLst/>
                        <a:latin typeface="Arial"/>
                        <a:ea typeface="Arial"/>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898196">
                <a:tc>
                  <a:txBody>
                    <a:bodyPr/>
                    <a:lstStyle/>
                    <a:p>
                      <a:pPr marL="0" marR="0">
                        <a:lnSpc>
                          <a:spcPct val="100000"/>
                        </a:lnSpc>
                        <a:spcBef>
                          <a:spcPts val="0"/>
                        </a:spcBef>
                        <a:spcAft>
                          <a:spcPts val="0"/>
                        </a:spcAft>
                      </a:pPr>
                      <a:r>
                        <a:rPr lang="en-US" sz="1600" dirty="0">
                          <a:solidFill>
                            <a:srgbClr val="000000"/>
                          </a:solidFill>
                          <a:effectLst/>
                          <a:latin typeface="Calibri"/>
                          <a:ea typeface="Calibri"/>
                          <a:cs typeface="Calibri"/>
                        </a:rPr>
                        <a:t>Load Multiple FPU Registers,</a:t>
                      </a:r>
                      <a:endParaRPr lang="en-US" sz="1600" dirty="0">
                        <a:solidFill>
                          <a:srgbClr val="000000"/>
                        </a:solidFill>
                        <a:effectLst/>
                        <a:latin typeface="Arial"/>
                        <a:ea typeface="Arial"/>
                        <a:cs typeface="Calibri"/>
                      </a:endParaRPr>
                    </a:p>
                    <a:p>
                      <a:pPr marL="0" marR="0">
                        <a:lnSpc>
                          <a:spcPct val="100000"/>
                        </a:lnSpc>
                        <a:spcBef>
                          <a:spcPts val="0"/>
                        </a:spcBef>
                        <a:spcAft>
                          <a:spcPts val="0"/>
                        </a:spcAft>
                      </a:pPr>
                      <a:r>
                        <a:rPr lang="en-US" sz="1600" dirty="0">
                          <a:solidFill>
                            <a:srgbClr val="000000"/>
                          </a:solidFill>
                          <a:effectLst/>
                          <a:latin typeface="Calibri"/>
                          <a:ea typeface="Calibri"/>
                          <a:cs typeface="Calibri"/>
                        </a:rPr>
                        <a:t>Increment After</a:t>
                      </a:r>
                      <a:endParaRPr lang="en-US" sz="16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573088" algn="l"/>
                        </a:tabLst>
                      </a:pPr>
                      <a:r>
                        <a:rPr lang="en-US" sz="1800" dirty="0">
                          <a:solidFill>
                            <a:srgbClr val="000000"/>
                          </a:solidFill>
                          <a:effectLst/>
                          <a:latin typeface="Consolas"/>
                          <a:ea typeface="Calibri"/>
                          <a:cs typeface="Calibri"/>
                        </a:rPr>
                        <a:t>VLDMIA</a:t>
                      </a:r>
                      <a:r>
                        <a:rPr lang="en-US" sz="1800" dirty="0">
                          <a:solidFill>
                            <a:srgbClr val="000000"/>
                          </a:solidFill>
                          <a:effectLst/>
                          <a:latin typeface="Calibri"/>
                          <a:ea typeface="Calibri"/>
                          <a:cs typeface="Calibri"/>
                        </a:rPr>
                        <a:t>	</a:t>
                      </a:r>
                      <a:r>
                        <a:rPr lang="en-US" sz="1800" b="1" dirty="0" err="1">
                          <a:solidFill>
                            <a:srgbClr val="FF0000"/>
                          </a:solidFill>
                          <a:effectLst/>
                          <a:latin typeface="Calibri"/>
                          <a:ea typeface="Calibri"/>
                          <a:cs typeface="Calibri"/>
                        </a:rPr>
                        <a:t>R</a:t>
                      </a:r>
                      <a:r>
                        <a:rPr lang="en-US" sz="1800" baseline="-25000" dirty="0" err="1">
                          <a:solidFill>
                            <a:srgbClr val="000000"/>
                          </a:solidFill>
                          <a:effectLst/>
                          <a:latin typeface="Calibri"/>
                          <a:ea typeface="Calibri"/>
                          <a:cs typeface="Calibri"/>
                        </a:rPr>
                        <a:t>n</a:t>
                      </a:r>
                      <a:r>
                        <a:rPr lang="en-US" sz="1800" dirty="0" err="1">
                          <a:solidFill>
                            <a:srgbClr val="000000"/>
                          </a:solidFill>
                          <a:effectLst/>
                          <a:latin typeface="Calibri"/>
                          <a:ea typeface="Calibri"/>
                          <a:cs typeface="Calibri"/>
                        </a:rPr>
                        <a:t>!,</a:t>
                      </a:r>
                      <a:r>
                        <a:rPr lang="en-US" sz="1800" i="1" dirty="0" err="1">
                          <a:solidFill>
                            <a:srgbClr val="000000"/>
                          </a:solidFill>
                          <a:effectLst/>
                          <a:latin typeface="Calibri"/>
                          <a:ea typeface="Calibri"/>
                          <a:cs typeface="Calibri"/>
                        </a:rPr>
                        <a:t>register</a:t>
                      </a:r>
                      <a:r>
                        <a:rPr lang="en-US" sz="1800" i="1" dirty="0">
                          <a:solidFill>
                            <a:srgbClr val="000000"/>
                          </a:solidFill>
                          <a:effectLst/>
                          <a:latin typeface="Calibri"/>
                          <a:ea typeface="Calibri"/>
                          <a:cs typeface="Calibri"/>
                        </a:rPr>
                        <a:t> list</a:t>
                      </a:r>
                      <a:endParaRPr lang="en-US" sz="18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800" dirty="0">
                          <a:solidFill>
                            <a:srgbClr val="000000"/>
                          </a:solidFill>
                          <a:effectLst/>
                          <a:latin typeface="Calibri"/>
                          <a:ea typeface="Calibri"/>
                          <a:cs typeface="Calibri"/>
                        </a:rPr>
                        <a:t>FP registers </a:t>
                      </a:r>
                      <a:r>
                        <a:rPr lang="en-US" sz="1800" dirty="0">
                          <a:solidFill>
                            <a:srgbClr val="000000"/>
                          </a:solidFill>
                          <a:effectLst/>
                          <a:latin typeface="Calibri"/>
                          <a:ea typeface="Calibri"/>
                          <a:cs typeface="Calibri"/>
                          <a:sym typeface="Wingdings"/>
                        </a:rPr>
                        <a:t>=</a:t>
                      </a:r>
                      <a:r>
                        <a:rPr lang="en-US" sz="1800" dirty="0">
                          <a:solidFill>
                            <a:srgbClr val="000000"/>
                          </a:solidFill>
                          <a:effectLst/>
                          <a:latin typeface="Calibri"/>
                          <a:ea typeface="Calibri"/>
                          <a:cs typeface="Calibri"/>
                        </a:rPr>
                        <a:t> memory, 1</a:t>
                      </a:r>
                      <a:r>
                        <a:rPr lang="en-US" sz="1800" baseline="30000" dirty="0">
                          <a:solidFill>
                            <a:srgbClr val="000000"/>
                          </a:solidFill>
                          <a:effectLst/>
                          <a:latin typeface="Calibri"/>
                          <a:ea typeface="Calibri"/>
                          <a:cs typeface="Calibri"/>
                        </a:rPr>
                        <a:t>st</a:t>
                      </a:r>
                      <a:r>
                        <a:rPr lang="en-US" sz="1800" dirty="0">
                          <a:solidFill>
                            <a:srgbClr val="000000"/>
                          </a:solidFill>
                          <a:effectLst/>
                          <a:latin typeface="Calibri"/>
                          <a:ea typeface="Calibri"/>
                          <a:cs typeface="Calibri"/>
                        </a:rPr>
                        <a:t> address in </a:t>
                      </a:r>
                      <a:r>
                        <a:rPr lang="en-US" sz="1800" b="1" dirty="0">
                          <a:solidFill>
                            <a:srgbClr val="FF0000"/>
                          </a:solidFill>
                          <a:effectLst/>
                          <a:latin typeface="Calibri"/>
                          <a:ea typeface="Calibri"/>
                          <a:cs typeface="Calibri"/>
                        </a:rPr>
                        <a:t>R</a:t>
                      </a:r>
                      <a:r>
                        <a:rPr lang="en-US" sz="1800" baseline="-25000" dirty="0">
                          <a:solidFill>
                            <a:srgbClr val="000000"/>
                          </a:solidFill>
                          <a:effectLst/>
                          <a:latin typeface="Calibri"/>
                          <a:ea typeface="Calibri"/>
                          <a:cs typeface="Calibri"/>
                        </a:rPr>
                        <a:t>n</a:t>
                      </a:r>
                      <a:r>
                        <a:rPr lang="en-US" sz="1800" dirty="0">
                          <a:solidFill>
                            <a:srgbClr val="000000"/>
                          </a:solidFill>
                          <a:effectLst/>
                          <a:latin typeface="Calibri"/>
                          <a:ea typeface="Calibri"/>
                          <a:cs typeface="Calibri"/>
                        </a:rPr>
                        <a:t>; Updates </a:t>
                      </a:r>
                      <a:r>
                        <a:rPr lang="en-US" sz="1800" b="1" dirty="0">
                          <a:solidFill>
                            <a:srgbClr val="FF0000"/>
                          </a:solidFill>
                          <a:effectLst/>
                          <a:latin typeface="Calibri"/>
                          <a:ea typeface="Calibri"/>
                          <a:cs typeface="Calibri"/>
                        </a:rPr>
                        <a:t>R</a:t>
                      </a:r>
                      <a:r>
                        <a:rPr lang="en-US" sz="1800" baseline="-25000" dirty="0">
                          <a:solidFill>
                            <a:srgbClr val="000000"/>
                          </a:solidFill>
                          <a:effectLst/>
                          <a:latin typeface="Calibri"/>
                          <a:ea typeface="Calibri"/>
                          <a:cs typeface="Calibri"/>
                        </a:rPr>
                        <a:t>n</a:t>
                      </a:r>
                      <a:r>
                        <a:rPr lang="en-US" sz="1800" dirty="0">
                          <a:solidFill>
                            <a:srgbClr val="000000"/>
                          </a:solidFill>
                          <a:effectLst/>
                          <a:latin typeface="Calibri"/>
                          <a:ea typeface="Calibri"/>
                          <a:cs typeface="Calibri"/>
                        </a:rPr>
                        <a:t> only if write-back flag (!) is appended to </a:t>
                      </a:r>
                      <a:r>
                        <a:rPr lang="en-US" sz="1800" b="1" dirty="0">
                          <a:solidFill>
                            <a:srgbClr val="FF0000"/>
                          </a:solidFill>
                          <a:effectLst/>
                          <a:latin typeface="Calibri"/>
                          <a:ea typeface="Calibri"/>
                          <a:cs typeface="Calibri"/>
                        </a:rPr>
                        <a:t>R</a:t>
                      </a:r>
                      <a:r>
                        <a:rPr lang="en-US" sz="1800" baseline="-25000" dirty="0">
                          <a:solidFill>
                            <a:srgbClr val="000000"/>
                          </a:solidFill>
                          <a:effectLst/>
                          <a:latin typeface="Calibri"/>
                          <a:ea typeface="Calibri"/>
                          <a:cs typeface="Calibri"/>
                        </a:rPr>
                        <a:t>n</a:t>
                      </a:r>
                      <a:r>
                        <a:rPr lang="en-US" sz="1800" dirty="0">
                          <a:solidFill>
                            <a:srgbClr val="000000"/>
                          </a:solidFill>
                          <a:effectLst/>
                          <a:latin typeface="Calibri"/>
                          <a:ea typeface="Calibri"/>
                          <a:cs typeface="Calibri"/>
                        </a:rPr>
                        <a:t>.</a:t>
                      </a:r>
                      <a:endParaRPr lang="en-US" sz="18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itle 2"/>
          <p:cNvSpPr>
            <a:spLocks noGrp="1"/>
          </p:cNvSpPr>
          <p:nvPr>
            <p:ph type="title"/>
          </p:nvPr>
        </p:nvSpPr>
        <p:spPr>
          <a:xfrm>
            <a:off x="925457" y="737450"/>
            <a:ext cx="10417284" cy="582013"/>
          </a:xfrm>
        </p:spPr>
        <p:txBody>
          <a:bodyPr>
            <a:normAutofit/>
          </a:bodyPr>
          <a:lstStyle/>
          <a:p>
            <a:r>
              <a:rPr lang="en-US" sz="2400" u="sng" dirty="0"/>
              <a:t>LOADING</a:t>
            </a:r>
            <a:r>
              <a:rPr lang="en-US" sz="2400" dirty="0"/>
              <a:t> FLOATING-POINT DATA - Memory to Multiple Registers</a:t>
            </a:r>
          </a:p>
        </p:txBody>
      </p:sp>
      <p:pic>
        <p:nvPicPr>
          <p:cNvPr id="4" name="Picture 3"/>
          <p:cNvPicPr/>
          <p:nvPr/>
        </p:nvPicPr>
        <p:blipFill rotWithShape="1">
          <a:blip r:embed="rId3">
            <a:extLst>
              <a:ext uri="{28A0092B-C50C-407E-A947-70E740481C1C}">
                <a14:useLocalDpi xmlns:a14="http://schemas.microsoft.com/office/drawing/2010/main" val="0"/>
              </a:ext>
            </a:extLst>
          </a:blip>
          <a:srcRect l="34813" t="16124" r="33551" b="66775"/>
          <a:stretch/>
        </p:blipFill>
        <p:spPr bwMode="auto">
          <a:xfrm>
            <a:off x="2781300" y="5296054"/>
            <a:ext cx="2286000" cy="1191837"/>
          </a:xfrm>
          <a:prstGeom prst="rect">
            <a:avLst/>
          </a:prstGeom>
          <a:noFill/>
          <a:ln>
            <a:noFill/>
          </a:ln>
          <a:extLst>
            <a:ext uri="{53640926-AAD7-44D8-BBD7-CCE9431645EC}">
              <a14:shadowObscured xmlns:a14="http://schemas.microsoft.com/office/drawing/2010/main"/>
            </a:ext>
          </a:extLst>
        </p:spPr>
      </p:pic>
      <p:graphicFrame>
        <p:nvGraphicFramePr>
          <p:cNvPr id="5" name="Table 4"/>
          <p:cNvGraphicFramePr>
            <a:graphicFrameLocks noGrp="1"/>
          </p:cNvGraphicFramePr>
          <p:nvPr/>
        </p:nvGraphicFramePr>
        <p:xfrm>
          <a:off x="2057401" y="4334090"/>
          <a:ext cx="4191000" cy="777494"/>
        </p:xfrm>
        <a:graphic>
          <a:graphicData uri="http://schemas.openxmlformats.org/drawingml/2006/table">
            <a:tbl>
              <a:tblPr firstRow="1" firstCol="1" bandRow="1"/>
              <a:tblGrid>
                <a:gridCol w="4191000">
                  <a:extLst>
                    <a:ext uri="{9D8B030D-6E8A-4147-A177-3AD203B41FA5}">
                      <a16:colId xmlns:a16="http://schemas.microsoft.com/office/drawing/2014/main" val="20000"/>
                    </a:ext>
                  </a:extLst>
                </a:gridCol>
              </a:tblGrid>
              <a:tr h="762000">
                <a:tc>
                  <a:txBody>
                    <a:bodyPr/>
                    <a:lstStyle/>
                    <a:p>
                      <a:pPr marL="0" marR="0">
                        <a:lnSpc>
                          <a:spcPct val="150000"/>
                        </a:lnSpc>
                        <a:spcBef>
                          <a:spcPts val="0"/>
                        </a:spcBef>
                        <a:spcAft>
                          <a:spcPts val="0"/>
                        </a:spcAft>
                      </a:pPr>
                      <a:r>
                        <a:rPr lang="en-US" sz="1800" b="1" dirty="0">
                          <a:solidFill>
                            <a:srgbClr val="000000"/>
                          </a:solidFill>
                          <a:effectLst/>
                          <a:latin typeface="Consolas"/>
                          <a:ea typeface="Calibri"/>
                          <a:cs typeface="Calibri"/>
                        </a:rPr>
                        <a:t>// Copy starting at mem[</a:t>
                      </a:r>
                      <a:r>
                        <a:rPr lang="en-US" sz="1800" b="1" dirty="0">
                          <a:solidFill>
                            <a:srgbClr val="FF0000"/>
                          </a:solidFill>
                          <a:effectLst/>
                          <a:latin typeface="Consolas"/>
                          <a:ea typeface="Calibri"/>
                          <a:cs typeface="Calibri"/>
                        </a:rPr>
                        <a:t>R0</a:t>
                      </a:r>
                      <a:r>
                        <a:rPr lang="en-US" sz="1800" b="1" dirty="0">
                          <a:solidFill>
                            <a:srgbClr val="000000"/>
                          </a:solidFill>
                          <a:effectLst/>
                          <a:latin typeface="Consolas"/>
                          <a:ea typeface="Calibri"/>
                          <a:cs typeface="Calibri"/>
                        </a:rPr>
                        <a:t>]</a:t>
                      </a:r>
                      <a:endParaRPr lang="en-US" sz="1800" b="1" dirty="0">
                        <a:solidFill>
                          <a:srgbClr val="000000"/>
                        </a:solidFill>
                        <a:effectLst/>
                        <a:latin typeface="Arial"/>
                        <a:ea typeface="Arial"/>
                        <a:cs typeface="Calibri"/>
                      </a:endParaRPr>
                    </a:p>
                    <a:p>
                      <a:pPr marL="0" marR="0" algn="just">
                        <a:lnSpc>
                          <a:spcPct val="150000"/>
                        </a:lnSpc>
                        <a:spcBef>
                          <a:spcPts val="0"/>
                        </a:spcBef>
                        <a:spcAft>
                          <a:spcPts val="0"/>
                        </a:spcAft>
                        <a:tabLst>
                          <a:tab pos="1377950" algn="l"/>
                        </a:tabLst>
                      </a:pPr>
                      <a:r>
                        <a:rPr lang="en-US" sz="1800" b="1" dirty="0">
                          <a:solidFill>
                            <a:srgbClr val="000000"/>
                          </a:solidFill>
                          <a:effectLst/>
                          <a:latin typeface="Consolas"/>
                          <a:ea typeface="Calibri"/>
                          <a:cs typeface="Calibri"/>
                        </a:rPr>
                        <a:t>   VLDMIA	</a:t>
                      </a:r>
                      <a:r>
                        <a:rPr lang="en-US" sz="1800" b="1" dirty="0">
                          <a:solidFill>
                            <a:srgbClr val="FF0000"/>
                          </a:solidFill>
                          <a:effectLst/>
                          <a:latin typeface="Consolas"/>
                          <a:ea typeface="Calibri"/>
                          <a:cs typeface="Calibri"/>
                        </a:rPr>
                        <a:t>R0</a:t>
                      </a:r>
                      <a:r>
                        <a:rPr lang="en-US" sz="1800" b="1" dirty="0">
                          <a:solidFill>
                            <a:srgbClr val="000000"/>
                          </a:solidFill>
                          <a:effectLst/>
                          <a:latin typeface="Consolas"/>
                          <a:ea typeface="Calibri"/>
                          <a:cs typeface="Calibri"/>
                        </a:rPr>
                        <a:t>!,{S0,S1,S2} (</a:t>
                      </a:r>
                      <a:r>
                        <a:rPr lang="en-US" sz="1800" b="1" dirty="0" err="1">
                          <a:solidFill>
                            <a:srgbClr val="000000"/>
                          </a:solidFill>
                          <a:effectLst/>
                          <a:latin typeface="Consolas"/>
                          <a:ea typeface="Calibri"/>
                          <a:cs typeface="Calibri"/>
                        </a:rPr>
                        <a:t>i</a:t>
                      </a:r>
                      <a:r>
                        <a:rPr lang="en-US" sz="1800" b="1" dirty="0">
                          <a:solidFill>
                            <a:srgbClr val="000000"/>
                          </a:solidFill>
                          <a:effectLst/>
                          <a:latin typeface="Consolas"/>
                          <a:ea typeface="Calibri"/>
                          <a:cs typeface="Calibri"/>
                        </a:rPr>
                        <a:t>++)</a:t>
                      </a:r>
                      <a:endParaRPr lang="en-US" sz="1800" b="1" dirty="0">
                        <a:solidFill>
                          <a:srgbClr val="000000"/>
                        </a:solidFill>
                        <a:effectLst/>
                        <a:latin typeface="Arial"/>
                        <a:ea typeface="Arial"/>
                        <a:cs typeface="Calibri"/>
                      </a:endParaRPr>
                    </a:p>
                  </a:txBody>
                  <a:tcPr marL="68580" marR="68580" marT="0" marB="0">
                    <a:lnL>
                      <a:noFill/>
                    </a:lnL>
                    <a:lnR>
                      <a:noFill/>
                    </a:lnR>
                    <a:lnT>
                      <a:noFill/>
                    </a:lnT>
                    <a:lnB>
                      <a:noFill/>
                    </a:lnB>
                  </a:tcPr>
                </a:tc>
                <a:extLst>
                  <a:ext uri="{0D108BD9-81ED-4DB2-BD59-A6C34878D82A}">
                    <a16:rowId xmlns:a16="http://schemas.microsoft.com/office/drawing/2014/main" val="10000"/>
                  </a:ext>
                </a:extLst>
              </a:tr>
            </a:tbl>
          </a:graphicData>
        </a:graphic>
      </p:graphicFrame>
      <p:pic>
        <p:nvPicPr>
          <p:cNvPr id="6" name="Picture 5"/>
          <p:cNvPicPr/>
          <p:nvPr/>
        </p:nvPicPr>
        <p:blipFill rotWithShape="1">
          <a:blip r:embed="rId4">
            <a:extLst>
              <a:ext uri="{28A0092B-C50C-407E-A947-70E740481C1C}">
                <a14:useLocalDpi xmlns:a14="http://schemas.microsoft.com/office/drawing/2010/main" val="0"/>
              </a:ext>
            </a:extLst>
          </a:blip>
          <a:srcRect l="35179" t="13355" r="32818" b="66612"/>
          <a:stretch/>
        </p:blipFill>
        <p:spPr bwMode="auto">
          <a:xfrm>
            <a:off x="7232014" y="5262985"/>
            <a:ext cx="2223770" cy="1257972"/>
          </a:xfrm>
          <a:prstGeom prst="rect">
            <a:avLst/>
          </a:prstGeom>
          <a:ln>
            <a:noFill/>
          </a:ln>
          <a:extLst>
            <a:ext uri="{53640926-AAD7-44D8-BBD7-CCE9431645EC}">
              <a14:shadowObscured xmlns:a14="http://schemas.microsoft.com/office/drawing/2010/main"/>
            </a:ext>
          </a:extLst>
        </p:spPr>
      </p:pic>
      <p:graphicFrame>
        <p:nvGraphicFramePr>
          <p:cNvPr id="7" name="Table 6"/>
          <p:cNvGraphicFramePr>
            <a:graphicFrameLocks noGrp="1"/>
          </p:cNvGraphicFramePr>
          <p:nvPr/>
        </p:nvGraphicFramePr>
        <p:xfrm>
          <a:off x="6248401" y="4334090"/>
          <a:ext cx="3962398" cy="777494"/>
        </p:xfrm>
        <a:graphic>
          <a:graphicData uri="http://schemas.openxmlformats.org/drawingml/2006/table">
            <a:tbl>
              <a:tblPr firstRow="1" firstCol="1" bandRow="1"/>
              <a:tblGrid>
                <a:gridCol w="3962398">
                  <a:extLst>
                    <a:ext uri="{9D8B030D-6E8A-4147-A177-3AD203B41FA5}">
                      <a16:colId xmlns:a16="http://schemas.microsoft.com/office/drawing/2014/main" val="20000"/>
                    </a:ext>
                  </a:extLst>
                </a:gridCol>
              </a:tblGrid>
              <a:tr h="0">
                <a:tc>
                  <a:txBody>
                    <a:bodyPr/>
                    <a:lstStyle/>
                    <a:p>
                      <a:pPr marL="0" marR="0" algn="just">
                        <a:lnSpc>
                          <a:spcPct val="150000"/>
                        </a:lnSpc>
                        <a:spcBef>
                          <a:spcPts val="0"/>
                        </a:spcBef>
                        <a:spcAft>
                          <a:spcPts val="0"/>
                        </a:spcAft>
                      </a:pPr>
                      <a:r>
                        <a:rPr lang="en-US" sz="1800" dirty="0">
                          <a:solidFill>
                            <a:srgbClr val="000000"/>
                          </a:solidFill>
                          <a:effectLst/>
                          <a:latin typeface="Consolas"/>
                          <a:ea typeface="Calibri"/>
                          <a:cs typeface="Calibri"/>
                        </a:rPr>
                        <a:t> </a:t>
                      </a:r>
                      <a:r>
                        <a:rPr lang="en-US" sz="1800" b="1" dirty="0">
                          <a:solidFill>
                            <a:srgbClr val="000000"/>
                          </a:solidFill>
                          <a:effectLst/>
                          <a:latin typeface="Consolas"/>
                          <a:ea typeface="Calibri"/>
                          <a:cs typeface="Calibri"/>
                        </a:rPr>
                        <a:t>// Copy ending before mem[</a:t>
                      </a:r>
                      <a:r>
                        <a:rPr lang="en-US" sz="1800" b="1" dirty="0">
                          <a:solidFill>
                            <a:srgbClr val="FF0000"/>
                          </a:solidFill>
                          <a:effectLst/>
                          <a:latin typeface="Consolas"/>
                          <a:ea typeface="Calibri"/>
                          <a:cs typeface="Calibri"/>
                        </a:rPr>
                        <a:t>R0</a:t>
                      </a:r>
                      <a:r>
                        <a:rPr lang="en-US" sz="1800" b="1" dirty="0">
                          <a:solidFill>
                            <a:srgbClr val="000000"/>
                          </a:solidFill>
                          <a:effectLst/>
                          <a:latin typeface="Consolas"/>
                          <a:ea typeface="Calibri"/>
                          <a:cs typeface="Calibri"/>
                        </a:rPr>
                        <a:t>]</a:t>
                      </a:r>
                      <a:endParaRPr lang="en-US" sz="1800" b="1" dirty="0">
                        <a:solidFill>
                          <a:srgbClr val="000000"/>
                        </a:solidFill>
                        <a:effectLst/>
                        <a:latin typeface="Arial"/>
                        <a:ea typeface="Arial"/>
                        <a:cs typeface="Calibri"/>
                      </a:endParaRPr>
                    </a:p>
                    <a:p>
                      <a:pPr marL="0" marR="0" algn="just">
                        <a:lnSpc>
                          <a:spcPct val="150000"/>
                        </a:lnSpc>
                        <a:spcBef>
                          <a:spcPts val="0"/>
                        </a:spcBef>
                        <a:spcAft>
                          <a:spcPts val="0"/>
                        </a:spcAft>
                        <a:tabLst>
                          <a:tab pos="1377950" algn="l"/>
                        </a:tabLst>
                      </a:pPr>
                      <a:r>
                        <a:rPr lang="en-US" sz="1800" b="1" dirty="0">
                          <a:solidFill>
                            <a:srgbClr val="000000"/>
                          </a:solidFill>
                          <a:effectLst/>
                          <a:latin typeface="Consolas"/>
                          <a:ea typeface="Calibri"/>
                          <a:cs typeface="Calibri"/>
                        </a:rPr>
                        <a:t>    VLDMDB	</a:t>
                      </a:r>
                      <a:r>
                        <a:rPr lang="en-US" sz="1800" b="1" dirty="0">
                          <a:solidFill>
                            <a:srgbClr val="FF0000"/>
                          </a:solidFill>
                          <a:effectLst/>
                          <a:latin typeface="Consolas"/>
                          <a:ea typeface="Calibri"/>
                          <a:cs typeface="Calibri"/>
                        </a:rPr>
                        <a:t>R0</a:t>
                      </a:r>
                      <a:r>
                        <a:rPr lang="en-US" sz="1800" b="1" dirty="0">
                          <a:solidFill>
                            <a:srgbClr val="000000"/>
                          </a:solidFill>
                          <a:effectLst/>
                          <a:latin typeface="Consolas"/>
                          <a:ea typeface="Calibri"/>
                          <a:cs typeface="Calibri"/>
                        </a:rPr>
                        <a:t>!,{S0-S5} (++</a:t>
                      </a:r>
                      <a:r>
                        <a:rPr lang="en-US" sz="1800" b="1" dirty="0" err="1">
                          <a:solidFill>
                            <a:srgbClr val="000000"/>
                          </a:solidFill>
                          <a:effectLst/>
                          <a:latin typeface="Consolas"/>
                          <a:ea typeface="Calibri"/>
                          <a:cs typeface="Calibri"/>
                        </a:rPr>
                        <a:t>i</a:t>
                      </a:r>
                      <a:r>
                        <a:rPr lang="en-US" sz="1800" b="1" dirty="0">
                          <a:solidFill>
                            <a:srgbClr val="000000"/>
                          </a:solidFill>
                          <a:effectLst/>
                          <a:latin typeface="Consolas"/>
                          <a:ea typeface="Calibri"/>
                          <a:cs typeface="Calibri"/>
                        </a:rPr>
                        <a:t>)</a:t>
                      </a:r>
                      <a:endParaRPr lang="en-US" sz="1800" b="1" dirty="0">
                        <a:solidFill>
                          <a:srgbClr val="000000"/>
                        </a:solidFill>
                        <a:effectLst/>
                        <a:latin typeface="Arial"/>
                        <a:ea typeface="Arial"/>
                        <a:cs typeface="Calibri"/>
                      </a:endParaRPr>
                    </a:p>
                  </a:txBody>
                  <a:tcPr marL="68580" marR="68580" marT="0" marB="0">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11" name="Table 10"/>
          <p:cNvGraphicFramePr>
            <a:graphicFrameLocks noGrp="1"/>
          </p:cNvGraphicFramePr>
          <p:nvPr/>
        </p:nvGraphicFramePr>
        <p:xfrm>
          <a:off x="2057400" y="3200400"/>
          <a:ext cx="9087854" cy="896620"/>
        </p:xfrm>
        <a:graphic>
          <a:graphicData uri="http://schemas.openxmlformats.org/drawingml/2006/table">
            <a:tbl>
              <a:tblPr firstRow="1" firstCol="1" bandRow="1"/>
              <a:tblGrid>
                <a:gridCol w="1880248">
                  <a:extLst>
                    <a:ext uri="{9D8B030D-6E8A-4147-A177-3AD203B41FA5}">
                      <a16:colId xmlns:a16="http://schemas.microsoft.com/office/drawing/2014/main" val="20000"/>
                    </a:ext>
                  </a:extLst>
                </a:gridCol>
                <a:gridCol w="2752776">
                  <a:extLst>
                    <a:ext uri="{9D8B030D-6E8A-4147-A177-3AD203B41FA5}">
                      <a16:colId xmlns:a16="http://schemas.microsoft.com/office/drawing/2014/main" val="20001"/>
                    </a:ext>
                  </a:extLst>
                </a:gridCol>
                <a:gridCol w="4454830">
                  <a:extLst>
                    <a:ext uri="{9D8B030D-6E8A-4147-A177-3AD203B41FA5}">
                      <a16:colId xmlns:a16="http://schemas.microsoft.com/office/drawing/2014/main" val="20002"/>
                    </a:ext>
                  </a:extLst>
                </a:gridCol>
              </a:tblGrid>
              <a:tr h="365760">
                <a:tc>
                  <a:txBody>
                    <a:bodyPr/>
                    <a:lstStyle/>
                    <a:p>
                      <a:pPr marL="0" marR="0">
                        <a:lnSpc>
                          <a:spcPct val="100000"/>
                        </a:lnSpc>
                        <a:spcBef>
                          <a:spcPts val="0"/>
                        </a:spcBef>
                        <a:spcAft>
                          <a:spcPts val="0"/>
                        </a:spcAft>
                      </a:pPr>
                      <a:r>
                        <a:rPr lang="en-US" sz="1600" dirty="0">
                          <a:solidFill>
                            <a:srgbClr val="000000"/>
                          </a:solidFill>
                          <a:effectLst/>
                          <a:latin typeface="Calibri"/>
                          <a:ea typeface="Calibri"/>
                          <a:cs typeface="Calibri"/>
                        </a:rPr>
                        <a:t>Load Multiple FPU Registers,</a:t>
                      </a:r>
                      <a:endParaRPr lang="en-US" sz="1600" dirty="0">
                        <a:solidFill>
                          <a:srgbClr val="000000"/>
                        </a:solidFill>
                        <a:effectLst/>
                        <a:latin typeface="Arial"/>
                        <a:ea typeface="Arial"/>
                        <a:cs typeface="Calibri"/>
                      </a:endParaRPr>
                    </a:p>
                    <a:p>
                      <a:pPr marL="0" marR="0">
                        <a:lnSpc>
                          <a:spcPct val="100000"/>
                        </a:lnSpc>
                        <a:spcBef>
                          <a:spcPts val="0"/>
                        </a:spcBef>
                        <a:spcAft>
                          <a:spcPts val="0"/>
                        </a:spcAft>
                      </a:pPr>
                      <a:r>
                        <a:rPr lang="en-US" sz="1600" dirty="0">
                          <a:solidFill>
                            <a:srgbClr val="000000"/>
                          </a:solidFill>
                          <a:effectLst/>
                          <a:latin typeface="Calibri"/>
                          <a:ea typeface="Calibri"/>
                          <a:cs typeface="Calibri"/>
                        </a:rPr>
                        <a:t>Decrement Before</a:t>
                      </a:r>
                      <a:endParaRPr lang="en-US" sz="16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573088" algn="l"/>
                        </a:tabLst>
                      </a:pPr>
                      <a:r>
                        <a:rPr lang="en-US" sz="1800" dirty="0">
                          <a:solidFill>
                            <a:srgbClr val="000000"/>
                          </a:solidFill>
                          <a:effectLst/>
                          <a:latin typeface="Consolas"/>
                          <a:ea typeface="Calibri"/>
                          <a:cs typeface="Calibri"/>
                        </a:rPr>
                        <a:t>VLDMDB</a:t>
                      </a:r>
                      <a:r>
                        <a:rPr lang="en-US" sz="1800" dirty="0">
                          <a:solidFill>
                            <a:srgbClr val="000000"/>
                          </a:solidFill>
                          <a:effectLst/>
                          <a:latin typeface="Calibri"/>
                          <a:ea typeface="Calibri"/>
                          <a:cs typeface="Calibri"/>
                        </a:rPr>
                        <a:t>	</a:t>
                      </a:r>
                      <a:r>
                        <a:rPr lang="en-US" sz="1800" b="1" dirty="0" err="1">
                          <a:solidFill>
                            <a:srgbClr val="FF0000"/>
                          </a:solidFill>
                          <a:effectLst/>
                          <a:latin typeface="Calibri"/>
                          <a:ea typeface="Calibri"/>
                          <a:cs typeface="Calibri"/>
                        </a:rPr>
                        <a:t>R</a:t>
                      </a:r>
                      <a:r>
                        <a:rPr lang="en-US" sz="1800" baseline="-25000" dirty="0" err="1">
                          <a:solidFill>
                            <a:srgbClr val="000000"/>
                          </a:solidFill>
                          <a:effectLst/>
                          <a:latin typeface="Calibri"/>
                          <a:ea typeface="Calibri"/>
                          <a:cs typeface="Calibri"/>
                        </a:rPr>
                        <a:t>n</a:t>
                      </a:r>
                      <a:r>
                        <a:rPr lang="en-US" sz="1800" dirty="0" err="1">
                          <a:solidFill>
                            <a:srgbClr val="000000"/>
                          </a:solidFill>
                          <a:effectLst/>
                          <a:latin typeface="Calibri"/>
                          <a:ea typeface="Calibri"/>
                          <a:cs typeface="Calibri"/>
                        </a:rPr>
                        <a:t>!,</a:t>
                      </a:r>
                      <a:r>
                        <a:rPr lang="en-US" sz="1800" i="1" dirty="0" err="1">
                          <a:solidFill>
                            <a:srgbClr val="000000"/>
                          </a:solidFill>
                          <a:effectLst/>
                          <a:latin typeface="Calibri"/>
                          <a:ea typeface="Calibri"/>
                          <a:cs typeface="Calibri"/>
                        </a:rPr>
                        <a:t>register</a:t>
                      </a:r>
                      <a:r>
                        <a:rPr lang="en-US" sz="1800" i="1" dirty="0">
                          <a:solidFill>
                            <a:srgbClr val="000000"/>
                          </a:solidFill>
                          <a:effectLst/>
                          <a:latin typeface="Calibri"/>
                          <a:ea typeface="Calibri"/>
                          <a:cs typeface="Calibri"/>
                        </a:rPr>
                        <a:t> list</a:t>
                      </a:r>
                      <a:endParaRPr lang="en-US" sz="18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800" dirty="0">
                          <a:solidFill>
                            <a:srgbClr val="000000"/>
                          </a:solidFill>
                          <a:effectLst/>
                          <a:latin typeface="Calibri"/>
                          <a:ea typeface="Calibri"/>
                          <a:cs typeface="Calibri"/>
                        </a:rPr>
                        <a:t>FP registers </a:t>
                      </a:r>
                      <a:r>
                        <a:rPr lang="en-US" sz="1800" dirty="0">
                          <a:solidFill>
                            <a:srgbClr val="000000"/>
                          </a:solidFill>
                          <a:effectLst/>
                          <a:latin typeface="Calibri"/>
                          <a:ea typeface="Calibri"/>
                          <a:cs typeface="Calibri"/>
                          <a:sym typeface="Wingdings"/>
                        </a:rPr>
                        <a:t>=</a:t>
                      </a:r>
                      <a:r>
                        <a:rPr lang="en-US" sz="1800" dirty="0">
                          <a:solidFill>
                            <a:srgbClr val="000000"/>
                          </a:solidFill>
                          <a:effectLst/>
                          <a:latin typeface="Calibri"/>
                          <a:ea typeface="Calibri"/>
                          <a:cs typeface="Calibri"/>
                        </a:rPr>
                        <a:t> memory, addresses end just before address in </a:t>
                      </a:r>
                      <a:r>
                        <a:rPr lang="en-US" sz="1800" b="1" dirty="0">
                          <a:solidFill>
                            <a:srgbClr val="FF0000"/>
                          </a:solidFill>
                          <a:effectLst/>
                          <a:latin typeface="Calibri"/>
                          <a:ea typeface="Calibri"/>
                          <a:cs typeface="Calibri"/>
                        </a:rPr>
                        <a:t>R</a:t>
                      </a:r>
                      <a:r>
                        <a:rPr lang="en-US" sz="1800" baseline="-25000" dirty="0">
                          <a:solidFill>
                            <a:srgbClr val="000000"/>
                          </a:solidFill>
                          <a:effectLst/>
                          <a:latin typeface="Calibri"/>
                          <a:ea typeface="Calibri"/>
                          <a:cs typeface="Calibri"/>
                        </a:rPr>
                        <a:t>n</a:t>
                      </a:r>
                      <a:r>
                        <a:rPr lang="en-US" sz="1800" dirty="0">
                          <a:solidFill>
                            <a:srgbClr val="000000"/>
                          </a:solidFill>
                          <a:effectLst/>
                          <a:latin typeface="Calibri"/>
                          <a:ea typeface="Calibri"/>
                          <a:cs typeface="Calibri"/>
                        </a:rPr>
                        <a:t>; Must append (!) and always updates </a:t>
                      </a:r>
                      <a:r>
                        <a:rPr lang="en-US" sz="1800" b="1" dirty="0">
                          <a:solidFill>
                            <a:srgbClr val="FF0000"/>
                          </a:solidFill>
                          <a:effectLst/>
                          <a:latin typeface="Calibri"/>
                          <a:ea typeface="Calibri"/>
                          <a:cs typeface="Calibri"/>
                        </a:rPr>
                        <a:t>R</a:t>
                      </a:r>
                      <a:r>
                        <a:rPr lang="en-US" sz="1800" baseline="-25000" dirty="0">
                          <a:solidFill>
                            <a:srgbClr val="000000"/>
                          </a:solidFill>
                          <a:effectLst/>
                          <a:latin typeface="Calibri"/>
                          <a:ea typeface="Calibri"/>
                          <a:cs typeface="Calibri"/>
                        </a:rPr>
                        <a:t>n</a:t>
                      </a:r>
                      <a:endParaRPr lang="en-US" sz="18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219447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981200" y="1807494"/>
          <a:ext cx="8891336" cy="3761713"/>
        </p:xfrm>
        <a:graphic>
          <a:graphicData uri="http://schemas.openxmlformats.org/drawingml/2006/table">
            <a:tbl>
              <a:tblPr firstRow="1" firstCol="1" bandRow="1"/>
              <a:tblGrid>
                <a:gridCol w="2027848">
                  <a:extLst>
                    <a:ext uri="{9D8B030D-6E8A-4147-A177-3AD203B41FA5}">
                      <a16:colId xmlns:a16="http://schemas.microsoft.com/office/drawing/2014/main" val="20000"/>
                    </a:ext>
                  </a:extLst>
                </a:gridCol>
                <a:gridCol w="3431744">
                  <a:extLst>
                    <a:ext uri="{9D8B030D-6E8A-4147-A177-3AD203B41FA5}">
                      <a16:colId xmlns:a16="http://schemas.microsoft.com/office/drawing/2014/main" val="20001"/>
                    </a:ext>
                  </a:extLst>
                </a:gridCol>
                <a:gridCol w="3431744">
                  <a:extLst>
                    <a:ext uri="{9D8B030D-6E8A-4147-A177-3AD203B41FA5}">
                      <a16:colId xmlns:a16="http://schemas.microsoft.com/office/drawing/2014/main" val="20002"/>
                    </a:ext>
                  </a:extLst>
                </a:gridCol>
              </a:tblGrid>
              <a:tr h="481405">
                <a:tc>
                  <a:txBody>
                    <a:bodyPr/>
                    <a:lstStyle/>
                    <a:p>
                      <a:pPr marL="0" marR="0">
                        <a:lnSpc>
                          <a:spcPct val="150000"/>
                        </a:lnSpc>
                        <a:spcBef>
                          <a:spcPts val="0"/>
                        </a:spcBef>
                        <a:spcAft>
                          <a:spcPts val="0"/>
                        </a:spcAft>
                      </a:pPr>
                      <a:r>
                        <a:rPr lang="en-US" sz="2400" b="1" i="1" dirty="0">
                          <a:solidFill>
                            <a:schemeClr val="bg1"/>
                          </a:solidFill>
                          <a:effectLst/>
                          <a:latin typeface="Calibri"/>
                          <a:ea typeface="Calibri"/>
                          <a:cs typeface="Calibri"/>
                        </a:rPr>
                        <a:t>Instruction</a:t>
                      </a:r>
                      <a:endParaRPr lang="en-US" sz="2400" dirty="0">
                        <a:solidFill>
                          <a:schemeClr val="bg1"/>
                        </a:solidFill>
                        <a:effectLst/>
                        <a:latin typeface="Arial"/>
                        <a:ea typeface="Arial"/>
                        <a:cs typeface="Calibri"/>
                      </a:endParaRPr>
                    </a:p>
                  </a:txBody>
                  <a:tcPr marL="36576"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nSpc>
                          <a:spcPct val="150000"/>
                        </a:lnSpc>
                        <a:spcBef>
                          <a:spcPts val="0"/>
                        </a:spcBef>
                        <a:spcAft>
                          <a:spcPts val="0"/>
                        </a:spcAft>
                      </a:pPr>
                      <a:r>
                        <a:rPr lang="en-US" sz="2400" b="1" i="1" dirty="0">
                          <a:solidFill>
                            <a:schemeClr val="bg1"/>
                          </a:solidFill>
                          <a:effectLst/>
                          <a:latin typeface="Calibri"/>
                          <a:ea typeface="Calibri"/>
                          <a:cs typeface="Calibri"/>
                        </a:rPr>
                        <a:t>Syntax</a:t>
                      </a:r>
                      <a:endParaRPr lang="en-US" sz="2400" dirty="0">
                        <a:solidFill>
                          <a:schemeClr val="bg1"/>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nSpc>
                          <a:spcPct val="150000"/>
                        </a:lnSpc>
                        <a:spcBef>
                          <a:spcPts val="0"/>
                        </a:spcBef>
                        <a:spcAft>
                          <a:spcPts val="0"/>
                        </a:spcAft>
                      </a:pPr>
                      <a:r>
                        <a:rPr lang="en-US" sz="2400" b="1" i="1" dirty="0">
                          <a:solidFill>
                            <a:schemeClr val="bg1"/>
                          </a:solidFill>
                          <a:effectLst/>
                          <a:latin typeface="Calibri"/>
                          <a:ea typeface="Calibri"/>
                          <a:cs typeface="Calibri"/>
                        </a:rPr>
                        <a:t>Operation</a:t>
                      </a:r>
                      <a:endParaRPr lang="en-US" sz="2400" dirty="0">
                        <a:solidFill>
                          <a:schemeClr val="bg1"/>
                        </a:solidFill>
                        <a:effectLst/>
                        <a:latin typeface="Arial"/>
                        <a:ea typeface="Arial"/>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72137">
                <a:tc rowSpan="2">
                  <a:txBody>
                    <a:bodyPr/>
                    <a:lstStyle/>
                    <a:p>
                      <a:pPr marL="0" marR="0">
                        <a:lnSpc>
                          <a:spcPct val="100000"/>
                        </a:lnSpc>
                        <a:spcBef>
                          <a:spcPts val="0"/>
                        </a:spcBef>
                        <a:spcAft>
                          <a:spcPts val="0"/>
                        </a:spcAft>
                      </a:pPr>
                      <a:r>
                        <a:rPr lang="en-US" sz="1600" dirty="0">
                          <a:solidFill>
                            <a:srgbClr val="000000"/>
                          </a:solidFill>
                          <a:effectLst/>
                          <a:latin typeface="Calibri"/>
                          <a:ea typeface="Calibri"/>
                          <a:cs typeface="Calibri"/>
                        </a:rPr>
                        <a:t>Store single-precision FPU Register to Memory</a:t>
                      </a:r>
                      <a:endParaRPr lang="en-US" sz="1600" dirty="0">
                        <a:solidFill>
                          <a:srgbClr val="000000"/>
                        </a:solidFill>
                        <a:effectLst/>
                        <a:latin typeface="Arial"/>
                        <a:ea typeface="Arial"/>
                        <a:cs typeface="Calibri"/>
                      </a:endParaRPr>
                    </a:p>
                  </a:txBody>
                  <a:tcPr marL="36576"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1201738" algn="l"/>
                        </a:tabLst>
                      </a:pPr>
                      <a:r>
                        <a:rPr lang="en-US" sz="2400" dirty="0">
                          <a:solidFill>
                            <a:srgbClr val="000000"/>
                          </a:solidFill>
                          <a:effectLst/>
                          <a:latin typeface="Calibri"/>
                          <a:ea typeface="Calibri"/>
                          <a:cs typeface="Calibri"/>
                        </a:rPr>
                        <a:t>VSTR	</a:t>
                      </a:r>
                      <a:r>
                        <a:rPr lang="en-US" sz="2400" dirty="0" err="1">
                          <a:solidFill>
                            <a:srgbClr val="000000"/>
                          </a:solidFill>
                          <a:effectLst/>
                          <a:latin typeface="Calibri"/>
                          <a:ea typeface="Calibri"/>
                          <a:cs typeface="Calibri"/>
                        </a:rPr>
                        <a:t>S</a:t>
                      </a:r>
                      <a:r>
                        <a:rPr lang="en-US" sz="2400" baseline="-25000" dirty="0" err="1">
                          <a:solidFill>
                            <a:srgbClr val="000000"/>
                          </a:solidFill>
                          <a:effectLst/>
                          <a:latin typeface="Calibri"/>
                          <a:ea typeface="Calibri"/>
                          <a:cs typeface="Calibri"/>
                        </a:rPr>
                        <a:t>d</a:t>
                      </a:r>
                      <a:r>
                        <a:rPr lang="en-US" sz="2400" dirty="0">
                          <a:solidFill>
                            <a:srgbClr val="000000"/>
                          </a:solidFill>
                          <a:effectLst/>
                          <a:latin typeface="Calibri"/>
                          <a:ea typeface="Calibri"/>
                          <a:cs typeface="Calibri"/>
                        </a:rPr>
                        <a:t>,[</a:t>
                      </a:r>
                      <a:r>
                        <a:rPr lang="en-US" sz="2400" b="1" dirty="0">
                          <a:solidFill>
                            <a:srgbClr val="FF0000"/>
                          </a:solidFill>
                          <a:effectLst/>
                          <a:latin typeface="Calibri"/>
                          <a:ea typeface="Calibri"/>
                          <a:cs typeface="Calibri"/>
                        </a:rPr>
                        <a:t>R</a:t>
                      </a:r>
                      <a:r>
                        <a:rPr lang="en-US" sz="2400" baseline="-25000" dirty="0">
                          <a:solidFill>
                            <a:srgbClr val="000000"/>
                          </a:solidFill>
                          <a:effectLst/>
                          <a:latin typeface="Calibri"/>
                          <a:ea typeface="Calibri"/>
                          <a:cs typeface="Calibri"/>
                        </a:rPr>
                        <a:t>n</a:t>
                      </a:r>
                      <a:r>
                        <a:rPr lang="en-US" sz="2400" dirty="0">
                          <a:solidFill>
                            <a:srgbClr val="000000"/>
                          </a:solidFill>
                          <a:effectLst/>
                          <a:latin typeface="Calibri"/>
                          <a:ea typeface="Calibri"/>
                          <a:cs typeface="Calibri"/>
                        </a:rPr>
                        <a:t>]</a:t>
                      </a:r>
                    </a:p>
                  </a:txBody>
                  <a:tcPr marL="36576" marR="36576"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err="1">
                          <a:solidFill>
                            <a:srgbClr val="000000"/>
                          </a:solidFill>
                          <a:effectLst/>
                          <a:latin typeface="+mn-lt"/>
                          <a:ea typeface="Calibri"/>
                          <a:cs typeface="Calibri"/>
                        </a:rPr>
                        <a:t>S</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sym typeface="Wingdings"/>
                        </a:rPr>
                        <a:t></a:t>
                      </a:r>
                      <a:r>
                        <a:rPr lang="en-US" sz="2000" dirty="0">
                          <a:solidFill>
                            <a:srgbClr val="000000"/>
                          </a:solidFill>
                          <a:effectLst/>
                          <a:latin typeface="+mn-lt"/>
                          <a:ea typeface="Calibri"/>
                          <a:cs typeface="Calibri"/>
                        </a:rPr>
                        <a:t> mem</a:t>
                      </a:r>
                      <a:r>
                        <a:rPr lang="en-US" sz="2000" baseline="-25000" dirty="0">
                          <a:solidFill>
                            <a:srgbClr val="000000"/>
                          </a:solidFill>
                          <a:effectLst/>
                          <a:latin typeface="+mn-lt"/>
                          <a:ea typeface="Calibri"/>
                          <a:cs typeface="Calibri"/>
                        </a:rPr>
                        <a:t>32</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n</a:t>
                      </a:r>
                      <a:r>
                        <a:rPr lang="en-US" sz="2000" dirty="0">
                          <a:solidFill>
                            <a:srgbClr val="000000"/>
                          </a:solidFill>
                          <a:effectLst/>
                          <a:latin typeface="+mn-lt"/>
                          <a:ea typeface="Calibri"/>
                          <a:cs typeface="Calibri"/>
                        </a:rPr>
                        <a:t>]</a:t>
                      </a:r>
                    </a:p>
                  </a:txBody>
                  <a:tcPr marL="36576" marR="36576" marT="36830" marB="368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17168">
                <a:tc vMerge="1">
                  <a:txBody>
                    <a:bodyPr/>
                    <a:lstStyle/>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1201738" algn="l"/>
                        </a:tabLst>
                        <a:defRPr/>
                      </a:pPr>
                      <a:r>
                        <a:rPr lang="en-US" sz="2000" dirty="0">
                          <a:solidFill>
                            <a:srgbClr val="000000"/>
                          </a:solidFill>
                          <a:effectLst/>
                          <a:latin typeface="+mn-lt"/>
                          <a:ea typeface="Calibri"/>
                          <a:cs typeface="Calibri"/>
                        </a:rPr>
                        <a:t>VSTR	</a:t>
                      </a:r>
                      <a:r>
                        <a:rPr lang="en-US" sz="2000" dirty="0" err="1">
                          <a:solidFill>
                            <a:srgbClr val="000000"/>
                          </a:solidFill>
                          <a:effectLst/>
                          <a:latin typeface="+mn-lt"/>
                          <a:ea typeface="Calibri"/>
                          <a:cs typeface="Calibri"/>
                        </a:rPr>
                        <a:t>S</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a:t>
                      </a:r>
                      <a:r>
                        <a:rPr lang="en-US" sz="2000" b="1" dirty="0" err="1">
                          <a:solidFill>
                            <a:srgbClr val="FF0000"/>
                          </a:solidFill>
                          <a:effectLst/>
                          <a:latin typeface="+mn-lt"/>
                          <a:ea typeface="Calibri"/>
                          <a:cs typeface="Calibri"/>
                        </a:rPr>
                        <a:t>R</a:t>
                      </a:r>
                      <a:r>
                        <a:rPr lang="en-US" sz="2000" baseline="-25000" dirty="0" err="1">
                          <a:solidFill>
                            <a:srgbClr val="000000"/>
                          </a:solidFill>
                          <a:effectLst/>
                          <a:latin typeface="+mn-lt"/>
                          <a:ea typeface="Calibri"/>
                          <a:cs typeface="Calibri"/>
                        </a:rPr>
                        <a:t>n</a:t>
                      </a:r>
                      <a:r>
                        <a:rPr lang="en-US" sz="2000" dirty="0" err="1">
                          <a:solidFill>
                            <a:srgbClr val="000000"/>
                          </a:solidFill>
                          <a:effectLst/>
                          <a:latin typeface="+mn-lt"/>
                          <a:ea typeface="Calibri"/>
                          <a:cs typeface="Calibri"/>
                        </a:rPr>
                        <a:t>,</a:t>
                      </a:r>
                      <a:r>
                        <a:rPr lang="en-US" sz="2000" i="1" dirty="0" err="1">
                          <a:solidFill>
                            <a:srgbClr val="000000"/>
                          </a:solidFill>
                          <a:effectLst/>
                          <a:latin typeface="+mn-lt"/>
                          <a:ea typeface="Calibri"/>
                          <a:cs typeface="Calibri"/>
                        </a:rPr>
                        <a:t>constant</a:t>
                      </a:r>
                      <a:r>
                        <a:rPr lang="en-US" sz="2000" i="0" dirty="0">
                          <a:solidFill>
                            <a:srgbClr val="000000"/>
                          </a:solidFill>
                          <a:effectLst/>
                          <a:latin typeface="+mn-lt"/>
                          <a:ea typeface="Calibri"/>
                          <a:cs typeface="Calibri"/>
                        </a:rPr>
                        <a:t>]</a:t>
                      </a:r>
                    </a:p>
                  </a:txBody>
                  <a:tcPr marL="36576" marR="36576"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err="1">
                          <a:solidFill>
                            <a:srgbClr val="000000"/>
                          </a:solidFill>
                          <a:effectLst/>
                          <a:latin typeface="+mn-lt"/>
                          <a:ea typeface="Calibri"/>
                          <a:cs typeface="Calibri"/>
                        </a:rPr>
                        <a:t>S</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sym typeface="Wingdings"/>
                        </a:rPr>
                        <a:t></a:t>
                      </a:r>
                      <a:r>
                        <a:rPr lang="en-US" sz="2000" dirty="0">
                          <a:solidFill>
                            <a:srgbClr val="000000"/>
                          </a:solidFill>
                          <a:effectLst/>
                          <a:latin typeface="+mn-lt"/>
                          <a:ea typeface="Calibri"/>
                          <a:cs typeface="Calibri"/>
                        </a:rPr>
                        <a:t> mem</a:t>
                      </a:r>
                      <a:r>
                        <a:rPr lang="en-US" sz="2000" baseline="-25000" dirty="0">
                          <a:solidFill>
                            <a:srgbClr val="000000"/>
                          </a:solidFill>
                          <a:effectLst/>
                          <a:latin typeface="+mn-lt"/>
                          <a:ea typeface="Calibri"/>
                          <a:cs typeface="Calibri"/>
                        </a:rPr>
                        <a:t>32</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n</a:t>
                      </a:r>
                      <a:r>
                        <a:rPr lang="en-US" sz="2000" dirty="0">
                          <a:solidFill>
                            <a:srgbClr val="000000"/>
                          </a:solidFill>
                          <a:effectLst/>
                          <a:latin typeface="+mn-lt"/>
                          <a:ea typeface="Calibri"/>
                          <a:cs typeface="Calibri"/>
                        </a:rPr>
                        <a:t> + </a:t>
                      </a:r>
                      <a:r>
                        <a:rPr lang="en-US" sz="2000" i="1" dirty="0">
                          <a:solidFill>
                            <a:srgbClr val="000000"/>
                          </a:solidFill>
                          <a:effectLst/>
                          <a:latin typeface="+mn-lt"/>
                          <a:ea typeface="Calibri"/>
                          <a:cs typeface="Calibri"/>
                        </a:rPr>
                        <a:t>constant</a:t>
                      </a:r>
                      <a:r>
                        <a:rPr lang="en-US" sz="2000" dirty="0">
                          <a:solidFill>
                            <a:srgbClr val="000000"/>
                          </a:solidFill>
                          <a:effectLst/>
                          <a:latin typeface="+mn-lt"/>
                          <a:ea typeface="Calibri"/>
                          <a:cs typeface="Calibri"/>
                        </a:rPr>
                        <a:t>]</a:t>
                      </a:r>
                    </a:p>
                  </a:txBody>
                  <a:tcPr marL="36576" marR="36576" marT="36830" marB="368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72137">
                <a:tc rowSpan="2">
                  <a:txBody>
                    <a:bodyPr/>
                    <a:lstStyle/>
                    <a:p>
                      <a:pPr marL="0" marR="0">
                        <a:lnSpc>
                          <a:spcPct val="100000"/>
                        </a:lnSpc>
                        <a:spcBef>
                          <a:spcPts val="0"/>
                        </a:spcBef>
                        <a:spcAft>
                          <a:spcPts val="0"/>
                        </a:spcAft>
                      </a:pPr>
                      <a:r>
                        <a:rPr lang="en-US" sz="1600" dirty="0">
                          <a:solidFill>
                            <a:srgbClr val="000000"/>
                          </a:solidFill>
                          <a:effectLst/>
                          <a:latin typeface="Calibri"/>
                          <a:ea typeface="Calibri"/>
                          <a:cs typeface="Calibri"/>
                        </a:rPr>
                        <a:t>Store double-precision FPU Register to Memory</a:t>
                      </a:r>
                      <a:endParaRPr lang="en-US" sz="1600" dirty="0">
                        <a:solidFill>
                          <a:srgbClr val="000000"/>
                        </a:solidFill>
                        <a:effectLst/>
                        <a:latin typeface="Arial"/>
                        <a:ea typeface="Arial"/>
                        <a:cs typeface="Calibri"/>
                      </a:endParaRPr>
                    </a:p>
                  </a:txBody>
                  <a:tcPr marL="36576"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1201738" algn="l"/>
                        </a:tabLst>
                        <a:defRPr/>
                      </a:pPr>
                      <a:r>
                        <a:rPr lang="en-US" sz="2000" dirty="0">
                          <a:solidFill>
                            <a:srgbClr val="000000"/>
                          </a:solidFill>
                          <a:effectLst/>
                          <a:latin typeface="+mn-lt"/>
                          <a:ea typeface="Calibri"/>
                          <a:cs typeface="Calibri"/>
                        </a:rPr>
                        <a:t>VSTR	</a:t>
                      </a:r>
                      <a:r>
                        <a:rPr lang="en-US" sz="2000" dirty="0" err="1">
                          <a:solidFill>
                            <a:srgbClr val="000000"/>
                          </a:solidFill>
                          <a:effectLst/>
                          <a:latin typeface="+mn-lt"/>
                          <a:ea typeface="Calibri"/>
                          <a:cs typeface="Calibri"/>
                        </a:rPr>
                        <a:t>D</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n</a:t>
                      </a:r>
                      <a:r>
                        <a:rPr lang="en-US" sz="2000" dirty="0">
                          <a:solidFill>
                            <a:srgbClr val="000000"/>
                          </a:solidFill>
                          <a:effectLst/>
                          <a:latin typeface="+mn-lt"/>
                          <a:ea typeface="Calibri"/>
                          <a:cs typeface="Calibri"/>
                        </a:rPr>
                        <a:t>]</a:t>
                      </a:r>
                    </a:p>
                  </a:txBody>
                  <a:tcPr marL="36576" marR="36576"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err="1">
                          <a:solidFill>
                            <a:srgbClr val="000000"/>
                          </a:solidFill>
                          <a:effectLst/>
                          <a:latin typeface="+mn-lt"/>
                          <a:ea typeface="Calibri"/>
                          <a:cs typeface="Calibri"/>
                        </a:rPr>
                        <a:t>D</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sym typeface="Wingdings"/>
                        </a:rPr>
                        <a:t></a:t>
                      </a:r>
                      <a:r>
                        <a:rPr lang="en-US" sz="2000" dirty="0">
                          <a:solidFill>
                            <a:srgbClr val="000000"/>
                          </a:solidFill>
                          <a:effectLst/>
                          <a:latin typeface="+mn-lt"/>
                          <a:ea typeface="Calibri"/>
                          <a:cs typeface="Calibri"/>
                        </a:rPr>
                        <a:t> mem</a:t>
                      </a:r>
                      <a:r>
                        <a:rPr lang="en-US" sz="2000" baseline="-25000" dirty="0">
                          <a:solidFill>
                            <a:srgbClr val="000000"/>
                          </a:solidFill>
                          <a:effectLst/>
                          <a:latin typeface="+mn-lt"/>
                          <a:ea typeface="Calibri"/>
                          <a:cs typeface="Calibri"/>
                        </a:rPr>
                        <a:t>64</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n</a:t>
                      </a:r>
                      <a:r>
                        <a:rPr lang="en-US" sz="2000" dirty="0">
                          <a:solidFill>
                            <a:srgbClr val="000000"/>
                          </a:solidFill>
                          <a:effectLst/>
                          <a:latin typeface="+mn-lt"/>
                          <a:ea typeface="Calibri"/>
                          <a:cs typeface="Calibri"/>
                        </a:rPr>
                        <a:t>]</a:t>
                      </a:r>
                    </a:p>
                  </a:txBody>
                  <a:tcPr marL="36576" marR="36576" marT="36830" marB="368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80473">
                <a:tc vMerge="1">
                  <a:txBody>
                    <a:bodyPr/>
                    <a:lstStyle/>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1201738" algn="l"/>
                        </a:tabLst>
                        <a:defRPr/>
                      </a:pPr>
                      <a:r>
                        <a:rPr lang="en-US" sz="2000" dirty="0">
                          <a:solidFill>
                            <a:srgbClr val="000000"/>
                          </a:solidFill>
                          <a:effectLst/>
                          <a:latin typeface="+mn-lt"/>
                          <a:ea typeface="Calibri"/>
                          <a:cs typeface="Calibri"/>
                        </a:rPr>
                        <a:t>VSTR	</a:t>
                      </a:r>
                      <a:r>
                        <a:rPr lang="en-US" sz="2000" dirty="0" err="1">
                          <a:solidFill>
                            <a:srgbClr val="000000"/>
                          </a:solidFill>
                          <a:effectLst/>
                          <a:latin typeface="+mn-lt"/>
                          <a:ea typeface="Calibri"/>
                          <a:cs typeface="Calibri"/>
                        </a:rPr>
                        <a:t>D</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a:t>
                      </a:r>
                      <a:r>
                        <a:rPr lang="en-US" sz="2000" b="1" dirty="0" err="1">
                          <a:solidFill>
                            <a:srgbClr val="FF0000"/>
                          </a:solidFill>
                          <a:effectLst/>
                          <a:latin typeface="+mn-lt"/>
                          <a:ea typeface="Calibri"/>
                          <a:cs typeface="Calibri"/>
                        </a:rPr>
                        <a:t>R</a:t>
                      </a:r>
                      <a:r>
                        <a:rPr lang="en-US" sz="2000" baseline="-25000" dirty="0" err="1">
                          <a:solidFill>
                            <a:srgbClr val="000000"/>
                          </a:solidFill>
                          <a:effectLst/>
                          <a:latin typeface="+mn-lt"/>
                          <a:ea typeface="Calibri"/>
                          <a:cs typeface="Calibri"/>
                        </a:rPr>
                        <a:t>n</a:t>
                      </a:r>
                      <a:r>
                        <a:rPr lang="en-US" sz="2000" dirty="0" err="1">
                          <a:solidFill>
                            <a:srgbClr val="000000"/>
                          </a:solidFill>
                          <a:effectLst/>
                          <a:latin typeface="+mn-lt"/>
                          <a:ea typeface="Calibri"/>
                          <a:cs typeface="Calibri"/>
                        </a:rPr>
                        <a:t>,</a:t>
                      </a:r>
                      <a:r>
                        <a:rPr lang="en-US" sz="2000" i="1" dirty="0" err="1">
                          <a:solidFill>
                            <a:srgbClr val="000000"/>
                          </a:solidFill>
                          <a:effectLst/>
                          <a:latin typeface="+mn-lt"/>
                          <a:ea typeface="Calibri"/>
                          <a:cs typeface="Calibri"/>
                        </a:rPr>
                        <a:t>constant</a:t>
                      </a:r>
                      <a:r>
                        <a:rPr lang="en-US" sz="2000" i="0" dirty="0">
                          <a:solidFill>
                            <a:srgbClr val="000000"/>
                          </a:solidFill>
                          <a:effectLst/>
                          <a:latin typeface="+mn-lt"/>
                          <a:ea typeface="Calibri"/>
                          <a:cs typeface="Calibri"/>
                        </a:rPr>
                        <a:t>]</a:t>
                      </a:r>
                      <a:endParaRPr lang="en-US" sz="2000" dirty="0">
                        <a:solidFill>
                          <a:srgbClr val="000000"/>
                        </a:solidFill>
                        <a:effectLst/>
                        <a:latin typeface="Arial"/>
                        <a:ea typeface="Arial"/>
                        <a:cs typeface="Calibri"/>
                      </a:endParaRPr>
                    </a:p>
                  </a:txBody>
                  <a:tcPr marL="36576" marR="36576"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2000" dirty="0" err="1">
                          <a:solidFill>
                            <a:srgbClr val="000000"/>
                          </a:solidFill>
                          <a:effectLst/>
                          <a:latin typeface="+mn-lt"/>
                          <a:ea typeface="Calibri"/>
                          <a:cs typeface="Calibri"/>
                        </a:rPr>
                        <a:t>D</a:t>
                      </a:r>
                      <a:r>
                        <a:rPr lang="en-US" sz="2000" baseline="-25000" dirty="0" err="1">
                          <a:solidFill>
                            <a:srgbClr val="000000"/>
                          </a:solidFill>
                          <a:effectLst/>
                          <a:latin typeface="+mn-lt"/>
                          <a:ea typeface="Calibri"/>
                          <a:cs typeface="Calibri"/>
                        </a:rPr>
                        <a:t>d</a:t>
                      </a:r>
                      <a:r>
                        <a:rPr lang="en-US" sz="2000" dirty="0">
                          <a:solidFill>
                            <a:srgbClr val="000000"/>
                          </a:solidFill>
                          <a:effectLst/>
                          <a:latin typeface="+mn-lt"/>
                          <a:ea typeface="Calibri"/>
                          <a:cs typeface="Calibri"/>
                        </a:rPr>
                        <a:t> </a:t>
                      </a:r>
                      <a:r>
                        <a:rPr lang="en-US" sz="2000" dirty="0">
                          <a:solidFill>
                            <a:srgbClr val="000000"/>
                          </a:solidFill>
                          <a:effectLst/>
                          <a:latin typeface="+mn-lt"/>
                          <a:ea typeface="Calibri"/>
                          <a:cs typeface="Calibri"/>
                          <a:sym typeface="Wingdings"/>
                        </a:rPr>
                        <a:t></a:t>
                      </a:r>
                      <a:r>
                        <a:rPr lang="en-US" sz="2000" dirty="0">
                          <a:solidFill>
                            <a:srgbClr val="000000"/>
                          </a:solidFill>
                          <a:effectLst/>
                          <a:latin typeface="+mn-lt"/>
                          <a:ea typeface="Calibri"/>
                          <a:cs typeface="Calibri"/>
                        </a:rPr>
                        <a:t> mem</a:t>
                      </a:r>
                      <a:r>
                        <a:rPr lang="en-US" sz="2000" baseline="-25000" dirty="0">
                          <a:solidFill>
                            <a:srgbClr val="000000"/>
                          </a:solidFill>
                          <a:effectLst/>
                          <a:latin typeface="+mn-lt"/>
                          <a:ea typeface="Calibri"/>
                          <a:cs typeface="Calibri"/>
                        </a:rPr>
                        <a:t>64</a:t>
                      </a:r>
                      <a:r>
                        <a:rPr lang="en-US" sz="2000" dirty="0">
                          <a:solidFill>
                            <a:srgbClr val="000000"/>
                          </a:solidFill>
                          <a:effectLst/>
                          <a:latin typeface="+mn-lt"/>
                          <a:ea typeface="Calibri"/>
                          <a:cs typeface="Calibri"/>
                        </a:rPr>
                        <a:t>[</a:t>
                      </a:r>
                      <a:r>
                        <a:rPr lang="en-US" sz="2000" b="1" dirty="0">
                          <a:solidFill>
                            <a:srgbClr val="FF0000"/>
                          </a:solidFill>
                          <a:effectLst/>
                          <a:latin typeface="+mn-lt"/>
                          <a:ea typeface="Calibri"/>
                          <a:cs typeface="Calibri"/>
                        </a:rPr>
                        <a:t>R</a:t>
                      </a:r>
                      <a:r>
                        <a:rPr lang="en-US" sz="2000" baseline="-25000" dirty="0">
                          <a:solidFill>
                            <a:srgbClr val="000000"/>
                          </a:solidFill>
                          <a:effectLst/>
                          <a:latin typeface="+mn-lt"/>
                          <a:ea typeface="Calibri"/>
                          <a:cs typeface="Calibri"/>
                        </a:rPr>
                        <a:t>n</a:t>
                      </a:r>
                      <a:r>
                        <a:rPr lang="en-US" sz="2000" dirty="0">
                          <a:solidFill>
                            <a:srgbClr val="000000"/>
                          </a:solidFill>
                          <a:effectLst/>
                          <a:latin typeface="+mn-lt"/>
                          <a:ea typeface="Calibri"/>
                          <a:cs typeface="Calibri"/>
                        </a:rPr>
                        <a:t> + </a:t>
                      </a:r>
                      <a:r>
                        <a:rPr lang="en-US" sz="2000" i="1" dirty="0">
                          <a:solidFill>
                            <a:srgbClr val="000000"/>
                          </a:solidFill>
                          <a:effectLst/>
                          <a:latin typeface="+mn-lt"/>
                          <a:ea typeface="Calibri"/>
                          <a:cs typeface="Calibri"/>
                        </a:rPr>
                        <a:t>constant</a:t>
                      </a:r>
                      <a:r>
                        <a:rPr lang="en-US" sz="2000" dirty="0">
                          <a:solidFill>
                            <a:srgbClr val="000000"/>
                          </a:solidFill>
                          <a:effectLst/>
                          <a:latin typeface="+mn-lt"/>
                          <a:ea typeface="Calibri"/>
                          <a:cs typeface="Calibri"/>
                        </a:rPr>
                        <a:t>]</a:t>
                      </a:r>
                    </a:p>
                  </a:txBody>
                  <a:tcPr marL="36576" marR="36576" marT="36830" marB="368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791727">
                <a:tc>
                  <a:txBody>
                    <a:bodyPr/>
                    <a:lstStyle/>
                    <a:p>
                      <a:pPr marL="0" marR="0">
                        <a:lnSpc>
                          <a:spcPct val="100000"/>
                        </a:lnSpc>
                        <a:spcBef>
                          <a:spcPts val="0"/>
                        </a:spcBef>
                        <a:spcAft>
                          <a:spcPts val="0"/>
                        </a:spcAft>
                      </a:pPr>
                      <a:r>
                        <a:rPr lang="en-US" sz="1600" dirty="0">
                          <a:solidFill>
                            <a:srgbClr val="000000"/>
                          </a:solidFill>
                          <a:effectLst/>
                          <a:latin typeface="Calibri"/>
                          <a:ea typeface="Calibri"/>
                          <a:cs typeface="Calibri"/>
                        </a:rPr>
                        <a:t>Store Multiple FPU Registers,</a:t>
                      </a:r>
                      <a:endParaRPr lang="en-US" sz="1600" dirty="0">
                        <a:solidFill>
                          <a:srgbClr val="000000"/>
                        </a:solidFill>
                        <a:effectLst/>
                        <a:latin typeface="Arial"/>
                        <a:ea typeface="Arial"/>
                        <a:cs typeface="Calibri"/>
                      </a:endParaRPr>
                    </a:p>
                    <a:p>
                      <a:pPr marL="0" marR="0">
                        <a:lnSpc>
                          <a:spcPct val="100000"/>
                        </a:lnSpc>
                        <a:spcBef>
                          <a:spcPts val="0"/>
                        </a:spcBef>
                        <a:spcAft>
                          <a:spcPts val="0"/>
                        </a:spcAft>
                      </a:pPr>
                      <a:r>
                        <a:rPr lang="en-US" sz="1600" dirty="0">
                          <a:solidFill>
                            <a:srgbClr val="000000"/>
                          </a:solidFill>
                          <a:effectLst/>
                          <a:latin typeface="Calibri"/>
                          <a:ea typeface="Calibri"/>
                          <a:cs typeface="Calibri"/>
                        </a:rPr>
                        <a:t>Increment After</a:t>
                      </a:r>
                      <a:endParaRPr lang="en-US" sz="1600" dirty="0">
                        <a:solidFill>
                          <a:srgbClr val="000000"/>
                        </a:solidFill>
                        <a:effectLst/>
                        <a:latin typeface="Arial"/>
                        <a:ea typeface="Arial"/>
                        <a:cs typeface="Calibri"/>
                      </a:endParaRPr>
                    </a:p>
                  </a:txBody>
                  <a:tcPr marL="36576"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1201738" algn="l"/>
                        </a:tabLst>
                      </a:pPr>
                      <a:r>
                        <a:rPr lang="en-US" sz="2000" dirty="0">
                          <a:solidFill>
                            <a:srgbClr val="000000"/>
                          </a:solidFill>
                          <a:effectLst/>
                          <a:latin typeface="Calibri"/>
                          <a:ea typeface="Calibri"/>
                          <a:cs typeface="Calibri"/>
                        </a:rPr>
                        <a:t>VSTMIA	</a:t>
                      </a:r>
                      <a:r>
                        <a:rPr lang="en-US" sz="2000" b="1" dirty="0" err="1">
                          <a:solidFill>
                            <a:srgbClr val="FF0000"/>
                          </a:solidFill>
                          <a:effectLst/>
                          <a:latin typeface="Calibri"/>
                          <a:ea typeface="Calibri"/>
                          <a:cs typeface="Calibri"/>
                        </a:rPr>
                        <a:t>R</a:t>
                      </a:r>
                      <a:r>
                        <a:rPr lang="en-US" sz="2000" baseline="-25000" dirty="0" err="1">
                          <a:solidFill>
                            <a:srgbClr val="000000"/>
                          </a:solidFill>
                          <a:effectLst/>
                          <a:latin typeface="Calibri"/>
                          <a:ea typeface="Calibri"/>
                          <a:cs typeface="Calibri"/>
                        </a:rPr>
                        <a:t>n</a:t>
                      </a:r>
                      <a:r>
                        <a:rPr lang="en-US" sz="2000" dirty="0" err="1">
                          <a:solidFill>
                            <a:srgbClr val="000000"/>
                          </a:solidFill>
                          <a:effectLst/>
                          <a:latin typeface="Calibri"/>
                          <a:ea typeface="Calibri"/>
                          <a:cs typeface="Calibri"/>
                        </a:rPr>
                        <a:t>!,</a:t>
                      </a:r>
                      <a:r>
                        <a:rPr lang="en-US" sz="2000" i="1" dirty="0" err="1">
                          <a:solidFill>
                            <a:srgbClr val="000000"/>
                          </a:solidFill>
                          <a:effectLst/>
                          <a:latin typeface="Calibri"/>
                          <a:ea typeface="Calibri"/>
                          <a:cs typeface="Calibri"/>
                        </a:rPr>
                        <a:t>register</a:t>
                      </a:r>
                      <a:r>
                        <a:rPr lang="en-US" sz="2000" i="1" dirty="0">
                          <a:solidFill>
                            <a:srgbClr val="000000"/>
                          </a:solidFill>
                          <a:effectLst/>
                          <a:latin typeface="Calibri"/>
                          <a:ea typeface="Calibri"/>
                          <a:cs typeface="Calibri"/>
                        </a:rPr>
                        <a:t> list</a:t>
                      </a:r>
                      <a:endParaRPr lang="en-US" sz="2000" dirty="0">
                        <a:solidFill>
                          <a:srgbClr val="000000"/>
                        </a:solidFill>
                        <a:effectLst/>
                        <a:latin typeface="Arial"/>
                        <a:ea typeface="Arial"/>
                        <a:cs typeface="Calibri"/>
                      </a:endParaRPr>
                    </a:p>
                  </a:txBody>
                  <a:tcPr marL="36576" marR="36576"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Calibri"/>
                          <a:ea typeface="Calibri"/>
                          <a:cs typeface="Calibri"/>
                        </a:rPr>
                        <a:t>FP registers </a:t>
                      </a:r>
                      <a:r>
                        <a:rPr lang="en-US" sz="1600" dirty="0">
                          <a:solidFill>
                            <a:srgbClr val="000000"/>
                          </a:solidFill>
                          <a:effectLst/>
                          <a:latin typeface="Calibri"/>
                          <a:ea typeface="Calibri"/>
                          <a:cs typeface="Calibri"/>
                          <a:sym typeface="Wingdings"/>
                        </a:rPr>
                        <a:t></a:t>
                      </a:r>
                      <a:r>
                        <a:rPr lang="en-US" sz="1600" dirty="0">
                          <a:solidFill>
                            <a:srgbClr val="000000"/>
                          </a:solidFill>
                          <a:effectLst/>
                          <a:latin typeface="Calibri"/>
                          <a:ea typeface="Calibri"/>
                          <a:cs typeface="Calibri"/>
                        </a:rPr>
                        <a:t> memory, 1</a:t>
                      </a:r>
                      <a:r>
                        <a:rPr lang="en-US" sz="1600" baseline="30000" dirty="0">
                          <a:solidFill>
                            <a:srgbClr val="000000"/>
                          </a:solidFill>
                          <a:effectLst/>
                          <a:latin typeface="Calibri"/>
                          <a:ea typeface="Calibri"/>
                          <a:cs typeface="Calibri"/>
                        </a:rPr>
                        <a:t>st</a:t>
                      </a:r>
                      <a:r>
                        <a:rPr lang="en-US" sz="1600" dirty="0">
                          <a:solidFill>
                            <a:srgbClr val="000000"/>
                          </a:solidFill>
                          <a:effectLst/>
                          <a:latin typeface="Calibri"/>
                          <a:ea typeface="Calibri"/>
                          <a:cs typeface="Calibri"/>
                        </a:rPr>
                        <a:t> address in </a:t>
                      </a:r>
                      <a:r>
                        <a:rPr lang="en-US" sz="1600" b="1" dirty="0">
                          <a:solidFill>
                            <a:srgbClr val="FF0000"/>
                          </a:solidFill>
                          <a:effectLst/>
                          <a:latin typeface="Calibri"/>
                          <a:ea typeface="Calibri"/>
                          <a:cs typeface="Calibri"/>
                        </a:rPr>
                        <a:t>R</a:t>
                      </a:r>
                      <a:r>
                        <a:rPr lang="en-US" sz="1600" baseline="-25000" dirty="0">
                          <a:solidFill>
                            <a:srgbClr val="000000"/>
                          </a:solidFill>
                          <a:effectLst/>
                          <a:latin typeface="Calibri"/>
                          <a:ea typeface="Calibri"/>
                          <a:cs typeface="Calibri"/>
                        </a:rPr>
                        <a:t>n</a:t>
                      </a:r>
                      <a:r>
                        <a:rPr lang="en-US" sz="1600" dirty="0">
                          <a:solidFill>
                            <a:srgbClr val="000000"/>
                          </a:solidFill>
                          <a:effectLst/>
                          <a:latin typeface="Calibri"/>
                          <a:ea typeface="Calibri"/>
                          <a:cs typeface="Calibri"/>
                        </a:rPr>
                        <a:t>; Updates </a:t>
                      </a:r>
                      <a:r>
                        <a:rPr lang="en-US" sz="1600" b="1" dirty="0">
                          <a:solidFill>
                            <a:srgbClr val="FF0000"/>
                          </a:solidFill>
                          <a:effectLst/>
                          <a:latin typeface="Calibri"/>
                          <a:ea typeface="Calibri"/>
                          <a:cs typeface="Calibri"/>
                        </a:rPr>
                        <a:t>R</a:t>
                      </a:r>
                      <a:r>
                        <a:rPr lang="en-US" sz="1600" baseline="-25000" dirty="0">
                          <a:solidFill>
                            <a:srgbClr val="000000"/>
                          </a:solidFill>
                          <a:effectLst/>
                          <a:latin typeface="Calibri"/>
                          <a:ea typeface="Calibri"/>
                          <a:cs typeface="Calibri"/>
                        </a:rPr>
                        <a:t>n</a:t>
                      </a:r>
                      <a:r>
                        <a:rPr lang="en-US" sz="1600" dirty="0">
                          <a:solidFill>
                            <a:srgbClr val="000000"/>
                          </a:solidFill>
                          <a:effectLst/>
                          <a:latin typeface="Calibri"/>
                          <a:ea typeface="Calibri"/>
                          <a:cs typeface="Calibri"/>
                        </a:rPr>
                        <a:t> only if write-back flag (!) is appended to </a:t>
                      </a:r>
                      <a:r>
                        <a:rPr lang="en-US" sz="1600" b="1" dirty="0">
                          <a:solidFill>
                            <a:srgbClr val="FF0000"/>
                          </a:solidFill>
                          <a:effectLst/>
                          <a:latin typeface="Calibri"/>
                          <a:ea typeface="Calibri"/>
                          <a:cs typeface="Calibri"/>
                        </a:rPr>
                        <a:t>R</a:t>
                      </a:r>
                      <a:r>
                        <a:rPr lang="en-US" sz="1600" baseline="-25000" dirty="0">
                          <a:solidFill>
                            <a:srgbClr val="000000"/>
                          </a:solidFill>
                          <a:effectLst/>
                          <a:latin typeface="Calibri"/>
                          <a:ea typeface="Calibri"/>
                          <a:cs typeface="Calibri"/>
                        </a:rPr>
                        <a:t>n</a:t>
                      </a:r>
                      <a:r>
                        <a:rPr lang="en-US" sz="1600" dirty="0">
                          <a:solidFill>
                            <a:srgbClr val="000000"/>
                          </a:solidFill>
                          <a:effectLst/>
                          <a:latin typeface="Calibri"/>
                          <a:ea typeface="Calibri"/>
                          <a:cs typeface="Calibri"/>
                        </a:rPr>
                        <a:t>.</a:t>
                      </a:r>
                      <a:endParaRPr lang="en-US" sz="1600" dirty="0">
                        <a:solidFill>
                          <a:srgbClr val="000000"/>
                        </a:solidFill>
                        <a:effectLst/>
                        <a:latin typeface="Arial"/>
                        <a:ea typeface="Arial"/>
                        <a:cs typeface="Calibri"/>
                      </a:endParaRPr>
                    </a:p>
                  </a:txBody>
                  <a:tcPr marL="36576" marR="36576"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91727">
                <a:tc>
                  <a:txBody>
                    <a:bodyPr/>
                    <a:lstStyle/>
                    <a:p>
                      <a:pPr marL="0" marR="0">
                        <a:lnSpc>
                          <a:spcPct val="100000"/>
                        </a:lnSpc>
                        <a:spcBef>
                          <a:spcPts val="0"/>
                        </a:spcBef>
                        <a:spcAft>
                          <a:spcPts val="0"/>
                        </a:spcAft>
                      </a:pPr>
                      <a:r>
                        <a:rPr lang="en-US" sz="1600" dirty="0">
                          <a:solidFill>
                            <a:srgbClr val="000000"/>
                          </a:solidFill>
                          <a:effectLst/>
                          <a:latin typeface="Calibri"/>
                          <a:ea typeface="Calibri"/>
                          <a:cs typeface="Calibri"/>
                        </a:rPr>
                        <a:t>Store Multiple FPU Registers,</a:t>
                      </a:r>
                      <a:endParaRPr lang="en-US" sz="1600" dirty="0">
                        <a:solidFill>
                          <a:srgbClr val="000000"/>
                        </a:solidFill>
                        <a:effectLst/>
                        <a:latin typeface="Arial"/>
                        <a:ea typeface="Arial"/>
                        <a:cs typeface="Calibri"/>
                      </a:endParaRPr>
                    </a:p>
                    <a:p>
                      <a:pPr marL="0" marR="0">
                        <a:lnSpc>
                          <a:spcPct val="100000"/>
                        </a:lnSpc>
                        <a:spcBef>
                          <a:spcPts val="0"/>
                        </a:spcBef>
                        <a:spcAft>
                          <a:spcPts val="0"/>
                        </a:spcAft>
                      </a:pPr>
                      <a:r>
                        <a:rPr lang="en-US" sz="1600" dirty="0">
                          <a:solidFill>
                            <a:srgbClr val="000000"/>
                          </a:solidFill>
                          <a:effectLst/>
                          <a:latin typeface="Calibri"/>
                          <a:ea typeface="Calibri"/>
                          <a:cs typeface="Calibri"/>
                        </a:rPr>
                        <a:t>Decrement Before</a:t>
                      </a:r>
                      <a:endParaRPr lang="en-US" sz="1600" dirty="0">
                        <a:solidFill>
                          <a:srgbClr val="000000"/>
                        </a:solidFill>
                        <a:effectLst/>
                        <a:latin typeface="Arial"/>
                        <a:ea typeface="Arial"/>
                        <a:cs typeface="Calibri"/>
                      </a:endParaRPr>
                    </a:p>
                  </a:txBody>
                  <a:tcPr marL="36576"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573088" algn="l"/>
                          <a:tab pos="1201738" algn="l"/>
                        </a:tabLst>
                      </a:pPr>
                      <a:r>
                        <a:rPr lang="en-US" sz="2000" dirty="0">
                          <a:solidFill>
                            <a:srgbClr val="000000"/>
                          </a:solidFill>
                          <a:effectLst/>
                          <a:latin typeface="Calibri"/>
                          <a:ea typeface="Calibri"/>
                          <a:cs typeface="Calibri"/>
                        </a:rPr>
                        <a:t>VSTMDB	</a:t>
                      </a:r>
                      <a:r>
                        <a:rPr lang="en-US" sz="2000" b="1" dirty="0" err="1">
                          <a:solidFill>
                            <a:srgbClr val="FF0000"/>
                          </a:solidFill>
                          <a:effectLst/>
                          <a:latin typeface="Calibri"/>
                          <a:ea typeface="Calibri"/>
                          <a:cs typeface="Calibri"/>
                        </a:rPr>
                        <a:t>R</a:t>
                      </a:r>
                      <a:r>
                        <a:rPr lang="en-US" sz="2000" baseline="-25000" dirty="0" err="1">
                          <a:solidFill>
                            <a:srgbClr val="000000"/>
                          </a:solidFill>
                          <a:effectLst/>
                          <a:latin typeface="Calibri"/>
                          <a:ea typeface="Calibri"/>
                          <a:cs typeface="Calibri"/>
                        </a:rPr>
                        <a:t>n</a:t>
                      </a:r>
                      <a:r>
                        <a:rPr lang="en-US" sz="2000" dirty="0" err="1">
                          <a:solidFill>
                            <a:srgbClr val="000000"/>
                          </a:solidFill>
                          <a:effectLst/>
                          <a:latin typeface="Calibri"/>
                          <a:ea typeface="Calibri"/>
                          <a:cs typeface="Calibri"/>
                        </a:rPr>
                        <a:t>!,</a:t>
                      </a:r>
                      <a:r>
                        <a:rPr lang="en-US" sz="2000" i="1" dirty="0" err="1">
                          <a:solidFill>
                            <a:srgbClr val="000000"/>
                          </a:solidFill>
                          <a:effectLst/>
                          <a:latin typeface="Calibri"/>
                          <a:ea typeface="Calibri"/>
                          <a:cs typeface="Calibri"/>
                        </a:rPr>
                        <a:t>register</a:t>
                      </a:r>
                      <a:r>
                        <a:rPr lang="en-US" sz="2000" i="1" dirty="0">
                          <a:solidFill>
                            <a:srgbClr val="000000"/>
                          </a:solidFill>
                          <a:effectLst/>
                          <a:latin typeface="Calibri"/>
                          <a:ea typeface="Calibri"/>
                          <a:cs typeface="Calibri"/>
                        </a:rPr>
                        <a:t> list</a:t>
                      </a:r>
                      <a:endParaRPr lang="en-US" sz="2000" dirty="0">
                        <a:solidFill>
                          <a:srgbClr val="000000"/>
                        </a:solidFill>
                        <a:effectLst/>
                        <a:latin typeface="Arial"/>
                        <a:ea typeface="Arial"/>
                        <a:cs typeface="Calibri"/>
                      </a:endParaRPr>
                    </a:p>
                  </a:txBody>
                  <a:tcPr marL="36576" marR="36576"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Calibri"/>
                          <a:ea typeface="Calibri"/>
                          <a:cs typeface="Calibri"/>
                        </a:rPr>
                        <a:t>FP registers </a:t>
                      </a:r>
                      <a:r>
                        <a:rPr lang="en-US" sz="1600" dirty="0">
                          <a:solidFill>
                            <a:srgbClr val="000000"/>
                          </a:solidFill>
                          <a:effectLst/>
                          <a:latin typeface="Calibri"/>
                          <a:ea typeface="Calibri"/>
                          <a:cs typeface="Calibri"/>
                          <a:sym typeface="Wingdings"/>
                        </a:rPr>
                        <a:t></a:t>
                      </a:r>
                      <a:r>
                        <a:rPr lang="en-US" sz="1600" dirty="0">
                          <a:solidFill>
                            <a:srgbClr val="000000"/>
                          </a:solidFill>
                          <a:effectLst/>
                          <a:latin typeface="Calibri"/>
                          <a:ea typeface="Calibri"/>
                          <a:cs typeface="Calibri"/>
                        </a:rPr>
                        <a:t> memory, addresses end just before address in </a:t>
                      </a:r>
                      <a:r>
                        <a:rPr lang="en-US" sz="1600" b="1" dirty="0">
                          <a:solidFill>
                            <a:srgbClr val="FF0000"/>
                          </a:solidFill>
                          <a:effectLst/>
                          <a:latin typeface="Calibri"/>
                          <a:ea typeface="Calibri"/>
                          <a:cs typeface="Calibri"/>
                        </a:rPr>
                        <a:t>R</a:t>
                      </a:r>
                      <a:r>
                        <a:rPr lang="en-US" sz="1600" baseline="-25000" dirty="0">
                          <a:solidFill>
                            <a:srgbClr val="000000"/>
                          </a:solidFill>
                          <a:effectLst/>
                          <a:latin typeface="Calibri"/>
                          <a:ea typeface="Calibri"/>
                          <a:cs typeface="Calibri"/>
                        </a:rPr>
                        <a:t>n</a:t>
                      </a:r>
                      <a:r>
                        <a:rPr lang="en-US" sz="1600" dirty="0">
                          <a:solidFill>
                            <a:srgbClr val="000000"/>
                          </a:solidFill>
                          <a:effectLst/>
                          <a:latin typeface="Calibri"/>
                          <a:ea typeface="Calibri"/>
                          <a:cs typeface="Calibri"/>
                        </a:rPr>
                        <a:t>; Must append (!) and always updates </a:t>
                      </a:r>
                      <a:r>
                        <a:rPr lang="en-US" sz="1600" b="1" dirty="0">
                          <a:solidFill>
                            <a:srgbClr val="FF0000"/>
                          </a:solidFill>
                          <a:effectLst/>
                          <a:latin typeface="Calibri"/>
                          <a:ea typeface="Calibri"/>
                          <a:cs typeface="Calibri"/>
                        </a:rPr>
                        <a:t>R</a:t>
                      </a:r>
                      <a:r>
                        <a:rPr lang="en-US" sz="1600" baseline="-25000" dirty="0">
                          <a:solidFill>
                            <a:srgbClr val="000000"/>
                          </a:solidFill>
                          <a:effectLst/>
                          <a:latin typeface="Calibri"/>
                          <a:ea typeface="Calibri"/>
                          <a:cs typeface="Calibri"/>
                        </a:rPr>
                        <a:t>n</a:t>
                      </a:r>
                      <a:endParaRPr lang="en-US" sz="1600" dirty="0">
                        <a:solidFill>
                          <a:srgbClr val="000000"/>
                        </a:solidFill>
                        <a:effectLst/>
                        <a:latin typeface="Arial"/>
                        <a:ea typeface="Arial"/>
                        <a:cs typeface="Calibri"/>
                      </a:endParaRPr>
                    </a:p>
                  </a:txBody>
                  <a:tcPr marL="36576" marR="36576"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Title 2"/>
          <p:cNvSpPr>
            <a:spLocks noGrp="1"/>
          </p:cNvSpPr>
          <p:nvPr>
            <p:ph type="title"/>
          </p:nvPr>
        </p:nvSpPr>
        <p:spPr>
          <a:xfrm>
            <a:off x="948548" y="733150"/>
            <a:ext cx="10417284" cy="494072"/>
          </a:xfrm>
        </p:spPr>
        <p:txBody>
          <a:bodyPr>
            <a:normAutofit/>
          </a:bodyPr>
          <a:lstStyle/>
          <a:p>
            <a:r>
              <a:rPr lang="en-US" sz="2000" u="sng" dirty="0"/>
              <a:t>STORING</a:t>
            </a:r>
            <a:r>
              <a:rPr lang="en-US" sz="2000" dirty="0"/>
              <a:t> FLOATING-POINT DATA - 1, 2 or Multiple Registers to Memory</a:t>
            </a:r>
          </a:p>
        </p:txBody>
      </p:sp>
    </p:spTree>
    <p:extLst>
      <p:ext uri="{BB962C8B-B14F-4D97-AF65-F5344CB8AC3E}">
        <p14:creationId xmlns:p14="http://schemas.microsoft.com/office/powerpoint/2010/main" val="33098497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386CA-1D14-43C2-B2D8-608A4D0DBE9F}"/>
              </a:ext>
            </a:extLst>
          </p:cNvPr>
          <p:cNvSpPr>
            <a:spLocks noGrp="1"/>
          </p:cNvSpPr>
          <p:nvPr>
            <p:ph type="title"/>
          </p:nvPr>
        </p:nvSpPr>
        <p:spPr>
          <a:xfrm>
            <a:off x="940527" y="741171"/>
            <a:ext cx="5821220" cy="671406"/>
          </a:xfrm>
        </p:spPr>
        <p:txBody>
          <a:bodyPr/>
          <a:lstStyle/>
          <a:p>
            <a:r>
              <a:rPr lang="en-US" dirty="0"/>
              <a:t>INSTRUCTION SUFFIXES</a:t>
            </a:r>
          </a:p>
        </p:txBody>
      </p:sp>
      <p:sp>
        <p:nvSpPr>
          <p:cNvPr id="4" name="Rectangle 3">
            <a:extLst>
              <a:ext uri="{FF2B5EF4-FFF2-40B4-BE49-F238E27FC236}">
                <a16:creationId xmlns:a16="http://schemas.microsoft.com/office/drawing/2014/main" id="{53D8FB93-B42D-4258-8B98-E7DC9F9FB13B}"/>
              </a:ext>
            </a:extLst>
          </p:cNvPr>
          <p:cNvSpPr/>
          <p:nvPr/>
        </p:nvSpPr>
        <p:spPr>
          <a:xfrm>
            <a:off x="940527" y="1472734"/>
            <a:ext cx="10473431" cy="452431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Arial" panose="020B0604020202020204"/>
                <a:ea typeface="+mn-ea"/>
                <a:cs typeface="+mn-cs"/>
              </a:rPr>
              <a:t>Used with VCVT* when converting between floating-point and integer values to specify the data type of the source and destination: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Arial" panose="020B0604020202020204"/>
                <a:ea typeface="+mn-ea"/>
                <a:cs typeface="+mn-cs"/>
              </a:rPr>
              <a:t>.F32	32-bit single-precision </a:t>
            </a:r>
            <a:r>
              <a:rPr kumimoji="0" lang="en-US" sz="2800" b="1" i="0" u="none" strike="noStrike" kern="1200" cap="none" spc="0" normalizeH="0" baseline="0" noProof="0" dirty="0">
                <a:ln>
                  <a:noFill/>
                </a:ln>
                <a:solidFill>
                  <a:srgbClr val="92D050"/>
                </a:solidFill>
                <a:effectLst/>
                <a:uLnTx/>
                <a:uFillTx/>
                <a:latin typeface="Arial" panose="020B0604020202020204"/>
                <a:ea typeface="+mn-ea"/>
                <a:cs typeface="+mn-cs"/>
              </a:rPr>
              <a:t>float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Arial" panose="020B0604020202020204"/>
                <a:ea typeface="+mn-ea"/>
                <a:cs typeface="+mn-cs"/>
              </a:rPr>
              <a:t>.S32	32-bit signed (2’s comp) </a:t>
            </a:r>
            <a:r>
              <a:rPr kumimoji="0" lang="en-US" sz="2800" b="0" i="0" u="none" strike="noStrike" kern="1200" cap="none" spc="0" normalizeH="0" baseline="0" noProof="0" dirty="0">
                <a:ln>
                  <a:noFill/>
                </a:ln>
                <a:solidFill>
                  <a:srgbClr val="00B0F0"/>
                </a:solidFill>
                <a:effectLst/>
                <a:uLnTx/>
                <a:uFillTx/>
                <a:latin typeface="Arial" panose="020B0604020202020204"/>
                <a:ea typeface="+mn-ea"/>
                <a:cs typeface="+mn-cs"/>
              </a:rPr>
              <a:t>integer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Arial" panose="020B0604020202020204"/>
                <a:ea typeface="+mn-ea"/>
                <a:cs typeface="+mn-cs"/>
              </a:rPr>
              <a:t>.U32	32-bit unsigned </a:t>
            </a:r>
            <a:r>
              <a:rPr kumimoji="0" lang="en-US" sz="2800" b="0" i="0" u="none" strike="noStrike" kern="1200" cap="none" spc="0" normalizeH="0" baseline="0" noProof="0" dirty="0">
                <a:ln>
                  <a:noFill/>
                </a:ln>
                <a:solidFill>
                  <a:srgbClr val="00B0F0"/>
                </a:solidFill>
                <a:effectLst/>
                <a:uLnTx/>
                <a:uFillTx/>
                <a:latin typeface="Arial" panose="020B0604020202020204"/>
                <a:ea typeface="+mn-ea"/>
                <a:cs typeface="+mn-cs"/>
              </a:rPr>
              <a:t>integer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rial" panose="020B0604020202020204"/>
                <a:ea typeface="+mn-ea"/>
                <a:cs typeface="+mn-cs"/>
              </a:rPr>
              <a:t>The two VCVT operands must both be FPU registers (S0-S31)!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 (Floating point convert)</a:t>
            </a:r>
          </a:p>
        </p:txBody>
      </p:sp>
    </p:spTree>
    <p:extLst>
      <p:ext uri="{BB962C8B-B14F-4D97-AF65-F5344CB8AC3E}">
        <p14:creationId xmlns:p14="http://schemas.microsoft.com/office/powerpoint/2010/main" val="24704785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32506" y="1411693"/>
          <a:ext cx="10112483" cy="4360228"/>
        </p:xfrm>
        <a:graphic>
          <a:graphicData uri="http://schemas.openxmlformats.org/drawingml/2006/table">
            <a:tbl>
              <a:tblPr firstRow="1" firstCol="1" bandRow="1"/>
              <a:tblGrid>
                <a:gridCol w="3277194">
                  <a:extLst>
                    <a:ext uri="{9D8B030D-6E8A-4147-A177-3AD203B41FA5}">
                      <a16:colId xmlns:a16="http://schemas.microsoft.com/office/drawing/2014/main" val="20000"/>
                    </a:ext>
                  </a:extLst>
                </a:gridCol>
                <a:gridCol w="3494521">
                  <a:extLst>
                    <a:ext uri="{9D8B030D-6E8A-4147-A177-3AD203B41FA5}">
                      <a16:colId xmlns:a16="http://schemas.microsoft.com/office/drawing/2014/main" val="20001"/>
                    </a:ext>
                  </a:extLst>
                </a:gridCol>
                <a:gridCol w="3340768">
                  <a:extLst>
                    <a:ext uri="{9D8B030D-6E8A-4147-A177-3AD203B41FA5}">
                      <a16:colId xmlns:a16="http://schemas.microsoft.com/office/drawing/2014/main" val="20002"/>
                    </a:ext>
                  </a:extLst>
                </a:gridCol>
              </a:tblGrid>
              <a:tr h="0">
                <a:tc>
                  <a:txBody>
                    <a:bodyPr/>
                    <a:lstStyle/>
                    <a:p>
                      <a:pPr marL="0" marR="0">
                        <a:lnSpc>
                          <a:spcPct val="150000"/>
                        </a:lnSpc>
                        <a:spcBef>
                          <a:spcPts val="0"/>
                        </a:spcBef>
                        <a:spcAft>
                          <a:spcPts val="0"/>
                        </a:spcAft>
                      </a:pPr>
                      <a:r>
                        <a:rPr lang="en-US" sz="2000" b="1" i="1" dirty="0">
                          <a:solidFill>
                            <a:schemeClr val="bg1"/>
                          </a:solidFill>
                          <a:effectLst/>
                          <a:latin typeface="Calibri"/>
                          <a:ea typeface="Calibri"/>
                          <a:cs typeface="Calibri"/>
                        </a:rPr>
                        <a:t>Instruction</a:t>
                      </a:r>
                      <a:endParaRPr lang="en-US" sz="2000" dirty="0">
                        <a:solidFill>
                          <a:schemeClr val="bg1"/>
                        </a:solidFill>
                        <a:effectLst/>
                        <a:latin typeface="Arial"/>
                        <a:ea typeface="Arial"/>
                        <a:cs typeface="Calibri"/>
                      </a:endParaRPr>
                    </a:p>
                  </a:txBody>
                  <a:tcPr marL="6858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nSpc>
                          <a:spcPct val="150000"/>
                        </a:lnSpc>
                        <a:spcBef>
                          <a:spcPts val="0"/>
                        </a:spcBef>
                        <a:spcAft>
                          <a:spcPts val="0"/>
                        </a:spcAft>
                      </a:pPr>
                      <a:r>
                        <a:rPr lang="en-US" sz="2000" b="1" i="1" dirty="0">
                          <a:solidFill>
                            <a:schemeClr val="bg1"/>
                          </a:solidFill>
                          <a:effectLst/>
                          <a:latin typeface="Calibri"/>
                          <a:ea typeface="Calibri"/>
                          <a:cs typeface="Calibri"/>
                        </a:rPr>
                        <a:t>Syntax</a:t>
                      </a:r>
                      <a:endParaRPr lang="en-US" sz="2000" dirty="0">
                        <a:solidFill>
                          <a:schemeClr val="bg1"/>
                        </a:solidFill>
                        <a:effectLst/>
                        <a:latin typeface="Arial"/>
                        <a:ea typeface="Arial"/>
                        <a:cs typeface="Calibri"/>
                      </a:endParaRPr>
                    </a:p>
                  </a:txBody>
                  <a:tcPr marL="6858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nSpc>
                          <a:spcPct val="150000"/>
                        </a:lnSpc>
                        <a:spcBef>
                          <a:spcPts val="0"/>
                        </a:spcBef>
                        <a:spcAft>
                          <a:spcPts val="0"/>
                        </a:spcAft>
                      </a:pPr>
                      <a:r>
                        <a:rPr lang="en-US" sz="2000" b="1" i="1" dirty="0">
                          <a:solidFill>
                            <a:schemeClr val="bg1"/>
                          </a:solidFill>
                          <a:effectLst/>
                          <a:latin typeface="Calibri"/>
                          <a:ea typeface="Calibri"/>
                          <a:cs typeface="Calibri"/>
                        </a:rPr>
                        <a:t>Operation</a:t>
                      </a:r>
                      <a:endParaRPr lang="en-US" sz="2000" dirty="0">
                        <a:solidFill>
                          <a:schemeClr val="bg1"/>
                        </a:solidFill>
                        <a:effectLst/>
                        <a:latin typeface="Arial"/>
                        <a:ea typeface="Arial"/>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65760">
                <a:tc>
                  <a:txBody>
                    <a:bodyPr/>
                    <a:lstStyle/>
                    <a:p>
                      <a:pPr marL="0" marR="0">
                        <a:lnSpc>
                          <a:spcPct val="100000"/>
                        </a:lnSpc>
                        <a:spcBef>
                          <a:spcPts val="0"/>
                        </a:spcBef>
                        <a:spcAft>
                          <a:spcPts val="0"/>
                        </a:spcAft>
                      </a:pPr>
                      <a:r>
                        <a:rPr lang="en-US" sz="2000" dirty="0">
                          <a:solidFill>
                            <a:srgbClr val="000000"/>
                          </a:solidFill>
                          <a:effectLst/>
                          <a:latin typeface="Calibri"/>
                          <a:ea typeface="Calibri"/>
                          <a:cs typeface="Calibri"/>
                        </a:rPr>
                        <a:t>Convert Unsigned Integer to Floating-Point </a:t>
                      </a:r>
                      <a:br>
                        <a:rPr lang="en-US" sz="2000" dirty="0">
                          <a:solidFill>
                            <a:srgbClr val="000000"/>
                          </a:solidFill>
                          <a:effectLst/>
                          <a:latin typeface="Calibri"/>
                          <a:ea typeface="Calibri"/>
                          <a:cs typeface="Calibri"/>
                        </a:rPr>
                      </a:br>
                      <a:r>
                        <a:rPr lang="en-US" sz="2000" b="1" dirty="0">
                          <a:solidFill>
                            <a:srgbClr val="000000"/>
                          </a:solidFill>
                          <a:effectLst/>
                          <a:latin typeface="Calibri"/>
                          <a:ea typeface="Calibri"/>
                          <a:cs typeface="Calibri"/>
                        </a:rPr>
                        <a:t>(float </a:t>
                      </a:r>
                      <a:r>
                        <a:rPr lang="en-US" sz="2000" b="1" dirty="0">
                          <a:solidFill>
                            <a:srgbClr val="000000"/>
                          </a:solidFill>
                          <a:effectLst/>
                          <a:latin typeface="Calibri"/>
                          <a:ea typeface="Calibri"/>
                          <a:cs typeface="Calibri"/>
                          <a:sym typeface="Wingdings" panose="05000000000000000000" pitchFamily="2" charset="2"/>
                        </a:rPr>
                        <a:t> uint32_t)</a:t>
                      </a:r>
                      <a:endParaRPr lang="en-US" sz="2000" b="1"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1941513" algn="l"/>
                        </a:tabLst>
                      </a:pPr>
                      <a:r>
                        <a:rPr lang="en-US" sz="2000" dirty="0">
                          <a:solidFill>
                            <a:srgbClr val="000000"/>
                          </a:solidFill>
                          <a:effectLst/>
                          <a:latin typeface="Calibri"/>
                          <a:ea typeface="Calibri"/>
                          <a:cs typeface="Calibri"/>
                        </a:rPr>
                        <a:t>VCVT.F32.U32	</a:t>
                      </a:r>
                      <a:r>
                        <a:rPr lang="en-US" sz="2000" dirty="0" err="1">
                          <a:solidFill>
                            <a:srgbClr val="000000"/>
                          </a:solidFill>
                          <a:effectLst/>
                          <a:latin typeface="Calibri"/>
                          <a:ea typeface="Calibri"/>
                          <a:cs typeface="Calibri"/>
                        </a:rPr>
                        <a:t>S</a:t>
                      </a:r>
                      <a:r>
                        <a:rPr lang="en-US" sz="2000" baseline="-25000" dirty="0" err="1">
                          <a:solidFill>
                            <a:srgbClr val="000000"/>
                          </a:solidFill>
                          <a:effectLst/>
                          <a:latin typeface="Calibri"/>
                          <a:ea typeface="Calibri"/>
                          <a:cs typeface="Calibri"/>
                        </a:rPr>
                        <a:t>d</a:t>
                      </a:r>
                      <a:r>
                        <a:rPr lang="en-US" sz="2000" dirty="0" err="1">
                          <a:solidFill>
                            <a:srgbClr val="000000"/>
                          </a:solidFill>
                          <a:effectLst/>
                          <a:latin typeface="Calibri"/>
                          <a:ea typeface="Calibri"/>
                          <a:cs typeface="Calibri"/>
                        </a:rPr>
                        <a:t>,S</a:t>
                      </a:r>
                      <a:r>
                        <a:rPr lang="en-US" sz="2000" baseline="-25000" dirty="0" err="1">
                          <a:solidFill>
                            <a:srgbClr val="000000"/>
                          </a:solidFill>
                          <a:effectLst/>
                          <a:latin typeface="Calibri"/>
                          <a:ea typeface="Calibri"/>
                          <a:cs typeface="Calibri"/>
                        </a:rPr>
                        <a:t>m</a:t>
                      </a:r>
                      <a:endParaRPr lang="en-US" sz="20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2000" dirty="0" err="1">
                          <a:solidFill>
                            <a:srgbClr val="000000"/>
                          </a:solidFill>
                          <a:effectLst/>
                          <a:latin typeface="Calibri"/>
                          <a:ea typeface="Calibri"/>
                          <a:cs typeface="Calibri"/>
                        </a:rPr>
                        <a:t>S</a:t>
                      </a:r>
                      <a:r>
                        <a:rPr lang="en-US" sz="2000" baseline="-25000" dirty="0" err="1">
                          <a:solidFill>
                            <a:srgbClr val="000000"/>
                          </a:solidFill>
                          <a:effectLst/>
                          <a:latin typeface="Calibri"/>
                          <a:ea typeface="Calibri"/>
                          <a:cs typeface="Calibri"/>
                        </a:rPr>
                        <a:t>d</a:t>
                      </a:r>
                      <a:r>
                        <a:rPr lang="en-US" sz="2000" dirty="0">
                          <a:solidFill>
                            <a:srgbClr val="000000"/>
                          </a:solidFill>
                          <a:effectLst/>
                          <a:latin typeface="Calibri"/>
                          <a:ea typeface="Calibri"/>
                          <a:cs typeface="Calibri"/>
                        </a:rPr>
                        <a:t> </a:t>
                      </a:r>
                      <a:r>
                        <a:rPr lang="en-US" sz="2000" dirty="0">
                          <a:solidFill>
                            <a:srgbClr val="000000"/>
                          </a:solidFill>
                          <a:effectLst/>
                          <a:latin typeface="Calibri"/>
                          <a:ea typeface="Calibri"/>
                          <a:cs typeface="Calibri"/>
                          <a:sym typeface="Wingdings"/>
                        </a:rPr>
                        <a:t>=</a:t>
                      </a:r>
                      <a:r>
                        <a:rPr lang="en-US" sz="2000" dirty="0">
                          <a:solidFill>
                            <a:srgbClr val="000000"/>
                          </a:solidFill>
                          <a:effectLst/>
                          <a:latin typeface="Calibri"/>
                          <a:ea typeface="Calibri"/>
                          <a:cs typeface="Calibri"/>
                        </a:rPr>
                        <a:t> (</a:t>
                      </a:r>
                      <a:r>
                        <a:rPr lang="en-US" sz="2000" b="1" dirty="0">
                          <a:solidFill>
                            <a:srgbClr val="92D050"/>
                          </a:solidFill>
                          <a:effectLst/>
                          <a:latin typeface="Calibri"/>
                          <a:ea typeface="Calibri"/>
                          <a:cs typeface="Calibri"/>
                        </a:rPr>
                        <a:t>float</a:t>
                      </a:r>
                      <a:r>
                        <a:rPr lang="en-US" sz="2000" dirty="0">
                          <a:solidFill>
                            <a:srgbClr val="000000"/>
                          </a:solidFill>
                          <a:effectLst/>
                          <a:latin typeface="Calibri"/>
                          <a:ea typeface="Calibri"/>
                          <a:cs typeface="Calibri"/>
                        </a:rPr>
                        <a:t>) S</a:t>
                      </a:r>
                      <a:r>
                        <a:rPr lang="en-US" sz="2000" baseline="-25000" dirty="0">
                          <a:solidFill>
                            <a:srgbClr val="000000"/>
                          </a:solidFill>
                          <a:effectLst/>
                          <a:latin typeface="Calibri"/>
                          <a:ea typeface="Calibri"/>
                          <a:cs typeface="Calibri"/>
                        </a:rPr>
                        <a:t>m</a:t>
                      </a:r>
                      <a:r>
                        <a:rPr lang="en-US" sz="2000" dirty="0">
                          <a:solidFill>
                            <a:srgbClr val="000000"/>
                          </a:solidFill>
                          <a:effectLst/>
                          <a:latin typeface="Calibri"/>
                          <a:ea typeface="Calibri"/>
                          <a:cs typeface="Calibri"/>
                        </a:rPr>
                        <a:t>, </a:t>
                      </a:r>
                      <a:r>
                        <a:rPr lang="en-US" sz="2000" i="1" dirty="0">
                          <a:solidFill>
                            <a:srgbClr val="000000"/>
                          </a:solidFill>
                          <a:effectLst/>
                          <a:latin typeface="Calibri"/>
                          <a:ea typeface="Calibri"/>
                          <a:cs typeface="Calibri"/>
                        </a:rPr>
                        <a:t>where S</a:t>
                      </a:r>
                      <a:r>
                        <a:rPr lang="en-US" sz="2000" i="1" baseline="-25000" dirty="0">
                          <a:solidFill>
                            <a:srgbClr val="000000"/>
                          </a:solidFill>
                          <a:effectLst/>
                          <a:latin typeface="Calibri"/>
                          <a:ea typeface="Calibri"/>
                          <a:cs typeface="Calibri"/>
                        </a:rPr>
                        <a:t>m</a:t>
                      </a:r>
                      <a:r>
                        <a:rPr lang="en-US" sz="2000" i="1" dirty="0">
                          <a:solidFill>
                            <a:srgbClr val="000000"/>
                          </a:solidFill>
                          <a:effectLst/>
                          <a:latin typeface="Calibri"/>
                          <a:ea typeface="Calibri"/>
                          <a:cs typeface="Calibri"/>
                        </a:rPr>
                        <a:t> is an unsigned integer</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marR="0">
                        <a:lnSpc>
                          <a:spcPct val="100000"/>
                        </a:lnSpc>
                        <a:spcBef>
                          <a:spcPts val="0"/>
                        </a:spcBef>
                        <a:spcAft>
                          <a:spcPts val="0"/>
                        </a:spcAft>
                      </a:pPr>
                      <a:r>
                        <a:rPr lang="en-US" sz="2000" dirty="0">
                          <a:solidFill>
                            <a:srgbClr val="000000"/>
                          </a:solidFill>
                          <a:effectLst/>
                          <a:latin typeface="Calibri"/>
                          <a:ea typeface="Calibri"/>
                          <a:cs typeface="Calibri"/>
                        </a:rPr>
                        <a:t>Convert 2’s complement Integer to Floating-Point</a:t>
                      </a:r>
                    </a:p>
                    <a:p>
                      <a:pPr marL="0" marR="0">
                        <a:lnSpc>
                          <a:spcPct val="100000"/>
                        </a:lnSpc>
                        <a:spcBef>
                          <a:spcPts val="0"/>
                        </a:spcBef>
                        <a:spcAft>
                          <a:spcPts val="0"/>
                        </a:spcAft>
                      </a:pPr>
                      <a:r>
                        <a:rPr lang="en-US" sz="2000" b="1" dirty="0">
                          <a:solidFill>
                            <a:srgbClr val="000000"/>
                          </a:solidFill>
                          <a:effectLst/>
                          <a:latin typeface="Calibri"/>
                          <a:ea typeface="Arial"/>
                          <a:cs typeface="Calibri"/>
                        </a:rPr>
                        <a:t>(float </a:t>
                      </a:r>
                      <a:r>
                        <a:rPr lang="en-US" sz="2000" b="1" dirty="0">
                          <a:solidFill>
                            <a:srgbClr val="000000"/>
                          </a:solidFill>
                          <a:effectLst/>
                          <a:latin typeface="Calibri"/>
                          <a:ea typeface="Arial"/>
                          <a:cs typeface="Calibri"/>
                          <a:sym typeface="Wingdings" panose="05000000000000000000" pitchFamily="2" charset="2"/>
                        </a:rPr>
                        <a:t> int32_t)</a:t>
                      </a:r>
                      <a:endParaRPr lang="en-US" sz="2000" b="1"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1941513" algn="l"/>
                        </a:tabLst>
                      </a:pPr>
                      <a:r>
                        <a:rPr lang="en-US" sz="2000" dirty="0">
                          <a:solidFill>
                            <a:srgbClr val="000000"/>
                          </a:solidFill>
                          <a:effectLst/>
                          <a:latin typeface="Calibri"/>
                          <a:ea typeface="Calibri"/>
                          <a:cs typeface="Calibri"/>
                        </a:rPr>
                        <a:t>VCVT.F32.S32	</a:t>
                      </a:r>
                      <a:r>
                        <a:rPr lang="en-US" sz="2000" dirty="0" err="1">
                          <a:solidFill>
                            <a:srgbClr val="000000"/>
                          </a:solidFill>
                          <a:effectLst/>
                          <a:latin typeface="Calibri"/>
                          <a:ea typeface="Calibri"/>
                          <a:cs typeface="Calibri"/>
                        </a:rPr>
                        <a:t>S</a:t>
                      </a:r>
                      <a:r>
                        <a:rPr lang="en-US" sz="2000" baseline="-25000" dirty="0" err="1">
                          <a:solidFill>
                            <a:srgbClr val="000000"/>
                          </a:solidFill>
                          <a:effectLst/>
                          <a:latin typeface="Calibri"/>
                          <a:ea typeface="Calibri"/>
                          <a:cs typeface="Calibri"/>
                        </a:rPr>
                        <a:t>d</a:t>
                      </a:r>
                      <a:r>
                        <a:rPr lang="en-US" sz="2000" dirty="0" err="1">
                          <a:solidFill>
                            <a:srgbClr val="000000"/>
                          </a:solidFill>
                          <a:effectLst/>
                          <a:latin typeface="Calibri"/>
                          <a:ea typeface="Calibri"/>
                          <a:cs typeface="Calibri"/>
                        </a:rPr>
                        <a:t>,S</a:t>
                      </a:r>
                      <a:r>
                        <a:rPr lang="en-US" sz="2000" baseline="-25000" dirty="0" err="1">
                          <a:solidFill>
                            <a:srgbClr val="000000"/>
                          </a:solidFill>
                          <a:effectLst/>
                          <a:latin typeface="Calibri"/>
                          <a:ea typeface="Calibri"/>
                          <a:cs typeface="Calibri"/>
                        </a:rPr>
                        <a:t>m</a:t>
                      </a:r>
                      <a:endParaRPr lang="en-US" sz="20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2000" dirty="0" err="1">
                          <a:solidFill>
                            <a:srgbClr val="000000"/>
                          </a:solidFill>
                          <a:effectLst/>
                          <a:latin typeface="Calibri"/>
                          <a:ea typeface="Calibri"/>
                          <a:cs typeface="Calibri"/>
                        </a:rPr>
                        <a:t>S</a:t>
                      </a:r>
                      <a:r>
                        <a:rPr lang="en-US" sz="2000" baseline="-25000" dirty="0" err="1">
                          <a:solidFill>
                            <a:srgbClr val="000000"/>
                          </a:solidFill>
                          <a:effectLst/>
                          <a:latin typeface="Calibri"/>
                          <a:ea typeface="Calibri"/>
                          <a:cs typeface="Calibri"/>
                        </a:rPr>
                        <a:t>d</a:t>
                      </a:r>
                      <a:r>
                        <a:rPr lang="en-US" sz="2000" dirty="0">
                          <a:solidFill>
                            <a:srgbClr val="000000"/>
                          </a:solidFill>
                          <a:effectLst/>
                          <a:latin typeface="Calibri"/>
                          <a:ea typeface="Calibri"/>
                          <a:cs typeface="Calibri"/>
                        </a:rPr>
                        <a:t> </a:t>
                      </a:r>
                      <a:r>
                        <a:rPr lang="en-US" sz="2000" dirty="0">
                          <a:solidFill>
                            <a:srgbClr val="000000"/>
                          </a:solidFill>
                          <a:effectLst/>
                          <a:latin typeface="Calibri"/>
                          <a:ea typeface="Calibri"/>
                          <a:cs typeface="Calibri"/>
                          <a:sym typeface="Wingdings"/>
                        </a:rPr>
                        <a:t>=</a:t>
                      </a:r>
                      <a:r>
                        <a:rPr lang="en-US" sz="2000" dirty="0">
                          <a:solidFill>
                            <a:srgbClr val="000000"/>
                          </a:solidFill>
                          <a:effectLst/>
                          <a:latin typeface="Calibri"/>
                          <a:ea typeface="Calibri"/>
                          <a:cs typeface="Calibri"/>
                        </a:rPr>
                        <a:t> (</a:t>
                      </a:r>
                      <a:r>
                        <a:rPr lang="en-US" sz="2000" b="1" dirty="0">
                          <a:solidFill>
                            <a:srgbClr val="92D050"/>
                          </a:solidFill>
                          <a:effectLst/>
                          <a:latin typeface="Calibri"/>
                          <a:ea typeface="Calibri"/>
                          <a:cs typeface="Calibri"/>
                        </a:rPr>
                        <a:t>float</a:t>
                      </a:r>
                      <a:r>
                        <a:rPr lang="en-US" sz="2000" dirty="0">
                          <a:solidFill>
                            <a:srgbClr val="000000"/>
                          </a:solidFill>
                          <a:effectLst/>
                          <a:latin typeface="Calibri"/>
                          <a:ea typeface="Calibri"/>
                          <a:cs typeface="Calibri"/>
                        </a:rPr>
                        <a:t>) S</a:t>
                      </a:r>
                      <a:r>
                        <a:rPr lang="en-US" sz="2000" baseline="-25000" dirty="0">
                          <a:solidFill>
                            <a:srgbClr val="000000"/>
                          </a:solidFill>
                          <a:effectLst/>
                          <a:latin typeface="Calibri"/>
                          <a:ea typeface="Calibri"/>
                          <a:cs typeface="Calibri"/>
                        </a:rPr>
                        <a:t>m</a:t>
                      </a:r>
                      <a:r>
                        <a:rPr lang="en-US" sz="2000" dirty="0">
                          <a:solidFill>
                            <a:srgbClr val="000000"/>
                          </a:solidFill>
                          <a:effectLst/>
                          <a:latin typeface="Calibri"/>
                          <a:ea typeface="Calibri"/>
                          <a:cs typeface="Calibri"/>
                        </a:rPr>
                        <a:t>, </a:t>
                      </a:r>
                      <a:r>
                        <a:rPr lang="en-US" sz="2000" i="1" dirty="0">
                          <a:solidFill>
                            <a:srgbClr val="000000"/>
                          </a:solidFill>
                          <a:effectLst/>
                          <a:latin typeface="Calibri"/>
                          <a:ea typeface="Calibri"/>
                          <a:cs typeface="Calibri"/>
                        </a:rPr>
                        <a:t>where S</a:t>
                      </a:r>
                      <a:r>
                        <a:rPr lang="en-US" sz="2000" i="1" baseline="-25000" dirty="0">
                          <a:solidFill>
                            <a:srgbClr val="000000"/>
                          </a:solidFill>
                          <a:effectLst/>
                          <a:latin typeface="Calibri"/>
                          <a:ea typeface="Calibri"/>
                          <a:cs typeface="Calibri"/>
                        </a:rPr>
                        <a:t>m</a:t>
                      </a:r>
                      <a:r>
                        <a:rPr lang="en-US" sz="2000" i="1" dirty="0">
                          <a:solidFill>
                            <a:srgbClr val="000000"/>
                          </a:solidFill>
                          <a:effectLst/>
                          <a:latin typeface="Calibri"/>
                          <a:ea typeface="Calibri"/>
                          <a:cs typeface="Calibri"/>
                        </a:rPr>
                        <a:t> is a</a:t>
                      </a:r>
                      <a:r>
                        <a:rPr lang="en-US" sz="2000" i="1" baseline="0" dirty="0">
                          <a:solidFill>
                            <a:srgbClr val="000000"/>
                          </a:solidFill>
                          <a:effectLst/>
                          <a:latin typeface="Calibri"/>
                          <a:ea typeface="Calibri"/>
                          <a:cs typeface="Calibri"/>
                        </a:rPr>
                        <a:t> signed</a:t>
                      </a:r>
                      <a:r>
                        <a:rPr lang="en-US" sz="2000" i="1" dirty="0">
                          <a:solidFill>
                            <a:srgbClr val="000000"/>
                          </a:solidFill>
                          <a:effectLst/>
                          <a:latin typeface="Calibri"/>
                          <a:ea typeface="Calibri"/>
                          <a:cs typeface="Calibri"/>
                        </a:rPr>
                        <a:t> integer</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94030">
                <a:tc rowSpan="2">
                  <a:txBody>
                    <a:bodyPr/>
                    <a:lstStyle/>
                    <a:p>
                      <a:pPr marL="0" marR="0">
                        <a:lnSpc>
                          <a:spcPct val="100000"/>
                        </a:lnSpc>
                        <a:spcBef>
                          <a:spcPts val="0"/>
                        </a:spcBef>
                        <a:spcAft>
                          <a:spcPts val="0"/>
                        </a:spcAft>
                      </a:pPr>
                      <a:r>
                        <a:rPr lang="en-US" sz="2000" dirty="0">
                          <a:solidFill>
                            <a:srgbClr val="000000"/>
                          </a:solidFill>
                          <a:effectLst/>
                          <a:latin typeface="Calibri"/>
                          <a:ea typeface="Calibri"/>
                          <a:cs typeface="Calibri"/>
                        </a:rPr>
                        <a:t>Convert Floating-Point to Unsigned Integer </a:t>
                      </a:r>
                    </a:p>
                    <a:p>
                      <a:pPr marL="0" marR="0">
                        <a:lnSpc>
                          <a:spcPct val="100000"/>
                        </a:lnSpc>
                        <a:spcBef>
                          <a:spcPts val="0"/>
                        </a:spcBef>
                        <a:spcAft>
                          <a:spcPts val="0"/>
                        </a:spcAft>
                      </a:pPr>
                      <a:r>
                        <a:rPr lang="en-US" sz="2000" b="1" i="0" dirty="0">
                          <a:solidFill>
                            <a:srgbClr val="000000"/>
                          </a:solidFill>
                          <a:effectLst/>
                          <a:latin typeface="Calibri"/>
                          <a:ea typeface="Arial"/>
                          <a:cs typeface="Calibri"/>
                        </a:rPr>
                        <a:t>(uint32_t </a:t>
                      </a:r>
                      <a:r>
                        <a:rPr lang="en-US" sz="2000" b="1" i="0" dirty="0">
                          <a:solidFill>
                            <a:srgbClr val="000000"/>
                          </a:solidFill>
                          <a:effectLst/>
                          <a:latin typeface="Calibri"/>
                          <a:ea typeface="Arial"/>
                          <a:cs typeface="Calibri"/>
                          <a:sym typeface="Wingdings" panose="05000000000000000000" pitchFamily="2" charset="2"/>
                        </a:rPr>
                        <a:t> float)</a:t>
                      </a:r>
                      <a:endParaRPr lang="en-US" sz="2000" b="1" i="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1941513" algn="l"/>
                        </a:tabLst>
                        <a:defRPr/>
                      </a:pPr>
                      <a:r>
                        <a:rPr lang="en-US" sz="2000" dirty="0">
                          <a:solidFill>
                            <a:srgbClr val="000000"/>
                          </a:solidFill>
                          <a:effectLst/>
                          <a:latin typeface="+mn-lt"/>
                          <a:ea typeface="Calibri"/>
                          <a:cs typeface="Calibri"/>
                        </a:rPr>
                        <a:t>VCVT.U32.F32 	</a:t>
                      </a:r>
                      <a:r>
                        <a:rPr lang="en-US" sz="2000" dirty="0" err="1">
                          <a:solidFill>
                            <a:srgbClr val="000000"/>
                          </a:solidFill>
                          <a:effectLst/>
                          <a:latin typeface="+mn-lt"/>
                          <a:ea typeface="Calibri"/>
                          <a:cs typeface="Calibri"/>
                        </a:rPr>
                        <a:t>S</a:t>
                      </a:r>
                      <a:r>
                        <a:rPr lang="en-US" sz="2000" baseline="-25000" dirty="0" err="1">
                          <a:solidFill>
                            <a:srgbClr val="000000"/>
                          </a:solidFill>
                          <a:effectLst/>
                          <a:latin typeface="+mn-lt"/>
                          <a:ea typeface="Calibri"/>
                          <a:cs typeface="Calibri"/>
                        </a:rPr>
                        <a:t>d</a:t>
                      </a:r>
                      <a:r>
                        <a:rPr lang="en-US" sz="2000" dirty="0" err="1">
                          <a:solidFill>
                            <a:srgbClr val="000000"/>
                          </a:solidFill>
                          <a:effectLst/>
                          <a:latin typeface="+mn-lt"/>
                          <a:ea typeface="Calibri"/>
                          <a:cs typeface="Calibri"/>
                        </a:rPr>
                        <a:t>,S</a:t>
                      </a:r>
                      <a:r>
                        <a:rPr lang="en-US" sz="2000" baseline="-25000" dirty="0" err="1">
                          <a:solidFill>
                            <a:srgbClr val="000000"/>
                          </a:solidFill>
                          <a:effectLst/>
                          <a:latin typeface="+mn-lt"/>
                          <a:ea typeface="Calibri"/>
                          <a:cs typeface="Calibri"/>
                        </a:rPr>
                        <a:t>m</a:t>
                      </a:r>
                      <a:endParaRPr lang="en-US" sz="2000" baseline="-25000" dirty="0">
                        <a:solidFill>
                          <a:srgbClr val="000000"/>
                        </a:solidFill>
                        <a:effectLst/>
                        <a:latin typeface="+mn-lt"/>
                        <a:ea typeface="Calibri"/>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0000"/>
                        </a:lnSpc>
                        <a:spcBef>
                          <a:spcPts val="0"/>
                        </a:spcBef>
                        <a:spcAft>
                          <a:spcPts val="0"/>
                        </a:spcAft>
                      </a:pPr>
                      <a:r>
                        <a:rPr lang="en-US" sz="2000" dirty="0" err="1">
                          <a:solidFill>
                            <a:srgbClr val="000000"/>
                          </a:solidFill>
                          <a:effectLst/>
                          <a:latin typeface="Calibri"/>
                          <a:ea typeface="Calibri"/>
                          <a:cs typeface="Calibri"/>
                        </a:rPr>
                        <a:t>S</a:t>
                      </a:r>
                      <a:r>
                        <a:rPr lang="en-US" sz="2000" baseline="-25000" dirty="0" err="1">
                          <a:solidFill>
                            <a:srgbClr val="000000"/>
                          </a:solidFill>
                          <a:effectLst/>
                          <a:latin typeface="Calibri"/>
                          <a:ea typeface="Calibri"/>
                          <a:cs typeface="Calibri"/>
                        </a:rPr>
                        <a:t>d</a:t>
                      </a:r>
                      <a:r>
                        <a:rPr lang="en-US" sz="2000" dirty="0">
                          <a:solidFill>
                            <a:srgbClr val="000000"/>
                          </a:solidFill>
                          <a:effectLst/>
                          <a:latin typeface="Calibri"/>
                          <a:ea typeface="Calibri"/>
                          <a:cs typeface="Calibri"/>
                        </a:rPr>
                        <a:t> </a:t>
                      </a:r>
                      <a:r>
                        <a:rPr lang="en-US" sz="2000" dirty="0">
                          <a:solidFill>
                            <a:srgbClr val="000000"/>
                          </a:solidFill>
                          <a:effectLst/>
                          <a:latin typeface="Calibri"/>
                          <a:ea typeface="Calibri"/>
                          <a:cs typeface="Calibri"/>
                          <a:sym typeface="Wingdings"/>
                        </a:rPr>
                        <a:t>=</a:t>
                      </a:r>
                      <a:r>
                        <a:rPr lang="en-US" sz="2000" dirty="0">
                          <a:solidFill>
                            <a:srgbClr val="000000"/>
                          </a:solidFill>
                          <a:effectLst/>
                          <a:latin typeface="Calibri"/>
                          <a:ea typeface="Calibri"/>
                          <a:cs typeface="Calibri"/>
                        </a:rPr>
                        <a:t> (uint32_t) S</a:t>
                      </a:r>
                      <a:r>
                        <a:rPr lang="en-US" sz="2000" baseline="-25000" dirty="0">
                          <a:solidFill>
                            <a:srgbClr val="000000"/>
                          </a:solidFill>
                          <a:effectLst/>
                          <a:latin typeface="Calibri"/>
                          <a:ea typeface="Calibri"/>
                          <a:cs typeface="Calibri"/>
                        </a:rPr>
                        <a:t>m</a:t>
                      </a:r>
                      <a:endParaRPr lang="en-US" sz="2000" b="1"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94030">
                <a:tc vMerge="1">
                  <a:txBody>
                    <a:bodyPr/>
                    <a:lstStyle/>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1941513" algn="l"/>
                        </a:tabLst>
                        <a:defRPr/>
                      </a:pPr>
                      <a:r>
                        <a:rPr lang="en-US" sz="2000" dirty="0">
                          <a:solidFill>
                            <a:srgbClr val="000000"/>
                          </a:solidFill>
                          <a:effectLst/>
                          <a:latin typeface="+mn-lt"/>
                          <a:ea typeface="Calibri"/>
                          <a:cs typeface="Calibri"/>
                        </a:rPr>
                        <a:t>VCVT</a:t>
                      </a:r>
                      <a:r>
                        <a:rPr lang="en-US" sz="2000" b="1" dirty="0">
                          <a:solidFill>
                            <a:srgbClr val="000000"/>
                          </a:solidFill>
                          <a:effectLst/>
                          <a:latin typeface="+mn-lt"/>
                          <a:ea typeface="Calibri"/>
                          <a:cs typeface="Calibri"/>
                        </a:rPr>
                        <a:t>R</a:t>
                      </a:r>
                      <a:r>
                        <a:rPr lang="en-US" sz="2000" dirty="0">
                          <a:solidFill>
                            <a:srgbClr val="000000"/>
                          </a:solidFill>
                          <a:effectLst/>
                          <a:latin typeface="+mn-lt"/>
                          <a:ea typeface="Calibri"/>
                          <a:cs typeface="Calibri"/>
                        </a:rPr>
                        <a:t>.U32.F32 </a:t>
                      </a:r>
                      <a:r>
                        <a:rPr lang="en-US" sz="2000" dirty="0" err="1">
                          <a:solidFill>
                            <a:srgbClr val="000000"/>
                          </a:solidFill>
                          <a:effectLst/>
                          <a:latin typeface="+mn-lt"/>
                          <a:ea typeface="Calibri"/>
                          <a:cs typeface="Calibri"/>
                        </a:rPr>
                        <a:t>S</a:t>
                      </a:r>
                      <a:r>
                        <a:rPr lang="en-US" sz="2000" baseline="-25000" dirty="0" err="1">
                          <a:solidFill>
                            <a:srgbClr val="000000"/>
                          </a:solidFill>
                          <a:effectLst/>
                          <a:latin typeface="+mn-lt"/>
                          <a:ea typeface="Calibri"/>
                          <a:cs typeface="Calibri"/>
                        </a:rPr>
                        <a:t>d</a:t>
                      </a:r>
                      <a:r>
                        <a:rPr lang="en-US" sz="2000" dirty="0" err="1">
                          <a:solidFill>
                            <a:srgbClr val="000000"/>
                          </a:solidFill>
                          <a:effectLst/>
                          <a:latin typeface="+mn-lt"/>
                          <a:ea typeface="Calibri"/>
                          <a:cs typeface="Calibri"/>
                        </a:rPr>
                        <a:t>,S</a:t>
                      </a:r>
                      <a:r>
                        <a:rPr lang="en-US" sz="2000" baseline="-25000" dirty="0" err="1">
                          <a:solidFill>
                            <a:srgbClr val="000000"/>
                          </a:solidFill>
                          <a:effectLst/>
                          <a:latin typeface="+mn-lt"/>
                          <a:ea typeface="Calibri"/>
                          <a:cs typeface="Calibri"/>
                        </a:rPr>
                        <a:t>m</a:t>
                      </a:r>
                      <a:endParaRPr lang="en-US" sz="2000" baseline="-25000" dirty="0">
                        <a:solidFill>
                          <a:srgbClr val="000000"/>
                        </a:solidFill>
                        <a:effectLst/>
                        <a:latin typeface="+mn-lt"/>
                        <a:ea typeface="Calibri"/>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005"/>
                  </a:ext>
                </a:extLst>
              </a:tr>
              <a:tr h="494030">
                <a:tc rowSpan="2">
                  <a:txBody>
                    <a:bodyPr/>
                    <a:lstStyle/>
                    <a:p>
                      <a:pPr marL="0" marR="0">
                        <a:lnSpc>
                          <a:spcPct val="100000"/>
                        </a:lnSpc>
                        <a:spcBef>
                          <a:spcPts val="0"/>
                        </a:spcBef>
                        <a:spcAft>
                          <a:spcPts val="0"/>
                        </a:spcAft>
                      </a:pPr>
                      <a:r>
                        <a:rPr lang="en-US" sz="2000" dirty="0">
                          <a:solidFill>
                            <a:srgbClr val="000000"/>
                          </a:solidFill>
                          <a:effectLst/>
                          <a:latin typeface="Calibri"/>
                          <a:ea typeface="Calibri"/>
                          <a:cs typeface="Calibri"/>
                        </a:rPr>
                        <a:t>Convert Floating-Point </a:t>
                      </a:r>
                      <a:r>
                        <a:rPr lang="en-US" sz="2000" dirty="0">
                          <a:solidFill>
                            <a:srgbClr val="000000"/>
                          </a:solidFill>
                          <a:effectLst/>
                          <a:latin typeface="+mn-lt"/>
                          <a:ea typeface="Calibri"/>
                          <a:cs typeface="Calibri"/>
                        </a:rPr>
                        <a:t>to signed </a:t>
                      </a:r>
                      <a:r>
                        <a:rPr lang="en-US" sz="2000" dirty="0">
                          <a:solidFill>
                            <a:srgbClr val="000000"/>
                          </a:solidFill>
                          <a:effectLst/>
                          <a:latin typeface="Calibri"/>
                          <a:ea typeface="Calibri"/>
                          <a:cs typeface="Calibri"/>
                        </a:rPr>
                        <a:t>Integer</a:t>
                      </a:r>
                    </a:p>
                    <a:p>
                      <a:pPr marL="0" marR="0">
                        <a:lnSpc>
                          <a:spcPct val="100000"/>
                        </a:lnSpc>
                        <a:spcBef>
                          <a:spcPts val="0"/>
                        </a:spcBef>
                        <a:spcAft>
                          <a:spcPts val="0"/>
                        </a:spcAft>
                      </a:pPr>
                      <a:r>
                        <a:rPr lang="en-US" sz="2000" b="1" dirty="0">
                          <a:solidFill>
                            <a:srgbClr val="000000"/>
                          </a:solidFill>
                          <a:effectLst/>
                          <a:latin typeface="Calibri"/>
                          <a:ea typeface="Calibri"/>
                          <a:cs typeface="Calibri"/>
                        </a:rPr>
                        <a:t>(int32_t </a:t>
                      </a:r>
                      <a:r>
                        <a:rPr lang="en-US" sz="2000" b="1" dirty="0">
                          <a:solidFill>
                            <a:srgbClr val="000000"/>
                          </a:solidFill>
                          <a:effectLst/>
                          <a:latin typeface="Calibri"/>
                          <a:ea typeface="Calibri"/>
                          <a:cs typeface="Calibri"/>
                          <a:sym typeface="Wingdings" panose="05000000000000000000" pitchFamily="2" charset="2"/>
                        </a:rPr>
                        <a:t> float)</a:t>
                      </a:r>
                      <a:r>
                        <a:rPr lang="en-US" sz="2000" b="1" dirty="0">
                          <a:solidFill>
                            <a:srgbClr val="000000"/>
                          </a:solidFill>
                          <a:effectLst/>
                          <a:latin typeface="Calibri"/>
                          <a:ea typeface="Calibri"/>
                          <a:cs typeface="Calibri"/>
                        </a:rPr>
                        <a:t> </a:t>
                      </a:r>
                      <a:endParaRPr lang="en-US" sz="2000" b="1"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1941513" algn="l"/>
                        </a:tabLst>
                        <a:defRPr/>
                      </a:pPr>
                      <a:r>
                        <a:rPr lang="en-US" sz="2000" dirty="0">
                          <a:solidFill>
                            <a:srgbClr val="000000"/>
                          </a:solidFill>
                          <a:effectLst/>
                          <a:latin typeface="+mn-lt"/>
                          <a:ea typeface="Calibri"/>
                          <a:cs typeface="Calibri"/>
                        </a:rPr>
                        <a:t>VCVT.S32.F32 	</a:t>
                      </a:r>
                      <a:r>
                        <a:rPr lang="en-US" sz="2000" dirty="0" err="1">
                          <a:solidFill>
                            <a:srgbClr val="000000"/>
                          </a:solidFill>
                          <a:effectLst/>
                          <a:latin typeface="+mn-lt"/>
                          <a:ea typeface="Calibri"/>
                          <a:cs typeface="Calibri"/>
                        </a:rPr>
                        <a:t>S</a:t>
                      </a:r>
                      <a:r>
                        <a:rPr lang="en-US" sz="2000" baseline="-25000" dirty="0" err="1">
                          <a:solidFill>
                            <a:srgbClr val="000000"/>
                          </a:solidFill>
                          <a:effectLst/>
                          <a:latin typeface="+mn-lt"/>
                          <a:ea typeface="Calibri"/>
                          <a:cs typeface="Calibri"/>
                        </a:rPr>
                        <a:t>d</a:t>
                      </a:r>
                      <a:r>
                        <a:rPr lang="en-US" sz="2000" dirty="0" err="1">
                          <a:solidFill>
                            <a:srgbClr val="000000"/>
                          </a:solidFill>
                          <a:effectLst/>
                          <a:latin typeface="+mn-lt"/>
                          <a:ea typeface="Calibri"/>
                          <a:cs typeface="Calibri"/>
                        </a:rPr>
                        <a:t>,S</a:t>
                      </a:r>
                      <a:r>
                        <a:rPr lang="en-US" sz="2000" baseline="-25000" dirty="0" err="1">
                          <a:solidFill>
                            <a:srgbClr val="000000"/>
                          </a:solidFill>
                          <a:effectLst/>
                          <a:latin typeface="+mn-lt"/>
                          <a:ea typeface="Calibri"/>
                          <a:cs typeface="Calibri"/>
                        </a:rPr>
                        <a:t>m</a:t>
                      </a:r>
                      <a:endParaRPr lang="en-US" sz="2000" baseline="-25000" dirty="0">
                        <a:solidFill>
                          <a:srgbClr val="000000"/>
                        </a:solidFill>
                        <a:effectLst/>
                        <a:latin typeface="+mn-lt"/>
                        <a:ea typeface="Calibri"/>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0000"/>
                        </a:lnSpc>
                        <a:spcBef>
                          <a:spcPts val="0"/>
                        </a:spcBef>
                        <a:spcAft>
                          <a:spcPts val="0"/>
                        </a:spcAft>
                      </a:pPr>
                      <a:r>
                        <a:rPr lang="en-US" sz="2000" dirty="0" err="1">
                          <a:solidFill>
                            <a:srgbClr val="000000"/>
                          </a:solidFill>
                          <a:effectLst/>
                          <a:latin typeface="Calibri"/>
                          <a:ea typeface="Calibri"/>
                          <a:cs typeface="Calibri"/>
                        </a:rPr>
                        <a:t>S</a:t>
                      </a:r>
                      <a:r>
                        <a:rPr lang="en-US" sz="2000" baseline="-25000" dirty="0" err="1">
                          <a:solidFill>
                            <a:srgbClr val="000000"/>
                          </a:solidFill>
                          <a:effectLst/>
                          <a:latin typeface="Calibri"/>
                          <a:ea typeface="Calibri"/>
                          <a:cs typeface="Calibri"/>
                        </a:rPr>
                        <a:t>d</a:t>
                      </a:r>
                      <a:r>
                        <a:rPr lang="en-US" sz="2000" dirty="0">
                          <a:solidFill>
                            <a:srgbClr val="000000"/>
                          </a:solidFill>
                          <a:effectLst/>
                          <a:latin typeface="Calibri"/>
                          <a:ea typeface="Calibri"/>
                          <a:cs typeface="Calibri"/>
                        </a:rPr>
                        <a:t> </a:t>
                      </a:r>
                      <a:r>
                        <a:rPr lang="en-US" sz="2000" dirty="0">
                          <a:solidFill>
                            <a:srgbClr val="000000"/>
                          </a:solidFill>
                          <a:effectLst/>
                          <a:latin typeface="Calibri"/>
                          <a:ea typeface="Calibri"/>
                          <a:cs typeface="Calibri"/>
                          <a:sym typeface="Wingdings"/>
                        </a:rPr>
                        <a:t>=</a:t>
                      </a:r>
                      <a:r>
                        <a:rPr lang="en-US" sz="2000" dirty="0">
                          <a:solidFill>
                            <a:srgbClr val="000000"/>
                          </a:solidFill>
                          <a:effectLst/>
                          <a:latin typeface="Calibri"/>
                          <a:ea typeface="Calibri"/>
                          <a:cs typeface="Calibri"/>
                        </a:rPr>
                        <a:t> (int32_t) S</a:t>
                      </a:r>
                      <a:r>
                        <a:rPr lang="en-US" sz="2000" baseline="-25000" dirty="0">
                          <a:solidFill>
                            <a:srgbClr val="000000"/>
                          </a:solidFill>
                          <a:effectLst/>
                          <a:latin typeface="Calibri"/>
                          <a:ea typeface="Calibri"/>
                          <a:cs typeface="Calibri"/>
                        </a:rPr>
                        <a:t>m</a:t>
                      </a:r>
                      <a:endParaRPr lang="en-US" sz="2000" b="1"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94030">
                <a:tc vMerge="1">
                  <a:txBody>
                    <a:bodyPr/>
                    <a:lstStyle/>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tab pos="1941513" algn="l"/>
                        </a:tabLst>
                        <a:defRPr/>
                      </a:pPr>
                      <a:r>
                        <a:rPr lang="en-US" sz="2000" dirty="0">
                          <a:solidFill>
                            <a:srgbClr val="000000"/>
                          </a:solidFill>
                          <a:effectLst/>
                          <a:latin typeface="+mn-lt"/>
                          <a:ea typeface="Calibri"/>
                          <a:cs typeface="Calibri"/>
                        </a:rPr>
                        <a:t>VCVT</a:t>
                      </a:r>
                      <a:r>
                        <a:rPr lang="en-US" sz="2000" b="1" dirty="0">
                          <a:solidFill>
                            <a:srgbClr val="000000"/>
                          </a:solidFill>
                          <a:effectLst/>
                          <a:latin typeface="+mn-lt"/>
                          <a:ea typeface="Calibri"/>
                          <a:cs typeface="Calibri"/>
                        </a:rPr>
                        <a:t>R</a:t>
                      </a:r>
                      <a:r>
                        <a:rPr lang="en-US" sz="2000" dirty="0">
                          <a:solidFill>
                            <a:srgbClr val="000000"/>
                          </a:solidFill>
                          <a:effectLst/>
                          <a:latin typeface="+mn-lt"/>
                          <a:ea typeface="Calibri"/>
                          <a:cs typeface="Calibri"/>
                        </a:rPr>
                        <a:t>.S32.F32 </a:t>
                      </a:r>
                      <a:r>
                        <a:rPr lang="en-US" sz="2000" baseline="0" dirty="0">
                          <a:solidFill>
                            <a:srgbClr val="000000"/>
                          </a:solidFill>
                          <a:effectLst/>
                          <a:latin typeface="+mn-lt"/>
                          <a:ea typeface="Calibri"/>
                          <a:cs typeface="Calibri"/>
                        </a:rPr>
                        <a:t> </a:t>
                      </a:r>
                      <a:r>
                        <a:rPr lang="en-US" sz="2000" dirty="0" err="1">
                          <a:solidFill>
                            <a:srgbClr val="000000"/>
                          </a:solidFill>
                          <a:effectLst/>
                          <a:latin typeface="+mn-lt"/>
                          <a:ea typeface="Calibri"/>
                          <a:cs typeface="Calibri"/>
                        </a:rPr>
                        <a:t>S</a:t>
                      </a:r>
                      <a:r>
                        <a:rPr lang="en-US" sz="2000" baseline="-25000" dirty="0" err="1">
                          <a:solidFill>
                            <a:srgbClr val="000000"/>
                          </a:solidFill>
                          <a:effectLst/>
                          <a:latin typeface="+mn-lt"/>
                          <a:ea typeface="Calibri"/>
                          <a:cs typeface="Calibri"/>
                        </a:rPr>
                        <a:t>d</a:t>
                      </a:r>
                      <a:r>
                        <a:rPr lang="en-US" sz="2000" dirty="0" err="1">
                          <a:solidFill>
                            <a:srgbClr val="000000"/>
                          </a:solidFill>
                          <a:effectLst/>
                          <a:latin typeface="+mn-lt"/>
                          <a:ea typeface="Calibri"/>
                          <a:cs typeface="Calibri"/>
                        </a:rPr>
                        <a:t>,S</a:t>
                      </a:r>
                      <a:r>
                        <a:rPr lang="en-US" sz="2000" baseline="-25000" dirty="0" err="1">
                          <a:solidFill>
                            <a:srgbClr val="000000"/>
                          </a:solidFill>
                          <a:effectLst/>
                          <a:latin typeface="+mn-lt"/>
                          <a:ea typeface="Calibri"/>
                          <a:cs typeface="Calibri"/>
                        </a:rPr>
                        <a:t>m</a:t>
                      </a:r>
                      <a:endParaRPr lang="en-US" sz="2000" baseline="-25000" dirty="0">
                        <a:solidFill>
                          <a:srgbClr val="000000"/>
                        </a:solidFill>
                        <a:effectLst/>
                        <a:latin typeface="+mn-lt"/>
                        <a:ea typeface="Calibri"/>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006"/>
                  </a:ext>
                </a:extLst>
              </a:tr>
            </a:tbl>
          </a:graphicData>
        </a:graphic>
      </p:graphicFrame>
      <p:sp>
        <p:nvSpPr>
          <p:cNvPr id="3" name="Title 2"/>
          <p:cNvSpPr>
            <a:spLocks noGrp="1"/>
          </p:cNvSpPr>
          <p:nvPr>
            <p:ph type="title"/>
          </p:nvPr>
        </p:nvSpPr>
        <p:spPr>
          <a:xfrm>
            <a:off x="932506" y="753961"/>
            <a:ext cx="10417284" cy="601598"/>
          </a:xfrm>
        </p:spPr>
        <p:txBody>
          <a:bodyPr>
            <a:normAutofit/>
          </a:bodyPr>
          <a:lstStyle/>
          <a:p>
            <a:r>
              <a:rPr lang="en-US" sz="2800" u="sng" dirty="0"/>
              <a:t>CONVERTING</a:t>
            </a:r>
            <a:r>
              <a:rPr lang="en-US" sz="2800" dirty="0"/>
              <a:t> BETWEEN - INTEGER AND FLOATING POINT</a:t>
            </a:r>
          </a:p>
        </p:txBody>
      </p:sp>
      <p:sp>
        <p:nvSpPr>
          <p:cNvPr id="4" name="Rectangle 3"/>
          <p:cNvSpPr/>
          <p:nvPr/>
        </p:nvSpPr>
        <p:spPr>
          <a:xfrm>
            <a:off x="4855256" y="2244142"/>
            <a:ext cx="895839" cy="244459"/>
          </a:xfrm>
          <a:prstGeom prst="rect">
            <a:avLst/>
          </a:prstGeom>
          <a:solidFill>
            <a:srgbClr val="FF0000">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p:cNvSpPr/>
          <p:nvPr/>
        </p:nvSpPr>
        <p:spPr>
          <a:xfrm>
            <a:off x="4855256" y="3214613"/>
            <a:ext cx="895839" cy="276045"/>
          </a:xfrm>
          <a:prstGeom prst="rect">
            <a:avLst/>
          </a:prstGeom>
          <a:solidFill>
            <a:srgbClr val="FF0000">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Rectangle 5"/>
          <p:cNvSpPr/>
          <p:nvPr/>
        </p:nvSpPr>
        <p:spPr>
          <a:xfrm>
            <a:off x="4981187" y="3983764"/>
            <a:ext cx="1038613" cy="227206"/>
          </a:xfrm>
          <a:prstGeom prst="rect">
            <a:avLst/>
          </a:prstGeom>
          <a:solidFill>
            <a:srgbClr val="FF0000">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Rectangle 6"/>
          <p:cNvSpPr/>
          <p:nvPr/>
        </p:nvSpPr>
        <p:spPr>
          <a:xfrm>
            <a:off x="4981187" y="4941241"/>
            <a:ext cx="1038613" cy="276045"/>
          </a:xfrm>
          <a:prstGeom prst="rect">
            <a:avLst/>
          </a:prstGeom>
          <a:solidFill>
            <a:srgbClr val="FF0000">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Rectangle 7"/>
          <p:cNvSpPr/>
          <p:nvPr/>
        </p:nvSpPr>
        <p:spPr>
          <a:xfrm>
            <a:off x="5190439" y="4474818"/>
            <a:ext cx="1041920" cy="248668"/>
          </a:xfrm>
          <a:prstGeom prst="rect">
            <a:avLst/>
          </a:prstGeom>
          <a:solidFill>
            <a:srgbClr val="FF0000">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Rectangle 8"/>
          <p:cNvSpPr/>
          <p:nvPr/>
        </p:nvSpPr>
        <p:spPr>
          <a:xfrm>
            <a:off x="5210491" y="5453757"/>
            <a:ext cx="1081208" cy="276045"/>
          </a:xfrm>
          <a:prstGeom prst="rect">
            <a:avLst/>
          </a:prstGeom>
          <a:solidFill>
            <a:srgbClr val="FF0000">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9"/>
          <p:cNvSpPr/>
          <p:nvPr/>
        </p:nvSpPr>
        <p:spPr>
          <a:xfrm>
            <a:off x="932507" y="2520187"/>
            <a:ext cx="2087420" cy="327804"/>
          </a:xfrm>
          <a:prstGeom prst="rect">
            <a:avLst/>
          </a:prstGeom>
          <a:solidFill>
            <a:srgbClr val="FF0000">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Rectangle 10"/>
          <p:cNvSpPr/>
          <p:nvPr/>
        </p:nvSpPr>
        <p:spPr>
          <a:xfrm>
            <a:off x="932506" y="3490658"/>
            <a:ext cx="1926999" cy="327804"/>
          </a:xfrm>
          <a:prstGeom prst="rect">
            <a:avLst/>
          </a:prstGeom>
          <a:solidFill>
            <a:srgbClr val="FF0000">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Rectangle 11"/>
          <p:cNvSpPr/>
          <p:nvPr/>
        </p:nvSpPr>
        <p:spPr>
          <a:xfrm>
            <a:off x="932506" y="4509466"/>
            <a:ext cx="2087421" cy="327804"/>
          </a:xfrm>
          <a:prstGeom prst="rect">
            <a:avLst/>
          </a:prstGeom>
          <a:solidFill>
            <a:srgbClr val="FF0000">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Rectangle 12"/>
          <p:cNvSpPr/>
          <p:nvPr/>
        </p:nvSpPr>
        <p:spPr>
          <a:xfrm>
            <a:off x="932505" y="5479937"/>
            <a:ext cx="2011221" cy="327804"/>
          </a:xfrm>
          <a:prstGeom prst="rect">
            <a:avLst/>
          </a:prstGeom>
          <a:solidFill>
            <a:srgbClr val="FF0000">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14" name="Group 13"/>
          <p:cNvGrpSpPr/>
          <p:nvPr/>
        </p:nvGrpSpPr>
        <p:grpSpPr>
          <a:xfrm>
            <a:off x="7340542" y="5886947"/>
            <a:ext cx="3981174" cy="923330"/>
            <a:chOff x="1295401" y="4900863"/>
            <a:chExt cx="3981174" cy="923330"/>
          </a:xfrm>
          <a:solidFill>
            <a:schemeClr val="accent4">
              <a:lumMod val="20000"/>
              <a:lumOff val="80000"/>
            </a:schemeClr>
          </a:solidFill>
        </p:grpSpPr>
        <p:sp>
          <p:nvSpPr>
            <p:cNvPr id="15" name="TextBox 14"/>
            <p:cNvSpPr txBox="1"/>
            <p:nvPr/>
          </p:nvSpPr>
          <p:spPr>
            <a:xfrm>
              <a:off x="1295401" y="4900863"/>
              <a:ext cx="3981174" cy="923330"/>
            </a:xfrm>
            <a:prstGeom prst="rect">
              <a:avLst/>
            </a:prstGeom>
            <a:grpFill/>
            <a:ln/>
          </p:spPr>
          <p:style>
            <a:lnRef idx="1">
              <a:schemeClr val="accent2"/>
            </a:lnRef>
            <a:fillRef idx="2">
              <a:schemeClr val="accent2"/>
            </a:fillRef>
            <a:effectRef idx="1">
              <a:schemeClr val="accent2"/>
            </a:effectRef>
            <a:fontRef idx="minor">
              <a:schemeClr val="dk1"/>
            </a:fontRef>
          </p:style>
          <p:txBody>
            <a:bodyPr wrap="square" tIns="91440" bIns="91440" rtlCol="0">
              <a:spAutoFit/>
            </a:bodyPr>
            <a:lstStyle/>
            <a:p>
              <a:pPr marL="1027113"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Default:</a:t>
              </a:r>
            </a:p>
            <a:p>
              <a:pPr marL="1027113"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VCVT</a:t>
              </a:r>
              <a:r>
                <a:rPr kumimoji="0" lang="en-US" sz="1600" b="1" i="0" u="none" strike="noStrike" kern="1200" cap="none" spc="0" normalizeH="0" baseline="0" noProof="0" dirty="0">
                  <a:ln>
                    <a:noFill/>
                  </a:ln>
                  <a:solidFill>
                    <a:srgbClr val="000000"/>
                  </a:solidFill>
                  <a:effectLst/>
                  <a:uLnTx/>
                  <a:uFillTx/>
                  <a:latin typeface="Arial" panose="020B0604020202020204"/>
                  <a:ea typeface="+mn-ea"/>
                  <a:cs typeface="+mn-cs"/>
                </a:rPr>
                <a:t>R</a:t>
              </a: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 uses </a:t>
              </a:r>
              <a:r>
                <a:rPr kumimoji="0" lang="en-US" sz="1600" b="0" i="0" u="none" strike="noStrike" kern="1200" cap="none" spc="0" normalizeH="0" baseline="0" noProof="0" dirty="0" err="1">
                  <a:ln>
                    <a:noFill/>
                  </a:ln>
                  <a:solidFill>
                    <a:srgbClr val="000000"/>
                  </a:solidFill>
                  <a:effectLst/>
                  <a:uLnTx/>
                  <a:uFillTx/>
                  <a:latin typeface="Arial" panose="020B0604020202020204"/>
                  <a:ea typeface="+mn-ea"/>
                  <a:cs typeface="+mn-cs"/>
                </a:rPr>
                <a:t>ToNEAR</a:t>
              </a:r>
              <a:endPar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1027113"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VCVT uses </a:t>
              </a:r>
              <a:r>
                <a:rPr kumimoji="0" lang="en-US" sz="1600" b="0" i="0" u="none" strike="noStrike" kern="1200" cap="none" spc="0" normalizeH="0" baseline="0" noProof="0" dirty="0" err="1">
                  <a:ln>
                    <a:noFill/>
                  </a:ln>
                  <a:solidFill>
                    <a:srgbClr val="000000"/>
                  </a:solidFill>
                  <a:effectLst/>
                  <a:uLnTx/>
                  <a:uFillTx/>
                  <a:latin typeface="Arial" panose="020B0604020202020204"/>
                  <a:ea typeface="+mn-ea"/>
                  <a:cs typeface="+mn-cs"/>
                </a:rPr>
                <a:t>ToZERO</a:t>
              </a:r>
              <a:endPar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16" name="Picture 4" descr="http://www.aamu.edu/campuslife/living-on-campus/residentialLife/SiteAssets/pages/default/Warning_sig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1323475" y="4953000"/>
              <a:ext cx="971826" cy="838200"/>
            </a:xfrm>
            <a:prstGeom prst="rect">
              <a:avLst/>
            </a:prstGeom>
            <a:grpFill/>
            <a:extLst>
              <a:ext uri="{909E8E84-426E-40dd-AFC4-6F175D3DCCD1}">
                <a14:hiddenFill xmlns:a14="http://schemas.microsoft.com/office/drawing/2010/main" xmlns="">
                  <a:solidFill>
                    <a:srgbClr val="FFFFFF"/>
                  </a:solidFill>
                </a14:hiddenFill>
              </a:ext>
            </a:extLst>
          </p:spPr>
        </p:pic>
      </p:grpSp>
      <p:cxnSp>
        <p:nvCxnSpPr>
          <p:cNvPr id="18" name="Straight Arrow Connector 17"/>
          <p:cNvCxnSpPr/>
          <p:nvPr/>
        </p:nvCxnSpPr>
        <p:spPr>
          <a:xfrm flipH="1" flipV="1">
            <a:off x="5069305" y="5729802"/>
            <a:ext cx="4046621" cy="5226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flipV="1">
            <a:off x="5069305" y="4723486"/>
            <a:ext cx="4046621" cy="15289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4855256" y="2189756"/>
            <a:ext cx="851723" cy="401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flipV="1">
            <a:off x="4855256" y="3148799"/>
            <a:ext cx="851723" cy="401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flipV="1">
            <a:off x="5069305" y="3917188"/>
            <a:ext cx="851723" cy="401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flipV="1">
            <a:off x="5281117" y="4424604"/>
            <a:ext cx="851723" cy="401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flipV="1">
            <a:off x="5069305" y="4891556"/>
            <a:ext cx="851723" cy="401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flipV="1">
            <a:off x="5303175" y="5399699"/>
            <a:ext cx="851723" cy="401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31084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514601" y="1417638"/>
          <a:ext cx="7391403" cy="3848576"/>
        </p:xfrm>
        <a:graphic>
          <a:graphicData uri="http://schemas.openxmlformats.org/drawingml/2006/table">
            <a:tbl>
              <a:tblPr firstRow="1" firstCol="1" bandRow="1"/>
              <a:tblGrid>
                <a:gridCol w="1783676">
                  <a:extLst>
                    <a:ext uri="{9D8B030D-6E8A-4147-A177-3AD203B41FA5}">
                      <a16:colId xmlns:a16="http://schemas.microsoft.com/office/drawing/2014/main" val="20000"/>
                    </a:ext>
                  </a:extLst>
                </a:gridCol>
                <a:gridCol w="1188126">
                  <a:extLst>
                    <a:ext uri="{9D8B030D-6E8A-4147-A177-3AD203B41FA5}">
                      <a16:colId xmlns:a16="http://schemas.microsoft.com/office/drawing/2014/main" val="20001"/>
                    </a:ext>
                  </a:extLst>
                </a:gridCol>
                <a:gridCol w="1248621">
                  <a:extLst>
                    <a:ext uri="{9D8B030D-6E8A-4147-A177-3AD203B41FA5}">
                      <a16:colId xmlns:a16="http://schemas.microsoft.com/office/drawing/2014/main" val="20002"/>
                    </a:ext>
                  </a:extLst>
                </a:gridCol>
                <a:gridCol w="792745">
                  <a:extLst>
                    <a:ext uri="{9D8B030D-6E8A-4147-A177-3AD203B41FA5}">
                      <a16:colId xmlns:a16="http://schemas.microsoft.com/office/drawing/2014/main" val="20003"/>
                    </a:ext>
                  </a:extLst>
                </a:gridCol>
                <a:gridCol w="792745">
                  <a:extLst>
                    <a:ext uri="{9D8B030D-6E8A-4147-A177-3AD203B41FA5}">
                      <a16:colId xmlns:a16="http://schemas.microsoft.com/office/drawing/2014/main" val="20004"/>
                    </a:ext>
                  </a:extLst>
                </a:gridCol>
                <a:gridCol w="792745">
                  <a:extLst>
                    <a:ext uri="{9D8B030D-6E8A-4147-A177-3AD203B41FA5}">
                      <a16:colId xmlns:a16="http://schemas.microsoft.com/office/drawing/2014/main" val="20005"/>
                    </a:ext>
                  </a:extLst>
                </a:gridCol>
                <a:gridCol w="792745">
                  <a:extLst>
                    <a:ext uri="{9D8B030D-6E8A-4147-A177-3AD203B41FA5}">
                      <a16:colId xmlns:a16="http://schemas.microsoft.com/office/drawing/2014/main" val="20006"/>
                    </a:ext>
                  </a:extLst>
                </a:gridCol>
              </a:tblGrid>
              <a:tr h="993616">
                <a:tc rowSpan="2">
                  <a:txBody>
                    <a:bodyPr/>
                    <a:lstStyle/>
                    <a:p>
                      <a:pPr marL="0" marR="0">
                        <a:lnSpc>
                          <a:spcPct val="100000"/>
                        </a:lnSpc>
                        <a:spcBef>
                          <a:spcPts val="0"/>
                        </a:spcBef>
                        <a:spcAft>
                          <a:spcPts val="0"/>
                        </a:spcAft>
                      </a:pPr>
                      <a:r>
                        <a:rPr lang="en-US" sz="2400" b="1" i="1" dirty="0">
                          <a:solidFill>
                            <a:schemeClr val="bg1"/>
                          </a:solidFill>
                          <a:effectLst/>
                          <a:latin typeface="Calibri"/>
                          <a:ea typeface="Calibri"/>
                          <a:cs typeface="Calibri"/>
                        </a:rPr>
                        <a:t>Rounding Mode</a:t>
                      </a:r>
                      <a:endParaRPr lang="en-US" sz="2400" dirty="0">
                        <a:solidFill>
                          <a:schemeClr val="bg1"/>
                        </a:solidFill>
                        <a:effectLst/>
                        <a:latin typeface="Arial"/>
                        <a:ea typeface="Arial"/>
                        <a:cs typeface="Calibri"/>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rowSpan="2">
                  <a:txBody>
                    <a:bodyPr/>
                    <a:lstStyle/>
                    <a:p>
                      <a:pPr marL="0" marR="0" algn="ctr">
                        <a:lnSpc>
                          <a:spcPct val="100000"/>
                        </a:lnSpc>
                        <a:spcBef>
                          <a:spcPts val="0"/>
                        </a:spcBef>
                        <a:spcAft>
                          <a:spcPts val="0"/>
                        </a:spcAft>
                      </a:pPr>
                      <a:r>
                        <a:rPr lang="en-US" sz="2400" b="1" i="1" dirty="0">
                          <a:solidFill>
                            <a:schemeClr val="bg1"/>
                          </a:solidFill>
                          <a:effectLst/>
                          <a:latin typeface="Calibri"/>
                          <a:ea typeface="Calibri"/>
                          <a:cs typeface="Calibri"/>
                        </a:rPr>
                        <a:t>IEEE Abbrev.</a:t>
                      </a:r>
                      <a:endParaRPr lang="en-US" sz="2400" dirty="0">
                        <a:solidFill>
                          <a:schemeClr val="bg1"/>
                        </a:solidFill>
                        <a:effectLst/>
                        <a:latin typeface="Arial"/>
                        <a:ea typeface="Arial"/>
                        <a:cs typeface="Calibri"/>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rowSpan="2">
                  <a:txBody>
                    <a:bodyPr/>
                    <a:lstStyle/>
                    <a:p>
                      <a:pPr marL="0" marR="0" algn="ctr">
                        <a:lnSpc>
                          <a:spcPct val="100000"/>
                        </a:lnSpc>
                        <a:spcBef>
                          <a:spcPts val="0"/>
                        </a:spcBef>
                        <a:spcAft>
                          <a:spcPts val="0"/>
                        </a:spcAft>
                      </a:pPr>
                      <a:r>
                        <a:rPr lang="en-US" sz="2400" b="1" i="1" dirty="0">
                          <a:solidFill>
                            <a:schemeClr val="bg1"/>
                          </a:solidFill>
                          <a:effectLst/>
                          <a:latin typeface="Calibri"/>
                          <a:ea typeface="Calibri"/>
                          <a:cs typeface="Calibri"/>
                        </a:rPr>
                        <a:t>FPSCR</a:t>
                      </a:r>
                      <a:br>
                        <a:rPr lang="en-US" sz="2400" b="1" i="1" dirty="0">
                          <a:solidFill>
                            <a:schemeClr val="bg1"/>
                          </a:solidFill>
                          <a:effectLst/>
                          <a:latin typeface="Calibri"/>
                          <a:ea typeface="Calibri"/>
                          <a:cs typeface="Calibri"/>
                        </a:rPr>
                      </a:br>
                      <a:r>
                        <a:rPr lang="en-US" sz="2400" b="1" i="1" dirty="0">
                          <a:solidFill>
                            <a:schemeClr val="bg1"/>
                          </a:solidFill>
                          <a:effectLst/>
                          <a:latin typeface="Calibri"/>
                          <a:ea typeface="Calibri"/>
                          <a:cs typeface="Calibri"/>
                        </a:rPr>
                        <a:t>bits 23..22</a:t>
                      </a:r>
                      <a:endParaRPr lang="en-US" sz="2400" dirty="0">
                        <a:solidFill>
                          <a:schemeClr val="bg1"/>
                        </a:solidFill>
                        <a:effectLst/>
                        <a:latin typeface="Arial"/>
                        <a:ea typeface="Arial"/>
                        <a:cs typeface="Calibri"/>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gridSpan="4">
                  <a:txBody>
                    <a:bodyPr/>
                    <a:lstStyle/>
                    <a:p>
                      <a:pPr marL="0" marR="0" algn="ctr">
                        <a:lnSpc>
                          <a:spcPct val="150000"/>
                        </a:lnSpc>
                        <a:spcBef>
                          <a:spcPts val="0"/>
                        </a:spcBef>
                        <a:spcAft>
                          <a:spcPts val="0"/>
                        </a:spcAft>
                      </a:pPr>
                      <a:r>
                        <a:rPr lang="en-US" sz="2400" b="1" i="1" dirty="0">
                          <a:solidFill>
                            <a:schemeClr val="bg1"/>
                          </a:solidFill>
                          <a:effectLst/>
                          <a:latin typeface="Calibri"/>
                          <a:ea typeface="Calibri"/>
                          <a:cs typeface="Calibri"/>
                        </a:rPr>
                        <a:t>Examples</a:t>
                      </a:r>
                      <a:endParaRPr lang="en-US" sz="2400" dirty="0">
                        <a:solidFill>
                          <a:schemeClr val="bg1"/>
                        </a:solidFill>
                        <a:effectLst/>
                        <a:latin typeface="Arial"/>
                        <a:ea typeface="Arial"/>
                        <a:cs typeface="Calibri"/>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lnSpc>
                          <a:spcPct val="100000"/>
                        </a:lnSpc>
                        <a:spcBef>
                          <a:spcPts val="0"/>
                        </a:spcBef>
                        <a:spcAft>
                          <a:spcPts val="0"/>
                        </a:spcAft>
                      </a:pPr>
                      <a:r>
                        <a:rPr lang="en-US" sz="2400" b="1" i="1" dirty="0">
                          <a:solidFill>
                            <a:schemeClr val="bg1"/>
                          </a:solidFill>
                          <a:effectLst/>
                          <a:latin typeface="Calibri"/>
                          <a:ea typeface="Calibri"/>
                          <a:cs typeface="Calibri"/>
                        </a:rPr>
                        <a:t>-2.5</a:t>
                      </a:r>
                      <a:endParaRPr lang="en-US" sz="2400" dirty="0">
                        <a:solidFill>
                          <a:schemeClr val="bg1"/>
                        </a:solidFill>
                        <a:effectLst/>
                        <a:latin typeface="Arial"/>
                        <a:ea typeface="Arial"/>
                        <a:cs typeface="Calibri"/>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gn="ctr">
                        <a:lnSpc>
                          <a:spcPct val="100000"/>
                        </a:lnSpc>
                        <a:spcBef>
                          <a:spcPts val="0"/>
                        </a:spcBef>
                        <a:spcAft>
                          <a:spcPts val="0"/>
                        </a:spcAft>
                      </a:pPr>
                      <a:r>
                        <a:rPr lang="en-US" sz="2400" b="1" i="1" dirty="0">
                          <a:solidFill>
                            <a:schemeClr val="bg1"/>
                          </a:solidFill>
                          <a:effectLst/>
                          <a:latin typeface="Calibri"/>
                          <a:ea typeface="Calibri"/>
                          <a:cs typeface="Calibri"/>
                        </a:rPr>
                        <a:t>-1.5</a:t>
                      </a:r>
                      <a:endParaRPr lang="en-US" sz="2400" dirty="0">
                        <a:solidFill>
                          <a:schemeClr val="bg1"/>
                        </a:solidFill>
                        <a:effectLst/>
                        <a:latin typeface="Arial"/>
                        <a:ea typeface="Arial"/>
                        <a:cs typeface="Calibri"/>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gn="ctr">
                        <a:lnSpc>
                          <a:spcPct val="100000"/>
                        </a:lnSpc>
                        <a:spcBef>
                          <a:spcPts val="0"/>
                        </a:spcBef>
                        <a:spcAft>
                          <a:spcPts val="0"/>
                        </a:spcAft>
                      </a:pPr>
                      <a:r>
                        <a:rPr lang="en-US" sz="2400" b="1" i="1" dirty="0">
                          <a:solidFill>
                            <a:schemeClr val="bg1"/>
                          </a:solidFill>
                          <a:effectLst/>
                          <a:latin typeface="Calibri"/>
                          <a:ea typeface="Calibri"/>
                          <a:cs typeface="Calibri"/>
                        </a:rPr>
                        <a:t>+1.5</a:t>
                      </a:r>
                      <a:endParaRPr lang="en-US" sz="2400" dirty="0">
                        <a:solidFill>
                          <a:schemeClr val="bg1"/>
                        </a:solidFill>
                        <a:effectLst/>
                        <a:latin typeface="Arial"/>
                        <a:ea typeface="Arial"/>
                        <a:cs typeface="Calibri"/>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gn="ctr">
                        <a:lnSpc>
                          <a:spcPct val="100000"/>
                        </a:lnSpc>
                        <a:spcBef>
                          <a:spcPts val="0"/>
                        </a:spcBef>
                        <a:spcAft>
                          <a:spcPts val="0"/>
                        </a:spcAft>
                      </a:pPr>
                      <a:r>
                        <a:rPr lang="en-US" sz="2400" b="1" i="1" dirty="0">
                          <a:solidFill>
                            <a:schemeClr val="bg1"/>
                          </a:solidFill>
                          <a:effectLst/>
                          <a:latin typeface="Calibri"/>
                          <a:ea typeface="Calibri"/>
                          <a:cs typeface="Calibri"/>
                        </a:rPr>
                        <a:t>+2.5</a:t>
                      </a:r>
                      <a:endParaRPr lang="en-US" sz="2400" dirty="0">
                        <a:solidFill>
                          <a:schemeClr val="bg1"/>
                        </a:solidFill>
                        <a:effectLst/>
                        <a:latin typeface="Arial"/>
                        <a:ea typeface="Arial"/>
                        <a:cs typeface="Calibri"/>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0">
                <a:tc>
                  <a:txBody>
                    <a:bodyPr/>
                    <a:lstStyle/>
                    <a:p>
                      <a:pPr marL="0" marR="0">
                        <a:lnSpc>
                          <a:spcPct val="100000"/>
                        </a:lnSpc>
                        <a:spcBef>
                          <a:spcPts val="0"/>
                        </a:spcBef>
                        <a:spcAft>
                          <a:spcPts val="0"/>
                        </a:spcAft>
                      </a:pPr>
                      <a:r>
                        <a:rPr lang="en-US" sz="1800" dirty="0">
                          <a:solidFill>
                            <a:srgbClr val="000000"/>
                          </a:solidFill>
                          <a:effectLst/>
                          <a:latin typeface="Calibri"/>
                          <a:ea typeface="Calibri"/>
                          <a:cs typeface="Calibri"/>
                        </a:rPr>
                        <a:t>Round to nearest even (</a:t>
                      </a:r>
                      <a:r>
                        <a:rPr lang="en-US" sz="1800" dirty="0">
                          <a:solidFill>
                            <a:srgbClr val="FF0000"/>
                          </a:solidFill>
                          <a:effectLst/>
                          <a:latin typeface="Calibri"/>
                          <a:ea typeface="Calibri"/>
                          <a:cs typeface="Calibri"/>
                        </a:rPr>
                        <a:t>default</a:t>
                      </a:r>
                      <a:r>
                        <a:rPr lang="en-US" sz="1800" dirty="0">
                          <a:solidFill>
                            <a:schemeClr val="tx1"/>
                          </a:solidFill>
                          <a:effectLst/>
                          <a:latin typeface="Calibri"/>
                          <a:ea typeface="Calibri"/>
                          <a:cs typeface="Calibri"/>
                        </a:rPr>
                        <a:t>)</a:t>
                      </a:r>
                      <a:endParaRPr lang="en-US" sz="1800" dirty="0">
                        <a:solidFill>
                          <a:schemeClr val="tx1"/>
                        </a:solidFill>
                        <a:effectLst/>
                        <a:latin typeface="Arial"/>
                        <a:ea typeface="Arial"/>
                        <a:cs typeface="Calibri"/>
                      </a:endParaRPr>
                    </a:p>
                  </a:txBody>
                  <a:tcPr marL="73025" marR="73025" marT="36830" marB="368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00000"/>
                        </a:lnSpc>
                        <a:spcBef>
                          <a:spcPts val="0"/>
                        </a:spcBef>
                        <a:spcAft>
                          <a:spcPts val="0"/>
                        </a:spcAft>
                      </a:pPr>
                      <a:r>
                        <a:rPr lang="en-US" sz="2000" dirty="0" err="1">
                          <a:solidFill>
                            <a:srgbClr val="000000"/>
                          </a:solidFill>
                          <a:effectLst/>
                          <a:latin typeface="Calibri"/>
                          <a:ea typeface="Calibri"/>
                          <a:cs typeface="Calibri"/>
                        </a:rPr>
                        <a:t>ToNEAR</a:t>
                      </a:r>
                      <a:endParaRPr lang="en-US" sz="2000" dirty="0">
                        <a:solidFill>
                          <a:srgbClr val="000000"/>
                        </a:solidFill>
                        <a:effectLst/>
                        <a:latin typeface="Arial"/>
                        <a:ea typeface="Arial"/>
                        <a:cs typeface="Calibri"/>
                      </a:endParaRPr>
                    </a:p>
                  </a:txBody>
                  <a:tcPr marL="36576" marR="36576"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00000"/>
                        </a:lnSpc>
                        <a:spcBef>
                          <a:spcPts val="0"/>
                        </a:spcBef>
                        <a:spcAft>
                          <a:spcPts val="0"/>
                        </a:spcAft>
                      </a:pPr>
                      <a:r>
                        <a:rPr lang="en-US" sz="2000" dirty="0">
                          <a:solidFill>
                            <a:srgbClr val="000000"/>
                          </a:solidFill>
                          <a:effectLst/>
                          <a:latin typeface="Calibri"/>
                          <a:ea typeface="Calibri"/>
                          <a:cs typeface="Calibri"/>
                        </a:rPr>
                        <a:t>00</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00000"/>
                        </a:lnSpc>
                        <a:spcBef>
                          <a:spcPts val="0"/>
                        </a:spcBef>
                        <a:spcAft>
                          <a:spcPts val="0"/>
                        </a:spcAft>
                      </a:pPr>
                      <a:r>
                        <a:rPr lang="en-US" sz="2000" dirty="0">
                          <a:solidFill>
                            <a:srgbClr val="000000"/>
                          </a:solidFill>
                          <a:effectLst/>
                          <a:latin typeface="Calibri"/>
                          <a:ea typeface="Calibri"/>
                          <a:cs typeface="Calibri"/>
                        </a:rPr>
                        <a:t>-2</a:t>
                      </a:r>
                      <a:endParaRPr lang="en-US" sz="2000" dirty="0">
                        <a:solidFill>
                          <a:srgbClr val="000000"/>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00000"/>
                        </a:lnSpc>
                        <a:spcBef>
                          <a:spcPts val="0"/>
                        </a:spcBef>
                        <a:spcAft>
                          <a:spcPts val="0"/>
                        </a:spcAft>
                      </a:pPr>
                      <a:r>
                        <a:rPr lang="en-US" sz="2000" dirty="0">
                          <a:solidFill>
                            <a:srgbClr val="000000"/>
                          </a:solidFill>
                          <a:effectLst/>
                          <a:latin typeface="Calibri"/>
                          <a:ea typeface="Calibri"/>
                          <a:cs typeface="Calibri"/>
                        </a:rPr>
                        <a:t>-2</a:t>
                      </a:r>
                      <a:endParaRPr lang="en-US" sz="2000" dirty="0">
                        <a:solidFill>
                          <a:srgbClr val="000000"/>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00000"/>
                        </a:lnSpc>
                        <a:spcBef>
                          <a:spcPts val="0"/>
                        </a:spcBef>
                        <a:spcAft>
                          <a:spcPts val="0"/>
                        </a:spcAft>
                      </a:pPr>
                      <a:r>
                        <a:rPr lang="en-US" sz="2000" dirty="0">
                          <a:solidFill>
                            <a:srgbClr val="000000"/>
                          </a:solidFill>
                          <a:effectLst/>
                          <a:latin typeface="Calibri"/>
                          <a:ea typeface="Calibri"/>
                          <a:cs typeface="Calibri"/>
                        </a:rPr>
                        <a:t>+2</a:t>
                      </a:r>
                      <a:endParaRPr lang="en-US" sz="2000" dirty="0">
                        <a:solidFill>
                          <a:srgbClr val="000000"/>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00000"/>
                        </a:lnSpc>
                        <a:spcBef>
                          <a:spcPts val="0"/>
                        </a:spcBef>
                        <a:spcAft>
                          <a:spcPts val="0"/>
                        </a:spcAft>
                      </a:pPr>
                      <a:r>
                        <a:rPr lang="en-US" sz="2000" dirty="0">
                          <a:solidFill>
                            <a:srgbClr val="000000"/>
                          </a:solidFill>
                          <a:effectLst/>
                          <a:latin typeface="Calibri"/>
                          <a:ea typeface="Calibri"/>
                          <a:cs typeface="Calibri"/>
                        </a:rPr>
                        <a:t>+2</a:t>
                      </a:r>
                      <a:endParaRPr lang="en-US" sz="2000" dirty="0">
                        <a:solidFill>
                          <a:srgbClr val="000000"/>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0">
                <a:tc>
                  <a:txBody>
                    <a:bodyPr/>
                    <a:lstStyle/>
                    <a:p>
                      <a:pPr marL="0" marR="0">
                        <a:lnSpc>
                          <a:spcPct val="100000"/>
                        </a:lnSpc>
                        <a:spcBef>
                          <a:spcPts val="0"/>
                        </a:spcBef>
                        <a:spcAft>
                          <a:spcPts val="0"/>
                        </a:spcAft>
                      </a:pPr>
                      <a:r>
                        <a:rPr lang="en-US" sz="1800">
                          <a:solidFill>
                            <a:srgbClr val="000000"/>
                          </a:solidFill>
                          <a:effectLst/>
                          <a:latin typeface="Calibri"/>
                          <a:ea typeface="Calibri"/>
                          <a:cs typeface="Calibri"/>
                        </a:rPr>
                        <a:t>Round towards positive infinity</a:t>
                      </a:r>
                      <a:endParaRPr lang="en-US" sz="1800">
                        <a:solidFill>
                          <a:srgbClr val="000000"/>
                        </a:solidFill>
                        <a:effectLst/>
                        <a:latin typeface="Arial"/>
                        <a:ea typeface="Arial"/>
                        <a:cs typeface="Calibri"/>
                      </a:endParaRPr>
                    </a:p>
                  </a:txBody>
                  <a:tcPr marL="73025" marR="73025" marT="36830" marB="368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err="1">
                          <a:solidFill>
                            <a:srgbClr val="000000"/>
                          </a:solidFill>
                          <a:effectLst/>
                          <a:latin typeface="Calibri"/>
                          <a:ea typeface="Calibri"/>
                          <a:cs typeface="Calibri"/>
                        </a:rPr>
                        <a:t>ToPOSV</a:t>
                      </a:r>
                      <a:endParaRPr lang="en-US" sz="2000" dirty="0">
                        <a:solidFill>
                          <a:srgbClr val="000000"/>
                        </a:solidFill>
                        <a:effectLst/>
                        <a:latin typeface="Arial"/>
                        <a:ea typeface="Arial"/>
                        <a:cs typeface="Calibri"/>
                      </a:endParaRPr>
                    </a:p>
                  </a:txBody>
                  <a:tcPr marL="36576" marR="36576"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solidFill>
                            <a:srgbClr val="000000"/>
                          </a:solidFill>
                          <a:effectLst/>
                          <a:latin typeface="Calibri"/>
                          <a:ea typeface="Calibri"/>
                          <a:cs typeface="Calibri"/>
                        </a:rPr>
                        <a:t>01</a:t>
                      </a:r>
                      <a:endParaRPr lang="en-US" sz="2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solidFill>
                            <a:srgbClr val="000000"/>
                          </a:solidFill>
                          <a:effectLst/>
                          <a:latin typeface="Calibri"/>
                          <a:ea typeface="Calibri"/>
                          <a:cs typeface="Calibri"/>
                        </a:rPr>
                        <a:t>-2</a:t>
                      </a:r>
                      <a:endParaRPr lang="en-US" sz="2000" dirty="0">
                        <a:solidFill>
                          <a:srgbClr val="000000"/>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solidFill>
                            <a:srgbClr val="000000"/>
                          </a:solidFill>
                          <a:effectLst/>
                          <a:latin typeface="Calibri"/>
                          <a:ea typeface="Calibri"/>
                          <a:cs typeface="Calibri"/>
                        </a:rPr>
                        <a:t>-1</a:t>
                      </a:r>
                      <a:endParaRPr lang="en-US" sz="2000" dirty="0">
                        <a:solidFill>
                          <a:srgbClr val="000000"/>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solidFill>
                            <a:srgbClr val="000000"/>
                          </a:solidFill>
                          <a:effectLst/>
                          <a:latin typeface="Calibri"/>
                          <a:ea typeface="Calibri"/>
                          <a:cs typeface="Calibri"/>
                        </a:rPr>
                        <a:t>+2</a:t>
                      </a:r>
                      <a:endParaRPr lang="en-US" sz="2000" dirty="0">
                        <a:solidFill>
                          <a:srgbClr val="000000"/>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solidFill>
                            <a:srgbClr val="000000"/>
                          </a:solidFill>
                          <a:effectLst/>
                          <a:latin typeface="Calibri"/>
                          <a:ea typeface="Calibri"/>
                          <a:cs typeface="Calibri"/>
                        </a:rPr>
                        <a:t>+3</a:t>
                      </a:r>
                      <a:endParaRPr lang="en-US" sz="2000" dirty="0">
                        <a:solidFill>
                          <a:srgbClr val="000000"/>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marR="0">
                        <a:lnSpc>
                          <a:spcPct val="100000"/>
                        </a:lnSpc>
                        <a:spcBef>
                          <a:spcPts val="0"/>
                        </a:spcBef>
                        <a:spcAft>
                          <a:spcPts val="0"/>
                        </a:spcAft>
                      </a:pPr>
                      <a:r>
                        <a:rPr lang="en-US" sz="1800">
                          <a:solidFill>
                            <a:srgbClr val="000000"/>
                          </a:solidFill>
                          <a:effectLst/>
                          <a:latin typeface="Calibri"/>
                          <a:ea typeface="Calibri"/>
                          <a:cs typeface="Calibri"/>
                        </a:rPr>
                        <a:t>Round towards negative infinity</a:t>
                      </a:r>
                      <a:endParaRPr lang="en-US" sz="1800">
                        <a:solidFill>
                          <a:srgbClr val="000000"/>
                        </a:solidFill>
                        <a:effectLst/>
                        <a:latin typeface="Arial"/>
                        <a:ea typeface="Arial"/>
                        <a:cs typeface="Calibri"/>
                      </a:endParaRPr>
                    </a:p>
                  </a:txBody>
                  <a:tcPr marL="73025" marR="73025" marT="36830" marB="368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solidFill>
                            <a:srgbClr val="000000"/>
                          </a:solidFill>
                          <a:effectLst/>
                          <a:latin typeface="Calibri"/>
                          <a:ea typeface="Calibri"/>
                          <a:cs typeface="Calibri"/>
                        </a:rPr>
                        <a:t>ToNEGV</a:t>
                      </a:r>
                      <a:endParaRPr lang="en-US" sz="2000">
                        <a:solidFill>
                          <a:srgbClr val="000000"/>
                        </a:solidFill>
                        <a:effectLst/>
                        <a:latin typeface="Arial"/>
                        <a:ea typeface="Arial"/>
                        <a:cs typeface="Calibri"/>
                      </a:endParaRPr>
                    </a:p>
                  </a:txBody>
                  <a:tcPr marL="36576" marR="36576"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solidFill>
                            <a:srgbClr val="000000"/>
                          </a:solidFill>
                          <a:effectLst/>
                          <a:latin typeface="Calibri"/>
                          <a:ea typeface="Calibri"/>
                          <a:cs typeface="Calibri"/>
                        </a:rPr>
                        <a:t>10</a:t>
                      </a:r>
                      <a:endParaRPr lang="en-US" sz="200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solidFill>
                            <a:srgbClr val="000000"/>
                          </a:solidFill>
                          <a:effectLst/>
                          <a:latin typeface="Calibri"/>
                          <a:ea typeface="Calibri"/>
                          <a:cs typeface="Calibri"/>
                        </a:rPr>
                        <a:t>-3</a:t>
                      </a:r>
                      <a:endParaRPr lang="en-US" sz="2000" dirty="0">
                        <a:solidFill>
                          <a:srgbClr val="000000"/>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solidFill>
                            <a:srgbClr val="000000"/>
                          </a:solidFill>
                          <a:effectLst/>
                          <a:latin typeface="Calibri"/>
                          <a:ea typeface="Calibri"/>
                          <a:cs typeface="Calibri"/>
                        </a:rPr>
                        <a:t>-2</a:t>
                      </a:r>
                      <a:endParaRPr lang="en-US" sz="2000" dirty="0">
                        <a:solidFill>
                          <a:srgbClr val="000000"/>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solidFill>
                            <a:srgbClr val="000000"/>
                          </a:solidFill>
                          <a:effectLst/>
                          <a:latin typeface="Calibri"/>
                          <a:ea typeface="Calibri"/>
                          <a:cs typeface="Calibri"/>
                        </a:rPr>
                        <a:t>+1</a:t>
                      </a:r>
                      <a:endParaRPr lang="en-US" sz="2000" dirty="0">
                        <a:solidFill>
                          <a:srgbClr val="000000"/>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solidFill>
                            <a:srgbClr val="000000"/>
                          </a:solidFill>
                          <a:effectLst/>
                          <a:latin typeface="Calibri"/>
                          <a:ea typeface="Calibri"/>
                          <a:cs typeface="Calibri"/>
                        </a:rPr>
                        <a:t>+2</a:t>
                      </a:r>
                      <a:endParaRPr lang="en-US" sz="2000" dirty="0">
                        <a:solidFill>
                          <a:srgbClr val="000000"/>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marR="0">
                        <a:lnSpc>
                          <a:spcPct val="100000"/>
                        </a:lnSpc>
                        <a:spcBef>
                          <a:spcPts val="0"/>
                        </a:spcBef>
                        <a:spcAft>
                          <a:spcPts val="0"/>
                        </a:spcAft>
                      </a:pPr>
                      <a:r>
                        <a:rPr lang="en-US" sz="1800" dirty="0">
                          <a:solidFill>
                            <a:srgbClr val="000000"/>
                          </a:solidFill>
                          <a:effectLst/>
                          <a:latin typeface="Calibri"/>
                          <a:ea typeface="Calibri"/>
                          <a:cs typeface="Calibri"/>
                        </a:rPr>
                        <a:t>Round towards zero (</a:t>
                      </a:r>
                      <a:r>
                        <a:rPr lang="en-US" sz="1800" dirty="0">
                          <a:solidFill>
                            <a:srgbClr val="FF0000"/>
                          </a:solidFill>
                          <a:effectLst/>
                          <a:latin typeface="Calibri"/>
                          <a:ea typeface="Calibri"/>
                          <a:cs typeface="Calibri"/>
                        </a:rPr>
                        <a:t>truncate</a:t>
                      </a:r>
                      <a:r>
                        <a:rPr lang="en-US" sz="1800" dirty="0">
                          <a:solidFill>
                            <a:srgbClr val="000000"/>
                          </a:solidFill>
                          <a:effectLst/>
                          <a:latin typeface="Calibri"/>
                          <a:ea typeface="Calibri"/>
                          <a:cs typeface="Calibri"/>
                        </a:rPr>
                        <a:t>)</a:t>
                      </a:r>
                      <a:endParaRPr lang="en-US" sz="1800" dirty="0">
                        <a:solidFill>
                          <a:srgbClr val="000000"/>
                        </a:solidFill>
                        <a:effectLst/>
                        <a:latin typeface="Arial"/>
                        <a:ea typeface="Arial"/>
                        <a:cs typeface="Calibri"/>
                      </a:endParaRPr>
                    </a:p>
                  </a:txBody>
                  <a:tcPr marL="73025" marR="73025" marT="36830" marB="368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00000"/>
                        </a:lnSpc>
                        <a:spcBef>
                          <a:spcPts val="0"/>
                        </a:spcBef>
                        <a:spcAft>
                          <a:spcPts val="0"/>
                        </a:spcAft>
                      </a:pPr>
                      <a:r>
                        <a:rPr lang="en-US" sz="2000" dirty="0" err="1">
                          <a:solidFill>
                            <a:srgbClr val="000000"/>
                          </a:solidFill>
                          <a:effectLst/>
                          <a:latin typeface="Calibri"/>
                          <a:ea typeface="Calibri"/>
                          <a:cs typeface="Calibri"/>
                        </a:rPr>
                        <a:t>ToZERO</a:t>
                      </a:r>
                      <a:endParaRPr lang="en-US" sz="2000" dirty="0">
                        <a:solidFill>
                          <a:srgbClr val="000000"/>
                        </a:solidFill>
                        <a:effectLst/>
                        <a:latin typeface="Arial"/>
                        <a:ea typeface="Arial"/>
                        <a:cs typeface="Calibri"/>
                      </a:endParaRPr>
                    </a:p>
                  </a:txBody>
                  <a:tcPr marL="36576" marR="36576"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00000"/>
                        </a:lnSpc>
                        <a:spcBef>
                          <a:spcPts val="0"/>
                        </a:spcBef>
                        <a:spcAft>
                          <a:spcPts val="0"/>
                        </a:spcAft>
                      </a:pPr>
                      <a:r>
                        <a:rPr lang="en-US" sz="2000">
                          <a:solidFill>
                            <a:srgbClr val="000000"/>
                          </a:solidFill>
                          <a:effectLst/>
                          <a:latin typeface="Calibri"/>
                          <a:ea typeface="Calibri"/>
                          <a:cs typeface="Calibri"/>
                        </a:rPr>
                        <a:t>11</a:t>
                      </a:r>
                      <a:endParaRPr lang="en-US" sz="200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00000"/>
                        </a:lnSpc>
                        <a:spcBef>
                          <a:spcPts val="0"/>
                        </a:spcBef>
                        <a:spcAft>
                          <a:spcPts val="0"/>
                        </a:spcAft>
                      </a:pPr>
                      <a:r>
                        <a:rPr lang="en-US" sz="2000">
                          <a:solidFill>
                            <a:srgbClr val="000000"/>
                          </a:solidFill>
                          <a:effectLst/>
                          <a:latin typeface="Calibri"/>
                          <a:ea typeface="Calibri"/>
                          <a:cs typeface="Calibri"/>
                        </a:rPr>
                        <a:t>-2</a:t>
                      </a:r>
                      <a:endParaRPr lang="en-US" sz="2000">
                        <a:solidFill>
                          <a:srgbClr val="000000"/>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00000"/>
                        </a:lnSpc>
                        <a:spcBef>
                          <a:spcPts val="0"/>
                        </a:spcBef>
                        <a:spcAft>
                          <a:spcPts val="0"/>
                        </a:spcAft>
                      </a:pPr>
                      <a:r>
                        <a:rPr lang="en-US" sz="2000">
                          <a:solidFill>
                            <a:srgbClr val="000000"/>
                          </a:solidFill>
                          <a:effectLst/>
                          <a:latin typeface="Calibri"/>
                          <a:ea typeface="Calibri"/>
                          <a:cs typeface="Calibri"/>
                        </a:rPr>
                        <a:t>-1</a:t>
                      </a:r>
                      <a:endParaRPr lang="en-US" sz="2000">
                        <a:solidFill>
                          <a:srgbClr val="000000"/>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00000"/>
                        </a:lnSpc>
                        <a:spcBef>
                          <a:spcPts val="0"/>
                        </a:spcBef>
                        <a:spcAft>
                          <a:spcPts val="0"/>
                        </a:spcAft>
                      </a:pPr>
                      <a:r>
                        <a:rPr lang="en-US" sz="2000" dirty="0">
                          <a:solidFill>
                            <a:srgbClr val="000000"/>
                          </a:solidFill>
                          <a:effectLst/>
                          <a:latin typeface="Calibri"/>
                          <a:ea typeface="Calibri"/>
                          <a:cs typeface="Calibri"/>
                        </a:rPr>
                        <a:t>+1</a:t>
                      </a:r>
                      <a:endParaRPr lang="en-US" sz="2000" dirty="0">
                        <a:solidFill>
                          <a:srgbClr val="000000"/>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00000"/>
                        </a:lnSpc>
                        <a:spcBef>
                          <a:spcPts val="0"/>
                        </a:spcBef>
                        <a:spcAft>
                          <a:spcPts val="0"/>
                        </a:spcAft>
                      </a:pPr>
                      <a:r>
                        <a:rPr lang="en-US" sz="2000" dirty="0">
                          <a:solidFill>
                            <a:srgbClr val="000000"/>
                          </a:solidFill>
                          <a:effectLst/>
                          <a:latin typeface="Calibri"/>
                          <a:ea typeface="Calibri"/>
                          <a:cs typeface="Calibri"/>
                        </a:rPr>
                        <a:t>+2</a:t>
                      </a:r>
                      <a:endParaRPr lang="en-US" sz="2000" dirty="0">
                        <a:solidFill>
                          <a:srgbClr val="000000"/>
                        </a:solidFill>
                        <a:effectLst/>
                        <a:latin typeface="Arial"/>
                        <a:ea typeface="Arial"/>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5"/>
                  </a:ext>
                </a:extLst>
              </a:tr>
            </a:tbl>
          </a:graphicData>
        </a:graphic>
      </p:graphicFrame>
      <p:sp>
        <p:nvSpPr>
          <p:cNvPr id="3" name="Title 2"/>
          <p:cNvSpPr>
            <a:spLocks noGrp="1"/>
          </p:cNvSpPr>
          <p:nvPr>
            <p:ph type="title"/>
          </p:nvPr>
        </p:nvSpPr>
        <p:spPr>
          <a:xfrm>
            <a:off x="940526" y="734183"/>
            <a:ext cx="4577958" cy="683455"/>
          </a:xfrm>
        </p:spPr>
        <p:txBody>
          <a:bodyPr/>
          <a:lstStyle/>
          <a:p>
            <a:r>
              <a:rPr lang="en-US" dirty="0"/>
              <a:t>ROUNDING MODES</a:t>
            </a:r>
          </a:p>
        </p:txBody>
      </p:sp>
      <p:grpSp>
        <p:nvGrpSpPr>
          <p:cNvPr id="4" name="Group 3"/>
          <p:cNvGrpSpPr/>
          <p:nvPr/>
        </p:nvGrpSpPr>
        <p:grpSpPr>
          <a:xfrm>
            <a:off x="6799122" y="5493915"/>
            <a:ext cx="3981174" cy="1015663"/>
            <a:chOff x="1295401" y="4900863"/>
            <a:chExt cx="3981174" cy="1015663"/>
          </a:xfrm>
          <a:solidFill>
            <a:schemeClr val="accent4">
              <a:lumMod val="20000"/>
              <a:lumOff val="80000"/>
            </a:schemeClr>
          </a:solidFill>
        </p:grpSpPr>
        <p:sp>
          <p:nvSpPr>
            <p:cNvPr id="5" name="TextBox 4"/>
            <p:cNvSpPr txBox="1"/>
            <p:nvPr/>
          </p:nvSpPr>
          <p:spPr>
            <a:xfrm>
              <a:off x="1295401" y="4900863"/>
              <a:ext cx="3981174" cy="1015663"/>
            </a:xfrm>
            <a:prstGeom prst="rect">
              <a:avLst/>
            </a:prstGeom>
            <a:grpFill/>
            <a:ln/>
          </p:spPr>
          <p:style>
            <a:lnRef idx="1">
              <a:schemeClr val="accent2"/>
            </a:lnRef>
            <a:fillRef idx="2">
              <a:schemeClr val="accent2"/>
            </a:fillRef>
            <a:effectRef idx="1">
              <a:schemeClr val="accent2"/>
            </a:effectRef>
            <a:fontRef idx="minor">
              <a:schemeClr val="dk1"/>
            </a:fontRef>
          </p:style>
          <p:txBody>
            <a:bodyPr wrap="square" tIns="91440" bIns="91440" rtlCol="0">
              <a:spAutoFit/>
            </a:bodyPr>
            <a:lstStyle/>
            <a:p>
              <a:pPr marL="1027113"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Default:</a:t>
              </a:r>
            </a:p>
            <a:p>
              <a:pPr marL="1027113"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VCVT</a:t>
              </a: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R</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 uses </a:t>
              </a:r>
              <a:r>
                <a:rPr kumimoji="0" lang="en-US" sz="1800" b="0" i="0" u="none" strike="noStrike" kern="1200" cap="none" spc="0" normalizeH="0" baseline="0" noProof="0" dirty="0" err="1">
                  <a:ln>
                    <a:noFill/>
                  </a:ln>
                  <a:solidFill>
                    <a:srgbClr val="000000"/>
                  </a:solidFill>
                  <a:effectLst/>
                  <a:uLnTx/>
                  <a:uFillTx/>
                  <a:latin typeface="Arial" panose="020B0604020202020204"/>
                  <a:ea typeface="+mn-ea"/>
                  <a:cs typeface="+mn-cs"/>
                </a:rPr>
                <a:t>ToNEAR</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1027113"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VCVT uses </a:t>
              </a:r>
              <a:r>
                <a:rPr kumimoji="0" lang="en-US" sz="1800" b="0" i="0" u="none" strike="noStrike" kern="1200" cap="none" spc="0" normalizeH="0" baseline="0" noProof="0" dirty="0" err="1">
                  <a:ln>
                    <a:noFill/>
                  </a:ln>
                  <a:solidFill>
                    <a:srgbClr val="000000"/>
                  </a:solidFill>
                  <a:effectLst/>
                  <a:uLnTx/>
                  <a:uFillTx/>
                  <a:latin typeface="Arial" panose="020B0604020202020204"/>
                  <a:ea typeface="+mn-ea"/>
                  <a:cs typeface="+mn-cs"/>
                </a:rPr>
                <a:t>ToZERO</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6" name="Picture 4" descr="http://www.aamu.edu/campuslife/living-on-campus/residentialLife/SiteAssets/pages/default/Warning_sig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1323475" y="4953000"/>
              <a:ext cx="971826" cy="838200"/>
            </a:xfrm>
            <a:prstGeom prst="rect">
              <a:avLst/>
            </a:prstGeom>
            <a:grpFill/>
            <a:extLst>
              <a:ext uri="{909E8E84-426E-40dd-AFC4-6F175D3DCCD1}">
                <a14:hiddenFill xmlns:a14="http://schemas.microsoft.com/office/drawing/2010/main" xmlns="">
                  <a:solidFill>
                    <a:srgbClr val="FFFFFF"/>
                  </a:solidFill>
                </a14:hiddenFill>
              </a:ext>
            </a:extLst>
          </p:spPr>
        </p:pic>
      </p:grpSp>
      <p:grpSp>
        <p:nvGrpSpPr>
          <p:cNvPr id="7" name="Group 6"/>
          <p:cNvGrpSpPr/>
          <p:nvPr/>
        </p:nvGrpSpPr>
        <p:grpSpPr>
          <a:xfrm>
            <a:off x="2683860" y="5949433"/>
            <a:ext cx="3183540" cy="369332"/>
            <a:chOff x="1769460" y="4641509"/>
            <a:chExt cx="3183540" cy="369332"/>
          </a:xfrm>
        </p:grpSpPr>
        <p:cxnSp>
          <p:nvCxnSpPr>
            <p:cNvPr id="8" name="Straight Arrow Connector 7"/>
            <p:cNvCxnSpPr/>
            <p:nvPr/>
          </p:nvCxnSpPr>
          <p:spPr>
            <a:xfrm>
              <a:off x="1980050" y="4864268"/>
              <a:ext cx="2701949" cy="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200400" y="4641509"/>
              <a:ext cx="3129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0</a:t>
              </a:r>
            </a:p>
          </p:txBody>
        </p:sp>
        <p:sp>
          <p:nvSpPr>
            <p:cNvPr id="10" name="TextBox 9"/>
            <p:cNvSpPr txBox="1"/>
            <p:nvPr/>
          </p:nvSpPr>
          <p:spPr>
            <a:xfrm>
              <a:off x="1769460" y="4641509"/>
              <a:ext cx="26161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a:t>
              </a:r>
            </a:p>
          </p:txBody>
        </p:sp>
        <p:sp>
          <p:nvSpPr>
            <p:cNvPr id="11" name="TextBox 10"/>
            <p:cNvSpPr txBox="1"/>
            <p:nvPr/>
          </p:nvSpPr>
          <p:spPr>
            <a:xfrm>
              <a:off x="4681999" y="4641509"/>
              <a:ext cx="27100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a:t>
              </a:r>
            </a:p>
          </p:txBody>
        </p:sp>
      </p:grpSp>
    </p:spTree>
    <p:extLst>
      <p:ext uri="{BB962C8B-B14F-4D97-AF65-F5344CB8AC3E}">
        <p14:creationId xmlns:p14="http://schemas.microsoft.com/office/powerpoint/2010/main" val="8381282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438" y="729005"/>
            <a:ext cx="6257383" cy="791631"/>
          </a:xfrm>
        </p:spPr>
        <p:txBody>
          <a:bodyPr>
            <a:normAutofit fontScale="90000"/>
          </a:bodyPr>
          <a:lstStyle/>
          <a:p>
            <a:r>
              <a:rPr lang="en-US" dirty="0"/>
              <a:t>float versus int32_t </a:t>
            </a:r>
            <a:r>
              <a:rPr lang="en-US" dirty="0">
                <a:solidFill>
                  <a:srgbClr val="0066FF"/>
                </a:solidFill>
              </a:rPr>
              <a:t>POSITVE</a:t>
            </a:r>
          </a:p>
        </p:txBody>
      </p:sp>
      <p:graphicFrame>
        <p:nvGraphicFramePr>
          <p:cNvPr id="13" name="Table 12"/>
          <p:cNvGraphicFramePr>
            <a:graphicFrameLocks noGrp="1"/>
          </p:cNvGraphicFramePr>
          <p:nvPr/>
        </p:nvGraphicFramePr>
        <p:xfrm>
          <a:off x="1147009" y="3636540"/>
          <a:ext cx="9958143" cy="1193800"/>
        </p:xfrm>
        <a:graphic>
          <a:graphicData uri="http://schemas.openxmlformats.org/drawingml/2006/table">
            <a:tbl>
              <a:tblPr firstRow="1" bandRow="1">
                <a:tableStyleId>{5940675A-B579-460E-94D1-54222C63F5DA}</a:tableStyleId>
              </a:tblPr>
              <a:tblGrid>
                <a:gridCol w="311192">
                  <a:extLst>
                    <a:ext uri="{9D8B030D-6E8A-4147-A177-3AD203B41FA5}">
                      <a16:colId xmlns:a16="http://schemas.microsoft.com/office/drawing/2014/main" val="2501350769"/>
                    </a:ext>
                  </a:extLst>
                </a:gridCol>
                <a:gridCol w="334259">
                  <a:extLst>
                    <a:ext uri="{9D8B030D-6E8A-4147-A177-3AD203B41FA5}">
                      <a16:colId xmlns:a16="http://schemas.microsoft.com/office/drawing/2014/main" val="3349062796"/>
                    </a:ext>
                  </a:extLst>
                </a:gridCol>
                <a:gridCol w="288124">
                  <a:extLst>
                    <a:ext uri="{9D8B030D-6E8A-4147-A177-3AD203B41FA5}">
                      <a16:colId xmlns:a16="http://schemas.microsoft.com/office/drawing/2014/main" val="2322356487"/>
                    </a:ext>
                  </a:extLst>
                </a:gridCol>
                <a:gridCol w="311192">
                  <a:extLst>
                    <a:ext uri="{9D8B030D-6E8A-4147-A177-3AD203B41FA5}">
                      <a16:colId xmlns:a16="http://schemas.microsoft.com/office/drawing/2014/main" val="3124822370"/>
                    </a:ext>
                  </a:extLst>
                </a:gridCol>
                <a:gridCol w="311192">
                  <a:extLst>
                    <a:ext uri="{9D8B030D-6E8A-4147-A177-3AD203B41FA5}">
                      <a16:colId xmlns:a16="http://schemas.microsoft.com/office/drawing/2014/main" val="2892886046"/>
                    </a:ext>
                  </a:extLst>
                </a:gridCol>
                <a:gridCol w="311192">
                  <a:extLst>
                    <a:ext uri="{9D8B030D-6E8A-4147-A177-3AD203B41FA5}">
                      <a16:colId xmlns:a16="http://schemas.microsoft.com/office/drawing/2014/main" val="3193256877"/>
                    </a:ext>
                  </a:extLst>
                </a:gridCol>
                <a:gridCol w="311192">
                  <a:extLst>
                    <a:ext uri="{9D8B030D-6E8A-4147-A177-3AD203B41FA5}">
                      <a16:colId xmlns:a16="http://schemas.microsoft.com/office/drawing/2014/main" val="576756725"/>
                    </a:ext>
                  </a:extLst>
                </a:gridCol>
                <a:gridCol w="311192">
                  <a:extLst>
                    <a:ext uri="{9D8B030D-6E8A-4147-A177-3AD203B41FA5}">
                      <a16:colId xmlns:a16="http://schemas.microsoft.com/office/drawing/2014/main" val="3929931725"/>
                    </a:ext>
                  </a:extLst>
                </a:gridCol>
                <a:gridCol w="311192">
                  <a:extLst>
                    <a:ext uri="{9D8B030D-6E8A-4147-A177-3AD203B41FA5}">
                      <a16:colId xmlns:a16="http://schemas.microsoft.com/office/drawing/2014/main" val="2047873513"/>
                    </a:ext>
                  </a:extLst>
                </a:gridCol>
                <a:gridCol w="311192">
                  <a:extLst>
                    <a:ext uri="{9D8B030D-6E8A-4147-A177-3AD203B41FA5}">
                      <a16:colId xmlns:a16="http://schemas.microsoft.com/office/drawing/2014/main" val="632814679"/>
                    </a:ext>
                  </a:extLst>
                </a:gridCol>
                <a:gridCol w="311192">
                  <a:extLst>
                    <a:ext uri="{9D8B030D-6E8A-4147-A177-3AD203B41FA5}">
                      <a16:colId xmlns:a16="http://schemas.microsoft.com/office/drawing/2014/main" val="2862102919"/>
                    </a:ext>
                  </a:extLst>
                </a:gridCol>
                <a:gridCol w="311192">
                  <a:extLst>
                    <a:ext uri="{9D8B030D-6E8A-4147-A177-3AD203B41FA5}">
                      <a16:colId xmlns:a16="http://schemas.microsoft.com/office/drawing/2014/main" val="451823578"/>
                    </a:ext>
                  </a:extLst>
                </a:gridCol>
                <a:gridCol w="311192">
                  <a:extLst>
                    <a:ext uri="{9D8B030D-6E8A-4147-A177-3AD203B41FA5}">
                      <a16:colId xmlns:a16="http://schemas.microsoft.com/office/drawing/2014/main" val="4119153476"/>
                    </a:ext>
                  </a:extLst>
                </a:gridCol>
                <a:gridCol w="311192">
                  <a:extLst>
                    <a:ext uri="{9D8B030D-6E8A-4147-A177-3AD203B41FA5}">
                      <a16:colId xmlns:a16="http://schemas.microsoft.com/office/drawing/2014/main" val="2935761772"/>
                    </a:ext>
                  </a:extLst>
                </a:gridCol>
                <a:gridCol w="311192">
                  <a:extLst>
                    <a:ext uri="{9D8B030D-6E8A-4147-A177-3AD203B41FA5}">
                      <a16:colId xmlns:a16="http://schemas.microsoft.com/office/drawing/2014/main" val="1735474298"/>
                    </a:ext>
                  </a:extLst>
                </a:gridCol>
                <a:gridCol w="311192">
                  <a:extLst>
                    <a:ext uri="{9D8B030D-6E8A-4147-A177-3AD203B41FA5}">
                      <a16:colId xmlns:a16="http://schemas.microsoft.com/office/drawing/2014/main" val="4214739541"/>
                    </a:ext>
                  </a:extLst>
                </a:gridCol>
                <a:gridCol w="311192">
                  <a:extLst>
                    <a:ext uri="{9D8B030D-6E8A-4147-A177-3AD203B41FA5}">
                      <a16:colId xmlns:a16="http://schemas.microsoft.com/office/drawing/2014/main" val="407833324"/>
                    </a:ext>
                  </a:extLst>
                </a:gridCol>
                <a:gridCol w="311192">
                  <a:extLst>
                    <a:ext uri="{9D8B030D-6E8A-4147-A177-3AD203B41FA5}">
                      <a16:colId xmlns:a16="http://schemas.microsoft.com/office/drawing/2014/main" val="372611213"/>
                    </a:ext>
                  </a:extLst>
                </a:gridCol>
                <a:gridCol w="311192">
                  <a:extLst>
                    <a:ext uri="{9D8B030D-6E8A-4147-A177-3AD203B41FA5}">
                      <a16:colId xmlns:a16="http://schemas.microsoft.com/office/drawing/2014/main" val="3644415226"/>
                    </a:ext>
                  </a:extLst>
                </a:gridCol>
                <a:gridCol w="311192">
                  <a:extLst>
                    <a:ext uri="{9D8B030D-6E8A-4147-A177-3AD203B41FA5}">
                      <a16:colId xmlns:a16="http://schemas.microsoft.com/office/drawing/2014/main" val="3282145197"/>
                    </a:ext>
                  </a:extLst>
                </a:gridCol>
                <a:gridCol w="311192">
                  <a:extLst>
                    <a:ext uri="{9D8B030D-6E8A-4147-A177-3AD203B41FA5}">
                      <a16:colId xmlns:a16="http://schemas.microsoft.com/office/drawing/2014/main" val="407434176"/>
                    </a:ext>
                  </a:extLst>
                </a:gridCol>
                <a:gridCol w="311192">
                  <a:extLst>
                    <a:ext uri="{9D8B030D-6E8A-4147-A177-3AD203B41FA5}">
                      <a16:colId xmlns:a16="http://schemas.microsoft.com/office/drawing/2014/main" val="2552326724"/>
                    </a:ext>
                  </a:extLst>
                </a:gridCol>
                <a:gridCol w="311192">
                  <a:extLst>
                    <a:ext uri="{9D8B030D-6E8A-4147-A177-3AD203B41FA5}">
                      <a16:colId xmlns:a16="http://schemas.microsoft.com/office/drawing/2014/main" val="4216009349"/>
                    </a:ext>
                  </a:extLst>
                </a:gridCol>
                <a:gridCol w="311192">
                  <a:extLst>
                    <a:ext uri="{9D8B030D-6E8A-4147-A177-3AD203B41FA5}">
                      <a16:colId xmlns:a16="http://schemas.microsoft.com/office/drawing/2014/main" val="2016062041"/>
                    </a:ext>
                  </a:extLst>
                </a:gridCol>
                <a:gridCol w="311192">
                  <a:extLst>
                    <a:ext uri="{9D8B030D-6E8A-4147-A177-3AD203B41FA5}">
                      <a16:colId xmlns:a16="http://schemas.microsoft.com/office/drawing/2014/main" val="3565272988"/>
                    </a:ext>
                  </a:extLst>
                </a:gridCol>
                <a:gridCol w="311192">
                  <a:extLst>
                    <a:ext uri="{9D8B030D-6E8A-4147-A177-3AD203B41FA5}">
                      <a16:colId xmlns:a16="http://schemas.microsoft.com/office/drawing/2014/main" val="1936296527"/>
                    </a:ext>
                  </a:extLst>
                </a:gridCol>
                <a:gridCol w="311192">
                  <a:extLst>
                    <a:ext uri="{9D8B030D-6E8A-4147-A177-3AD203B41FA5}">
                      <a16:colId xmlns:a16="http://schemas.microsoft.com/office/drawing/2014/main" val="160326010"/>
                    </a:ext>
                  </a:extLst>
                </a:gridCol>
                <a:gridCol w="311192">
                  <a:extLst>
                    <a:ext uri="{9D8B030D-6E8A-4147-A177-3AD203B41FA5}">
                      <a16:colId xmlns:a16="http://schemas.microsoft.com/office/drawing/2014/main" val="856095501"/>
                    </a:ext>
                  </a:extLst>
                </a:gridCol>
                <a:gridCol w="311192">
                  <a:extLst>
                    <a:ext uri="{9D8B030D-6E8A-4147-A177-3AD203B41FA5}">
                      <a16:colId xmlns:a16="http://schemas.microsoft.com/office/drawing/2014/main" val="110658166"/>
                    </a:ext>
                  </a:extLst>
                </a:gridCol>
                <a:gridCol w="311192">
                  <a:extLst>
                    <a:ext uri="{9D8B030D-6E8A-4147-A177-3AD203B41FA5}">
                      <a16:colId xmlns:a16="http://schemas.microsoft.com/office/drawing/2014/main" val="1665178638"/>
                    </a:ext>
                  </a:extLst>
                </a:gridCol>
                <a:gridCol w="311192">
                  <a:extLst>
                    <a:ext uri="{9D8B030D-6E8A-4147-A177-3AD203B41FA5}">
                      <a16:colId xmlns:a16="http://schemas.microsoft.com/office/drawing/2014/main" val="3318507392"/>
                    </a:ext>
                  </a:extLst>
                </a:gridCol>
                <a:gridCol w="311192">
                  <a:extLst>
                    <a:ext uri="{9D8B030D-6E8A-4147-A177-3AD203B41FA5}">
                      <a16:colId xmlns:a16="http://schemas.microsoft.com/office/drawing/2014/main" val="3795560285"/>
                    </a:ext>
                  </a:extLst>
                </a:gridCol>
              </a:tblGrid>
              <a:tr h="370840">
                <a:tc>
                  <a:txBody>
                    <a:bodyPr/>
                    <a:lstStyle/>
                    <a:p>
                      <a:pPr algn="ctr"/>
                      <a:r>
                        <a:rPr lang="en-US" sz="1600" dirty="0"/>
                        <a:t>31</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30</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6">
                  <a:txBody>
                    <a:bodyPr/>
                    <a:lstStyle/>
                    <a:p>
                      <a:pPr algn="ctr"/>
                      <a:r>
                        <a:rPr lang="en-US" sz="2400" i="1" dirty="0"/>
                        <a:t>excess 127 exponent</a:t>
                      </a:r>
                      <a:endParaRPr lang="en-US" sz="1600" i="1"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23</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22</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1">
                  <a:txBody>
                    <a:bodyPr/>
                    <a:lstStyle/>
                    <a:p>
                      <a:pPr algn="ctr"/>
                      <a:r>
                        <a:rPr lang="en-US" sz="2400" i="1" dirty="0"/>
                        <a:t>significand</a:t>
                      </a:r>
                      <a:endParaRPr lang="en-US" sz="1600" i="1"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0</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2346665"/>
                  </a:ext>
                </a:extLst>
              </a:tr>
              <a:tr h="370840">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335249"/>
                  </a:ext>
                </a:extLst>
              </a:tr>
            </a:tbl>
          </a:graphicData>
        </a:graphic>
      </p:graphicFrame>
      <p:graphicFrame>
        <p:nvGraphicFramePr>
          <p:cNvPr id="14" name="Table 13"/>
          <p:cNvGraphicFramePr>
            <a:graphicFrameLocks noGrp="1"/>
          </p:cNvGraphicFramePr>
          <p:nvPr/>
        </p:nvGraphicFramePr>
        <p:xfrm>
          <a:off x="1147008" y="1524000"/>
          <a:ext cx="9958143" cy="949960"/>
        </p:xfrm>
        <a:graphic>
          <a:graphicData uri="http://schemas.openxmlformats.org/drawingml/2006/table">
            <a:tbl>
              <a:tblPr firstRow="1" bandRow="1">
                <a:tableStyleId>{5940675A-B579-460E-94D1-54222C63F5DA}</a:tableStyleId>
              </a:tblPr>
              <a:tblGrid>
                <a:gridCol w="311192">
                  <a:extLst>
                    <a:ext uri="{9D8B030D-6E8A-4147-A177-3AD203B41FA5}">
                      <a16:colId xmlns:a16="http://schemas.microsoft.com/office/drawing/2014/main" val="2501350769"/>
                    </a:ext>
                  </a:extLst>
                </a:gridCol>
                <a:gridCol w="334259">
                  <a:extLst>
                    <a:ext uri="{9D8B030D-6E8A-4147-A177-3AD203B41FA5}">
                      <a16:colId xmlns:a16="http://schemas.microsoft.com/office/drawing/2014/main" val="3349062796"/>
                    </a:ext>
                  </a:extLst>
                </a:gridCol>
                <a:gridCol w="288124">
                  <a:extLst>
                    <a:ext uri="{9D8B030D-6E8A-4147-A177-3AD203B41FA5}">
                      <a16:colId xmlns:a16="http://schemas.microsoft.com/office/drawing/2014/main" val="2322356487"/>
                    </a:ext>
                  </a:extLst>
                </a:gridCol>
                <a:gridCol w="311192">
                  <a:extLst>
                    <a:ext uri="{9D8B030D-6E8A-4147-A177-3AD203B41FA5}">
                      <a16:colId xmlns:a16="http://schemas.microsoft.com/office/drawing/2014/main" val="3124822370"/>
                    </a:ext>
                  </a:extLst>
                </a:gridCol>
                <a:gridCol w="311192">
                  <a:extLst>
                    <a:ext uri="{9D8B030D-6E8A-4147-A177-3AD203B41FA5}">
                      <a16:colId xmlns:a16="http://schemas.microsoft.com/office/drawing/2014/main" val="2892886046"/>
                    </a:ext>
                  </a:extLst>
                </a:gridCol>
                <a:gridCol w="311192">
                  <a:extLst>
                    <a:ext uri="{9D8B030D-6E8A-4147-A177-3AD203B41FA5}">
                      <a16:colId xmlns:a16="http://schemas.microsoft.com/office/drawing/2014/main" val="3193256877"/>
                    </a:ext>
                  </a:extLst>
                </a:gridCol>
                <a:gridCol w="311192">
                  <a:extLst>
                    <a:ext uri="{9D8B030D-6E8A-4147-A177-3AD203B41FA5}">
                      <a16:colId xmlns:a16="http://schemas.microsoft.com/office/drawing/2014/main" val="576756725"/>
                    </a:ext>
                  </a:extLst>
                </a:gridCol>
                <a:gridCol w="311192">
                  <a:extLst>
                    <a:ext uri="{9D8B030D-6E8A-4147-A177-3AD203B41FA5}">
                      <a16:colId xmlns:a16="http://schemas.microsoft.com/office/drawing/2014/main" val="3929931725"/>
                    </a:ext>
                  </a:extLst>
                </a:gridCol>
                <a:gridCol w="311192">
                  <a:extLst>
                    <a:ext uri="{9D8B030D-6E8A-4147-A177-3AD203B41FA5}">
                      <a16:colId xmlns:a16="http://schemas.microsoft.com/office/drawing/2014/main" val="2047873513"/>
                    </a:ext>
                  </a:extLst>
                </a:gridCol>
                <a:gridCol w="311192">
                  <a:extLst>
                    <a:ext uri="{9D8B030D-6E8A-4147-A177-3AD203B41FA5}">
                      <a16:colId xmlns:a16="http://schemas.microsoft.com/office/drawing/2014/main" val="632814679"/>
                    </a:ext>
                  </a:extLst>
                </a:gridCol>
                <a:gridCol w="311192">
                  <a:extLst>
                    <a:ext uri="{9D8B030D-6E8A-4147-A177-3AD203B41FA5}">
                      <a16:colId xmlns:a16="http://schemas.microsoft.com/office/drawing/2014/main" val="2862102919"/>
                    </a:ext>
                  </a:extLst>
                </a:gridCol>
                <a:gridCol w="311192">
                  <a:extLst>
                    <a:ext uri="{9D8B030D-6E8A-4147-A177-3AD203B41FA5}">
                      <a16:colId xmlns:a16="http://schemas.microsoft.com/office/drawing/2014/main" val="451823578"/>
                    </a:ext>
                  </a:extLst>
                </a:gridCol>
                <a:gridCol w="311192">
                  <a:extLst>
                    <a:ext uri="{9D8B030D-6E8A-4147-A177-3AD203B41FA5}">
                      <a16:colId xmlns:a16="http://schemas.microsoft.com/office/drawing/2014/main" val="4119153476"/>
                    </a:ext>
                  </a:extLst>
                </a:gridCol>
                <a:gridCol w="311192">
                  <a:extLst>
                    <a:ext uri="{9D8B030D-6E8A-4147-A177-3AD203B41FA5}">
                      <a16:colId xmlns:a16="http://schemas.microsoft.com/office/drawing/2014/main" val="2935761772"/>
                    </a:ext>
                  </a:extLst>
                </a:gridCol>
                <a:gridCol w="311192">
                  <a:extLst>
                    <a:ext uri="{9D8B030D-6E8A-4147-A177-3AD203B41FA5}">
                      <a16:colId xmlns:a16="http://schemas.microsoft.com/office/drawing/2014/main" val="1735474298"/>
                    </a:ext>
                  </a:extLst>
                </a:gridCol>
                <a:gridCol w="311192">
                  <a:extLst>
                    <a:ext uri="{9D8B030D-6E8A-4147-A177-3AD203B41FA5}">
                      <a16:colId xmlns:a16="http://schemas.microsoft.com/office/drawing/2014/main" val="4214739541"/>
                    </a:ext>
                  </a:extLst>
                </a:gridCol>
                <a:gridCol w="311192">
                  <a:extLst>
                    <a:ext uri="{9D8B030D-6E8A-4147-A177-3AD203B41FA5}">
                      <a16:colId xmlns:a16="http://schemas.microsoft.com/office/drawing/2014/main" val="407833324"/>
                    </a:ext>
                  </a:extLst>
                </a:gridCol>
                <a:gridCol w="311192">
                  <a:extLst>
                    <a:ext uri="{9D8B030D-6E8A-4147-A177-3AD203B41FA5}">
                      <a16:colId xmlns:a16="http://schemas.microsoft.com/office/drawing/2014/main" val="372611213"/>
                    </a:ext>
                  </a:extLst>
                </a:gridCol>
                <a:gridCol w="311192">
                  <a:extLst>
                    <a:ext uri="{9D8B030D-6E8A-4147-A177-3AD203B41FA5}">
                      <a16:colId xmlns:a16="http://schemas.microsoft.com/office/drawing/2014/main" val="3644415226"/>
                    </a:ext>
                  </a:extLst>
                </a:gridCol>
                <a:gridCol w="311192">
                  <a:extLst>
                    <a:ext uri="{9D8B030D-6E8A-4147-A177-3AD203B41FA5}">
                      <a16:colId xmlns:a16="http://schemas.microsoft.com/office/drawing/2014/main" val="3282145197"/>
                    </a:ext>
                  </a:extLst>
                </a:gridCol>
                <a:gridCol w="311192">
                  <a:extLst>
                    <a:ext uri="{9D8B030D-6E8A-4147-A177-3AD203B41FA5}">
                      <a16:colId xmlns:a16="http://schemas.microsoft.com/office/drawing/2014/main" val="407434176"/>
                    </a:ext>
                  </a:extLst>
                </a:gridCol>
                <a:gridCol w="311192">
                  <a:extLst>
                    <a:ext uri="{9D8B030D-6E8A-4147-A177-3AD203B41FA5}">
                      <a16:colId xmlns:a16="http://schemas.microsoft.com/office/drawing/2014/main" val="2552326724"/>
                    </a:ext>
                  </a:extLst>
                </a:gridCol>
                <a:gridCol w="311192">
                  <a:extLst>
                    <a:ext uri="{9D8B030D-6E8A-4147-A177-3AD203B41FA5}">
                      <a16:colId xmlns:a16="http://schemas.microsoft.com/office/drawing/2014/main" val="4216009349"/>
                    </a:ext>
                  </a:extLst>
                </a:gridCol>
                <a:gridCol w="311192">
                  <a:extLst>
                    <a:ext uri="{9D8B030D-6E8A-4147-A177-3AD203B41FA5}">
                      <a16:colId xmlns:a16="http://schemas.microsoft.com/office/drawing/2014/main" val="2016062041"/>
                    </a:ext>
                  </a:extLst>
                </a:gridCol>
                <a:gridCol w="311192">
                  <a:extLst>
                    <a:ext uri="{9D8B030D-6E8A-4147-A177-3AD203B41FA5}">
                      <a16:colId xmlns:a16="http://schemas.microsoft.com/office/drawing/2014/main" val="3565272988"/>
                    </a:ext>
                  </a:extLst>
                </a:gridCol>
                <a:gridCol w="311192">
                  <a:extLst>
                    <a:ext uri="{9D8B030D-6E8A-4147-A177-3AD203B41FA5}">
                      <a16:colId xmlns:a16="http://schemas.microsoft.com/office/drawing/2014/main" val="1936296527"/>
                    </a:ext>
                  </a:extLst>
                </a:gridCol>
                <a:gridCol w="311192">
                  <a:extLst>
                    <a:ext uri="{9D8B030D-6E8A-4147-A177-3AD203B41FA5}">
                      <a16:colId xmlns:a16="http://schemas.microsoft.com/office/drawing/2014/main" val="160326010"/>
                    </a:ext>
                  </a:extLst>
                </a:gridCol>
                <a:gridCol w="311192">
                  <a:extLst>
                    <a:ext uri="{9D8B030D-6E8A-4147-A177-3AD203B41FA5}">
                      <a16:colId xmlns:a16="http://schemas.microsoft.com/office/drawing/2014/main" val="856095501"/>
                    </a:ext>
                  </a:extLst>
                </a:gridCol>
                <a:gridCol w="311192">
                  <a:extLst>
                    <a:ext uri="{9D8B030D-6E8A-4147-A177-3AD203B41FA5}">
                      <a16:colId xmlns:a16="http://schemas.microsoft.com/office/drawing/2014/main" val="110658166"/>
                    </a:ext>
                  </a:extLst>
                </a:gridCol>
                <a:gridCol w="311192">
                  <a:extLst>
                    <a:ext uri="{9D8B030D-6E8A-4147-A177-3AD203B41FA5}">
                      <a16:colId xmlns:a16="http://schemas.microsoft.com/office/drawing/2014/main" val="1665178638"/>
                    </a:ext>
                  </a:extLst>
                </a:gridCol>
                <a:gridCol w="311192">
                  <a:extLst>
                    <a:ext uri="{9D8B030D-6E8A-4147-A177-3AD203B41FA5}">
                      <a16:colId xmlns:a16="http://schemas.microsoft.com/office/drawing/2014/main" val="3318507392"/>
                    </a:ext>
                  </a:extLst>
                </a:gridCol>
                <a:gridCol w="311192">
                  <a:extLst>
                    <a:ext uri="{9D8B030D-6E8A-4147-A177-3AD203B41FA5}">
                      <a16:colId xmlns:a16="http://schemas.microsoft.com/office/drawing/2014/main" val="3795560285"/>
                    </a:ext>
                  </a:extLst>
                </a:gridCol>
              </a:tblGrid>
              <a:tr h="370840">
                <a:tc>
                  <a:txBody>
                    <a:bodyPr/>
                    <a:lstStyle/>
                    <a:p>
                      <a:pPr algn="ctr"/>
                      <a:r>
                        <a:rPr lang="en-US" sz="1600" dirty="0"/>
                        <a:t>31</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0</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275902"/>
                  </a:ext>
                </a:extLst>
              </a:tr>
              <a:tr h="370840">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335249"/>
                  </a:ext>
                </a:extLst>
              </a:tr>
            </a:tbl>
          </a:graphicData>
        </a:graphic>
      </p:graphicFrame>
      <p:sp>
        <p:nvSpPr>
          <p:cNvPr id="15" name="TextBox 14"/>
          <p:cNvSpPr txBox="1"/>
          <p:nvPr/>
        </p:nvSpPr>
        <p:spPr>
          <a:xfrm>
            <a:off x="1548949" y="3051846"/>
            <a:ext cx="803464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float x = +1000.5 ; // or +(000001111101000.1</a:t>
            </a:r>
            <a:r>
              <a:rPr kumimoji="0" lang="en-US" sz="2400" b="0" i="0" u="none" strike="noStrike" kern="1200" cap="none" spc="0" normalizeH="0" baseline="-25000" noProof="0" dirty="0">
                <a:ln>
                  <a:noFill/>
                </a:ln>
                <a:solidFill>
                  <a:srgbClr val="000000"/>
                </a:solidFill>
                <a:effectLst/>
                <a:uLnTx/>
                <a:uFillTx/>
                <a:latin typeface="Consolas" panose="020B0609020204030204" pitchFamily="49" charset="0"/>
                <a:ea typeface="+mn-ea"/>
                <a:cs typeface="+mn-cs"/>
              </a:rPr>
              <a:t>2)</a:t>
            </a:r>
          </a:p>
        </p:txBody>
      </p:sp>
      <p:sp>
        <p:nvSpPr>
          <p:cNvPr id="16" name="TextBox 15"/>
          <p:cNvSpPr txBox="1"/>
          <p:nvPr/>
        </p:nvSpPr>
        <p:spPr>
          <a:xfrm>
            <a:off x="4381484" y="1590025"/>
            <a:ext cx="34290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int32_t y = +1000 ;</a:t>
            </a:r>
          </a:p>
        </p:txBody>
      </p:sp>
      <p:sp>
        <p:nvSpPr>
          <p:cNvPr id="20" name="Left Brace 19"/>
          <p:cNvSpPr/>
          <p:nvPr/>
        </p:nvSpPr>
        <p:spPr>
          <a:xfrm rot="16200000">
            <a:off x="2361026" y="3622149"/>
            <a:ext cx="351260" cy="2779297"/>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 name="Left Brace 20"/>
          <p:cNvSpPr/>
          <p:nvPr/>
        </p:nvSpPr>
        <p:spPr>
          <a:xfrm rot="16200000">
            <a:off x="7341085" y="1417531"/>
            <a:ext cx="349290" cy="7178847"/>
          </a:xfrm>
          <a:prstGeom prst="leftBrace">
            <a:avLst>
              <a:gd name="adj1" fmla="val 45075"/>
              <a:gd name="adj2" fmla="val 5000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2" name="TextBox 21"/>
          <p:cNvSpPr txBox="1"/>
          <p:nvPr/>
        </p:nvSpPr>
        <p:spPr>
          <a:xfrm>
            <a:off x="2792782" y="5100936"/>
            <a:ext cx="9906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136</a:t>
            </a:r>
            <a:r>
              <a:rPr kumimoji="0" lang="en-US" sz="2400" b="0" i="0" u="none" strike="noStrike" kern="1200" cap="none" spc="0" normalizeH="0" baseline="-25000" noProof="0" dirty="0">
                <a:ln>
                  <a:noFill/>
                </a:ln>
                <a:solidFill>
                  <a:srgbClr val="000000"/>
                </a:solidFill>
                <a:effectLst/>
                <a:uLnTx/>
                <a:uFillTx/>
                <a:latin typeface="Arial" panose="020B0604020202020204"/>
                <a:ea typeface="+mn-ea"/>
                <a:cs typeface="+mn-cs"/>
              </a:rPr>
              <a:t>10</a:t>
            </a:r>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3" name="Rectangle 22"/>
          <p:cNvSpPr/>
          <p:nvPr/>
        </p:nvSpPr>
        <p:spPr>
          <a:xfrm>
            <a:off x="6609846" y="5204643"/>
            <a:ext cx="1890873"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1111010001</a:t>
            </a:r>
          </a:p>
        </p:txBody>
      </p:sp>
      <p:sp>
        <p:nvSpPr>
          <p:cNvPr id="24" name="Rectangle 23"/>
          <p:cNvSpPr/>
          <p:nvPr/>
        </p:nvSpPr>
        <p:spPr>
          <a:xfrm>
            <a:off x="4124417" y="5786736"/>
            <a:ext cx="6234848"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 value</a:t>
            </a:r>
            <a:r>
              <a:rPr kumimoji="0" lang="en-US" sz="2400" b="0" i="0" u="none" strike="noStrike" kern="1200" cap="none" spc="0" normalizeH="0" baseline="-25000" noProof="0" dirty="0">
                <a:ln>
                  <a:noFill/>
                </a:ln>
                <a:solidFill>
                  <a:srgbClr val="000000"/>
                </a:solidFill>
                <a:effectLst/>
                <a:uLnTx/>
                <a:uFillTx/>
                <a:latin typeface="Arial" panose="020B0604020202020204"/>
                <a:ea typeface="+mn-ea"/>
                <a:cs typeface="+mn-cs"/>
              </a:rPr>
              <a:t>2</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 = + 1.1111010001 × 2</a:t>
            </a:r>
            <a:r>
              <a:rPr kumimoji="0" lang="en-US" sz="2400" b="0" i="0" u="none" strike="noStrike" kern="1200" cap="none" spc="0" normalizeH="0" baseline="30000" noProof="0" dirty="0">
                <a:ln>
                  <a:noFill/>
                </a:ln>
                <a:solidFill>
                  <a:srgbClr val="000000"/>
                </a:solidFill>
                <a:effectLst/>
                <a:uLnTx/>
                <a:uFillTx/>
                <a:latin typeface="Arial" panose="020B0604020202020204"/>
                <a:ea typeface="+mn-ea"/>
                <a:cs typeface="+mn-cs"/>
              </a:rPr>
              <a:t>9 </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  or (1000.5</a:t>
            </a:r>
            <a:r>
              <a:rPr kumimoji="0" lang="en-US" sz="2400" b="0" i="0" u="none" strike="noStrike" kern="1200" cap="none" spc="0" normalizeH="0" baseline="-25000" noProof="0" dirty="0">
                <a:ln>
                  <a:noFill/>
                </a:ln>
                <a:solidFill>
                  <a:srgbClr val="000000"/>
                </a:solidFill>
                <a:effectLst/>
                <a:uLnTx/>
                <a:uFillTx/>
                <a:latin typeface="Arial" panose="020B0604020202020204"/>
                <a:ea typeface="+mn-ea"/>
                <a:cs typeface="+mn-cs"/>
              </a:rPr>
              <a:t>10</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a:t>
            </a:r>
            <a:endParaRPr kumimoji="0" lang="en-US" sz="2400" b="0" i="0" u="none" strike="noStrike" kern="1200" cap="none" spc="0" normalizeH="0" baseline="-25000" noProof="0" dirty="0">
              <a:ln>
                <a:noFill/>
              </a:ln>
              <a:solidFill>
                <a:srgbClr val="000000"/>
              </a:solidFill>
              <a:effectLst/>
              <a:uLnTx/>
              <a:uFillTx/>
              <a:latin typeface="Arial" panose="020B0604020202020204"/>
              <a:ea typeface="+mn-ea"/>
              <a:cs typeface="+mn-cs"/>
            </a:endParaRPr>
          </a:p>
        </p:txBody>
      </p:sp>
      <p:sp>
        <p:nvSpPr>
          <p:cNvPr id="3" name="Rectangle 2"/>
          <p:cNvSpPr/>
          <p:nvPr/>
        </p:nvSpPr>
        <p:spPr>
          <a:xfrm>
            <a:off x="8431169" y="3674864"/>
            <a:ext cx="2764346"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VCVT.</a:t>
            </a:r>
            <a:r>
              <a:rPr kumimoji="0" lang="en-US" sz="2000" b="1" i="0" u="none" strike="noStrike" kern="1200" cap="none" spc="0" normalizeH="0" baseline="0" noProof="0" dirty="0">
                <a:ln>
                  <a:noFill/>
                </a:ln>
                <a:solidFill>
                  <a:srgbClr val="FF0000"/>
                </a:solidFill>
                <a:effectLst/>
                <a:uLnTx/>
                <a:uFillTx/>
                <a:latin typeface="Arial" panose="020B0604020202020204"/>
                <a:ea typeface="+mn-ea"/>
                <a:cs typeface="+mn-cs"/>
              </a:rPr>
              <a:t>S32</a:t>
            </a: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a:t>
            </a:r>
            <a:r>
              <a:rPr kumimoji="0" lang="en-US" sz="2000" b="1" i="0" u="none" strike="noStrike" kern="1200" cap="none" spc="0" normalizeH="0" baseline="0" noProof="0" dirty="0">
                <a:ln>
                  <a:noFill/>
                </a:ln>
                <a:solidFill>
                  <a:srgbClr val="00B0F0"/>
                </a:solidFill>
                <a:effectLst/>
                <a:uLnTx/>
                <a:uFillTx/>
                <a:latin typeface="Arial" panose="020B0604020202020204"/>
                <a:ea typeface="+mn-ea"/>
                <a:cs typeface="+mn-cs"/>
              </a:rPr>
              <a:t>F32</a:t>
            </a: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2000" b="1" i="0" u="none" strike="noStrike" kern="1200" cap="none" spc="0" normalizeH="0" baseline="0" noProof="0" dirty="0">
                <a:ln>
                  <a:noFill/>
                </a:ln>
                <a:solidFill>
                  <a:srgbClr val="FF0000"/>
                </a:solidFill>
                <a:effectLst/>
                <a:uLnTx/>
                <a:uFillTx/>
                <a:latin typeface="Arial" panose="020B0604020202020204"/>
                <a:ea typeface="+mn-ea"/>
                <a:cs typeface="+mn-cs"/>
              </a:rPr>
              <a:t>S</a:t>
            </a:r>
            <a:r>
              <a:rPr kumimoji="0" lang="en-US" sz="2000" b="1" i="0" u="none" strike="noStrike" kern="1200" cap="none" spc="0" normalizeH="0" baseline="-25000" noProof="0" dirty="0">
                <a:ln>
                  <a:noFill/>
                </a:ln>
                <a:solidFill>
                  <a:srgbClr val="FF0000"/>
                </a:solidFill>
                <a:effectLst/>
                <a:uLnTx/>
                <a:uFillTx/>
                <a:latin typeface="Arial" panose="020B0604020202020204"/>
                <a:ea typeface="+mn-ea"/>
                <a:cs typeface="+mn-cs"/>
              </a:rPr>
              <a:t>d</a:t>
            </a: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2000" b="1" i="0" u="none" strike="noStrike" kern="1200" cap="none" spc="0" normalizeH="0" baseline="0" noProof="0" dirty="0">
                <a:ln>
                  <a:noFill/>
                </a:ln>
                <a:solidFill>
                  <a:srgbClr val="00B0F0"/>
                </a:solidFill>
                <a:effectLst/>
                <a:uLnTx/>
                <a:uFillTx/>
                <a:latin typeface="Arial" panose="020B0604020202020204"/>
                <a:ea typeface="+mn-ea"/>
                <a:cs typeface="+mn-cs"/>
              </a:rPr>
              <a:t>S</a:t>
            </a:r>
            <a:r>
              <a:rPr kumimoji="0" lang="en-US" sz="2000" b="1" i="0" u="none" strike="noStrike" kern="1200" cap="none" spc="0" normalizeH="0" baseline="-25000" noProof="0" dirty="0">
                <a:ln>
                  <a:noFill/>
                </a:ln>
                <a:solidFill>
                  <a:srgbClr val="00B0F0"/>
                </a:solidFill>
                <a:effectLst/>
                <a:uLnTx/>
                <a:uFillTx/>
                <a:latin typeface="Arial" panose="020B0604020202020204"/>
                <a:ea typeface="+mn-ea"/>
                <a:cs typeface="+mn-cs"/>
              </a:rPr>
              <a:t>m</a:t>
            </a:r>
          </a:p>
        </p:txBody>
      </p:sp>
      <p:cxnSp>
        <p:nvCxnSpPr>
          <p:cNvPr id="5" name="Straight Arrow Connector 4"/>
          <p:cNvCxnSpPr>
            <a:cxnSpLocks/>
          </p:cNvCxnSpPr>
          <p:nvPr/>
        </p:nvCxnSpPr>
        <p:spPr>
          <a:xfrm flipV="1">
            <a:off x="8806084" y="4033835"/>
            <a:ext cx="469914" cy="19960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cxnSpLocks/>
          </p:cNvCxnSpPr>
          <p:nvPr/>
        </p:nvCxnSpPr>
        <p:spPr>
          <a:xfrm flipH="1" flipV="1">
            <a:off x="8955505" y="2608892"/>
            <a:ext cx="606278" cy="1073684"/>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288E997-9983-FB49-BAB9-73B9074BB6A2}"/>
              </a:ext>
            </a:extLst>
          </p:cNvPr>
          <p:cNvSpPr txBox="1"/>
          <p:nvPr/>
        </p:nvSpPr>
        <p:spPr>
          <a:xfrm>
            <a:off x="701681" y="2104628"/>
            <a:ext cx="423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panose="020B0604020202020204"/>
                <a:ea typeface="+mn-ea"/>
                <a:cs typeface="+mn-cs"/>
              </a:rPr>
              <a:t>S</a:t>
            </a:r>
            <a:r>
              <a:rPr kumimoji="0" lang="en-US" sz="1800" b="0" i="0" u="none" strike="noStrike" kern="1200" cap="none" spc="0" normalizeH="0" baseline="-25000" noProof="0" dirty="0">
                <a:ln>
                  <a:noFill/>
                </a:ln>
                <a:solidFill>
                  <a:srgbClr val="FF0000"/>
                </a:solidFill>
                <a:effectLst/>
                <a:uLnTx/>
                <a:uFillTx/>
                <a:latin typeface="Arial" panose="020B0604020202020204"/>
                <a:ea typeface="+mn-ea"/>
                <a:cs typeface="+mn-cs"/>
              </a:rPr>
              <a:t>d</a:t>
            </a:r>
          </a:p>
        </p:txBody>
      </p:sp>
      <p:sp>
        <p:nvSpPr>
          <p:cNvPr id="17" name="TextBox 16">
            <a:extLst>
              <a:ext uri="{FF2B5EF4-FFF2-40B4-BE49-F238E27FC236}">
                <a16:creationId xmlns:a16="http://schemas.microsoft.com/office/drawing/2014/main" id="{5E6F7B84-7A30-7B40-8B9A-DEDA81499A4B}"/>
              </a:ext>
            </a:extLst>
          </p:cNvPr>
          <p:cNvSpPr txBox="1"/>
          <p:nvPr/>
        </p:nvSpPr>
        <p:spPr>
          <a:xfrm>
            <a:off x="658401" y="4428924"/>
            <a:ext cx="46679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panose="020B0604020202020204"/>
                <a:ea typeface="+mn-ea"/>
                <a:cs typeface="+mn-cs"/>
              </a:rPr>
              <a:t>S</a:t>
            </a:r>
            <a:r>
              <a:rPr kumimoji="0" lang="en-US" sz="1800" b="0" i="0" u="none" strike="noStrike" kern="1200" cap="none" spc="0" normalizeH="0" baseline="-25000" noProof="0" dirty="0">
                <a:ln>
                  <a:noFill/>
                </a:ln>
                <a:solidFill>
                  <a:srgbClr val="FF0000"/>
                </a:solidFill>
                <a:effectLst/>
                <a:uLnTx/>
                <a:uFillTx/>
                <a:latin typeface="Arial" panose="020B0604020202020204"/>
                <a:ea typeface="+mn-ea"/>
                <a:cs typeface="+mn-cs"/>
              </a:rPr>
              <a:t>m</a:t>
            </a:r>
          </a:p>
        </p:txBody>
      </p:sp>
      <p:sp>
        <p:nvSpPr>
          <p:cNvPr id="6" name="Rectangle 5"/>
          <p:cNvSpPr/>
          <p:nvPr/>
        </p:nvSpPr>
        <p:spPr>
          <a:xfrm>
            <a:off x="1147005" y="4460994"/>
            <a:ext cx="304806" cy="369346"/>
          </a:xfrm>
          <a:prstGeom prst="rect">
            <a:avLst/>
          </a:prstGeom>
          <a:noFill/>
          <a:ln w="28575">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Rectangle 17"/>
          <p:cNvSpPr/>
          <p:nvPr/>
        </p:nvSpPr>
        <p:spPr>
          <a:xfrm>
            <a:off x="6481012" y="1705387"/>
            <a:ext cx="212563" cy="258203"/>
          </a:xfrm>
          <a:prstGeom prst="rect">
            <a:avLst/>
          </a:prstGeom>
          <a:noFill/>
          <a:ln w="28575">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 name="Rectangle 24"/>
          <p:cNvSpPr/>
          <p:nvPr/>
        </p:nvSpPr>
        <p:spPr>
          <a:xfrm>
            <a:off x="6019797" y="3174791"/>
            <a:ext cx="212563" cy="258203"/>
          </a:xfrm>
          <a:prstGeom prst="rect">
            <a:avLst/>
          </a:prstGeom>
          <a:noFill/>
          <a:ln w="28575">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Rectangle 25"/>
          <p:cNvSpPr/>
          <p:nvPr/>
        </p:nvSpPr>
        <p:spPr>
          <a:xfrm>
            <a:off x="5459990" y="5888466"/>
            <a:ext cx="212563" cy="258203"/>
          </a:xfrm>
          <a:prstGeom prst="rect">
            <a:avLst/>
          </a:prstGeom>
          <a:noFill/>
          <a:ln w="28575">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38509182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438" y="750053"/>
            <a:ext cx="7155741" cy="770584"/>
          </a:xfrm>
        </p:spPr>
        <p:txBody>
          <a:bodyPr>
            <a:normAutofit/>
          </a:bodyPr>
          <a:lstStyle/>
          <a:p>
            <a:r>
              <a:rPr lang="en-US" dirty="0"/>
              <a:t>float versus int32_t </a:t>
            </a:r>
            <a:r>
              <a:rPr lang="en-US" dirty="0">
                <a:solidFill>
                  <a:srgbClr val="FF0000"/>
                </a:solidFill>
              </a:rPr>
              <a:t>NEGATIVE</a:t>
            </a:r>
          </a:p>
        </p:txBody>
      </p:sp>
      <p:graphicFrame>
        <p:nvGraphicFramePr>
          <p:cNvPr id="13" name="Table 12"/>
          <p:cNvGraphicFramePr>
            <a:graphicFrameLocks noGrp="1"/>
          </p:cNvGraphicFramePr>
          <p:nvPr/>
        </p:nvGraphicFramePr>
        <p:xfrm>
          <a:off x="1026689" y="3636540"/>
          <a:ext cx="10006271" cy="1193800"/>
        </p:xfrm>
        <a:graphic>
          <a:graphicData uri="http://schemas.openxmlformats.org/drawingml/2006/table">
            <a:tbl>
              <a:tblPr firstRow="1" bandRow="1">
                <a:tableStyleId>{5940675A-B579-460E-94D1-54222C63F5DA}</a:tableStyleId>
              </a:tblPr>
              <a:tblGrid>
                <a:gridCol w="312696">
                  <a:extLst>
                    <a:ext uri="{9D8B030D-6E8A-4147-A177-3AD203B41FA5}">
                      <a16:colId xmlns:a16="http://schemas.microsoft.com/office/drawing/2014/main" val="2501350769"/>
                    </a:ext>
                  </a:extLst>
                </a:gridCol>
                <a:gridCol w="335875">
                  <a:extLst>
                    <a:ext uri="{9D8B030D-6E8A-4147-A177-3AD203B41FA5}">
                      <a16:colId xmlns:a16="http://schemas.microsoft.com/office/drawing/2014/main" val="3349062796"/>
                    </a:ext>
                  </a:extLst>
                </a:gridCol>
                <a:gridCol w="289516">
                  <a:extLst>
                    <a:ext uri="{9D8B030D-6E8A-4147-A177-3AD203B41FA5}">
                      <a16:colId xmlns:a16="http://schemas.microsoft.com/office/drawing/2014/main" val="2322356487"/>
                    </a:ext>
                  </a:extLst>
                </a:gridCol>
                <a:gridCol w="312696">
                  <a:extLst>
                    <a:ext uri="{9D8B030D-6E8A-4147-A177-3AD203B41FA5}">
                      <a16:colId xmlns:a16="http://schemas.microsoft.com/office/drawing/2014/main" val="3124822370"/>
                    </a:ext>
                  </a:extLst>
                </a:gridCol>
                <a:gridCol w="312696">
                  <a:extLst>
                    <a:ext uri="{9D8B030D-6E8A-4147-A177-3AD203B41FA5}">
                      <a16:colId xmlns:a16="http://schemas.microsoft.com/office/drawing/2014/main" val="2892886046"/>
                    </a:ext>
                  </a:extLst>
                </a:gridCol>
                <a:gridCol w="312696">
                  <a:extLst>
                    <a:ext uri="{9D8B030D-6E8A-4147-A177-3AD203B41FA5}">
                      <a16:colId xmlns:a16="http://schemas.microsoft.com/office/drawing/2014/main" val="3193256877"/>
                    </a:ext>
                  </a:extLst>
                </a:gridCol>
                <a:gridCol w="312696">
                  <a:extLst>
                    <a:ext uri="{9D8B030D-6E8A-4147-A177-3AD203B41FA5}">
                      <a16:colId xmlns:a16="http://schemas.microsoft.com/office/drawing/2014/main" val="576756725"/>
                    </a:ext>
                  </a:extLst>
                </a:gridCol>
                <a:gridCol w="312696">
                  <a:extLst>
                    <a:ext uri="{9D8B030D-6E8A-4147-A177-3AD203B41FA5}">
                      <a16:colId xmlns:a16="http://schemas.microsoft.com/office/drawing/2014/main" val="3929931725"/>
                    </a:ext>
                  </a:extLst>
                </a:gridCol>
                <a:gridCol w="312696">
                  <a:extLst>
                    <a:ext uri="{9D8B030D-6E8A-4147-A177-3AD203B41FA5}">
                      <a16:colId xmlns:a16="http://schemas.microsoft.com/office/drawing/2014/main" val="2047873513"/>
                    </a:ext>
                  </a:extLst>
                </a:gridCol>
                <a:gridCol w="312696">
                  <a:extLst>
                    <a:ext uri="{9D8B030D-6E8A-4147-A177-3AD203B41FA5}">
                      <a16:colId xmlns:a16="http://schemas.microsoft.com/office/drawing/2014/main" val="632814679"/>
                    </a:ext>
                  </a:extLst>
                </a:gridCol>
                <a:gridCol w="312696">
                  <a:extLst>
                    <a:ext uri="{9D8B030D-6E8A-4147-A177-3AD203B41FA5}">
                      <a16:colId xmlns:a16="http://schemas.microsoft.com/office/drawing/2014/main" val="2862102919"/>
                    </a:ext>
                  </a:extLst>
                </a:gridCol>
                <a:gridCol w="312696">
                  <a:extLst>
                    <a:ext uri="{9D8B030D-6E8A-4147-A177-3AD203B41FA5}">
                      <a16:colId xmlns:a16="http://schemas.microsoft.com/office/drawing/2014/main" val="451823578"/>
                    </a:ext>
                  </a:extLst>
                </a:gridCol>
                <a:gridCol w="312696">
                  <a:extLst>
                    <a:ext uri="{9D8B030D-6E8A-4147-A177-3AD203B41FA5}">
                      <a16:colId xmlns:a16="http://schemas.microsoft.com/office/drawing/2014/main" val="4119153476"/>
                    </a:ext>
                  </a:extLst>
                </a:gridCol>
                <a:gridCol w="312696">
                  <a:extLst>
                    <a:ext uri="{9D8B030D-6E8A-4147-A177-3AD203B41FA5}">
                      <a16:colId xmlns:a16="http://schemas.microsoft.com/office/drawing/2014/main" val="2935761772"/>
                    </a:ext>
                  </a:extLst>
                </a:gridCol>
                <a:gridCol w="312696">
                  <a:extLst>
                    <a:ext uri="{9D8B030D-6E8A-4147-A177-3AD203B41FA5}">
                      <a16:colId xmlns:a16="http://schemas.microsoft.com/office/drawing/2014/main" val="1735474298"/>
                    </a:ext>
                  </a:extLst>
                </a:gridCol>
                <a:gridCol w="312696">
                  <a:extLst>
                    <a:ext uri="{9D8B030D-6E8A-4147-A177-3AD203B41FA5}">
                      <a16:colId xmlns:a16="http://schemas.microsoft.com/office/drawing/2014/main" val="4214739541"/>
                    </a:ext>
                  </a:extLst>
                </a:gridCol>
                <a:gridCol w="312696">
                  <a:extLst>
                    <a:ext uri="{9D8B030D-6E8A-4147-A177-3AD203B41FA5}">
                      <a16:colId xmlns:a16="http://schemas.microsoft.com/office/drawing/2014/main" val="407833324"/>
                    </a:ext>
                  </a:extLst>
                </a:gridCol>
                <a:gridCol w="312696">
                  <a:extLst>
                    <a:ext uri="{9D8B030D-6E8A-4147-A177-3AD203B41FA5}">
                      <a16:colId xmlns:a16="http://schemas.microsoft.com/office/drawing/2014/main" val="372611213"/>
                    </a:ext>
                  </a:extLst>
                </a:gridCol>
                <a:gridCol w="312696">
                  <a:extLst>
                    <a:ext uri="{9D8B030D-6E8A-4147-A177-3AD203B41FA5}">
                      <a16:colId xmlns:a16="http://schemas.microsoft.com/office/drawing/2014/main" val="3644415226"/>
                    </a:ext>
                  </a:extLst>
                </a:gridCol>
                <a:gridCol w="312696">
                  <a:extLst>
                    <a:ext uri="{9D8B030D-6E8A-4147-A177-3AD203B41FA5}">
                      <a16:colId xmlns:a16="http://schemas.microsoft.com/office/drawing/2014/main" val="3282145197"/>
                    </a:ext>
                  </a:extLst>
                </a:gridCol>
                <a:gridCol w="312696">
                  <a:extLst>
                    <a:ext uri="{9D8B030D-6E8A-4147-A177-3AD203B41FA5}">
                      <a16:colId xmlns:a16="http://schemas.microsoft.com/office/drawing/2014/main" val="407434176"/>
                    </a:ext>
                  </a:extLst>
                </a:gridCol>
                <a:gridCol w="312696">
                  <a:extLst>
                    <a:ext uri="{9D8B030D-6E8A-4147-A177-3AD203B41FA5}">
                      <a16:colId xmlns:a16="http://schemas.microsoft.com/office/drawing/2014/main" val="2552326724"/>
                    </a:ext>
                  </a:extLst>
                </a:gridCol>
                <a:gridCol w="312696">
                  <a:extLst>
                    <a:ext uri="{9D8B030D-6E8A-4147-A177-3AD203B41FA5}">
                      <a16:colId xmlns:a16="http://schemas.microsoft.com/office/drawing/2014/main" val="4216009349"/>
                    </a:ext>
                  </a:extLst>
                </a:gridCol>
                <a:gridCol w="312696">
                  <a:extLst>
                    <a:ext uri="{9D8B030D-6E8A-4147-A177-3AD203B41FA5}">
                      <a16:colId xmlns:a16="http://schemas.microsoft.com/office/drawing/2014/main" val="2016062041"/>
                    </a:ext>
                  </a:extLst>
                </a:gridCol>
                <a:gridCol w="312696">
                  <a:extLst>
                    <a:ext uri="{9D8B030D-6E8A-4147-A177-3AD203B41FA5}">
                      <a16:colId xmlns:a16="http://schemas.microsoft.com/office/drawing/2014/main" val="3565272988"/>
                    </a:ext>
                  </a:extLst>
                </a:gridCol>
                <a:gridCol w="312696">
                  <a:extLst>
                    <a:ext uri="{9D8B030D-6E8A-4147-A177-3AD203B41FA5}">
                      <a16:colId xmlns:a16="http://schemas.microsoft.com/office/drawing/2014/main" val="1936296527"/>
                    </a:ext>
                  </a:extLst>
                </a:gridCol>
                <a:gridCol w="312696">
                  <a:extLst>
                    <a:ext uri="{9D8B030D-6E8A-4147-A177-3AD203B41FA5}">
                      <a16:colId xmlns:a16="http://schemas.microsoft.com/office/drawing/2014/main" val="160326010"/>
                    </a:ext>
                  </a:extLst>
                </a:gridCol>
                <a:gridCol w="312696">
                  <a:extLst>
                    <a:ext uri="{9D8B030D-6E8A-4147-A177-3AD203B41FA5}">
                      <a16:colId xmlns:a16="http://schemas.microsoft.com/office/drawing/2014/main" val="856095501"/>
                    </a:ext>
                  </a:extLst>
                </a:gridCol>
                <a:gridCol w="312696">
                  <a:extLst>
                    <a:ext uri="{9D8B030D-6E8A-4147-A177-3AD203B41FA5}">
                      <a16:colId xmlns:a16="http://schemas.microsoft.com/office/drawing/2014/main" val="110658166"/>
                    </a:ext>
                  </a:extLst>
                </a:gridCol>
                <a:gridCol w="312696">
                  <a:extLst>
                    <a:ext uri="{9D8B030D-6E8A-4147-A177-3AD203B41FA5}">
                      <a16:colId xmlns:a16="http://schemas.microsoft.com/office/drawing/2014/main" val="1665178638"/>
                    </a:ext>
                  </a:extLst>
                </a:gridCol>
                <a:gridCol w="312696">
                  <a:extLst>
                    <a:ext uri="{9D8B030D-6E8A-4147-A177-3AD203B41FA5}">
                      <a16:colId xmlns:a16="http://schemas.microsoft.com/office/drawing/2014/main" val="3318507392"/>
                    </a:ext>
                  </a:extLst>
                </a:gridCol>
                <a:gridCol w="312696">
                  <a:extLst>
                    <a:ext uri="{9D8B030D-6E8A-4147-A177-3AD203B41FA5}">
                      <a16:colId xmlns:a16="http://schemas.microsoft.com/office/drawing/2014/main" val="3795560285"/>
                    </a:ext>
                  </a:extLst>
                </a:gridCol>
              </a:tblGrid>
              <a:tr h="370840">
                <a:tc>
                  <a:txBody>
                    <a:bodyPr/>
                    <a:lstStyle/>
                    <a:p>
                      <a:pPr algn="ctr"/>
                      <a:r>
                        <a:rPr lang="en-US" sz="1600" dirty="0"/>
                        <a:t>31</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30</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6">
                  <a:txBody>
                    <a:bodyPr/>
                    <a:lstStyle/>
                    <a:p>
                      <a:pPr algn="ctr"/>
                      <a:r>
                        <a:rPr lang="en-US" sz="2400" i="1" dirty="0"/>
                        <a:t>excess 127 exponent</a:t>
                      </a:r>
                      <a:endParaRPr lang="en-US" sz="1600" i="1"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23</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22</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1">
                  <a:txBody>
                    <a:bodyPr/>
                    <a:lstStyle/>
                    <a:p>
                      <a:pPr algn="ctr"/>
                      <a:r>
                        <a:rPr lang="en-US" sz="2400" i="1" dirty="0"/>
                        <a:t>significand</a:t>
                      </a:r>
                      <a:endParaRPr lang="en-US" sz="1600" i="1"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6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0</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2346665"/>
                  </a:ext>
                </a:extLst>
              </a:tr>
              <a:tr h="370840">
                <a:tc>
                  <a:txBody>
                    <a:bodyPr/>
                    <a:lstStyle/>
                    <a:p>
                      <a:pPr algn="ctr"/>
                      <a:r>
                        <a:rPr lang="en-US" dirty="0"/>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335249"/>
                  </a:ext>
                </a:extLst>
              </a:tr>
            </a:tbl>
          </a:graphicData>
        </a:graphic>
      </p:graphicFrame>
      <p:graphicFrame>
        <p:nvGraphicFramePr>
          <p:cNvPr id="14" name="Table 13"/>
          <p:cNvGraphicFramePr>
            <a:graphicFrameLocks noGrp="1"/>
          </p:cNvGraphicFramePr>
          <p:nvPr/>
        </p:nvGraphicFramePr>
        <p:xfrm>
          <a:off x="1082839" y="1524000"/>
          <a:ext cx="9885951" cy="949960"/>
        </p:xfrm>
        <a:graphic>
          <a:graphicData uri="http://schemas.openxmlformats.org/drawingml/2006/table">
            <a:tbl>
              <a:tblPr firstRow="1" bandRow="1">
                <a:tableStyleId>{5940675A-B579-460E-94D1-54222C63F5DA}</a:tableStyleId>
              </a:tblPr>
              <a:tblGrid>
                <a:gridCol w="308936">
                  <a:extLst>
                    <a:ext uri="{9D8B030D-6E8A-4147-A177-3AD203B41FA5}">
                      <a16:colId xmlns:a16="http://schemas.microsoft.com/office/drawing/2014/main" val="2501350769"/>
                    </a:ext>
                  </a:extLst>
                </a:gridCol>
                <a:gridCol w="331836">
                  <a:extLst>
                    <a:ext uri="{9D8B030D-6E8A-4147-A177-3AD203B41FA5}">
                      <a16:colId xmlns:a16="http://schemas.microsoft.com/office/drawing/2014/main" val="3349062796"/>
                    </a:ext>
                  </a:extLst>
                </a:gridCol>
                <a:gridCol w="286035">
                  <a:extLst>
                    <a:ext uri="{9D8B030D-6E8A-4147-A177-3AD203B41FA5}">
                      <a16:colId xmlns:a16="http://schemas.microsoft.com/office/drawing/2014/main" val="2322356487"/>
                    </a:ext>
                  </a:extLst>
                </a:gridCol>
                <a:gridCol w="308936">
                  <a:extLst>
                    <a:ext uri="{9D8B030D-6E8A-4147-A177-3AD203B41FA5}">
                      <a16:colId xmlns:a16="http://schemas.microsoft.com/office/drawing/2014/main" val="3124822370"/>
                    </a:ext>
                  </a:extLst>
                </a:gridCol>
                <a:gridCol w="308936">
                  <a:extLst>
                    <a:ext uri="{9D8B030D-6E8A-4147-A177-3AD203B41FA5}">
                      <a16:colId xmlns:a16="http://schemas.microsoft.com/office/drawing/2014/main" val="2892886046"/>
                    </a:ext>
                  </a:extLst>
                </a:gridCol>
                <a:gridCol w="308936">
                  <a:extLst>
                    <a:ext uri="{9D8B030D-6E8A-4147-A177-3AD203B41FA5}">
                      <a16:colId xmlns:a16="http://schemas.microsoft.com/office/drawing/2014/main" val="3193256877"/>
                    </a:ext>
                  </a:extLst>
                </a:gridCol>
                <a:gridCol w="308936">
                  <a:extLst>
                    <a:ext uri="{9D8B030D-6E8A-4147-A177-3AD203B41FA5}">
                      <a16:colId xmlns:a16="http://schemas.microsoft.com/office/drawing/2014/main" val="576756725"/>
                    </a:ext>
                  </a:extLst>
                </a:gridCol>
                <a:gridCol w="308936">
                  <a:extLst>
                    <a:ext uri="{9D8B030D-6E8A-4147-A177-3AD203B41FA5}">
                      <a16:colId xmlns:a16="http://schemas.microsoft.com/office/drawing/2014/main" val="3929931725"/>
                    </a:ext>
                  </a:extLst>
                </a:gridCol>
                <a:gridCol w="308936">
                  <a:extLst>
                    <a:ext uri="{9D8B030D-6E8A-4147-A177-3AD203B41FA5}">
                      <a16:colId xmlns:a16="http://schemas.microsoft.com/office/drawing/2014/main" val="2047873513"/>
                    </a:ext>
                  </a:extLst>
                </a:gridCol>
                <a:gridCol w="308936">
                  <a:extLst>
                    <a:ext uri="{9D8B030D-6E8A-4147-A177-3AD203B41FA5}">
                      <a16:colId xmlns:a16="http://schemas.microsoft.com/office/drawing/2014/main" val="632814679"/>
                    </a:ext>
                  </a:extLst>
                </a:gridCol>
                <a:gridCol w="308936">
                  <a:extLst>
                    <a:ext uri="{9D8B030D-6E8A-4147-A177-3AD203B41FA5}">
                      <a16:colId xmlns:a16="http://schemas.microsoft.com/office/drawing/2014/main" val="2862102919"/>
                    </a:ext>
                  </a:extLst>
                </a:gridCol>
                <a:gridCol w="308936">
                  <a:extLst>
                    <a:ext uri="{9D8B030D-6E8A-4147-A177-3AD203B41FA5}">
                      <a16:colId xmlns:a16="http://schemas.microsoft.com/office/drawing/2014/main" val="451823578"/>
                    </a:ext>
                  </a:extLst>
                </a:gridCol>
                <a:gridCol w="308936">
                  <a:extLst>
                    <a:ext uri="{9D8B030D-6E8A-4147-A177-3AD203B41FA5}">
                      <a16:colId xmlns:a16="http://schemas.microsoft.com/office/drawing/2014/main" val="4119153476"/>
                    </a:ext>
                  </a:extLst>
                </a:gridCol>
                <a:gridCol w="308936">
                  <a:extLst>
                    <a:ext uri="{9D8B030D-6E8A-4147-A177-3AD203B41FA5}">
                      <a16:colId xmlns:a16="http://schemas.microsoft.com/office/drawing/2014/main" val="2935761772"/>
                    </a:ext>
                  </a:extLst>
                </a:gridCol>
                <a:gridCol w="308936">
                  <a:extLst>
                    <a:ext uri="{9D8B030D-6E8A-4147-A177-3AD203B41FA5}">
                      <a16:colId xmlns:a16="http://schemas.microsoft.com/office/drawing/2014/main" val="1735474298"/>
                    </a:ext>
                  </a:extLst>
                </a:gridCol>
                <a:gridCol w="308936">
                  <a:extLst>
                    <a:ext uri="{9D8B030D-6E8A-4147-A177-3AD203B41FA5}">
                      <a16:colId xmlns:a16="http://schemas.microsoft.com/office/drawing/2014/main" val="4214739541"/>
                    </a:ext>
                  </a:extLst>
                </a:gridCol>
                <a:gridCol w="308936">
                  <a:extLst>
                    <a:ext uri="{9D8B030D-6E8A-4147-A177-3AD203B41FA5}">
                      <a16:colId xmlns:a16="http://schemas.microsoft.com/office/drawing/2014/main" val="407833324"/>
                    </a:ext>
                  </a:extLst>
                </a:gridCol>
                <a:gridCol w="308936">
                  <a:extLst>
                    <a:ext uri="{9D8B030D-6E8A-4147-A177-3AD203B41FA5}">
                      <a16:colId xmlns:a16="http://schemas.microsoft.com/office/drawing/2014/main" val="372611213"/>
                    </a:ext>
                  </a:extLst>
                </a:gridCol>
                <a:gridCol w="308936">
                  <a:extLst>
                    <a:ext uri="{9D8B030D-6E8A-4147-A177-3AD203B41FA5}">
                      <a16:colId xmlns:a16="http://schemas.microsoft.com/office/drawing/2014/main" val="3644415226"/>
                    </a:ext>
                  </a:extLst>
                </a:gridCol>
                <a:gridCol w="308936">
                  <a:extLst>
                    <a:ext uri="{9D8B030D-6E8A-4147-A177-3AD203B41FA5}">
                      <a16:colId xmlns:a16="http://schemas.microsoft.com/office/drawing/2014/main" val="3282145197"/>
                    </a:ext>
                  </a:extLst>
                </a:gridCol>
                <a:gridCol w="308936">
                  <a:extLst>
                    <a:ext uri="{9D8B030D-6E8A-4147-A177-3AD203B41FA5}">
                      <a16:colId xmlns:a16="http://schemas.microsoft.com/office/drawing/2014/main" val="407434176"/>
                    </a:ext>
                  </a:extLst>
                </a:gridCol>
                <a:gridCol w="308936">
                  <a:extLst>
                    <a:ext uri="{9D8B030D-6E8A-4147-A177-3AD203B41FA5}">
                      <a16:colId xmlns:a16="http://schemas.microsoft.com/office/drawing/2014/main" val="2552326724"/>
                    </a:ext>
                  </a:extLst>
                </a:gridCol>
                <a:gridCol w="308936">
                  <a:extLst>
                    <a:ext uri="{9D8B030D-6E8A-4147-A177-3AD203B41FA5}">
                      <a16:colId xmlns:a16="http://schemas.microsoft.com/office/drawing/2014/main" val="4216009349"/>
                    </a:ext>
                  </a:extLst>
                </a:gridCol>
                <a:gridCol w="308936">
                  <a:extLst>
                    <a:ext uri="{9D8B030D-6E8A-4147-A177-3AD203B41FA5}">
                      <a16:colId xmlns:a16="http://schemas.microsoft.com/office/drawing/2014/main" val="2016062041"/>
                    </a:ext>
                  </a:extLst>
                </a:gridCol>
                <a:gridCol w="308936">
                  <a:extLst>
                    <a:ext uri="{9D8B030D-6E8A-4147-A177-3AD203B41FA5}">
                      <a16:colId xmlns:a16="http://schemas.microsoft.com/office/drawing/2014/main" val="3565272988"/>
                    </a:ext>
                  </a:extLst>
                </a:gridCol>
                <a:gridCol w="308936">
                  <a:extLst>
                    <a:ext uri="{9D8B030D-6E8A-4147-A177-3AD203B41FA5}">
                      <a16:colId xmlns:a16="http://schemas.microsoft.com/office/drawing/2014/main" val="1936296527"/>
                    </a:ext>
                  </a:extLst>
                </a:gridCol>
                <a:gridCol w="308936">
                  <a:extLst>
                    <a:ext uri="{9D8B030D-6E8A-4147-A177-3AD203B41FA5}">
                      <a16:colId xmlns:a16="http://schemas.microsoft.com/office/drawing/2014/main" val="160326010"/>
                    </a:ext>
                  </a:extLst>
                </a:gridCol>
                <a:gridCol w="308936">
                  <a:extLst>
                    <a:ext uri="{9D8B030D-6E8A-4147-A177-3AD203B41FA5}">
                      <a16:colId xmlns:a16="http://schemas.microsoft.com/office/drawing/2014/main" val="856095501"/>
                    </a:ext>
                  </a:extLst>
                </a:gridCol>
                <a:gridCol w="308936">
                  <a:extLst>
                    <a:ext uri="{9D8B030D-6E8A-4147-A177-3AD203B41FA5}">
                      <a16:colId xmlns:a16="http://schemas.microsoft.com/office/drawing/2014/main" val="110658166"/>
                    </a:ext>
                  </a:extLst>
                </a:gridCol>
                <a:gridCol w="308936">
                  <a:extLst>
                    <a:ext uri="{9D8B030D-6E8A-4147-A177-3AD203B41FA5}">
                      <a16:colId xmlns:a16="http://schemas.microsoft.com/office/drawing/2014/main" val="1665178638"/>
                    </a:ext>
                  </a:extLst>
                </a:gridCol>
                <a:gridCol w="308936">
                  <a:extLst>
                    <a:ext uri="{9D8B030D-6E8A-4147-A177-3AD203B41FA5}">
                      <a16:colId xmlns:a16="http://schemas.microsoft.com/office/drawing/2014/main" val="3318507392"/>
                    </a:ext>
                  </a:extLst>
                </a:gridCol>
                <a:gridCol w="308936">
                  <a:extLst>
                    <a:ext uri="{9D8B030D-6E8A-4147-A177-3AD203B41FA5}">
                      <a16:colId xmlns:a16="http://schemas.microsoft.com/office/drawing/2014/main" val="3795560285"/>
                    </a:ext>
                  </a:extLst>
                </a:gridCol>
              </a:tblGrid>
              <a:tr h="370840">
                <a:tc>
                  <a:txBody>
                    <a:bodyPr/>
                    <a:lstStyle/>
                    <a:p>
                      <a:pPr algn="ctr"/>
                      <a:r>
                        <a:rPr lang="en-US" sz="1600" dirty="0"/>
                        <a:t>31</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0</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275902"/>
                  </a:ext>
                </a:extLst>
              </a:tr>
              <a:tr h="370840">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00B05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FF0000"/>
                          </a:solidFill>
                        </a:rPr>
                        <a:t>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FF0000"/>
                          </a:solidFill>
                        </a:rPr>
                        <a:t>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335249"/>
                  </a:ext>
                </a:extLst>
              </a:tr>
            </a:tbl>
          </a:graphicData>
        </a:graphic>
      </p:graphicFrame>
      <p:sp>
        <p:nvSpPr>
          <p:cNvPr id="15" name="TextBox 14"/>
          <p:cNvSpPr txBox="1"/>
          <p:nvPr/>
        </p:nvSpPr>
        <p:spPr>
          <a:xfrm>
            <a:off x="1461822" y="3011236"/>
            <a:ext cx="847596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float x = -1000.5 ; // or –(000001111101000.1</a:t>
            </a:r>
            <a:r>
              <a:rPr kumimoji="0" lang="en-US" sz="2400" b="0" i="0" u="none" strike="noStrike" kern="1200" cap="none" spc="0" normalizeH="0" baseline="-25000" noProof="0" dirty="0">
                <a:ln>
                  <a:noFill/>
                </a:ln>
                <a:solidFill>
                  <a:srgbClr val="000000"/>
                </a:solidFill>
                <a:effectLst/>
                <a:uLnTx/>
                <a:uFillTx/>
                <a:latin typeface="Consolas" panose="020B0609020204030204" pitchFamily="49" charset="0"/>
                <a:ea typeface="+mn-ea"/>
                <a:cs typeface="+mn-cs"/>
              </a:rPr>
              <a:t>2</a:t>
            </a: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16" name="TextBox 15"/>
          <p:cNvSpPr txBox="1"/>
          <p:nvPr/>
        </p:nvSpPr>
        <p:spPr>
          <a:xfrm>
            <a:off x="4381484" y="1590025"/>
            <a:ext cx="34290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int32_t y = -1000;</a:t>
            </a:r>
          </a:p>
        </p:txBody>
      </p:sp>
      <p:sp>
        <p:nvSpPr>
          <p:cNvPr id="20" name="Left Brace 19"/>
          <p:cNvSpPr/>
          <p:nvPr/>
        </p:nvSpPr>
        <p:spPr>
          <a:xfrm rot="16200000">
            <a:off x="2254746" y="3604100"/>
            <a:ext cx="351260" cy="2807374"/>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 name="Left Brace 20"/>
          <p:cNvSpPr/>
          <p:nvPr/>
        </p:nvSpPr>
        <p:spPr>
          <a:xfrm rot="16200000">
            <a:off x="7258868" y="1407506"/>
            <a:ext cx="349290" cy="7198898"/>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2" name="TextBox 21"/>
          <p:cNvSpPr txBox="1"/>
          <p:nvPr/>
        </p:nvSpPr>
        <p:spPr>
          <a:xfrm>
            <a:off x="1978646" y="5253335"/>
            <a:ext cx="9906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136</a:t>
            </a:r>
            <a:r>
              <a:rPr kumimoji="0" lang="en-US" sz="2400" b="0" i="0" u="none" strike="noStrike" kern="1200" cap="none" spc="0" normalizeH="0" baseline="-25000" noProof="0" dirty="0">
                <a:ln>
                  <a:noFill/>
                </a:ln>
                <a:solidFill>
                  <a:srgbClr val="000000"/>
                </a:solidFill>
                <a:effectLst/>
                <a:uLnTx/>
                <a:uFillTx/>
                <a:latin typeface="Arial" panose="020B0604020202020204"/>
                <a:ea typeface="+mn-ea"/>
                <a:cs typeface="+mn-cs"/>
              </a:rPr>
              <a:t>10</a:t>
            </a:r>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3" name="Rectangle 22"/>
          <p:cNvSpPr/>
          <p:nvPr/>
        </p:nvSpPr>
        <p:spPr>
          <a:xfrm>
            <a:off x="6488075" y="5253335"/>
            <a:ext cx="1890873"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1111010001</a:t>
            </a:r>
          </a:p>
        </p:txBody>
      </p:sp>
      <p:sp>
        <p:nvSpPr>
          <p:cNvPr id="24" name="Rectangle 23"/>
          <p:cNvSpPr/>
          <p:nvPr/>
        </p:nvSpPr>
        <p:spPr>
          <a:xfrm>
            <a:off x="4124417" y="5786736"/>
            <a:ext cx="6157904"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 value</a:t>
            </a:r>
            <a:r>
              <a:rPr kumimoji="0" lang="en-US" sz="2400" b="0" i="0" u="none" strike="noStrike" kern="1200" cap="none" spc="0" normalizeH="0" baseline="-25000" noProof="0" dirty="0">
                <a:ln>
                  <a:noFill/>
                </a:ln>
                <a:solidFill>
                  <a:srgbClr val="000000"/>
                </a:solidFill>
                <a:effectLst/>
                <a:uLnTx/>
                <a:uFillTx/>
                <a:latin typeface="Arial" panose="020B0604020202020204"/>
                <a:ea typeface="+mn-ea"/>
                <a:cs typeface="+mn-cs"/>
              </a:rPr>
              <a:t>2</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 = - 1.1111010001 × 2</a:t>
            </a:r>
            <a:r>
              <a:rPr kumimoji="0" lang="en-US" sz="2400" b="0" i="0" u="none" strike="noStrike" kern="1200" cap="none" spc="0" normalizeH="0" baseline="30000" noProof="0" dirty="0">
                <a:ln>
                  <a:noFill/>
                </a:ln>
                <a:solidFill>
                  <a:srgbClr val="000000"/>
                </a:solidFill>
                <a:effectLst/>
                <a:uLnTx/>
                <a:uFillTx/>
                <a:latin typeface="Arial" panose="020B0604020202020204"/>
                <a:ea typeface="+mn-ea"/>
                <a:cs typeface="+mn-cs"/>
              </a:rPr>
              <a:t>9 </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  or (1000.5</a:t>
            </a:r>
            <a:r>
              <a:rPr kumimoji="0" lang="en-US" sz="2400" b="0" i="0" u="none" strike="noStrike" kern="1200" cap="none" spc="0" normalizeH="0" baseline="-25000" noProof="0" dirty="0">
                <a:ln>
                  <a:noFill/>
                </a:ln>
                <a:solidFill>
                  <a:srgbClr val="000000"/>
                </a:solidFill>
                <a:effectLst/>
                <a:uLnTx/>
                <a:uFillTx/>
                <a:latin typeface="Arial" panose="020B0604020202020204"/>
                <a:ea typeface="+mn-ea"/>
                <a:cs typeface="+mn-cs"/>
              </a:rPr>
              <a:t>10</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a:t>
            </a:r>
            <a:endParaRPr kumimoji="0" lang="en-US" sz="2400" b="0" i="0" u="none" strike="noStrike" kern="1200" cap="none" spc="0" normalizeH="0" baseline="-25000" noProof="0" dirty="0">
              <a:ln>
                <a:noFill/>
              </a:ln>
              <a:solidFill>
                <a:srgbClr val="000000"/>
              </a:solidFill>
              <a:effectLst/>
              <a:uLnTx/>
              <a:uFillTx/>
              <a:latin typeface="Arial" panose="020B0604020202020204"/>
              <a:ea typeface="+mn-ea"/>
              <a:cs typeface="+mn-cs"/>
            </a:endParaRPr>
          </a:p>
        </p:txBody>
      </p:sp>
      <p:sp>
        <p:nvSpPr>
          <p:cNvPr id="3" name="Rectangle 2"/>
          <p:cNvSpPr/>
          <p:nvPr/>
        </p:nvSpPr>
        <p:spPr>
          <a:xfrm>
            <a:off x="8331976" y="3670415"/>
            <a:ext cx="2764346"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VCVT.</a:t>
            </a:r>
            <a:r>
              <a:rPr kumimoji="0" lang="en-US" sz="2000" b="1" i="0" u="none" strike="noStrike" kern="1200" cap="none" spc="0" normalizeH="0" baseline="0" noProof="0" dirty="0">
                <a:ln>
                  <a:noFill/>
                </a:ln>
                <a:solidFill>
                  <a:srgbClr val="FF0000"/>
                </a:solidFill>
                <a:effectLst/>
                <a:uLnTx/>
                <a:uFillTx/>
                <a:latin typeface="Arial" panose="020B0604020202020204"/>
                <a:ea typeface="+mn-ea"/>
                <a:cs typeface="+mn-cs"/>
              </a:rPr>
              <a:t>S32</a:t>
            </a: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a:t>
            </a:r>
            <a:r>
              <a:rPr kumimoji="0" lang="en-US" sz="2000" b="1" i="0" u="none" strike="noStrike" kern="1200" cap="none" spc="0" normalizeH="0" baseline="0" noProof="0" dirty="0">
                <a:ln>
                  <a:noFill/>
                </a:ln>
                <a:solidFill>
                  <a:srgbClr val="00B0F0"/>
                </a:solidFill>
                <a:effectLst/>
                <a:uLnTx/>
                <a:uFillTx/>
                <a:latin typeface="Arial" panose="020B0604020202020204"/>
                <a:ea typeface="+mn-ea"/>
                <a:cs typeface="+mn-cs"/>
              </a:rPr>
              <a:t>F32</a:t>
            </a: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2000" b="1" i="0" u="none" strike="noStrike" kern="1200" cap="none" spc="0" normalizeH="0" baseline="0" noProof="0" dirty="0">
                <a:ln>
                  <a:noFill/>
                </a:ln>
                <a:solidFill>
                  <a:srgbClr val="FF0000"/>
                </a:solidFill>
                <a:effectLst/>
                <a:uLnTx/>
                <a:uFillTx/>
                <a:latin typeface="Arial" panose="020B0604020202020204"/>
                <a:ea typeface="+mn-ea"/>
                <a:cs typeface="+mn-cs"/>
              </a:rPr>
              <a:t>S</a:t>
            </a:r>
            <a:r>
              <a:rPr kumimoji="0" lang="en-US" sz="2000" b="1" i="0" u="none" strike="noStrike" kern="1200" cap="none" spc="0" normalizeH="0" baseline="-25000" noProof="0" dirty="0">
                <a:ln>
                  <a:noFill/>
                </a:ln>
                <a:solidFill>
                  <a:srgbClr val="FF0000"/>
                </a:solidFill>
                <a:effectLst/>
                <a:uLnTx/>
                <a:uFillTx/>
                <a:latin typeface="Arial" panose="020B0604020202020204"/>
                <a:ea typeface="+mn-ea"/>
                <a:cs typeface="+mn-cs"/>
              </a:rPr>
              <a:t>d</a:t>
            </a: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2000" b="1" i="0" u="none" strike="noStrike" kern="1200" cap="none" spc="0" normalizeH="0" baseline="0" noProof="0" dirty="0">
                <a:ln>
                  <a:noFill/>
                </a:ln>
                <a:solidFill>
                  <a:srgbClr val="00B0F0"/>
                </a:solidFill>
                <a:effectLst/>
                <a:uLnTx/>
                <a:uFillTx/>
                <a:latin typeface="Arial" panose="020B0604020202020204"/>
                <a:ea typeface="+mn-ea"/>
                <a:cs typeface="+mn-cs"/>
              </a:rPr>
              <a:t>S</a:t>
            </a:r>
            <a:r>
              <a:rPr kumimoji="0" lang="en-US" sz="2000" b="1" i="0" u="none" strike="noStrike" kern="1200" cap="none" spc="0" normalizeH="0" baseline="-25000" noProof="0" dirty="0">
                <a:ln>
                  <a:noFill/>
                </a:ln>
                <a:solidFill>
                  <a:srgbClr val="00B0F0"/>
                </a:solidFill>
                <a:effectLst/>
                <a:uLnTx/>
                <a:uFillTx/>
                <a:latin typeface="Arial" panose="020B0604020202020204"/>
                <a:ea typeface="+mn-ea"/>
                <a:cs typeface="+mn-cs"/>
              </a:rPr>
              <a:t>m</a:t>
            </a:r>
          </a:p>
        </p:txBody>
      </p:sp>
      <p:cxnSp>
        <p:nvCxnSpPr>
          <p:cNvPr id="5" name="Straight Arrow Connector 4"/>
          <p:cNvCxnSpPr>
            <a:cxnSpLocks/>
          </p:cNvCxnSpPr>
          <p:nvPr/>
        </p:nvCxnSpPr>
        <p:spPr>
          <a:xfrm flipV="1">
            <a:off x="8806084" y="4033835"/>
            <a:ext cx="469914" cy="19960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cxnSpLocks/>
          </p:cNvCxnSpPr>
          <p:nvPr/>
        </p:nvCxnSpPr>
        <p:spPr>
          <a:xfrm flipH="1" flipV="1">
            <a:off x="9688402" y="2741857"/>
            <a:ext cx="509364" cy="892715"/>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820D55B-E1BE-0946-ACEB-3D1F826A4063}"/>
              </a:ext>
            </a:extLst>
          </p:cNvPr>
          <p:cNvSpPr txBox="1"/>
          <p:nvPr/>
        </p:nvSpPr>
        <p:spPr>
          <a:xfrm>
            <a:off x="603175" y="2104628"/>
            <a:ext cx="423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panose="020B0604020202020204"/>
                <a:ea typeface="+mn-ea"/>
                <a:cs typeface="+mn-cs"/>
              </a:rPr>
              <a:t>S</a:t>
            </a:r>
            <a:r>
              <a:rPr kumimoji="0" lang="en-US" sz="1800" b="0" i="0" u="none" strike="noStrike" kern="1200" cap="none" spc="0" normalizeH="0" baseline="-25000" noProof="0" dirty="0">
                <a:ln>
                  <a:noFill/>
                </a:ln>
                <a:solidFill>
                  <a:srgbClr val="FF0000"/>
                </a:solidFill>
                <a:effectLst/>
                <a:uLnTx/>
                <a:uFillTx/>
                <a:latin typeface="Arial" panose="020B0604020202020204"/>
                <a:ea typeface="+mn-ea"/>
                <a:cs typeface="+mn-cs"/>
              </a:rPr>
              <a:t>d</a:t>
            </a:r>
          </a:p>
        </p:txBody>
      </p:sp>
      <p:sp>
        <p:nvSpPr>
          <p:cNvPr id="18" name="TextBox 17">
            <a:extLst>
              <a:ext uri="{FF2B5EF4-FFF2-40B4-BE49-F238E27FC236}">
                <a16:creationId xmlns:a16="http://schemas.microsoft.com/office/drawing/2014/main" id="{700540B7-3BCE-4B4B-9265-3DA7CA6BEE39}"/>
              </a:ext>
            </a:extLst>
          </p:cNvPr>
          <p:cNvSpPr txBox="1"/>
          <p:nvPr/>
        </p:nvSpPr>
        <p:spPr>
          <a:xfrm>
            <a:off x="559895" y="4461993"/>
            <a:ext cx="46679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panose="020B0604020202020204"/>
                <a:ea typeface="+mn-ea"/>
                <a:cs typeface="+mn-cs"/>
              </a:rPr>
              <a:t>S</a:t>
            </a:r>
            <a:r>
              <a:rPr kumimoji="0" lang="en-US" sz="1800" b="0" i="0" u="none" strike="noStrike" kern="1200" cap="none" spc="0" normalizeH="0" baseline="-25000" noProof="0" dirty="0">
                <a:ln>
                  <a:noFill/>
                </a:ln>
                <a:solidFill>
                  <a:srgbClr val="FF0000"/>
                </a:solidFill>
                <a:effectLst/>
                <a:uLnTx/>
                <a:uFillTx/>
                <a:latin typeface="Arial" panose="020B0604020202020204"/>
                <a:ea typeface="+mn-ea"/>
                <a:cs typeface="+mn-cs"/>
              </a:rPr>
              <a:t>m</a:t>
            </a:r>
          </a:p>
        </p:txBody>
      </p:sp>
      <p:sp>
        <p:nvSpPr>
          <p:cNvPr id="19" name="Rectangle 18"/>
          <p:cNvSpPr/>
          <p:nvPr/>
        </p:nvSpPr>
        <p:spPr>
          <a:xfrm>
            <a:off x="6585286" y="1724316"/>
            <a:ext cx="204535" cy="216779"/>
          </a:xfrm>
          <a:prstGeom prst="rect">
            <a:avLst/>
          </a:prstGeom>
          <a:noFill/>
          <a:ln w="285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 name="Rectangle 24"/>
          <p:cNvSpPr/>
          <p:nvPr/>
        </p:nvSpPr>
        <p:spPr>
          <a:xfrm>
            <a:off x="6128086" y="3148225"/>
            <a:ext cx="204535" cy="216779"/>
          </a:xfrm>
          <a:prstGeom prst="rect">
            <a:avLst/>
          </a:prstGeom>
          <a:noFill/>
          <a:ln w="285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Rectangle 25"/>
          <p:cNvSpPr/>
          <p:nvPr/>
        </p:nvSpPr>
        <p:spPr>
          <a:xfrm>
            <a:off x="5430254" y="5943384"/>
            <a:ext cx="204535" cy="216779"/>
          </a:xfrm>
          <a:prstGeom prst="rect">
            <a:avLst/>
          </a:prstGeom>
          <a:noFill/>
          <a:ln w="285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Rectangle 26"/>
          <p:cNvSpPr/>
          <p:nvPr/>
        </p:nvSpPr>
        <p:spPr>
          <a:xfrm>
            <a:off x="1026687" y="4460821"/>
            <a:ext cx="312829" cy="369519"/>
          </a:xfrm>
          <a:prstGeom prst="rect">
            <a:avLst/>
          </a:prstGeom>
          <a:noFill/>
          <a:ln w="2857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5771577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057400" y="1483917"/>
          <a:ext cx="8153400" cy="3887407"/>
        </p:xfrm>
        <a:graphic>
          <a:graphicData uri="http://schemas.openxmlformats.org/drawingml/2006/table">
            <a:tbl>
              <a:tblPr firstRow="1" firstCol="1" bandRow="1"/>
              <a:tblGrid>
                <a:gridCol w="2174240">
                  <a:extLst>
                    <a:ext uri="{9D8B030D-6E8A-4147-A177-3AD203B41FA5}">
                      <a16:colId xmlns:a16="http://schemas.microsoft.com/office/drawing/2014/main" val="20000"/>
                    </a:ext>
                  </a:extLst>
                </a:gridCol>
                <a:gridCol w="2377707">
                  <a:extLst>
                    <a:ext uri="{9D8B030D-6E8A-4147-A177-3AD203B41FA5}">
                      <a16:colId xmlns:a16="http://schemas.microsoft.com/office/drawing/2014/main" val="20001"/>
                    </a:ext>
                  </a:extLst>
                </a:gridCol>
                <a:gridCol w="3601453">
                  <a:extLst>
                    <a:ext uri="{9D8B030D-6E8A-4147-A177-3AD203B41FA5}">
                      <a16:colId xmlns:a16="http://schemas.microsoft.com/office/drawing/2014/main" val="20002"/>
                    </a:ext>
                  </a:extLst>
                </a:gridCol>
              </a:tblGrid>
              <a:tr h="0">
                <a:tc>
                  <a:txBody>
                    <a:bodyPr/>
                    <a:lstStyle/>
                    <a:p>
                      <a:pPr marL="0" marR="0">
                        <a:lnSpc>
                          <a:spcPct val="150000"/>
                        </a:lnSpc>
                        <a:spcBef>
                          <a:spcPts val="0"/>
                        </a:spcBef>
                        <a:spcAft>
                          <a:spcPts val="0"/>
                        </a:spcAft>
                      </a:pPr>
                      <a:r>
                        <a:rPr lang="en-US" sz="1600" b="1" i="1" dirty="0">
                          <a:solidFill>
                            <a:schemeClr val="bg1"/>
                          </a:solidFill>
                          <a:effectLst/>
                          <a:latin typeface="Calibri"/>
                          <a:ea typeface="Calibri"/>
                          <a:cs typeface="Calibri"/>
                        </a:rPr>
                        <a:t>Instruction</a:t>
                      </a:r>
                      <a:endParaRPr lang="en-US" sz="1600" dirty="0">
                        <a:solidFill>
                          <a:schemeClr val="bg1"/>
                        </a:solidFill>
                        <a:effectLst/>
                        <a:latin typeface="Arial"/>
                        <a:ea typeface="Arial"/>
                        <a:cs typeface="Calibri"/>
                      </a:endParaRPr>
                    </a:p>
                  </a:txBody>
                  <a:tcPr marL="6858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nSpc>
                          <a:spcPct val="150000"/>
                        </a:lnSpc>
                        <a:spcBef>
                          <a:spcPts val="0"/>
                        </a:spcBef>
                        <a:spcAft>
                          <a:spcPts val="0"/>
                        </a:spcAft>
                      </a:pPr>
                      <a:r>
                        <a:rPr lang="en-US" sz="1600" b="1" i="1" dirty="0">
                          <a:solidFill>
                            <a:schemeClr val="bg1"/>
                          </a:solidFill>
                          <a:effectLst/>
                          <a:latin typeface="Calibri"/>
                          <a:ea typeface="Calibri"/>
                          <a:cs typeface="Calibri"/>
                        </a:rPr>
                        <a:t>Syntax</a:t>
                      </a:r>
                      <a:endParaRPr lang="en-US" sz="1600" dirty="0">
                        <a:solidFill>
                          <a:schemeClr val="bg1"/>
                        </a:solidFill>
                        <a:effectLst/>
                        <a:latin typeface="Arial"/>
                        <a:ea typeface="Arial"/>
                        <a:cs typeface="Calibri"/>
                      </a:endParaRPr>
                    </a:p>
                  </a:txBody>
                  <a:tcPr marL="6858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nSpc>
                          <a:spcPct val="150000"/>
                        </a:lnSpc>
                        <a:spcBef>
                          <a:spcPts val="0"/>
                        </a:spcBef>
                        <a:spcAft>
                          <a:spcPts val="0"/>
                        </a:spcAft>
                      </a:pPr>
                      <a:r>
                        <a:rPr lang="en-US" sz="1600" b="1" i="1" dirty="0">
                          <a:solidFill>
                            <a:schemeClr val="bg1"/>
                          </a:solidFill>
                          <a:effectLst/>
                          <a:latin typeface="Calibri"/>
                          <a:ea typeface="Calibri"/>
                          <a:cs typeface="Calibri"/>
                        </a:rPr>
                        <a:t>Operation</a:t>
                      </a:r>
                      <a:endParaRPr lang="en-US" sz="1600" dirty="0">
                        <a:solidFill>
                          <a:schemeClr val="bg1"/>
                        </a:solidFill>
                        <a:effectLst/>
                        <a:latin typeface="Arial"/>
                        <a:ea typeface="Arial"/>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65760">
                <a:tc>
                  <a:txBody>
                    <a:bodyPr/>
                    <a:lstStyle/>
                    <a:p>
                      <a:pPr marL="0" marR="0">
                        <a:lnSpc>
                          <a:spcPct val="100000"/>
                        </a:lnSpc>
                        <a:spcBef>
                          <a:spcPts val="0"/>
                        </a:spcBef>
                        <a:spcAft>
                          <a:spcPts val="0"/>
                        </a:spcAft>
                      </a:pPr>
                      <a:r>
                        <a:rPr lang="en-US" sz="1400" dirty="0">
                          <a:solidFill>
                            <a:srgbClr val="000000"/>
                          </a:solidFill>
                          <a:effectLst/>
                          <a:latin typeface="Calibri"/>
                          <a:ea typeface="Calibri"/>
                          <a:cs typeface="Calibri"/>
                        </a:rPr>
                        <a:t>Floating-point add</a:t>
                      </a:r>
                      <a:endParaRPr lang="en-US" sz="14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1250950" algn="l"/>
                        </a:tabLst>
                      </a:pPr>
                      <a:r>
                        <a:rPr lang="en-US" sz="1800" dirty="0">
                          <a:solidFill>
                            <a:srgbClr val="000000"/>
                          </a:solidFill>
                          <a:effectLst/>
                          <a:latin typeface="Calibri"/>
                          <a:ea typeface="Calibri"/>
                          <a:cs typeface="Calibri"/>
                        </a:rPr>
                        <a:t>VADD.F32	</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d</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n</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m</a:t>
                      </a:r>
                      <a:endParaRPr lang="en-US" sz="18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d</a:t>
                      </a:r>
                      <a:r>
                        <a:rPr lang="en-US" sz="1800" dirty="0">
                          <a:solidFill>
                            <a:srgbClr val="000000"/>
                          </a:solidFill>
                          <a:effectLst/>
                          <a:latin typeface="Calibri"/>
                          <a:ea typeface="Calibri"/>
                          <a:cs typeface="Calibri"/>
                        </a:rPr>
                        <a:t> </a:t>
                      </a:r>
                      <a:r>
                        <a:rPr lang="en-US" sz="1800" dirty="0">
                          <a:solidFill>
                            <a:srgbClr val="000000"/>
                          </a:solidFill>
                          <a:effectLst/>
                          <a:latin typeface="Calibri"/>
                          <a:ea typeface="Calibri"/>
                          <a:cs typeface="Calibri"/>
                          <a:sym typeface="Wingdings"/>
                        </a:rPr>
                        <a:t>=</a:t>
                      </a:r>
                      <a:r>
                        <a:rPr lang="en-US" sz="1800" dirty="0">
                          <a:solidFill>
                            <a:srgbClr val="000000"/>
                          </a:solidFill>
                          <a:effectLst/>
                          <a:latin typeface="Calibri"/>
                          <a:ea typeface="Calibri"/>
                          <a:cs typeface="Calibri"/>
                        </a:rPr>
                        <a:t> S</a:t>
                      </a:r>
                      <a:r>
                        <a:rPr lang="en-US" sz="1800" baseline="-25000" dirty="0">
                          <a:solidFill>
                            <a:srgbClr val="000000"/>
                          </a:solidFill>
                          <a:effectLst/>
                          <a:latin typeface="Calibri"/>
                          <a:ea typeface="Calibri"/>
                          <a:cs typeface="Calibri"/>
                        </a:rPr>
                        <a:t>n</a:t>
                      </a:r>
                      <a:r>
                        <a:rPr lang="en-US" sz="1800" dirty="0">
                          <a:solidFill>
                            <a:srgbClr val="000000"/>
                          </a:solidFill>
                          <a:effectLst/>
                          <a:latin typeface="Calibri"/>
                          <a:ea typeface="Calibri"/>
                          <a:cs typeface="Calibri"/>
                        </a:rPr>
                        <a:t> + S</a:t>
                      </a:r>
                      <a:r>
                        <a:rPr lang="en-US" sz="1800" baseline="-25000" dirty="0">
                          <a:solidFill>
                            <a:srgbClr val="000000"/>
                          </a:solidFill>
                          <a:effectLst/>
                          <a:latin typeface="Calibri"/>
                          <a:ea typeface="Calibri"/>
                          <a:cs typeface="Calibri"/>
                        </a:rPr>
                        <a:t>m</a:t>
                      </a:r>
                      <a:endParaRPr lang="en-US" sz="18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marR="0">
                        <a:lnSpc>
                          <a:spcPct val="100000"/>
                        </a:lnSpc>
                        <a:spcBef>
                          <a:spcPts val="0"/>
                        </a:spcBef>
                        <a:spcAft>
                          <a:spcPts val="0"/>
                        </a:spcAft>
                      </a:pPr>
                      <a:r>
                        <a:rPr lang="en-US" sz="1400" dirty="0">
                          <a:solidFill>
                            <a:srgbClr val="000000"/>
                          </a:solidFill>
                          <a:effectLst/>
                          <a:latin typeface="Calibri"/>
                          <a:ea typeface="Calibri"/>
                          <a:cs typeface="Calibri"/>
                        </a:rPr>
                        <a:t>Floating-point subtract</a:t>
                      </a:r>
                      <a:endParaRPr lang="en-US" sz="14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1250950" algn="l"/>
                        </a:tabLst>
                      </a:pPr>
                      <a:r>
                        <a:rPr lang="en-US" sz="1800" dirty="0">
                          <a:solidFill>
                            <a:srgbClr val="000000"/>
                          </a:solidFill>
                          <a:effectLst/>
                          <a:latin typeface="Calibri"/>
                          <a:ea typeface="Calibri"/>
                          <a:cs typeface="Calibri"/>
                        </a:rPr>
                        <a:t>VSUB.F32	</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d</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n</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m</a:t>
                      </a:r>
                      <a:endParaRPr lang="en-US" sz="18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d</a:t>
                      </a:r>
                      <a:r>
                        <a:rPr lang="en-US" sz="1800" dirty="0">
                          <a:solidFill>
                            <a:srgbClr val="000000"/>
                          </a:solidFill>
                          <a:effectLst/>
                          <a:latin typeface="Calibri"/>
                          <a:ea typeface="Calibri"/>
                          <a:cs typeface="Calibri"/>
                        </a:rPr>
                        <a:t> </a:t>
                      </a:r>
                      <a:r>
                        <a:rPr lang="en-US" sz="1800" dirty="0">
                          <a:solidFill>
                            <a:srgbClr val="000000"/>
                          </a:solidFill>
                          <a:effectLst/>
                          <a:latin typeface="Calibri"/>
                          <a:ea typeface="Calibri"/>
                          <a:cs typeface="Calibri"/>
                          <a:sym typeface="Wingdings"/>
                        </a:rPr>
                        <a:t>=</a:t>
                      </a:r>
                      <a:r>
                        <a:rPr lang="en-US" sz="1800" dirty="0">
                          <a:solidFill>
                            <a:srgbClr val="000000"/>
                          </a:solidFill>
                          <a:effectLst/>
                          <a:latin typeface="Calibri"/>
                          <a:ea typeface="Calibri"/>
                          <a:cs typeface="Calibri"/>
                        </a:rPr>
                        <a:t> S</a:t>
                      </a:r>
                      <a:r>
                        <a:rPr lang="en-US" sz="1800" baseline="-25000" dirty="0">
                          <a:solidFill>
                            <a:srgbClr val="000000"/>
                          </a:solidFill>
                          <a:effectLst/>
                          <a:latin typeface="Calibri"/>
                          <a:ea typeface="Calibri"/>
                          <a:cs typeface="Calibri"/>
                        </a:rPr>
                        <a:t>n</a:t>
                      </a:r>
                      <a:r>
                        <a:rPr lang="en-US" sz="1800" dirty="0">
                          <a:solidFill>
                            <a:srgbClr val="000000"/>
                          </a:solidFill>
                          <a:effectLst/>
                          <a:latin typeface="Calibri"/>
                          <a:ea typeface="Calibri"/>
                          <a:cs typeface="Calibri"/>
                        </a:rPr>
                        <a:t> − S</a:t>
                      </a:r>
                      <a:r>
                        <a:rPr lang="en-US" sz="1800" baseline="-25000" dirty="0">
                          <a:solidFill>
                            <a:srgbClr val="000000"/>
                          </a:solidFill>
                          <a:effectLst/>
                          <a:latin typeface="Calibri"/>
                          <a:ea typeface="Calibri"/>
                          <a:cs typeface="Calibri"/>
                        </a:rPr>
                        <a:t>m</a:t>
                      </a:r>
                      <a:endParaRPr lang="en-US" sz="18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marR="0">
                        <a:lnSpc>
                          <a:spcPct val="100000"/>
                        </a:lnSpc>
                        <a:spcBef>
                          <a:spcPts val="0"/>
                        </a:spcBef>
                        <a:spcAft>
                          <a:spcPts val="0"/>
                        </a:spcAft>
                      </a:pPr>
                      <a:r>
                        <a:rPr lang="en-US" sz="1400" dirty="0">
                          <a:solidFill>
                            <a:srgbClr val="000000"/>
                          </a:solidFill>
                          <a:effectLst/>
                          <a:latin typeface="Calibri"/>
                          <a:ea typeface="Calibri"/>
                          <a:cs typeface="Calibri"/>
                        </a:rPr>
                        <a:t>Floating-point negate</a:t>
                      </a:r>
                      <a:endParaRPr lang="en-US" sz="14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1250950" algn="l"/>
                        </a:tabLst>
                      </a:pPr>
                      <a:r>
                        <a:rPr lang="en-US" sz="1800" dirty="0">
                          <a:solidFill>
                            <a:srgbClr val="000000"/>
                          </a:solidFill>
                          <a:effectLst/>
                          <a:latin typeface="Calibri"/>
                          <a:ea typeface="Calibri"/>
                          <a:cs typeface="Calibri"/>
                        </a:rPr>
                        <a:t>VNEG.F32	</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d</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m</a:t>
                      </a:r>
                      <a:endParaRPr lang="en-US" sz="18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d</a:t>
                      </a:r>
                      <a:r>
                        <a:rPr lang="en-US" sz="1800" dirty="0">
                          <a:solidFill>
                            <a:srgbClr val="000000"/>
                          </a:solidFill>
                          <a:effectLst/>
                          <a:latin typeface="Calibri"/>
                          <a:ea typeface="Calibri"/>
                          <a:cs typeface="Calibri"/>
                        </a:rPr>
                        <a:t> </a:t>
                      </a:r>
                      <a:r>
                        <a:rPr lang="en-US" sz="1800" dirty="0">
                          <a:solidFill>
                            <a:srgbClr val="000000"/>
                          </a:solidFill>
                          <a:effectLst/>
                          <a:latin typeface="Calibri"/>
                          <a:ea typeface="Calibri"/>
                          <a:cs typeface="Calibri"/>
                          <a:sym typeface="Wingdings"/>
                        </a:rPr>
                        <a:t>=</a:t>
                      </a:r>
                      <a:r>
                        <a:rPr lang="en-US" sz="1800" dirty="0">
                          <a:solidFill>
                            <a:srgbClr val="000000"/>
                          </a:solidFill>
                          <a:effectLst/>
                          <a:latin typeface="Calibri"/>
                          <a:ea typeface="Calibri"/>
                          <a:cs typeface="Calibri"/>
                        </a:rPr>
                        <a:t> −S</a:t>
                      </a:r>
                      <a:r>
                        <a:rPr lang="en-US" sz="1800" baseline="-25000" dirty="0">
                          <a:solidFill>
                            <a:srgbClr val="000000"/>
                          </a:solidFill>
                          <a:effectLst/>
                          <a:latin typeface="Calibri"/>
                          <a:ea typeface="Calibri"/>
                          <a:cs typeface="Calibri"/>
                        </a:rPr>
                        <a:t>m</a:t>
                      </a:r>
                      <a:endParaRPr lang="en-US" sz="18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marR="0">
                        <a:lnSpc>
                          <a:spcPct val="100000"/>
                        </a:lnSpc>
                        <a:spcBef>
                          <a:spcPts val="0"/>
                        </a:spcBef>
                        <a:spcAft>
                          <a:spcPts val="0"/>
                        </a:spcAft>
                      </a:pPr>
                      <a:r>
                        <a:rPr lang="en-US" sz="1400" dirty="0">
                          <a:solidFill>
                            <a:srgbClr val="000000"/>
                          </a:solidFill>
                          <a:effectLst/>
                          <a:latin typeface="Calibri"/>
                          <a:ea typeface="Calibri"/>
                          <a:cs typeface="Calibri"/>
                        </a:rPr>
                        <a:t>Floating-point </a:t>
                      </a:r>
                      <a:r>
                        <a:rPr lang="en-US" sz="1400">
                          <a:solidFill>
                            <a:srgbClr val="000000"/>
                          </a:solidFill>
                          <a:effectLst/>
                          <a:latin typeface="Calibri"/>
                          <a:ea typeface="Calibri"/>
                          <a:cs typeface="Calibri"/>
                        </a:rPr>
                        <a:t>abs</a:t>
                      </a:r>
                      <a:r>
                        <a:rPr lang="en-US" sz="1400" baseline="0">
                          <a:solidFill>
                            <a:srgbClr val="000000"/>
                          </a:solidFill>
                          <a:effectLst/>
                          <a:latin typeface="Calibri"/>
                          <a:ea typeface="Calibri"/>
                          <a:cs typeface="Calibri"/>
                        </a:rPr>
                        <a:t> </a:t>
                      </a:r>
                      <a:r>
                        <a:rPr lang="en-US" sz="1400">
                          <a:solidFill>
                            <a:srgbClr val="000000"/>
                          </a:solidFill>
                          <a:effectLst/>
                          <a:latin typeface="Calibri"/>
                          <a:ea typeface="Calibri"/>
                          <a:cs typeface="Calibri"/>
                        </a:rPr>
                        <a:t>value</a:t>
                      </a:r>
                      <a:endParaRPr lang="en-US" sz="14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1250950" algn="l"/>
                        </a:tabLst>
                      </a:pPr>
                      <a:r>
                        <a:rPr lang="en-US" sz="1800" dirty="0">
                          <a:solidFill>
                            <a:srgbClr val="000000"/>
                          </a:solidFill>
                          <a:effectLst/>
                          <a:latin typeface="Calibri"/>
                          <a:ea typeface="Calibri"/>
                          <a:cs typeface="Calibri"/>
                        </a:rPr>
                        <a:t>VABS.F32	</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d</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m</a:t>
                      </a:r>
                      <a:endParaRPr lang="en-US" sz="18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d</a:t>
                      </a:r>
                      <a:r>
                        <a:rPr lang="en-US" sz="1800" dirty="0">
                          <a:solidFill>
                            <a:srgbClr val="000000"/>
                          </a:solidFill>
                          <a:effectLst/>
                          <a:latin typeface="Calibri"/>
                          <a:ea typeface="Calibri"/>
                          <a:cs typeface="Calibri"/>
                        </a:rPr>
                        <a:t> </a:t>
                      </a:r>
                      <a:r>
                        <a:rPr lang="en-US" sz="1800" dirty="0">
                          <a:solidFill>
                            <a:srgbClr val="000000"/>
                          </a:solidFill>
                          <a:effectLst/>
                          <a:latin typeface="Calibri"/>
                          <a:ea typeface="Calibri"/>
                          <a:cs typeface="Calibri"/>
                          <a:sym typeface="Wingdings"/>
                        </a:rPr>
                        <a:t>=</a:t>
                      </a:r>
                      <a:r>
                        <a:rPr lang="en-US" sz="1800" dirty="0">
                          <a:solidFill>
                            <a:srgbClr val="000000"/>
                          </a:solidFill>
                          <a:effectLst/>
                          <a:latin typeface="Calibri"/>
                          <a:ea typeface="Calibri"/>
                          <a:cs typeface="Calibri"/>
                        </a:rPr>
                        <a:t> | S</a:t>
                      </a:r>
                      <a:r>
                        <a:rPr lang="en-US" sz="1800" baseline="-25000" dirty="0">
                          <a:solidFill>
                            <a:srgbClr val="000000"/>
                          </a:solidFill>
                          <a:effectLst/>
                          <a:latin typeface="Calibri"/>
                          <a:ea typeface="Calibri"/>
                          <a:cs typeface="Calibri"/>
                        </a:rPr>
                        <a:t>m</a:t>
                      </a:r>
                      <a:r>
                        <a:rPr lang="en-US" sz="1800" dirty="0">
                          <a:solidFill>
                            <a:srgbClr val="000000"/>
                          </a:solidFill>
                          <a:effectLst/>
                          <a:latin typeface="Calibri"/>
                          <a:ea typeface="Calibri"/>
                          <a:cs typeface="Calibri"/>
                        </a:rPr>
                        <a:t> |   </a:t>
                      </a:r>
                      <a:r>
                        <a:rPr lang="en-US" sz="1800" i="1" dirty="0">
                          <a:solidFill>
                            <a:srgbClr val="000000"/>
                          </a:solidFill>
                          <a:effectLst/>
                          <a:latin typeface="Times New Roman" panose="02020603050405020304" pitchFamily="18" charset="0"/>
                          <a:ea typeface="Calibri"/>
                          <a:cs typeface="Times New Roman" panose="02020603050405020304" pitchFamily="18" charset="0"/>
                        </a:rPr>
                        <a:t>(clears FPU sign bit, N)</a:t>
                      </a:r>
                      <a:endParaRPr lang="en-US" sz="1800" dirty="0">
                        <a:solidFill>
                          <a:srgbClr val="000000"/>
                        </a:solidFill>
                        <a:effectLst/>
                        <a:latin typeface="Times New Roman" panose="02020603050405020304" pitchFamily="18" charset="0"/>
                        <a:ea typeface="Arial"/>
                        <a:cs typeface="Times New Roman" panose="02020603050405020304" pitchFamily="18" charset="0"/>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marR="0">
                        <a:lnSpc>
                          <a:spcPct val="100000"/>
                        </a:lnSpc>
                        <a:spcBef>
                          <a:spcPts val="0"/>
                        </a:spcBef>
                        <a:spcAft>
                          <a:spcPts val="0"/>
                        </a:spcAft>
                      </a:pPr>
                      <a:r>
                        <a:rPr lang="en-US" sz="1400" dirty="0">
                          <a:solidFill>
                            <a:srgbClr val="000000"/>
                          </a:solidFill>
                          <a:effectLst/>
                          <a:latin typeface="Calibri"/>
                          <a:ea typeface="Calibri"/>
                          <a:cs typeface="Calibri"/>
                        </a:rPr>
                        <a:t>Floating-point multiply</a:t>
                      </a:r>
                      <a:endParaRPr lang="en-US" sz="14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1250950" algn="l"/>
                        </a:tabLst>
                      </a:pPr>
                      <a:r>
                        <a:rPr lang="en-US" sz="1800" dirty="0">
                          <a:solidFill>
                            <a:srgbClr val="000000"/>
                          </a:solidFill>
                          <a:effectLst/>
                          <a:latin typeface="Calibri"/>
                          <a:ea typeface="Calibri"/>
                          <a:cs typeface="Calibri"/>
                        </a:rPr>
                        <a:t>VMUL.F32 	</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d</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n</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m</a:t>
                      </a:r>
                      <a:endParaRPr lang="en-US" sz="18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d</a:t>
                      </a:r>
                      <a:r>
                        <a:rPr lang="en-US" sz="1800" dirty="0">
                          <a:solidFill>
                            <a:srgbClr val="000000"/>
                          </a:solidFill>
                          <a:effectLst/>
                          <a:latin typeface="Calibri"/>
                          <a:ea typeface="Calibri"/>
                          <a:cs typeface="Calibri"/>
                        </a:rPr>
                        <a:t> </a:t>
                      </a:r>
                      <a:r>
                        <a:rPr lang="en-US" sz="1800" dirty="0">
                          <a:solidFill>
                            <a:srgbClr val="000000"/>
                          </a:solidFill>
                          <a:effectLst/>
                          <a:latin typeface="Calibri"/>
                          <a:ea typeface="Calibri"/>
                          <a:cs typeface="Calibri"/>
                          <a:sym typeface="Wingdings"/>
                        </a:rPr>
                        <a:t>=</a:t>
                      </a:r>
                      <a:r>
                        <a:rPr lang="en-US" sz="1800" dirty="0">
                          <a:solidFill>
                            <a:srgbClr val="000000"/>
                          </a:solidFill>
                          <a:effectLst/>
                          <a:latin typeface="Calibri"/>
                          <a:ea typeface="Calibri"/>
                          <a:cs typeface="Calibri"/>
                        </a:rPr>
                        <a:t> S</a:t>
                      </a:r>
                      <a:r>
                        <a:rPr lang="en-US" sz="1800" baseline="-25000" dirty="0">
                          <a:solidFill>
                            <a:srgbClr val="000000"/>
                          </a:solidFill>
                          <a:effectLst/>
                          <a:latin typeface="Calibri"/>
                          <a:ea typeface="Calibri"/>
                          <a:cs typeface="Calibri"/>
                        </a:rPr>
                        <a:t>n</a:t>
                      </a:r>
                      <a:r>
                        <a:rPr lang="en-US" sz="1800" dirty="0">
                          <a:solidFill>
                            <a:srgbClr val="000000"/>
                          </a:solidFill>
                          <a:effectLst/>
                          <a:latin typeface="Calibri"/>
                          <a:ea typeface="Calibri"/>
                          <a:cs typeface="Calibri"/>
                        </a:rPr>
                        <a:t> × S</a:t>
                      </a:r>
                      <a:r>
                        <a:rPr lang="en-US" sz="1800" baseline="-25000" dirty="0">
                          <a:solidFill>
                            <a:srgbClr val="000000"/>
                          </a:solidFill>
                          <a:effectLst/>
                          <a:latin typeface="Calibri"/>
                          <a:ea typeface="Calibri"/>
                          <a:cs typeface="Calibri"/>
                        </a:rPr>
                        <a:t>m</a:t>
                      </a:r>
                      <a:endParaRPr lang="en-US" sz="18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marR="0">
                        <a:lnSpc>
                          <a:spcPct val="100000"/>
                        </a:lnSpc>
                        <a:spcBef>
                          <a:spcPts val="0"/>
                        </a:spcBef>
                        <a:spcAft>
                          <a:spcPts val="0"/>
                        </a:spcAft>
                      </a:pPr>
                      <a:r>
                        <a:rPr lang="en-US" sz="1400" dirty="0">
                          <a:solidFill>
                            <a:srgbClr val="000000"/>
                          </a:solidFill>
                          <a:effectLst/>
                          <a:latin typeface="Calibri"/>
                          <a:ea typeface="Calibri"/>
                          <a:cs typeface="Calibri"/>
                        </a:rPr>
                        <a:t>Floating-point divide</a:t>
                      </a:r>
                      <a:endParaRPr lang="en-US" sz="14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1250950" algn="l"/>
                        </a:tabLst>
                      </a:pPr>
                      <a:r>
                        <a:rPr lang="en-US" sz="1800" dirty="0">
                          <a:solidFill>
                            <a:srgbClr val="000000"/>
                          </a:solidFill>
                          <a:effectLst/>
                          <a:latin typeface="Calibri"/>
                          <a:ea typeface="Calibri"/>
                          <a:cs typeface="Calibri"/>
                        </a:rPr>
                        <a:t>VDIV.F32 	</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d</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n</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m</a:t>
                      </a:r>
                      <a:endParaRPr lang="en-US" sz="18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d</a:t>
                      </a:r>
                      <a:r>
                        <a:rPr lang="en-US" sz="1800" dirty="0">
                          <a:solidFill>
                            <a:srgbClr val="000000"/>
                          </a:solidFill>
                          <a:effectLst/>
                          <a:latin typeface="Calibri"/>
                          <a:ea typeface="Calibri"/>
                          <a:cs typeface="Calibri"/>
                        </a:rPr>
                        <a:t> </a:t>
                      </a:r>
                      <a:r>
                        <a:rPr lang="en-US" sz="1800" dirty="0">
                          <a:solidFill>
                            <a:srgbClr val="000000"/>
                          </a:solidFill>
                          <a:effectLst/>
                          <a:latin typeface="Calibri"/>
                          <a:ea typeface="Calibri"/>
                          <a:cs typeface="Calibri"/>
                          <a:sym typeface="Wingdings"/>
                        </a:rPr>
                        <a:t>=</a:t>
                      </a:r>
                      <a:r>
                        <a:rPr lang="en-US" sz="1800" dirty="0">
                          <a:solidFill>
                            <a:srgbClr val="000000"/>
                          </a:solidFill>
                          <a:effectLst/>
                          <a:latin typeface="Calibri"/>
                          <a:ea typeface="Calibri"/>
                          <a:cs typeface="Calibri"/>
                        </a:rPr>
                        <a:t> S</a:t>
                      </a:r>
                      <a:r>
                        <a:rPr lang="en-US" sz="1800" baseline="-25000" dirty="0">
                          <a:solidFill>
                            <a:srgbClr val="000000"/>
                          </a:solidFill>
                          <a:effectLst/>
                          <a:latin typeface="Calibri"/>
                          <a:ea typeface="Calibri"/>
                          <a:cs typeface="Calibri"/>
                        </a:rPr>
                        <a:t>n</a:t>
                      </a:r>
                      <a:r>
                        <a:rPr lang="en-US" sz="1800" dirty="0">
                          <a:solidFill>
                            <a:srgbClr val="000000"/>
                          </a:solidFill>
                          <a:effectLst/>
                          <a:latin typeface="Calibri"/>
                          <a:ea typeface="Calibri"/>
                          <a:cs typeface="Calibri"/>
                        </a:rPr>
                        <a:t> ÷ S</a:t>
                      </a:r>
                      <a:r>
                        <a:rPr lang="en-US" sz="1800" baseline="-25000" dirty="0">
                          <a:solidFill>
                            <a:srgbClr val="000000"/>
                          </a:solidFill>
                          <a:effectLst/>
                          <a:latin typeface="Calibri"/>
                          <a:ea typeface="Calibri"/>
                          <a:cs typeface="Calibri"/>
                        </a:rPr>
                        <a:t>m</a:t>
                      </a:r>
                      <a:endParaRPr lang="en-US" sz="18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marR="0">
                        <a:lnSpc>
                          <a:spcPct val="100000"/>
                        </a:lnSpc>
                        <a:spcBef>
                          <a:spcPts val="0"/>
                        </a:spcBef>
                        <a:spcAft>
                          <a:spcPts val="0"/>
                        </a:spcAft>
                      </a:pPr>
                      <a:r>
                        <a:rPr lang="en-US" sz="1400" dirty="0">
                          <a:solidFill>
                            <a:srgbClr val="000000"/>
                          </a:solidFill>
                          <a:effectLst/>
                          <a:latin typeface="Calibri"/>
                          <a:ea typeface="Calibri"/>
                          <a:cs typeface="Calibri"/>
                        </a:rPr>
                        <a:t>Floating-point square root</a:t>
                      </a:r>
                      <a:endParaRPr lang="en-US" sz="14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1250950" algn="l"/>
                        </a:tabLst>
                      </a:pPr>
                      <a:r>
                        <a:rPr lang="en-US" sz="1800" dirty="0">
                          <a:solidFill>
                            <a:srgbClr val="000000"/>
                          </a:solidFill>
                          <a:effectLst/>
                          <a:latin typeface="Calibri"/>
                          <a:ea typeface="Calibri"/>
                          <a:cs typeface="Calibri"/>
                        </a:rPr>
                        <a:t>VSQRT.F32	</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d</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m</a:t>
                      </a:r>
                      <a:endParaRPr lang="en-US" sz="18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d</a:t>
                      </a:r>
                      <a:r>
                        <a:rPr lang="en-US" sz="1800" dirty="0">
                          <a:solidFill>
                            <a:srgbClr val="000000"/>
                          </a:solidFill>
                          <a:effectLst/>
                          <a:latin typeface="Calibri"/>
                          <a:ea typeface="Calibri"/>
                          <a:cs typeface="Calibri"/>
                        </a:rPr>
                        <a:t> </a:t>
                      </a:r>
                      <a:r>
                        <a:rPr lang="en-US" sz="1800" dirty="0">
                          <a:solidFill>
                            <a:srgbClr val="000000"/>
                          </a:solidFill>
                          <a:effectLst/>
                          <a:latin typeface="Calibri"/>
                          <a:ea typeface="Calibri"/>
                          <a:cs typeface="Calibri"/>
                          <a:sym typeface="Wingdings"/>
                        </a:rPr>
                        <a:t>= (</a:t>
                      </a:r>
                      <a:r>
                        <a:rPr lang="en-US" sz="1800" dirty="0">
                          <a:solidFill>
                            <a:srgbClr val="000000"/>
                          </a:solidFill>
                          <a:effectLst/>
                          <a:latin typeface="Calibri"/>
                          <a:ea typeface="Calibri"/>
                          <a:cs typeface="Calibri"/>
                        </a:rPr>
                        <a:t>SQRT) S</a:t>
                      </a:r>
                      <a:r>
                        <a:rPr lang="en-US" sz="1800" baseline="-25000" dirty="0">
                          <a:solidFill>
                            <a:srgbClr val="000000"/>
                          </a:solidFill>
                          <a:effectLst/>
                          <a:latin typeface="Calibri"/>
                          <a:ea typeface="Calibri"/>
                          <a:cs typeface="Calibri"/>
                        </a:rPr>
                        <a:t>m</a:t>
                      </a:r>
                      <a:endParaRPr lang="en-US" sz="1800" baseline="-250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marR="0">
                        <a:lnSpc>
                          <a:spcPct val="100000"/>
                        </a:lnSpc>
                        <a:spcBef>
                          <a:spcPts val="0"/>
                        </a:spcBef>
                        <a:spcAft>
                          <a:spcPts val="0"/>
                        </a:spcAft>
                      </a:pPr>
                      <a:r>
                        <a:rPr lang="en-US" sz="1400" dirty="0">
                          <a:solidFill>
                            <a:srgbClr val="000000"/>
                          </a:solidFill>
                          <a:effectLst/>
                          <a:latin typeface="Calibri"/>
                          <a:ea typeface="Calibri"/>
                          <a:cs typeface="Calibri"/>
                        </a:rPr>
                        <a:t>Floating-point Multiply </a:t>
                      </a:r>
                      <a:br>
                        <a:rPr lang="en-US" sz="1400" dirty="0">
                          <a:solidFill>
                            <a:srgbClr val="000000"/>
                          </a:solidFill>
                          <a:effectLst/>
                          <a:latin typeface="Calibri"/>
                          <a:ea typeface="Calibri"/>
                          <a:cs typeface="Calibri"/>
                        </a:rPr>
                      </a:br>
                      <a:r>
                        <a:rPr lang="en-US" sz="1400" dirty="0">
                          <a:solidFill>
                            <a:srgbClr val="000000"/>
                          </a:solidFill>
                          <a:effectLst/>
                          <a:latin typeface="Calibri"/>
                          <a:ea typeface="Calibri"/>
                          <a:cs typeface="Calibri"/>
                        </a:rPr>
                        <a:t>and Add</a:t>
                      </a:r>
                      <a:endParaRPr lang="en-US" sz="14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1250950" algn="l"/>
                        </a:tabLst>
                      </a:pPr>
                      <a:r>
                        <a:rPr lang="en-US" sz="1800" dirty="0">
                          <a:solidFill>
                            <a:srgbClr val="000000"/>
                          </a:solidFill>
                          <a:effectLst/>
                          <a:latin typeface="Calibri"/>
                          <a:ea typeface="Calibri"/>
                          <a:cs typeface="Calibri"/>
                        </a:rPr>
                        <a:t>VMLA.F32 	</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d</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n</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m</a:t>
                      </a:r>
                      <a:endParaRPr lang="en-US" sz="18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d</a:t>
                      </a:r>
                      <a:r>
                        <a:rPr lang="en-US" sz="1800" dirty="0">
                          <a:solidFill>
                            <a:srgbClr val="000000"/>
                          </a:solidFill>
                          <a:effectLst/>
                          <a:latin typeface="Calibri"/>
                          <a:ea typeface="Calibri"/>
                          <a:cs typeface="Calibri"/>
                        </a:rPr>
                        <a:t> </a:t>
                      </a:r>
                      <a:r>
                        <a:rPr lang="en-US" sz="1800" dirty="0">
                          <a:solidFill>
                            <a:srgbClr val="000000"/>
                          </a:solidFill>
                          <a:effectLst/>
                          <a:latin typeface="Calibri"/>
                          <a:ea typeface="Calibri"/>
                          <a:cs typeface="Calibri"/>
                          <a:sym typeface="Wingdings"/>
                        </a:rPr>
                        <a:t>=</a:t>
                      </a:r>
                      <a:r>
                        <a:rPr lang="en-US" sz="1800" dirty="0">
                          <a:solidFill>
                            <a:srgbClr val="000000"/>
                          </a:solidFill>
                          <a:effectLst/>
                          <a:latin typeface="Calibri"/>
                          <a:ea typeface="Calibri"/>
                          <a:cs typeface="Calibri"/>
                        </a:rPr>
                        <a:t> S</a:t>
                      </a:r>
                      <a:r>
                        <a:rPr lang="en-US" sz="1800" baseline="-25000" dirty="0">
                          <a:solidFill>
                            <a:srgbClr val="000000"/>
                          </a:solidFill>
                          <a:effectLst/>
                          <a:latin typeface="Calibri"/>
                          <a:ea typeface="Calibri"/>
                          <a:cs typeface="Calibri"/>
                        </a:rPr>
                        <a:t>d</a:t>
                      </a:r>
                      <a:r>
                        <a:rPr lang="en-US" sz="1800" dirty="0">
                          <a:solidFill>
                            <a:srgbClr val="000000"/>
                          </a:solidFill>
                          <a:effectLst/>
                          <a:latin typeface="Calibri"/>
                          <a:ea typeface="Calibri"/>
                          <a:cs typeface="Calibri"/>
                        </a:rPr>
                        <a:t> + S</a:t>
                      </a:r>
                      <a:r>
                        <a:rPr lang="en-US" sz="1800" baseline="-25000" dirty="0">
                          <a:solidFill>
                            <a:srgbClr val="000000"/>
                          </a:solidFill>
                          <a:effectLst/>
                          <a:latin typeface="Calibri"/>
                          <a:ea typeface="Calibri"/>
                          <a:cs typeface="Calibri"/>
                        </a:rPr>
                        <a:t>n</a:t>
                      </a:r>
                      <a:r>
                        <a:rPr lang="en-US" sz="1800" dirty="0">
                          <a:solidFill>
                            <a:srgbClr val="000000"/>
                          </a:solidFill>
                          <a:effectLst/>
                          <a:latin typeface="Calibri"/>
                          <a:ea typeface="Calibri"/>
                          <a:cs typeface="Calibri"/>
                        </a:rPr>
                        <a:t> × S</a:t>
                      </a:r>
                      <a:r>
                        <a:rPr lang="en-US" sz="1800" baseline="-25000" dirty="0">
                          <a:solidFill>
                            <a:srgbClr val="000000"/>
                          </a:solidFill>
                          <a:effectLst/>
                          <a:latin typeface="Calibri"/>
                          <a:ea typeface="Calibri"/>
                          <a:cs typeface="Calibri"/>
                        </a:rPr>
                        <a:t>m</a:t>
                      </a:r>
                      <a:endParaRPr lang="en-US" sz="18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65760">
                <a:tc>
                  <a:txBody>
                    <a:bodyPr/>
                    <a:lstStyle/>
                    <a:p>
                      <a:pPr marL="0" marR="0">
                        <a:lnSpc>
                          <a:spcPct val="100000"/>
                        </a:lnSpc>
                        <a:spcBef>
                          <a:spcPts val="0"/>
                        </a:spcBef>
                        <a:spcAft>
                          <a:spcPts val="0"/>
                        </a:spcAft>
                      </a:pPr>
                      <a:r>
                        <a:rPr lang="en-US" sz="1400" dirty="0">
                          <a:solidFill>
                            <a:srgbClr val="000000"/>
                          </a:solidFill>
                          <a:effectLst/>
                          <a:latin typeface="Calibri"/>
                          <a:ea typeface="Calibri"/>
                          <a:cs typeface="Calibri"/>
                        </a:rPr>
                        <a:t>Floating-point Multiply </a:t>
                      </a:r>
                      <a:br>
                        <a:rPr lang="en-US" sz="1400" dirty="0">
                          <a:solidFill>
                            <a:srgbClr val="000000"/>
                          </a:solidFill>
                          <a:effectLst/>
                          <a:latin typeface="Calibri"/>
                          <a:ea typeface="Calibri"/>
                          <a:cs typeface="Calibri"/>
                        </a:rPr>
                      </a:br>
                      <a:r>
                        <a:rPr lang="en-US" sz="1400" dirty="0">
                          <a:solidFill>
                            <a:srgbClr val="000000"/>
                          </a:solidFill>
                          <a:effectLst/>
                          <a:latin typeface="Calibri"/>
                          <a:ea typeface="Calibri"/>
                          <a:cs typeface="Calibri"/>
                        </a:rPr>
                        <a:t>and Subtract</a:t>
                      </a:r>
                      <a:endParaRPr lang="en-US" sz="14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tabLst>
                          <a:tab pos="1250950" algn="l"/>
                        </a:tabLst>
                      </a:pPr>
                      <a:r>
                        <a:rPr lang="en-US" sz="1800">
                          <a:solidFill>
                            <a:srgbClr val="000000"/>
                          </a:solidFill>
                          <a:effectLst/>
                          <a:latin typeface="Calibri"/>
                          <a:ea typeface="Calibri"/>
                          <a:cs typeface="Calibri"/>
                        </a:rPr>
                        <a:t>VMLS.F32 </a:t>
                      </a:r>
                      <a:r>
                        <a:rPr lang="en-US" sz="1800" dirty="0">
                          <a:solidFill>
                            <a:srgbClr val="000000"/>
                          </a:solidFill>
                          <a:effectLst/>
                          <a:latin typeface="Calibri"/>
                          <a:ea typeface="Calibri"/>
                          <a:cs typeface="Calibri"/>
                        </a:rPr>
                        <a:t>	</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d</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n</a:t>
                      </a: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m</a:t>
                      </a:r>
                      <a:endParaRPr lang="en-US" sz="1800" dirty="0">
                        <a:solidFill>
                          <a:srgbClr val="000000"/>
                        </a:solidFill>
                        <a:effectLst/>
                        <a:latin typeface="Arial"/>
                        <a:ea typeface="Arial"/>
                        <a:cs typeface="Calibri"/>
                      </a:endParaRPr>
                    </a:p>
                  </a:txBody>
                  <a:tcPr marL="73025" marR="0"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800" dirty="0" err="1">
                          <a:solidFill>
                            <a:srgbClr val="000000"/>
                          </a:solidFill>
                          <a:effectLst/>
                          <a:latin typeface="Calibri"/>
                          <a:ea typeface="Calibri"/>
                          <a:cs typeface="Calibri"/>
                        </a:rPr>
                        <a:t>S</a:t>
                      </a:r>
                      <a:r>
                        <a:rPr lang="en-US" sz="1800" baseline="-25000" dirty="0" err="1">
                          <a:solidFill>
                            <a:srgbClr val="000000"/>
                          </a:solidFill>
                          <a:effectLst/>
                          <a:latin typeface="Calibri"/>
                          <a:ea typeface="Calibri"/>
                          <a:cs typeface="Calibri"/>
                        </a:rPr>
                        <a:t>d</a:t>
                      </a:r>
                      <a:r>
                        <a:rPr lang="en-US" sz="1800" dirty="0">
                          <a:solidFill>
                            <a:srgbClr val="000000"/>
                          </a:solidFill>
                          <a:effectLst/>
                          <a:latin typeface="Calibri"/>
                          <a:ea typeface="Calibri"/>
                          <a:cs typeface="Calibri"/>
                        </a:rPr>
                        <a:t> </a:t>
                      </a:r>
                      <a:r>
                        <a:rPr lang="en-US" sz="1800" dirty="0">
                          <a:solidFill>
                            <a:srgbClr val="000000"/>
                          </a:solidFill>
                          <a:effectLst/>
                          <a:latin typeface="Calibri"/>
                          <a:ea typeface="Calibri"/>
                          <a:cs typeface="Calibri"/>
                          <a:sym typeface="Wingdings"/>
                        </a:rPr>
                        <a:t>=</a:t>
                      </a:r>
                      <a:r>
                        <a:rPr lang="en-US" sz="1800" dirty="0">
                          <a:solidFill>
                            <a:srgbClr val="000000"/>
                          </a:solidFill>
                          <a:effectLst/>
                          <a:latin typeface="Calibri"/>
                          <a:ea typeface="Calibri"/>
                          <a:cs typeface="Calibri"/>
                        </a:rPr>
                        <a:t> S</a:t>
                      </a:r>
                      <a:r>
                        <a:rPr lang="en-US" sz="1800" baseline="-25000" dirty="0">
                          <a:solidFill>
                            <a:srgbClr val="000000"/>
                          </a:solidFill>
                          <a:effectLst/>
                          <a:latin typeface="Calibri"/>
                          <a:ea typeface="Calibri"/>
                          <a:cs typeface="Calibri"/>
                        </a:rPr>
                        <a:t>d</a:t>
                      </a:r>
                      <a:r>
                        <a:rPr lang="en-US" sz="1800" dirty="0">
                          <a:solidFill>
                            <a:srgbClr val="000000"/>
                          </a:solidFill>
                          <a:effectLst/>
                          <a:latin typeface="Calibri"/>
                          <a:ea typeface="Calibri"/>
                          <a:cs typeface="Calibri"/>
                        </a:rPr>
                        <a:t> − S</a:t>
                      </a:r>
                      <a:r>
                        <a:rPr lang="en-US" sz="1800" baseline="-25000" dirty="0">
                          <a:solidFill>
                            <a:srgbClr val="000000"/>
                          </a:solidFill>
                          <a:effectLst/>
                          <a:latin typeface="Calibri"/>
                          <a:ea typeface="Calibri"/>
                          <a:cs typeface="Calibri"/>
                        </a:rPr>
                        <a:t>n</a:t>
                      </a:r>
                      <a:r>
                        <a:rPr lang="en-US" sz="1800" dirty="0">
                          <a:solidFill>
                            <a:srgbClr val="000000"/>
                          </a:solidFill>
                          <a:effectLst/>
                          <a:latin typeface="Calibri"/>
                          <a:ea typeface="Calibri"/>
                          <a:cs typeface="Calibri"/>
                        </a:rPr>
                        <a:t> × S</a:t>
                      </a:r>
                      <a:r>
                        <a:rPr lang="en-US" sz="1800" baseline="-25000" dirty="0">
                          <a:solidFill>
                            <a:srgbClr val="000000"/>
                          </a:solidFill>
                          <a:effectLst/>
                          <a:latin typeface="Calibri"/>
                          <a:ea typeface="Calibri"/>
                          <a:cs typeface="Calibri"/>
                        </a:rPr>
                        <a:t>m</a:t>
                      </a:r>
                      <a:endParaRPr lang="en-US" sz="1800" dirty="0">
                        <a:solidFill>
                          <a:srgbClr val="000000"/>
                        </a:solidFill>
                        <a:effectLst/>
                        <a:latin typeface="Arial"/>
                        <a:ea typeface="Arial"/>
                        <a:cs typeface="Calibri"/>
                      </a:endParaRPr>
                    </a:p>
                  </a:txBody>
                  <a:tcPr marL="73025" marR="73025" marT="36830" marB="368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3" name="Title 2"/>
          <p:cNvSpPr>
            <a:spLocks noGrp="1"/>
          </p:cNvSpPr>
          <p:nvPr>
            <p:ph type="title"/>
          </p:nvPr>
        </p:nvSpPr>
        <p:spPr>
          <a:xfrm>
            <a:off x="925458" y="737134"/>
            <a:ext cx="8298753" cy="730719"/>
          </a:xfrm>
        </p:spPr>
        <p:txBody>
          <a:bodyPr>
            <a:normAutofit/>
          </a:bodyPr>
          <a:lstStyle/>
          <a:p>
            <a:r>
              <a:rPr lang="en-US" dirty="0"/>
              <a:t>ARITHMETIC WITH REAL NUMBERS </a:t>
            </a:r>
          </a:p>
        </p:txBody>
      </p:sp>
      <p:grpSp>
        <p:nvGrpSpPr>
          <p:cNvPr id="4" name="Group 3"/>
          <p:cNvGrpSpPr/>
          <p:nvPr/>
        </p:nvGrpSpPr>
        <p:grpSpPr>
          <a:xfrm>
            <a:off x="6324599" y="5569121"/>
            <a:ext cx="4078705" cy="1015663"/>
            <a:chOff x="1295400" y="4900863"/>
            <a:chExt cx="4078705" cy="1015663"/>
          </a:xfrm>
          <a:solidFill>
            <a:schemeClr val="accent4">
              <a:lumMod val="20000"/>
              <a:lumOff val="80000"/>
            </a:schemeClr>
          </a:solidFill>
        </p:grpSpPr>
        <p:sp>
          <p:nvSpPr>
            <p:cNvPr id="5" name="TextBox 4"/>
            <p:cNvSpPr txBox="1"/>
            <p:nvPr/>
          </p:nvSpPr>
          <p:spPr>
            <a:xfrm>
              <a:off x="1295400" y="4900863"/>
              <a:ext cx="4078705" cy="1015663"/>
            </a:xfrm>
            <a:prstGeom prst="rect">
              <a:avLst/>
            </a:prstGeom>
            <a:grpFill/>
            <a:ln/>
          </p:spPr>
          <p:style>
            <a:lnRef idx="1">
              <a:schemeClr val="accent2"/>
            </a:lnRef>
            <a:fillRef idx="2">
              <a:schemeClr val="accent2"/>
            </a:fillRef>
            <a:effectRef idx="1">
              <a:schemeClr val="accent2"/>
            </a:effectRef>
            <a:fontRef idx="minor">
              <a:schemeClr val="dk1"/>
            </a:fontRef>
          </p:style>
          <p:txBody>
            <a:bodyPr wrap="square" tIns="91440" bIns="91440" rtlCol="0">
              <a:spAutoFit/>
            </a:bodyPr>
            <a:lstStyle/>
            <a:p>
              <a:pPr marL="1027113"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In general, the floating-point arithmetic instructions do not set the flags. </a:t>
              </a:r>
            </a:p>
          </p:txBody>
        </p:sp>
        <p:pic>
          <p:nvPicPr>
            <p:cNvPr id="6" name="Picture 4" descr="http://www.aamu.edu/campuslife/living-on-campus/residentialLife/SiteAssets/pages/default/Warning_sig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1323475" y="4953000"/>
              <a:ext cx="971826" cy="838200"/>
            </a:xfrm>
            <a:prstGeom prst="rect">
              <a:avLst/>
            </a:prstGeom>
            <a:grpFill/>
            <a:extLst>
              <a:ext uri="{909E8E84-426E-40dd-AFC4-6F175D3DCCD1}">
                <a14:hiddenFill xmlns:a14="http://schemas.microsoft.com/office/drawing/2010/main" xmlns="">
                  <a:solidFill>
                    <a:srgbClr val="FFFFFF"/>
                  </a:solidFill>
                </a14:hiddenFill>
              </a:ext>
            </a:extLst>
          </p:spPr>
        </p:pic>
      </p:grpSp>
    </p:spTree>
    <p:extLst>
      <p:ext uri="{BB962C8B-B14F-4D97-AF65-F5344CB8AC3E}">
        <p14:creationId xmlns:p14="http://schemas.microsoft.com/office/powerpoint/2010/main" val="3074961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1C29F7A-1F05-4819-83F6-F576518FC19B}"/>
              </a:ext>
            </a:extLst>
          </p:cNvPr>
          <p:cNvSpPr>
            <a:spLocks noGrp="1"/>
          </p:cNvSpPr>
          <p:nvPr>
            <p:ph type="title"/>
          </p:nvPr>
        </p:nvSpPr>
        <p:spPr>
          <a:xfrm>
            <a:off x="936516" y="742377"/>
            <a:ext cx="10417284" cy="629223"/>
          </a:xfrm>
        </p:spPr>
        <p:txBody>
          <a:bodyPr>
            <a:normAutofit/>
          </a:bodyPr>
          <a:lstStyle/>
          <a:p>
            <a:r>
              <a:rPr lang="en-US" sz="3200" dirty="0"/>
              <a:t>FUNCTION PARAMETERS AND RETURN VALUES </a:t>
            </a:r>
          </a:p>
        </p:txBody>
      </p:sp>
      <p:sp>
        <p:nvSpPr>
          <p:cNvPr id="4" name="Content Placeholder 3">
            <a:extLst>
              <a:ext uri="{FF2B5EF4-FFF2-40B4-BE49-F238E27FC236}">
                <a16:creationId xmlns:a16="http://schemas.microsoft.com/office/drawing/2014/main" id="{21118B19-D001-4958-A584-8BCECEE5AA09}"/>
              </a:ext>
            </a:extLst>
          </p:cNvPr>
          <p:cNvSpPr>
            <a:spLocks noGrp="1"/>
          </p:cNvSpPr>
          <p:nvPr>
            <p:ph idx="1"/>
          </p:nvPr>
        </p:nvSpPr>
        <p:spPr>
          <a:xfrm>
            <a:off x="1981200" y="1886528"/>
            <a:ext cx="8229600" cy="4525963"/>
          </a:xfrm>
        </p:spPr>
        <p:txBody>
          <a:bodyPr>
            <a:normAutofit/>
          </a:bodyPr>
          <a:lstStyle/>
          <a:p>
            <a:pPr marL="0" indent="0">
              <a:buNone/>
            </a:pPr>
            <a:r>
              <a:rPr lang="en-US" b="1" i="1" dirty="0">
                <a:solidFill>
                  <a:schemeClr val="tx1"/>
                </a:solidFill>
              </a:rPr>
              <a:t>Parameters:</a:t>
            </a:r>
          </a:p>
          <a:p>
            <a:r>
              <a:rPr lang="en-US" dirty="0">
                <a:solidFill>
                  <a:schemeClr val="tx1"/>
                </a:solidFill>
              </a:rPr>
              <a:t>Data of type float is passed in S0-S15</a:t>
            </a:r>
          </a:p>
          <a:p>
            <a:pPr lvl="1"/>
            <a:r>
              <a:rPr lang="en-US" dirty="0">
                <a:solidFill>
                  <a:schemeClr val="tx1"/>
                </a:solidFill>
              </a:rPr>
              <a:t>Left-most float in S0, next float in S1, etc.</a:t>
            </a:r>
          </a:p>
          <a:p>
            <a:r>
              <a:rPr lang="en-US" b="1" dirty="0">
                <a:solidFill>
                  <a:srgbClr val="FF0000"/>
                </a:solidFill>
              </a:rPr>
              <a:t>Pointer to float is passed in R0-R3</a:t>
            </a:r>
          </a:p>
          <a:p>
            <a:endParaRPr lang="en-US" dirty="0"/>
          </a:p>
          <a:p>
            <a:pPr marL="0" indent="0">
              <a:buNone/>
            </a:pPr>
            <a:r>
              <a:rPr lang="en-US" b="1" i="1" dirty="0">
                <a:solidFill>
                  <a:schemeClr val="tx1"/>
                </a:solidFill>
              </a:rPr>
              <a:t>Return Value:</a:t>
            </a:r>
          </a:p>
          <a:p>
            <a:r>
              <a:rPr lang="en-US" dirty="0">
                <a:solidFill>
                  <a:schemeClr val="tx1"/>
                </a:solidFill>
              </a:rPr>
              <a:t>Result of type float is returned in S0</a:t>
            </a:r>
          </a:p>
          <a:p>
            <a:r>
              <a:rPr lang="en-US" dirty="0">
                <a:solidFill>
                  <a:schemeClr val="tx1"/>
                </a:solidFill>
              </a:rPr>
              <a:t>Result of type float * is returned in R0</a:t>
            </a:r>
          </a:p>
        </p:txBody>
      </p:sp>
    </p:spTree>
    <p:extLst>
      <p:ext uri="{BB962C8B-B14F-4D97-AF65-F5344CB8AC3E}">
        <p14:creationId xmlns:p14="http://schemas.microsoft.com/office/powerpoint/2010/main" val="4671942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28495" y="749191"/>
            <a:ext cx="2564673" cy="666525"/>
          </a:xfrm>
        </p:spPr>
        <p:txBody>
          <a:bodyPr>
            <a:normAutofit/>
          </a:bodyPr>
          <a:lstStyle/>
          <a:p>
            <a:r>
              <a:rPr lang="en-US" dirty="0"/>
              <a:t>EXAMPLE</a:t>
            </a:r>
          </a:p>
        </p:txBody>
      </p:sp>
      <p:sp>
        <p:nvSpPr>
          <p:cNvPr id="5" name="Content Placeholder 4">
            <a:extLst>
              <a:ext uri="{FF2B5EF4-FFF2-40B4-BE49-F238E27FC236}">
                <a16:creationId xmlns:a16="http://schemas.microsoft.com/office/drawing/2014/main" id="{0AE73A5D-0CDD-4524-9B39-3D3071A7B973}"/>
              </a:ext>
            </a:extLst>
          </p:cNvPr>
          <p:cNvSpPr>
            <a:spLocks noGrp="1"/>
          </p:cNvSpPr>
          <p:nvPr>
            <p:ph sz="half" idx="2"/>
          </p:nvPr>
        </p:nvSpPr>
        <p:spPr>
          <a:xfrm>
            <a:off x="2599748" y="1569605"/>
            <a:ext cx="7611053" cy="5018087"/>
          </a:xfrm>
        </p:spPr>
        <p:txBody>
          <a:bodyPr>
            <a:normAutofit fontScale="77500" lnSpcReduction="20000"/>
          </a:bodyPr>
          <a:lstStyle/>
          <a:p>
            <a:pPr marL="0" indent="0">
              <a:buNone/>
            </a:pPr>
            <a:r>
              <a:rPr lang="en-US" dirty="0">
                <a:solidFill>
                  <a:schemeClr val="tx1"/>
                </a:solidFill>
                <a:latin typeface="Consolas" panose="020B0609020204030204" pitchFamily="49" charset="0"/>
              </a:rPr>
              <a:t>float foo(int, float, float *, float);</a:t>
            </a:r>
          </a:p>
          <a:p>
            <a:pPr marL="0" indent="0">
              <a:buNone/>
            </a:pPr>
            <a:r>
              <a:rPr lang="en-US" dirty="0">
                <a:solidFill>
                  <a:schemeClr val="tx1"/>
                </a:solidFill>
                <a:latin typeface="Consolas" panose="020B0609020204030204" pitchFamily="49" charset="0"/>
              </a:rPr>
              <a:t>float f1, f2;</a:t>
            </a:r>
          </a:p>
          <a:p>
            <a:pPr marL="0" indent="0">
              <a:buNone/>
            </a:pPr>
            <a:endParaRPr lang="en-US" dirty="0">
              <a:solidFill>
                <a:schemeClr val="tx1"/>
              </a:solidFill>
              <a:latin typeface="Consolas" panose="020B0609020204030204" pitchFamily="49" charset="0"/>
            </a:endParaRPr>
          </a:p>
          <a:p>
            <a:pPr marL="0" indent="0">
              <a:buNone/>
            </a:pPr>
            <a:r>
              <a:rPr lang="en-US" dirty="0">
                <a:solidFill>
                  <a:schemeClr val="tx1"/>
                </a:solidFill>
                <a:latin typeface="Consolas" panose="020B0609020204030204" pitchFamily="49" charset="0"/>
              </a:rPr>
              <a:t>f2 = foo(</a:t>
            </a:r>
            <a:r>
              <a:rPr lang="en-US" dirty="0">
                <a:solidFill>
                  <a:srgbClr val="00B050"/>
                </a:solidFill>
                <a:latin typeface="Consolas" panose="020B0609020204030204" pitchFamily="49" charset="0"/>
              </a:rPr>
              <a:t>5</a:t>
            </a:r>
            <a:r>
              <a:rPr lang="en-US" dirty="0">
                <a:solidFill>
                  <a:schemeClr val="tx1"/>
                </a:solidFill>
                <a:latin typeface="Consolas" panose="020B0609020204030204" pitchFamily="49" charset="0"/>
              </a:rPr>
              <a:t>,</a:t>
            </a:r>
            <a:r>
              <a:rPr lang="en-US" dirty="0">
                <a:latin typeface="Consolas" panose="020B0609020204030204" pitchFamily="49" charset="0"/>
              </a:rPr>
              <a:t> </a:t>
            </a:r>
            <a:r>
              <a:rPr lang="en-US" dirty="0">
                <a:solidFill>
                  <a:srgbClr val="FF0000"/>
                </a:solidFill>
                <a:latin typeface="Consolas" panose="020B0609020204030204" pitchFamily="49" charset="0"/>
              </a:rPr>
              <a:t>0.25</a:t>
            </a:r>
            <a:r>
              <a:rPr lang="en-US" dirty="0">
                <a:solidFill>
                  <a:schemeClr val="tx1"/>
                </a:solidFill>
                <a:latin typeface="Consolas" panose="020B0609020204030204" pitchFamily="49" charset="0"/>
              </a:rPr>
              <a:t>,</a:t>
            </a:r>
            <a:r>
              <a:rPr lang="en-US" dirty="0">
                <a:latin typeface="Consolas" panose="020B0609020204030204" pitchFamily="49" charset="0"/>
              </a:rPr>
              <a:t> </a:t>
            </a:r>
            <a:r>
              <a:rPr lang="en-US" dirty="0">
                <a:solidFill>
                  <a:srgbClr val="0070C0"/>
                </a:solidFill>
                <a:latin typeface="Consolas" panose="020B0609020204030204" pitchFamily="49" charset="0"/>
              </a:rPr>
              <a:t>&amp;f1</a:t>
            </a:r>
            <a:r>
              <a:rPr lang="en-US" dirty="0">
                <a:solidFill>
                  <a:schemeClr val="tx1"/>
                </a:solidFill>
                <a:latin typeface="Consolas" panose="020B0609020204030204" pitchFamily="49" charset="0"/>
              </a:rPr>
              <a:t>, 1.0);</a:t>
            </a:r>
          </a:p>
          <a:p>
            <a:pPr marL="0" indent="0">
              <a:buNone/>
            </a:pPr>
            <a:endParaRPr lang="en-US" dirty="0">
              <a:latin typeface="Consolas" panose="020B0609020204030204" pitchFamily="49" charset="0"/>
            </a:endParaRPr>
          </a:p>
          <a:p>
            <a:pPr marL="0" indent="0">
              <a:buNone/>
            </a:pPr>
            <a:endParaRPr lang="en-US" dirty="0">
              <a:latin typeface="Consolas" panose="020B0609020204030204" pitchFamily="49" charset="0"/>
            </a:endParaRPr>
          </a:p>
          <a:p>
            <a:pPr marL="0" indent="0">
              <a:buNone/>
            </a:pPr>
            <a:endParaRPr lang="en-US" dirty="0">
              <a:latin typeface="Consolas" panose="020B0609020204030204" pitchFamily="49" charset="0"/>
            </a:endParaRPr>
          </a:p>
          <a:p>
            <a:pPr marL="0" indent="0">
              <a:buNone/>
            </a:pPr>
            <a:r>
              <a:rPr lang="en-US" dirty="0">
                <a:solidFill>
                  <a:srgbClr val="00B050"/>
                </a:solidFill>
                <a:latin typeface="Consolas" panose="020B0609020204030204" pitchFamily="49" charset="0"/>
              </a:rPr>
              <a:t>LDR	R0,=5</a:t>
            </a:r>
            <a:r>
              <a:rPr lang="en-US" dirty="0">
                <a:latin typeface="Consolas" panose="020B0609020204030204" pitchFamily="49" charset="0"/>
              </a:rPr>
              <a:t>		</a:t>
            </a:r>
            <a:r>
              <a:rPr lang="en-US" dirty="0">
                <a:solidFill>
                  <a:schemeClr val="tx1"/>
                </a:solidFill>
                <a:latin typeface="Consolas" panose="020B0609020204030204" pitchFamily="49" charset="0"/>
              </a:rPr>
              <a:t>// R0 = integer constant 5</a:t>
            </a:r>
          </a:p>
          <a:p>
            <a:pPr marL="0" indent="0">
              <a:buNone/>
            </a:pPr>
            <a:r>
              <a:rPr lang="en-US" dirty="0">
                <a:solidFill>
                  <a:srgbClr val="FF0000"/>
                </a:solidFill>
                <a:latin typeface="Consolas" panose="020B0609020204030204" pitchFamily="49" charset="0"/>
              </a:rPr>
              <a:t>VMOV	S0,0.25</a:t>
            </a:r>
            <a:r>
              <a:rPr lang="en-US" dirty="0">
                <a:latin typeface="Consolas" panose="020B0609020204030204" pitchFamily="49" charset="0"/>
              </a:rPr>
              <a:t>	</a:t>
            </a:r>
            <a:r>
              <a:rPr lang="en-US" dirty="0">
                <a:solidFill>
                  <a:schemeClr val="tx1"/>
                </a:solidFill>
                <a:latin typeface="Consolas" panose="020B0609020204030204" pitchFamily="49" charset="0"/>
              </a:rPr>
              <a:t>// S0 = </a:t>
            </a:r>
            <a:r>
              <a:rPr lang="en-US" dirty="0" err="1">
                <a:solidFill>
                  <a:schemeClr val="tx1"/>
                </a:solidFill>
                <a:latin typeface="Consolas" panose="020B0609020204030204" pitchFamily="49" charset="0"/>
              </a:rPr>
              <a:t>fl-pt</a:t>
            </a:r>
            <a:r>
              <a:rPr lang="en-US" dirty="0">
                <a:solidFill>
                  <a:schemeClr val="tx1"/>
                </a:solidFill>
                <a:latin typeface="Consolas" panose="020B0609020204030204" pitchFamily="49" charset="0"/>
              </a:rPr>
              <a:t> constant 0.25</a:t>
            </a:r>
          </a:p>
          <a:p>
            <a:pPr marL="0" indent="0">
              <a:buNone/>
            </a:pPr>
            <a:r>
              <a:rPr lang="en-US" dirty="0">
                <a:solidFill>
                  <a:srgbClr val="0070C0"/>
                </a:solidFill>
                <a:latin typeface="Consolas" panose="020B0609020204030204" pitchFamily="49" charset="0"/>
              </a:rPr>
              <a:t>LDR	R1,=f1</a:t>
            </a:r>
            <a:r>
              <a:rPr lang="en-US" dirty="0">
                <a:latin typeface="Consolas" panose="020B0609020204030204" pitchFamily="49" charset="0"/>
              </a:rPr>
              <a:t>		</a:t>
            </a:r>
            <a:r>
              <a:rPr lang="en-US" dirty="0">
                <a:solidFill>
                  <a:schemeClr val="tx1"/>
                </a:solidFill>
                <a:latin typeface="Consolas" panose="020B0609020204030204" pitchFamily="49" charset="0"/>
              </a:rPr>
              <a:t>// R1 = address of f1</a:t>
            </a:r>
          </a:p>
          <a:p>
            <a:pPr marL="0" indent="0">
              <a:buNone/>
            </a:pPr>
            <a:r>
              <a:rPr lang="en-US" dirty="0">
                <a:solidFill>
                  <a:srgbClr val="0070C0"/>
                </a:solidFill>
                <a:latin typeface="Consolas" panose="020B0609020204030204" pitchFamily="49" charset="0"/>
              </a:rPr>
              <a:t>VLDR   S2,[R1]</a:t>
            </a:r>
          </a:p>
          <a:p>
            <a:pPr marL="0" indent="0">
              <a:buNone/>
            </a:pPr>
            <a:r>
              <a:rPr lang="en-US" dirty="0">
                <a:solidFill>
                  <a:srgbClr val="7030A0"/>
                </a:solidFill>
                <a:latin typeface="Consolas" panose="020B0609020204030204" pitchFamily="49" charset="0"/>
              </a:rPr>
              <a:t>VMOV	S1,1.0</a:t>
            </a:r>
            <a:r>
              <a:rPr lang="en-US" dirty="0">
                <a:latin typeface="Consolas" panose="020B0609020204030204" pitchFamily="49" charset="0"/>
              </a:rPr>
              <a:t>		</a:t>
            </a:r>
            <a:r>
              <a:rPr lang="en-US" dirty="0">
                <a:solidFill>
                  <a:schemeClr val="tx1"/>
                </a:solidFill>
                <a:latin typeface="Consolas" panose="020B0609020204030204" pitchFamily="49" charset="0"/>
              </a:rPr>
              <a:t>// S1 = </a:t>
            </a:r>
            <a:r>
              <a:rPr lang="en-US" dirty="0" err="1">
                <a:solidFill>
                  <a:schemeClr val="tx1"/>
                </a:solidFill>
                <a:latin typeface="Consolas" panose="020B0609020204030204" pitchFamily="49" charset="0"/>
              </a:rPr>
              <a:t>fl-pt</a:t>
            </a:r>
            <a:r>
              <a:rPr lang="en-US" dirty="0">
                <a:solidFill>
                  <a:schemeClr val="tx1"/>
                </a:solidFill>
                <a:latin typeface="Consolas" panose="020B0609020204030204" pitchFamily="49" charset="0"/>
              </a:rPr>
              <a:t> constant 1.0</a:t>
            </a:r>
          </a:p>
          <a:p>
            <a:pPr marL="0" indent="0">
              <a:buNone/>
            </a:pPr>
            <a:r>
              <a:rPr lang="en-US" dirty="0">
                <a:solidFill>
                  <a:schemeClr val="tx1"/>
                </a:solidFill>
                <a:latin typeface="Consolas" panose="020B0609020204030204" pitchFamily="49" charset="0"/>
              </a:rPr>
              <a:t>BL	foo		// call function foo</a:t>
            </a:r>
          </a:p>
          <a:p>
            <a:pPr marL="0" indent="0">
              <a:buNone/>
            </a:pPr>
            <a:r>
              <a:rPr lang="en-US" dirty="0">
                <a:solidFill>
                  <a:schemeClr val="tx1"/>
                </a:solidFill>
                <a:latin typeface="Consolas" panose="020B0609020204030204" pitchFamily="49" charset="0"/>
              </a:rPr>
              <a:t>LDR	R0,=f2		// R0 = address of f2</a:t>
            </a:r>
          </a:p>
          <a:p>
            <a:pPr marL="0" indent="0">
              <a:buNone/>
            </a:pPr>
            <a:r>
              <a:rPr lang="en-US" dirty="0">
                <a:solidFill>
                  <a:schemeClr val="tx1"/>
                </a:solidFill>
                <a:latin typeface="Consolas" panose="020B0609020204030204" pitchFamily="49" charset="0"/>
              </a:rPr>
              <a:t>VSTR	S0,[R0]	// store S0 in f2</a:t>
            </a:r>
          </a:p>
          <a:p>
            <a:pPr marL="0" indent="0">
              <a:buNone/>
            </a:pPr>
            <a:endParaRPr lang="en-US" dirty="0">
              <a:latin typeface="Consolas" panose="020B0609020204030204" pitchFamily="49" charset="0"/>
            </a:endParaRPr>
          </a:p>
        </p:txBody>
      </p:sp>
      <p:sp>
        <p:nvSpPr>
          <p:cNvPr id="20" name="Arrow: Down 19">
            <a:extLst>
              <a:ext uri="{FF2B5EF4-FFF2-40B4-BE49-F238E27FC236}">
                <a16:creationId xmlns:a16="http://schemas.microsoft.com/office/drawing/2014/main" id="{9018EFD4-79DF-4D54-80F8-F99E24EA8214}"/>
              </a:ext>
            </a:extLst>
          </p:cNvPr>
          <p:cNvSpPr/>
          <p:nvPr/>
        </p:nvSpPr>
        <p:spPr>
          <a:xfrm>
            <a:off x="3404572" y="3056483"/>
            <a:ext cx="387927" cy="6557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4941261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4920F-CDE9-552B-58DA-D0A1FA8A07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E900F7-D342-7C6A-12CA-BB7BCEB2F9C4}"/>
              </a:ext>
            </a:extLst>
          </p:cNvPr>
          <p:cNvSpPr>
            <a:spLocks noGrp="1"/>
          </p:cNvSpPr>
          <p:nvPr>
            <p:ph type="title"/>
          </p:nvPr>
        </p:nvSpPr>
        <p:spPr/>
        <p:txBody>
          <a:bodyPr rtlCol="0">
            <a:normAutofit/>
          </a:bodyPr>
          <a:lstStyle/>
          <a:p>
            <a:pPr>
              <a:defRPr/>
            </a:pPr>
            <a:r>
              <a:rPr lang="en-US" dirty="0"/>
              <a:t>Algorithm</a:t>
            </a:r>
            <a:br>
              <a:rPr lang="en-US" dirty="0"/>
            </a:br>
            <a:r>
              <a:rPr lang="en-US" dirty="0"/>
              <a:t>Examples</a:t>
            </a:r>
          </a:p>
        </p:txBody>
      </p:sp>
      <p:sp>
        <p:nvSpPr>
          <p:cNvPr id="5123" name="Slide Number Placeholder 3">
            <a:extLst>
              <a:ext uri="{FF2B5EF4-FFF2-40B4-BE49-F238E27FC236}">
                <a16:creationId xmlns:a16="http://schemas.microsoft.com/office/drawing/2014/main" id="{530C1501-41B0-F484-4796-7E42912F5682}"/>
              </a:ext>
            </a:extLst>
          </p:cNvPr>
          <p:cNvSpPr>
            <a:spLocks noGrp="1"/>
          </p:cNvSpPr>
          <p:nvPr>
            <p:ph type="sldNum" sz="quarter" idx="4294967295"/>
          </p:nvPr>
        </p:nvSpPr>
        <p:spPr bwMode="auto">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200" b="0" i="0" u="none" strike="noStrike" kern="1200" cap="none" spc="0" normalizeH="0" baseline="0" noProof="0" dirty="0">
                <a:ln>
                  <a:noFill/>
                </a:ln>
                <a:solidFill>
                  <a:srgbClr val="898989"/>
                </a:solidFill>
                <a:effectLst/>
                <a:uLnTx/>
                <a:uFillTx/>
                <a:latin typeface="Calibri" panose="020F0502020204030204" pitchFamily="34" charset="0"/>
                <a:ea typeface="+mn-ea"/>
                <a:cs typeface="+mn-cs"/>
              </a:rPr>
              <a:t> </a:t>
            </a:r>
          </a:p>
        </p:txBody>
      </p:sp>
    </p:spTree>
    <p:extLst>
      <p:ext uri="{BB962C8B-B14F-4D97-AF65-F5344CB8AC3E}">
        <p14:creationId xmlns:p14="http://schemas.microsoft.com/office/powerpoint/2010/main" val="14550792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00407" y="2383712"/>
            <a:ext cx="7585278" cy="1281909"/>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Rectangle 2"/>
          <p:cNvSpPr/>
          <p:nvPr/>
        </p:nvSpPr>
        <p:spPr>
          <a:xfrm>
            <a:off x="2200406" y="2013518"/>
            <a:ext cx="8041710" cy="3914918"/>
          </a:xfrm>
          <a:prstGeom prst="rect">
            <a:avLst/>
          </a:prstGeom>
        </p:spPr>
        <p:txBody>
          <a:bodyPr wrap="square">
            <a:spAutoFit/>
          </a:bodyPr>
          <a:lstStyle/>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a:ln>
                  <a:noFill/>
                </a:ln>
                <a:effectLst/>
                <a:uLnTx/>
                <a:uFillTx/>
                <a:latin typeface="Consolas" panose="020B0609020204030204" pitchFamily="49" charset="0"/>
                <a:ea typeface="Calibri" panose="020F0502020204030204" pitchFamily="34" charset="0"/>
                <a:cs typeface="Consolas" panose="020B0609020204030204" pitchFamily="49" charset="0"/>
              </a:rPr>
              <a:t>//                         S0            S1           S2</a:t>
            </a:r>
          </a:p>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a:ln>
                  <a:noFill/>
                </a:ln>
                <a:effectLst/>
                <a:uLnTx/>
                <a:uFillTx/>
                <a:latin typeface="Consolas" panose="020B0609020204030204" pitchFamily="49" charset="0"/>
                <a:ea typeface="Calibri" panose="020F0502020204030204" pitchFamily="34" charset="0"/>
                <a:cs typeface="Consolas" panose="020B0609020204030204" pitchFamily="49" charset="0"/>
              </a:rPr>
              <a:t>float </a:t>
            </a:r>
            <a:r>
              <a:rPr kumimoji="0" lang="en-US" sz="1800" b="0" i="0" u="none" strike="noStrike" kern="1200" cap="none" spc="0" normalizeH="0" baseline="0" noProof="0" dirty="0" err="1">
                <a:ln>
                  <a:noFill/>
                </a:ln>
                <a:effectLst/>
                <a:uLnTx/>
                <a:uFillTx/>
                <a:latin typeface="Consolas" panose="020B0609020204030204" pitchFamily="49" charset="0"/>
                <a:ea typeface="Calibri" panose="020F0502020204030204" pitchFamily="34" charset="0"/>
                <a:cs typeface="Consolas" panose="020B0609020204030204" pitchFamily="49" charset="0"/>
              </a:rPr>
              <a:t>VolumeOfCube</a:t>
            </a:r>
            <a:r>
              <a:rPr kumimoji="0" lang="en-US" sz="1800" b="0" i="0" u="none" strike="noStrike" kern="1200" cap="none" spc="0" normalizeH="0" baseline="0" noProof="0" dirty="0">
                <a:ln>
                  <a:noFill/>
                </a:ln>
                <a:effectLst/>
                <a:uLnTx/>
                <a:uFillTx/>
                <a:latin typeface="Consolas" panose="020B0609020204030204" pitchFamily="49" charset="0"/>
                <a:ea typeface="Calibri" panose="020F0502020204030204" pitchFamily="34" charset="0"/>
                <a:cs typeface="Consolas" panose="020B0609020204030204" pitchFamily="49" charset="0"/>
              </a:rPr>
              <a:t>(float height, float width, float depth){</a:t>
            </a:r>
            <a:endPar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2971800" algn="l"/>
              </a:tabLst>
              <a:defRPr/>
            </a:pPr>
            <a:r>
              <a:rPr kumimoji="0" lang="en-US" sz="1800" b="0" i="0" u="none" strike="noStrike" kern="1200" cap="none" spc="0" normalizeH="0" baseline="0" noProof="0" dirty="0">
                <a:ln>
                  <a:noFill/>
                </a:ln>
                <a:effectLst/>
                <a:uLnTx/>
                <a:uFillTx/>
                <a:latin typeface="Consolas" panose="020B0609020204030204" pitchFamily="49" charset="0"/>
                <a:ea typeface="Calibri" panose="020F0502020204030204" pitchFamily="34" charset="0"/>
                <a:cs typeface="Consolas" panose="020B0609020204030204" pitchFamily="49" charset="0"/>
              </a:rPr>
              <a:t>	return height * width * depth;</a:t>
            </a:r>
            <a:endPar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2971800" algn="l"/>
              </a:tabLst>
              <a:defRPr/>
            </a:pPr>
            <a:r>
              <a:rPr kumimoji="0" lang="en-US" sz="1800" b="0" i="0" u="none" strike="noStrike" kern="1200" cap="none" spc="0" normalizeH="0" baseline="0" noProof="0" dirty="0">
                <a:ln>
                  <a:noFill/>
                </a:ln>
                <a:effectLst/>
                <a:uLnTx/>
                <a:uFillTx/>
                <a:latin typeface="Consolas" panose="020B0609020204030204" pitchFamily="49" charset="0"/>
                <a:ea typeface="Calibri" panose="020F0502020204030204" pitchFamily="34" charset="0"/>
                <a:cs typeface="Consolas" panose="020B0609020204030204" pitchFamily="49" charset="0"/>
              </a:rPr>
              <a:t>}</a:t>
            </a:r>
            <a:endPar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a:ln>
                  <a:noFill/>
                </a:ln>
                <a:effectLst/>
                <a:uLnTx/>
                <a:uFillTx/>
                <a:latin typeface="Consolas" panose="020B0609020204030204" pitchFamily="49" charset="0"/>
                <a:ea typeface="Calibri" panose="020F0502020204030204" pitchFamily="34" charset="0"/>
                <a:cs typeface="Consolas" panose="020B0609020204030204" pitchFamily="49" charset="0"/>
              </a:rPr>
              <a:t> </a:t>
            </a:r>
            <a:endPar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a:ln>
                  <a:noFill/>
                </a:ln>
                <a:effectLst/>
                <a:uLnTx/>
                <a:uFillTx/>
                <a:latin typeface="Consolas" panose="020B0609020204030204" pitchFamily="49" charset="0"/>
                <a:ea typeface="Calibri" panose="020F0502020204030204" pitchFamily="34" charset="0"/>
                <a:cs typeface="Consolas" panose="020B0609020204030204" pitchFamily="49" charset="0"/>
              </a:rPr>
              <a:t> </a:t>
            </a:r>
            <a:endPar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err="1">
                <a:ln>
                  <a:noFill/>
                </a:ln>
                <a:effectLst/>
                <a:uLnTx/>
                <a:uFillTx/>
                <a:latin typeface="Consolas" panose="020B0609020204030204" pitchFamily="49" charset="0"/>
                <a:ea typeface="Calibri" panose="020F0502020204030204" pitchFamily="34" charset="0"/>
                <a:cs typeface="Consolas" panose="020B0609020204030204" pitchFamily="49" charset="0"/>
              </a:rPr>
              <a:t>VolumeOfCube</a:t>
            </a:r>
            <a:r>
              <a:rPr kumimoji="0" lang="en-US" sz="1800" b="0" i="0" u="none" strike="noStrike" kern="1200" cap="none" spc="0" normalizeH="0" baseline="0" noProof="0" dirty="0">
                <a:ln>
                  <a:noFill/>
                </a:ln>
                <a:effectLst/>
                <a:uLnTx/>
                <a:uFillTx/>
                <a:latin typeface="Consolas" panose="020B0609020204030204" pitchFamily="49" charset="0"/>
                <a:ea typeface="Calibri" panose="020F0502020204030204" pitchFamily="34" charset="0"/>
                <a:cs typeface="Consolas" panose="020B0609020204030204" pitchFamily="49" charset="0"/>
              </a:rPr>
              <a:t>: // S0 = height, S1 = width, S2 = depth</a:t>
            </a:r>
            <a:endPar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00050" algn="l"/>
                <a:tab pos="1657350" algn="l"/>
                <a:tab pos="3143250" algn="l"/>
              </a:tabLst>
              <a:defRPr/>
            </a:pPr>
            <a:r>
              <a:rPr kumimoji="0" lang="en-US" sz="1800" b="0" i="0" u="none" strike="noStrike" kern="1200" cap="none" spc="0" normalizeH="0" baseline="0" noProof="0" dirty="0">
                <a:ln>
                  <a:noFill/>
                </a:ln>
                <a:effectLst/>
                <a:uLnTx/>
                <a:uFillTx/>
                <a:latin typeface="Consolas" panose="020B0609020204030204" pitchFamily="49" charset="0"/>
                <a:ea typeface="Calibri" panose="020F0502020204030204" pitchFamily="34" charset="0"/>
                <a:cs typeface="Consolas" panose="020B0609020204030204" pitchFamily="49" charset="0"/>
              </a:rPr>
              <a:t>	VMUL.F32	S0,S0,S1	// S0 = height * width</a:t>
            </a:r>
            <a:endPar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00050" algn="l"/>
                <a:tab pos="1657350" algn="l"/>
                <a:tab pos="3143250" algn="l"/>
              </a:tabLst>
              <a:defRPr/>
            </a:pPr>
            <a:r>
              <a:rPr kumimoji="0" lang="en-US" sz="1800" b="0" i="0" u="none" strike="noStrike" kern="1200" cap="none" spc="0" normalizeH="0" baseline="0" noProof="0" dirty="0">
                <a:ln>
                  <a:noFill/>
                </a:ln>
                <a:effectLst/>
                <a:uLnTx/>
                <a:uFillTx/>
                <a:latin typeface="Consolas" panose="020B0609020204030204" pitchFamily="49" charset="0"/>
                <a:ea typeface="Calibri" panose="020F0502020204030204" pitchFamily="34" charset="0"/>
                <a:cs typeface="Consolas" panose="020B0609020204030204" pitchFamily="49" charset="0"/>
              </a:rPr>
              <a:t>	VMUL.F32	S0,S0,S2	// S0 = height * width * depth</a:t>
            </a:r>
            <a:endPar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00050" algn="l"/>
                <a:tab pos="1657350" algn="l"/>
                <a:tab pos="3143250" algn="l"/>
              </a:tabLst>
              <a:defRPr/>
            </a:pPr>
            <a:r>
              <a:rPr kumimoji="0" lang="en-US" sz="1800" b="0" i="0" u="none" strike="noStrike" kern="1200" cap="none" spc="0" normalizeH="0" baseline="0" noProof="0" dirty="0">
                <a:ln>
                  <a:noFill/>
                </a:ln>
                <a:effectLst/>
                <a:uLnTx/>
                <a:uFillTx/>
                <a:latin typeface="Consolas" panose="020B0609020204030204" pitchFamily="49" charset="0"/>
                <a:ea typeface="Calibri" panose="020F0502020204030204" pitchFamily="34" charset="0"/>
                <a:cs typeface="Consolas" panose="020B0609020204030204" pitchFamily="49" charset="0"/>
              </a:rPr>
              <a:t>	BX	LR</a:t>
            </a:r>
            <a:endPar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a:ln>
                  <a:noFill/>
                </a:ln>
                <a:effectLst/>
                <a:uLnTx/>
                <a:uFillTx/>
                <a:latin typeface="Consolas" panose="020B0609020204030204" pitchFamily="49" charset="0"/>
                <a:ea typeface="Calibri" panose="020F0502020204030204" pitchFamily="34" charset="0"/>
                <a:cs typeface="Consolas" panose="020B0609020204030204" pitchFamily="49" charset="0"/>
              </a:rPr>
              <a:t> </a:t>
            </a:r>
            <a:endPar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4" name="Title 3"/>
          <p:cNvSpPr>
            <a:spLocks noGrp="1"/>
          </p:cNvSpPr>
          <p:nvPr>
            <p:ph type="title"/>
          </p:nvPr>
        </p:nvSpPr>
        <p:spPr>
          <a:xfrm>
            <a:off x="930443" y="730565"/>
            <a:ext cx="7202904" cy="793435"/>
          </a:xfrm>
        </p:spPr>
        <p:txBody>
          <a:bodyPr/>
          <a:lstStyle/>
          <a:p>
            <a:r>
              <a:rPr lang="en-US" dirty="0"/>
              <a:t>Another Floating-Point Example</a:t>
            </a:r>
          </a:p>
        </p:txBody>
      </p:sp>
      <p:sp>
        <p:nvSpPr>
          <p:cNvPr id="5" name="TextBox 4">
            <a:extLst>
              <a:ext uri="{FF2B5EF4-FFF2-40B4-BE49-F238E27FC236}">
                <a16:creationId xmlns:a16="http://schemas.microsoft.com/office/drawing/2014/main" id="{4E41D8DB-65CC-8B5D-DCF3-3066D2625086}"/>
              </a:ext>
            </a:extLst>
          </p:cNvPr>
          <p:cNvSpPr txBox="1"/>
          <p:nvPr/>
        </p:nvSpPr>
        <p:spPr>
          <a:xfrm>
            <a:off x="9877818" y="1134630"/>
            <a:ext cx="2118657" cy="584775"/>
          </a:xfrm>
          <a:prstGeom prst="rect">
            <a:avLst/>
          </a:prstGeom>
          <a:noFill/>
          <a:ln w="19050">
            <a:solidFill>
              <a:srgbClr val="00B0F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00B0F0"/>
                </a:solidFill>
                <a:effectLst/>
                <a:uLnTx/>
                <a:uFillTx/>
                <a:latin typeface="Arial" panose="020B0604020202020204"/>
                <a:ea typeface="+mn-ea"/>
                <a:cs typeface="+mn-cs"/>
              </a:rPr>
              <a:t>CPULator</a:t>
            </a:r>
            <a:r>
              <a:rPr kumimoji="0" lang="en-US" sz="1600" b="1" i="0" u="none" strike="noStrike" kern="1200" cap="none" spc="0" normalizeH="0" baseline="0" noProof="0" dirty="0">
                <a:ln>
                  <a:noFill/>
                </a:ln>
                <a:solidFill>
                  <a:srgbClr val="00B0F0"/>
                </a:solidFill>
                <a:effectLst/>
                <a:uLnTx/>
                <a:uFillTx/>
                <a:latin typeface="Arial" panose="020B0604020202020204"/>
                <a:ea typeface="+mn-ea"/>
                <a:cs typeface="+mn-cs"/>
              </a:rPr>
              <a:t>: </a:t>
            </a:r>
            <a:br>
              <a:rPr kumimoji="0" lang="en-US" sz="1600" b="1" i="0" u="none" strike="noStrike" kern="1200" cap="none" spc="0" normalizeH="0" baseline="0" noProof="0" dirty="0">
                <a:ln>
                  <a:noFill/>
                </a:ln>
                <a:solidFill>
                  <a:srgbClr val="00B0F0"/>
                </a:solidFill>
                <a:effectLst/>
                <a:uLnTx/>
                <a:uFillTx/>
                <a:latin typeface="Arial" panose="020B0604020202020204"/>
                <a:ea typeface="+mn-ea"/>
                <a:cs typeface="+mn-cs"/>
              </a:rPr>
            </a:br>
            <a:r>
              <a:rPr kumimoji="0" lang="en-US" sz="1600" b="1" i="0" u="none" strike="noStrike" kern="1200" cap="none" spc="0" normalizeH="0" baseline="0" noProof="0" dirty="0">
                <a:ln>
                  <a:noFill/>
                </a:ln>
                <a:solidFill>
                  <a:srgbClr val="FF0000"/>
                </a:solidFill>
                <a:effectLst/>
                <a:uLnTx/>
                <a:uFillTx/>
                <a:latin typeface="Arial" panose="020B0604020202020204"/>
                <a:ea typeface="+mn-ea"/>
                <a:cs typeface="+mn-cs"/>
              </a:rPr>
              <a:t>02-VolumOfaCube.s</a:t>
            </a:r>
          </a:p>
        </p:txBody>
      </p:sp>
    </p:spTree>
    <p:extLst>
      <p:ext uri="{BB962C8B-B14F-4D97-AF65-F5344CB8AC3E}">
        <p14:creationId xmlns:p14="http://schemas.microsoft.com/office/powerpoint/2010/main" val="32204561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A15290D-1E07-543F-2FC0-C4C61F2C96F5}"/>
              </a:ext>
            </a:extLst>
          </p:cNvPr>
          <p:cNvSpPr/>
          <p:nvPr/>
        </p:nvSpPr>
        <p:spPr>
          <a:xfrm>
            <a:off x="2304843" y="1580941"/>
            <a:ext cx="6045073" cy="1442996"/>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Rectangle 8">
            <a:extLst>
              <a:ext uri="{FF2B5EF4-FFF2-40B4-BE49-F238E27FC236}">
                <a16:creationId xmlns:a16="http://schemas.microsoft.com/office/drawing/2014/main" id="{8D24AD1F-5D0E-78DB-12A9-F4FA47A245D3}"/>
              </a:ext>
            </a:extLst>
          </p:cNvPr>
          <p:cNvSpPr/>
          <p:nvPr/>
        </p:nvSpPr>
        <p:spPr>
          <a:xfrm>
            <a:off x="2304843" y="1658783"/>
            <a:ext cx="7979079" cy="4870564"/>
          </a:xfrm>
          <a:prstGeom prst="rect">
            <a:avLst/>
          </a:prstGeom>
        </p:spPr>
        <p:txBody>
          <a:bodyPr wrap="square">
            <a:spAutoFit/>
          </a:bodyPr>
          <a:lstStyle/>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S0                S1</a:t>
            </a:r>
          </a:p>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float Discriminant(float a, float b, float c){</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return b * b – 4.0 * a * c ;</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p>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endPar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endParaRPr>
          </a:p>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Discriminant: // S0 = a, S1 = b, S2 = c</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63550" algn="l"/>
                <a:tab pos="1890713" algn="l"/>
                <a:tab pos="320675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VMUL.F32	S1,S1,S1	// S1 = b*b</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63550" algn="l"/>
                <a:tab pos="1890713" algn="l"/>
                <a:tab pos="320675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VMOV	S3,#4.0	// S3 = 4.0</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63550" algn="l"/>
                <a:tab pos="1890713" algn="l"/>
                <a:tab pos="320675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VMUL.F32	S3,S3,S0	// S3 = 4.0*a</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63550" algn="l"/>
                <a:tab pos="1890713" algn="l"/>
                <a:tab pos="320675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VMUL.F32	S3,S3,S2	// S3 = 4.0*a*c</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63550" algn="l"/>
                <a:tab pos="1890713" algn="l"/>
                <a:tab pos="320675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VSUB.F32	S0,S1,S3	// S0 = b*b – 4.0*a*c</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63550" algn="l"/>
                <a:tab pos="1890713" algn="l"/>
                <a:tab pos="320675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BX	LR</a:t>
            </a:r>
          </a:p>
        </p:txBody>
      </p:sp>
      <p:grpSp>
        <p:nvGrpSpPr>
          <p:cNvPr id="10" name="Group 9">
            <a:extLst>
              <a:ext uri="{FF2B5EF4-FFF2-40B4-BE49-F238E27FC236}">
                <a16:creationId xmlns:a16="http://schemas.microsoft.com/office/drawing/2014/main" id="{70A8798E-A06D-2AAA-A707-CDD94A186CDB}"/>
              </a:ext>
            </a:extLst>
          </p:cNvPr>
          <p:cNvGrpSpPr/>
          <p:nvPr/>
        </p:nvGrpSpPr>
        <p:grpSpPr>
          <a:xfrm>
            <a:off x="7871775" y="3177645"/>
            <a:ext cx="3702328" cy="1292662"/>
            <a:chOff x="1406484" y="4962819"/>
            <a:chExt cx="3702328" cy="1292662"/>
          </a:xfrm>
          <a:solidFill>
            <a:schemeClr val="accent4">
              <a:lumMod val="20000"/>
              <a:lumOff val="80000"/>
            </a:schemeClr>
          </a:solidFill>
        </p:grpSpPr>
        <p:sp>
          <p:nvSpPr>
            <p:cNvPr id="11" name="TextBox 10">
              <a:extLst>
                <a:ext uri="{FF2B5EF4-FFF2-40B4-BE49-F238E27FC236}">
                  <a16:creationId xmlns:a16="http://schemas.microsoft.com/office/drawing/2014/main" id="{B0FF4EB0-1E75-F6AB-249B-40982C5E7E64}"/>
                </a:ext>
              </a:extLst>
            </p:cNvPr>
            <p:cNvSpPr txBox="1"/>
            <p:nvPr/>
          </p:nvSpPr>
          <p:spPr>
            <a:xfrm>
              <a:off x="1406484" y="4962819"/>
              <a:ext cx="3702328" cy="1292662"/>
            </a:xfrm>
            <a:prstGeom prst="rect">
              <a:avLst/>
            </a:prstGeom>
            <a:grpFill/>
            <a:ln/>
          </p:spPr>
          <p:style>
            <a:lnRef idx="1">
              <a:schemeClr val="accent2"/>
            </a:lnRef>
            <a:fillRef idx="2">
              <a:schemeClr val="accent2"/>
            </a:fillRef>
            <a:effectRef idx="1">
              <a:schemeClr val="accent2"/>
            </a:effectRef>
            <a:fontRef idx="minor">
              <a:schemeClr val="dk1"/>
            </a:fontRef>
          </p:style>
          <p:txBody>
            <a:bodyPr wrap="square" tIns="91440" bIns="91440" rtlCol="0">
              <a:spAutoFit/>
            </a:bodyPr>
            <a:lstStyle/>
            <a:p>
              <a:pPr marL="1027113"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VMOV works for constants equal to ±m × 2</a:t>
              </a:r>
              <a:r>
                <a:rPr kumimoji="0" lang="en-US" sz="1800" b="0" i="0" u="none" strike="noStrike" kern="1200" cap="none" spc="0" normalizeH="0" baseline="30000" noProof="0" dirty="0">
                  <a:ln>
                    <a:noFill/>
                  </a:ln>
                  <a:solidFill>
                    <a:srgbClr val="000000"/>
                  </a:solidFill>
                  <a:effectLst/>
                  <a:uLnTx/>
                  <a:uFillTx/>
                  <a:latin typeface="Arial" panose="020B0604020202020204"/>
                  <a:ea typeface="+mn-ea"/>
                  <a:cs typeface="+mn-cs"/>
                </a:rPr>
                <a:t>-n</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 where 16 ≤ m ≤ 31 and  0 ≤ n ≤ 7</a:t>
              </a:r>
            </a:p>
          </p:txBody>
        </p:sp>
        <p:pic>
          <p:nvPicPr>
            <p:cNvPr id="12" name="Picture 4" descr="http://www.aamu.edu/campuslife/living-on-campus/residentialLife/SiteAssets/pages/default/Warning_sign.png">
              <a:extLst>
                <a:ext uri="{FF2B5EF4-FFF2-40B4-BE49-F238E27FC236}">
                  <a16:creationId xmlns:a16="http://schemas.microsoft.com/office/drawing/2014/main" id="{7CA9D881-3EEF-30A0-103C-6FCD003C89B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1522790" y="5053253"/>
              <a:ext cx="971826" cy="838200"/>
            </a:xfrm>
            <a:prstGeom prst="rect">
              <a:avLst/>
            </a:prstGeom>
            <a:grpFill/>
            <a:extLst>
              <a:ext uri="{909E8E84-426E-40dd-AFC4-6F175D3DCCD1}">
                <a14:hiddenFill xmlns="" xmlns:a14="http://schemas.microsoft.com/office/drawing/2010/main">
                  <a:solidFill>
                    <a:srgbClr val="FFFFFF"/>
                  </a:solidFill>
                </a14:hiddenFill>
              </a:ext>
            </a:extLst>
          </p:spPr>
        </p:pic>
      </p:grpSp>
      <p:sp>
        <p:nvSpPr>
          <p:cNvPr id="13" name="Title 8">
            <a:extLst>
              <a:ext uri="{FF2B5EF4-FFF2-40B4-BE49-F238E27FC236}">
                <a16:creationId xmlns:a16="http://schemas.microsoft.com/office/drawing/2014/main" id="{3AA87D9A-EDE7-DFAC-C806-C485CD3EC3F9}"/>
              </a:ext>
            </a:extLst>
          </p:cNvPr>
          <p:cNvSpPr>
            <a:spLocks noGrp="1"/>
          </p:cNvSpPr>
          <p:nvPr>
            <p:ph type="title"/>
          </p:nvPr>
        </p:nvSpPr>
        <p:spPr>
          <a:xfrm>
            <a:off x="946427" y="739597"/>
            <a:ext cx="7403489" cy="691631"/>
          </a:xfrm>
        </p:spPr>
        <p:txBody>
          <a:bodyPr/>
          <a:lstStyle/>
          <a:p>
            <a:r>
              <a:rPr lang="en-US" dirty="0"/>
              <a:t>Special Floating-Point Constants</a:t>
            </a:r>
          </a:p>
        </p:txBody>
      </p:sp>
      <p:pic>
        <p:nvPicPr>
          <p:cNvPr id="14" name="Picture 13">
            <a:extLst>
              <a:ext uri="{FF2B5EF4-FFF2-40B4-BE49-F238E27FC236}">
                <a16:creationId xmlns:a16="http://schemas.microsoft.com/office/drawing/2014/main" id="{9626C45F-4D9A-FFB4-27FF-6BCF6C4650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93785" y="4816251"/>
            <a:ext cx="2730403" cy="1562081"/>
          </a:xfrm>
          <a:prstGeom prst="rect">
            <a:avLst/>
          </a:prstGeom>
        </p:spPr>
      </p:pic>
      <p:pic>
        <p:nvPicPr>
          <p:cNvPr id="15" name="Picture 14">
            <a:extLst>
              <a:ext uri="{FF2B5EF4-FFF2-40B4-BE49-F238E27FC236}">
                <a16:creationId xmlns:a16="http://schemas.microsoft.com/office/drawing/2014/main" id="{FC5A5D1F-A9CC-7F43-657A-65583C21A81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70344" y="4766255"/>
            <a:ext cx="3348678" cy="1662072"/>
          </a:xfrm>
          <a:prstGeom prst="rect">
            <a:avLst/>
          </a:prstGeom>
        </p:spPr>
      </p:pic>
      <p:sp>
        <p:nvSpPr>
          <p:cNvPr id="16" name="TextBox 15">
            <a:extLst>
              <a:ext uri="{FF2B5EF4-FFF2-40B4-BE49-F238E27FC236}">
                <a16:creationId xmlns:a16="http://schemas.microsoft.com/office/drawing/2014/main" id="{BAB4C2B3-95AE-9A3E-0ED5-86068947E75D}"/>
              </a:ext>
            </a:extLst>
          </p:cNvPr>
          <p:cNvSpPr txBox="1"/>
          <p:nvPr/>
        </p:nvSpPr>
        <p:spPr>
          <a:xfrm>
            <a:off x="9877818" y="1134630"/>
            <a:ext cx="1896673" cy="584775"/>
          </a:xfrm>
          <a:prstGeom prst="rect">
            <a:avLst/>
          </a:prstGeom>
          <a:noFill/>
          <a:ln w="19050">
            <a:solidFill>
              <a:srgbClr val="00B0F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00B0F0"/>
                </a:solidFill>
                <a:effectLst/>
                <a:uLnTx/>
                <a:uFillTx/>
                <a:latin typeface="Arial" panose="020B0604020202020204"/>
                <a:ea typeface="+mn-ea"/>
                <a:cs typeface="+mn-cs"/>
              </a:rPr>
              <a:t>CPULator</a:t>
            </a:r>
            <a:r>
              <a:rPr kumimoji="0" lang="en-US" sz="1600" b="1" i="0" u="none" strike="noStrike" kern="1200" cap="none" spc="0" normalizeH="0" baseline="0" noProof="0" dirty="0">
                <a:ln>
                  <a:noFill/>
                </a:ln>
                <a:solidFill>
                  <a:srgbClr val="00B0F0"/>
                </a:solidFill>
                <a:effectLst/>
                <a:uLnTx/>
                <a:uFillTx/>
                <a:latin typeface="Arial" panose="020B0604020202020204"/>
                <a:ea typeface="+mn-ea"/>
                <a:cs typeface="+mn-cs"/>
              </a:rPr>
              <a:t>: </a:t>
            </a:r>
            <a:br>
              <a:rPr kumimoji="0" lang="en-US" sz="1600" b="1" i="0" u="none" strike="noStrike" kern="1200" cap="none" spc="0" normalizeH="0" baseline="0" noProof="0" dirty="0">
                <a:ln>
                  <a:noFill/>
                </a:ln>
                <a:solidFill>
                  <a:srgbClr val="00B0F0"/>
                </a:solidFill>
                <a:effectLst/>
                <a:uLnTx/>
                <a:uFillTx/>
                <a:latin typeface="Arial" panose="020B0604020202020204"/>
                <a:ea typeface="+mn-ea"/>
                <a:cs typeface="+mn-cs"/>
              </a:rPr>
            </a:br>
            <a:r>
              <a:rPr kumimoji="0" lang="en-US" sz="1600" b="1" i="0" u="none" strike="noStrike" kern="1200" cap="none" spc="0" normalizeH="0" baseline="0" noProof="0" dirty="0">
                <a:ln>
                  <a:noFill/>
                </a:ln>
                <a:solidFill>
                  <a:srgbClr val="FF0000"/>
                </a:solidFill>
                <a:effectLst/>
                <a:uLnTx/>
                <a:uFillTx/>
                <a:latin typeface="Arial" panose="020B0604020202020204"/>
                <a:ea typeface="+mn-ea"/>
                <a:cs typeface="+mn-cs"/>
              </a:rPr>
              <a:t>03-Discriminant.s</a:t>
            </a:r>
          </a:p>
        </p:txBody>
      </p:sp>
    </p:spTree>
    <p:extLst>
      <p:ext uri="{BB962C8B-B14F-4D97-AF65-F5344CB8AC3E}">
        <p14:creationId xmlns:p14="http://schemas.microsoft.com/office/powerpoint/2010/main" val="37557513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94342" y="2029688"/>
            <a:ext cx="5407507" cy="1439905"/>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Rectangle 1"/>
          <p:cNvSpPr/>
          <p:nvPr/>
        </p:nvSpPr>
        <p:spPr>
          <a:xfrm>
            <a:off x="1582232" y="1802245"/>
            <a:ext cx="7766136" cy="4552015"/>
          </a:xfrm>
          <a:prstGeom prst="rect">
            <a:avLst/>
          </a:prstGeom>
        </p:spPr>
        <p:txBody>
          <a:bodyPr wrap="square">
            <a:spAutoFit/>
          </a:bodyPr>
          <a:lstStyle/>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34315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S0</a:t>
            </a:r>
          </a:p>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34315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float </a:t>
            </a:r>
            <a:r>
              <a:rPr kumimoji="0" lang="en-US" sz="1800" b="0" i="0" u="none" strike="noStrike" kern="1200" cap="none" spc="0" normalizeH="0" baseline="0" noProof="0" dirty="0" err="1">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AreaOfCircle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(float radius){</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457200" algn="l" defTabSz="914400" rtl="0" eaLnBrk="1" fontAlgn="auto" latinLnBrk="0" hangingPunct="1">
              <a:lnSpc>
                <a:spcPct val="115000"/>
              </a:lnSpc>
              <a:spcBef>
                <a:spcPts val="0"/>
              </a:spcBef>
              <a:spcAft>
                <a:spcPts val="0"/>
              </a:spcAft>
              <a:buClrTx/>
              <a:buSzTx/>
              <a:buFontTx/>
              <a:buNone/>
              <a:tabLst>
                <a:tab pos="914400" algn="l"/>
                <a:tab pos="1657350" algn="l"/>
                <a:tab pos="234315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return 3.14159 * radius * radius;</a:t>
            </a:r>
            <a:b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rPr>
            </a:b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688975" algn="l"/>
                <a:tab pos="1890713" algn="l"/>
                <a:tab pos="3143250" algn="l"/>
              </a:tabLst>
              <a:defRPr/>
            </a:pPr>
            <a:endPar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endParaRPr>
          </a:p>
          <a:p>
            <a:pPr marL="0" marR="0" lvl="0" indent="0" algn="l" defTabSz="914400" rtl="0" eaLnBrk="1" fontAlgn="auto" latinLnBrk="0" hangingPunct="1">
              <a:lnSpc>
                <a:spcPct val="115000"/>
              </a:lnSpc>
              <a:spcBef>
                <a:spcPts val="0"/>
              </a:spcBef>
              <a:spcAft>
                <a:spcPts val="0"/>
              </a:spcAft>
              <a:buClrTx/>
              <a:buSzTx/>
              <a:buFontTx/>
              <a:buNone/>
              <a:tabLst>
                <a:tab pos="688975" algn="l"/>
                <a:tab pos="1890713" algn="l"/>
                <a:tab pos="3143250" algn="l"/>
              </a:tabLst>
              <a:defRPr/>
            </a:pPr>
            <a:r>
              <a:rPr kumimoji="0" lang="en-US" sz="1800" b="0" i="0" u="none" strike="noStrike" kern="1200" cap="none" spc="0" normalizeH="0" baseline="0" noProof="0" dirty="0" err="1">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AreaOfCircle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 S0 = radius</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688975" algn="l"/>
                <a:tab pos="1890713" algn="l"/>
                <a:tab pos="314325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VMUL.F32	S0,S0,S0	// S0 = radius*radius</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688975" algn="l"/>
                <a:tab pos="1890713" algn="l"/>
                <a:tab pos="314325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LDR	R0,=pi	// S1 = 3.14159</a:t>
            </a:r>
          </a:p>
          <a:p>
            <a:pPr marL="0" marR="0" lvl="0" indent="0" algn="l" defTabSz="914400" rtl="0" eaLnBrk="1" fontAlgn="auto" latinLnBrk="0" hangingPunct="1">
              <a:lnSpc>
                <a:spcPct val="115000"/>
              </a:lnSpc>
              <a:spcBef>
                <a:spcPts val="0"/>
              </a:spcBef>
              <a:spcAft>
                <a:spcPts val="0"/>
              </a:spcAft>
              <a:buClrTx/>
              <a:buSzTx/>
              <a:buFontTx/>
              <a:buNone/>
              <a:tabLst>
                <a:tab pos="688975" algn="l"/>
                <a:tab pos="1890713" algn="l"/>
                <a:tab pos="314325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Times New Roman" panose="02020603050405020304" pitchFamily="18" charset="0"/>
              </a:rPr>
              <a:t>	VLDR     	S1,[R0]</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688975" algn="l"/>
                <a:tab pos="1890713" algn="l"/>
                <a:tab pos="314325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VMUL.F32	S0,S0,S1	// S0 = 3.14159*radius*radius</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688975" algn="l"/>
                <a:tab pos="1890713" algn="l"/>
                <a:tab pos="314325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BX	LR</a:t>
            </a:r>
          </a:p>
          <a:p>
            <a:pPr marL="0" marR="0" lvl="0" indent="0" algn="l" defTabSz="914400" rtl="0" eaLnBrk="1" fontAlgn="auto" latinLnBrk="0" hangingPunct="1">
              <a:lnSpc>
                <a:spcPct val="115000"/>
              </a:lnSpc>
              <a:spcBef>
                <a:spcPts val="0"/>
              </a:spcBef>
              <a:spcAft>
                <a:spcPts val="0"/>
              </a:spcAft>
              <a:buClrTx/>
              <a:buSzTx/>
              <a:buFontTx/>
              <a:buNone/>
              <a:tabLst>
                <a:tab pos="688975" algn="l"/>
                <a:tab pos="1890713" algn="l"/>
                <a:tab pos="3143250" algn="l"/>
              </a:tabLst>
              <a:defRPr/>
            </a:pPr>
            <a:endPar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688975" algn="l"/>
                <a:tab pos="1890713" algn="l"/>
                <a:tab pos="314325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pi:	.float	3.14159</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3021736" y="2774308"/>
            <a:ext cx="939452" cy="350729"/>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p:cNvSpPr/>
          <p:nvPr/>
        </p:nvSpPr>
        <p:spPr>
          <a:xfrm>
            <a:off x="1582232" y="5895963"/>
            <a:ext cx="2977733" cy="336041"/>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Rectangle 5"/>
          <p:cNvSpPr/>
          <p:nvPr/>
        </p:nvSpPr>
        <p:spPr>
          <a:xfrm>
            <a:off x="4018821" y="4337409"/>
            <a:ext cx="346554" cy="336041"/>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7" name="Group 6"/>
          <p:cNvGrpSpPr/>
          <p:nvPr/>
        </p:nvGrpSpPr>
        <p:grpSpPr>
          <a:xfrm>
            <a:off x="6907614" y="2670426"/>
            <a:ext cx="4277743" cy="1015663"/>
            <a:chOff x="1295400" y="4900863"/>
            <a:chExt cx="4277743" cy="1015663"/>
          </a:xfrm>
        </p:grpSpPr>
        <p:sp>
          <p:nvSpPr>
            <p:cNvPr id="8" name="TextBox 7"/>
            <p:cNvSpPr txBox="1"/>
            <p:nvPr/>
          </p:nvSpPr>
          <p:spPr>
            <a:xfrm>
              <a:off x="1295400" y="4900863"/>
              <a:ext cx="4277743" cy="1015663"/>
            </a:xfrm>
            <a:prstGeom prst="rect">
              <a:avLst/>
            </a:prstGeom>
            <a:solidFill>
              <a:schemeClr val="accent4">
                <a:lumMod val="20000"/>
                <a:lumOff val="80000"/>
              </a:schemeClr>
            </a:solidFill>
            <a:ln/>
          </p:spPr>
          <p:style>
            <a:lnRef idx="1">
              <a:schemeClr val="accent2"/>
            </a:lnRef>
            <a:fillRef idx="2">
              <a:schemeClr val="accent2"/>
            </a:fillRef>
            <a:effectRef idx="1">
              <a:schemeClr val="accent2"/>
            </a:effectRef>
            <a:fontRef idx="minor">
              <a:schemeClr val="dk1"/>
            </a:fontRef>
          </p:style>
          <p:txBody>
            <a:bodyPr wrap="square" tIns="91440" bIns="91440" rtlCol="0">
              <a:spAutoFit/>
            </a:bodyPr>
            <a:lstStyle/>
            <a:p>
              <a:pPr marL="1027113"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Place data near the corresponding instruction – preferably below the function</a:t>
              </a:r>
            </a:p>
          </p:txBody>
        </p:sp>
        <p:pic>
          <p:nvPicPr>
            <p:cNvPr id="9" name="Picture 4" descr="http://www.aamu.edu/campuslife/living-on-campus/residentialLife/SiteAssets/pages/default/Warning_sig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1323475" y="4953000"/>
              <a:ext cx="971826" cy="838200"/>
            </a:xfrm>
            <a:prstGeom prst="rect">
              <a:avLst/>
            </a:prstGeom>
            <a:noFill/>
            <a:extLst>
              <a:ext uri="{909E8E84-426E-40dd-AFC4-6F175D3DCCD1}">
                <a14:hiddenFill xmlns="" xmlns:a14="http://schemas.microsoft.com/office/drawing/2010/main">
                  <a:solidFill>
                    <a:srgbClr val="FFFFFF"/>
                  </a:solidFill>
                </a14:hiddenFill>
              </a:ext>
            </a:extLst>
          </p:spPr>
        </p:pic>
      </p:grpSp>
      <p:sp>
        <p:nvSpPr>
          <p:cNvPr id="10" name="Title 9"/>
          <p:cNvSpPr>
            <a:spLocks noGrp="1"/>
          </p:cNvSpPr>
          <p:nvPr>
            <p:ph type="title"/>
          </p:nvPr>
        </p:nvSpPr>
        <p:spPr>
          <a:xfrm>
            <a:off x="932589" y="738521"/>
            <a:ext cx="7758222" cy="685216"/>
          </a:xfrm>
        </p:spPr>
        <p:txBody>
          <a:bodyPr/>
          <a:lstStyle/>
          <a:p>
            <a:r>
              <a:rPr lang="en-US" dirty="0"/>
              <a:t>Arbitrary Floating-Point Constants</a:t>
            </a:r>
          </a:p>
        </p:txBody>
      </p:sp>
      <p:sp>
        <p:nvSpPr>
          <p:cNvPr id="11" name="TextBox 10">
            <a:extLst>
              <a:ext uri="{FF2B5EF4-FFF2-40B4-BE49-F238E27FC236}">
                <a16:creationId xmlns:a16="http://schemas.microsoft.com/office/drawing/2014/main" id="{0060C989-27BC-F596-8D13-0ACAA1C8EF6E}"/>
              </a:ext>
            </a:extLst>
          </p:cNvPr>
          <p:cNvSpPr txBox="1"/>
          <p:nvPr/>
        </p:nvSpPr>
        <p:spPr>
          <a:xfrm>
            <a:off x="9877818" y="1134630"/>
            <a:ext cx="1896673" cy="584775"/>
          </a:xfrm>
          <a:prstGeom prst="rect">
            <a:avLst/>
          </a:prstGeom>
          <a:noFill/>
          <a:ln w="19050">
            <a:solidFill>
              <a:srgbClr val="00B0F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00B0F0"/>
                </a:solidFill>
                <a:effectLst/>
                <a:uLnTx/>
                <a:uFillTx/>
                <a:latin typeface="Arial" panose="020B0604020202020204"/>
                <a:ea typeface="+mn-ea"/>
                <a:cs typeface="+mn-cs"/>
              </a:rPr>
              <a:t>CPULator</a:t>
            </a:r>
            <a:r>
              <a:rPr kumimoji="0" lang="en-US" sz="1600" b="1" i="0" u="none" strike="noStrike" kern="1200" cap="none" spc="0" normalizeH="0" baseline="0" noProof="0" dirty="0">
                <a:ln>
                  <a:noFill/>
                </a:ln>
                <a:solidFill>
                  <a:srgbClr val="00B0F0"/>
                </a:solidFill>
                <a:effectLst/>
                <a:uLnTx/>
                <a:uFillTx/>
                <a:latin typeface="Arial" panose="020B0604020202020204"/>
                <a:ea typeface="+mn-ea"/>
                <a:cs typeface="+mn-cs"/>
              </a:rPr>
              <a:t>: </a:t>
            </a:r>
            <a:br>
              <a:rPr kumimoji="0" lang="en-US" sz="1600" b="1" i="0" u="none" strike="noStrike" kern="1200" cap="none" spc="0" normalizeH="0" baseline="0" noProof="0" dirty="0">
                <a:ln>
                  <a:noFill/>
                </a:ln>
                <a:solidFill>
                  <a:srgbClr val="00B0F0"/>
                </a:solidFill>
                <a:effectLst/>
                <a:uLnTx/>
                <a:uFillTx/>
                <a:latin typeface="Arial" panose="020B0604020202020204"/>
                <a:ea typeface="+mn-ea"/>
                <a:cs typeface="+mn-cs"/>
              </a:rPr>
            </a:br>
            <a:r>
              <a:rPr kumimoji="0" lang="en-US" sz="1600" b="1" i="0" u="none" strike="noStrike" kern="1200" cap="none" spc="0" normalizeH="0" baseline="0" noProof="0" dirty="0">
                <a:ln>
                  <a:noFill/>
                </a:ln>
                <a:solidFill>
                  <a:srgbClr val="FF0000"/>
                </a:solidFill>
                <a:effectLst/>
                <a:uLnTx/>
                <a:uFillTx/>
                <a:latin typeface="Arial" panose="020B0604020202020204"/>
                <a:ea typeface="+mn-ea"/>
                <a:cs typeface="+mn-cs"/>
              </a:rPr>
              <a:t>04-AreaOfCircle.s</a:t>
            </a:r>
          </a:p>
        </p:txBody>
      </p:sp>
    </p:spTree>
    <p:extLst>
      <p:ext uri="{BB962C8B-B14F-4D97-AF65-F5344CB8AC3E}">
        <p14:creationId xmlns:p14="http://schemas.microsoft.com/office/powerpoint/2010/main" val="42616754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38462" y="1695224"/>
            <a:ext cx="7866345" cy="1356787"/>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Rectangle 1"/>
          <p:cNvSpPr/>
          <p:nvPr/>
        </p:nvSpPr>
        <p:spPr>
          <a:xfrm>
            <a:off x="1018671" y="1695224"/>
            <a:ext cx="8492646" cy="4870564"/>
          </a:xfrm>
          <a:prstGeom prst="rect">
            <a:avLst/>
          </a:prstGeom>
        </p:spPr>
        <p:txBody>
          <a:bodyPr wrap="square">
            <a:spAutoFit/>
          </a:bodyPr>
          <a:lstStyle/>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S0</a:t>
            </a:r>
          </a:p>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float </a:t>
            </a:r>
            <a:r>
              <a:rPr kumimoji="0" lang="en-US" sz="1800" b="0" i="0" u="none" strike="noStrike" kern="1200" cap="none" spc="0" normalizeH="0" baseline="0" noProof="0" dirty="0" err="1">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VolumeOfSphere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(float radius){</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return (4.0 / 3.0) * 3.14159 * radius * radius * radius;</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914400" algn="l"/>
                <a:tab pos="2116138" algn="l"/>
                <a:tab pos="2805113" algn="l"/>
              </a:tabLst>
              <a:defRPr/>
            </a:pPr>
            <a:r>
              <a:rPr kumimoji="0" lang="en-US" sz="1800" b="0" i="0" u="none" strike="noStrike" kern="1200" cap="none" spc="0" normalizeH="0" baseline="0" noProof="0" dirty="0" err="1">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VolumeOfSphere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 S0 = radius</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914400" algn="l"/>
                <a:tab pos="2116138" algn="l"/>
                <a:tab pos="2805113"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63550" algn="l"/>
                <a:tab pos="2116138" algn="l"/>
                <a:tab pos="2805113"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VMUL.F32	S1,S0,S0	// S1 = radius * radius</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63550" algn="l"/>
                <a:tab pos="2116138" algn="l"/>
                <a:tab pos="2805113"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VMUL.F32	S0,S0,S1	// S0 = radius * radius * radius</a:t>
            </a:r>
          </a:p>
          <a:p>
            <a:pPr marL="0" marR="0" lvl="0" indent="0" algn="l" defTabSz="914400" rtl="0" eaLnBrk="1" fontAlgn="auto" latinLnBrk="0" hangingPunct="1">
              <a:lnSpc>
                <a:spcPct val="115000"/>
              </a:lnSpc>
              <a:spcBef>
                <a:spcPts val="0"/>
              </a:spcBef>
              <a:spcAft>
                <a:spcPts val="0"/>
              </a:spcAft>
              <a:buClrTx/>
              <a:buSzTx/>
              <a:buFontTx/>
              <a:buNone/>
              <a:tabLst>
                <a:tab pos="463550" algn="l"/>
                <a:tab pos="2116138" algn="l"/>
                <a:tab pos="2805113"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Times New Roman" panose="02020603050405020304" pitchFamily="18" charset="0"/>
              </a:rPr>
              <a:t>	LDR          R0,=factor</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63550" algn="l"/>
                <a:tab pos="2116138" algn="l"/>
                <a:tab pos="2805113"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VLDR	S1,[R0]	// S1 = (4.0/3.0)*3.14159</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63550" algn="l"/>
                <a:tab pos="2116138" algn="l"/>
                <a:tab pos="2805113"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VMUL.F32	S0,S0,S1	// S0 = ((4.0*3.14159)/3.0)*radius^3</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63550" algn="l"/>
                <a:tab pos="2116138" algn="l"/>
                <a:tab pos="2805113"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BX	LR</a:t>
            </a:r>
          </a:p>
          <a:p>
            <a:pPr marL="0" marR="0" lvl="0" indent="0" algn="l" defTabSz="914400" rtl="0" eaLnBrk="1" fontAlgn="auto" latinLnBrk="0" hangingPunct="1">
              <a:lnSpc>
                <a:spcPct val="115000"/>
              </a:lnSpc>
              <a:spcBef>
                <a:spcPts val="0"/>
              </a:spcBef>
              <a:spcAft>
                <a:spcPts val="0"/>
              </a:spcAft>
              <a:buClrTx/>
              <a:buSzTx/>
              <a:buFontTx/>
              <a:buNone/>
              <a:tabLst>
                <a:tab pos="463550" algn="l"/>
                <a:tab pos="2116138" algn="l"/>
                <a:tab pos="2805113" algn="l"/>
              </a:tabLst>
              <a:defRPr/>
            </a:pPr>
            <a:endPar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914400" algn="l"/>
                <a:tab pos="2116138" algn="l"/>
                <a:tab pos="2805113" algn="l"/>
              </a:tabLst>
              <a:defRPr/>
            </a:pPr>
            <a:r>
              <a:rPr kumimoji="0" lang="en-US" sz="1800" b="0" i="0" u="none" strike="noStrike" kern="1200" cap="none" spc="0" normalizeH="0" baseline="0" noProof="0" dirty="0">
                <a:ln>
                  <a:noFill/>
                </a:ln>
                <a:solidFill>
                  <a:srgbClr val="FF0000"/>
                </a:solidFill>
                <a:effectLst/>
                <a:uLnTx/>
                <a:uFillTx/>
                <a:latin typeface="Consolas" panose="020B0609020204030204" pitchFamily="49" charset="0"/>
                <a:ea typeface="Calibri" panose="020F0502020204030204" pitchFamily="34" charset="0"/>
                <a:cs typeface="Consolas" panose="020B0609020204030204" pitchFamily="49" charset="0"/>
              </a:rPr>
              <a:t>factor:	.float	4.18879	// (4.0/3.0)*3.14159</a:t>
            </a:r>
            <a:endParaRPr kumimoji="0" lang="en-US" sz="18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2470702" y="2363408"/>
            <a:ext cx="2693096" cy="375781"/>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7" name="Group 6"/>
          <p:cNvGrpSpPr/>
          <p:nvPr/>
        </p:nvGrpSpPr>
        <p:grpSpPr>
          <a:xfrm>
            <a:off x="8355348" y="2846094"/>
            <a:ext cx="3702328" cy="1292662"/>
            <a:chOff x="1295401" y="4900863"/>
            <a:chExt cx="3702328" cy="1292662"/>
          </a:xfrm>
        </p:grpSpPr>
        <p:sp>
          <p:nvSpPr>
            <p:cNvPr id="8" name="TextBox 7"/>
            <p:cNvSpPr txBox="1"/>
            <p:nvPr/>
          </p:nvSpPr>
          <p:spPr>
            <a:xfrm>
              <a:off x="1295401" y="4900863"/>
              <a:ext cx="3702328" cy="1292662"/>
            </a:xfrm>
            <a:prstGeom prst="rect">
              <a:avLst/>
            </a:prstGeom>
            <a:solidFill>
              <a:schemeClr val="accent4">
                <a:lumMod val="20000"/>
                <a:lumOff val="80000"/>
              </a:schemeClr>
            </a:solidFill>
            <a:ln/>
          </p:spPr>
          <p:style>
            <a:lnRef idx="1">
              <a:schemeClr val="accent2"/>
            </a:lnRef>
            <a:fillRef idx="2">
              <a:schemeClr val="accent2"/>
            </a:fillRef>
            <a:effectRef idx="1">
              <a:schemeClr val="accent2"/>
            </a:effectRef>
            <a:fontRef idx="minor">
              <a:schemeClr val="dk1"/>
            </a:fontRef>
          </p:style>
          <p:txBody>
            <a:bodyPr wrap="square" tIns="91440" bIns="91440" rtlCol="0">
              <a:spAutoFit/>
            </a:bodyPr>
            <a:lstStyle/>
            <a:p>
              <a:pPr marL="1027113"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You can't use expressions in the .float directive like you can with .word</a:t>
              </a:r>
            </a:p>
          </p:txBody>
        </p:sp>
        <p:pic>
          <p:nvPicPr>
            <p:cNvPr id="9" name="Picture 4" descr="http://www.aamu.edu/campuslife/living-on-campus/residentialLife/SiteAssets/pages/default/Warning_sig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1323475" y="4953000"/>
              <a:ext cx="971826" cy="838200"/>
            </a:xfrm>
            <a:prstGeom prst="rect">
              <a:avLst/>
            </a:prstGeom>
            <a:noFill/>
            <a:extLst>
              <a:ext uri="{909E8E84-426E-40dd-AFC4-6F175D3DCCD1}">
                <a14:hiddenFill xmlns="" xmlns:a14="http://schemas.microsoft.com/office/drawing/2010/main">
                  <a:solidFill>
                    <a:srgbClr val="FFFFFF"/>
                  </a:solidFill>
                </a14:hiddenFill>
              </a:ext>
            </a:extLst>
          </p:spPr>
        </p:pic>
      </p:grpSp>
      <p:sp>
        <p:nvSpPr>
          <p:cNvPr id="10" name="Title 9"/>
          <p:cNvSpPr>
            <a:spLocks noGrp="1"/>
          </p:cNvSpPr>
          <p:nvPr>
            <p:ph type="title"/>
          </p:nvPr>
        </p:nvSpPr>
        <p:spPr>
          <a:xfrm>
            <a:off x="938462" y="753978"/>
            <a:ext cx="9724205" cy="705854"/>
          </a:xfrm>
        </p:spPr>
        <p:txBody>
          <a:bodyPr>
            <a:normAutofit/>
          </a:bodyPr>
          <a:lstStyle/>
          <a:p>
            <a:r>
              <a:rPr lang="en-US" dirty="0"/>
              <a:t>Using Expressions to Create Constants</a:t>
            </a:r>
          </a:p>
        </p:txBody>
      </p:sp>
      <p:sp>
        <p:nvSpPr>
          <p:cNvPr id="11" name="Rectangle 10"/>
          <p:cNvSpPr/>
          <p:nvPr/>
        </p:nvSpPr>
        <p:spPr>
          <a:xfrm>
            <a:off x="3164522" y="6125282"/>
            <a:ext cx="4270993" cy="375781"/>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TextBox 4">
            <a:extLst>
              <a:ext uri="{FF2B5EF4-FFF2-40B4-BE49-F238E27FC236}">
                <a16:creationId xmlns:a16="http://schemas.microsoft.com/office/drawing/2014/main" id="{B7D6A1F1-BA90-AC15-4F7A-0B9D62BFE60F}"/>
              </a:ext>
            </a:extLst>
          </p:cNvPr>
          <p:cNvSpPr txBox="1"/>
          <p:nvPr/>
        </p:nvSpPr>
        <p:spPr>
          <a:xfrm>
            <a:off x="9877818" y="1134630"/>
            <a:ext cx="2301399" cy="584775"/>
          </a:xfrm>
          <a:prstGeom prst="rect">
            <a:avLst/>
          </a:prstGeom>
          <a:noFill/>
          <a:ln w="19050">
            <a:solidFill>
              <a:srgbClr val="00B0F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00B0F0"/>
                </a:solidFill>
                <a:effectLst/>
                <a:uLnTx/>
                <a:uFillTx/>
                <a:latin typeface="Arial" panose="020B0604020202020204"/>
                <a:ea typeface="+mn-ea"/>
                <a:cs typeface="+mn-cs"/>
              </a:rPr>
              <a:t>CPULator</a:t>
            </a:r>
            <a:r>
              <a:rPr kumimoji="0" lang="en-US" sz="1600" b="1" i="0" u="none" strike="noStrike" kern="1200" cap="none" spc="0" normalizeH="0" baseline="0" noProof="0" dirty="0">
                <a:ln>
                  <a:noFill/>
                </a:ln>
                <a:solidFill>
                  <a:srgbClr val="00B0F0"/>
                </a:solidFill>
                <a:effectLst/>
                <a:uLnTx/>
                <a:uFillTx/>
                <a:latin typeface="Arial" panose="020B0604020202020204"/>
                <a:ea typeface="+mn-ea"/>
                <a:cs typeface="+mn-cs"/>
              </a:rPr>
              <a:t>: </a:t>
            </a:r>
            <a:br>
              <a:rPr kumimoji="0" lang="en-US" sz="1600" b="1" i="0" u="none" strike="noStrike" kern="1200" cap="none" spc="0" normalizeH="0" baseline="0" noProof="0" dirty="0">
                <a:ln>
                  <a:noFill/>
                </a:ln>
                <a:solidFill>
                  <a:srgbClr val="00B0F0"/>
                </a:solidFill>
                <a:effectLst/>
                <a:uLnTx/>
                <a:uFillTx/>
                <a:latin typeface="Arial" panose="020B0604020202020204"/>
                <a:ea typeface="+mn-ea"/>
                <a:cs typeface="+mn-cs"/>
              </a:rPr>
            </a:br>
            <a:r>
              <a:rPr kumimoji="0" lang="en-US" sz="1600" b="1" i="0" u="none" strike="noStrike" kern="1200" cap="none" spc="0" normalizeH="0" baseline="0" noProof="0" dirty="0">
                <a:ln>
                  <a:noFill/>
                </a:ln>
                <a:solidFill>
                  <a:srgbClr val="FF0000"/>
                </a:solidFill>
                <a:effectLst/>
                <a:uLnTx/>
                <a:uFillTx/>
                <a:latin typeface="Arial" panose="020B0604020202020204"/>
                <a:ea typeface="+mn-ea"/>
                <a:cs typeface="+mn-cs"/>
              </a:rPr>
              <a:t>05-VolumeOfSphere.s</a:t>
            </a:r>
          </a:p>
        </p:txBody>
      </p:sp>
    </p:spTree>
    <p:extLst>
      <p:ext uri="{BB962C8B-B14F-4D97-AF65-F5344CB8AC3E}">
        <p14:creationId xmlns:p14="http://schemas.microsoft.com/office/powerpoint/2010/main" val="12299754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34724" y="1328254"/>
            <a:ext cx="6280209" cy="1182341"/>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Rectangle 1"/>
          <p:cNvSpPr/>
          <p:nvPr/>
        </p:nvSpPr>
        <p:spPr>
          <a:xfrm>
            <a:off x="978565" y="1420160"/>
            <a:ext cx="8617907" cy="5189113"/>
          </a:xfrm>
          <a:prstGeom prst="rect">
            <a:avLst/>
          </a:prstGeom>
        </p:spPr>
        <p:txBody>
          <a:bodyPr wrap="square">
            <a:spAutoFit/>
          </a:bodyPr>
          <a:lstStyle/>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float </a:t>
            </a:r>
            <a:r>
              <a:rPr kumimoji="0" lang="en-US" sz="1800" b="0" i="0" u="none" strike="noStrike" kern="1200" cap="none" spc="0" normalizeH="0" baseline="0" noProof="0" dirty="0" err="1">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VolumeOfCone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(float radius, float height){</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return </a:t>
            </a:r>
            <a:r>
              <a:rPr kumimoji="0" lang="en-US" sz="1800" b="0" i="0" u="none" strike="noStrike" kern="1200" cap="none" spc="0" normalizeH="0" baseline="0" noProof="0" dirty="0" err="1">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AreaOfCircle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(radius) * height / 3.0 ;</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572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9718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29235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r>
              <a:rPr kumimoji="0" lang="en-US" sz="1800" b="0" i="0" u="none" strike="noStrike" kern="1200" cap="none" spc="0" normalizeH="0" baseline="0" noProof="0" dirty="0" err="1">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VolumeOfCone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 S0 = radius, S1 = height</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914400" algn="l"/>
                <a:tab pos="1657350" algn="l"/>
                <a:tab pos="229235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63550" algn="l"/>
                <a:tab pos="1716088" algn="l"/>
                <a:tab pos="36576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PUSH	{R4,LR}	// Preserve R4 and LR</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63550" algn="l"/>
                <a:tab pos="1716088" algn="l"/>
                <a:tab pos="36576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VMOV	R4,S1	// R4 = height (S1 could be used  				// inside the </a:t>
            </a:r>
            <a:r>
              <a:rPr kumimoji="0" lang="en-US" sz="1800" b="0" i="0" u="none" strike="noStrike" kern="1200" cap="none" spc="0" normalizeH="0" baseline="0" noProof="0" dirty="0" err="1">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AreaOfCircle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function as 			// a scratch register</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63550" algn="l"/>
                <a:tab pos="1716088" algn="l"/>
                <a:tab pos="36576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BL	</a:t>
            </a:r>
            <a:r>
              <a:rPr kumimoji="0" lang="en-US" sz="1800" b="0" i="0" u="none" strike="noStrike" kern="1200" cap="none" spc="0" normalizeH="0" baseline="0" noProof="0" dirty="0" err="1">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AreaOfCircle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 S0 = area of base of cone</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63550" algn="l"/>
                <a:tab pos="1716088" algn="l"/>
                <a:tab pos="36576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VMOV	S1,R4	// S1 = height</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63550" algn="l"/>
                <a:tab pos="1716088" algn="l"/>
                <a:tab pos="36576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VMUL.F32	S0,S0,S1	// S0 = height * (area of base)</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63550" algn="l"/>
                <a:tab pos="1716088" algn="l"/>
                <a:tab pos="36576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VMOV	S1,#3.0	// S1 = 3.0</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63550" algn="l"/>
                <a:tab pos="1716088" algn="l"/>
                <a:tab pos="36576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VDIV.F32	S0,S0,S1	// S0 = (height * (area of base))/3.0</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tab pos="463550" algn="l"/>
                <a:tab pos="1716088" algn="l"/>
                <a:tab pos="3657600" algn="l"/>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POP	{R4,PC}	// Restore R4 and return</a:t>
            </a: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2371261" y="1791640"/>
            <a:ext cx="2565697" cy="313151"/>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p:cNvSpPr/>
          <p:nvPr/>
        </p:nvSpPr>
        <p:spPr>
          <a:xfrm>
            <a:off x="1433805" y="3691734"/>
            <a:ext cx="3016685" cy="1288003"/>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Rectangle 5"/>
          <p:cNvSpPr/>
          <p:nvPr/>
        </p:nvSpPr>
        <p:spPr>
          <a:xfrm>
            <a:off x="1433805" y="5588243"/>
            <a:ext cx="3016685" cy="313151"/>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7" name="Group 6"/>
          <p:cNvGrpSpPr/>
          <p:nvPr/>
        </p:nvGrpSpPr>
        <p:grpSpPr>
          <a:xfrm>
            <a:off x="7524585" y="1948216"/>
            <a:ext cx="3107319" cy="1292662"/>
            <a:chOff x="1295401" y="4900863"/>
            <a:chExt cx="2974531" cy="1292662"/>
          </a:xfrm>
        </p:grpSpPr>
        <p:sp>
          <p:nvSpPr>
            <p:cNvPr id="8" name="TextBox 7"/>
            <p:cNvSpPr txBox="1"/>
            <p:nvPr/>
          </p:nvSpPr>
          <p:spPr>
            <a:xfrm>
              <a:off x="1295401" y="4900863"/>
              <a:ext cx="2974531" cy="1292662"/>
            </a:xfrm>
            <a:prstGeom prst="rect">
              <a:avLst/>
            </a:prstGeom>
            <a:solidFill>
              <a:schemeClr val="accent4">
                <a:lumMod val="20000"/>
                <a:lumOff val="80000"/>
              </a:schemeClr>
            </a:solidFill>
            <a:ln/>
          </p:spPr>
          <p:style>
            <a:lnRef idx="1">
              <a:schemeClr val="accent2"/>
            </a:lnRef>
            <a:fillRef idx="2">
              <a:schemeClr val="accent2"/>
            </a:fillRef>
            <a:effectRef idx="1">
              <a:schemeClr val="accent2"/>
            </a:effectRef>
            <a:fontRef idx="minor">
              <a:schemeClr val="dk1"/>
            </a:fontRef>
          </p:style>
          <p:txBody>
            <a:bodyPr wrap="square" tIns="91440" bIns="91440" rtlCol="0">
              <a:spAutoFit/>
            </a:bodyPr>
            <a:lstStyle/>
            <a:p>
              <a:pPr marL="1027113"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Easiest to preserve FPU registers in core registers.</a:t>
              </a:r>
            </a:p>
          </p:txBody>
        </p:sp>
        <p:pic>
          <p:nvPicPr>
            <p:cNvPr id="9" name="Picture 4" descr="http://www.aamu.edu/campuslife/living-on-campus/residentialLife/SiteAssets/pages/default/Warning_sig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1323475" y="4953000"/>
              <a:ext cx="971826" cy="838200"/>
            </a:xfrm>
            <a:prstGeom prst="rect">
              <a:avLst/>
            </a:prstGeom>
            <a:noFill/>
            <a:extLst>
              <a:ext uri="{909E8E84-426E-40dd-AFC4-6F175D3DCCD1}">
                <a14:hiddenFill xmlns="" xmlns:a14="http://schemas.microsoft.com/office/drawing/2010/main">
                  <a:solidFill>
                    <a:srgbClr val="FFFFFF"/>
                  </a:solidFill>
                </a14:hiddenFill>
              </a:ext>
            </a:extLst>
          </p:spPr>
        </p:pic>
      </p:grpSp>
      <p:sp>
        <p:nvSpPr>
          <p:cNvPr id="10" name="Title 9"/>
          <p:cNvSpPr>
            <a:spLocks noGrp="1"/>
          </p:cNvSpPr>
          <p:nvPr>
            <p:ph type="title"/>
          </p:nvPr>
        </p:nvSpPr>
        <p:spPr>
          <a:xfrm>
            <a:off x="962663" y="733967"/>
            <a:ext cx="7254905" cy="522062"/>
          </a:xfrm>
        </p:spPr>
        <p:txBody>
          <a:bodyPr>
            <a:normAutofit fontScale="90000"/>
          </a:bodyPr>
          <a:lstStyle/>
          <a:p>
            <a:r>
              <a:rPr lang="en-US" dirty="0"/>
              <a:t>Preserving Floating-Point Registers</a:t>
            </a:r>
          </a:p>
        </p:txBody>
      </p:sp>
      <p:sp>
        <p:nvSpPr>
          <p:cNvPr id="11" name="TextBox 10">
            <a:extLst>
              <a:ext uri="{FF2B5EF4-FFF2-40B4-BE49-F238E27FC236}">
                <a16:creationId xmlns:a16="http://schemas.microsoft.com/office/drawing/2014/main" id="{FFAD2B90-B3D9-884C-9383-903E0647855D}"/>
              </a:ext>
            </a:extLst>
          </p:cNvPr>
          <p:cNvSpPr txBox="1"/>
          <p:nvPr/>
        </p:nvSpPr>
        <p:spPr>
          <a:xfrm>
            <a:off x="3983696" y="1272073"/>
            <a:ext cx="46679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panose="020B0604020202020204"/>
                <a:ea typeface="+mn-ea"/>
                <a:cs typeface="+mn-cs"/>
              </a:rPr>
              <a:t>S0</a:t>
            </a:r>
          </a:p>
        </p:txBody>
      </p:sp>
      <p:sp>
        <p:nvSpPr>
          <p:cNvPr id="12" name="TextBox 11">
            <a:extLst>
              <a:ext uri="{FF2B5EF4-FFF2-40B4-BE49-F238E27FC236}">
                <a16:creationId xmlns:a16="http://schemas.microsoft.com/office/drawing/2014/main" id="{1E9CFCA7-44FE-EC4F-A3AD-CAEF780BC2C1}"/>
              </a:ext>
            </a:extLst>
          </p:cNvPr>
          <p:cNvSpPr txBox="1"/>
          <p:nvPr/>
        </p:nvSpPr>
        <p:spPr>
          <a:xfrm>
            <a:off x="5795552" y="1272073"/>
            <a:ext cx="46679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panose="020B0604020202020204"/>
                <a:ea typeface="+mn-ea"/>
                <a:cs typeface="+mn-cs"/>
              </a:rPr>
              <a:t>S1</a:t>
            </a:r>
          </a:p>
        </p:txBody>
      </p:sp>
      <p:sp>
        <p:nvSpPr>
          <p:cNvPr id="13" name="TextBox 12">
            <a:extLst>
              <a:ext uri="{FF2B5EF4-FFF2-40B4-BE49-F238E27FC236}">
                <a16:creationId xmlns:a16="http://schemas.microsoft.com/office/drawing/2014/main" id="{3D4C3EB7-1388-59DF-070C-8B2D7BB4C6FF}"/>
              </a:ext>
            </a:extLst>
          </p:cNvPr>
          <p:cNvSpPr txBox="1"/>
          <p:nvPr/>
        </p:nvSpPr>
        <p:spPr>
          <a:xfrm>
            <a:off x="9877818" y="1134630"/>
            <a:ext cx="2118657" cy="584775"/>
          </a:xfrm>
          <a:prstGeom prst="rect">
            <a:avLst/>
          </a:prstGeom>
          <a:noFill/>
          <a:ln w="19050">
            <a:solidFill>
              <a:srgbClr val="00B0F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00B0F0"/>
                </a:solidFill>
                <a:effectLst/>
                <a:uLnTx/>
                <a:uFillTx/>
                <a:latin typeface="Arial" panose="020B0604020202020204"/>
                <a:ea typeface="+mn-ea"/>
                <a:cs typeface="+mn-cs"/>
              </a:rPr>
              <a:t>CPULator</a:t>
            </a:r>
            <a:r>
              <a:rPr kumimoji="0" lang="en-US" sz="1600" b="1" i="0" u="none" strike="noStrike" kern="1200" cap="none" spc="0" normalizeH="0" baseline="0" noProof="0" dirty="0">
                <a:ln>
                  <a:noFill/>
                </a:ln>
                <a:solidFill>
                  <a:srgbClr val="00B0F0"/>
                </a:solidFill>
                <a:effectLst/>
                <a:uLnTx/>
                <a:uFillTx/>
                <a:latin typeface="Arial" panose="020B0604020202020204"/>
                <a:ea typeface="+mn-ea"/>
                <a:cs typeface="+mn-cs"/>
              </a:rPr>
              <a:t>: </a:t>
            </a:r>
            <a:br>
              <a:rPr kumimoji="0" lang="en-US" sz="1600" b="1" i="0" u="none" strike="noStrike" kern="1200" cap="none" spc="0" normalizeH="0" baseline="0" noProof="0" dirty="0">
                <a:ln>
                  <a:noFill/>
                </a:ln>
                <a:solidFill>
                  <a:srgbClr val="00B0F0"/>
                </a:solidFill>
                <a:effectLst/>
                <a:uLnTx/>
                <a:uFillTx/>
                <a:latin typeface="Arial" panose="020B0604020202020204"/>
                <a:ea typeface="+mn-ea"/>
                <a:cs typeface="+mn-cs"/>
              </a:rPr>
            </a:br>
            <a:r>
              <a:rPr kumimoji="0" lang="en-US" sz="1600" b="1" i="0" u="none" strike="noStrike" kern="1200" cap="none" spc="0" normalizeH="0" baseline="0" noProof="0" dirty="0">
                <a:ln>
                  <a:noFill/>
                </a:ln>
                <a:solidFill>
                  <a:srgbClr val="FF0000"/>
                </a:solidFill>
                <a:effectLst/>
                <a:uLnTx/>
                <a:uFillTx/>
                <a:latin typeface="Arial" panose="020B0604020202020204"/>
                <a:ea typeface="+mn-ea"/>
                <a:cs typeface="+mn-cs"/>
              </a:rPr>
              <a:t>06-VolumeOfCone.s</a:t>
            </a:r>
          </a:p>
        </p:txBody>
      </p:sp>
    </p:spTree>
    <p:extLst>
      <p:ext uri="{BB962C8B-B14F-4D97-AF65-F5344CB8AC3E}">
        <p14:creationId xmlns:p14="http://schemas.microsoft.com/office/powerpoint/2010/main" val="28391157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a:t>Done</a:t>
            </a:r>
          </a:p>
        </p:txBody>
      </p:sp>
      <p:sp>
        <p:nvSpPr>
          <p:cNvPr id="5123" name="Slide Number Placeholder 3"/>
          <p:cNvSpPr>
            <a:spLocks noGrp="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200" b="0" i="0" u="none" strike="noStrike" kern="1200" cap="none" spc="0" normalizeH="0" baseline="0" noProof="0" dirty="0">
                <a:ln>
                  <a:noFill/>
                </a:ln>
                <a:solidFill>
                  <a:srgbClr val="898989"/>
                </a:solidFill>
                <a:effectLst/>
                <a:uLnTx/>
                <a:uFillTx/>
                <a:latin typeface="Calibri" panose="020F0502020204030204" pitchFamily="34" charset="0"/>
                <a:ea typeface="+mn-ea"/>
                <a:cs typeface="+mn-cs"/>
              </a:rPr>
              <a:t> </a:t>
            </a:r>
          </a:p>
        </p:txBody>
      </p:sp>
    </p:spTree>
    <p:extLst>
      <p:ext uri="{BB962C8B-B14F-4D97-AF65-F5344CB8AC3E}">
        <p14:creationId xmlns:p14="http://schemas.microsoft.com/office/powerpoint/2010/main" val="24535861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A25F2-3AE0-BDCF-0880-EDD5EEF55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AE57A2-3A61-C5F8-EEFD-EA2961784338}"/>
              </a:ext>
            </a:extLst>
          </p:cNvPr>
          <p:cNvSpPr>
            <a:spLocks noGrp="1"/>
          </p:cNvSpPr>
          <p:nvPr>
            <p:ph type="ctrTitle"/>
          </p:nvPr>
        </p:nvSpPr>
        <p:spPr/>
        <p:txBody>
          <a:bodyPr/>
          <a:lstStyle/>
          <a:p>
            <a:r>
              <a:rPr lang="en-US" dirty="0"/>
              <a:t>… to here …</a:t>
            </a:r>
          </a:p>
        </p:txBody>
      </p:sp>
    </p:spTree>
    <p:extLst>
      <p:ext uri="{BB962C8B-B14F-4D97-AF65-F5344CB8AC3E}">
        <p14:creationId xmlns:p14="http://schemas.microsoft.com/office/powerpoint/2010/main" val="2815624037"/>
      </p:ext>
    </p:extLst>
  </p:cSld>
  <p:clrMapOvr>
    <a:masterClrMapping/>
  </p:clrMapOvr>
</p:sld>
</file>

<file path=ppt/theme/theme1.xml><?xml version="1.0" encoding="utf-8"?>
<a:theme xmlns:a="http://schemas.openxmlformats.org/drawingml/2006/main" name="SCUTemplate">
  <a:themeElements>
    <a:clrScheme name="Santa Clara Powerpoint 1">
      <a:dk1>
        <a:srgbClr val="000000"/>
      </a:dk1>
      <a:lt1>
        <a:srgbClr val="FFFFFF"/>
      </a:lt1>
      <a:dk2>
        <a:srgbClr val="44546A"/>
      </a:dk2>
      <a:lt2>
        <a:srgbClr val="E7E6E6"/>
      </a:lt2>
      <a:accent1>
        <a:srgbClr val="596641"/>
      </a:accent1>
      <a:accent2>
        <a:srgbClr val="495764"/>
      </a:accent2>
      <a:accent3>
        <a:srgbClr val="71001B"/>
      </a:accent3>
      <a:accent4>
        <a:srgbClr val="FFC000"/>
      </a:accent4>
      <a:accent5>
        <a:srgbClr val="9D9B7B"/>
      </a:accent5>
      <a:accent6>
        <a:srgbClr val="759C9A"/>
      </a:accent6>
      <a:hlink>
        <a:srgbClr val="9E1B32"/>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EN912.pptx" id="{30FD953E-F8CF-43B1-AE2C-113081E30BF0}" vid="{F0B77AA3-1BFC-4F21-AA5C-47F762EA0811}"/>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EN912.pptx" id="{30FD953E-F8CF-43B1-AE2C-113081E30BF0}" vid="{C2E27841-7055-4EC2-8474-90BDE5ACE175}"/>
    </a:ext>
  </a:extLst>
</a:theme>
</file>

<file path=ppt/theme/theme3.xml><?xml version="1.0" encoding="utf-8"?>
<a:theme xmlns:a="http://schemas.openxmlformats.org/drawingml/2006/main" name="1_SCUTemplate">
  <a:themeElements>
    <a:clrScheme name="Santa Clara Powerpoint 1">
      <a:dk1>
        <a:srgbClr val="000000"/>
      </a:dk1>
      <a:lt1>
        <a:srgbClr val="FFFFFF"/>
      </a:lt1>
      <a:dk2>
        <a:srgbClr val="44546A"/>
      </a:dk2>
      <a:lt2>
        <a:srgbClr val="E7E6E6"/>
      </a:lt2>
      <a:accent1>
        <a:srgbClr val="596641"/>
      </a:accent1>
      <a:accent2>
        <a:srgbClr val="495764"/>
      </a:accent2>
      <a:accent3>
        <a:srgbClr val="71001B"/>
      </a:accent3>
      <a:accent4>
        <a:srgbClr val="FFC000"/>
      </a:accent4>
      <a:accent5>
        <a:srgbClr val="9D9B7B"/>
      </a:accent5>
      <a:accent6>
        <a:srgbClr val="759C9A"/>
      </a:accent6>
      <a:hlink>
        <a:srgbClr val="9E1B32"/>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EN912.pptx" id="{30FD953E-F8CF-43B1-AE2C-113081E30BF0}" vid="{F0B77AA3-1BFC-4F21-AA5C-47F762EA081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SCUTemplate</Template>
  <TotalTime>1047</TotalTime>
  <Words>5068</Words>
  <Application>Microsoft Office PowerPoint</Application>
  <PresentationFormat>Widescreen</PresentationFormat>
  <Paragraphs>1091</Paragraphs>
  <Slides>48</Slides>
  <Notes>35</Notes>
  <HiddenSlides>0</HiddenSlides>
  <MMClips>0</MMClips>
  <ScaleCrop>false</ScaleCrop>
  <HeadingPairs>
    <vt:vector size="8" baseType="variant">
      <vt:variant>
        <vt:lpstr>Fonts Used</vt:lpstr>
      </vt:variant>
      <vt:variant>
        <vt:i4>13</vt:i4>
      </vt:variant>
      <vt:variant>
        <vt:lpstr>Theme</vt:lpstr>
      </vt:variant>
      <vt:variant>
        <vt:i4>3</vt:i4>
      </vt:variant>
      <vt:variant>
        <vt:lpstr>Embedded OLE Servers</vt:lpstr>
      </vt:variant>
      <vt:variant>
        <vt:i4>1</vt:i4>
      </vt:variant>
      <vt:variant>
        <vt:lpstr>Slide Titles</vt:lpstr>
      </vt:variant>
      <vt:variant>
        <vt:i4>48</vt:i4>
      </vt:variant>
    </vt:vector>
  </HeadingPairs>
  <TitlesOfParts>
    <vt:vector size="65" baseType="lpstr">
      <vt:lpstr>ＭＳ Ｐゴシック</vt:lpstr>
      <vt:lpstr>Arial</vt:lpstr>
      <vt:lpstr>Arial Narrow</vt:lpstr>
      <vt:lpstr>Calibri</vt:lpstr>
      <vt:lpstr>Cambria Math</vt:lpstr>
      <vt:lpstr>Consolas</vt:lpstr>
      <vt:lpstr>Courier New</vt:lpstr>
      <vt:lpstr>Garamond</vt:lpstr>
      <vt:lpstr>Lucida Console</vt:lpstr>
      <vt:lpstr>Symbol</vt:lpstr>
      <vt:lpstr>Tahoma</vt:lpstr>
      <vt:lpstr>Times New Roman</vt:lpstr>
      <vt:lpstr>Wingdings</vt:lpstr>
      <vt:lpstr>SCUTemplate</vt:lpstr>
      <vt:lpstr>Custom Design</vt:lpstr>
      <vt:lpstr>1_SCUTemplate</vt:lpstr>
      <vt:lpstr>Equation</vt:lpstr>
      <vt:lpstr>CSEN20</vt:lpstr>
      <vt:lpstr>Chapter 9</vt:lpstr>
      <vt:lpstr>Floating Point Standard (Recall)</vt:lpstr>
      <vt:lpstr>Floating-Point Precision</vt:lpstr>
      <vt:lpstr>Floating Point (recall)</vt:lpstr>
      <vt:lpstr>Scientific Notation (why?)</vt:lpstr>
      <vt:lpstr>Floating Point</vt:lpstr>
      <vt:lpstr>IEEE 754 Floating-Point Format </vt:lpstr>
      <vt:lpstr>FLOATING-POINT DATA TYPE</vt:lpstr>
      <vt:lpstr>float versus int32_t</vt:lpstr>
      <vt:lpstr>Single-precision Floating-point Representing Zero and One</vt:lpstr>
      <vt:lpstr>Floating-Point Example 1 </vt:lpstr>
      <vt:lpstr>Floating-Point Example 1 </vt:lpstr>
      <vt:lpstr>Floating-Point Example 2 </vt:lpstr>
      <vt:lpstr>Floating-Point Example 2 </vt:lpstr>
      <vt:lpstr>Floating-Point Example 3 </vt:lpstr>
      <vt:lpstr>Floating-Point Example 3 </vt:lpstr>
      <vt:lpstr>The FPU itself …</vt:lpstr>
      <vt:lpstr>FLOATING-POINT REGISTERS </vt:lpstr>
      <vt:lpstr>FLOATING-POINT UNIT </vt:lpstr>
      <vt:lpstr>FLOATING-POINT PUSH &amp; POP</vt:lpstr>
      <vt:lpstr>Preserving Floating-Point Registers</vt:lpstr>
      <vt:lpstr>LOADING FLOATING-POINT CONSTANTS  </vt:lpstr>
      <vt:lpstr>VMOV Immediate Constants</vt:lpstr>
      <vt:lpstr>VMOV Immediate Constants</vt:lpstr>
      <vt:lpstr>Common VMOV Immediates</vt:lpstr>
      <vt:lpstr>Using Expressions to Create Constants</vt:lpstr>
      <vt:lpstr>COPYING FLOATING-POINT DATA - Register -&gt; Register</vt:lpstr>
      <vt:lpstr>COPYING FLOATING-POINT DATA - Memory -&gt; (Single or Double) Register</vt:lpstr>
      <vt:lpstr>COPYING FLOATING-POINT DATA - Register -&gt; (Single or Double) Memory</vt:lpstr>
      <vt:lpstr>LOADING FLOATING-POINT DATA - Memory to Multiple Registers</vt:lpstr>
      <vt:lpstr>STORING FLOATING-POINT DATA - 1, 2 or Multiple Registers to Memory</vt:lpstr>
      <vt:lpstr>INSTRUCTION SUFFIXES</vt:lpstr>
      <vt:lpstr>CONVERTING BETWEEN - INTEGER AND FLOATING POINT</vt:lpstr>
      <vt:lpstr>ROUNDING MODES</vt:lpstr>
      <vt:lpstr>float versus int32_t POSITVE</vt:lpstr>
      <vt:lpstr>float versus int32_t NEGATIVE</vt:lpstr>
      <vt:lpstr>ARITHMETIC WITH REAL NUMBERS </vt:lpstr>
      <vt:lpstr>FUNCTION PARAMETERS AND RETURN VALUES </vt:lpstr>
      <vt:lpstr>EXAMPLE</vt:lpstr>
      <vt:lpstr>Algorithm Examples</vt:lpstr>
      <vt:lpstr>Another Floating-Point Example</vt:lpstr>
      <vt:lpstr>Special Floating-Point Constants</vt:lpstr>
      <vt:lpstr>Arbitrary Floating-Point Constants</vt:lpstr>
      <vt:lpstr>Using Expressions to Create Constants</vt:lpstr>
      <vt:lpstr>Preserving Floating-Point Registers</vt:lpstr>
      <vt:lpstr>Done</vt:lpstr>
      <vt:lpstr>… to here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Outline</dc:title>
  <dc:creator>Michael Schimpf</dc:creator>
  <cp:lastModifiedBy>Michael Schimpf</cp:lastModifiedBy>
  <cp:revision>214</cp:revision>
  <cp:lastPrinted>2024-02-27T01:27:14Z</cp:lastPrinted>
  <dcterms:created xsi:type="dcterms:W3CDTF">2023-09-09T19:51:41Z</dcterms:created>
  <dcterms:modified xsi:type="dcterms:W3CDTF">2026-09-22T20:33:47Z</dcterms:modified>
</cp:coreProperties>
</file>