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  <p:sldMasterId id="2147483705" r:id="rId4"/>
  </p:sldMasterIdLst>
  <p:notesMasterIdLst>
    <p:notesMasterId r:id="rId46"/>
  </p:notesMasterIdLst>
  <p:handoutMasterIdLst>
    <p:handoutMasterId r:id="rId47"/>
  </p:handoutMasterIdLst>
  <p:sldIdLst>
    <p:sldId id="333" r:id="rId5"/>
    <p:sldId id="441" r:id="rId6"/>
    <p:sldId id="432" r:id="rId7"/>
    <p:sldId id="384" r:id="rId8"/>
    <p:sldId id="442" r:id="rId9"/>
    <p:sldId id="443" r:id="rId10"/>
    <p:sldId id="401" r:id="rId11"/>
    <p:sldId id="430" r:id="rId12"/>
    <p:sldId id="444" r:id="rId13"/>
    <p:sldId id="402" r:id="rId14"/>
    <p:sldId id="456" r:id="rId15"/>
    <p:sldId id="445" r:id="rId16"/>
    <p:sldId id="403" r:id="rId17"/>
    <p:sldId id="455" r:id="rId18"/>
    <p:sldId id="446" r:id="rId19"/>
    <p:sldId id="454" r:id="rId20"/>
    <p:sldId id="457" r:id="rId21"/>
    <p:sldId id="453" r:id="rId22"/>
    <p:sldId id="404" r:id="rId23"/>
    <p:sldId id="447" r:id="rId24"/>
    <p:sldId id="405" r:id="rId25"/>
    <p:sldId id="458" r:id="rId26"/>
    <p:sldId id="448" r:id="rId27"/>
    <p:sldId id="412" r:id="rId28"/>
    <p:sldId id="459" r:id="rId29"/>
    <p:sldId id="449" r:id="rId30"/>
    <p:sldId id="414" r:id="rId31"/>
    <p:sldId id="460" r:id="rId32"/>
    <p:sldId id="450" r:id="rId33"/>
    <p:sldId id="415" r:id="rId34"/>
    <p:sldId id="461" r:id="rId35"/>
    <p:sldId id="451" r:id="rId36"/>
    <p:sldId id="416" r:id="rId37"/>
    <p:sldId id="462" r:id="rId38"/>
    <p:sldId id="452" r:id="rId39"/>
    <p:sldId id="417" r:id="rId40"/>
    <p:sldId id="418" r:id="rId41"/>
    <p:sldId id="464" r:id="rId42"/>
    <p:sldId id="465" r:id="rId43"/>
    <p:sldId id="463" r:id="rId44"/>
    <p:sldId id="336" r:id="rId4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5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Assembly language function to compute</a:t>
            </a:r>
            <a:r>
              <a:rPr lang="en-US" baseline="0" dirty="0"/>
              <a:t> the Hypotenuse of a triangle.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9677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Assembly language function to compute</a:t>
            </a:r>
            <a:r>
              <a:rPr lang="en-US" baseline="0" dirty="0"/>
              <a:t> the Hypotenuse of a triangle.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4735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baseline="0" dirty="0"/>
              <a:t> = 16 and n = -2 so 16 x 2</a:t>
            </a:r>
            <a:r>
              <a:rPr lang="en-US" baseline="30000" dirty="0"/>
              <a:t>-2</a:t>
            </a:r>
            <a:r>
              <a:rPr lang="en-US" baseline="0" dirty="0"/>
              <a:t> = 4.0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4023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53243-AB00-E0D9-9297-C38751777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F1DEB3-A0AE-734E-8A44-8A5C038CB7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9AC6B-1BE0-80C6-A642-1F53C4ABC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baseline="0" dirty="0"/>
              <a:t> = 16 and n = -2 so 16 x 2</a:t>
            </a:r>
            <a:r>
              <a:rPr lang="en-US" baseline="30000" dirty="0"/>
              <a:t>-2</a:t>
            </a:r>
            <a:r>
              <a:rPr lang="en-US" baseline="0" dirty="0"/>
              <a:t> = 4.0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D2BAE-2F01-E408-1116-B0A6B9908F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2063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4142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D232C-BB8C-1603-BA4C-49AA84198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30B99D-338F-D7CF-DF61-E59EC008A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5D7AA-E63A-E8CA-325F-0D0FD1CF1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1A1BB-4DF1-E83B-8FC8-6B53E1C121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419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* r</a:t>
            </a:r>
            <a:r>
              <a:rPr lang="en-US" baseline="30000" dirty="0"/>
              <a:t>2</a:t>
            </a:r>
            <a:r>
              <a:rPr lang="en-US" dirty="0"/>
              <a:t> * h /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424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42C61-3804-265E-1328-4A95E6C80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9706E-34E4-0CAE-C56B-EEA2E5C9A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239D4C-08F1-CF08-F2EF-C8EABAACA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 * r</a:t>
            </a:r>
            <a:r>
              <a:rPr lang="en-US" baseline="30000" dirty="0"/>
              <a:t>2</a:t>
            </a:r>
            <a:r>
              <a:rPr lang="en-US" dirty="0"/>
              <a:t> * h /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25B8D-E257-CD01-48A4-E4BB1CDE0B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632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discriminant is negative return 1 (indicating we will have imaginary roots) otherwise</a:t>
            </a:r>
            <a:r>
              <a:rPr lang="en-US" baseline="0" dirty="0"/>
              <a:t> return 0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9682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5E607-7517-50B6-DE0F-F18837EC7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F9438-BB69-7D92-1B2D-3748AF97C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47BB0-D58F-F995-8964-B7BA7F386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discriminant is negative return 1 (indicating we will have imaginary roots) otherwise</a:t>
            </a:r>
            <a:r>
              <a:rPr lang="en-US" baseline="0" dirty="0"/>
              <a:t> return 0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2D7A8-1E28-4249-0245-AA377CAC3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0141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– b &lt; 0.0 then LT is true.</a:t>
            </a:r>
          </a:p>
          <a:p>
            <a:r>
              <a:rPr lang="en-US" dirty="0"/>
              <a:t>Please note that the LT is appended to the VADD instruction and not after the F32.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06959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E241D-4A9A-F9F3-C295-F04DEFDF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AA1F1-9D2C-C6DB-FE10-CDD99C635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39DAB-B8E3-00E5-8372-F1025318E6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– b &lt; 0.0 then LT is true.</a:t>
            </a:r>
          </a:p>
          <a:p>
            <a:r>
              <a:rPr lang="en-US" dirty="0"/>
              <a:t>Please note that the LT is appended to the VADD instruction and not after the F32.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3F9AC-AAB2-F701-448C-2088377C4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04805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absval</a:t>
            </a:r>
            <a:r>
              <a:rPr lang="en-US" dirty="0"/>
              <a:t>(x-y) is &lt; threshold return true (or 1)</a:t>
            </a:r>
          </a:p>
          <a:p>
            <a:r>
              <a:rPr lang="en-US" dirty="0"/>
              <a:t>If not return false (or 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9797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93317-34A9-2714-06B2-6F1454B92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3A091-4103-016D-D2D4-17DFE25BD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F8B62-8EB3-CA3B-1AD5-9A99E43D5B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absval</a:t>
            </a:r>
            <a:r>
              <a:rPr lang="en-US" dirty="0"/>
              <a:t>(x-y) is &lt; threshold return true (or 1)</a:t>
            </a:r>
          </a:p>
          <a:p>
            <a:r>
              <a:rPr lang="en-US" dirty="0"/>
              <a:t>If not return false (or 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28088-F544-D1D6-9EAC-5FB5059BC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075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minus</a:t>
            </a:r>
            <a:r>
              <a:rPr lang="en-US" baseline="0" dirty="0"/>
              <a:t> = 0 then x</a:t>
            </a:r>
            <a:r>
              <a:rPr lang="en-US" baseline="-25000" dirty="0"/>
              <a:t>+</a:t>
            </a:r>
            <a:r>
              <a:rPr lang="en-US" baseline="0" dirty="0"/>
              <a:t> root is returned </a:t>
            </a:r>
          </a:p>
          <a:p>
            <a:r>
              <a:rPr lang="en-US" baseline="0" dirty="0"/>
              <a:t>If minus = 1 then x</a:t>
            </a:r>
            <a:r>
              <a:rPr lang="en-US" baseline="-25000" dirty="0"/>
              <a:t>-</a:t>
            </a:r>
            <a:r>
              <a:rPr lang="en-US" baseline="0" dirty="0"/>
              <a:t> root is returned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682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4CC3C-5625-B2D4-3614-7083060F3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C0485-278C-4BAE-5AC9-BFECF6D59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80CB2-B899-AB2E-84D7-8E98262DB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absval</a:t>
            </a:r>
            <a:r>
              <a:rPr lang="en-US" dirty="0"/>
              <a:t>(x-y) is &lt; threshold return true (or 1)</a:t>
            </a:r>
          </a:p>
          <a:p>
            <a:r>
              <a:rPr lang="en-US" dirty="0"/>
              <a:t>If not return false (or 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9255E-1D9B-CDB3-473B-4CE67BF7EA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5944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71660-9EF7-2DA8-F5EB-8B406636E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B91BB-397C-F0C8-5A24-4785A1B6C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C00EB-4EC9-0D72-01E0-568B96844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 err="1"/>
              <a:t>absval</a:t>
            </a:r>
            <a:r>
              <a:rPr lang="en-US" dirty="0"/>
              <a:t>(x-y) is &lt; threshold return true (or 1)</a:t>
            </a:r>
          </a:p>
          <a:p>
            <a:r>
              <a:rPr lang="en-US" dirty="0"/>
              <a:t>If not return false (or 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CB160-728E-D798-A6E1-BAE6789B2A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E776C-1A39-48C6-A8DB-FFC32122A9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6128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3378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27102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9123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637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80921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4879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1522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9766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3653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9596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6876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5207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725616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59773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557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0143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0032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8/20/2026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98924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4966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8/20/2026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715183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8/20/2026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939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80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h-schmidt.net/FloatConverter/IEEE754.html" TargetMode="External"/><Relationship Id="rId1" Type="http://schemas.openxmlformats.org/officeDocument/2006/relationships/slideLayout" Target="../slideLayouts/slideLayout5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0389" y="1515374"/>
            <a:ext cx="10470130" cy="51743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766225"/>
            <a:ext cx="9144000" cy="702357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1F049-238D-8614-B6D8-E3F7ED2E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4768F-0053-3E95-3C42-BA582E30E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Exercise</a:t>
            </a:r>
          </a:p>
        </p:txBody>
      </p:sp>
    </p:spTree>
    <p:extLst>
      <p:ext uri="{BB962C8B-B14F-4D97-AF65-F5344CB8AC3E}">
        <p14:creationId xmlns:p14="http://schemas.microsoft.com/office/powerpoint/2010/main" val="3184387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2408263" cy="686577"/>
          </a:xfrm>
        </p:spPr>
        <p:txBody>
          <a:bodyPr/>
          <a:lstStyle/>
          <a:p>
            <a:r>
              <a:rPr lang="en-US" dirty="0"/>
              <a:t>Calculate 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821" y="2396680"/>
            <a:ext cx="9660763" cy="333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3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842" y="3147827"/>
            <a:ext cx="2424305" cy="730692"/>
          </a:xfrm>
        </p:spPr>
        <p:txBody>
          <a:bodyPr>
            <a:normAutofit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4657" y="6296162"/>
            <a:ext cx="5936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ＭＳ Ｐゴシック" panose="020B0600070205080204" pitchFamily="34" charset="-128"/>
                <a:cs typeface="+mn-cs"/>
                <a:hlinkClick r:id="rId2"/>
              </a:rPr>
              <a:t>https://www.h-schmidt.net/FloatConverter/IEEE754.html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764" y="796310"/>
            <a:ext cx="6918383" cy="543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60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15017-F5B3-DA6F-DECB-3F0BB72BC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47C79-C434-D41F-62D1-37722444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FPU Exercises</a:t>
            </a:r>
          </a:p>
        </p:txBody>
      </p:sp>
    </p:spTree>
    <p:extLst>
      <p:ext uri="{BB962C8B-B14F-4D97-AF65-F5344CB8AC3E}">
        <p14:creationId xmlns:p14="http://schemas.microsoft.com/office/powerpoint/2010/main" val="3808703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CE8F2-231A-8546-ACAC-8F962723D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71679-5C9F-8A8D-66EB-AE8B1A8D5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Pythagorean Theorem</a:t>
            </a:r>
          </a:p>
        </p:txBody>
      </p:sp>
    </p:spTree>
    <p:extLst>
      <p:ext uri="{BB962C8B-B14F-4D97-AF65-F5344CB8AC3E}">
        <p14:creationId xmlns:p14="http://schemas.microsoft.com/office/powerpoint/2010/main" val="1009126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58517" y="1442941"/>
            <a:ext cx="5137483" cy="692779"/>
          </a:xfrm>
        </p:spPr>
        <p:txBody>
          <a:bodyPr/>
          <a:lstStyle/>
          <a:p>
            <a:r>
              <a:rPr lang="en-US" dirty="0"/>
              <a:t>Pythagorean Theorem</a:t>
            </a:r>
          </a:p>
        </p:txBody>
      </p:sp>
      <p:pic>
        <p:nvPicPr>
          <p:cNvPr id="9" name="Picture 8" descr="Screen Shot 2017-10-31 at 3.30.4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614" y="1096551"/>
            <a:ext cx="2430039" cy="16966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071B84-6E23-D345-91AA-7452DAC263F8}"/>
              </a:ext>
            </a:extLst>
          </p:cNvPr>
          <p:cNvSpPr/>
          <p:nvPr/>
        </p:nvSpPr>
        <p:spPr>
          <a:xfrm>
            <a:off x="1920489" y="3100094"/>
            <a:ext cx="8270257" cy="20313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1875" algn="l"/>
                <a:tab pos="1828800" algn="l"/>
                <a:tab pos="259461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S0            S1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1875" algn="l"/>
                <a:tab pos="1828800" algn="l"/>
                <a:tab pos="259461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// float Hypotenuse(float side1, float side2)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Hypotenuse: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 //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Implement_me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 //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Implement_me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 //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Implement_me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BX	LR			// Return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</p:txBody>
      </p:sp>
      <p:sp>
        <p:nvSpPr>
          <p:cNvPr id="10" name="Title 2"/>
          <p:cNvSpPr txBox="1">
            <a:spLocks/>
          </p:cNvSpPr>
          <p:nvPr/>
        </p:nvSpPr>
        <p:spPr>
          <a:xfrm>
            <a:off x="930443" y="750162"/>
            <a:ext cx="7263062" cy="692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6507" y="5571587"/>
            <a:ext cx="5650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https://cpulator.01xz.net/?sys=arm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389" y="1023515"/>
            <a:ext cx="2572109" cy="1790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41598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0443" y="742989"/>
            <a:ext cx="7263062" cy="692779"/>
          </a:xfrm>
        </p:spPr>
        <p:txBody>
          <a:bodyPr/>
          <a:lstStyle/>
          <a:p>
            <a:r>
              <a:rPr lang="en-US" dirty="0"/>
              <a:t>Example: Pythagorean Theorem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590674" y="5171578"/>
            <a:ext cx="4667700" cy="1292662"/>
            <a:chOff x="1295401" y="4900863"/>
            <a:chExt cx="4667700" cy="1292662"/>
          </a:xfrm>
        </p:grpSpPr>
        <p:sp>
          <p:nvSpPr>
            <p:cNvPr id="5" name="TextBox 4"/>
            <p:cNvSpPr txBox="1"/>
            <p:nvPr/>
          </p:nvSpPr>
          <p:spPr>
            <a:xfrm>
              <a:off x="1295401" y="4900863"/>
              <a:ext cx="4667700" cy="12926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 function prototype declaration is needed when called to be sure parameters are single precision float.</a:t>
              </a:r>
            </a:p>
          </p:txBody>
        </p:sp>
        <p:pic>
          <p:nvPicPr>
            <p:cNvPr id="6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8" descr="Screen Shot 2017-10-31 at 3.30.45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8395" y="1089378"/>
            <a:ext cx="2430039" cy="16966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071B84-6E23-D345-91AA-7452DAC263F8}"/>
              </a:ext>
            </a:extLst>
          </p:cNvPr>
          <p:cNvSpPr/>
          <p:nvPr/>
        </p:nvSpPr>
        <p:spPr>
          <a:xfrm>
            <a:off x="2028774" y="3025883"/>
            <a:ext cx="8229600" cy="203132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1875" algn="l"/>
                <a:tab pos="1828800" algn="l"/>
                <a:tab pos="259461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S0            S1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031875" algn="l"/>
                <a:tab pos="1828800" algn="l"/>
                <a:tab pos="259461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// float Hypotenuse(float side1, float side2)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Hypotenuse: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 	VMUL.F32	S0,S0,S0	// S0 = side1 * side1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VMLA.F32	S0,S1,S1	// S0 += side2 * side2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VSQRT.F32	S0,S0		// S0 = square root of S0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188" algn="l"/>
                <a:tab pos="1025525" algn="l"/>
                <a:tab pos="1828800" algn="l"/>
                <a:tab pos="2684463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/>
                <a:cs typeface="Consolas" panose="020B0609020204030204" pitchFamily="49" charset="0"/>
              </a:rPr>
              <a:t>	BX	LR			// Return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Arial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614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97381-154B-5ED6-ACAF-2D1554018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22D7-4D20-47AE-1548-7D0F8EC00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Volume of a Cube</a:t>
            </a:r>
          </a:p>
        </p:txBody>
      </p:sp>
    </p:spTree>
    <p:extLst>
      <p:ext uri="{BB962C8B-B14F-4D97-AF65-F5344CB8AC3E}">
        <p14:creationId xmlns:p14="http://schemas.microsoft.com/office/powerpoint/2010/main" val="1869328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00407" y="2383712"/>
            <a:ext cx="7585278" cy="1281909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00406" y="2013518"/>
            <a:ext cx="8041710" cy="3895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S0            S1           S2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VolumeOfCube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height, float width, float depth){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height * width * depth;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VolumeOfCube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height, S1 = width, S2 = depth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BX	LR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0443" y="730565"/>
            <a:ext cx="7202904" cy="793435"/>
          </a:xfrm>
        </p:spPr>
        <p:txBody>
          <a:bodyPr/>
          <a:lstStyle/>
          <a:p>
            <a:r>
              <a:rPr lang="en-US" dirty="0"/>
              <a:t>Another Floating-Point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1D8DB-65CC-8B5D-DCF3-3066D2625086}"/>
              </a:ext>
            </a:extLst>
          </p:cNvPr>
          <p:cNvSpPr txBox="1"/>
          <p:nvPr/>
        </p:nvSpPr>
        <p:spPr>
          <a:xfrm>
            <a:off x="9877818" y="1134630"/>
            <a:ext cx="2118657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02-VolumOfaCube.s</a:t>
            </a:r>
          </a:p>
        </p:txBody>
      </p:sp>
    </p:spTree>
    <p:extLst>
      <p:ext uri="{BB962C8B-B14F-4D97-AF65-F5344CB8AC3E}">
        <p14:creationId xmlns:p14="http://schemas.microsoft.com/office/powerpoint/2010/main" val="1910272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70349-5880-AF06-2769-9D08A8081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96FF0E-3149-EE3B-C385-E11B3FA8406A}"/>
              </a:ext>
            </a:extLst>
          </p:cNvPr>
          <p:cNvSpPr/>
          <p:nvPr/>
        </p:nvSpPr>
        <p:spPr>
          <a:xfrm>
            <a:off x="2200407" y="2383712"/>
            <a:ext cx="7585278" cy="1281909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69CFAC-D58D-7015-E85B-6D5EBC772701}"/>
              </a:ext>
            </a:extLst>
          </p:cNvPr>
          <p:cNvSpPr/>
          <p:nvPr/>
        </p:nvSpPr>
        <p:spPr>
          <a:xfrm>
            <a:off x="2200406" y="2013518"/>
            <a:ext cx="8041710" cy="3914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S0            S1           S2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VolumeOfCube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height, float width, float depth){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height * width * depth;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VolumeOfCube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height, S1 = width, S2 = depth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657350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S0,S0,S1	// S0 = height * width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657350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S0,S0,S2	// S0 = height * width * depth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0050" algn="l"/>
                <a:tab pos="1657350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BX	LR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29D0C3-CEC4-F0FC-194E-A997F0893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443" y="730565"/>
            <a:ext cx="7202904" cy="793435"/>
          </a:xfrm>
        </p:spPr>
        <p:txBody>
          <a:bodyPr/>
          <a:lstStyle/>
          <a:p>
            <a:r>
              <a:rPr lang="en-US" dirty="0"/>
              <a:t>Another Floating-Point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1124C-8755-DA75-B743-FD700A86DFC1}"/>
              </a:ext>
            </a:extLst>
          </p:cNvPr>
          <p:cNvSpPr txBox="1"/>
          <p:nvPr/>
        </p:nvSpPr>
        <p:spPr>
          <a:xfrm>
            <a:off x="9877818" y="1134630"/>
            <a:ext cx="2118657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02-VolumOfaCube.s</a:t>
            </a:r>
          </a:p>
        </p:txBody>
      </p:sp>
    </p:spTree>
    <p:extLst>
      <p:ext uri="{BB962C8B-B14F-4D97-AF65-F5344CB8AC3E}">
        <p14:creationId xmlns:p14="http://schemas.microsoft.com/office/powerpoint/2010/main" val="362070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D265F-D9D5-903E-C913-6CF7A8083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B2E1-8C39-19A3-8D3C-04C02F81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Discriminant</a:t>
            </a:r>
          </a:p>
        </p:txBody>
      </p:sp>
    </p:spTree>
    <p:extLst>
      <p:ext uri="{BB962C8B-B14F-4D97-AF65-F5344CB8AC3E}">
        <p14:creationId xmlns:p14="http://schemas.microsoft.com/office/powerpoint/2010/main" val="710459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304843" y="1580941"/>
            <a:ext cx="6045073" cy="144299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04843" y="1658783"/>
            <a:ext cx="7979079" cy="4213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S0                S1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Discriminant(float a, float b, float c){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b * b – 4.0 * a * c 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Discriminant: // S0 = a, S1 = b, S2 = 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BX	LR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871775" y="3177645"/>
            <a:ext cx="3702328" cy="1292662"/>
            <a:chOff x="1406484" y="4962819"/>
            <a:chExt cx="3702328" cy="129266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" name="TextBox 4"/>
            <p:cNvSpPr txBox="1"/>
            <p:nvPr/>
          </p:nvSpPr>
          <p:spPr>
            <a:xfrm>
              <a:off x="1406484" y="4962819"/>
              <a:ext cx="3702328" cy="1292662"/>
            </a:xfrm>
            <a:prstGeom prst="rect">
              <a:avLst/>
            </a:prstGeom>
            <a:grpFill/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VMOV works for constants equal to ±m × 2</a:t>
              </a:r>
              <a:r>
                <a:rPr kumimoji="0" lang="en-US" sz="18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-n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, where 16 ≤ m ≤ 31 and  0 ≤ n ≤ 7</a:t>
              </a:r>
            </a:p>
          </p:txBody>
        </p:sp>
        <p:pic>
          <p:nvPicPr>
            <p:cNvPr id="6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22790" y="5053253"/>
              <a:ext cx="971826" cy="838200"/>
            </a:xfrm>
            <a:prstGeom prst="rect">
              <a:avLst/>
            </a:prstGeom>
            <a:grp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46427" y="739597"/>
            <a:ext cx="7403489" cy="691631"/>
          </a:xfrm>
        </p:spPr>
        <p:txBody>
          <a:bodyPr/>
          <a:lstStyle/>
          <a:p>
            <a:r>
              <a:rPr lang="en-US" dirty="0"/>
              <a:t>Special Floating-Point Constants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785" y="4816251"/>
            <a:ext cx="2730403" cy="156208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344" y="4766255"/>
            <a:ext cx="3348678" cy="16620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4FB63B-2A87-BFC7-8F63-E20E266B2A0C}"/>
              </a:ext>
            </a:extLst>
          </p:cNvPr>
          <p:cNvSpPr txBox="1"/>
          <p:nvPr/>
        </p:nvSpPr>
        <p:spPr>
          <a:xfrm>
            <a:off x="9877818" y="1134630"/>
            <a:ext cx="1896673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03-Discriminant.s</a:t>
            </a:r>
          </a:p>
        </p:txBody>
      </p:sp>
    </p:spTree>
    <p:extLst>
      <p:ext uri="{BB962C8B-B14F-4D97-AF65-F5344CB8AC3E}">
        <p14:creationId xmlns:p14="http://schemas.microsoft.com/office/powerpoint/2010/main" val="961298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BB0EE-45D9-B7AF-250B-A4D1CE3E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AB8035-CF8E-ECEB-CD32-BC962255D034}"/>
              </a:ext>
            </a:extLst>
          </p:cNvPr>
          <p:cNvSpPr/>
          <p:nvPr/>
        </p:nvSpPr>
        <p:spPr>
          <a:xfrm>
            <a:off x="2304843" y="1580941"/>
            <a:ext cx="6045073" cy="144299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3D774B-7EFD-5C5C-7958-FFCB8CF23271}"/>
              </a:ext>
            </a:extLst>
          </p:cNvPr>
          <p:cNvSpPr/>
          <p:nvPr/>
        </p:nvSpPr>
        <p:spPr>
          <a:xfrm>
            <a:off x="2304843" y="1658783"/>
            <a:ext cx="7979079" cy="4531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S0                S1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Discriminant(float a, float b, float c){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b * b – 4.0 * a * c 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Discriminant: // S0 = a, S1 = b, S2 = 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S1,S1,S1	// S1 = b*b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S3,4.0	// S3 = 4.0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S3,S3,S0	// S3 = 4.0*a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S3,S3,S2	// S3 = 4.0*a*c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VSUB.F32	S0,S1,S3	// S0 = b*b – 4.0*a*c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BX	LR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04165C-7E30-42DF-B89B-0A710201AC78}"/>
              </a:ext>
            </a:extLst>
          </p:cNvPr>
          <p:cNvGrpSpPr/>
          <p:nvPr/>
        </p:nvGrpSpPr>
        <p:grpSpPr>
          <a:xfrm>
            <a:off x="7871775" y="3177645"/>
            <a:ext cx="3702328" cy="1292662"/>
            <a:chOff x="1406484" y="4962819"/>
            <a:chExt cx="3702328" cy="1292662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94428D6-9626-A1C8-ED9E-8598D9F1F406}"/>
                </a:ext>
              </a:extLst>
            </p:cNvPr>
            <p:cNvSpPr txBox="1"/>
            <p:nvPr/>
          </p:nvSpPr>
          <p:spPr>
            <a:xfrm>
              <a:off x="1406484" y="4962819"/>
              <a:ext cx="3702328" cy="1292662"/>
            </a:xfrm>
            <a:prstGeom prst="rect">
              <a:avLst/>
            </a:prstGeom>
            <a:grpFill/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VMOV works for constants equal to ±m × 2</a:t>
              </a:r>
              <a:r>
                <a:rPr kumimoji="0" lang="en-US" sz="1800" b="0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-n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, where 16 ≤ m ≤ 31 and  0 ≤ n ≤ 7</a:t>
              </a:r>
            </a:p>
          </p:txBody>
        </p:sp>
        <p:pic>
          <p:nvPicPr>
            <p:cNvPr id="6" name="Picture 4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19493EAA-CBA3-02E1-2F25-623189322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522790" y="5053253"/>
              <a:ext cx="971826" cy="838200"/>
            </a:xfrm>
            <a:prstGeom prst="rect">
              <a:avLst/>
            </a:prstGeom>
            <a:grp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6E133F43-3B37-C151-BDC3-E7859A1E1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27" y="739597"/>
            <a:ext cx="7403489" cy="691631"/>
          </a:xfrm>
        </p:spPr>
        <p:txBody>
          <a:bodyPr/>
          <a:lstStyle/>
          <a:p>
            <a:r>
              <a:rPr lang="en-US" dirty="0"/>
              <a:t>Special Floating-Point Constants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D0CF61-753B-9288-04BB-02D2327ADA6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785" y="4816251"/>
            <a:ext cx="2730403" cy="15620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6E4536-FB23-7FF9-DBC8-7C0975F4266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344" y="4766255"/>
            <a:ext cx="3348678" cy="16620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D00A4B-63C1-DECF-216E-C470C59F38BC}"/>
              </a:ext>
            </a:extLst>
          </p:cNvPr>
          <p:cNvSpPr txBox="1"/>
          <p:nvPr/>
        </p:nvSpPr>
        <p:spPr>
          <a:xfrm>
            <a:off x="9877818" y="1134630"/>
            <a:ext cx="1896673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03-Discriminant.s</a:t>
            </a:r>
          </a:p>
        </p:txBody>
      </p:sp>
    </p:spTree>
    <p:extLst>
      <p:ext uri="{BB962C8B-B14F-4D97-AF65-F5344CB8AC3E}">
        <p14:creationId xmlns:p14="http://schemas.microsoft.com/office/powerpoint/2010/main" val="3548176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A26DC-1A06-EFF9-82A4-87C6232E1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715A7-26D4-4C52-CEBB-EF5B6725E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of a Circle</a:t>
            </a:r>
          </a:p>
        </p:txBody>
      </p:sp>
    </p:spTree>
    <p:extLst>
      <p:ext uri="{BB962C8B-B14F-4D97-AF65-F5344CB8AC3E}">
        <p14:creationId xmlns:p14="http://schemas.microsoft.com/office/powerpoint/2010/main" val="2853165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78AB-CCDD-A6A0-7601-BE9B8153D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314C502-A01C-3131-D688-E5F8AE88989F}"/>
              </a:ext>
            </a:extLst>
          </p:cNvPr>
          <p:cNvSpPr/>
          <p:nvPr/>
        </p:nvSpPr>
        <p:spPr>
          <a:xfrm>
            <a:off x="1394342" y="2029688"/>
            <a:ext cx="5407507" cy="143990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6F883D-2F01-E4C9-AC7C-5F1B687A6E6C}"/>
              </a:ext>
            </a:extLst>
          </p:cNvPr>
          <p:cNvSpPr/>
          <p:nvPr/>
        </p:nvSpPr>
        <p:spPr>
          <a:xfrm>
            <a:off x="1582232" y="1802245"/>
            <a:ext cx="7766136" cy="4532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S0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radius){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 3.14159 * radius * radius;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 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BX	LR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pi:	.float	3.14159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5A753-453F-631E-395D-7E54CFF7BDEF}"/>
              </a:ext>
            </a:extLst>
          </p:cNvPr>
          <p:cNvSpPr/>
          <p:nvPr/>
        </p:nvSpPr>
        <p:spPr>
          <a:xfrm>
            <a:off x="3021736" y="2774308"/>
            <a:ext cx="939452" cy="35072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846ED8B-9B30-C516-49C8-56B71CE67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89" y="738521"/>
            <a:ext cx="7758222" cy="685216"/>
          </a:xfrm>
        </p:spPr>
        <p:txBody>
          <a:bodyPr/>
          <a:lstStyle/>
          <a:p>
            <a:r>
              <a:rPr lang="en-US" dirty="0"/>
              <a:t>Arbitrary Floating-Point Constants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BBD478-508D-7B2C-8ED7-EC8F9C8317A6}"/>
              </a:ext>
            </a:extLst>
          </p:cNvPr>
          <p:cNvSpPr txBox="1"/>
          <p:nvPr/>
        </p:nvSpPr>
        <p:spPr>
          <a:xfrm>
            <a:off x="9877818" y="1134630"/>
            <a:ext cx="1896673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04-AreaOfCircle.s</a:t>
            </a:r>
          </a:p>
        </p:txBody>
      </p:sp>
    </p:spTree>
    <p:extLst>
      <p:ext uri="{BB962C8B-B14F-4D97-AF65-F5344CB8AC3E}">
        <p14:creationId xmlns:p14="http://schemas.microsoft.com/office/powerpoint/2010/main" val="3983483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2C604-043E-03FA-9A4A-57398D1D4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AF7E717-E733-5B18-B34F-464909236C19}"/>
              </a:ext>
            </a:extLst>
          </p:cNvPr>
          <p:cNvSpPr/>
          <p:nvPr/>
        </p:nvSpPr>
        <p:spPr>
          <a:xfrm>
            <a:off x="1394342" y="2029688"/>
            <a:ext cx="5407507" cy="143990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54E255-3D31-7E6F-9C5C-D847B9BF5566}"/>
              </a:ext>
            </a:extLst>
          </p:cNvPr>
          <p:cNvSpPr/>
          <p:nvPr/>
        </p:nvSpPr>
        <p:spPr>
          <a:xfrm>
            <a:off x="1582232" y="1802245"/>
            <a:ext cx="7766136" cy="4552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S0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radius){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 3.14159 * radius * radius;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 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S0,S0,S0	// S0 = radius*radius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LDR	R0,=pi	// S1 = 3.14159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VLDR     S1,[R0]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S0,S0,S1	// S0 = 3.14159*radius*radius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BX	LR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pi:	.float	3.14159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18072D-62E0-F03B-50EF-1B2A475B436E}"/>
              </a:ext>
            </a:extLst>
          </p:cNvPr>
          <p:cNvSpPr/>
          <p:nvPr/>
        </p:nvSpPr>
        <p:spPr>
          <a:xfrm>
            <a:off x="3021736" y="2774308"/>
            <a:ext cx="939452" cy="35072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7B76C5-A8E5-1C6A-EDC9-6B5090EFD763}"/>
              </a:ext>
            </a:extLst>
          </p:cNvPr>
          <p:cNvSpPr/>
          <p:nvPr/>
        </p:nvSpPr>
        <p:spPr>
          <a:xfrm>
            <a:off x="1582232" y="5895963"/>
            <a:ext cx="2977733" cy="33604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CDE53B-2E91-2A97-A2D3-5565FD976FBF}"/>
              </a:ext>
            </a:extLst>
          </p:cNvPr>
          <p:cNvSpPr/>
          <p:nvPr/>
        </p:nvSpPr>
        <p:spPr>
          <a:xfrm>
            <a:off x="4018821" y="4337409"/>
            <a:ext cx="346554" cy="33604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206BA0-F2C9-77F4-0D91-157774FB914F}"/>
              </a:ext>
            </a:extLst>
          </p:cNvPr>
          <p:cNvGrpSpPr/>
          <p:nvPr/>
        </p:nvGrpSpPr>
        <p:grpSpPr>
          <a:xfrm>
            <a:off x="6907614" y="2670426"/>
            <a:ext cx="4277743" cy="1015663"/>
            <a:chOff x="1295400" y="4900863"/>
            <a:chExt cx="4277743" cy="101566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8CC435-EB48-7C2D-C519-BCA752077B3B}"/>
                </a:ext>
              </a:extLst>
            </p:cNvPr>
            <p:cNvSpPr txBox="1"/>
            <p:nvPr/>
          </p:nvSpPr>
          <p:spPr>
            <a:xfrm>
              <a:off x="1295400" y="4900863"/>
              <a:ext cx="4277743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Place data near the corresponding instruction – preferably below the function</a:t>
              </a:r>
            </a:p>
          </p:txBody>
        </p:sp>
        <p:pic>
          <p:nvPicPr>
            <p:cNvPr id="9" name="Picture 4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35B47337-6871-9194-1E65-5D581D9A2D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6060F422-B531-E851-B79A-423D01943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89" y="738521"/>
            <a:ext cx="7758222" cy="685216"/>
          </a:xfrm>
        </p:spPr>
        <p:txBody>
          <a:bodyPr/>
          <a:lstStyle/>
          <a:p>
            <a:r>
              <a:rPr lang="en-US" dirty="0"/>
              <a:t>Arbitrary Floating-Point Constants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735944-F642-008C-8315-C0892A9EFE9A}"/>
              </a:ext>
            </a:extLst>
          </p:cNvPr>
          <p:cNvSpPr txBox="1"/>
          <p:nvPr/>
        </p:nvSpPr>
        <p:spPr>
          <a:xfrm>
            <a:off x="9877818" y="1134630"/>
            <a:ext cx="1896673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04-AreaOfCircle.s</a:t>
            </a:r>
          </a:p>
        </p:txBody>
      </p:sp>
    </p:spTree>
    <p:extLst>
      <p:ext uri="{BB962C8B-B14F-4D97-AF65-F5344CB8AC3E}">
        <p14:creationId xmlns:p14="http://schemas.microsoft.com/office/powerpoint/2010/main" val="1972248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7058-EB5E-D975-C76C-DA1D6BC4F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2C110-36CB-72E0-F6A8-FDE8192E2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of a Circle</a:t>
            </a:r>
            <a:br>
              <a:rPr lang="en-US" dirty="0"/>
            </a:br>
            <a:r>
              <a:rPr lang="en-US" dirty="0"/>
              <a:t>For an array</a:t>
            </a:r>
          </a:p>
        </p:txBody>
      </p:sp>
    </p:spTree>
    <p:extLst>
      <p:ext uri="{BB962C8B-B14F-4D97-AF65-F5344CB8AC3E}">
        <p14:creationId xmlns:p14="http://schemas.microsoft.com/office/powerpoint/2010/main" val="3589983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32589" y="1435440"/>
            <a:ext cx="5407507" cy="143990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16264" y="1294277"/>
            <a:ext cx="10437535" cy="5488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S0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radius){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3431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 3.14159 * radius * radius;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S0,S0,S0	// S0 = radius*radius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LDR	R0,=pi	// S1 = 3.14159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VLDR     S1,[R0]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S0,S0,S1	// S0 = 3.14159*radius*radius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BX	LR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88975" algn="l"/>
                <a:tab pos="1890713" algn="l"/>
                <a:tab pos="31432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pi:	.float	3.14159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6199" y="1980027"/>
            <a:ext cx="939452" cy="35072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57126" y="1640357"/>
            <a:ext cx="2977733" cy="33604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465116" y="2026895"/>
            <a:ext cx="346554" cy="33604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32589" y="738521"/>
            <a:ext cx="7758222" cy="685216"/>
          </a:xfrm>
        </p:spPr>
        <p:txBody>
          <a:bodyPr/>
          <a:lstStyle/>
          <a:p>
            <a:r>
              <a:rPr lang="en-US" dirty="0"/>
              <a:t>Arbitrary Floating-Point Constants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60C989-27BC-F596-8D13-0ACAA1C8EF6E}"/>
              </a:ext>
            </a:extLst>
          </p:cNvPr>
          <p:cNvSpPr txBox="1"/>
          <p:nvPr/>
        </p:nvSpPr>
        <p:spPr>
          <a:xfrm>
            <a:off x="9877818" y="1134630"/>
            <a:ext cx="1255472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466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34B87-50DA-38A5-4D74-A5A49B6F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8189E-5C20-9DF2-8ABE-DC738071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Volume of Sphere</a:t>
            </a:r>
          </a:p>
        </p:txBody>
      </p:sp>
    </p:spTree>
    <p:extLst>
      <p:ext uri="{BB962C8B-B14F-4D97-AF65-F5344CB8AC3E}">
        <p14:creationId xmlns:p14="http://schemas.microsoft.com/office/powerpoint/2010/main" val="2941714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38462" y="1695224"/>
            <a:ext cx="7866345" cy="1356787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18671" y="1695224"/>
            <a:ext cx="8492646" cy="4214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  S0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VolumeOfSphere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radius){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(4.0 / 3.0) * 3.14159 * radius * radius * radius;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VolumeOfSphere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BX	LR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factor:	.float	4.18879	// (4.0/3.0)*3.14159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70702" y="2363408"/>
            <a:ext cx="2693096" cy="37578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8355348" y="2846094"/>
            <a:ext cx="3702328" cy="1292662"/>
            <a:chOff x="1295401" y="4900863"/>
            <a:chExt cx="3702328" cy="1292662"/>
          </a:xfrm>
        </p:grpSpPr>
        <p:sp>
          <p:nvSpPr>
            <p:cNvPr id="8" name="TextBox 7"/>
            <p:cNvSpPr txBox="1"/>
            <p:nvPr/>
          </p:nvSpPr>
          <p:spPr>
            <a:xfrm>
              <a:off x="1295401" y="4900863"/>
              <a:ext cx="3702328" cy="12926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You can't use expressions in the .float directive like you can with .word</a:t>
              </a:r>
            </a:p>
          </p:txBody>
        </p:sp>
        <p:pic>
          <p:nvPicPr>
            <p:cNvPr id="9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38462" y="753978"/>
            <a:ext cx="9724205" cy="705854"/>
          </a:xfrm>
        </p:spPr>
        <p:txBody>
          <a:bodyPr>
            <a:normAutofit/>
          </a:bodyPr>
          <a:lstStyle/>
          <a:p>
            <a:r>
              <a:rPr lang="en-US" dirty="0"/>
              <a:t>Using Expressions to Create Constants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9497" y="5514420"/>
            <a:ext cx="4270993" cy="37578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D6A1F1-BA90-AC15-4F7A-0B9D62BFE60F}"/>
              </a:ext>
            </a:extLst>
          </p:cNvPr>
          <p:cNvSpPr txBox="1"/>
          <p:nvPr/>
        </p:nvSpPr>
        <p:spPr>
          <a:xfrm>
            <a:off x="9877818" y="1134630"/>
            <a:ext cx="2301399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05-VolumeOfSphere.s</a:t>
            </a:r>
          </a:p>
        </p:txBody>
      </p:sp>
    </p:spTree>
    <p:extLst>
      <p:ext uri="{BB962C8B-B14F-4D97-AF65-F5344CB8AC3E}">
        <p14:creationId xmlns:p14="http://schemas.microsoft.com/office/powerpoint/2010/main" val="3189004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7A6C-96D9-A572-65A7-B563FA9A7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56CA70-EC98-6D35-249D-B831F9F000B3}"/>
              </a:ext>
            </a:extLst>
          </p:cNvPr>
          <p:cNvSpPr/>
          <p:nvPr/>
        </p:nvSpPr>
        <p:spPr>
          <a:xfrm>
            <a:off x="938462" y="1695224"/>
            <a:ext cx="7866345" cy="1356787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3D1B2B-2861-49DB-6584-84B8F801C7D4}"/>
              </a:ext>
            </a:extLst>
          </p:cNvPr>
          <p:cNvSpPr/>
          <p:nvPr/>
        </p:nvSpPr>
        <p:spPr>
          <a:xfrm>
            <a:off x="1018671" y="1695224"/>
            <a:ext cx="8492646" cy="487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                          S0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VolumeOfSphere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radius){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(4.0 / 3.0) * 3.14159 * radius * radius * radius;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VolumeOfSphere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S1,S0,S0	// S1 = radius * radius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S0,S0,S1	// S0 = radius * radius * radius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LDR          R0,=factor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VLDR	S1,[R0]	// S1 = (4.0/3.0)*3.14159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S0,S0,S1	// S0 = ((4.0*3.14159)/3.0)*radius^3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BX	LR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2116138" algn="l"/>
                <a:tab pos="2805113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2116138" algn="l"/>
                <a:tab pos="28051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factor:	.float	4.18879	// (4.0/3.0)*3.14159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835451-8993-A236-F113-766D526BC247}"/>
              </a:ext>
            </a:extLst>
          </p:cNvPr>
          <p:cNvSpPr/>
          <p:nvPr/>
        </p:nvSpPr>
        <p:spPr>
          <a:xfrm>
            <a:off x="2470702" y="2363408"/>
            <a:ext cx="2693096" cy="37578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A3946B-EECE-5933-4B56-90E4C12DF579}"/>
              </a:ext>
            </a:extLst>
          </p:cNvPr>
          <p:cNvGrpSpPr/>
          <p:nvPr/>
        </p:nvGrpSpPr>
        <p:grpSpPr>
          <a:xfrm>
            <a:off x="8355348" y="2846094"/>
            <a:ext cx="3702328" cy="1292662"/>
            <a:chOff x="1295401" y="4900863"/>
            <a:chExt cx="3702328" cy="129266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6C5044C-78EB-0384-F058-C8A42893D59B}"/>
                </a:ext>
              </a:extLst>
            </p:cNvPr>
            <p:cNvSpPr txBox="1"/>
            <p:nvPr/>
          </p:nvSpPr>
          <p:spPr>
            <a:xfrm>
              <a:off x="1295401" y="4900863"/>
              <a:ext cx="3702328" cy="12926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You can't use expressions in the .float directive like you can with .word</a:t>
              </a:r>
            </a:p>
          </p:txBody>
        </p:sp>
        <p:pic>
          <p:nvPicPr>
            <p:cNvPr id="9" name="Picture 4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048D07AA-290B-F15B-C219-5515F85F3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71B29343-47E8-B848-3CE5-E787AE451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462" y="753978"/>
            <a:ext cx="9724205" cy="705854"/>
          </a:xfrm>
        </p:spPr>
        <p:txBody>
          <a:bodyPr>
            <a:normAutofit/>
          </a:bodyPr>
          <a:lstStyle/>
          <a:p>
            <a:r>
              <a:rPr lang="en-US" dirty="0"/>
              <a:t>Using Expressions to Create Constants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EC16AB-B420-D549-6228-F430A4698080}"/>
              </a:ext>
            </a:extLst>
          </p:cNvPr>
          <p:cNvSpPr/>
          <p:nvPr/>
        </p:nvSpPr>
        <p:spPr>
          <a:xfrm>
            <a:off x="3164522" y="6125282"/>
            <a:ext cx="4270993" cy="37578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86FDE1-BF2F-17D6-5AA9-10CE58590E41}"/>
              </a:ext>
            </a:extLst>
          </p:cNvPr>
          <p:cNvSpPr txBox="1"/>
          <p:nvPr/>
        </p:nvSpPr>
        <p:spPr>
          <a:xfrm>
            <a:off x="9877818" y="1134630"/>
            <a:ext cx="2301399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05-VolumeOfSphere.s</a:t>
            </a:r>
          </a:p>
        </p:txBody>
      </p:sp>
    </p:spTree>
    <p:extLst>
      <p:ext uri="{BB962C8B-B14F-4D97-AF65-F5344CB8AC3E}">
        <p14:creationId xmlns:p14="http://schemas.microsoft.com/office/powerpoint/2010/main" val="26553022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68979-84E1-D70F-F179-3D93682E8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E2BA-86F2-1660-95C3-7B96EA5BA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Volume of Cone</a:t>
            </a:r>
          </a:p>
        </p:txBody>
      </p:sp>
    </p:spTree>
    <p:extLst>
      <p:ext uri="{BB962C8B-B14F-4D97-AF65-F5344CB8AC3E}">
        <p14:creationId xmlns:p14="http://schemas.microsoft.com/office/powerpoint/2010/main" val="1347618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34724" y="1328254"/>
            <a:ext cx="6280209" cy="118234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78565" y="1420160"/>
            <a:ext cx="8617907" cy="3258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VolumeOfCone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radius, float height){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(radius) * height / 3.0 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2923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VolumeOfCone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radius, S1 = height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POP	{R4,PC}	// Restore R4 and return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1261" y="1791640"/>
            <a:ext cx="2565697" cy="31315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7524585" y="1948216"/>
            <a:ext cx="3107319" cy="1292662"/>
            <a:chOff x="1295401" y="4900863"/>
            <a:chExt cx="2974531" cy="1292662"/>
          </a:xfrm>
        </p:grpSpPr>
        <p:sp>
          <p:nvSpPr>
            <p:cNvPr id="8" name="TextBox 7"/>
            <p:cNvSpPr txBox="1"/>
            <p:nvPr/>
          </p:nvSpPr>
          <p:spPr>
            <a:xfrm>
              <a:off x="1295401" y="4900863"/>
              <a:ext cx="2974531" cy="12926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Easiest to preserve FPU registers in core registers.</a:t>
              </a:r>
            </a:p>
          </p:txBody>
        </p:sp>
        <p:pic>
          <p:nvPicPr>
            <p:cNvPr id="9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62663" y="733967"/>
            <a:ext cx="7254905" cy="522062"/>
          </a:xfrm>
        </p:spPr>
        <p:txBody>
          <a:bodyPr>
            <a:normAutofit fontScale="90000"/>
          </a:bodyPr>
          <a:lstStyle/>
          <a:p>
            <a:r>
              <a:rPr lang="en-US" dirty="0"/>
              <a:t>Preserving Floating-Point Registers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AD2B90-B3D9-884C-9383-903E0647855D}"/>
              </a:ext>
            </a:extLst>
          </p:cNvPr>
          <p:cNvSpPr txBox="1"/>
          <p:nvPr/>
        </p:nvSpPr>
        <p:spPr>
          <a:xfrm>
            <a:off x="3983696" y="127207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9CFCA7-44FE-EC4F-A3AD-CAEF780BC2C1}"/>
              </a:ext>
            </a:extLst>
          </p:cNvPr>
          <p:cNvSpPr txBox="1"/>
          <p:nvPr/>
        </p:nvSpPr>
        <p:spPr>
          <a:xfrm>
            <a:off x="5795552" y="127207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4C3EB7-1388-59DF-070C-8B2D7BB4C6FF}"/>
              </a:ext>
            </a:extLst>
          </p:cNvPr>
          <p:cNvSpPr txBox="1"/>
          <p:nvPr/>
        </p:nvSpPr>
        <p:spPr>
          <a:xfrm>
            <a:off x="9877818" y="1134630"/>
            <a:ext cx="2118657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06-VolumeOfCone.s</a:t>
            </a:r>
          </a:p>
        </p:txBody>
      </p:sp>
    </p:spTree>
    <p:extLst>
      <p:ext uri="{BB962C8B-B14F-4D97-AF65-F5344CB8AC3E}">
        <p14:creationId xmlns:p14="http://schemas.microsoft.com/office/powerpoint/2010/main" val="3138298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6A38A-F404-0D1C-5E2F-613F79365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D4B4CAE-CE1B-E87B-9CE5-EC717541C4FD}"/>
              </a:ext>
            </a:extLst>
          </p:cNvPr>
          <p:cNvSpPr/>
          <p:nvPr/>
        </p:nvSpPr>
        <p:spPr>
          <a:xfrm>
            <a:off x="934724" y="1328254"/>
            <a:ext cx="6280209" cy="118234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5A4E7E-1957-298C-1C35-205880985C6A}"/>
              </a:ext>
            </a:extLst>
          </p:cNvPr>
          <p:cNvSpPr/>
          <p:nvPr/>
        </p:nvSpPr>
        <p:spPr>
          <a:xfrm>
            <a:off x="978565" y="1420160"/>
            <a:ext cx="8617907" cy="5189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VolumeOfCone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radius, float height){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(radius) * height / 3.0 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2923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VolumeOfCone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radius, S1 = height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2923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PUSH	{R4,LR}	// Preserve R4 and LR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R4,S1	// R4 = height (S1 could be used  				// inside the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function as 			// a scratch register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BL	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AreaOfCircle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S0 = area of base of cone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S1,R4	// S1 = height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S0,S0,S1	// S0 = height * (area of base)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S1,3.0	// S1 = 3.0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VDIV.F32	S0,S0,S1	// S0 = (height * (area of base))/3.0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16088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POP	{R4,PC}	// Restore R4 and return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903CA4-29F0-88EF-E97E-EB1140D500C7}"/>
              </a:ext>
            </a:extLst>
          </p:cNvPr>
          <p:cNvSpPr/>
          <p:nvPr/>
        </p:nvSpPr>
        <p:spPr>
          <a:xfrm>
            <a:off x="2371261" y="1791640"/>
            <a:ext cx="2565697" cy="31315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508459-51AC-80C8-00EB-BE9747899A1C}"/>
              </a:ext>
            </a:extLst>
          </p:cNvPr>
          <p:cNvSpPr/>
          <p:nvPr/>
        </p:nvSpPr>
        <p:spPr>
          <a:xfrm>
            <a:off x="1433805" y="3691734"/>
            <a:ext cx="3016685" cy="1288003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C14508-1981-EAB3-A228-77F6F478B649}"/>
              </a:ext>
            </a:extLst>
          </p:cNvPr>
          <p:cNvSpPr/>
          <p:nvPr/>
        </p:nvSpPr>
        <p:spPr>
          <a:xfrm>
            <a:off x="1433805" y="5588243"/>
            <a:ext cx="3016685" cy="313151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FEA16C-137B-43C3-5510-1D56A94A1B46}"/>
              </a:ext>
            </a:extLst>
          </p:cNvPr>
          <p:cNvGrpSpPr/>
          <p:nvPr/>
        </p:nvGrpSpPr>
        <p:grpSpPr>
          <a:xfrm>
            <a:off x="7524585" y="1948216"/>
            <a:ext cx="3107319" cy="1292662"/>
            <a:chOff x="1295401" y="4900863"/>
            <a:chExt cx="2974531" cy="129266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39BCDA-DE48-FA84-F319-D3BEC7E47C34}"/>
                </a:ext>
              </a:extLst>
            </p:cNvPr>
            <p:cNvSpPr txBox="1"/>
            <p:nvPr/>
          </p:nvSpPr>
          <p:spPr>
            <a:xfrm>
              <a:off x="1295401" y="4900863"/>
              <a:ext cx="2974531" cy="12926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Easiest to preserve FPU registers in core registers.</a:t>
              </a:r>
            </a:p>
          </p:txBody>
        </p:sp>
        <p:pic>
          <p:nvPicPr>
            <p:cNvPr id="9" name="Picture 4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6BECAE36-A380-4D92-6122-7DC44B785A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2515D5C1-634B-BF42-618F-4C3670120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663" y="733967"/>
            <a:ext cx="7254905" cy="522062"/>
          </a:xfrm>
        </p:spPr>
        <p:txBody>
          <a:bodyPr>
            <a:normAutofit fontScale="90000"/>
          </a:bodyPr>
          <a:lstStyle/>
          <a:p>
            <a:r>
              <a:rPr lang="en-US" dirty="0"/>
              <a:t>Preserving Floating-Point Registers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51754D-2E37-9380-EAB7-19F71AF1C57E}"/>
              </a:ext>
            </a:extLst>
          </p:cNvPr>
          <p:cNvSpPr txBox="1"/>
          <p:nvPr/>
        </p:nvSpPr>
        <p:spPr>
          <a:xfrm>
            <a:off x="3983696" y="127207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386772-5DD3-3D8B-D4A7-EA41C3CA0077}"/>
              </a:ext>
            </a:extLst>
          </p:cNvPr>
          <p:cNvSpPr txBox="1"/>
          <p:nvPr/>
        </p:nvSpPr>
        <p:spPr>
          <a:xfrm>
            <a:off x="5795552" y="127207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7DDE71-6022-09C8-3DF4-8E4A048AE987}"/>
              </a:ext>
            </a:extLst>
          </p:cNvPr>
          <p:cNvSpPr txBox="1"/>
          <p:nvPr/>
        </p:nvSpPr>
        <p:spPr>
          <a:xfrm>
            <a:off x="9877818" y="1134630"/>
            <a:ext cx="2118657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06-VolumeOfCone.s</a:t>
            </a:r>
          </a:p>
        </p:txBody>
      </p:sp>
    </p:spTree>
    <p:extLst>
      <p:ext uri="{BB962C8B-B14F-4D97-AF65-F5344CB8AC3E}">
        <p14:creationId xmlns:p14="http://schemas.microsoft.com/office/powerpoint/2010/main" val="1442988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9A3B5-46DA-7BC4-E6A2-1F3CA97D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64BCB-1D42-0487-1F0C-6A302105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Imaginary Roots</a:t>
            </a:r>
          </a:p>
        </p:txBody>
      </p:sp>
    </p:spTree>
    <p:extLst>
      <p:ext uri="{BB962C8B-B14F-4D97-AF65-F5344CB8AC3E}">
        <p14:creationId xmlns:p14="http://schemas.microsoft.com/office/powerpoint/2010/main" val="34424051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79276" y="1616358"/>
            <a:ext cx="7866345" cy="103068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679276" y="1616358"/>
            <a:ext cx="10045554" cy="3259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int32_t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ImaginaryRoots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a, float b, float c){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Discriminant(a, b, c) &lt; 0.0 ;  // returns 1 or 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ImaginaryRoots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S0=a, S1=b, S2=c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BX LR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32048" y="1948832"/>
            <a:ext cx="1916482" cy="38830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061206" y="2763293"/>
            <a:ext cx="3842035" cy="1015663"/>
            <a:chOff x="255270" y="4665090"/>
            <a:chExt cx="3842035" cy="1015663"/>
          </a:xfrm>
        </p:grpSpPr>
        <p:sp>
          <p:nvSpPr>
            <p:cNvPr id="7" name="TextBox 6"/>
            <p:cNvSpPr txBox="1"/>
            <p:nvPr/>
          </p:nvSpPr>
          <p:spPr>
            <a:xfrm>
              <a:off x="255270" y="4665090"/>
              <a:ext cx="3842035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After a VCMP, you have to copy the FPU flags before you can test them.</a:t>
              </a:r>
            </a:p>
          </p:txBody>
        </p:sp>
        <p:pic>
          <p:nvPicPr>
            <p:cNvPr id="8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51649" y="4764359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38464" y="715623"/>
            <a:ext cx="7210925" cy="720316"/>
          </a:xfrm>
        </p:spPr>
        <p:txBody>
          <a:bodyPr/>
          <a:lstStyle/>
          <a:p>
            <a:r>
              <a:rPr lang="en-US" dirty="0"/>
              <a:t>Floating-Point Compare &amp; Flags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7A642E-601E-726C-7E07-23F0F2A7D7B2}"/>
              </a:ext>
            </a:extLst>
          </p:cNvPr>
          <p:cNvSpPr txBox="1"/>
          <p:nvPr/>
        </p:nvSpPr>
        <p:spPr>
          <a:xfrm>
            <a:off x="9877818" y="1134630"/>
            <a:ext cx="2202847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07-ImaginaryRoots.s</a:t>
            </a:r>
          </a:p>
        </p:txBody>
      </p:sp>
    </p:spTree>
    <p:extLst>
      <p:ext uri="{BB962C8B-B14F-4D97-AF65-F5344CB8AC3E}">
        <p14:creationId xmlns:p14="http://schemas.microsoft.com/office/powerpoint/2010/main" val="21505008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94853-0D35-4F84-12E9-7C1B01BD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114F18-7DFE-AA77-37BD-90B41322F2C5}"/>
              </a:ext>
            </a:extLst>
          </p:cNvPr>
          <p:cNvSpPr/>
          <p:nvPr/>
        </p:nvSpPr>
        <p:spPr>
          <a:xfrm>
            <a:off x="1679276" y="1616358"/>
            <a:ext cx="7866345" cy="103068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1B4BC0-C740-0B7F-A358-BDB68F8F4DBA}"/>
              </a:ext>
            </a:extLst>
          </p:cNvPr>
          <p:cNvSpPr/>
          <p:nvPr/>
        </p:nvSpPr>
        <p:spPr>
          <a:xfrm>
            <a:off x="1679276" y="1616358"/>
            <a:ext cx="10045554" cy="4552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int32_t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ImaginaryRoots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a, float b, float c){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return Discriminant(a, b, c) &lt; 0.0 ;  // returns 1 or 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572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ImaginaryRoots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S0=a, S1=b, S2=c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PUSH	{LR}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BL	Discriminant	// S0 = b*b – 4.0*a*c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VCMP.F32	S0,0.0	// S0 &lt; 0.0 ? // DOUBLE CHECK AND CHANGE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VMRS	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APSR_nzcv,FPSCR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Core Flags &lt;-- FPU Flags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ITE	LT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MOVLT	R0,1	// Discriminant &lt; 0:  return 1 (True)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MOVGE	R0,0	// Discriminant &gt;= 0: return 0 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766888" algn="l"/>
                <a:tab pos="39449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POP	{PC}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1F7B86-DD41-495B-23B9-84BCAB89300F}"/>
              </a:ext>
            </a:extLst>
          </p:cNvPr>
          <p:cNvSpPr/>
          <p:nvPr/>
        </p:nvSpPr>
        <p:spPr>
          <a:xfrm>
            <a:off x="7332048" y="1948832"/>
            <a:ext cx="1916482" cy="388306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29FC74-1687-6F82-CC4A-4344BE67B110}"/>
              </a:ext>
            </a:extLst>
          </p:cNvPr>
          <p:cNvSpPr/>
          <p:nvPr/>
        </p:nvSpPr>
        <p:spPr>
          <a:xfrm>
            <a:off x="2176414" y="4505482"/>
            <a:ext cx="3480149" cy="33501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531F56-E29A-CAA7-C239-3BE37B41265C}"/>
              </a:ext>
            </a:extLst>
          </p:cNvPr>
          <p:cNvGrpSpPr/>
          <p:nvPr/>
        </p:nvGrpSpPr>
        <p:grpSpPr>
          <a:xfrm>
            <a:off x="8061206" y="2763293"/>
            <a:ext cx="3842035" cy="1015663"/>
            <a:chOff x="255270" y="4665090"/>
            <a:chExt cx="3842035" cy="101566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6BBC58-D5EB-5588-FBA8-BFE464EB150F}"/>
                </a:ext>
              </a:extLst>
            </p:cNvPr>
            <p:cNvSpPr txBox="1"/>
            <p:nvPr/>
          </p:nvSpPr>
          <p:spPr>
            <a:xfrm>
              <a:off x="255270" y="4665090"/>
              <a:ext cx="3842035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After a VCMP, you have to copy the FPU flags before you can test them.</a:t>
              </a:r>
            </a:p>
          </p:txBody>
        </p:sp>
        <p:pic>
          <p:nvPicPr>
            <p:cNvPr id="8" name="Picture 4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65E4687B-9177-8BBC-5F96-24BBB88648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51649" y="4764359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4F4D4FD1-9C39-99ED-48CE-88C4F081A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464" y="715623"/>
            <a:ext cx="7210925" cy="720316"/>
          </a:xfrm>
        </p:spPr>
        <p:txBody>
          <a:bodyPr/>
          <a:lstStyle/>
          <a:p>
            <a:r>
              <a:rPr lang="en-US" dirty="0"/>
              <a:t>Floating-Point Compare &amp; Flags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F8B98B-740C-DEFF-F7CC-921B5DE872B2}"/>
              </a:ext>
            </a:extLst>
          </p:cNvPr>
          <p:cNvSpPr txBox="1"/>
          <p:nvPr/>
        </p:nvSpPr>
        <p:spPr>
          <a:xfrm>
            <a:off x="9877818" y="1134630"/>
            <a:ext cx="2202847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07-ImaginaryRoots.s</a:t>
            </a:r>
          </a:p>
        </p:txBody>
      </p:sp>
    </p:spTree>
    <p:extLst>
      <p:ext uri="{BB962C8B-B14F-4D97-AF65-F5344CB8AC3E}">
        <p14:creationId xmlns:p14="http://schemas.microsoft.com/office/powerpoint/2010/main" val="4253694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D0D07-11FC-2A6E-1FD4-5B5893EB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F34E5-5D3F-C48A-286F-D9C32802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Limited Increment</a:t>
            </a:r>
          </a:p>
        </p:txBody>
      </p:sp>
    </p:spTree>
    <p:extLst>
      <p:ext uri="{BB962C8B-B14F-4D97-AF65-F5344CB8AC3E}">
        <p14:creationId xmlns:p14="http://schemas.microsoft.com/office/powerpoint/2010/main" val="3882396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84254" y="1604207"/>
            <a:ext cx="5425088" cy="122321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67319" y="1347443"/>
            <a:ext cx="7844589" cy="4178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LimitedIncrement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(float a, float b){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if (a &lt; b) a += 1.0;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	return a;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1765300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LimitedIncrement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// S0 = a, S1 = b</a:t>
            </a: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   BX	LR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793827" y="2201254"/>
            <a:ext cx="3866155" cy="1015663"/>
            <a:chOff x="1295400" y="4900863"/>
            <a:chExt cx="3866155" cy="1015663"/>
          </a:xfrm>
        </p:grpSpPr>
        <p:sp>
          <p:nvSpPr>
            <p:cNvPr id="5" name="TextBox 4"/>
            <p:cNvSpPr txBox="1"/>
            <p:nvPr/>
          </p:nvSpPr>
          <p:spPr>
            <a:xfrm>
              <a:off x="1295400" y="4900863"/>
              <a:ext cx="3866155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FPU instructions within IT blocks: Append condition 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before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other modifiers.</a:t>
              </a:r>
            </a:p>
          </p:txBody>
        </p:sp>
        <p:pic>
          <p:nvPicPr>
            <p:cNvPr id="6" name="Picture 4" descr="http://www.aamu.edu/campuslife/living-on-campus/residentialLife/SiteAssets/pages/default/Warning_sign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946485" y="734770"/>
            <a:ext cx="6673515" cy="665931"/>
          </a:xfrm>
        </p:spPr>
        <p:txBody>
          <a:bodyPr/>
          <a:lstStyle/>
          <a:p>
            <a:r>
              <a:rPr lang="en-US" dirty="0"/>
              <a:t>FPU Instructions in IT Blocks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492639-F598-DEFE-A115-73CC884D6C1D}"/>
              </a:ext>
            </a:extLst>
          </p:cNvPr>
          <p:cNvSpPr txBox="1"/>
          <p:nvPr/>
        </p:nvSpPr>
        <p:spPr>
          <a:xfrm>
            <a:off x="9672078" y="1108313"/>
            <a:ext cx="2364750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08-LimitedIncrement.s</a:t>
            </a:r>
          </a:p>
        </p:txBody>
      </p:sp>
    </p:spTree>
    <p:extLst>
      <p:ext uri="{BB962C8B-B14F-4D97-AF65-F5344CB8AC3E}">
        <p14:creationId xmlns:p14="http://schemas.microsoft.com/office/powerpoint/2010/main" val="2538963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23722-515B-4D3F-CE59-538AEC4A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B8BCB1-16ED-3718-FCB1-1E2AF8574AAF}"/>
              </a:ext>
            </a:extLst>
          </p:cNvPr>
          <p:cNvSpPr/>
          <p:nvPr/>
        </p:nvSpPr>
        <p:spPr>
          <a:xfrm>
            <a:off x="1184254" y="1604207"/>
            <a:ext cx="5425088" cy="122321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660AA8-3D0A-ABE5-5294-A231263B96F3}"/>
              </a:ext>
            </a:extLst>
          </p:cNvPr>
          <p:cNvSpPr txBox="1"/>
          <p:nvPr/>
        </p:nvSpPr>
        <p:spPr>
          <a:xfrm>
            <a:off x="1267319" y="1347443"/>
            <a:ext cx="7844589" cy="4621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LimitedIncrement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(float a, float b){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if (a &lt; b) a += 1.0;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	return a;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1765300" algn="l"/>
                <a:tab pos="36576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LimitedIncrement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: // S0 = a, S1 = 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1765300" algn="l"/>
                <a:tab pos="3657600" algn="l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2114550" algn="l"/>
                <a:tab pos="4171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VCMP.F32	S0,S1	// a &lt; b ?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2114550" algn="l"/>
                <a:tab pos="4171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VMRS	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APSR_nzcv,FPSCR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// Core Flags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 FPU Flags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2114550" algn="l"/>
                <a:tab pos="4171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LT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2114550" algn="l"/>
                <a:tab pos="4171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VMOV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S1,1.0	// S1 = 1.0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2114550" algn="l"/>
                <a:tab pos="4171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VADD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.F32	S0,S0,S1	// S0 = a + 1.0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2114550" algn="l"/>
                <a:tab pos="4171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BX	LR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	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D826059-A3DE-4AE1-F5C4-82301792A313}"/>
              </a:ext>
            </a:extLst>
          </p:cNvPr>
          <p:cNvGrpSpPr/>
          <p:nvPr/>
        </p:nvGrpSpPr>
        <p:grpSpPr>
          <a:xfrm>
            <a:off x="6793827" y="2201254"/>
            <a:ext cx="3866155" cy="1015663"/>
            <a:chOff x="1295400" y="4900863"/>
            <a:chExt cx="3866155" cy="101566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D44D3B2-9FAC-4E64-B5E8-084B56CA2007}"/>
                </a:ext>
              </a:extLst>
            </p:cNvPr>
            <p:cNvSpPr txBox="1"/>
            <p:nvPr/>
          </p:nvSpPr>
          <p:spPr>
            <a:xfrm>
              <a:off x="1295400" y="4900863"/>
              <a:ext cx="3866155" cy="1015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tIns="91440" bIns="91440" rtlCol="0">
              <a:spAutoFit/>
            </a:bodyPr>
            <a:lstStyle/>
            <a:p>
              <a:pPr marL="1027113" marR="0" lvl="1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FPU instructions within IT blocks: Append condition 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before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 other modifiers.</a:t>
              </a:r>
            </a:p>
          </p:txBody>
        </p:sp>
        <p:pic>
          <p:nvPicPr>
            <p:cNvPr id="6" name="Picture 4" descr="http://www.aamu.edu/campuslife/living-on-campus/residentialLife/SiteAssets/pages/default/Warning_sign.png">
              <a:extLst>
                <a:ext uri="{FF2B5EF4-FFF2-40B4-BE49-F238E27FC236}">
                  <a16:creationId xmlns:a16="http://schemas.microsoft.com/office/drawing/2014/main" id="{7CA890AE-F8C2-A601-645F-3B3F856315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1323475" y="4953000"/>
              <a:ext cx="971826" cy="83820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9378A97-4173-B7E7-EB6B-857AA3D6CD6E}"/>
              </a:ext>
            </a:extLst>
          </p:cNvPr>
          <p:cNvSpPr/>
          <p:nvPr/>
        </p:nvSpPr>
        <p:spPr>
          <a:xfrm>
            <a:off x="1780668" y="5027954"/>
            <a:ext cx="1414312" cy="3048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BB9EE90-C105-7775-E35E-456C22BD9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85" y="734770"/>
            <a:ext cx="6673515" cy="665931"/>
          </a:xfrm>
        </p:spPr>
        <p:txBody>
          <a:bodyPr/>
          <a:lstStyle/>
          <a:p>
            <a:r>
              <a:rPr lang="en-US" dirty="0"/>
              <a:t>FPU Instructions in IT Blocks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47B5D0-E20E-484B-4702-FE4E658FA7AF}"/>
              </a:ext>
            </a:extLst>
          </p:cNvPr>
          <p:cNvSpPr/>
          <p:nvPr/>
        </p:nvSpPr>
        <p:spPr>
          <a:xfrm>
            <a:off x="1660352" y="6212190"/>
            <a:ext cx="7940842" cy="3886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5138" algn="l"/>
                <a:tab pos="2114550" algn="l"/>
                <a:tab pos="417195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VADD.F32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LT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	S0,S0,S1	// Common Mistake (wrong)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4414D9-2EC5-9F47-0879-819E5542D9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858" y="6149819"/>
            <a:ext cx="449259" cy="513438"/>
          </a:xfrm>
          <a:prstGeom prst="rect">
            <a:avLst/>
          </a:prstGeom>
          <a:ln w="0">
            <a:solidFill>
              <a:schemeClr val="accent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E76119-378F-47D5-EB98-7722AD6930AD}"/>
              </a:ext>
            </a:extLst>
          </p:cNvPr>
          <p:cNvSpPr txBox="1"/>
          <p:nvPr/>
        </p:nvSpPr>
        <p:spPr>
          <a:xfrm>
            <a:off x="9672078" y="1108313"/>
            <a:ext cx="2364750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08-LimitedIncrement.s</a:t>
            </a:r>
          </a:p>
        </p:txBody>
      </p:sp>
    </p:spTree>
    <p:extLst>
      <p:ext uri="{BB962C8B-B14F-4D97-AF65-F5344CB8AC3E}">
        <p14:creationId xmlns:p14="http://schemas.microsoft.com/office/powerpoint/2010/main" val="650809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B3A18-C28B-E194-13AD-D3F53CBC5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DCA44-7135-2739-7137-E4897D70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 Enough</a:t>
            </a:r>
          </a:p>
        </p:txBody>
      </p:sp>
    </p:spTree>
    <p:extLst>
      <p:ext uri="{BB962C8B-B14F-4D97-AF65-F5344CB8AC3E}">
        <p14:creationId xmlns:p14="http://schemas.microsoft.com/office/powerpoint/2010/main" val="3575548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12932" y="1771180"/>
            <a:ext cx="7866345" cy="152817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576187" y="1881493"/>
            <a:ext cx="8354860" cy="3444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int32_t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CloseEnough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(float x, float y, float threshold){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(x – y) &lt; threshold ;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CloseEnough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// S0 = x, S1 = y, S2 = threshold</a:t>
            </a:r>
          </a:p>
          <a:p>
            <a:pPr>
              <a:lnSpc>
                <a:spcPct val="115000"/>
              </a:lnSpc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// Implement me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</a:p>
          <a:p>
            <a:pPr>
              <a:lnSpc>
                <a:spcPct val="115000"/>
              </a:lnSpc>
              <a:tabLst>
                <a:tab pos="463550" algn="l"/>
                <a:tab pos="1890713" algn="l"/>
                <a:tab pos="320675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// Implement me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BX	LR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0971" y="2246006"/>
            <a:ext cx="2434608" cy="28809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01403" y="3973330"/>
            <a:ext cx="2296766" cy="87940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37462" y="737343"/>
            <a:ext cx="6365706" cy="697222"/>
          </a:xfrm>
        </p:spPr>
        <p:txBody>
          <a:bodyPr/>
          <a:lstStyle/>
          <a:p>
            <a:r>
              <a:rPr lang="en-US" dirty="0"/>
              <a:t>Floating-Point Equality Test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6187" y="1923078"/>
            <a:ext cx="777240" cy="28810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28F8DE-D558-7F48-B0B2-C805047FECBD}"/>
              </a:ext>
            </a:extLst>
          </p:cNvPr>
          <p:cNvCxnSpPr/>
          <p:nvPr/>
        </p:nvCxnSpPr>
        <p:spPr>
          <a:xfrm>
            <a:off x="8174183" y="2522742"/>
            <a:ext cx="4488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391632-0EED-104E-B6DD-231E7C2716C0}"/>
              </a:ext>
            </a:extLst>
          </p:cNvPr>
          <p:cNvCxnSpPr/>
          <p:nvPr/>
        </p:nvCxnSpPr>
        <p:spPr>
          <a:xfrm>
            <a:off x="8174183" y="2792659"/>
            <a:ext cx="44888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6230A66-24FC-A044-9414-545C457A01A8}"/>
              </a:ext>
            </a:extLst>
          </p:cNvPr>
          <p:cNvSpPr txBox="1"/>
          <p:nvPr/>
        </p:nvSpPr>
        <p:spPr>
          <a:xfrm>
            <a:off x="8623069" y="23275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F64CA8-FD1D-EB4D-85D5-CCD3514F666F}"/>
              </a:ext>
            </a:extLst>
          </p:cNvPr>
          <p:cNvSpPr txBox="1"/>
          <p:nvPr/>
        </p:nvSpPr>
        <p:spPr>
          <a:xfrm>
            <a:off x="8623069" y="25634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7DA1A71C-56BA-4C4D-B227-42B23B814E8A}"/>
              </a:ext>
            </a:extLst>
          </p:cNvPr>
          <p:cNvSpPr/>
          <p:nvPr/>
        </p:nvSpPr>
        <p:spPr>
          <a:xfrm>
            <a:off x="8007928" y="2408561"/>
            <a:ext cx="166255" cy="52426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179C94-AFCA-5548-8B27-403D88B04662}"/>
              </a:ext>
            </a:extLst>
          </p:cNvPr>
          <p:cNvSpPr txBox="1"/>
          <p:nvPr/>
        </p:nvSpPr>
        <p:spPr>
          <a:xfrm>
            <a:off x="7527875" y="2522742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FCB56AD-EF43-F04C-9656-06D242ACA4D8}"/>
              </a:ext>
            </a:extLst>
          </p:cNvPr>
          <p:cNvCxnSpPr/>
          <p:nvPr/>
        </p:nvCxnSpPr>
        <p:spPr>
          <a:xfrm>
            <a:off x="9131565" y="2522742"/>
            <a:ext cx="4488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C085745-C5BA-FF49-B28C-7FBBADD8DA72}"/>
              </a:ext>
            </a:extLst>
          </p:cNvPr>
          <p:cNvCxnSpPr/>
          <p:nvPr/>
        </p:nvCxnSpPr>
        <p:spPr>
          <a:xfrm>
            <a:off x="9131565" y="2792659"/>
            <a:ext cx="44888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D828A7C-16FA-534E-9C6D-CCA06A23071F}"/>
              </a:ext>
            </a:extLst>
          </p:cNvPr>
          <p:cNvSpPr txBox="1"/>
          <p:nvPr/>
        </p:nvSpPr>
        <p:spPr>
          <a:xfrm>
            <a:off x="9580451" y="23275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635343-CC95-D645-914F-56EE606178B0}"/>
              </a:ext>
            </a:extLst>
          </p:cNvPr>
          <p:cNvSpPr txBox="1"/>
          <p:nvPr/>
        </p:nvSpPr>
        <p:spPr>
          <a:xfrm>
            <a:off x="9580451" y="25634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976BD1-4529-7332-147C-4E51E693CBB6}"/>
              </a:ext>
            </a:extLst>
          </p:cNvPr>
          <p:cNvSpPr txBox="1"/>
          <p:nvPr/>
        </p:nvSpPr>
        <p:spPr>
          <a:xfrm>
            <a:off x="9877818" y="1134630"/>
            <a:ext cx="1972015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09-CloseEnough.s</a:t>
            </a:r>
          </a:p>
        </p:txBody>
      </p:sp>
    </p:spTree>
    <p:extLst>
      <p:ext uri="{BB962C8B-B14F-4D97-AF65-F5344CB8AC3E}">
        <p14:creationId xmlns:p14="http://schemas.microsoft.com/office/powerpoint/2010/main" val="37626159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0D277-7C02-FD48-5B1C-5E7701F9B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747925-9E3A-DBA6-F427-BCB2AABC74E3}"/>
              </a:ext>
            </a:extLst>
          </p:cNvPr>
          <p:cNvSpPr/>
          <p:nvPr/>
        </p:nvSpPr>
        <p:spPr>
          <a:xfrm>
            <a:off x="2212932" y="1771180"/>
            <a:ext cx="7866345" cy="1528176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343CB6-A45E-A511-27AE-0D086D97D010}"/>
              </a:ext>
            </a:extLst>
          </p:cNvPr>
          <p:cNvSpPr/>
          <p:nvPr/>
        </p:nvSpPr>
        <p:spPr>
          <a:xfrm>
            <a:off x="2576187" y="1881493"/>
            <a:ext cx="8354860" cy="453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int32_t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CloseEnough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(float x, float y, float threshold){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(x – y) &lt; threshold ;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CloseEnough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// S0 = x, S1 = y, S2 = threshold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VSUB.F32	S0,S0,S1	// S0 = x - y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VABS.F32	S0,S0	// S0 = | x – y |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VCMP.F32	S0,S2	// | x – y | &lt; threshold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VMRS	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APSR_nzcv,FPSCR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// Core Flags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FPU Flags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LT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MOV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R0,1	// Return 1 if LT (close enough)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MOV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R0,0	// Return 0 if GE (not close enough)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BX	LR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E1935E-14BB-9853-0DDA-5C46486BF99A}"/>
              </a:ext>
            </a:extLst>
          </p:cNvPr>
          <p:cNvSpPr/>
          <p:nvPr/>
        </p:nvSpPr>
        <p:spPr>
          <a:xfrm>
            <a:off x="3500971" y="2246006"/>
            <a:ext cx="2434608" cy="288099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9DB961-7C33-2233-9532-689ECAA7452E}"/>
              </a:ext>
            </a:extLst>
          </p:cNvPr>
          <p:cNvSpPr/>
          <p:nvPr/>
        </p:nvSpPr>
        <p:spPr>
          <a:xfrm>
            <a:off x="3101403" y="3973330"/>
            <a:ext cx="2296766" cy="879408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99B209-7594-9F09-FD08-86A2EA71D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462" y="737343"/>
            <a:ext cx="6365706" cy="697222"/>
          </a:xfrm>
        </p:spPr>
        <p:txBody>
          <a:bodyPr/>
          <a:lstStyle/>
          <a:p>
            <a:r>
              <a:rPr lang="en-US" dirty="0"/>
              <a:t>Floating-Point Equality Test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23B0C7-65DD-F78C-F518-EF7EE348E9CA}"/>
              </a:ext>
            </a:extLst>
          </p:cNvPr>
          <p:cNvSpPr/>
          <p:nvPr/>
        </p:nvSpPr>
        <p:spPr>
          <a:xfrm>
            <a:off x="2576187" y="1923078"/>
            <a:ext cx="777240" cy="288107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BDC948-BECB-AE66-49E9-43CD46860F74}"/>
              </a:ext>
            </a:extLst>
          </p:cNvPr>
          <p:cNvCxnSpPr/>
          <p:nvPr/>
        </p:nvCxnSpPr>
        <p:spPr>
          <a:xfrm>
            <a:off x="8174183" y="2522742"/>
            <a:ext cx="4488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1AEE9C-C0EA-5BDD-2696-32E166A7C843}"/>
              </a:ext>
            </a:extLst>
          </p:cNvPr>
          <p:cNvCxnSpPr/>
          <p:nvPr/>
        </p:nvCxnSpPr>
        <p:spPr>
          <a:xfrm>
            <a:off x="8174183" y="2792659"/>
            <a:ext cx="44888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5829AB8-AD1A-1E10-FAEF-7817A53E1F84}"/>
              </a:ext>
            </a:extLst>
          </p:cNvPr>
          <p:cNvSpPr txBox="1"/>
          <p:nvPr/>
        </p:nvSpPr>
        <p:spPr>
          <a:xfrm>
            <a:off x="8623069" y="23275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7FF1DB-49CC-6EEE-8639-AAA3749A0033}"/>
              </a:ext>
            </a:extLst>
          </p:cNvPr>
          <p:cNvSpPr txBox="1"/>
          <p:nvPr/>
        </p:nvSpPr>
        <p:spPr>
          <a:xfrm>
            <a:off x="8623069" y="25634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15EC7337-7A5C-62C4-7EEA-85D98050BCE3}"/>
              </a:ext>
            </a:extLst>
          </p:cNvPr>
          <p:cNvSpPr/>
          <p:nvPr/>
        </p:nvSpPr>
        <p:spPr>
          <a:xfrm>
            <a:off x="8007928" y="2408561"/>
            <a:ext cx="166255" cy="52426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31B780-9DD9-64F2-A286-744ED3368CCE}"/>
              </a:ext>
            </a:extLst>
          </p:cNvPr>
          <p:cNvSpPr txBox="1"/>
          <p:nvPr/>
        </p:nvSpPr>
        <p:spPr>
          <a:xfrm>
            <a:off x="7527875" y="2522742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TH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18308ED-CA32-637A-CDC3-594552090D2E}"/>
              </a:ext>
            </a:extLst>
          </p:cNvPr>
          <p:cNvCxnSpPr/>
          <p:nvPr/>
        </p:nvCxnSpPr>
        <p:spPr>
          <a:xfrm>
            <a:off x="9131565" y="2522742"/>
            <a:ext cx="44888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AAFA9A-FB0E-5864-6C83-4814F29F4AB6}"/>
              </a:ext>
            </a:extLst>
          </p:cNvPr>
          <p:cNvCxnSpPr/>
          <p:nvPr/>
        </p:nvCxnSpPr>
        <p:spPr>
          <a:xfrm>
            <a:off x="9131565" y="2792659"/>
            <a:ext cx="448887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35E36E9-209A-34AF-7ECC-CC09FFDD6D02}"/>
              </a:ext>
            </a:extLst>
          </p:cNvPr>
          <p:cNvSpPr txBox="1"/>
          <p:nvPr/>
        </p:nvSpPr>
        <p:spPr>
          <a:xfrm>
            <a:off x="9580451" y="23275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5090DF-B032-9CCB-D9A1-35DC5DEE4D62}"/>
              </a:ext>
            </a:extLst>
          </p:cNvPr>
          <p:cNvSpPr txBox="1"/>
          <p:nvPr/>
        </p:nvSpPr>
        <p:spPr>
          <a:xfrm>
            <a:off x="9580451" y="25634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40E0C-C0D7-1973-0A00-F5D776E71B40}"/>
              </a:ext>
            </a:extLst>
          </p:cNvPr>
          <p:cNvSpPr txBox="1"/>
          <p:nvPr/>
        </p:nvSpPr>
        <p:spPr>
          <a:xfrm>
            <a:off x="9877818" y="1134630"/>
            <a:ext cx="1972015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09-CloseEnough.s</a:t>
            </a:r>
          </a:p>
        </p:txBody>
      </p:sp>
    </p:spTree>
    <p:extLst>
      <p:ext uri="{BB962C8B-B14F-4D97-AF65-F5344CB8AC3E}">
        <p14:creationId xmlns:p14="http://schemas.microsoft.com/office/powerpoint/2010/main" val="9864226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2B451-63E8-F785-6995-337422EA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889C-33E2-E7E7-9BB3-D90333F38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Quadratic Root</a:t>
            </a:r>
          </a:p>
        </p:txBody>
      </p:sp>
    </p:spTree>
    <p:extLst>
      <p:ext uri="{BB962C8B-B14F-4D97-AF65-F5344CB8AC3E}">
        <p14:creationId xmlns:p14="http://schemas.microsoft.com/office/powerpoint/2010/main" val="33158092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37390" y="1768763"/>
            <a:ext cx="7866345" cy="295517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37599" y="1783707"/>
            <a:ext cx="7665929" cy="2940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QuadraticRoot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(float a, float b, float c,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minus){</a:t>
            </a: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root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sqrt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(Discriminant(a, b, c));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float top;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3144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 (minus)	</a:t>
            </a: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314450" algn="l"/>
                <a:tab pos="2971800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top = -b – root;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3144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		</a:t>
            </a: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314450" algn="l"/>
                <a:tab pos="2971800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top = -b + root;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return top / 2*a;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44537" y="741172"/>
            <a:ext cx="7678095" cy="771678"/>
          </a:xfrm>
        </p:spPr>
        <p:txBody>
          <a:bodyPr/>
          <a:lstStyle/>
          <a:p>
            <a:r>
              <a:rPr lang="en-US" dirty="0"/>
              <a:t>Extended Floating-Point Example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508091" y="4963064"/>
            <a:ext cx="205857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f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 (</a:t>
            </a:r>
            <a:r>
              <a:rPr kumimoji="0" lang="mr-I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x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) = </a:t>
            </a:r>
            <a:r>
              <a:rPr kumimoji="0" lang="mr-I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ax</a:t>
            </a:r>
            <a:r>
              <a:rPr kumimoji="0" lang="mr-I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2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 + </a:t>
            </a:r>
            <a:r>
              <a:rPr kumimoji="0" lang="mr-I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bx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 +</a:t>
            </a:r>
            <a:r>
              <a:rPr kumimoji="0" lang="mr-I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 </a:t>
            </a:r>
            <a:r>
              <a:rPr kumimoji="0" lang="mr-I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webkit-standard" charset="0"/>
                <a:ea typeface="+mn-ea"/>
                <a:cs typeface="Mangal" panose="02040503050203030202" pitchFamily="18" charset="0"/>
              </a:rPr>
              <a:t>c</a:t>
            </a: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-webkit-standard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-webkit-standard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mr-I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ax</a:t>
            </a:r>
            <a:r>
              <a:rPr kumimoji="0" lang="mr-I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2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 + </a:t>
            </a:r>
            <a:r>
              <a:rPr kumimoji="0" lang="mr-I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bx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 +</a:t>
            </a:r>
            <a:r>
              <a:rPr kumimoji="0" lang="mr-IN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 </a:t>
            </a:r>
            <a:r>
              <a:rPr kumimoji="0" lang="mr-IN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c</a:t>
            </a:r>
            <a:r>
              <a:rPr kumimoji="0" lang="mr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Mangal" panose="02040503050203030202" pitchFamily="18" charset="0"/>
              </a:rPr>
              <a:t> = 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011" y="4806751"/>
            <a:ext cx="27305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6209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8412" y="763556"/>
            <a:ext cx="10511588" cy="582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  <a:tab pos="1657350" algn="l"/>
                <a:tab pos="2971800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QuadraticRoot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// S0 = a, S1 = b, S2 = c, R0 = minus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PUSH	{R4-R6,LR}	// Preserve R4, R5, R6, LR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R4,S0	// Save S0 = 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R5,S1	// Save S1 = 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MOV	R6,R0	// Save R0 = minus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BL	Discriminant	// S0 = b*b – 4*a*c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VSQRT.F32	S0,S0	// S0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sqrt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(b*b – 4*a*c)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S1,R5	// S1 = 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VNEG.F32	S1,S1	// S1 = -b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CMP	R6,0	// minus?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If minus = 0 then x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root is returned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BEQ	Divide	// S0 = +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sqrt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(b*b – 4*a*c)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VNEG.F32	S0,S0	// S0 = -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sqrt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(b*b – 4*a*c)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Divide:	VADD.F32	S1,S1,S0	// S1 = -b +/-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sqrt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(b*b – 4*a*c)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S0,R4	// S0 = 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VMOV	S2,2.0	// S2 = 2.0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VMUL.F32	S0,S0,S2	// S0 = 2*a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VDIV.F32	S0,S1,S0	// S0 = (-b +/-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sqrt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(b*b–4*a*c))/2*a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76313" algn="l"/>
                <a:tab pos="2455863" algn="l"/>
                <a:tab pos="428466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	POP	{R4-R6,PC}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7CAA38-F1A5-92BE-3E86-237EB3696E81}"/>
              </a:ext>
            </a:extLst>
          </p:cNvPr>
          <p:cNvSpPr txBox="1"/>
          <p:nvPr/>
        </p:nvSpPr>
        <p:spPr>
          <a:xfrm>
            <a:off x="9877818" y="1134630"/>
            <a:ext cx="2077813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10-QuadraticRoot.s</a:t>
            </a:r>
          </a:p>
        </p:txBody>
      </p:sp>
    </p:spTree>
    <p:extLst>
      <p:ext uri="{BB962C8B-B14F-4D97-AF65-F5344CB8AC3E}">
        <p14:creationId xmlns:p14="http://schemas.microsoft.com/office/powerpoint/2010/main" val="205547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07FCC-1E47-FA7C-16E5-7CE7305C1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52C41-AE5F-CB9B-D565-4DEC177B8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of a Triangle</a:t>
            </a:r>
          </a:p>
        </p:txBody>
      </p:sp>
    </p:spTree>
    <p:extLst>
      <p:ext uri="{BB962C8B-B14F-4D97-AF65-F5344CB8AC3E}">
        <p14:creationId xmlns:p14="http://schemas.microsoft.com/office/powerpoint/2010/main" val="31581111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B5149-486E-3DFA-11E5-C5CD59C43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F2D56DF-54A8-A65D-4845-AB9319BEE718}"/>
              </a:ext>
            </a:extLst>
          </p:cNvPr>
          <p:cNvSpPr/>
          <p:nvPr/>
        </p:nvSpPr>
        <p:spPr>
          <a:xfrm>
            <a:off x="3165635" y="1414006"/>
            <a:ext cx="4376276" cy="1359424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E05E04-E938-1D8B-4D62-802D1ABF5416}"/>
              </a:ext>
            </a:extLst>
          </p:cNvPr>
          <p:cNvSpPr/>
          <p:nvPr/>
        </p:nvSpPr>
        <p:spPr>
          <a:xfrm>
            <a:off x="3112735" y="1368663"/>
            <a:ext cx="5267999" cy="525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                                            S0                 S1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areaOfTriangle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(float base, float height) {   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0.5f * base * height;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areaOfTriangle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S0 = base, S1 = height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// Implement me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// Implement me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BX LR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.global _start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_start: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LDR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R12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,=two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VLDR	S0,[R12]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LDR	R12,=five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VLDR	S1,[R12]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BL 	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areaOfTriangle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stop:	B 	stop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.data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half:	.float  	0.5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two:   	.float  	2.0</a:t>
            </a: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five:  	.float 	5.0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392CF87-7164-F931-CB29-EE92BF91E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462" y="737343"/>
            <a:ext cx="6365706" cy="697222"/>
          </a:xfrm>
        </p:spPr>
        <p:txBody>
          <a:bodyPr/>
          <a:lstStyle/>
          <a:p>
            <a:r>
              <a:rPr lang="en-US" dirty="0"/>
              <a:t>Floating-Point Equality Test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F48B89-7561-0D16-27AB-FED2E339C8E8}"/>
              </a:ext>
            </a:extLst>
          </p:cNvPr>
          <p:cNvSpPr txBox="1"/>
          <p:nvPr/>
        </p:nvSpPr>
        <p:spPr>
          <a:xfrm>
            <a:off x="9877818" y="1134630"/>
            <a:ext cx="2112822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11-AreaOfTriangle.s</a:t>
            </a:r>
          </a:p>
        </p:txBody>
      </p:sp>
    </p:spTree>
    <p:extLst>
      <p:ext uri="{BB962C8B-B14F-4D97-AF65-F5344CB8AC3E}">
        <p14:creationId xmlns:p14="http://schemas.microsoft.com/office/powerpoint/2010/main" val="2060964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9D183-1410-6BD7-550E-AEDDAEB4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B99DAD-E9EA-D624-CF04-43D8C20E5754}"/>
              </a:ext>
            </a:extLst>
          </p:cNvPr>
          <p:cNvSpPr/>
          <p:nvPr/>
        </p:nvSpPr>
        <p:spPr>
          <a:xfrm>
            <a:off x="2629088" y="1844755"/>
            <a:ext cx="4376276" cy="1359424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12CBF4-7D2E-412E-2C2E-E852D5A0773F}"/>
              </a:ext>
            </a:extLst>
          </p:cNvPr>
          <p:cNvSpPr/>
          <p:nvPr/>
        </p:nvSpPr>
        <p:spPr>
          <a:xfrm>
            <a:off x="2576188" y="1799412"/>
            <a:ext cx="8354860" cy="33391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//                                             S0                 S1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float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areaOfTriangle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(float base, float height) {   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return 0.5f * base * height;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 lvl="0" indent="45720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areaOfTriangle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	        // S0 = base, S1 = height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VMUL.F32 S0, S0, S1   // Multiply base * height   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VMOV.F32 S1, #0.5     // Load 0.5 into S1   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VMUL.F32 S0, S0, S1   // Multiply result by 0.5 (divide by 2)   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3550" algn="l"/>
                <a:tab pos="1828800" algn="l"/>
                <a:tab pos="3719513" algn="l"/>
              </a:tabLst>
              <a:defRPr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BX LR                             // Return (result is in S0)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35C2E20-0CC9-AEDA-CB26-0D08E5EEA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7462" y="737343"/>
            <a:ext cx="6365706" cy="697222"/>
          </a:xfrm>
        </p:spPr>
        <p:txBody>
          <a:bodyPr/>
          <a:lstStyle/>
          <a:p>
            <a:r>
              <a:rPr lang="en-US" dirty="0"/>
              <a:t>Floating-Point Equality Test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274A95-5D24-6F71-DD83-BD8C8683A188}"/>
              </a:ext>
            </a:extLst>
          </p:cNvPr>
          <p:cNvSpPr txBox="1"/>
          <p:nvPr/>
        </p:nvSpPr>
        <p:spPr>
          <a:xfrm>
            <a:off x="9877818" y="1134630"/>
            <a:ext cx="1255472" cy="584775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CPULator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xxxxx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6581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2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471</TotalTime>
  <Words>3067</Words>
  <Application>Microsoft Office PowerPoint</Application>
  <PresentationFormat>Widescreen</PresentationFormat>
  <Paragraphs>428</Paragraphs>
  <Slides>41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Arial Narrow</vt:lpstr>
      <vt:lpstr>Calibri</vt:lpstr>
      <vt:lpstr>Consolas</vt:lpstr>
      <vt:lpstr>Garamond</vt:lpstr>
      <vt:lpstr>-webkit-standard</vt:lpstr>
      <vt:lpstr>SCUTemplate</vt:lpstr>
      <vt:lpstr>Custom Design</vt:lpstr>
      <vt:lpstr>1_SCUTemplate</vt:lpstr>
      <vt:lpstr>2_SCUTemplate</vt:lpstr>
      <vt:lpstr>CSEN20</vt:lpstr>
      <vt:lpstr>IEEE Exercise</vt:lpstr>
      <vt:lpstr>Calculate  </vt:lpstr>
      <vt:lpstr>Exercise</vt:lpstr>
      <vt:lpstr>FPU Exercises</vt:lpstr>
      <vt:lpstr>Pythagorean Theorem</vt:lpstr>
      <vt:lpstr>Pythagorean Theorem</vt:lpstr>
      <vt:lpstr>Example: Pythagorean Theorem</vt:lpstr>
      <vt:lpstr>Volume of a Cube</vt:lpstr>
      <vt:lpstr>Another Floating-Point Example</vt:lpstr>
      <vt:lpstr>Another Floating-Point Example</vt:lpstr>
      <vt:lpstr>Discriminant</vt:lpstr>
      <vt:lpstr>Special Floating-Point Constants</vt:lpstr>
      <vt:lpstr>Special Floating-Point Constants</vt:lpstr>
      <vt:lpstr>Are of a Circle</vt:lpstr>
      <vt:lpstr>Arbitrary Floating-Point Constants</vt:lpstr>
      <vt:lpstr>Arbitrary Floating-Point Constants</vt:lpstr>
      <vt:lpstr>Are of a Circle For an array</vt:lpstr>
      <vt:lpstr>Arbitrary Floating-Point Constants</vt:lpstr>
      <vt:lpstr>Volume of Sphere</vt:lpstr>
      <vt:lpstr>Using Expressions to Create Constants</vt:lpstr>
      <vt:lpstr>Using Expressions to Create Constants</vt:lpstr>
      <vt:lpstr>Volume of Cone</vt:lpstr>
      <vt:lpstr>Preserving Floating-Point Registers</vt:lpstr>
      <vt:lpstr>Preserving Floating-Point Registers</vt:lpstr>
      <vt:lpstr>Imaginary Roots</vt:lpstr>
      <vt:lpstr>Floating-Point Compare &amp; Flags</vt:lpstr>
      <vt:lpstr>Floating-Point Compare &amp; Flags</vt:lpstr>
      <vt:lpstr>Limited Increment</vt:lpstr>
      <vt:lpstr>FPU Instructions in IT Blocks</vt:lpstr>
      <vt:lpstr>FPU Instructions in IT Blocks</vt:lpstr>
      <vt:lpstr>Close Enough</vt:lpstr>
      <vt:lpstr>Floating-Point Equality Test</vt:lpstr>
      <vt:lpstr>Floating-Point Equality Test</vt:lpstr>
      <vt:lpstr>Quadratic Root</vt:lpstr>
      <vt:lpstr>Extended Floating-Point Example</vt:lpstr>
      <vt:lpstr>PowerPoint Presentation</vt:lpstr>
      <vt:lpstr>Area of a Triangle</vt:lpstr>
      <vt:lpstr>Floating-Point Equality Test</vt:lpstr>
      <vt:lpstr>Floating-Point Equality Test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167</cp:revision>
  <cp:lastPrinted>2023-09-11T21:46:56Z</cp:lastPrinted>
  <dcterms:created xsi:type="dcterms:W3CDTF">2023-09-09T19:51:41Z</dcterms:created>
  <dcterms:modified xsi:type="dcterms:W3CDTF">2026-08-20T21:23:16Z</dcterms:modified>
</cp:coreProperties>
</file>