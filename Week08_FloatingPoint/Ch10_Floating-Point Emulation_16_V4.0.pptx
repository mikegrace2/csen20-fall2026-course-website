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20"/>
  </p:notesMasterIdLst>
  <p:handoutMasterIdLst>
    <p:handoutMasterId r:id="rId21"/>
  </p:handoutMasterIdLst>
  <p:sldIdLst>
    <p:sldId id="333" r:id="rId4"/>
    <p:sldId id="406" r:id="rId5"/>
    <p:sldId id="407" r:id="rId6"/>
    <p:sldId id="408" r:id="rId7"/>
    <p:sldId id="409" r:id="rId8"/>
    <p:sldId id="410" r:id="rId9"/>
    <p:sldId id="411" r:id="rId10"/>
    <p:sldId id="412" r:id="rId11"/>
    <p:sldId id="413" r:id="rId12"/>
    <p:sldId id="414" r:id="rId13"/>
    <p:sldId id="415" r:id="rId14"/>
    <p:sldId id="416" r:id="rId15"/>
    <p:sldId id="417" r:id="rId16"/>
    <p:sldId id="418" r:id="rId17"/>
    <p:sldId id="419" r:id="rId18"/>
    <p:sldId id="336" r:id="rId1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4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38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2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6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3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../media/image40.png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../media/image39.png"/><Relationship Id="rId9" Type="http://schemas.openxmlformats.org/officeDocument/2006/relationships/image" Target="../media/image30.png"/><Relationship Id="rId1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3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3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3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3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2" y="2116483"/>
            <a:ext cx="10411327" cy="453698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776851"/>
            <a:ext cx="9144000" cy="1144151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Floating-Point Emulation</a:t>
            </a:r>
          </a:p>
        </p:txBody>
      </p:sp>
    </p:spTree>
    <p:extLst>
      <p:ext uri="{BB962C8B-B14F-4D97-AF65-F5344CB8AC3E}">
        <p14:creationId xmlns:p14="http://schemas.microsoft.com/office/powerpoint/2010/main" val="3571682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A6D979-6BDC-4C7D-BA96-72847645F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349" y="743889"/>
            <a:ext cx="7660262" cy="717866"/>
          </a:xfrm>
        </p:spPr>
        <p:txBody>
          <a:bodyPr/>
          <a:lstStyle/>
          <a:p>
            <a:r>
              <a:rPr lang="en-US" dirty="0"/>
              <a:t>32-bit IEEE Floating-Point Format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4C7A98F-EC04-48DF-97E5-2A7AB393B34D}"/>
              </a:ext>
            </a:extLst>
          </p:cNvPr>
          <p:cNvGrpSpPr/>
          <p:nvPr/>
        </p:nvGrpSpPr>
        <p:grpSpPr>
          <a:xfrm>
            <a:off x="3999787" y="2710269"/>
            <a:ext cx="6292965" cy="1184663"/>
            <a:chOff x="1733914" y="2703262"/>
            <a:chExt cx="6292965" cy="1184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D656C9-FFD8-4C9C-B756-63B343BB14E7}"/>
                </a:ext>
              </a:extLst>
            </p:cNvPr>
            <p:cNvSpPr/>
            <p:nvPr/>
          </p:nvSpPr>
          <p:spPr>
            <a:xfrm>
              <a:off x="1733914" y="3066131"/>
              <a:ext cx="393310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734B72E-A04F-4F41-B416-1C094DE2E1B7}"/>
                </a:ext>
              </a:extLst>
            </p:cNvPr>
            <p:cNvSpPr/>
            <p:nvPr/>
          </p:nvSpPr>
          <p:spPr>
            <a:xfrm>
              <a:off x="2127224" y="3066131"/>
              <a:ext cx="1376585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Exponent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BE6C41D-5101-4CE1-A211-0F8B733D7621}"/>
                </a:ext>
              </a:extLst>
            </p:cNvPr>
            <p:cNvSpPr/>
            <p:nvPr/>
          </p:nvSpPr>
          <p:spPr>
            <a:xfrm>
              <a:off x="3503808" y="3066131"/>
              <a:ext cx="4523064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Significand (fractional bits)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E0A4ED-D436-46F1-B82D-B976E8857D1D}"/>
                </a:ext>
              </a:extLst>
            </p:cNvPr>
            <p:cNvSpPr/>
            <p:nvPr/>
          </p:nvSpPr>
          <p:spPr>
            <a:xfrm>
              <a:off x="1733914" y="2703262"/>
              <a:ext cx="393310" cy="36286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31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E87691-3C48-4423-88A1-3A08D046D52A}"/>
                </a:ext>
              </a:extLst>
            </p:cNvPr>
            <p:cNvSpPr/>
            <p:nvPr/>
          </p:nvSpPr>
          <p:spPr>
            <a:xfrm>
              <a:off x="2127224" y="2703262"/>
              <a:ext cx="393310" cy="36286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30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6E99EB-13A1-4640-8479-D16942753A8B}"/>
                </a:ext>
              </a:extLst>
            </p:cNvPr>
            <p:cNvSpPr/>
            <p:nvPr/>
          </p:nvSpPr>
          <p:spPr>
            <a:xfrm>
              <a:off x="3110499" y="2703262"/>
              <a:ext cx="393310" cy="36286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23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F1FDAFA-B819-4A72-9328-B07B2998FCDC}"/>
                </a:ext>
              </a:extLst>
            </p:cNvPr>
            <p:cNvSpPr/>
            <p:nvPr/>
          </p:nvSpPr>
          <p:spPr>
            <a:xfrm>
              <a:off x="3503808" y="2703262"/>
              <a:ext cx="393310" cy="36286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22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EDBDF07-3C2F-44D5-A5F3-FD6F8004647D}"/>
                </a:ext>
              </a:extLst>
            </p:cNvPr>
            <p:cNvSpPr/>
            <p:nvPr/>
          </p:nvSpPr>
          <p:spPr>
            <a:xfrm>
              <a:off x="7633562" y="2703262"/>
              <a:ext cx="393310" cy="36286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A97DB09-F8F0-4E7E-8179-44E51161D73C}"/>
                </a:ext>
              </a:extLst>
            </p:cNvPr>
            <p:cNvSpPr/>
            <p:nvPr/>
          </p:nvSpPr>
          <p:spPr>
            <a:xfrm>
              <a:off x="1785806" y="3048770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±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985801-45B2-479A-B2E6-38A95C06E31F}"/>
                </a:ext>
              </a:extLst>
            </p:cNvPr>
            <p:cNvCxnSpPr/>
            <p:nvPr/>
          </p:nvCxnSpPr>
          <p:spPr>
            <a:xfrm flipV="1">
              <a:off x="3481072" y="3716685"/>
              <a:ext cx="4545807" cy="1135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FF83BE7-FD46-4D7A-9E3E-62E0994D188A}"/>
                </a:ext>
              </a:extLst>
            </p:cNvPr>
            <p:cNvSpPr txBox="1"/>
            <p:nvPr/>
          </p:nvSpPr>
          <p:spPr>
            <a:xfrm>
              <a:off x="5296775" y="3580148"/>
              <a:ext cx="91440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23 bits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F291AD5-EB9F-4A99-B4FD-EEEA9C360112}"/>
                </a:ext>
              </a:extLst>
            </p:cNvPr>
            <p:cNvCxnSpPr/>
            <p:nvPr/>
          </p:nvCxnSpPr>
          <p:spPr>
            <a:xfrm>
              <a:off x="2066479" y="3716685"/>
              <a:ext cx="1414592" cy="194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CC43D5B-5225-4671-8240-34F62A8FA2DD}"/>
                </a:ext>
              </a:extLst>
            </p:cNvPr>
            <p:cNvSpPr txBox="1"/>
            <p:nvPr/>
          </p:nvSpPr>
          <p:spPr>
            <a:xfrm>
              <a:off x="2392012" y="3570243"/>
              <a:ext cx="73812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 bits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AC844FF-0F01-438D-974D-DE36C85B72FF}"/>
              </a:ext>
            </a:extLst>
          </p:cNvPr>
          <p:cNvSpPr txBox="1"/>
          <p:nvPr/>
        </p:nvSpPr>
        <p:spPr>
          <a:xfrm>
            <a:off x="6298979" y="4245673"/>
            <a:ext cx="44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Precision</a:t>
            </a:r>
            <a:r>
              <a:rPr lang="en-US" dirty="0"/>
              <a:t>: 23+1 bits ≈  7 decimal digits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E61281-3D8C-4C81-BCAC-26DD471F3ECE}"/>
              </a:ext>
            </a:extLst>
          </p:cNvPr>
          <p:cNvSpPr txBox="1"/>
          <p:nvPr/>
        </p:nvSpPr>
        <p:spPr>
          <a:xfrm>
            <a:off x="3430920" y="4249674"/>
            <a:ext cx="255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Range</a:t>
            </a:r>
            <a:r>
              <a:rPr lang="en-US" dirty="0"/>
              <a:t>: ≈ 2</a:t>
            </a:r>
            <a:r>
              <a:rPr lang="en-US" baseline="30000" dirty="0"/>
              <a:t>±127</a:t>
            </a:r>
            <a:r>
              <a:rPr lang="en-US" dirty="0"/>
              <a:t> ≈ 10</a:t>
            </a:r>
            <a:r>
              <a:rPr lang="en-US" baseline="30000" dirty="0"/>
              <a:t>±38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701E79-7C8D-4A31-88BF-6541E179BF83}"/>
              </a:ext>
            </a:extLst>
          </p:cNvPr>
          <p:cNvSpPr/>
          <p:nvPr/>
        </p:nvSpPr>
        <p:spPr>
          <a:xfrm>
            <a:off x="4597223" y="1724604"/>
            <a:ext cx="2219952" cy="1041591"/>
          </a:xfrm>
          <a:prstGeom prst="rect">
            <a:avLst/>
          </a:prstGeom>
          <a:solidFill>
            <a:srgbClr val="FF0000">
              <a:alpha val="25000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Excess-127</a:t>
            </a:r>
            <a:r>
              <a:rPr lang="en-US" dirty="0">
                <a:solidFill>
                  <a:sysClr val="windowText" lastClr="000000"/>
                </a:solidFill>
              </a:rPr>
              <a:t> format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</a:t>
            </a:r>
            <a:r>
              <a:rPr lang="en-US" baseline="30000" dirty="0">
                <a:solidFill>
                  <a:sysClr val="windowText" lastClr="000000"/>
                </a:solidFill>
              </a:rPr>
              <a:t>0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 01111111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0466F4-BE6F-4E5B-AC87-9B0F25ED7529}"/>
              </a:ext>
            </a:extLst>
          </p:cNvPr>
          <p:cNvSpPr/>
          <p:nvPr/>
        </p:nvSpPr>
        <p:spPr>
          <a:xfrm>
            <a:off x="7149169" y="1735180"/>
            <a:ext cx="3514820" cy="1027695"/>
          </a:xfrm>
          <a:prstGeom prst="rect">
            <a:avLst/>
          </a:prstGeom>
          <a:solidFill>
            <a:srgbClr val="FF0000">
              <a:alpha val="25000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Normalized </a:t>
            </a:r>
            <a:r>
              <a:rPr lang="en-US" dirty="0">
                <a:solidFill>
                  <a:schemeClr val="tx1"/>
                </a:solidFill>
              </a:rPr>
              <a:t>(left-aligned):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MS-Bit is always 1; never stored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938837-5D71-49F5-8745-C2871EE13DC6}"/>
              </a:ext>
            </a:extLst>
          </p:cNvPr>
          <p:cNvCxnSpPr>
            <a:cxnSpLocks/>
          </p:cNvCxnSpPr>
          <p:nvPr/>
        </p:nvCxnSpPr>
        <p:spPr>
          <a:xfrm>
            <a:off x="5164347" y="2446043"/>
            <a:ext cx="0" cy="627095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B1FBA5F-2EC7-4142-B2C8-01EA5BD17500}"/>
              </a:ext>
            </a:extLst>
          </p:cNvPr>
          <p:cNvCxnSpPr>
            <a:cxnSpLocks/>
          </p:cNvCxnSpPr>
          <p:nvPr/>
        </p:nvCxnSpPr>
        <p:spPr>
          <a:xfrm flipH="1">
            <a:off x="5859588" y="2446042"/>
            <a:ext cx="1289580" cy="86535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864B4BA-C618-4D18-B122-152C8CEE7EC1}"/>
              </a:ext>
            </a:extLst>
          </p:cNvPr>
          <p:cNvSpPr/>
          <p:nvPr/>
        </p:nvSpPr>
        <p:spPr>
          <a:xfrm>
            <a:off x="1479448" y="1821267"/>
            <a:ext cx="2781004" cy="765193"/>
          </a:xfrm>
          <a:prstGeom prst="rect">
            <a:avLst/>
          </a:prstGeom>
          <a:solidFill>
            <a:srgbClr val="FF0000">
              <a:alpha val="25000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ysClr val="windowText" lastClr="000000"/>
                </a:solidFill>
              </a:rPr>
              <a:t>Sign+Magnitude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dirty="0">
                <a:solidFill>
                  <a:sysClr val="windowText" lastClr="000000"/>
                </a:solidFill>
              </a:rPr>
              <a:t>format: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0 if positive, 1 if negative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A56AD34-20D4-4833-BA2E-C2719F22CF74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2869950" y="2586460"/>
            <a:ext cx="1121940" cy="53774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29DE29C-ED33-490A-8307-F000E5CB9624}"/>
              </a:ext>
            </a:extLst>
          </p:cNvPr>
          <p:cNvGrpSpPr/>
          <p:nvPr/>
        </p:nvGrpSpPr>
        <p:grpSpPr>
          <a:xfrm>
            <a:off x="3999786" y="5688355"/>
            <a:ext cx="6292958" cy="362869"/>
            <a:chOff x="1733914" y="6143235"/>
            <a:chExt cx="6292958" cy="362869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D109BB3-EB10-4706-9E0D-75AD2F2501A7}"/>
                </a:ext>
              </a:extLst>
            </p:cNvPr>
            <p:cNvSpPr/>
            <p:nvPr/>
          </p:nvSpPr>
          <p:spPr>
            <a:xfrm>
              <a:off x="1733914" y="6143235"/>
              <a:ext cx="393310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1FCB424-4BB1-455A-859C-0E3F609FB99D}"/>
                </a:ext>
              </a:extLst>
            </p:cNvPr>
            <p:cNvSpPr/>
            <p:nvPr/>
          </p:nvSpPr>
          <p:spPr>
            <a:xfrm>
              <a:off x="2127224" y="6143235"/>
              <a:ext cx="1376585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0111 1111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F9337C7-250C-437A-9E25-C61FC4E720C1}"/>
                </a:ext>
              </a:extLst>
            </p:cNvPr>
            <p:cNvSpPr/>
            <p:nvPr/>
          </p:nvSpPr>
          <p:spPr>
            <a:xfrm>
              <a:off x="3503808" y="6143235"/>
              <a:ext cx="4523064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000 0000 0000 0000 0000 0000</a:t>
              </a:r>
            </a:p>
          </p:txBody>
        </p:sp>
      </p:grpSp>
      <p:sp>
        <p:nvSpPr>
          <p:cNvPr id="37" name="Arrow: Down 36">
            <a:extLst>
              <a:ext uri="{FF2B5EF4-FFF2-40B4-BE49-F238E27FC236}">
                <a16:creationId xmlns:a16="http://schemas.microsoft.com/office/drawing/2014/main" id="{23585C0C-6813-48C7-858E-3E4827A159C3}"/>
              </a:ext>
            </a:extLst>
          </p:cNvPr>
          <p:cNvSpPr/>
          <p:nvPr/>
        </p:nvSpPr>
        <p:spPr>
          <a:xfrm>
            <a:off x="4826543" y="3885027"/>
            <a:ext cx="242915" cy="3389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8C646B89-4FF8-4ADB-BF7C-552ED6F15D6F}"/>
              </a:ext>
            </a:extLst>
          </p:cNvPr>
          <p:cNvSpPr/>
          <p:nvPr/>
        </p:nvSpPr>
        <p:spPr>
          <a:xfrm>
            <a:off x="7788298" y="3866220"/>
            <a:ext cx="242915" cy="3389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84390F-788E-43CC-B2C3-82A224F30F97}"/>
              </a:ext>
            </a:extLst>
          </p:cNvPr>
          <p:cNvSpPr txBox="1"/>
          <p:nvPr/>
        </p:nvSpPr>
        <p:spPr>
          <a:xfrm>
            <a:off x="1718250" y="5681891"/>
            <a:ext cx="241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+1.0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2A79DED-2A73-4282-B65C-57D4522375B5}"/>
              </a:ext>
            </a:extLst>
          </p:cNvPr>
          <p:cNvCxnSpPr/>
          <p:nvPr/>
        </p:nvCxnSpPr>
        <p:spPr>
          <a:xfrm>
            <a:off x="3392905" y="5866557"/>
            <a:ext cx="546491" cy="32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7FC4D4D-882F-465A-BCF6-EFD751423095}"/>
                  </a:ext>
                </a:extLst>
              </p:cNvPr>
              <p:cNvSpPr txBox="1"/>
              <p:nvPr/>
            </p:nvSpPr>
            <p:spPr>
              <a:xfrm>
                <a:off x="4937150" y="6190190"/>
                <a:ext cx="38574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1400" dirty="0"/>
                  <a:t>=1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7FC4D4D-882F-465A-BCF6-EFD751423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150" y="6190190"/>
                <a:ext cx="385747" cy="215444"/>
              </a:xfrm>
              <a:prstGeom prst="rect">
                <a:avLst/>
              </a:prstGeom>
              <a:blipFill>
                <a:blip r:embed="rId2"/>
                <a:stretch>
                  <a:fillRect l="-15873" t="-25000" r="-28571" b="-47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2249967-A685-4717-941B-D697894F9805}"/>
                  </a:ext>
                </a:extLst>
              </p:cNvPr>
              <p:cNvSpPr txBox="1"/>
              <p:nvPr/>
            </p:nvSpPr>
            <p:spPr>
              <a:xfrm>
                <a:off x="6354137" y="6190190"/>
                <a:ext cx="331161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.000 0000 0000 0000 0000 0000=1.0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2249967-A685-4717-941B-D697894F9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137" y="6190190"/>
                <a:ext cx="3311611" cy="215444"/>
              </a:xfrm>
              <a:prstGeom prst="rect">
                <a:avLst/>
              </a:prstGeom>
              <a:blipFill>
                <a:blip r:embed="rId3"/>
                <a:stretch>
                  <a:fillRect r="-551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2840389-53C0-493B-A33D-734CE33C193A}"/>
                  </a:ext>
                </a:extLst>
              </p:cNvPr>
              <p:cNvSpPr txBox="1"/>
              <p:nvPr/>
            </p:nvSpPr>
            <p:spPr>
              <a:xfrm>
                <a:off x="5660677" y="6128636"/>
                <a:ext cx="2292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2840389-53C0-493B-A33D-734CE33C1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677" y="6128636"/>
                <a:ext cx="229229" cy="276999"/>
              </a:xfrm>
              <a:prstGeom prst="rect">
                <a:avLst/>
              </a:prstGeom>
              <a:blipFill>
                <a:blip r:embed="rId4"/>
                <a:stretch>
                  <a:fillRect l="-16216" r="-16216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48FC756-F102-4BCC-A67B-266592F773AA}"/>
                  </a:ext>
                </a:extLst>
              </p:cNvPr>
              <p:cNvSpPr txBox="1"/>
              <p:nvPr/>
            </p:nvSpPr>
            <p:spPr>
              <a:xfrm>
                <a:off x="4083429" y="6128636"/>
                <a:ext cx="2372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48FC756-F102-4BCC-A67B-266592F77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429" y="6128636"/>
                <a:ext cx="237244" cy="276999"/>
              </a:xfrm>
              <a:prstGeom prst="rect">
                <a:avLst/>
              </a:prstGeom>
              <a:blipFill>
                <a:blip r:embed="rId5"/>
                <a:stretch>
                  <a:fillRect l="-20513" r="-15385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9404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CE742-A4EC-4DEC-A19E-EBEC429D8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9193"/>
            <a:ext cx="7914716" cy="818924"/>
          </a:xfrm>
        </p:spPr>
        <p:txBody>
          <a:bodyPr/>
          <a:lstStyle/>
          <a:p>
            <a:r>
              <a:rPr lang="en-US" dirty="0"/>
              <a:t>Greater Range than 32-bit Integers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EE99E-B51D-40F5-B72A-2335B4995D45}"/>
              </a:ext>
            </a:extLst>
          </p:cNvPr>
          <p:cNvSpPr txBox="1"/>
          <p:nvPr/>
        </p:nvSpPr>
        <p:spPr>
          <a:xfrm>
            <a:off x="3667663" y="4478780"/>
            <a:ext cx="4856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29 orders of magnitude difference!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F49EBF1-945E-455E-B5A4-813A9602160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41220" y="2386178"/>
              <a:ext cx="5309560" cy="175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9317">
                      <a:extLst>
                        <a:ext uri="{9D8B030D-6E8A-4147-A177-3AD203B41FA5}">
                          <a16:colId xmlns:a16="http://schemas.microsoft.com/office/drawing/2014/main" val="3065214303"/>
                        </a:ext>
                      </a:extLst>
                    </a:gridCol>
                    <a:gridCol w="2291455">
                      <a:extLst>
                        <a:ext uri="{9D8B030D-6E8A-4147-A177-3AD203B41FA5}">
                          <a16:colId xmlns:a16="http://schemas.microsoft.com/office/drawing/2014/main" val="3240600553"/>
                        </a:ext>
                      </a:extLst>
                    </a:gridCol>
                    <a:gridCol w="1648788">
                      <a:extLst>
                        <a:ext uri="{9D8B030D-6E8A-4147-A177-3AD203B41FA5}">
                          <a16:colId xmlns:a16="http://schemas.microsoft.com/office/drawing/2014/main" val="4459558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Data Type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Magnitude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Representation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692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float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3.042823000×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𝟑𝟖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7F7F FFFF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39957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int32_t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2.147483648×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7FFF FFFF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4478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uint32_t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4.294967295×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FFFF </a:t>
                          </a:r>
                          <a:r>
                            <a:rPr lang="en-US" dirty="0" err="1"/>
                            <a:t>FFFF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43114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F49EBF1-945E-455E-B5A4-813A96021600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441220" y="2386178"/>
              <a:ext cx="5309560" cy="175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9317">
                      <a:extLst>
                        <a:ext uri="{9D8B030D-6E8A-4147-A177-3AD203B41FA5}">
                          <a16:colId xmlns:a16="http://schemas.microsoft.com/office/drawing/2014/main" val="3065214303"/>
                        </a:ext>
                      </a:extLst>
                    </a:gridCol>
                    <a:gridCol w="2291455">
                      <a:extLst>
                        <a:ext uri="{9D8B030D-6E8A-4147-A177-3AD203B41FA5}">
                          <a16:colId xmlns:a16="http://schemas.microsoft.com/office/drawing/2014/main" val="3240600553"/>
                        </a:ext>
                      </a:extLst>
                    </a:gridCol>
                    <a:gridCol w="1648788">
                      <a:extLst>
                        <a:ext uri="{9D8B030D-6E8A-4147-A177-3AD203B41FA5}">
                          <a16:colId xmlns:a16="http://schemas.microsoft.com/office/drawing/2014/main" val="44595584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Data Type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Magnitude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Representation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692032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float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06" t="-177419" r="-72606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7F7F FFFF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3995754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int32_t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06" t="-281967" r="-72606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7FFF FFFF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4478561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uint32_t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06" t="-381967" r="-72606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FFFF </a:t>
                          </a:r>
                          <a:r>
                            <a:rPr lang="en-US" dirty="0" err="1"/>
                            <a:t>FFFF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431143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0244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9661-F1C7-4853-B660-A4333180A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453" y="755901"/>
            <a:ext cx="8710863" cy="691899"/>
          </a:xfrm>
        </p:spPr>
        <p:txBody>
          <a:bodyPr>
            <a:normAutofit/>
          </a:bodyPr>
          <a:lstStyle/>
          <a:p>
            <a:r>
              <a:rPr lang="en-US" dirty="0"/>
              <a:t>Greater Resolution than 32-bit Integers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87042BB-CDF0-49A4-9C33-70625453B0C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13828" y="2457116"/>
              <a:ext cx="5308121" cy="2664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2040">
                      <a:extLst>
                        <a:ext uri="{9D8B030D-6E8A-4147-A177-3AD203B41FA5}">
                          <a16:colId xmlns:a16="http://schemas.microsoft.com/office/drawing/2014/main" val="3065214303"/>
                        </a:ext>
                      </a:extLst>
                    </a:gridCol>
                    <a:gridCol w="2100028">
                      <a:extLst>
                        <a:ext uri="{9D8B030D-6E8A-4147-A177-3AD203B41FA5}">
                          <a16:colId xmlns:a16="http://schemas.microsoft.com/office/drawing/2014/main" val="3240600553"/>
                        </a:ext>
                      </a:extLst>
                    </a:gridCol>
                    <a:gridCol w="1846053">
                      <a:extLst>
                        <a:ext uri="{9D8B030D-6E8A-4147-A177-3AD203B41FA5}">
                          <a16:colId xmlns:a16="http://schemas.microsoft.com/office/drawing/2014/main" val="41992751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Data Type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 Non-Zero Value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Representation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692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float</a:t>
                          </a:r>
                          <a:br>
                            <a:rPr lang="en-US" dirty="0">
                              <a:latin typeface="Consolas" panose="020B0609020204030204" pitchFamily="49" charset="0"/>
                            </a:rPr>
                          </a:br>
                          <a:r>
                            <a:rPr lang="en-US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(subnormal)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1.401298×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0000 0001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39957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float</a:t>
                          </a:r>
                          <a:br>
                            <a:rPr lang="en-US" dirty="0">
                              <a:latin typeface="Consolas" panose="020B0609020204030204" pitchFamily="49" charset="0"/>
                            </a:rPr>
                          </a:br>
                          <a:r>
                            <a:rPr lang="en-US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(normal)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1.175494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𝟑𝟖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0080 0000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0154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int32_t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1.000000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p>
                              </m:sSup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0000 0001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4478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uint32_t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1.0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00000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𝟎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0000 0001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43114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87042BB-CDF0-49A4-9C33-70625453B0C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513828" y="2457116"/>
              <a:ext cx="5308121" cy="2664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2040">
                      <a:extLst>
                        <a:ext uri="{9D8B030D-6E8A-4147-A177-3AD203B41FA5}">
                          <a16:colId xmlns:a16="http://schemas.microsoft.com/office/drawing/2014/main" val="3065214303"/>
                        </a:ext>
                      </a:extLst>
                    </a:gridCol>
                    <a:gridCol w="2100028">
                      <a:extLst>
                        <a:ext uri="{9D8B030D-6E8A-4147-A177-3AD203B41FA5}">
                          <a16:colId xmlns:a16="http://schemas.microsoft.com/office/drawing/2014/main" val="3240600553"/>
                        </a:ext>
                      </a:extLst>
                    </a:gridCol>
                    <a:gridCol w="1846053">
                      <a:extLst>
                        <a:ext uri="{9D8B030D-6E8A-4147-A177-3AD203B41FA5}">
                          <a16:colId xmlns:a16="http://schemas.microsoft.com/office/drawing/2014/main" val="419927518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Data Type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 Non-Zero Value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Representation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69203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float</a:t>
                          </a:r>
                          <a:br>
                            <a:rPr lang="en-US" dirty="0">
                              <a:latin typeface="Consolas" panose="020B0609020204030204" pitchFamily="49" charset="0"/>
                            </a:rPr>
                          </a:br>
                          <a:r>
                            <a:rPr lang="en-US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(subnormal)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217" t="-104762" r="-88406" b="-23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0000 0001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399575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float</a:t>
                          </a:r>
                          <a:br>
                            <a:rPr lang="en-US" dirty="0">
                              <a:latin typeface="Consolas" panose="020B0609020204030204" pitchFamily="49" charset="0"/>
                            </a:rPr>
                          </a:br>
                          <a:r>
                            <a:rPr lang="en-US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(normal)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217" t="-202830" r="-88406" b="-128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0080 0000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0154345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int32_t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217" t="-526230" r="-88406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0000 0001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4478561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uint32_t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217" t="-626230" r="-88406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0000 0001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43114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00D9276-4403-424E-9F74-37E323F0E799}"/>
              </a:ext>
            </a:extLst>
          </p:cNvPr>
          <p:cNvSpPr txBox="1"/>
          <p:nvPr/>
        </p:nvSpPr>
        <p:spPr>
          <a:xfrm>
            <a:off x="3667663" y="5168893"/>
            <a:ext cx="4856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45 orders of magnitude difference!</a:t>
            </a:r>
          </a:p>
        </p:txBody>
      </p:sp>
    </p:spTree>
    <p:extLst>
      <p:ext uri="{BB962C8B-B14F-4D97-AF65-F5344CB8AC3E}">
        <p14:creationId xmlns:p14="http://schemas.microsoft.com/office/powerpoint/2010/main" val="2237412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DB4C5-9035-4B55-BD8B-02F712620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05" y="733701"/>
            <a:ext cx="8002500" cy="637871"/>
          </a:xfrm>
        </p:spPr>
        <p:txBody>
          <a:bodyPr>
            <a:noAutofit/>
          </a:bodyPr>
          <a:lstStyle/>
          <a:p>
            <a:r>
              <a:rPr lang="en-US" dirty="0"/>
              <a:t>Less Precision than 32-bit Integers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B6E2B12-3AB4-4267-AEA2-2B9C12F60373}"/>
              </a:ext>
            </a:extLst>
          </p:cNvPr>
          <p:cNvGrpSpPr/>
          <p:nvPr/>
        </p:nvGrpSpPr>
        <p:grpSpPr>
          <a:xfrm>
            <a:off x="2275662" y="3943154"/>
            <a:ext cx="8087538" cy="1173449"/>
            <a:chOff x="750105" y="3294199"/>
            <a:chExt cx="8087538" cy="1173449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F815ED6-1579-4AAC-9F0D-EDFC3F758297}"/>
                </a:ext>
              </a:extLst>
            </p:cNvPr>
            <p:cNvSpPr txBox="1"/>
            <p:nvPr/>
          </p:nvSpPr>
          <p:spPr>
            <a:xfrm>
              <a:off x="750105" y="3300314"/>
              <a:ext cx="2757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f32 = (float) u32 ; 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0952844-2BAF-4FCC-8BC3-DD60E7A36AEA}"/>
                </a:ext>
              </a:extLst>
            </p:cNvPr>
            <p:cNvGrpSpPr/>
            <p:nvPr/>
          </p:nvGrpSpPr>
          <p:grpSpPr>
            <a:xfrm>
              <a:off x="4893815" y="3294199"/>
              <a:ext cx="3943828" cy="363702"/>
              <a:chOff x="1968043" y="6749039"/>
              <a:chExt cx="3943828" cy="363702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2514B088-F612-417F-B7FF-425A0F824787}"/>
                  </a:ext>
                </a:extLst>
              </p:cNvPr>
              <p:cNvSpPr/>
              <p:nvPr/>
            </p:nvSpPr>
            <p:spPr>
              <a:xfrm>
                <a:off x="1968043" y="6749872"/>
                <a:ext cx="226023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0</a:t>
                </a:r>
                <a:endParaRPr lang="en-US" dirty="0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7C382F82-4811-419F-BAB5-D5CD90EAB47E}"/>
                  </a:ext>
                </a:extLst>
              </p:cNvPr>
              <p:cNvSpPr/>
              <p:nvPr/>
            </p:nvSpPr>
            <p:spPr>
              <a:xfrm>
                <a:off x="2189645" y="6749039"/>
                <a:ext cx="1026594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1001 1110</a:t>
                </a: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BD335C24-A106-4ED3-8732-81A3877C52C3}"/>
                  </a:ext>
                </a:extLst>
              </p:cNvPr>
              <p:cNvSpPr/>
              <p:nvPr/>
            </p:nvSpPr>
            <p:spPr>
              <a:xfrm>
                <a:off x="3147225" y="6749039"/>
                <a:ext cx="2764646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000 0000 0000 0000 0000 0000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AA4F8FC-C48D-4D87-9100-3ABA47F90D18}"/>
                    </a:ext>
                  </a:extLst>
                </p:cNvPr>
                <p:cNvSpPr txBox="1"/>
                <p:nvPr/>
              </p:nvSpPr>
              <p:spPr>
                <a:xfrm>
                  <a:off x="5668772" y="3724056"/>
                  <a:ext cx="2251257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+1.0×2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p>
                      </m:sSup>
                    </m:oMath>
                  </a14:m>
                  <a:r>
                    <a:rPr lang="en-US" sz="1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= 2,147,483,</a:t>
                  </a:r>
                  <a:r>
                    <a:rPr lang="en-US" sz="1400" b="1" dirty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648</a:t>
                  </a:r>
                  <a:r>
                    <a:rPr lang="en-US" sz="1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.0</a:t>
                  </a:r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AA4F8FC-C48D-4D87-9100-3ABA47F90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8772" y="3724056"/>
                  <a:ext cx="2251257" cy="215444"/>
                </a:xfrm>
                <a:prstGeom prst="rect">
                  <a:avLst/>
                </a:prstGeom>
                <a:blipFill>
                  <a:blip r:embed="rId2"/>
                  <a:stretch>
                    <a:fillRect l="-2439" t="-27778" r="-4336" b="-44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F184B7AC-9CDE-4AE4-8209-4533C5166707}"/>
                </a:ext>
              </a:extLst>
            </p:cNvPr>
            <p:cNvCxnSpPr>
              <a:cxnSpLocks/>
            </p:cNvCxnSpPr>
            <p:nvPr/>
          </p:nvCxnSpPr>
          <p:spPr>
            <a:xfrm>
              <a:off x="4175316" y="3471569"/>
              <a:ext cx="364153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ight Brace 86">
              <a:extLst>
                <a:ext uri="{FF2B5EF4-FFF2-40B4-BE49-F238E27FC236}">
                  <a16:creationId xmlns:a16="http://schemas.microsoft.com/office/drawing/2014/main" id="{D2334FC7-4B89-403B-B157-A230640C68F4}"/>
                </a:ext>
              </a:extLst>
            </p:cNvPr>
            <p:cNvSpPr/>
            <p:nvPr/>
          </p:nvSpPr>
          <p:spPr>
            <a:xfrm rot="5400000">
              <a:off x="6954595" y="3678025"/>
              <a:ext cx="191413" cy="718292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E3EFD87-03E3-4BFA-970F-D62B78E03E21}"/>
                </a:ext>
              </a:extLst>
            </p:cNvPr>
            <p:cNvSpPr txBox="1"/>
            <p:nvPr/>
          </p:nvSpPr>
          <p:spPr>
            <a:xfrm>
              <a:off x="5468019" y="4159871"/>
              <a:ext cx="31645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 decimal digits (23+1 bits) of precision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9AC6E82-E783-4258-B079-FE69CCFE90DD}"/>
              </a:ext>
            </a:extLst>
          </p:cNvPr>
          <p:cNvGrpSpPr/>
          <p:nvPr/>
        </p:nvGrpSpPr>
        <p:grpSpPr>
          <a:xfrm>
            <a:off x="2275662" y="5397385"/>
            <a:ext cx="7882478" cy="369332"/>
            <a:chOff x="718719" y="5059568"/>
            <a:chExt cx="7882478" cy="369332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7F8855FE-23DD-4F1F-8CF9-F6A4C3F9D1B9}"/>
                </a:ext>
              </a:extLst>
            </p:cNvPr>
            <p:cNvSpPr/>
            <p:nvPr/>
          </p:nvSpPr>
          <p:spPr>
            <a:xfrm>
              <a:off x="4860872" y="5066031"/>
              <a:ext cx="3740325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</a:rPr>
                <a:t>1000 0000 0000 0000 0000 0000 </a:t>
              </a:r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Arial" panose="020B0604020202020204" pitchFamily="34" charset="0"/>
                </a:rPr>
                <a:t>0000 0000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74344D7-E210-44B7-9D85-3E6657AD385D}"/>
                </a:ext>
              </a:extLst>
            </p:cNvPr>
            <p:cNvSpPr/>
            <p:nvPr/>
          </p:nvSpPr>
          <p:spPr>
            <a:xfrm>
              <a:off x="718719" y="5059568"/>
              <a:ext cx="308814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u32 = (uint32_t) f32</a:t>
              </a:r>
              <a:r>
                <a:rPr lang="en-US" dirty="0">
                  <a:latin typeface="Consolas" panose="020B0609020204030204" pitchFamily="49" charset="0"/>
                  <a:ea typeface="Arial" panose="020B0604020202020204" pitchFamily="34" charset="0"/>
                </a:rPr>
                <a:t> ; 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15CF1348-D679-462A-82CF-CC6C7258C7B4}"/>
                </a:ext>
              </a:extLst>
            </p:cNvPr>
            <p:cNvCxnSpPr>
              <a:cxnSpLocks/>
            </p:cNvCxnSpPr>
            <p:nvPr/>
          </p:nvCxnSpPr>
          <p:spPr>
            <a:xfrm>
              <a:off x="4175315" y="5276824"/>
              <a:ext cx="364153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C3B5AC-E502-46CF-84ED-B4A3B4B78447}"/>
              </a:ext>
            </a:extLst>
          </p:cNvPr>
          <p:cNvGrpSpPr/>
          <p:nvPr/>
        </p:nvGrpSpPr>
        <p:grpSpPr>
          <a:xfrm>
            <a:off x="2275663" y="6020158"/>
            <a:ext cx="5524269" cy="369332"/>
            <a:chOff x="369183" y="5994224"/>
            <a:chExt cx="5524269" cy="36933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130D698-2915-4F5A-A708-8B1BBC3B2461}"/>
                </a:ext>
              </a:extLst>
            </p:cNvPr>
            <p:cNvSpPr/>
            <p:nvPr/>
          </p:nvSpPr>
          <p:spPr>
            <a:xfrm>
              <a:off x="369183" y="5994224"/>
              <a:ext cx="552426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printf</a:t>
              </a:r>
              <a:r>
                <a:rPr lang="en-US" dirty="0">
                  <a:latin typeface="Consolas" panose="020B0609020204030204" pitchFamily="49" charset="0"/>
                </a:rPr>
                <a:t>(“u32=%u\n”), u32) ; 	   2147483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</a:rPr>
                <a:t>648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831202E6-32CF-4EF7-85EA-B36039E48814}"/>
                </a:ext>
              </a:extLst>
            </p:cNvPr>
            <p:cNvCxnSpPr>
              <a:cxnSpLocks/>
            </p:cNvCxnSpPr>
            <p:nvPr/>
          </p:nvCxnSpPr>
          <p:spPr>
            <a:xfrm>
              <a:off x="3840302" y="6185142"/>
              <a:ext cx="364153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BF201B9-C2CF-4A4D-8B6A-7360C801D458}"/>
              </a:ext>
            </a:extLst>
          </p:cNvPr>
          <p:cNvGrpSpPr/>
          <p:nvPr/>
        </p:nvGrpSpPr>
        <p:grpSpPr>
          <a:xfrm>
            <a:off x="2275662" y="2164196"/>
            <a:ext cx="7851096" cy="1388398"/>
            <a:chOff x="750101" y="1531993"/>
            <a:chExt cx="7851096" cy="138839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9681CB7-2A57-42B6-A0EE-BE09CD71E477}"/>
                </a:ext>
              </a:extLst>
            </p:cNvPr>
            <p:cNvSpPr/>
            <p:nvPr/>
          </p:nvSpPr>
          <p:spPr>
            <a:xfrm>
              <a:off x="4893815" y="1997432"/>
              <a:ext cx="3707382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</a:rPr>
                <a:t>1000 0000 0000 0000 0000 0000 </a:t>
              </a:r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Arial" panose="020B0604020202020204" pitchFamily="34" charset="0"/>
                </a:rPr>
                <a:t>1111 1111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9D22532-2105-41FD-AB02-4CE9825F3748}"/>
                </a:ext>
              </a:extLst>
            </p:cNvPr>
            <p:cNvCxnSpPr>
              <a:cxnSpLocks/>
            </p:cNvCxnSpPr>
            <p:nvPr/>
          </p:nvCxnSpPr>
          <p:spPr>
            <a:xfrm>
              <a:off x="5115417" y="1810732"/>
              <a:ext cx="330202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C828ECA-83B9-474B-A8DD-4D90D4CD8C1E}"/>
                </a:ext>
              </a:extLst>
            </p:cNvPr>
            <p:cNvSpPr txBox="1"/>
            <p:nvPr/>
          </p:nvSpPr>
          <p:spPr>
            <a:xfrm>
              <a:off x="5771402" y="1531993"/>
              <a:ext cx="210249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/>
                <a:t>An </a:t>
              </a:r>
              <a:r>
                <a:rPr lang="en-US" sz="1200" i="1" u="sng" dirty="0"/>
                <a:t>exact</a:t>
              </a:r>
              <a:r>
                <a:rPr lang="en-US" sz="1200" dirty="0"/>
                <a:t> representation requires 32 bits of precision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2AC79F1-4592-4AA2-9F8F-02346980A01C}"/>
                </a:ext>
              </a:extLst>
            </p:cNvPr>
            <p:cNvSpPr/>
            <p:nvPr/>
          </p:nvSpPr>
          <p:spPr>
            <a:xfrm>
              <a:off x="750101" y="2017832"/>
              <a:ext cx="26862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u32 = 2147483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</a:rPr>
                <a:t>903</a:t>
              </a:r>
              <a:r>
                <a:rPr lang="en-US" dirty="0">
                  <a:latin typeface="Consolas" panose="020B0609020204030204" pitchFamily="49" charset="0"/>
                  <a:ea typeface="Arial" panose="020B0604020202020204" pitchFamily="34" charset="0"/>
                </a:rPr>
                <a:t> ; 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E926678-2A5C-467F-A146-83C5F8947ADD}"/>
                </a:ext>
              </a:extLst>
            </p:cNvPr>
            <p:cNvCxnSpPr>
              <a:cxnSpLocks/>
            </p:cNvCxnSpPr>
            <p:nvPr/>
          </p:nvCxnSpPr>
          <p:spPr>
            <a:xfrm>
              <a:off x="8417440" y="1669271"/>
              <a:ext cx="0" cy="106645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BBEC090-171A-4AEB-9153-FDD04959C76C}"/>
                </a:ext>
              </a:extLst>
            </p:cNvPr>
            <p:cNvCxnSpPr>
              <a:cxnSpLocks/>
            </p:cNvCxnSpPr>
            <p:nvPr/>
          </p:nvCxnSpPr>
          <p:spPr>
            <a:xfrm>
              <a:off x="5126613" y="1607858"/>
              <a:ext cx="0" cy="116984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D176F8D1-6AFE-4687-8A0D-A957B3AF4D77}"/>
                </a:ext>
              </a:extLst>
            </p:cNvPr>
            <p:cNvCxnSpPr>
              <a:cxnSpLocks/>
            </p:cNvCxnSpPr>
            <p:nvPr/>
          </p:nvCxnSpPr>
          <p:spPr>
            <a:xfrm>
              <a:off x="4175316" y="2189390"/>
              <a:ext cx="364153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6975630-3D07-4D22-95EE-62585AB07521}"/>
                </a:ext>
              </a:extLst>
            </p:cNvPr>
            <p:cNvSpPr txBox="1"/>
            <p:nvPr/>
          </p:nvSpPr>
          <p:spPr>
            <a:xfrm>
              <a:off x="7528437" y="2623822"/>
              <a:ext cx="9489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>
                  <a:solidFill>
                    <a:srgbClr val="FF0000"/>
                  </a:solidFill>
                </a:rPr>
                <a:t>discarded</a:t>
              </a:r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12142A7-AD44-4263-911F-AEE8AC5F30F9}"/>
                </a:ext>
              </a:extLst>
            </p:cNvPr>
            <p:cNvCxnSpPr>
              <a:cxnSpLocks/>
            </p:cNvCxnSpPr>
            <p:nvPr/>
          </p:nvCxnSpPr>
          <p:spPr>
            <a:xfrm>
              <a:off x="7588340" y="1970835"/>
              <a:ext cx="0" cy="76489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742BAD4F-E015-4353-84F9-738FBF1C9824}"/>
                </a:ext>
              </a:extLst>
            </p:cNvPr>
            <p:cNvCxnSpPr>
              <a:cxnSpLocks/>
            </p:cNvCxnSpPr>
            <p:nvPr/>
          </p:nvCxnSpPr>
          <p:spPr>
            <a:xfrm>
              <a:off x="5126613" y="2594907"/>
              <a:ext cx="246172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D67A72F-462A-4799-A271-CEAAF8650D0E}"/>
                </a:ext>
              </a:extLst>
            </p:cNvPr>
            <p:cNvSpPr txBox="1"/>
            <p:nvPr/>
          </p:nvSpPr>
          <p:spPr>
            <a:xfrm>
              <a:off x="6142007" y="2458726"/>
              <a:ext cx="61273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/>
                <a:t>24 bits</a:t>
              </a:r>
              <a:endParaRPr lang="en-US" sz="1200" dirty="0"/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4A2AD24A-F954-4CB0-8A4B-EF9CAFD4DFC2}"/>
                </a:ext>
              </a:extLst>
            </p:cNvPr>
            <p:cNvCxnSpPr>
              <a:cxnSpLocks/>
            </p:cNvCxnSpPr>
            <p:nvPr/>
          </p:nvCxnSpPr>
          <p:spPr>
            <a:xfrm>
              <a:off x="7588340" y="2594907"/>
              <a:ext cx="8291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7B51B99-6B10-49B3-BBDA-EC7317495581}"/>
                </a:ext>
              </a:extLst>
            </p:cNvPr>
            <p:cNvSpPr txBox="1"/>
            <p:nvPr/>
          </p:nvSpPr>
          <p:spPr>
            <a:xfrm>
              <a:off x="7696523" y="2456407"/>
              <a:ext cx="61273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/>
                <a:t>8 bits</a:t>
              </a:r>
              <a:endParaRPr lang="en-US" sz="1200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3325049-F4D6-4295-BA5D-D51092584131}"/>
              </a:ext>
            </a:extLst>
          </p:cNvPr>
          <p:cNvSpPr txBox="1"/>
          <p:nvPr/>
        </p:nvSpPr>
        <p:spPr>
          <a:xfrm>
            <a:off x="2234655" y="1700471"/>
            <a:ext cx="261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uint32_t u32 ;</a:t>
            </a:r>
          </a:p>
          <a:p>
            <a:r>
              <a:rPr lang="en-US" dirty="0">
                <a:latin typeface="Consolas" panose="020B0609020204030204" pitchFamily="49" charset="0"/>
              </a:rPr>
              <a:t>float f32 ;</a:t>
            </a:r>
          </a:p>
        </p:txBody>
      </p:sp>
    </p:spTree>
    <p:extLst>
      <p:ext uri="{BB962C8B-B14F-4D97-AF65-F5344CB8AC3E}">
        <p14:creationId xmlns:p14="http://schemas.microsoft.com/office/powerpoint/2010/main" val="182126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itle 205">
            <a:extLst>
              <a:ext uri="{FF2B5EF4-FFF2-40B4-BE49-F238E27FC236}">
                <a16:creationId xmlns:a16="http://schemas.microsoft.com/office/drawing/2014/main" id="{133F744D-5C1F-4D8B-9C48-C31C6FAF1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074" y="731103"/>
            <a:ext cx="6601715" cy="697469"/>
          </a:xfrm>
        </p:spPr>
        <p:txBody>
          <a:bodyPr/>
          <a:lstStyle/>
          <a:p>
            <a:r>
              <a:rPr lang="en-US" dirty="0"/>
              <a:t>Interpreting 32-bit IEEE Float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5AC97E-76A3-45BC-AE78-F347E2E8C809}"/>
              </a:ext>
            </a:extLst>
          </p:cNvPr>
          <p:cNvGrpSpPr/>
          <p:nvPr/>
        </p:nvGrpSpPr>
        <p:grpSpPr>
          <a:xfrm>
            <a:off x="1975590" y="5241843"/>
            <a:ext cx="8596029" cy="1153305"/>
            <a:chOff x="396131" y="5114656"/>
            <a:chExt cx="8596029" cy="1153305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F135624-1FA2-4BC6-AA03-EF6668CE5DD8}"/>
                </a:ext>
              </a:extLst>
            </p:cNvPr>
            <p:cNvSpPr/>
            <p:nvPr/>
          </p:nvSpPr>
          <p:spPr>
            <a:xfrm>
              <a:off x="1586048" y="5114656"/>
              <a:ext cx="14619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/>
                <a:t>Subnormal</a:t>
              </a:r>
              <a:endParaRPr lang="en-US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D195EB1-392F-444C-8A82-E0C37B4E706F}"/>
                </a:ext>
              </a:extLst>
            </p:cNvPr>
            <p:cNvSpPr/>
            <p:nvPr/>
          </p:nvSpPr>
          <p:spPr>
            <a:xfrm>
              <a:off x="4099660" y="5129049"/>
              <a:ext cx="97975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Normal</a:t>
              </a:r>
              <a:endParaRPr lang="en-US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D178D0B-D741-4413-BFA0-87DBCF93F883}"/>
                </a:ext>
              </a:extLst>
            </p:cNvPr>
            <p:cNvSpPr/>
            <p:nvPr/>
          </p:nvSpPr>
          <p:spPr>
            <a:xfrm>
              <a:off x="454577" y="5136929"/>
              <a:ext cx="6848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Zero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F02AC324-40AE-4A92-AB73-3518B3FA5407}"/>
                    </a:ext>
                  </a:extLst>
                </p:cNvPr>
                <p:cNvSpPr/>
                <p:nvPr/>
              </p:nvSpPr>
              <p:spPr>
                <a:xfrm>
                  <a:off x="3897457" y="5541714"/>
                  <a:ext cx="1489254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±1.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𝑠𝑖𝑔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𝑒𝑥𝑝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F02AC324-40AE-4A92-AB73-3518B3FA54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7457" y="5541714"/>
                  <a:ext cx="1489254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DBD3A491-FB82-4DDE-8C50-E739C0C08669}"/>
                    </a:ext>
                  </a:extLst>
                </p:cNvPr>
                <p:cNvSpPr/>
                <p:nvPr/>
              </p:nvSpPr>
              <p:spPr>
                <a:xfrm>
                  <a:off x="1524023" y="5508718"/>
                  <a:ext cx="1772345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±0.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−126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DBD3A491-FB82-4DDE-8C50-E739C0C086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23" y="5508718"/>
                  <a:ext cx="1772345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FBC544C7-D2DF-467F-A376-1FA2CC3BE6C0}"/>
                    </a:ext>
                  </a:extLst>
                </p:cNvPr>
                <p:cNvSpPr/>
                <p:nvPr/>
              </p:nvSpPr>
              <p:spPr>
                <a:xfrm>
                  <a:off x="396131" y="5510906"/>
                  <a:ext cx="72648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±0.0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FBC544C7-D2DF-467F-A376-1FA2CC3BE6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131" y="5510906"/>
                  <a:ext cx="726481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6C077242-6984-4727-B854-FA79636BAA6C}"/>
                </a:ext>
              </a:extLst>
            </p:cNvPr>
            <p:cNvSpPr/>
            <p:nvPr/>
          </p:nvSpPr>
          <p:spPr>
            <a:xfrm>
              <a:off x="6335364" y="5122658"/>
              <a:ext cx="94128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Infinity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35A0E174-9F13-4D02-85F7-785790835B5A}"/>
                    </a:ext>
                  </a:extLst>
                </p:cNvPr>
                <p:cNvSpPr txBox="1"/>
                <p:nvPr/>
              </p:nvSpPr>
              <p:spPr>
                <a:xfrm>
                  <a:off x="6568589" y="5528807"/>
                  <a:ext cx="4328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35A0E174-9F13-4D02-85F7-785790835B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8589" y="5528807"/>
                  <a:ext cx="432811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4085" r="-5634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5C6AA98E-5FB8-48A4-B8AC-83CD55BA8328}"/>
                    </a:ext>
                  </a:extLst>
                </p:cNvPr>
                <p:cNvSpPr/>
                <p:nvPr/>
              </p:nvSpPr>
              <p:spPr>
                <a:xfrm>
                  <a:off x="7656849" y="5483988"/>
                  <a:ext cx="824264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𝑁𝑎𝑁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5C6AA98E-5FB8-48A4-B8AC-83CD55BA83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6849" y="5483988"/>
                  <a:ext cx="82426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24FF3C9-4444-4D73-A004-83241C1DF14F}"/>
                </a:ext>
              </a:extLst>
            </p:cNvPr>
            <p:cNvSpPr/>
            <p:nvPr/>
          </p:nvSpPr>
          <p:spPr>
            <a:xfrm>
              <a:off x="7294259" y="5119618"/>
              <a:ext cx="169790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Not a Number</a:t>
              </a:r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B57D56B-0230-4C6F-90FF-745B7B38DBC2}"/>
                </a:ext>
              </a:extLst>
            </p:cNvPr>
            <p:cNvSpPr/>
            <p:nvPr/>
          </p:nvSpPr>
          <p:spPr>
            <a:xfrm>
              <a:off x="1736174" y="5898629"/>
              <a:ext cx="127326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(underflow)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FA20FE6-0523-45F0-864C-F48BFF1F882B}"/>
                </a:ext>
              </a:extLst>
            </p:cNvPr>
            <p:cNvSpPr/>
            <p:nvPr/>
          </p:nvSpPr>
          <p:spPr>
            <a:xfrm>
              <a:off x="6226701" y="5856502"/>
              <a:ext cx="116991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(overflow)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74B72311-7418-4564-AC43-617F1F647606}"/>
                    </a:ext>
                  </a:extLst>
                </p:cNvPr>
                <p:cNvSpPr/>
                <p:nvPr/>
              </p:nvSpPr>
              <p:spPr>
                <a:xfrm>
                  <a:off x="7469411" y="5898629"/>
                  <a:ext cx="1169912" cy="32720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i="1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sz="1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÷0;</m:t>
                      </m:r>
                      <m:rad>
                        <m:radPr>
                          <m:degHide m:val="on"/>
                          <m:ctrlPr>
                            <a:rPr lang="en-US" sz="1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&lt;0</m:t>
                          </m:r>
                        </m:e>
                      </m:rad>
                    </m:oMath>
                  </a14:m>
                  <a:r>
                    <a:rPr lang="en-US" sz="1400" i="1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74B72311-7418-4564-AC43-617F1F6476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9411" y="5898629"/>
                  <a:ext cx="1169912" cy="327205"/>
                </a:xfrm>
                <a:prstGeom prst="rect">
                  <a:avLst/>
                </a:prstGeom>
                <a:blipFill>
                  <a:blip r:embed="rId7"/>
                  <a:stretch>
                    <a:fillRect b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32EB5F-08CC-423B-BC42-EB8E3835B096}"/>
              </a:ext>
            </a:extLst>
          </p:cNvPr>
          <p:cNvGrpSpPr/>
          <p:nvPr/>
        </p:nvGrpSpPr>
        <p:grpSpPr>
          <a:xfrm>
            <a:off x="1829729" y="1417639"/>
            <a:ext cx="8271074" cy="3838597"/>
            <a:chOff x="305729" y="1417638"/>
            <a:chExt cx="8271074" cy="3838597"/>
          </a:xfrm>
        </p:grpSpPr>
        <p:cxnSp>
          <p:nvCxnSpPr>
            <p:cNvPr id="90" name="Connector: Elbow 89">
              <a:extLst>
                <a:ext uri="{FF2B5EF4-FFF2-40B4-BE49-F238E27FC236}">
                  <a16:creationId xmlns:a16="http://schemas.microsoft.com/office/drawing/2014/main" id="{8122061E-55EC-44CA-B554-9841656D8080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 rot="16200000" flipH="1">
              <a:off x="7084169" y="4209250"/>
              <a:ext cx="1438198" cy="636910"/>
            </a:xfrm>
            <a:prstGeom prst="bentConnector3">
              <a:avLst>
                <a:gd name="adj1" fmla="val -984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ctor: Elbow 196">
              <a:extLst>
                <a:ext uri="{FF2B5EF4-FFF2-40B4-BE49-F238E27FC236}">
                  <a16:creationId xmlns:a16="http://schemas.microsoft.com/office/drawing/2014/main" id="{6F3EF78F-A3CC-48E0-8C0E-13E3924B5EFB}"/>
                </a:ext>
              </a:extLst>
            </p:cNvPr>
            <p:cNvCxnSpPr>
              <a:stCxn id="135" idx="3"/>
              <a:endCxn id="136" idx="0"/>
            </p:cNvCxnSpPr>
            <p:nvPr/>
          </p:nvCxnSpPr>
          <p:spPr>
            <a:xfrm>
              <a:off x="5440666" y="2324450"/>
              <a:ext cx="1367362" cy="866950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: Elbow 187">
              <a:extLst>
                <a:ext uri="{FF2B5EF4-FFF2-40B4-BE49-F238E27FC236}">
                  <a16:creationId xmlns:a16="http://schemas.microsoft.com/office/drawing/2014/main" id="{1ECAB41A-0671-44BE-A3A0-47FE1664AFFF}"/>
                </a:ext>
              </a:extLst>
            </p:cNvPr>
            <p:cNvCxnSpPr>
              <a:stCxn id="135" idx="1"/>
              <a:endCxn id="115" idx="0"/>
            </p:cNvCxnSpPr>
            <p:nvPr/>
          </p:nvCxnSpPr>
          <p:spPr>
            <a:xfrm rot="10800000" flipV="1">
              <a:off x="2372808" y="2324450"/>
              <a:ext cx="1371712" cy="866950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Flowchart: Decision 135">
              <a:extLst>
                <a:ext uri="{FF2B5EF4-FFF2-40B4-BE49-F238E27FC236}">
                  <a16:creationId xmlns:a16="http://schemas.microsoft.com/office/drawing/2014/main" id="{A97AB4D4-A75A-4D85-9AD7-BCA4815BE086}"/>
                </a:ext>
              </a:extLst>
            </p:cNvPr>
            <p:cNvSpPr/>
            <p:nvPr/>
          </p:nvSpPr>
          <p:spPr>
            <a:xfrm>
              <a:off x="5959955" y="3191400"/>
              <a:ext cx="1696146" cy="1225296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8A5BF85-A0E4-4571-83CD-282DFBCF3F2F}"/>
                </a:ext>
              </a:extLst>
            </p:cNvPr>
            <p:cNvSpPr/>
            <p:nvPr/>
          </p:nvSpPr>
          <p:spPr>
            <a:xfrm>
              <a:off x="6145972" y="3619382"/>
              <a:ext cx="13388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significand</a:t>
              </a:r>
              <a:r>
                <a:rPr lang="en-US" dirty="0"/>
                <a:t>?</a:t>
              </a:r>
            </a:p>
          </p:txBody>
        </p:sp>
        <p:sp>
          <p:nvSpPr>
            <p:cNvPr id="115" name="Flowchart: Decision 114">
              <a:extLst>
                <a:ext uri="{FF2B5EF4-FFF2-40B4-BE49-F238E27FC236}">
                  <a16:creationId xmlns:a16="http://schemas.microsoft.com/office/drawing/2014/main" id="{B8ED1D1D-9E34-4415-B100-B9DF9EF8237A}"/>
                </a:ext>
              </a:extLst>
            </p:cNvPr>
            <p:cNvSpPr/>
            <p:nvPr/>
          </p:nvSpPr>
          <p:spPr>
            <a:xfrm>
              <a:off x="1524735" y="3191400"/>
              <a:ext cx="1696146" cy="1225296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04F5BCDD-D5C1-4A9C-8E3B-EB12698A98F3}"/>
                </a:ext>
              </a:extLst>
            </p:cNvPr>
            <p:cNvSpPr/>
            <p:nvPr/>
          </p:nvSpPr>
          <p:spPr>
            <a:xfrm>
              <a:off x="1682003" y="3619382"/>
              <a:ext cx="13564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significand</a:t>
              </a:r>
              <a:r>
                <a:rPr lang="en-US" dirty="0"/>
                <a:t>?</a:t>
              </a:r>
            </a:p>
          </p:txBody>
        </p:sp>
        <p:cxnSp>
          <p:nvCxnSpPr>
            <p:cNvPr id="124" name="Connector: Elbow 123">
              <a:extLst>
                <a:ext uri="{FF2B5EF4-FFF2-40B4-BE49-F238E27FC236}">
                  <a16:creationId xmlns:a16="http://schemas.microsoft.com/office/drawing/2014/main" id="{C589A8BA-3F29-47BF-8260-9952D74043A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23317" y="3808605"/>
              <a:ext cx="817287" cy="1381080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Flowchart: Decision 134">
              <a:extLst>
                <a:ext uri="{FF2B5EF4-FFF2-40B4-BE49-F238E27FC236}">
                  <a16:creationId xmlns:a16="http://schemas.microsoft.com/office/drawing/2014/main" id="{B967E501-E175-46A9-9DB1-F41E1AAB4435}"/>
                </a:ext>
              </a:extLst>
            </p:cNvPr>
            <p:cNvSpPr/>
            <p:nvPr/>
          </p:nvSpPr>
          <p:spPr>
            <a:xfrm>
              <a:off x="3744520" y="1711802"/>
              <a:ext cx="1696146" cy="1225296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25B2F94-97AD-4E48-A8E9-9E47ADE1367E}"/>
                </a:ext>
              </a:extLst>
            </p:cNvPr>
            <p:cNvSpPr/>
            <p:nvPr/>
          </p:nvSpPr>
          <p:spPr>
            <a:xfrm>
              <a:off x="4019359" y="2125434"/>
              <a:ext cx="114646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exponent</a:t>
              </a:r>
              <a:r>
                <a:rPr lang="en-US" dirty="0"/>
                <a:t>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3F3B023-4AC7-4297-A7F4-6BD3B7C9DEDD}"/>
                    </a:ext>
                  </a:extLst>
                </p:cNvPr>
                <p:cNvSpPr txBox="1"/>
                <p:nvPr/>
              </p:nvSpPr>
              <p:spPr>
                <a:xfrm>
                  <a:off x="7666642" y="4598676"/>
                  <a:ext cx="910161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𝑠𝑖𝑔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≠ 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3F3B023-4AC7-4297-A7F4-6BD3B7C9DE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6642" y="4598676"/>
                  <a:ext cx="910161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76DDB201-E7F6-45F4-A155-C6C5311061E2}"/>
                </a:ext>
              </a:extLst>
            </p:cNvPr>
            <p:cNvCxnSpPr>
              <a:cxnSpLocks/>
              <a:stCxn id="135" idx="2"/>
              <a:endCxn id="159" idx="0"/>
            </p:cNvCxnSpPr>
            <p:nvPr/>
          </p:nvCxnSpPr>
          <p:spPr>
            <a:xfrm flipH="1">
              <a:off x="4592592" y="2937098"/>
              <a:ext cx="1" cy="53594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D30D8A07-3C12-4F97-9110-64E9B3A1C029}"/>
                </a:ext>
              </a:extLst>
            </p:cNvPr>
            <p:cNvCxnSpPr>
              <a:cxnSpLocks/>
              <a:stCxn id="115" idx="2"/>
              <a:endCxn id="75" idx="0"/>
            </p:cNvCxnSpPr>
            <p:nvPr/>
          </p:nvCxnSpPr>
          <p:spPr>
            <a:xfrm flipH="1">
              <a:off x="2372485" y="4416696"/>
              <a:ext cx="323" cy="82514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32206298-5F2B-4413-AB80-D5242C794DAD}"/>
                </a:ext>
              </a:extLst>
            </p:cNvPr>
            <p:cNvCxnSpPr>
              <a:stCxn id="136" idx="2"/>
              <a:endCxn id="121" idx="0"/>
            </p:cNvCxnSpPr>
            <p:nvPr/>
          </p:nvCxnSpPr>
          <p:spPr>
            <a:xfrm>
              <a:off x="6808028" y="4416696"/>
              <a:ext cx="15958" cy="8331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0FC10F8A-BA5A-43DF-BBA1-E50904F9FE65}"/>
                    </a:ext>
                  </a:extLst>
                </p:cNvPr>
                <p:cNvSpPr/>
                <p:nvPr/>
              </p:nvSpPr>
              <p:spPr>
                <a:xfrm>
                  <a:off x="3439324" y="3473042"/>
                  <a:ext cx="2306535" cy="515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Remove excess-127 bias:</a:t>
                  </a: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𝑒𝑥𝑝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d>
                          <m:d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𝑢𝑖𝑛𝑡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8_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func>
                          <m:func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𝑒𝑥𝑝</m:t>
                            </m:r>
                          </m:fName>
                          <m:e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− 127</m:t>
                            </m:r>
                          </m:e>
                        </m:func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0FC10F8A-BA5A-43DF-BBA1-E50904F9FE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9324" y="3473042"/>
                  <a:ext cx="2306535" cy="51567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18C6D634-5957-4256-9860-2C0345B37134}"/>
                    </a:ext>
                  </a:extLst>
                </p:cNvPr>
                <p:cNvSpPr txBox="1"/>
                <p:nvPr/>
              </p:nvSpPr>
              <p:spPr>
                <a:xfrm>
                  <a:off x="6382222" y="4579305"/>
                  <a:ext cx="866327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𝑠𝑖𝑔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18C6D634-5957-4256-9860-2C0345B371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2222" y="4579305"/>
                  <a:ext cx="866327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B9CE0B42-BF09-44DF-AB1E-2E0C6C3C4532}"/>
                    </a:ext>
                  </a:extLst>
                </p:cNvPr>
                <p:cNvSpPr txBox="1"/>
                <p:nvPr/>
              </p:nvSpPr>
              <p:spPr>
                <a:xfrm>
                  <a:off x="1914347" y="4614268"/>
                  <a:ext cx="89177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𝑠𝑖𝑔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 ≠ 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B9CE0B42-BF09-44DF-AB1E-2E0C6C3C4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4347" y="4614268"/>
                  <a:ext cx="891773" cy="307777"/>
                </a:xfrm>
                <a:prstGeom prst="rect">
                  <a:avLst/>
                </a:prstGeom>
                <a:blipFill>
                  <a:blip r:embed="rId11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B189A3C-2CEF-46B6-8713-7D80C7AAEED8}"/>
                    </a:ext>
                  </a:extLst>
                </p:cNvPr>
                <p:cNvSpPr txBox="1"/>
                <p:nvPr/>
              </p:nvSpPr>
              <p:spPr>
                <a:xfrm>
                  <a:off x="305729" y="4598677"/>
                  <a:ext cx="817288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𝑠𝑖𝑔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B189A3C-2CEF-46B6-8713-7D80C7AAEE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29" y="4598677"/>
                  <a:ext cx="817288" cy="307777"/>
                </a:xfrm>
                <a:prstGeom prst="rect">
                  <a:avLst/>
                </a:prstGeom>
                <a:blipFill>
                  <a:blip r:embed="rId12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3FB05F5B-2D64-4210-BF1C-6C3A0D72CA46}"/>
                    </a:ext>
                  </a:extLst>
                </p:cNvPr>
                <p:cNvSpPr txBox="1"/>
                <p:nvPr/>
              </p:nvSpPr>
              <p:spPr>
                <a:xfrm>
                  <a:off x="1653055" y="2619424"/>
                  <a:ext cx="1414355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𝑒𝑥𝑝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=00000000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3FB05F5B-2D64-4210-BF1C-6C3A0D72CA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3055" y="2619424"/>
                  <a:ext cx="1414355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C5622717-99F7-4E55-A491-7692D162C595}"/>
                    </a:ext>
                  </a:extLst>
                </p:cNvPr>
                <p:cNvSpPr txBox="1"/>
                <p:nvPr/>
              </p:nvSpPr>
              <p:spPr>
                <a:xfrm>
                  <a:off x="6112826" y="2619424"/>
                  <a:ext cx="1382028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𝑒𝑥𝑝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=11111111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C5622717-99F7-4E55-A491-7692D162C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2826" y="2619424"/>
                  <a:ext cx="1382028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2EA7731-80CE-4338-AA17-574DBA335347}"/>
                </a:ext>
              </a:extLst>
            </p:cNvPr>
            <p:cNvCxnSpPr>
              <a:endCxn id="135" idx="0"/>
            </p:cNvCxnSpPr>
            <p:nvPr/>
          </p:nvCxnSpPr>
          <p:spPr>
            <a:xfrm>
              <a:off x="4592592" y="1417638"/>
              <a:ext cx="1" cy="2941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A6491FE-B645-4EC0-A79D-8B67065F8AB5}"/>
                    </a:ext>
                  </a:extLst>
                </p:cNvPr>
                <p:cNvSpPr txBox="1"/>
                <p:nvPr/>
              </p:nvSpPr>
              <p:spPr>
                <a:xfrm>
                  <a:off x="3545121" y="3042707"/>
                  <a:ext cx="2155190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00000001≤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𝑒𝑥𝑝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200" dirty="0"/>
                    <a:t> 11111110</a:t>
                  </a: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A6491FE-B645-4EC0-A79D-8B67065F8A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5121" y="3042707"/>
                  <a:ext cx="2155190" cy="276999"/>
                </a:xfrm>
                <a:prstGeom prst="rect">
                  <a:avLst/>
                </a:prstGeom>
                <a:blipFill>
                  <a:blip r:embed="rId15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4344D0C1-124F-415F-A6BA-3A1160436874}"/>
                    </a:ext>
                  </a:extLst>
                </p:cNvPr>
                <p:cNvSpPr/>
                <p:nvPr/>
              </p:nvSpPr>
              <p:spPr>
                <a:xfrm>
                  <a:off x="3596960" y="4291366"/>
                  <a:ext cx="1999816" cy="515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Add hidden bit:</a:t>
                  </a: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𝑠𝑖𝑔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←1.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𝑠𝑖𝑔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4344D0C1-124F-415F-A6BA-3A11604368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6960" y="4291366"/>
                  <a:ext cx="1999816" cy="51567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24E982C-01E7-467C-B37F-770F54621650}"/>
                </a:ext>
              </a:extLst>
            </p:cNvPr>
            <p:cNvCxnSpPr>
              <a:stCxn id="159" idx="2"/>
              <a:endCxn id="41" idx="0"/>
            </p:cNvCxnSpPr>
            <p:nvPr/>
          </p:nvCxnSpPr>
          <p:spPr>
            <a:xfrm>
              <a:off x="4592592" y="3988714"/>
              <a:ext cx="4276" cy="30265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DD0D3CA-B2AA-426E-A3AA-0AEDD34AA74F}"/>
                </a:ext>
              </a:extLst>
            </p:cNvPr>
            <p:cNvCxnSpPr>
              <a:stCxn id="41" idx="2"/>
              <a:endCxn id="76" idx="0"/>
            </p:cNvCxnSpPr>
            <p:nvPr/>
          </p:nvCxnSpPr>
          <p:spPr>
            <a:xfrm>
              <a:off x="4596868" y="4807038"/>
              <a:ext cx="8053" cy="44919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41494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FE3DD-8C50-4538-9226-AF27CB18B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230" y="753887"/>
            <a:ext cx="5148728" cy="707280"/>
          </a:xfrm>
        </p:spPr>
        <p:txBody>
          <a:bodyPr/>
          <a:lstStyle/>
          <a:p>
            <a:r>
              <a:rPr lang="en-US" dirty="0"/>
              <a:t>Arithmetic Processing</a:t>
            </a:r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4A3BFA36-DEE9-44D8-A6C6-C2EEE7D61795}"/>
              </a:ext>
            </a:extLst>
          </p:cNvPr>
          <p:cNvGrpSpPr/>
          <p:nvPr/>
        </p:nvGrpSpPr>
        <p:grpSpPr>
          <a:xfrm>
            <a:off x="2396369" y="1509624"/>
            <a:ext cx="7278493" cy="4460161"/>
            <a:chOff x="890773" y="1155940"/>
            <a:chExt cx="7278493" cy="4460161"/>
          </a:xfrm>
        </p:grpSpPr>
        <p:sp>
          <p:nvSpPr>
            <p:cNvPr id="4" name="Flowchart: Decision 3">
              <a:extLst>
                <a:ext uri="{FF2B5EF4-FFF2-40B4-BE49-F238E27FC236}">
                  <a16:creationId xmlns:a16="http://schemas.microsoft.com/office/drawing/2014/main" id="{7992520F-CC2C-489F-9F27-5B1D6E36E3A1}"/>
                </a:ext>
              </a:extLst>
            </p:cNvPr>
            <p:cNvSpPr/>
            <p:nvPr/>
          </p:nvSpPr>
          <p:spPr>
            <a:xfrm>
              <a:off x="1122304" y="1568321"/>
              <a:ext cx="1696146" cy="1225296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03EA4D0-2B15-486B-BB46-B4AB1D546737}"/>
                </a:ext>
              </a:extLst>
            </p:cNvPr>
            <p:cNvSpPr/>
            <p:nvPr/>
          </p:nvSpPr>
          <p:spPr>
            <a:xfrm>
              <a:off x="1390731" y="2007382"/>
              <a:ext cx="115929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special case</a:t>
              </a:r>
              <a:r>
                <a:rPr lang="en-US" sz="1400" dirty="0"/>
                <a:t>?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DD4870A-EFB8-4E46-B131-AABA8CAE28B6}"/>
                </a:ext>
              </a:extLst>
            </p:cNvPr>
            <p:cNvSpPr/>
            <p:nvPr/>
          </p:nvSpPr>
          <p:spPr>
            <a:xfrm>
              <a:off x="978486" y="3843594"/>
              <a:ext cx="1966822" cy="54142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6EC9091-AD40-47B0-81F5-D17CDDAE631F}"/>
                    </a:ext>
                  </a:extLst>
                </p:cNvPr>
                <p:cNvSpPr txBox="1"/>
                <p:nvPr/>
              </p:nvSpPr>
              <p:spPr>
                <a:xfrm>
                  <a:off x="890773" y="3953476"/>
                  <a:ext cx="215920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𝑟𝑒𝑠𝑢𝑙𝑡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𝑡𝑎𝑏𝑙𝑒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𝑙𝑜𝑜𝑘𝑢𝑝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6EC9091-AD40-47B0-81F5-D17CDDAE6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773" y="3953476"/>
                  <a:ext cx="2159207" cy="307777"/>
                </a:xfrm>
                <a:prstGeom prst="rect">
                  <a:avLst/>
                </a:prstGeom>
                <a:blipFill>
                  <a:blip r:embed="rId2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DC45E30-C509-49E6-85AE-E039FC079356}"/>
                </a:ext>
              </a:extLst>
            </p:cNvPr>
            <p:cNvCxnSpPr>
              <a:cxnSpLocks/>
              <a:stCxn id="4" idx="2"/>
              <a:endCxn id="6" idx="0"/>
            </p:cNvCxnSpPr>
            <p:nvPr/>
          </p:nvCxnSpPr>
          <p:spPr>
            <a:xfrm flipH="1">
              <a:off x="1961897" y="2793617"/>
              <a:ext cx="8480" cy="104997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3FB2672-9C76-49CD-9B76-20BFE01ADEC4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>
              <a:off x="1970377" y="1155940"/>
              <a:ext cx="0" cy="41238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FF73C2D-DEEE-4E62-BCE7-1836B45A36AA}"/>
                    </a:ext>
                  </a:extLst>
                </p:cNvPr>
                <p:cNvSpPr txBox="1"/>
                <p:nvPr/>
              </p:nvSpPr>
              <p:spPr>
                <a:xfrm>
                  <a:off x="1410705" y="2725068"/>
                  <a:ext cx="51368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𝑦𝑒𝑠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FF73C2D-DEEE-4E62-BCE7-1836B45A36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0705" y="2725068"/>
                  <a:ext cx="513682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9B29651-0A6B-40C3-B746-C8261B3D09BC}"/>
                </a:ext>
              </a:extLst>
            </p:cNvPr>
            <p:cNvSpPr/>
            <p:nvPr/>
          </p:nvSpPr>
          <p:spPr>
            <a:xfrm>
              <a:off x="3340670" y="1908106"/>
              <a:ext cx="2130248" cy="529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3C751A5-8806-479D-AEA1-FC3CA7AC97FB}"/>
                    </a:ext>
                  </a:extLst>
                </p:cNvPr>
                <p:cNvSpPr txBox="1"/>
                <p:nvPr/>
              </p:nvSpPr>
              <p:spPr>
                <a:xfrm>
                  <a:off x="3540434" y="1926177"/>
                  <a:ext cx="180291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𝑒𝑥𝑡𝑟𝑎𝑐𝑡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𝑠𝑖𝑔𝑛𝑠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𝑒𝑥𝑝𝑜𝑛𝑒𝑛𝑡𝑠</m:t>
                        </m:r>
                      </m:oMath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&amp;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𝑠𝑖𝑔𝑛𝑖𝑓𝑖𝑐𝑎𝑛𝑑𝑠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3C751A5-8806-479D-AEA1-FC3CA7AC97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0434" y="1926177"/>
                  <a:ext cx="1802918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8784" r="-6757" b="-3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7EC86C7-1A0A-4D27-82D3-A5D0FA33860B}"/>
                </a:ext>
              </a:extLst>
            </p:cNvPr>
            <p:cNvSpPr/>
            <p:nvPr/>
          </p:nvSpPr>
          <p:spPr>
            <a:xfrm>
              <a:off x="5971650" y="1908106"/>
              <a:ext cx="2197616" cy="529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3910113-FB70-4840-A993-92C259047C2E}"/>
                    </a:ext>
                  </a:extLst>
                </p:cNvPr>
                <p:cNvSpPr txBox="1"/>
                <p:nvPr/>
              </p:nvSpPr>
              <p:spPr>
                <a:xfrm>
                  <a:off x="6301429" y="2000528"/>
                  <a:ext cx="130356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𝑝𝑟𝑒𝑎𝑙𝑖𝑔𝑛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𝑜𝑝𝑒𝑟𝑎𝑛𝑑𝑠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3910113-FB70-4840-A993-92C259047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1429" y="2000528"/>
                  <a:ext cx="1303560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14953" r="-11215"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8E87DCC-5754-47A5-BF70-C3778231CF35}"/>
                </a:ext>
              </a:extLst>
            </p:cNvPr>
            <p:cNvSpPr/>
            <p:nvPr/>
          </p:nvSpPr>
          <p:spPr>
            <a:xfrm>
              <a:off x="3340670" y="2873914"/>
              <a:ext cx="2130248" cy="529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9745387-8F44-4EFF-A135-5CB4F283A551}"/>
                    </a:ext>
                  </a:extLst>
                </p:cNvPr>
                <p:cNvSpPr txBox="1"/>
                <p:nvPr/>
              </p:nvSpPr>
              <p:spPr>
                <a:xfrm>
                  <a:off x="3311711" y="2962978"/>
                  <a:ext cx="2159207" cy="3078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𝑝𝑒𝑟𝑓𝑜𝑟𝑚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𝑎𝑟𝑖𝑡ℎ𝑚𝑒𝑡𝑖𝑐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br>
                    <a:rPr lang="en-US" sz="1400" i="1" dirty="0">
                      <a:latin typeface="Cambria Math" panose="02040503050406030204" pitchFamily="18" charset="0"/>
                    </a:rPr>
                  </a:br>
                  <a:endParaRPr lang="en-US" sz="14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9745387-8F44-4EFF-A135-5CB4F283A5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1711" y="2962978"/>
                  <a:ext cx="2159207" cy="307841"/>
                </a:xfrm>
                <a:prstGeom prst="rect">
                  <a:avLst/>
                </a:prstGeom>
                <a:blipFill>
                  <a:blip r:embed="rId6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53E1240-F7CB-4407-A585-1B198F4A3D5B}"/>
                </a:ext>
              </a:extLst>
            </p:cNvPr>
            <p:cNvSpPr/>
            <p:nvPr/>
          </p:nvSpPr>
          <p:spPr>
            <a:xfrm>
              <a:off x="5971650" y="3855809"/>
              <a:ext cx="2197616" cy="529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13527A4-0653-4FEF-9651-D8BD5B617395}"/>
                </a:ext>
              </a:extLst>
            </p:cNvPr>
            <p:cNvSpPr/>
            <p:nvPr/>
          </p:nvSpPr>
          <p:spPr>
            <a:xfrm>
              <a:off x="5971650" y="4853829"/>
              <a:ext cx="2197616" cy="529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9815274-C29E-458B-8538-EC5A432DFFF4}"/>
                    </a:ext>
                  </a:extLst>
                </p:cNvPr>
                <p:cNvSpPr txBox="1"/>
                <p:nvPr/>
              </p:nvSpPr>
              <p:spPr>
                <a:xfrm>
                  <a:off x="6347978" y="4864703"/>
                  <a:ext cx="158646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𝑐ℎ𝑒𝑐𝑘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𝑓𝑜𝑟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𝑜𝑣𝑒𝑟𝑓𝑙𝑜𝑤</m:t>
                        </m:r>
                      </m:oMath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&amp;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𝑢𝑛𝑑𝑒𝑟𝑓𝑙𝑜𝑤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9815274-C29E-458B-8538-EC5A432DFF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7978" y="4864703"/>
                  <a:ext cx="1586460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4598" r="-2299" b="-3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D836068-C016-467B-BF2F-3055B8228ED3}"/>
                </a:ext>
              </a:extLst>
            </p:cNvPr>
            <p:cNvSpPr/>
            <p:nvPr/>
          </p:nvSpPr>
          <p:spPr>
            <a:xfrm>
              <a:off x="3351063" y="4861710"/>
              <a:ext cx="2130248" cy="529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937517D-B334-4A50-B502-2AF9D6949509}"/>
                    </a:ext>
                  </a:extLst>
                </p:cNvPr>
                <p:cNvSpPr txBox="1"/>
                <p:nvPr/>
              </p:nvSpPr>
              <p:spPr>
                <a:xfrm>
                  <a:off x="3576943" y="4853044"/>
                  <a:ext cx="180291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𝑎𝑠𝑠𝑒𝑚𝑏𝑙𝑒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𝑟𝑒𝑠𝑢𝑙</m:t>
                        </m:r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𝑠𝑖𝑔𝑛</m:t>
                        </m:r>
                      </m:oMath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𝑒𝑥𝑝𝑜𝑛𝑒𝑛𝑡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&amp;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𝑠𝑖𝑔𝑛𝑖𝑓𝑖𝑐𝑎𝑛𝑑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937517D-B334-4A50-B502-2AF9D69495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6943" y="4853044"/>
                  <a:ext cx="1802918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8108" r="-5068" b="-3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B607E01-5F19-469C-835B-CE65D36806FF}"/>
                </a:ext>
              </a:extLst>
            </p:cNvPr>
            <p:cNvSpPr/>
            <p:nvPr/>
          </p:nvSpPr>
          <p:spPr>
            <a:xfrm>
              <a:off x="5971650" y="2870920"/>
              <a:ext cx="2197616" cy="529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3EDC03B-9DD4-41D1-9ED0-B5EE5398681B}"/>
                    </a:ext>
                  </a:extLst>
                </p:cNvPr>
                <p:cNvSpPr txBox="1"/>
                <p:nvPr/>
              </p:nvSpPr>
              <p:spPr>
                <a:xfrm>
                  <a:off x="6129065" y="2876907"/>
                  <a:ext cx="188278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𝑎𝑑𝑑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𝑔𝑢𝑎𝑟𝑑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𝑟𝑜𝑢𝑛𝑑𝑖𝑛𝑔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𝑠𝑡𝑖𝑐𝑘𝑦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𝑏𝑖𝑡𝑠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3EDC03B-9DD4-41D1-9ED0-B5EE53986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9065" y="2876907"/>
                  <a:ext cx="1882785" cy="523220"/>
                </a:xfrm>
                <a:prstGeom prst="rect">
                  <a:avLst/>
                </a:prstGeom>
                <a:blipFill>
                  <a:blip r:embed="rId9"/>
                  <a:stretch>
                    <a:fillRect b="-3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2597B8D-69B4-46D2-8776-CE78F34BE905}"/>
                </a:ext>
              </a:extLst>
            </p:cNvPr>
            <p:cNvCxnSpPr>
              <a:cxnSpLocks/>
              <a:stCxn id="32" idx="3"/>
              <a:endCxn id="34" idx="1"/>
            </p:cNvCxnSpPr>
            <p:nvPr/>
          </p:nvCxnSpPr>
          <p:spPr>
            <a:xfrm>
              <a:off x="5470918" y="2172710"/>
              <a:ext cx="500732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703C704-1A4F-4720-A843-ABAB690C3E7B}"/>
                </a:ext>
              </a:extLst>
            </p:cNvPr>
            <p:cNvCxnSpPr>
              <a:cxnSpLocks/>
              <a:stCxn id="40" idx="2"/>
              <a:endCxn id="43" idx="0"/>
            </p:cNvCxnSpPr>
            <p:nvPr/>
          </p:nvCxnSpPr>
          <p:spPr>
            <a:xfrm>
              <a:off x="7070458" y="4385016"/>
              <a:ext cx="0" cy="46881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FA09AB2-B91C-4003-9ED9-D564A17BEF42}"/>
                </a:ext>
              </a:extLst>
            </p:cNvPr>
            <p:cNvCxnSpPr>
              <a:cxnSpLocks/>
              <a:stCxn id="49" idx="1"/>
              <a:endCxn id="37" idx="3"/>
            </p:cNvCxnSpPr>
            <p:nvPr/>
          </p:nvCxnSpPr>
          <p:spPr>
            <a:xfrm flipH="1">
              <a:off x="5470918" y="3135524"/>
              <a:ext cx="500732" cy="299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BF5AE167-58C3-4B9E-8D9A-E692038D60E9}"/>
                </a:ext>
              </a:extLst>
            </p:cNvPr>
            <p:cNvCxnSpPr>
              <a:cxnSpLocks/>
              <a:stCxn id="43" idx="1"/>
              <a:endCxn id="47" idx="3"/>
            </p:cNvCxnSpPr>
            <p:nvPr/>
          </p:nvCxnSpPr>
          <p:spPr>
            <a:xfrm flipH="1">
              <a:off x="5481311" y="5118433"/>
              <a:ext cx="490339" cy="788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8D0A55CD-9907-4E95-92C3-4CB041C08040}"/>
                </a:ext>
              </a:extLst>
            </p:cNvPr>
            <p:cNvCxnSpPr>
              <a:cxnSpLocks/>
              <a:stCxn id="47" idx="1"/>
            </p:cNvCxnSpPr>
            <p:nvPr/>
          </p:nvCxnSpPr>
          <p:spPr>
            <a:xfrm flipH="1">
              <a:off x="1970376" y="5126314"/>
              <a:ext cx="1380687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CB286B5D-A0E5-44C4-971D-DB6109818DCF}"/>
                </a:ext>
              </a:extLst>
            </p:cNvPr>
            <p:cNvCxnSpPr>
              <a:cxnSpLocks/>
              <a:stCxn id="4" idx="3"/>
              <a:endCxn id="32" idx="1"/>
            </p:cNvCxnSpPr>
            <p:nvPr/>
          </p:nvCxnSpPr>
          <p:spPr>
            <a:xfrm flipV="1">
              <a:off x="2818450" y="2172710"/>
              <a:ext cx="522220" cy="825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F398768-1AC3-428B-A74E-AA81D398867F}"/>
                </a:ext>
              </a:extLst>
            </p:cNvPr>
            <p:cNvCxnSpPr>
              <a:cxnSpLocks/>
              <a:stCxn id="34" idx="2"/>
              <a:endCxn id="49" idx="0"/>
            </p:cNvCxnSpPr>
            <p:nvPr/>
          </p:nvCxnSpPr>
          <p:spPr>
            <a:xfrm>
              <a:off x="7070458" y="2437313"/>
              <a:ext cx="0" cy="43360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E028FFBC-D7EA-49A0-8FCB-EF146A6DADF2}"/>
                </a:ext>
              </a:extLst>
            </p:cNvPr>
            <p:cNvCxnSpPr>
              <a:cxnSpLocks/>
              <a:stCxn id="37" idx="2"/>
              <a:endCxn id="143" idx="0"/>
            </p:cNvCxnSpPr>
            <p:nvPr/>
          </p:nvCxnSpPr>
          <p:spPr>
            <a:xfrm>
              <a:off x="4405794" y="3403121"/>
              <a:ext cx="1069" cy="4526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F3242750-4C8A-4DED-BBFD-8DEA1E254357}"/>
                </a:ext>
              </a:extLst>
            </p:cNvPr>
            <p:cNvSpPr/>
            <p:nvPr/>
          </p:nvSpPr>
          <p:spPr>
            <a:xfrm>
              <a:off x="3342807" y="3855809"/>
              <a:ext cx="2128111" cy="529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BCD223B3-6773-422B-8718-F012BC22156C}"/>
                    </a:ext>
                  </a:extLst>
                </p:cNvPr>
                <p:cNvSpPr txBox="1"/>
                <p:nvPr/>
              </p:nvSpPr>
              <p:spPr>
                <a:xfrm>
                  <a:off x="4024463" y="3953475"/>
                  <a:ext cx="90787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𝑛𝑜𝑟𝑚𝑎𝑙𝑖𝑧𝑒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𝑟𝑒𝑠𝑢𝑙𝑡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BCD223B3-6773-422B-8718-F012BC221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4463" y="3953475"/>
                  <a:ext cx="907877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32886" r="-281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9CC76E97-2834-493E-BE69-B00781E7AB0A}"/>
                </a:ext>
              </a:extLst>
            </p:cNvPr>
            <p:cNvCxnSpPr>
              <a:cxnSpLocks/>
              <a:stCxn id="143" idx="3"/>
              <a:endCxn id="40" idx="1"/>
            </p:cNvCxnSpPr>
            <p:nvPr/>
          </p:nvCxnSpPr>
          <p:spPr>
            <a:xfrm>
              <a:off x="5470918" y="4120413"/>
              <a:ext cx="5007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5C79697-7679-4C97-BB35-8076EA8D486D}"/>
                    </a:ext>
                  </a:extLst>
                </p:cNvPr>
                <p:cNvSpPr txBox="1"/>
                <p:nvPr/>
              </p:nvSpPr>
              <p:spPr>
                <a:xfrm>
                  <a:off x="6179209" y="3848339"/>
                  <a:ext cx="178249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𝑎𝑝𝑝𝑙𝑦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𝑟𝑜𝑢𝑛𝑑𝑖𝑛𝑔</m:t>
                      </m:r>
                    </m:oMath>
                  </a14:m>
                  <a:r>
                    <a:rPr lang="en-US" sz="1400" dirty="0"/>
                    <a:t> &amp; post-normalization</a:t>
                  </a: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5C79697-7679-4C97-BB35-8076EA8D48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9209" y="3848339"/>
                  <a:ext cx="1782496" cy="523220"/>
                </a:xfrm>
                <a:prstGeom prst="rect">
                  <a:avLst/>
                </a:prstGeom>
                <a:blipFill>
                  <a:blip r:embed="rId11"/>
                  <a:stretch>
                    <a:fillRect t="-1163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DF77B214-F3AB-4E18-9A76-1FABC402C64B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1961897" y="4385016"/>
              <a:ext cx="8479" cy="123108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5952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DA8F7-DB18-4669-9A30-5CE5532A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05" y="753203"/>
            <a:ext cx="7429442" cy="770798"/>
          </a:xfrm>
        </p:spPr>
        <p:txBody>
          <a:bodyPr/>
          <a:lstStyle/>
          <a:p>
            <a:r>
              <a:rPr lang="en-US" dirty="0"/>
              <a:t>Special Case Handling: Addition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237E9BD-3BEF-4487-AF24-3B7C4510439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48000" y="2009475"/>
              <a:ext cx="609600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212580586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5407564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48319108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8686231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196690364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32873543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939027939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098279556"/>
                        </a:ext>
                      </a:extLst>
                    </a:gridCol>
                  </a:tblGrid>
                  <a:tr h="370840">
                    <a:tc rowSpan="2"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153921"/>
                      </a:ext>
                    </a:extLst>
                  </a:tr>
                  <a:tr h="37084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2361392"/>
                      </a:ext>
                    </a:extLst>
                  </a:tr>
                  <a:tr h="370840">
                    <a:tc rowSpan="6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0086186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112529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962760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33265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043287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30691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237E9BD-3BEF-4487-AF24-3B7C4510439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048000" y="2009475"/>
              <a:ext cx="609600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212580586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5407564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48319108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8686231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196690364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32873543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939027939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098279556"/>
                        </a:ext>
                      </a:extLst>
                    </a:gridCol>
                  </a:tblGrid>
                  <a:tr h="370840">
                    <a:tc rowSpan="2"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0" t="-820" r="-302000" b="-303279"/>
                          </a:stretch>
                        </a:blip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3600" t="-1639" r="-667" b="-70655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153921"/>
                      </a:ext>
                    </a:extLst>
                  </a:tr>
                  <a:tr h="37084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101639" r="-5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101639" r="-4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101639" r="-3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101639" r="-2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101639" r="-1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101639" r="-4000" b="-6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2361392"/>
                      </a:ext>
                    </a:extLst>
                  </a:tr>
                  <a:tr h="370840"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0" t="-33607" r="-704000" b="-1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201639" r="-6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201639" r="-5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201639" r="-4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201639" r="-3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201639" r="-2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201639" r="-1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201639" r="-4000" b="-5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0086186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301639" r="-6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301639" r="-5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301639" r="-4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301639" r="-3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301639" r="-2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301639" r="-1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301639" r="-4000" b="-4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112529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401639" r="-6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401639" r="-5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401639" r="-4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401639" r="-3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401639" r="-2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401639" r="-1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401639" r="-4000" b="-3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962760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501639" r="-6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501639" r="-5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501639" r="-4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501639" r="-3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501639" r="-2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501639" r="-1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501639" r="-4000" b="-2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33265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601639" r="-6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601639" r="-5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601639" r="-4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601639" r="-3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601639" r="-2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601639" r="-1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601639" r="-4000" b="-1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043287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701639" r="-6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701639" r="-5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701639" r="-4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701639" r="-3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701639" r="-2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701639" r="-1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701639" r="-4000" b="-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30691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07EC53E-D74E-443F-B0C7-6108F616E345}"/>
              </a:ext>
            </a:extLst>
          </p:cNvPr>
          <p:cNvSpPr txBox="1"/>
          <p:nvPr/>
        </p:nvSpPr>
        <p:spPr>
          <a:xfrm>
            <a:off x="3378680" y="5568033"/>
            <a:ext cx="5598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69913" indent="-569913">
              <a:tabLst>
                <a:tab pos="569913" algn="l"/>
              </a:tabLst>
            </a:pPr>
            <a:r>
              <a:rPr lang="fr-FR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	S. K. Raina, "FLIP: A </a:t>
            </a:r>
            <a:r>
              <a:rPr lang="fr-FR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Floating</a:t>
            </a:r>
            <a:r>
              <a:rPr lang="fr-FR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-Point Library for Integer Processors", Laboratoire de l'Informatique du Parallélisme, Sept. 12, 2006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214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DA8F7-DB18-4669-9A30-5CE5532A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27" y="737161"/>
            <a:ext cx="8327799" cy="754756"/>
          </a:xfrm>
        </p:spPr>
        <p:txBody>
          <a:bodyPr>
            <a:normAutofit/>
          </a:bodyPr>
          <a:lstStyle/>
          <a:p>
            <a:r>
              <a:rPr lang="en-US" dirty="0"/>
              <a:t>Special Case Handling: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237E9BD-3BEF-4487-AF24-3B7C4510439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48000" y="2009475"/>
              <a:ext cx="609600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212580586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5407564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48319108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8686231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196690364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32873543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939027939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098279556"/>
                        </a:ext>
                      </a:extLst>
                    </a:gridCol>
                  </a:tblGrid>
                  <a:tr h="370840">
                    <a:tc rowSpan="2"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153921"/>
                      </a:ext>
                    </a:extLst>
                  </a:tr>
                  <a:tr h="37084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2361392"/>
                      </a:ext>
                    </a:extLst>
                  </a:tr>
                  <a:tr h="370840">
                    <a:tc rowSpan="6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0086186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112529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962760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33265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043287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30691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237E9BD-3BEF-4487-AF24-3B7C4510439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048000" y="2009475"/>
              <a:ext cx="609600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212580586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5407564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48319108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8686231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196690364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32873543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939027939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098279556"/>
                        </a:ext>
                      </a:extLst>
                    </a:gridCol>
                  </a:tblGrid>
                  <a:tr h="370840">
                    <a:tc rowSpan="2"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0" t="-820" r="-302000" b="-303279"/>
                          </a:stretch>
                        </a:blip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3600" t="-1639" r="-667" b="-70655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153921"/>
                      </a:ext>
                    </a:extLst>
                  </a:tr>
                  <a:tr h="37084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101639" r="-5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101639" r="-4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101639" r="-3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101639" r="-2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101639" r="-1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101639" r="-4000" b="-6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2361392"/>
                      </a:ext>
                    </a:extLst>
                  </a:tr>
                  <a:tr h="370840"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0" t="-33607" r="-704000" b="-1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201639" r="-6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201639" r="-5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201639" r="-4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201639" r="-3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201639" r="-2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201639" r="-1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201639" r="-4000" b="-5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0086186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301639" r="-6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301639" r="-5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301639" r="-4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301639" r="-3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301639" r="-2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301639" r="-1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301639" r="-4000" b="-4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112529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401639" r="-6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401639" r="-5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401639" r="-4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401639" r="-3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401639" r="-2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401639" r="-1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401639" r="-4000" b="-3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962760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501639" r="-6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501639" r="-5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501639" r="-4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501639" r="-3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501639" r="-2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501639" r="-1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501639" r="-4000" b="-2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33265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601639" r="-6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601639" r="-5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601639" r="-4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601639" r="-3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601639" r="-2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601639" r="-1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601639" r="-4000" b="-1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043287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701639" r="-6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701639" r="-5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701639" r="-4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701639" r="-3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701639" r="-2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701639" r="-1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701639" r="-4000" b="-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30691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8709D7B-6E71-48B0-9D53-9A8F064FD047}"/>
              </a:ext>
            </a:extLst>
          </p:cNvPr>
          <p:cNvSpPr txBox="1"/>
          <p:nvPr/>
        </p:nvSpPr>
        <p:spPr>
          <a:xfrm>
            <a:off x="3378680" y="5568033"/>
            <a:ext cx="5598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69913" indent="-569913">
              <a:tabLst>
                <a:tab pos="569913" algn="l"/>
              </a:tabLst>
            </a:pPr>
            <a:r>
              <a:rPr lang="fr-FR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	S. K. Raina, "FLIP: A </a:t>
            </a:r>
            <a:r>
              <a:rPr lang="fr-FR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Floating</a:t>
            </a:r>
            <a:r>
              <a:rPr lang="fr-FR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-Point Library for Integer Processors", Laboratoire de l'Informatique du Parallélisme, Sept. 12, 2006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960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DA8F7-DB18-4669-9A30-5CE5532A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06" y="757212"/>
            <a:ext cx="7297094" cy="710641"/>
          </a:xfrm>
        </p:spPr>
        <p:txBody>
          <a:bodyPr/>
          <a:lstStyle/>
          <a:p>
            <a:r>
              <a:rPr lang="en-US" dirty="0"/>
              <a:t>Special Case Handling: 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237E9BD-3BEF-4487-AF24-3B7C4510439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48000" y="2009475"/>
              <a:ext cx="609600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212580586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5407564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48319108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8686231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196690364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32873543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939027939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098279556"/>
                        </a:ext>
                      </a:extLst>
                    </a:gridCol>
                  </a:tblGrid>
                  <a:tr h="370840">
                    <a:tc rowSpan="2"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153921"/>
                      </a:ext>
                    </a:extLst>
                  </a:tr>
                  <a:tr h="37084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2361392"/>
                      </a:ext>
                    </a:extLst>
                  </a:tr>
                  <a:tr h="370840">
                    <a:tc rowSpan="6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0086186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112529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962760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33265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043287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30691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237E9BD-3BEF-4487-AF24-3B7C4510439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048000" y="2009475"/>
              <a:ext cx="609600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212580586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5407564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48319108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8686231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196690364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32873543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939027939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098279556"/>
                        </a:ext>
                      </a:extLst>
                    </a:gridCol>
                  </a:tblGrid>
                  <a:tr h="370840">
                    <a:tc rowSpan="2"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0" t="-820" r="-302000" b="-303279"/>
                          </a:stretch>
                        </a:blip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3600" t="-1639" r="-667" b="-70655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153921"/>
                      </a:ext>
                    </a:extLst>
                  </a:tr>
                  <a:tr h="37084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101639" r="-5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101639" r="-4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101639" r="-3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101639" r="-2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101639" r="-1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101639" r="-4000" b="-6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2361392"/>
                      </a:ext>
                    </a:extLst>
                  </a:tr>
                  <a:tr h="370840"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0" t="-33607" r="-704000" b="-1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201639" r="-6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201639" r="-5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201639" r="-4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201639" r="-3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201639" r="-2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201639" r="-1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201639" r="-4000" b="-5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0086186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301639" r="-6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301639" r="-5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301639" r="-4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301639" r="-3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301639" r="-2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301639" r="-1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301639" r="-4000" b="-4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112529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401639" r="-6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401639" r="-5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401639" r="-4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401639" r="-3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401639" r="-2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401639" r="-1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401639" r="-4000" b="-3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962760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501639" r="-6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501639" r="-5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501639" r="-4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501639" r="-3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501639" r="-2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501639" r="-1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501639" r="-4000" b="-2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33265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601639" r="-6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601639" r="-5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601639" r="-4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601639" r="-3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601639" r="-2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601639" r="-1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601639" r="-4000" b="-1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043287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701639" r="-6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701639" r="-5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701639" r="-4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701639" r="-3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701639" r="-2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701639" r="-1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701639" r="-4000" b="-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30691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C09DBF5-C946-4BC6-892A-D44C225A54AF}"/>
              </a:ext>
            </a:extLst>
          </p:cNvPr>
          <p:cNvSpPr txBox="1"/>
          <p:nvPr/>
        </p:nvSpPr>
        <p:spPr>
          <a:xfrm>
            <a:off x="3378680" y="5568033"/>
            <a:ext cx="5598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69913" indent="-569913">
              <a:tabLst>
                <a:tab pos="569913" algn="l"/>
              </a:tabLst>
            </a:pPr>
            <a:r>
              <a:rPr lang="fr-FR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	S. K. Raina, "FLIP: A </a:t>
            </a:r>
            <a:r>
              <a:rPr lang="fr-FR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Floating</a:t>
            </a:r>
            <a:r>
              <a:rPr lang="fr-FR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-Point Library for Integer Processors", Laboratoire de l'Informatique du Parallélisme, Sept. 12, 2006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612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DDC22-D729-4302-B7AF-E73F10616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060" y="748945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Special Case Handling</a:t>
            </a:r>
            <a:br>
              <a:rPr lang="en-US" dirty="0"/>
            </a:br>
            <a:r>
              <a:rPr lang="en-US" i="1" dirty="0"/>
              <a:t>Determining Lookup Table Index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909AC05-B592-448D-8F09-9D486A412E5B}"/>
              </a:ext>
            </a:extLst>
          </p:cNvPr>
          <p:cNvGrpSpPr/>
          <p:nvPr/>
        </p:nvGrpSpPr>
        <p:grpSpPr>
          <a:xfrm>
            <a:off x="1830387" y="1827019"/>
            <a:ext cx="8668119" cy="4850131"/>
            <a:chOff x="285086" y="1733228"/>
            <a:chExt cx="8668119" cy="4850131"/>
          </a:xfrm>
        </p:grpSpPr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B524441C-548C-48A4-BA6D-2872683D881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636786" y="3825361"/>
              <a:ext cx="3853472" cy="1662523"/>
            </a:xfrm>
            <a:prstGeom prst="bentConnector3">
              <a:avLst>
                <a:gd name="adj1" fmla="val 527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51A2A923-D86D-4B3C-BD19-FEADF1EDD732}"/>
                </a:ext>
              </a:extLst>
            </p:cNvPr>
            <p:cNvCxnSpPr>
              <a:cxnSpLocks/>
              <a:stCxn id="57" idx="2"/>
            </p:cNvCxnSpPr>
            <p:nvPr/>
          </p:nvCxnSpPr>
          <p:spPr>
            <a:xfrm>
              <a:off x="5918294" y="4879087"/>
              <a:ext cx="0" cy="132517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E8977CDC-67B9-4EB1-AA73-031B88D32FF4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>
              <a:off x="3309561" y="4877991"/>
              <a:ext cx="24256" cy="132627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296269F-A6FD-4517-99B8-A12D6BA9862F}"/>
                </a:ext>
              </a:extLst>
            </p:cNvPr>
            <p:cNvCxnSpPr>
              <a:cxnSpLocks/>
              <a:stCxn id="8" idx="2"/>
              <a:endCxn id="57" idx="0"/>
            </p:cNvCxnSpPr>
            <p:nvPr/>
          </p:nvCxnSpPr>
          <p:spPr>
            <a:xfrm flipH="1">
              <a:off x="5918294" y="3357839"/>
              <a:ext cx="1241" cy="29595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48F65F4-C26F-485F-8284-C8D44ABF5AF6}"/>
                </a:ext>
              </a:extLst>
            </p:cNvPr>
            <p:cNvCxnSpPr>
              <a:cxnSpLocks/>
              <a:stCxn id="7" idx="2"/>
              <a:endCxn id="56" idx="0"/>
            </p:cNvCxnSpPr>
            <p:nvPr/>
          </p:nvCxnSpPr>
          <p:spPr>
            <a:xfrm>
              <a:off x="3301378" y="3357839"/>
              <a:ext cx="8183" cy="29485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ctor: Elbow 114">
              <a:extLst>
                <a:ext uri="{FF2B5EF4-FFF2-40B4-BE49-F238E27FC236}">
                  <a16:creationId xmlns:a16="http://schemas.microsoft.com/office/drawing/2014/main" id="{0497F06A-FC91-4188-BC25-7931A9273978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rot="16200000" flipH="1">
              <a:off x="3333105" y="1142588"/>
              <a:ext cx="2861732" cy="7261624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or: Elbow 163">
              <a:extLst>
                <a:ext uri="{FF2B5EF4-FFF2-40B4-BE49-F238E27FC236}">
                  <a16:creationId xmlns:a16="http://schemas.microsoft.com/office/drawing/2014/main" id="{6A7E3B3F-FA3C-4C39-9EA0-2CE3D308EB9B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>
              <a:off x="6766367" y="4266439"/>
              <a:ext cx="373675" cy="1937827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or: Elbow 161">
              <a:extLst>
                <a:ext uri="{FF2B5EF4-FFF2-40B4-BE49-F238E27FC236}">
                  <a16:creationId xmlns:a16="http://schemas.microsoft.com/office/drawing/2014/main" id="{33C76B0B-0DA6-485C-9874-60E51094F721}"/>
                </a:ext>
              </a:extLst>
            </p:cNvPr>
            <p:cNvCxnSpPr>
              <a:cxnSpLocks/>
              <a:stCxn id="56" idx="3"/>
            </p:cNvCxnSpPr>
            <p:nvPr/>
          </p:nvCxnSpPr>
          <p:spPr>
            <a:xfrm>
              <a:off x="4157634" y="4265343"/>
              <a:ext cx="452822" cy="1938923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lowchart: Decision 5">
              <a:extLst>
                <a:ext uri="{FF2B5EF4-FFF2-40B4-BE49-F238E27FC236}">
                  <a16:creationId xmlns:a16="http://schemas.microsoft.com/office/drawing/2014/main" id="{B0FE76ED-61B9-4F9F-9433-8DCF6CF2808E}"/>
                </a:ext>
              </a:extLst>
            </p:cNvPr>
            <p:cNvSpPr/>
            <p:nvPr/>
          </p:nvSpPr>
          <p:spPr>
            <a:xfrm>
              <a:off x="285086" y="2117238"/>
              <a:ext cx="1696146" cy="1225296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Flowchart: Decision 6">
              <a:extLst>
                <a:ext uri="{FF2B5EF4-FFF2-40B4-BE49-F238E27FC236}">
                  <a16:creationId xmlns:a16="http://schemas.microsoft.com/office/drawing/2014/main" id="{BAC9E0A8-2B50-415F-A72C-4A3C8B1848D5}"/>
                </a:ext>
              </a:extLst>
            </p:cNvPr>
            <p:cNvSpPr/>
            <p:nvPr/>
          </p:nvSpPr>
          <p:spPr>
            <a:xfrm>
              <a:off x="2453305" y="2132543"/>
              <a:ext cx="1696146" cy="1225296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Flowchart: Decision 7">
              <a:extLst>
                <a:ext uri="{FF2B5EF4-FFF2-40B4-BE49-F238E27FC236}">
                  <a16:creationId xmlns:a16="http://schemas.microsoft.com/office/drawing/2014/main" id="{DF84633D-165A-4511-B83F-86E33CAB1788}"/>
                </a:ext>
              </a:extLst>
            </p:cNvPr>
            <p:cNvSpPr/>
            <p:nvPr/>
          </p:nvSpPr>
          <p:spPr>
            <a:xfrm>
              <a:off x="5071462" y="2132543"/>
              <a:ext cx="1696146" cy="1225296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9590C5-914B-4D3E-8737-E348931A1EB0}"/>
                </a:ext>
              </a:extLst>
            </p:cNvPr>
            <p:cNvSpPr txBox="1"/>
            <p:nvPr/>
          </p:nvSpPr>
          <p:spPr>
            <a:xfrm>
              <a:off x="452775" y="4598798"/>
              <a:ext cx="1354794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 or</a:t>
              </a:r>
              <a:b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subnormal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F10A057-72EB-4D9B-979E-9467DC485444}"/>
                    </a:ext>
                  </a:extLst>
                </p:cNvPr>
                <p:cNvSpPr txBox="1"/>
                <p:nvPr/>
              </p:nvSpPr>
              <p:spPr>
                <a:xfrm>
                  <a:off x="3107607" y="3270394"/>
                  <a:ext cx="9801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±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F10A057-72EB-4D9B-979E-9467DC4854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7607" y="3270394"/>
                  <a:ext cx="980155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3B87EA1-2B10-4590-A3E5-69893A2AE292}"/>
                    </a:ext>
                  </a:extLst>
                </p:cNvPr>
                <p:cNvSpPr txBox="1"/>
                <p:nvPr/>
              </p:nvSpPr>
              <p:spPr>
                <a:xfrm>
                  <a:off x="5671388" y="3245311"/>
                  <a:ext cx="109373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±∞</m:t>
                        </m:r>
                      </m:oMath>
                    </m:oMathPara>
                  </a14:m>
                  <a:endPara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3B87EA1-2B10-4590-A3E5-69893A2AE2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88" y="3245311"/>
                  <a:ext cx="1093737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1EF5A97-39F1-43AD-B929-F6C50687A742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1981232" y="2729886"/>
              <a:ext cx="472073" cy="1530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A4530DB-FDA7-425D-A6E0-E90C84BD1050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4149451" y="2745191"/>
              <a:ext cx="922011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816BE10-C4EB-4659-91D2-55B4004390EC}"/>
                </a:ext>
              </a:extLst>
            </p:cNvPr>
            <p:cNvSpPr txBox="1"/>
            <p:nvPr/>
          </p:nvSpPr>
          <p:spPr>
            <a:xfrm>
              <a:off x="1914960" y="2375859"/>
              <a:ext cx="575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8D6F00F-24D2-43B5-B53F-CD21104746D1}"/>
                </a:ext>
              </a:extLst>
            </p:cNvPr>
            <p:cNvSpPr txBox="1"/>
            <p:nvPr/>
          </p:nvSpPr>
          <p:spPr>
            <a:xfrm>
              <a:off x="4074108" y="2409425"/>
              <a:ext cx="575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Flowchart: Decision 55">
                  <a:extLst>
                    <a:ext uri="{FF2B5EF4-FFF2-40B4-BE49-F238E27FC236}">
                      <a16:creationId xmlns:a16="http://schemas.microsoft.com/office/drawing/2014/main" id="{0B857D4B-AFBB-4B02-BF43-FEFBA2E07874}"/>
                    </a:ext>
                  </a:extLst>
                </p:cNvPr>
                <p:cNvSpPr/>
                <p:nvPr/>
              </p:nvSpPr>
              <p:spPr>
                <a:xfrm>
                  <a:off x="2461488" y="3652695"/>
                  <a:ext cx="1696146" cy="1225296"/>
                </a:xfrm>
                <a:prstGeom prst="flowChartDecision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𝑠𝑖𝑔𝑛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𝑏𝑖𝑡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Flowchart: Decision 55">
                  <a:extLst>
                    <a:ext uri="{FF2B5EF4-FFF2-40B4-BE49-F238E27FC236}">
                      <a16:creationId xmlns:a16="http://schemas.microsoft.com/office/drawing/2014/main" id="{0B857D4B-AFBB-4B02-BF43-FEFBA2E078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1488" y="3652695"/>
                  <a:ext cx="1696146" cy="1225296"/>
                </a:xfrm>
                <a:prstGeom prst="flowChartDecision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Flowchart: Decision 56">
                  <a:extLst>
                    <a:ext uri="{FF2B5EF4-FFF2-40B4-BE49-F238E27FC236}">
                      <a16:creationId xmlns:a16="http://schemas.microsoft.com/office/drawing/2014/main" id="{C081EFD7-1317-4A30-9BCF-7D7FE7469731}"/>
                    </a:ext>
                  </a:extLst>
                </p:cNvPr>
                <p:cNvSpPr/>
                <p:nvPr/>
              </p:nvSpPr>
              <p:spPr>
                <a:xfrm>
                  <a:off x="5070221" y="3653791"/>
                  <a:ext cx="1696146" cy="1225296"/>
                </a:xfrm>
                <a:prstGeom prst="flowChartDecision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𝑠𝑖𝑔𝑛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𝑏𝑖𝑡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Flowchart: Decision 56">
                  <a:extLst>
                    <a:ext uri="{FF2B5EF4-FFF2-40B4-BE49-F238E27FC236}">
                      <a16:creationId xmlns:a16="http://schemas.microsoft.com/office/drawing/2014/main" id="{C081EFD7-1317-4A30-9BCF-7D7FE74697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0221" y="3653791"/>
                  <a:ext cx="1696146" cy="1225296"/>
                </a:xfrm>
                <a:prstGeom prst="flowChartDecision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0573A5A-1F53-4B9F-8715-D7932F59F894}"/>
                    </a:ext>
                  </a:extLst>
                </p:cNvPr>
                <p:cNvSpPr txBox="1"/>
                <p:nvPr/>
              </p:nvSpPr>
              <p:spPr>
                <a:xfrm>
                  <a:off x="2810710" y="5536212"/>
                  <a:ext cx="100800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𝑖𝑛𝑑𝑒𝑥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←4</m:t>
                        </m:r>
                      </m:oMath>
                    </m:oMathPara>
                  </a14:m>
                  <a:endPara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0573A5A-1F53-4B9F-8715-D7932F59F8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0710" y="5536212"/>
                  <a:ext cx="1008003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FD3DF93E-6B16-4E91-90D2-956D91F45276}"/>
                    </a:ext>
                  </a:extLst>
                </p:cNvPr>
                <p:cNvSpPr txBox="1"/>
                <p:nvPr/>
              </p:nvSpPr>
              <p:spPr>
                <a:xfrm>
                  <a:off x="7882754" y="5549134"/>
                  <a:ext cx="1006120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𝑖𝑛𝑑𝑒𝑥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←0</m:t>
                        </m:r>
                      </m:oMath>
                    </m:oMathPara>
                  </a14:m>
                  <a:endPara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FD3DF93E-6B16-4E91-90D2-956D91F452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2754" y="5549134"/>
                  <a:ext cx="1006120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6BFF9E92-93BA-40FF-A0AC-0A85962B1CAD}"/>
                    </a:ext>
                  </a:extLst>
                </p:cNvPr>
                <p:cNvSpPr txBox="1"/>
                <p:nvPr/>
              </p:nvSpPr>
              <p:spPr>
                <a:xfrm>
                  <a:off x="6587666" y="5536211"/>
                  <a:ext cx="113651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𝑖𝑛𝑑𝑒𝑥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←1</m:t>
                        </m:r>
                      </m:oMath>
                    </m:oMathPara>
                  </a14:m>
                  <a:endPara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6BFF9E92-93BA-40FF-A0AC-0A85962B1C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7666" y="5536211"/>
                  <a:ext cx="1136513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7BF498DF-08BA-4457-8CB5-7E6884B86E27}"/>
                    </a:ext>
                  </a:extLst>
                </p:cNvPr>
                <p:cNvSpPr txBox="1"/>
                <p:nvPr/>
              </p:nvSpPr>
              <p:spPr>
                <a:xfrm>
                  <a:off x="5437703" y="5536211"/>
                  <a:ext cx="103146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𝑖𝑛𝑑𝑒𝑥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←2</m:t>
                        </m:r>
                      </m:oMath>
                    </m:oMathPara>
                  </a14:m>
                  <a:endPara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7BF498DF-08BA-4457-8CB5-7E6884B86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7703" y="5536211"/>
                  <a:ext cx="1031464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61CB2937-2978-4219-9FA0-9CFDD51F1D02}"/>
                    </a:ext>
                  </a:extLst>
                </p:cNvPr>
                <p:cNvSpPr txBox="1"/>
                <p:nvPr/>
              </p:nvSpPr>
              <p:spPr>
                <a:xfrm>
                  <a:off x="627339" y="5526290"/>
                  <a:ext cx="106333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𝑖𝑛𝑑𝑒𝑥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←5</m:t>
                        </m:r>
                      </m:oMath>
                    </m:oMathPara>
                  </a14:m>
                  <a:endPara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61CB2937-2978-4219-9FA0-9CFDD51F1D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339" y="5526290"/>
                  <a:ext cx="1063333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10CCF3E9-5496-474D-ADAF-00303BC32CCD}"/>
                    </a:ext>
                  </a:extLst>
                </p:cNvPr>
                <p:cNvSpPr txBox="1"/>
                <p:nvPr/>
              </p:nvSpPr>
              <p:spPr>
                <a:xfrm>
                  <a:off x="3999393" y="3964027"/>
                  <a:ext cx="4213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10CCF3E9-5496-474D-ADAF-00303BC3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9393" y="3964027"/>
                  <a:ext cx="421334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955EE55F-E7E4-4BB9-B45A-2F8E3C65E3DE}"/>
                    </a:ext>
                  </a:extLst>
                </p:cNvPr>
                <p:cNvSpPr txBox="1"/>
                <p:nvPr/>
              </p:nvSpPr>
              <p:spPr>
                <a:xfrm>
                  <a:off x="6640644" y="3978857"/>
                  <a:ext cx="4213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955EE55F-E7E4-4BB9-B45A-2F8E3C65E3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0644" y="3978857"/>
                  <a:ext cx="421334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BC9BBB8E-33EF-4E40-9C43-26BA34418BF9}"/>
                    </a:ext>
                  </a:extLst>
                </p:cNvPr>
                <p:cNvSpPr txBox="1"/>
                <p:nvPr/>
              </p:nvSpPr>
              <p:spPr>
                <a:xfrm>
                  <a:off x="2978765" y="4798853"/>
                  <a:ext cx="4213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BC9BBB8E-33EF-4E40-9C43-26BA34418B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765" y="4798853"/>
                  <a:ext cx="421334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51D268E3-3032-4F50-B637-49F1828DCBAB}"/>
                    </a:ext>
                  </a:extLst>
                </p:cNvPr>
                <p:cNvSpPr txBox="1"/>
                <p:nvPr/>
              </p:nvSpPr>
              <p:spPr>
                <a:xfrm>
                  <a:off x="5605852" y="4845167"/>
                  <a:ext cx="4213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51D268E3-3032-4F50-B637-49F1828DCB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5852" y="4845167"/>
                  <a:ext cx="421334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EEEE6859-96BE-4552-9E6C-310369F48638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1133159" y="1733228"/>
              <a:ext cx="0" cy="3840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9C0C0CE-BCDA-45CD-ACFD-7A322B3E0216}"/>
                    </a:ext>
                  </a:extLst>
                </p:cNvPr>
                <p:cNvSpPr txBox="1"/>
                <p:nvPr/>
              </p:nvSpPr>
              <p:spPr>
                <a:xfrm>
                  <a:off x="4071756" y="5536211"/>
                  <a:ext cx="105218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𝑖𝑛𝑑𝑒𝑥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←3</m:t>
                        </m:r>
                      </m:oMath>
                    </m:oMathPara>
                  </a14:m>
                  <a:endPara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9C0C0CE-BCDA-45CD-ACFD-7A322B3E02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1756" y="5536211"/>
                  <a:ext cx="1052184" cy="30777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51D946B3-3C23-4ADC-AFD9-0761BEFB6C8C}"/>
                </a:ext>
              </a:extLst>
            </p:cNvPr>
            <p:cNvSpPr txBox="1"/>
            <p:nvPr/>
          </p:nvSpPr>
          <p:spPr>
            <a:xfrm>
              <a:off x="6692120" y="2413310"/>
              <a:ext cx="440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4DEEDA0C-564E-4EBD-BA96-F660FCB95555}"/>
                    </a:ext>
                  </a:extLst>
                </p:cNvPr>
                <p:cNvSpPr txBox="1"/>
                <p:nvPr/>
              </p:nvSpPr>
              <p:spPr>
                <a:xfrm>
                  <a:off x="2352770" y="2598563"/>
                  <a:ext cx="20176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|"/>
                            <m:endChr m:val="|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=0000⋯0?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4DEEDA0C-564E-4EBD-BA96-F660FCB95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2770" y="2598563"/>
                  <a:ext cx="2017662" cy="307777"/>
                </a:xfrm>
                <a:prstGeom prst="rect">
                  <a:avLst/>
                </a:prstGeom>
                <a:blipFill>
                  <a:blip r:embed="rId16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5906E76B-6E68-4EAC-94B1-F86FACC58CA3}"/>
                    </a:ext>
                  </a:extLst>
                </p:cNvPr>
                <p:cNvSpPr txBox="1"/>
                <p:nvPr/>
              </p:nvSpPr>
              <p:spPr>
                <a:xfrm>
                  <a:off x="4919110" y="2596479"/>
                  <a:ext cx="20176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|"/>
                            <m:endChr m:val="|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=7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80⋯0?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5906E76B-6E68-4EAC-94B1-F86FACC58C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9110" y="2596479"/>
                  <a:ext cx="2017662" cy="307777"/>
                </a:xfrm>
                <a:prstGeom prst="rect">
                  <a:avLst/>
                </a:prstGeom>
                <a:blipFill>
                  <a:blip r:embed="rId17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A7024E7-E091-4A44-A633-ABC531D3954C}"/>
                    </a:ext>
                  </a:extLst>
                </p:cNvPr>
                <p:cNvSpPr txBox="1"/>
                <p:nvPr/>
              </p:nvSpPr>
              <p:spPr>
                <a:xfrm>
                  <a:off x="7859468" y="4845167"/>
                  <a:ext cx="109373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𝑁𝑎𝑁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A7024E7-E091-4A44-A633-ABC531D395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9468" y="4845167"/>
                  <a:ext cx="109373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769B09DB-E546-427A-BDF3-8FE00435E3E2}"/>
                    </a:ext>
                  </a:extLst>
                </p:cNvPr>
                <p:cNvSpPr txBox="1"/>
                <p:nvPr/>
              </p:nvSpPr>
              <p:spPr>
                <a:xfrm>
                  <a:off x="318981" y="2576079"/>
                  <a:ext cx="160857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−126≤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𝑒𝑥𝑝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≤+127</m:t>
                        </m:r>
                      </m:oMath>
                    </m:oMathPara>
                  </a14:m>
                  <a:endParaRPr lang="en-US" sz="12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:r>
                    <a:rPr lang="en-US" sz="1200" i="1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?</a:t>
                  </a: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769B09DB-E546-427A-BDF3-8FE00435E3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981" y="2576079"/>
                  <a:ext cx="1608574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0806DE0F-C965-425F-A538-CA450A791ACA}"/>
                    </a:ext>
                  </a:extLst>
                </p:cNvPr>
                <p:cNvSpPr txBox="1"/>
                <p:nvPr/>
              </p:nvSpPr>
              <p:spPr>
                <a:xfrm>
                  <a:off x="2824633" y="5241031"/>
                  <a:ext cx="98015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0806DE0F-C965-425F-A538-CA450A791A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4633" y="5241031"/>
                  <a:ext cx="980155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123F7348-061A-4A73-82D9-3FBB334F57B2}"/>
                    </a:ext>
                  </a:extLst>
                </p:cNvPr>
                <p:cNvSpPr txBox="1"/>
                <p:nvPr/>
              </p:nvSpPr>
              <p:spPr>
                <a:xfrm>
                  <a:off x="4133648" y="5249721"/>
                  <a:ext cx="98015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123F7348-061A-4A73-82D9-3FBB334F57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3648" y="5249721"/>
                  <a:ext cx="980155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BE1428A5-3E81-414F-81EA-030850777B1F}"/>
                    </a:ext>
                  </a:extLst>
                </p:cNvPr>
                <p:cNvSpPr txBox="1"/>
                <p:nvPr/>
              </p:nvSpPr>
              <p:spPr>
                <a:xfrm>
                  <a:off x="5382741" y="5239540"/>
                  <a:ext cx="1093737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BE1428A5-3E81-414F-81EA-030850777B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2741" y="5239540"/>
                  <a:ext cx="1093737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7FB7FB8A-C87C-4CF8-9544-177FA674F08D}"/>
                    </a:ext>
                  </a:extLst>
                </p:cNvPr>
                <p:cNvSpPr txBox="1"/>
                <p:nvPr/>
              </p:nvSpPr>
              <p:spPr>
                <a:xfrm>
                  <a:off x="6640644" y="5236168"/>
                  <a:ext cx="1093737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+∞</m:t>
                        </m:r>
                      </m:oMath>
                    </m:oMathPara>
                  </a14:m>
                  <a:endPara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7FB7FB8A-C87C-4CF8-9544-177FA674F0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0644" y="5236168"/>
                  <a:ext cx="1093737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19643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F5AB1-63E6-4329-91BD-722D34A3E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58" y="732901"/>
            <a:ext cx="6904063" cy="657236"/>
          </a:xfrm>
        </p:spPr>
        <p:txBody>
          <a:bodyPr>
            <a:normAutofit/>
          </a:bodyPr>
          <a:lstStyle/>
          <a:p>
            <a:r>
              <a:rPr lang="en-US" sz="4000" i="1" dirty="0"/>
              <a:t>Guard, Round &amp; Sticky Bits</a:t>
            </a:r>
            <a:endParaRPr lang="en-US" sz="4800" i="1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4B67574-9DD6-429F-B107-5148186D3D28}"/>
              </a:ext>
            </a:extLst>
          </p:cNvPr>
          <p:cNvGrpSpPr/>
          <p:nvPr/>
        </p:nvGrpSpPr>
        <p:grpSpPr>
          <a:xfrm>
            <a:off x="1993061" y="3770115"/>
            <a:ext cx="7717419" cy="873749"/>
            <a:chOff x="447487" y="3155228"/>
            <a:chExt cx="7717419" cy="873749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A340862-F46E-400E-880F-E492806B2EAE}"/>
                </a:ext>
              </a:extLst>
            </p:cNvPr>
            <p:cNvGrpSpPr/>
            <p:nvPr/>
          </p:nvGrpSpPr>
          <p:grpSpPr>
            <a:xfrm>
              <a:off x="810878" y="3155228"/>
              <a:ext cx="7354028" cy="369138"/>
              <a:chOff x="810878" y="1780506"/>
              <a:chExt cx="7354028" cy="369138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F34864C-13B5-491C-A4D8-62FB50242459}"/>
                  </a:ext>
                </a:extLst>
              </p:cNvPr>
              <p:cNvSpPr/>
              <p:nvPr/>
            </p:nvSpPr>
            <p:spPr>
              <a:xfrm>
                <a:off x="2748988" y="1780507"/>
                <a:ext cx="4523064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1.000 0000 0000 0000 0000 0000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68F4CF4F-DC12-44C2-8910-F3A7E8AA17D3}"/>
                  </a:ext>
                </a:extLst>
              </p:cNvPr>
              <p:cNvSpPr/>
              <p:nvPr/>
            </p:nvSpPr>
            <p:spPr>
              <a:xfrm>
                <a:off x="7272052" y="1780507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AA984C03-13AE-4390-95D7-68F33E810573}"/>
                  </a:ext>
                </a:extLst>
              </p:cNvPr>
              <p:cNvSpPr/>
              <p:nvPr/>
            </p:nvSpPr>
            <p:spPr>
              <a:xfrm>
                <a:off x="7569670" y="1780506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89CD7388-AA5A-4965-80C3-B3AF9BBE1671}"/>
                  </a:ext>
                </a:extLst>
              </p:cNvPr>
              <p:cNvSpPr/>
              <p:nvPr/>
            </p:nvSpPr>
            <p:spPr>
              <a:xfrm>
                <a:off x="7867288" y="1780506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0908F9BB-5C2D-43E1-B662-847CC460BEA8}"/>
                      </a:ext>
                    </a:extLst>
                  </p:cNvPr>
                  <p:cNvSpPr/>
                  <p:nvPr/>
                </p:nvSpPr>
                <p:spPr>
                  <a:xfrm>
                    <a:off x="810878" y="1786775"/>
                    <a:ext cx="393310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0908F9BB-5C2D-43E1-B662-847CC460BEA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0878" y="1786775"/>
                    <a:ext cx="393310" cy="36286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67A1E3FE-0E90-4549-B722-F53E9AB451DE}"/>
                      </a:ext>
                    </a:extLst>
                  </p:cNvPr>
                  <p:cNvSpPr/>
                  <p:nvPr/>
                </p:nvSpPr>
                <p:spPr>
                  <a:xfrm>
                    <a:off x="1204188" y="1786775"/>
                    <a:ext cx="1376585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e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𝑥𝑝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67A1E3FE-0E90-4549-B722-F53E9AB451D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04188" y="1786775"/>
                    <a:ext cx="1376585" cy="36286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6452" b="-24194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16AFBDD9-36FE-4FC1-9C61-6A4570BC0A6A}"/>
                </a:ext>
              </a:extLst>
            </p:cNvPr>
            <p:cNvGrpSpPr/>
            <p:nvPr/>
          </p:nvGrpSpPr>
          <p:grpSpPr>
            <a:xfrm>
              <a:off x="810878" y="3663750"/>
              <a:ext cx="7354028" cy="365227"/>
              <a:chOff x="810878" y="1778149"/>
              <a:chExt cx="7354028" cy="365227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C88E498-50E7-4C8F-8B25-CDDA2924B84D}"/>
                  </a:ext>
                </a:extLst>
              </p:cNvPr>
              <p:cNvSpPr/>
              <p:nvPr/>
            </p:nvSpPr>
            <p:spPr>
              <a:xfrm>
                <a:off x="2748988" y="1780507"/>
                <a:ext cx="4523064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0.000 0000 0000 0000 0000 0001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BD20EE72-CDA5-4D6A-95E4-E90F6EA04658}"/>
                  </a:ext>
                </a:extLst>
              </p:cNvPr>
              <p:cNvSpPr/>
              <p:nvPr/>
            </p:nvSpPr>
            <p:spPr>
              <a:xfrm>
                <a:off x="7272052" y="1780507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FCBC929D-D73B-42D0-A4B5-54759C742F8B}"/>
                  </a:ext>
                </a:extLst>
              </p:cNvPr>
              <p:cNvSpPr/>
              <p:nvPr/>
            </p:nvSpPr>
            <p:spPr>
              <a:xfrm>
                <a:off x="7569670" y="1780506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FE3C22A-04AC-461B-9A2C-4C3E5A98CEB4}"/>
                  </a:ext>
                </a:extLst>
              </p:cNvPr>
              <p:cNvSpPr/>
              <p:nvPr/>
            </p:nvSpPr>
            <p:spPr>
              <a:xfrm>
                <a:off x="7867288" y="1780506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89ADC087-850B-444C-AA0F-8A9574F9A7DB}"/>
                      </a:ext>
                    </a:extLst>
                  </p:cNvPr>
                  <p:cNvSpPr/>
                  <p:nvPr/>
                </p:nvSpPr>
                <p:spPr>
                  <a:xfrm>
                    <a:off x="810878" y="1778149"/>
                    <a:ext cx="393310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89ADC087-850B-444C-AA0F-8A9574F9A7D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0878" y="1778149"/>
                    <a:ext cx="393310" cy="36286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90252887-8E39-4959-9AE9-E75B4795A021}"/>
                      </a:ext>
                    </a:extLst>
                  </p:cNvPr>
                  <p:cNvSpPr/>
                  <p:nvPr/>
                </p:nvSpPr>
                <p:spPr>
                  <a:xfrm>
                    <a:off x="1204188" y="1778149"/>
                    <a:ext cx="1376585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e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𝑥𝑝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90252887-8E39-4959-9AE9-E75B4795A02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04188" y="1778149"/>
                    <a:ext cx="1376585" cy="36286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8197" b="-26230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3F95D88-F4A8-4AA6-9405-2FD5EB02B050}"/>
                </a:ext>
              </a:extLst>
            </p:cNvPr>
            <p:cNvSpPr/>
            <p:nvPr/>
          </p:nvSpPr>
          <p:spPr>
            <a:xfrm>
              <a:off x="447487" y="3663750"/>
              <a:ext cx="297618" cy="362869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1C5EB6D-3E25-4E33-B987-609354A19F55}"/>
              </a:ext>
            </a:extLst>
          </p:cNvPr>
          <p:cNvGrpSpPr/>
          <p:nvPr/>
        </p:nvGrpSpPr>
        <p:grpSpPr>
          <a:xfrm>
            <a:off x="2356452" y="5809812"/>
            <a:ext cx="7332455" cy="362870"/>
            <a:chOff x="832451" y="1780506"/>
            <a:chExt cx="7332455" cy="36287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D5DDB07-BED8-499F-95BF-8D5A9E2574BC}"/>
                </a:ext>
              </a:extLst>
            </p:cNvPr>
            <p:cNvSpPr/>
            <p:nvPr/>
          </p:nvSpPr>
          <p:spPr>
            <a:xfrm>
              <a:off x="2748988" y="1780507"/>
              <a:ext cx="4523064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1.000 0000 0000 0000 0000 0001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098E87A-6FBC-425B-B294-0D8DE03020D7}"/>
                </a:ext>
              </a:extLst>
            </p:cNvPr>
            <p:cNvSpPr/>
            <p:nvPr/>
          </p:nvSpPr>
          <p:spPr>
            <a:xfrm>
              <a:off x="7272052" y="1780507"/>
              <a:ext cx="297618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879A82D-C3EC-44BD-977E-73F77612DC21}"/>
                </a:ext>
              </a:extLst>
            </p:cNvPr>
            <p:cNvSpPr/>
            <p:nvPr/>
          </p:nvSpPr>
          <p:spPr>
            <a:xfrm>
              <a:off x="7569670" y="1780506"/>
              <a:ext cx="297618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4692E920-E46D-4FD4-916E-EF10DA3873CF}"/>
                </a:ext>
              </a:extLst>
            </p:cNvPr>
            <p:cNvSpPr/>
            <p:nvPr/>
          </p:nvSpPr>
          <p:spPr>
            <a:xfrm>
              <a:off x="7867288" y="1780506"/>
              <a:ext cx="297618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D2089FE2-5C52-4249-B491-EFF29810CCFD}"/>
                    </a:ext>
                  </a:extLst>
                </p:cNvPr>
                <p:cNvSpPr/>
                <p:nvPr/>
              </p:nvSpPr>
              <p:spPr>
                <a:xfrm>
                  <a:off x="832451" y="1780506"/>
                  <a:ext cx="393310" cy="36286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D2089FE2-5C52-4249-B491-EFF29810CC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451" y="1780506"/>
                  <a:ext cx="393310" cy="36286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7AB16C35-34A5-4DFE-B436-F619B7926E99}"/>
                    </a:ext>
                  </a:extLst>
                </p:cNvPr>
                <p:cNvSpPr/>
                <p:nvPr/>
              </p:nvSpPr>
              <p:spPr>
                <a:xfrm>
                  <a:off x="1225761" y="1780506"/>
                  <a:ext cx="1376585" cy="36286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e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𝑥𝑝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7AB16C35-34A5-4DFE-B436-F619B7926E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761" y="1780506"/>
                  <a:ext cx="1376585" cy="362869"/>
                </a:xfrm>
                <a:prstGeom prst="rect">
                  <a:avLst/>
                </a:prstGeom>
                <a:blipFill>
                  <a:blip r:embed="rId7"/>
                  <a:stretch>
                    <a:fillRect t="-8065" b="-24194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5" name="Arrow: Down 84">
            <a:extLst>
              <a:ext uri="{FF2B5EF4-FFF2-40B4-BE49-F238E27FC236}">
                <a16:creationId xmlns:a16="http://schemas.microsoft.com/office/drawing/2014/main" id="{84742BE8-4F63-4F03-B2CA-9505BA2C00B2}"/>
              </a:ext>
            </a:extLst>
          </p:cNvPr>
          <p:cNvSpPr/>
          <p:nvPr/>
        </p:nvSpPr>
        <p:spPr>
          <a:xfrm>
            <a:off x="5947191" y="3172820"/>
            <a:ext cx="297618" cy="3628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Arrow: Down 85">
            <a:extLst>
              <a:ext uri="{FF2B5EF4-FFF2-40B4-BE49-F238E27FC236}">
                <a16:creationId xmlns:a16="http://schemas.microsoft.com/office/drawing/2014/main" id="{22F23A37-7B6D-45FF-8614-DAB487B1A405}"/>
              </a:ext>
            </a:extLst>
          </p:cNvPr>
          <p:cNvSpPr/>
          <p:nvPr/>
        </p:nvSpPr>
        <p:spPr>
          <a:xfrm>
            <a:off x="5949351" y="5073185"/>
            <a:ext cx="297618" cy="3628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987BD7A-8162-4376-8516-E270D35599E2}"/>
              </a:ext>
            </a:extLst>
          </p:cNvPr>
          <p:cNvGrpSpPr/>
          <p:nvPr/>
        </p:nvGrpSpPr>
        <p:grpSpPr>
          <a:xfrm>
            <a:off x="1987672" y="1421235"/>
            <a:ext cx="7701234" cy="1230948"/>
            <a:chOff x="463672" y="2801732"/>
            <a:chExt cx="7701234" cy="123094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89F6E0D-1846-429F-A4F0-3B3131F472F6}"/>
                </a:ext>
              </a:extLst>
            </p:cNvPr>
            <p:cNvGrpSpPr/>
            <p:nvPr/>
          </p:nvGrpSpPr>
          <p:grpSpPr>
            <a:xfrm>
              <a:off x="832451" y="3155228"/>
              <a:ext cx="7332455" cy="368358"/>
              <a:chOff x="832451" y="1780506"/>
              <a:chExt cx="7332455" cy="368358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A176C89-8A44-4925-BFA3-A2F35CAD0552}"/>
                  </a:ext>
                </a:extLst>
              </p:cNvPr>
              <p:cNvSpPr/>
              <p:nvPr/>
            </p:nvSpPr>
            <p:spPr>
              <a:xfrm>
                <a:off x="2748988" y="1780507"/>
                <a:ext cx="4523064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1.000 0000 0000 0000 0000 0000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F04F8B5-A892-4A40-B914-4EFF81E81F93}"/>
                  </a:ext>
                </a:extLst>
              </p:cNvPr>
              <p:cNvSpPr/>
              <p:nvPr/>
            </p:nvSpPr>
            <p:spPr>
              <a:xfrm>
                <a:off x="7272052" y="1780507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5ACED96-89D4-4F91-89C6-287B7BE07A4E}"/>
                  </a:ext>
                </a:extLst>
              </p:cNvPr>
              <p:cNvSpPr/>
              <p:nvPr/>
            </p:nvSpPr>
            <p:spPr>
              <a:xfrm>
                <a:off x="7569670" y="1780506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A7715F4-29A0-4D00-8D58-21CCEC47BAFE}"/>
                  </a:ext>
                </a:extLst>
              </p:cNvPr>
              <p:cNvSpPr/>
              <p:nvPr/>
            </p:nvSpPr>
            <p:spPr>
              <a:xfrm>
                <a:off x="7867288" y="1780506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8DC075A1-6654-41D5-835A-224E97DF1DFE}"/>
                      </a:ext>
                    </a:extLst>
                  </p:cNvPr>
                  <p:cNvSpPr/>
                  <p:nvPr/>
                </p:nvSpPr>
                <p:spPr>
                  <a:xfrm>
                    <a:off x="832451" y="1785995"/>
                    <a:ext cx="393310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8DC075A1-6654-41D5-835A-224E97DF1DF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451" y="1785995"/>
                    <a:ext cx="393310" cy="36286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0C28834A-8AD7-4098-B678-7C0AD6B3B87C}"/>
                      </a:ext>
                    </a:extLst>
                  </p:cNvPr>
                  <p:cNvSpPr/>
                  <p:nvPr/>
                </p:nvSpPr>
                <p:spPr>
                  <a:xfrm>
                    <a:off x="1225761" y="1785995"/>
                    <a:ext cx="1376585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e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𝑥𝑝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0C28834A-8AD7-4098-B678-7C0AD6B3B87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5761" y="1785995"/>
                    <a:ext cx="1376585" cy="36286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8065" b="-24194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B3D784C-465F-4BBC-951A-969217168B00}"/>
                </a:ext>
              </a:extLst>
            </p:cNvPr>
            <p:cNvGrpSpPr/>
            <p:nvPr/>
          </p:nvGrpSpPr>
          <p:grpSpPr>
            <a:xfrm>
              <a:off x="832451" y="3662970"/>
              <a:ext cx="7332455" cy="366007"/>
              <a:chOff x="832451" y="1777369"/>
              <a:chExt cx="7332455" cy="366007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D1B3C66-8372-4F17-B9CE-43E4E698E1A4}"/>
                  </a:ext>
                </a:extLst>
              </p:cNvPr>
              <p:cNvSpPr/>
              <p:nvPr/>
            </p:nvSpPr>
            <p:spPr>
              <a:xfrm>
                <a:off x="2748988" y="1780507"/>
                <a:ext cx="4523064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1.100 1000 0000 0000 0000 0000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15CE563-E8E0-4AEA-8611-B0EF7E9E2E6C}"/>
                  </a:ext>
                </a:extLst>
              </p:cNvPr>
              <p:cNvSpPr/>
              <p:nvPr/>
            </p:nvSpPr>
            <p:spPr>
              <a:xfrm>
                <a:off x="7272052" y="1780507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136C216-DD75-44A9-819D-9FE941B409D7}"/>
                  </a:ext>
                </a:extLst>
              </p:cNvPr>
              <p:cNvSpPr/>
              <p:nvPr/>
            </p:nvSpPr>
            <p:spPr>
              <a:xfrm>
                <a:off x="7569670" y="1780506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B955623-0AB2-4DDE-A067-05A3B0B0938D}"/>
                  </a:ext>
                </a:extLst>
              </p:cNvPr>
              <p:cNvSpPr/>
              <p:nvPr/>
            </p:nvSpPr>
            <p:spPr>
              <a:xfrm>
                <a:off x="7867288" y="1780506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1DAE9A88-DB10-48E3-A129-F47A4E9B66A1}"/>
                      </a:ext>
                    </a:extLst>
                  </p:cNvPr>
                  <p:cNvSpPr/>
                  <p:nvPr/>
                </p:nvSpPr>
                <p:spPr>
                  <a:xfrm>
                    <a:off x="832451" y="1777369"/>
                    <a:ext cx="393310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1DAE9A88-DB10-48E3-A129-F47A4E9B66A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451" y="1777369"/>
                    <a:ext cx="393310" cy="36286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922E2AF1-3C4E-482D-854C-8446AECADA9F}"/>
                      </a:ext>
                    </a:extLst>
                  </p:cNvPr>
                  <p:cNvSpPr/>
                  <p:nvPr/>
                </p:nvSpPr>
                <p:spPr>
                  <a:xfrm>
                    <a:off x="1225761" y="1777369"/>
                    <a:ext cx="1376585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e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𝑥𝑝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=−23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922E2AF1-3C4E-482D-854C-8446AECADA9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5761" y="1777369"/>
                    <a:ext cx="1376585" cy="36286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t="-6452" b="-24194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F03B656-82FD-4928-A584-FE87DD083249}"/>
                </a:ext>
              </a:extLst>
            </p:cNvPr>
            <p:cNvSpPr/>
            <p:nvPr/>
          </p:nvSpPr>
          <p:spPr>
            <a:xfrm>
              <a:off x="463672" y="3669811"/>
              <a:ext cx="297618" cy="362869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EAE0628-8FE0-43A2-9562-367E7FD268A2}"/>
                </a:ext>
              </a:extLst>
            </p:cNvPr>
            <p:cNvSpPr/>
            <p:nvPr/>
          </p:nvSpPr>
          <p:spPr>
            <a:xfrm>
              <a:off x="7272052" y="2801733"/>
              <a:ext cx="297618" cy="362869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6F7ED0CE-306E-465B-82A5-2B491132B934}"/>
                </a:ext>
              </a:extLst>
            </p:cNvPr>
            <p:cNvSpPr/>
            <p:nvPr/>
          </p:nvSpPr>
          <p:spPr>
            <a:xfrm>
              <a:off x="7569670" y="2801732"/>
              <a:ext cx="297618" cy="362869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32FAF5E2-7FA5-46BB-A2BE-BD7AE6332FA5}"/>
                </a:ext>
              </a:extLst>
            </p:cNvPr>
            <p:cNvSpPr/>
            <p:nvPr/>
          </p:nvSpPr>
          <p:spPr>
            <a:xfrm>
              <a:off x="7867288" y="2801732"/>
              <a:ext cx="297618" cy="362869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6DA00198-26C5-45F5-8CD5-63054B9946F8}"/>
              </a:ext>
            </a:extLst>
          </p:cNvPr>
          <p:cNvSpPr txBox="1"/>
          <p:nvPr/>
        </p:nvSpPr>
        <p:spPr>
          <a:xfrm>
            <a:off x="6309501" y="3147725"/>
            <a:ext cx="2096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(alignment)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DFC0B86-5AF8-4294-BD4A-0EF9DE9B1F5A}"/>
              </a:ext>
            </a:extLst>
          </p:cNvPr>
          <p:cNvSpPr txBox="1"/>
          <p:nvPr/>
        </p:nvSpPr>
        <p:spPr>
          <a:xfrm>
            <a:off x="6311661" y="5017623"/>
            <a:ext cx="2096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(addition)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E8B644E-0391-40B9-BF81-70830A6ED29A}"/>
              </a:ext>
            </a:extLst>
          </p:cNvPr>
          <p:cNvSpPr txBox="1"/>
          <p:nvPr/>
        </p:nvSpPr>
        <p:spPr>
          <a:xfrm>
            <a:off x="9378354" y="4912833"/>
            <a:ext cx="871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set, stays set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81A7C5D-CAAA-4CD3-AA3F-E71E59CC3560}"/>
              </a:ext>
            </a:extLst>
          </p:cNvPr>
          <p:cNvCxnSpPr/>
          <p:nvPr/>
        </p:nvCxnSpPr>
        <p:spPr>
          <a:xfrm flipV="1">
            <a:off x="9561670" y="4641505"/>
            <a:ext cx="0" cy="3237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ight Brace 95">
            <a:extLst>
              <a:ext uri="{FF2B5EF4-FFF2-40B4-BE49-F238E27FC236}">
                <a16:creationId xmlns:a16="http://schemas.microsoft.com/office/drawing/2014/main" id="{5138B833-658E-4AA8-A863-A0D1D1BEBF6A}"/>
              </a:ext>
            </a:extLst>
          </p:cNvPr>
          <p:cNvSpPr/>
          <p:nvPr/>
        </p:nvSpPr>
        <p:spPr>
          <a:xfrm rot="5400000">
            <a:off x="9172520" y="5844230"/>
            <a:ext cx="154224" cy="90715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FEF77E5-479B-4C60-9EB5-18871C0E9E3B}"/>
              </a:ext>
            </a:extLst>
          </p:cNvPr>
          <p:cNvSpPr txBox="1"/>
          <p:nvPr/>
        </p:nvSpPr>
        <p:spPr>
          <a:xfrm>
            <a:off x="8466108" y="6380855"/>
            <a:ext cx="1595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rounding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A6F722C0-CD63-46D7-B2C7-463260C6E7AC}"/>
              </a:ext>
            </a:extLst>
          </p:cNvPr>
          <p:cNvCxnSpPr>
            <a:cxnSpLocks/>
          </p:cNvCxnSpPr>
          <p:nvPr/>
        </p:nvCxnSpPr>
        <p:spPr>
          <a:xfrm>
            <a:off x="4272988" y="1599468"/>
            <a:ext cx="4523064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DEBC0BE-B2AE-4B82-8A1C-0226B6DBA531}"/>
              </a:ext>
            </a:extLst>
          </p:cNvPr>
          <p:cNvSpPr txBox="1"/>
          <p:nvPr/>
        </p:nvSpPr>
        <p:spPr>
          <a:xfrm>
            <a:off x="5860586" y="1456054"/>
            <a:ext cx="14988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24-bit significand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FAB7B95-4736-43E7-834D-F9672350ACE9}"/>
              </a:ext>
            </a:extLst>
          </p:cNvPr>
          <p:cNvCxnSpPr>
            <a:cxnSpLocks/>
          </p:cNvCxnSpPr>
          <p:nvPr/>
        </p:nvCxnSpPr>
        <p:spPr>
          <a:xfrm flipV="1">
            <a:off x="4267610" y="2777813"/>
            <a:ext cx="5421296" cy="7965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6FE198D3-2EA5-4581-ABA3-3323EA1F26AB}"/>
              </a:ext>
            </a:extLst>
          </p:cNvPr>
          <p:cNvSpPr txBox="1"/>
          <p:nvPr/>
        </p:nvSpPr>
        <p:spPr>
          <a:xfrm>
            <a:off x="5860585" y="2655711"/>
            <a:ext cx="137658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27-bit operand</a:t>
            </a:r>
          </a:p>
        </p:txBody>
      </p:sp>
    </p:spTree>
    <p:extLst>
      <p:ext uri="{BB962C8B-B14F-4D97-AF65-F5344CB8AC3E}">
        <p14:creationId xmlns:p14="http://schemas.microsoft.com/office/powerpoint/2010/main" val="3522058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F5AB1-63E6-4329-91BD-722D34A3E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494" y="737160"/>
            <a:ext cx="5460274" cy="730693"/>
          </a:xfrm>
        </p:spPr>
        <p:txBody>
          <a:bodyPr>
            <a:normAutofit/>
          </a:bodyPr>
          <a:lstStyle/>
          <a:p>
            <a:r>
              <a:rPr lang="en-US" dirty="0"/>
              <a:t>Round to Nearest Even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346D1E8-5414-4A72-A480-DB99320E8E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861096" y="2064779"/>
              <a:ext cx="6219643" cy="272844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37894">
                      <a:extLst>
                        <a:ext uri="{9D8B030D-6E8A-4147-A177-3AD203B41FA5}">
                          <a16:colId xmlns:a16="http://schemas.microsoft.com/office/drawing/2014/main" val="500918205"/>
                        </a:ext>
                      </a:extLst>
                    </a:gridCol>
                    <a:gridCol w="540581">
                      <a:extLst>
                        <a:ext uri="{9D8B030D-6E8A-4147-A177-3AD203B41FA5}">
                          <a16:colId xmlns:a16="http://schemas.microsoft.com/office/drawing/2014/main" val="3889282737"/>
                        </a:ext>
                      </a:extLst>
                    </a:gridCol>
                    <a:gridCol w="543540">
                      <a:extLst>
                        <a:ext uri="{9D8B030D-6E8A-4147-A177-3AD203B41FA5}">
                          <a16:colId xmlns:a16="http://schemas.microsoft.com/office/drawing/2014/main" val="2169727512"/>
                        </a:ext>
                      </a:extLst>
                    </a:gridCol>
                    <a:gridCol w="542554">
                      <a:extLst>
                        <a:ext uri="{9D8B030D-6E8A-4147-A177-3AD203B41FA5}">
                          <a16:colId xmlns:a16="http://schemas.microsoft.com/office/drawing/2014/main" val="3634937023"/>
                        </a:ext>
                      </a:extLst>
                    </a:gridCol>
                    <a:gridCol w="3055074">
                      <a:extLst>
                        <a:ext uri="{9D8B030D-6E8A-4147-A177-3AD203B41FA5}">
                          <a16:colId xmlns:a16="http://schemas.microsoft.com/office/drawing/2014/main" val="990882315"/>
                        </a:ext>
                      </a:extLst>
                    </a:gridCol>
                  </a:tblGrid>
                  <a:tr h="3866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a:t>23-bit Significand</a:t>
                          </a:r>
                          <a:endParaRPr lang="en-US" sz="1200" b="1" i="1" dirty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G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Rounding Action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8462458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X.X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  <m:t>⋯⋯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XX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ROUND DOWN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(no change to significand bits)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4852554"/>
                      </a:ext>
                    </a:extLst>
                  </a:tr>
                  <a:tr h="40876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X.X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  <m:t>⋯⋯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</a:t>
                          </a: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127270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X.X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  <m:t>⋯⋯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</a:t>
                          </a: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4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ROUND UP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(add 1 to LS-bit of the significand)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54589884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X.X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  <m:t>⋯⋯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XX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3449396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X.X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  <m:t>⋯⋯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XX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2505269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X.X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  <m:t>⋯⋯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XX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55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346D1E8-5414-4A72-A480-DB99320E8EAF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2861096" y="2064779"/>
              <a:ext cx="6219643" cy="272844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37894">
                      <a:extLst>
                        <a:ext uri="{9D8B030D-6E8A-4147-A177-3AD203B41FA5}">
                          <a16:colId xmlns:a16="http://schemas.microsoft.com/office/drawing/2014/main" val="500918205"/>
                        </a:ext>
                      </a:extLst>
                    </a:gridCol>
                    <a:gridCol w="540581">
                      <a:extLst>
                        <a:ext uri="{9D8B030D-6E8A-4147-A177-3AD203B41FA5}">
                          <a16:colId xmlns:a16="http://schemas.microsoft.com/office/drawing/2014/main" val="3889282737"/>
                        </a:ext>
                      </a:extLst>
                    </a:gridCol>
                    <a:gridCol w="543540">
                      <a:extLst>
                        <a:ext uri="{9D8B030D-6E8A-4147-A177-3AD203B41FA5}">
                          <a16:colId xmlns:a16="http://schemas.microsoft.com/office/drawing/2014/main" val="2169727512"/>
                        </a:ext>
                      </a:extLst>
                    </a:gridCol>
                    <a:gridCol w="542554">
                      <a:extLst>
                        <a:ext uri="{9D8B030D-6E8A-4147-A177-3AD203B41FA5}">
                          <a16:colId xmlns:a16="http://schemas.microsoft.com/office/drawing/2014/main" val="3634937023"/>
                        </a:ext>
                      </a:extLst>
                    </a:gridCol>
                    <a:gridCol w="3055074">
                      <a:extLst>
                        <a:ext uri="{9D8B030D-6E8A-4147-A177-3AD203B41FA5}">
                          <a16:colId xmlns:a16="http://schemas.microsoft.com/office/drawing/2014/main" val="990882315"/>
                        </a:ext>
                      </a:extLst>
                    </a:gridCol>
                  </a:tblGrid>
                  <a:tr h="3866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a:t>23-bit Significand</a:t>
                          </a:r>
                          <a:endParaRPr lang="en-US" sz="1200" b="1" i="1" dirty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G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Rounding Action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8462458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103175" r="-306349" b="-5269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ROUND DOWN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(no change to significand bits)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4852554"/>
                      </a:ext>
                    </a:extLst>
                  </a:tr>
                  <a:tr h="4087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188235" r="-306349" b="-38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127270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311111" r="-306349" b="-3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4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ROUND UP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(add 1 to LS-bit of the significand)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54589884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404688" r="-306349" b="-214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3449396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512698" r="-306349" b="-117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2505269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603125" r="-306349" b="-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55216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74126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F5AB1-63E6-4329-91BD-722D34A3E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27" y="748007"/>
            <a:ext cx="3587357" cy="727868"/>
          </a:xfrm>
        </p:spPr>
        <p:txBody>
          <a:bodyPr>
            <a:normAutofit/>
          </a:bodyPr>
          <a:lstStyle/>
          <a:p>
            <a:r>
              <a:rPr lang="en-US" sz="4000" i="1" dirty="0"/>
              <a:t>Normalization</a:t>
            </a:r>
            <a:endParaRPr lang="en-US" sz="4800" i="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E391305-FE66-4CB2-B5D1-C1145F39ACE1}"/>
              </a:ext>
            </a:extLst>
          </p:cNvPr>
          <p:cNvGrpSpPr/>
          <p:nvPr/>
        </p:nvGrpSpPr>
        <p:grpSpPr>
          <a:xfrm>
            <a:off x="2418993" y="1722974"/>
            <a:ext cx="6810540" cy="4024902"/>
            <a:chOff x="463672" y="1774732"/>
            <a:chExt cx="6810540" cy="402490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701776-F134-4923-8FA9-0EBB4BFFDA8A}"/>
                </a:ext>
              </a:extLst>
            </p:cNvPr>
            <p:cNvGrpSpPr/>
            <p:nvPr/>
          </p:nvGrpSpPr>
          <p:grpSpPr>
            <a:xfrm>
              <a:off x="463672" y="1774732"/>
              <a:ext cx="6808380" cy="877451"/>
              <a:chOff x="463672" y="1774732"/>
              <a:chExt cx="6808380" cy="877451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989F6E0D-1846-429F-A4F0-3B3131F472F6}"/>
                  </a:ext>
                </a:extLst>
              </p:cNvPr>
              <p:cNvGrpSpPr/>
              <p:nvPr/>
            </p:nvGrpSpPr>
            <p:grpSpPr>
              <a:xfrm>
                <a:off x="832451" y="1774732"/>
                <a:ext cx="6439601" cy="368357"/>
                <a:chOff x="832451" y="1780507"/>
                <a:chExt cx="6439601" cy="368357"/>
              </a:xfrm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EA176C89-8A44-4925-BFA3-A2F35CAD0552}"/>
                    </a:ext>
                  </a:extLst>
                </p:cNvPr>
                <p:cNvSpPr/>
                <p:nvPr/>
              </p:nvSpPr>
              <p:spPr>
                <a:xfrm>
                  <a:off x="2748988" y="1780507"/>
                  <a:ext cx="4523064" cy="36286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1.000 0000 0000 0000 0000 0000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8DC075A1-6654-41D5-835A-224E97DF1D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2451" y="1785995"/>
                      <a:ext cx="393310" cy="362869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8DC075A1-6654-41D5-835A-224E97DF1DF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2451" y="1785995"/>
                      <a:ext cx="393310" cy="36286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270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Rectangle 41">
                      <a:extLst>
                        <a:ext uri="{FF2B5EF4-FFF2-40B4-BE49-F238E27FC236}">
                          <a16:creationId xmlns:a16="http://schemas.microsoft.com/office/drawing/2014/main" id="{0C28834A-8AD7-4098-B678-7C0AD6B3B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5761" y="1785995"/>
                      <a:ext cx="1376585" cy="362869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e</a:t>
                      </a:r>
                      <a14:m>
                        <m:oMath xmlns:m="http://schemas.openxmlformats.org/officeDocument/2006/math"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𝑥𝑝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2" name="Rectangle 41">
                      <a:extLst>
                        <a:ext uri="{FF2B5EF4-FFF2-40B4-BE49-F238E27FC236}">
                          <a16:creationId xmlns:a16="http://schemas.microsoft.com/office/drawing/2014/main" id="{0C28834A-8AD7-4098-B678-7C0AD6B3B87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25761" y="1785995"/>
                      <a:ext cx="1376585" cy="36286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t="-8065" b="-24194"/>
                      </a:stretch>
                    </a:blipFill>
                    <a:ln w="1270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B3D784C-465F-4BBC-951A-969217168B00}"/>
                  </a:ext>
                </a:extLst>
              </p:cNvPr>
              <p:cNvGrpSpPr/>
              <p:nvPr/>
            </p:nvGrpSpPr>
            <p:grpSpPr>
              <a:xfrm>
                <a:off x="832451" y="2282473"/>
                <a:ext cx="6439601" cy="366007"/>
                <a:chOff x="832451" y="1777369"/>
                <a:chExt cx="6439601" cy="366007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D1B3C66-8372-4F17-B9CE-43E4E698E1A4}"/>
                    </a:ext>
                  </a:extLst>
                </p:cNvPr>
                <p:cNvSpPr/>
                <p:nvPr/>
              </p:nvSpPr>
              <p:spPr>
                <a:xfrm>
                  <a:off x="2748988" y="1780507"/>
                  <a:ext cx="4523064" cy="36286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1.000 0000 0000 0000 0000 0000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Rectangle 50">
                      <a:extLst>
                        <a:ext uri="{FF2B5EF4-FFF2-40B4-BE49-F238E27FC236}">
                          <a16:creationId xmlns:a16="http://schemas.microsoft.com/office/drawing/2014/main" id="{1DAE9A88-DB10-48E3-A129-F47A4E9B66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2451" y="1777369"/>
                      <a:ext cx="393310" cy="362869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1" name="Rectangle 50">
                      <a:extLst>
                        <a:ext uri="{FF2B5EF4-FFF2-40B4-BE49-F238E27FC236}">
                          <a16:creationId xmlns:a16="http://schemas.microsoft.com/office/drawing/2014/main" id="{1DAE9A88-DB10-48E3-A129-F47A4E9B66A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2451" y="1777369"/>
                      <a:ext cx="393310" cy="36286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 w="1270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" name="Rectangle 51">
                      <a:extLst>
                        <a:ext uri="{FF2B5EF4-FFF2-40B4-BE49-F238E27FC236}">
                          <a16:creationId xmlns:a16="http://schemas.microsoft.com/office/drawing/2014/main" id="{922E2AF1-3C4E-482D-854C-8446AECADA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5761" y="1777369"/>
                      <a:ext cx="1376585" cy="362869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e</a:t>
                      </a:r>
                      <a14:m>
                        <m:oMath xmlns:m="http://schemas.openxmlformats.org/officeDocument/2006/math"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𝑥𝑝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2" name="Rectangle 51">
                      <a:extLst>
                        <a:ext uri="{FF2B5EF4-FFF2-40B4-BE49-F238E27FC236}">
                          <a16:creationId xmlns:a16="http://schemas.microsoft.com/office/drawing/2014/main" id="{922E2AF1-3C4E-482D-854C-8446AECADA9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25761" y="1777369"/>
                      <a:ext cx="1376585" cy="36286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t="-6452" b="-24194"/>
                      </a:stretch>
                    </a:blipFill>
                    <a:ln w="1270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F03B656-82FD-4928-A584-FE87DD083249}"/>
                  </a:ext>
                </a:extLst>
              </p:cNvPr>
              <p:cNvSpPr/>
              <p:nvPr/>
            </p:nvSpPr>
            <p:spPr>
              <a:xfrm>
                <a:off x="463672" y="2289314"/>
                <a:ext cx="297618" cy="362869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+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05F4690-DB4A-450E-B7D7-19CAFC8F4482}"/>
                </a:ext>
              </a:extLst>
            </p:cNvPr>
            <p:cNvGrpSpPr/>
            <p:nvPr/>
          </p:nvGrpSpPr>
          <p:grpSpPr>
            <a:xfrm>
              <a:off x="832451" y="2986904"/>
              <a:ext cx="6439601" cy="1096231"/>
              <a:chOff x="832451" y="2986904"/>
              <a:chExt cx="6439601" cy="1096231"/>
            </a:xfrm>
          </p:grpSpPr>
          <p:sp>
            <p:nvSpPr>
              <p:cNvPr id="85" name="Arrow: Down 84">
                <a:extLst>
                  <a:ext uri="{FF2B5EF4-FFF2-40B4-BE49-F238E27FC236}">
                    <a16:creationId xmlns:a16="http://schemas.microsoft.com/office/drawing/2014/main" id="{84742BE8-4F63-4F03-B2CA-9505BA2C00B2}"/>
                  </a:ext>
                </a:extLst>
              </p:cNvPr>
              <p:cNvSpPr/>
              <p:nvPr/>
            </p:nvSpPr>
            <p:spPr>
              <a:xfrm>
                <a:off x="4440444" y="3011998"/>
                <a:ext cx="297618" cy="362869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DA00198-26C5-45F5-8CD5-63054B9946F8}"/>
                  </a:ext>
                </a:extLst>
              </p:cNvPr>
              <p:cNvSpPr txBox="1"/>
              <p:nvPr/>
            </p:nvSpPr>
            <p:spPr>
              <a:xfrm>
                <a:off x="4802753" y="2986904"/>
                <a:ext cx="20962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(addition)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CBDF2D45-FC54-465A-A735-9F8D1C863B22}"/>
                  </a:ext>
                </a:extLst>
              </p:cNvPr>
              <p:cNvSpPr/>
              <p:nvPr/>
            </p:nvSpPr>
            <p:spPr>
              <a:xfrm>
                <a:off x="2748988" y="3720266"/>
                <a:ext cx="4523064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10.000 0000 0000 0000 0000 0000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Rectangle 82">
                    <a:extLst>
                      <a:ext uri="{FF2B5EF4-FFF2-40B4-BE49-F238E27FC236}">
                        <a16:creationId xmlns:a16="http://schemas.microsoft.com/office/drawing/2014/main" id="{72261CBD-BB31-49EE-83E0-C2BA62B2C060}"/>
                      </a:ext>
                    </a:extLst>
                  </p:cNvPr>
                  <p:cNvSpPr/>
                  <p:nvPr/>
                </p:nvSpPr>
                <p:spPr>
                  <a:xfrm>
                    <a:off x="832451" y="3720265"/>
                    <a:ext cx="393310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3" name="Rectangle 82">
                    <a:extLst>
                      <a:ext uri="{FF2B5EF4-FFF2-40B4-BE49-F238E27FC236}">
                        <a16:creationId xmlns:a16="http://schemas.microsoft.com/office/drawing/2014/main" id="{72261CBD-BB31-49EE-83E0-C2BA62B2C06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451" y="3720265"/>
                    <a:ext cx="393310" cy="36286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Rectangle 83">
                    <a:extLst>
                      <a:ext uri="{FF2B5EF4-FFF2-40B4-BE49-F238E27FC236}">
                        <a16:creationId xmlns:a16="http://schemas.microsoft.com/office/drawing/2014/main" id="{41C37AF4-FF10-4BD6-AFE2-F08F1E663F4E}"/>
                      </a:ext>
                    </a:extLst>
                  </p:cNvPr>
                  <p:cNvSpPr/>
                  <p:nvPr/>
                </p:nvSpPr>
                <p:spPr>
                  <a:xfrm>
                    <a:off x="1225761" y="3720265"/>
                    <a:ext cx="1376585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e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𝑥𝑝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4" name="Rectangle 83">
                    <a:extLst>
                      <a:ext uri="{FF2B5EF4-FFF2-40B4-BE49-F238E27FC236}">
                        <a16:creationId xmlns:a16="http://schemas.microsoft.com/office/drawing/2014/main" id="{41C37AF4-FF10-4BD6-AFE2-F08F1E663F4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5761" y="3720265"/>
                    <a:ext cx="1376585" cy="36286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6452" b="-24194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8161F7F-46B1-4D7F-BC1A-24C86E17A140}"/>
                </a:ext>
              </a:extLst>
            </p:cNvPr>
            <p:cNvGrpSpPr/>
            <p:nvPr/>
          </p:nvGrpSpPr>
          <p:grpSpPr>
            <a:xfrm>
              <a:off x="834611" y="4556554"/>
              <a:ext cx="6439601" cy="1243080"/>
              <a:chOff x="834611" y="4556554"/>
              <a:chExt cx="6439601" cy="1243080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D5DDB07-BED8-499F-95BF-8D5A9E2574BC}"/>
                  </a:ext>
                </a:extLst>
              </p:cNvPr>
              <p:cNvSpPr/>
              <p:nvPr/>
            </p:nvSpPr>
            <p:spPr>
              <a:xfrm>
                <a:off x="2751148" y="5436765"/>
                <a:ext cx="4523064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1.000 0000 0000 0000 0000 0000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D2089FE2-5C52-4249-B491-EFF29810CCFD}"/>
                      </a:ext>
                    </a:extLst>
                  </p:cNvPr>
                  <p:cNvSpPr/>
                  <p:nvPr/>
                </p:nvSpPr>
                <p:spPr>
                  <a:xfrm>
                    <a:off x="834611" y="5436764"/>
                    <a:ext cx="393310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D2089FE2-5C52-4249-B491-EFF29810CCF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611" y="5436764"/>
                    <a:ext cx="393310" cy="36286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7AB16C35-34A5-4DFE-B436-F619B7926E99}"/>
                      </a:ext>
                    </a:extLst>
                  </p:cNvPr>
                  <p:cNvSpPr/>
                  <p:nvPr/>
                </p:nvSpPr>
                <p:spPr>
                  <a:xfrm>
                    <a:off x="1227921" y="5436764"/>
                    <a:ext cx="1376585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e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𝑥𝑝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=+1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7AB16C35-34A5-4DFE-B436-F619B7926E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7921" y="5436764"/>
                    <a:ext cx="1376585" cy="36286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8197" b="-26230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6" name="Arrow: Down 85">
                <a:extLst>
                  <a:ext uri="{FF2B5EF4-FFF2-40B4-BE49-F238E27FC236}">
                    <a16:creationId xmlns:a16="http://schemas.microsoft.com/office/drawing/2014/main" id="{22F23A37-7B6D-45FF-8614-DAB487B1A405}"/>
                  </a:ext>
                </a:extLst>
              </p:cNvPr>
              <p:cNvSpPr/>
              <p:nvPr/>
            </p:nvSpPr>
            <p:spPr>
              <a:xfrm>
                <a:off x="4440444" y="4583220"/>
                <a:ext cx="297618" cy="362869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DFC0B86-5AF8-4294-BD4A-0EF9DE9B1F5A}"/>
                  </a:ext>
                </a:extLst>
              </p:cNvPr>
              <p:cNvSpPr txBox="1"/>
              <p:nvPr/>
            </p:nvSpPr>
            <p:spPr>
              <a:xfrm>
                <a:off x="4802753" y="4556554"/>
                <a:ext cx="20962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(normalization)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1299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528</TotalTime>
  <Words>1073</Words>
  <Application>Microsoft Office PowerPoint</Application>
  <PresentationFormat>Widescreen</PresentationFormat>
  <Paragraphs>409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Arial Narrow</vt:lpstr>
      <vt:lpstr>Calibri</vt:lpstr>
      <vt:lpstr>Cambria Math</vt:lpstr>
      <vt:lpstr>Consolas</vt:lpstr>
      <vt:lpstr>Garamond</vt:lpstr>
      <vt:lpstr>Times New Roman</vt:lpstr>
      <vt:lpstr>Wingdings</vt:lpstr>
      <vt:lpstr>SCUTemplate</vt:lpstr>
      <vt:lpstr>Custom Design</vt:lpstr>
      <vt:lpstr>1_SCUTemplate</vt:lpstr>
      <vt:lpstr>CSEN20</vt:lpstr>
      <vt:lpstr>Chapter 10</vt:lpstr>
      <vt:lpstr>32-bit IEEE Floating-Point Format</vt:lpstr>
      <vt:lpstr>Greater Range than 32-bit Integers</vt:lpstr>
      <vt:lpstr>Greater Resolution than 32-bit Integers</vt:lpstr>
      <vt:lpstr>Less Precision than 32-bit Integers</vt:lpstr>
      <vt:lpstr>Interpreting 32-bit IEEE Float</vt:lpstr>
      <vt:lpstr>Arithmetic Processing</vt:lpstr>
      <vt:lpstr>Special Case Handling: Addition</vt:lpstr>
      <vt:lpstr>Special Case Handling: Multiplication</vt:lpstr>
      <vt:lpstr>Special Case Handling: Division</vt:lpstr>
      <vt:lpstr>Special Case Handling Determining Lookup Table Index</vt:lpstr>
      <vt:lpstr>Guard, Round &amp; Sticky Bits</vt:lpstr>
      <vt:lpstr>Round to Nearest Even</vt:lpstr>
      <vt:lpstr>Normalization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176</cp:revision>
  <cp:lastPrinted>2023-09-11T21:46:56Z</cp:lastPrinted>
  <dcterms:created xsi:type="dcterms:W3CDTF">2023-09-09T19:51:41Z</dcterms:created>
  <dcterms:modified xsi:type="dcterms:W3CDTF">2026-08-20T18:27:22Z</dcterms:modified>
</cp:coreProperties>
</file>