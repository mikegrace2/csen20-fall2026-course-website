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42"/>
  </p:notesMasterIdLst>
  <p:handoutMasterIdLst>
    <p:handoutMasterId r:id="rId43"/>
  </p:handoutMasterIdLst>
  <p:sldIdLst>
    <p:sldId id="333" r:id="rId4"/>
    <p:sldId id="337" r:id="rId5"/>
    <p:sldId id="338" r:id="rId6"/>
    <p:sldId id="341" r:id="rId7"/>
    <p:sldId id="342" r:id="rId8"/>
    <p:sldId id="374" r:id="rId9"/>
    <p:sldId id="344" r:id="rId10"/>
    <p:sldId id="349" r:id="rId11"/>
    <p:sldId id="345" r:id="rId12"/>
    <p:sldId id="346" r:id="rId13"/>
    <p:sldId id="347" r:id="rId14"/>
    <p:sldId id="348" r:id="rId15"/>
    <p:sldId id="510" r:id="rId16"/>
    <p:sldId id="350" r:id="rId17"/>
    <p:sldId id="351" r:id="rId18"/>
    <p:sldId id="352" r:id="rId19"/>
    <p:sldId id="354" r:id="rId20"/>
    <p:sldId id="355" r:id="rId21"/>
    <p:sldId id="356" r:id="rId22"/>
    <p:sldId id="357" r:id="rId23"/>
    <p:sldId id="376" r:id="rId24"/>
    <p:sldId id="377" r:id="rId25"/>
    <p:sldId id="378" r:id="rId26"/>
    <p:sldId id="358" r:id="rId27"/>
    <p:sldId id="362" r:id="rId28"/>
    <p:sldId id="363" r:id="rId29"/>
    <p:sldId id="364" r:id="rId30"/>
    <p:sldId id="365" r:id="rId31"/>
    <p:sldId id="379" r:id="rId32"/>
    <p:sldId id="380" r:id="rId33"/>
    <p:sldId id="368" r:id="rId34"/>
    <p:sldId id="369" r:id="rId35"/>
    <p:sldId id="370" r:id="rId36"/>
    <p:sldId id="371" r:id="rId37"/>
    <p:sldId id="372" r:id="rId38"/>
    <p:sldId id="373" r:id="rId39"/>
    <p:sldId id="336" r:id="rId40"/>
    <p:sldId id="509" r:id="rId4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68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9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2012209"/>
            <a:ext cx="10387264" cy="46332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837009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4714AB-CA8D-4FA4-92B4-5E14A654B6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5</a:t>
            </a:r>
            <a:br>
              <a:rPr lang="en-US" dirty="0"/>
            </a:br>
            <a:r>
              <a:rPr lang="en-US" dirty="0"/>
              <a:t>Integer Arithmetic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948820-43CA-4C1D-AFD1-5DA2F4D1EF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Addition and Subtraction</a:t>
            </a:r>
          </a:p>
        </p:txBody>
      </p:sp>
    </p:spTree>
    <p:extLst>
      <p:ext uri="{BB962C8B-B14F-4D97-AF65-F5344CB8AC3E}">
        <p14:creationId xmlns:p14="http://schemas.microsoft.com/office/powerpoint/2010/main" val="3025098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26230"/>
            <a:ext cx="7136673" cy="666899"/>
          </a:xfrm>
        </p:spPr>
        <p:txBody>
          <a:bodyPr/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0583" y="2101586"/>
            <a:ext cx="12835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086100" algn="l"/>
                <a:tab pos="5715000" algn="l"/>
              </a:tabLst>
            </a:pPr>
            <a:r>
              <a:rPr lang="en-US" sz="2800" i="1" dirty="0"/>
              <a:t>Binary</a:t>
            </a:r>
          </a:p>
          <a:p>
            <a:pPr>
              <a:tabLst>
                <a:tab pos="3086100" algn="l"/>
                <a:tab pos="5715000" algn="l"/>
              </a:tabLst>
            </a:pPr>
            <a:endParaRPr lang="en-US" sz="2800" i="1" dirty="0"/>
          </a:p>
          <a:p>
            <a:pPr>
              <a:tabLst>
                <a:tab pos="571500" algn="r"/>
                <a:tab pos="3886200" algn="r"/>
                <a:tab pos="6686550" algn="r"/>
              </a:tabLst>
            </a:pPr>
            <a:r>
              <a:rPr lang="en-US" sz="2800" dirty="0"/>
              <a:t>  	0011</a:t>
            </a:r>
          </a:p>
          <a:p>
            <a:pPr>
              <a:tabLst>
                <a:tab pos="571500" algn="r"/>
                <a:tab pos="3886200" algn="r"/>
                <a:tab pos="6686550" algn="r"/>
              </a:tabLst>
            </a:pPr>
            <a:r>
              <a:rPr lang="en-US" sz="2800" dirty="0"/>
              <a:t>+</a:t>
            </a:r>
            <a:r>
              <a:rPr lang="en-US" sz="2800" u="sng" dirty="0"/>
              <a:t>1010</a:t>
            </a:r>
          </a:p>
          <a:p>
            <a:pPr>
              <a:tabLst>
                <a:tab pos="857250" algn="r"/>
                <a:tab pos="4000500" algn="r"/>
                <a:tab pos="6858000" algn="r"/>
              </a:tabLst>
            </a:pPr>
            <a:r>
              <a:rPr lang="en-US" sz="2800" dirty="0"/>
              <a:t>	  1101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4438569" y="5026231"/>
            <a:ext cx="3794760" cy="1015663"/>
            <a:chOff x="1620391" y="4175686"/>
            <a:chExt cx="3794760" cy="101566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0" name="TextBox 9"/>
            <p:cNvSpPr txBox="1"/>
            <p:nvPr/>
          </p:nvSpPr>
          <p:spPr>
            <a:xfrm>
              <a:off x="1620391" y="4175686"/>
              <a:ext cx="3794760" cy="1015663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lvl="1"/>
              <a:r>
                <a:rPr lang="en-US" dirty="0"/>
                <a:t>A single ADD (or SUB) instruction works for both </a:t>
              </a:r>
              <a:r>
                <a:rPr lang="en-US" b="1" dirty="0">
                  <a:solidFill>
                    <a:srgbClr val="92D050"/>
                  </a:solidFill>
                </a:rPr>
                <a:t>unsigned</a:t>
              </a:r>
              <a:r>
                <a:rPr lang="en-US" dirty="0"/>
                <a:t> and </a:t>
              </a:r>
              <a:r>
                <a:rPr lang="en-US" b="1" dirty="0">
                  <a:solidFill>
                    <a:srgbClr val="FF0000"/>
                  </a:solidFill>
                </a:rPr>
                <a:t>2’s comp</a:t>
              </a:r>
              <a:r>
                <a:rPr lang="en-US" dirty="0"/>
                <a:t>.</a:t>
              </a:r>
            </a:p>
          </p:txBody>
        </p:sp>
        <p:pic>
          <p:nvPicPr>
            <p:cNvPr id="11" name="Picture 10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620391" y="4264417"/>
              <a:ext cx="971826" cy="838200"/>
            </a:xfrm>
            <a:prstGeom prst="rect">
              <a:avLst/>
            </a:prstGeom>
            <a:grpFill/>
          </p:spPr>
        </p:pic>
      </p:grpSp>
      <p:sp>
        <p:nvSpPr>
          <p:cNvPr id="22" name="TextBox 21"/>
          <p:cNvSpPr txBox="1"/>
          <p:nvPr/>
        </p:nvSpPr>
        <p:spPr>
          <a:xfrm>
            <a:off x="2057400" y="2101585"/>
            <a:ext cx="1905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Unsigned</a:t>
            </a:r>
          </a:p>
          <a:p>
            <a:r>
              <a:rPr lang="en-US" sz="2800" i="1" dirty="0"/>
              <a:t> 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3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u="sng" dirty="0">
                <a:latin typeface="Consolas" panose="020B0609020204030204" pitchFamily="49" charset="0"/>
              </a:rPr>
              <a:t>+10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13</a:t>
            </a:r>
            <a:r>
              <a:rPr lang="en-US" sz="2800" baseline="-25000" dirty="0"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1856" y="2108310"/>
            <a:ext cx="31669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  </a:t>
            </a:r>
            <a:r>
              <a:rPr lang="en-US" sz="2800" b="1" dirty="0">
                <a:solidFill>
                  <a:srgbClr val="FF0000"/>
                </a:solidFill>
              </a:rPr>
              <a:t>2’s Complement </a:t>
            </a:r>
          </a:p>
          <a:p>
            <a:r>
              <a:rPr lang="en-US" sz="2800" i="1" dirty="0"/>
              <a:t> 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(+3)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</a:t>
            </a:r>
            <a:r>
              <a:rPr lang="en-US" sz="2800" u="sng" dirty="0">
                <a:latin typeface="Consolas" panose="020B0609020204030204" pitchFamily="49" charset="0"/>
              </a:rPr>
              <a:t>+(-6)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-3</a:t>
            </a:r>
            <a:r>
              <a:rPr lang="en-US" sz="2800" baseline="-25000" dirty="0">
                <a:latin typeface="Consolas" panose="020B0609020204030204" pitchFamily="49" charset="0"/>
              </a:rPr>
              <a:t>10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6915150" y="3503268"/>
            <a:ext cx="90670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 flipV="1">
            <a:off x="3967547" y="3457930"/>
            <a:ext cx="942045" cy="1133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280" y="3765302"/>
            <a:ext cx="533399" cy="52339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148" y="3766324"/>
            <a:ext cx="533399" cy="52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0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1048"/>
            <a:ext cx="10826357" cy="708393"/>
          </a:xfrm>
        </p:spPr>
        <p:txBody>
          <a:bodyPr>
            <a:normAutofit/>
          </a:bodyPr>
          <a:lstStyle/>
          <a:p>
            <a:r>
              <a:rPr lang="en-US" dirty="0"/>
              <a:t>FLAGS </a:t>
            </a:r>
            <a:r>
              <a:rPr lang="en-US" i="1" dirty="0"/>
              <a:t>Current Program Status Register (APSR)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5385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314317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83079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48159" y="2256290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8352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1400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6983" y="2256290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27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531401" y="2636651"/>
            <a:ext cx="7159869" cy="384371"/>
            <a:chOff x="1678200" y="1295400"/>
            <a:chExt cx="5789400" cy="306194"/>
          </a:xfrm>
        </p:grpSpPr>
        <p:sp>
          <p:nvSpPr>
            <p:cNvPr id="12" name="Rectangle 11"/>
            <p:cNvSpPr/>
            <p:nvPr/>
          </p:nvSpPr>
          <p:spPr>
            <a:xfrm>
              <a:off x="1678200" y="1295400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3000" y="1296794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87800" y="1295400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92600" y="1296794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906998" y="1295400"/>
              <a:ext cx="4560602" cy="304800"/>
            </a:xfrm>
            <a:prstGeom prst="rect">
              <a:avLst/>
            </a:prstGeom>
            <a:pattFill prst="wd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i="1" dirty="0"/>
                <a:t>reserved</a:t>
              </a:r>
              <a:endParaRPr lang="en-US" i="1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850734" y="3021023"/>
            <a:ext cx="5867248" cy="1625897"/>
            <a:chOff x="2326734" y="2289486"/>
            <a:chExt cx="5867248" cy="1625897"/>
          </a:xfrm>
        </p:grpSpPr>
        <p:sp>
          <p:nvSpPr>
            <p:cNvPr id="19" name="Rectangle 18"/>
            <p:cNvSpPr/>
            <p:nvPr/>
          </p:nvSpPr>
          <p:spPr>
            <a:xfrm>
              <a:off x="2898098" y="3245796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Overflow flag:</a:t>
              </a:r>
              <a:r>
                <a:rPr lang="en-US" sz="1400" dirty="0"/>
                <a:t> A value of 1 indicates a 2’s complement overflow during an addition, subtraction or compare.</a:t>
              </a:r>
            </a:p>
          </p:txBody>
        </p:sp>
        <p:cxnSp>
          <p:nvCxnSpPr>
            <p:cNvPr id="24" name="Elbow Connector 23"/>
            <p:cNvCxnSpPr>
              <a:stCxn id="19" idx="1"/>
              <a:endCxn id="15" idx="2"/>
            </p:cNvCxnSpPr>
            <p:nvPr/>
          </p:nvCxnSpPr>
          <p:spPr>
            <a:xfrm rot="10800000">
              <a:off x="2326734" y="2289486"/>
              <a:ext cx="571365" cy="129110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473781" y="3019273"/>
            <a:ext cx="6262010" cy="2249407"/>
            <a:chOff x="1949781" y="2287736"/>
            <a:chExt cx="6262010" cy="2249407"/>
          </a:xfrm>
        </p:grpSpPr>
        <p:sp>
          <p:nvSpPr>
            <p:cNvPr id="20" name="Rectangle 19"/>
            <p:cNvSpPr/>
            <p:nvPr/>
          </p:nvSpPr>
          <p:spPr>
            <a:xfrm>
              <a:off x="2915907" y="3867556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Carry flag:</a:t>
              </a:r>
              <a:r>
                <a:rPr lang="en-US" sz="1400" dirty="0"/>
                <a:t> A value of 1 indicates a carry out during </a:t>
              </a:r>
              <a:br>
                <a:rPr lang="en-US" sz="1400" dirty="0"/>
              </a:br>
              <a:r>
                <a:rPr lang="en-US" sz="1400" dirty="0"/>
                <a:t>addition.</a:t>
              </a:r>
            </a:p>
          </p:txBody>
        </p:sp>
        <p:cxnSp>
          <p:nvCxnSpPr>
            <p:cNvPr id="25" name="Elbow Connector 24"/>
            <p:cNvCxnSpPr>
              <a:stCxn id="20" idx="1"/>
              <a:endCxn id="14" idx="2"/>
            </p:cNvCxnSpPr>
            <p:nvPr/>
          </p:nvCxnSpPr>
          <p:spPr>
            <a:xfrm rot="10800000">
              <a:off x="1949781" y="2287736"/>
              <a:ext cx="966126" cy="191461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3096828" y="3021023"/>
            <a:ext cx="6647868" cy="2821589"/>
            <a:chOff x="1572828" y="2289486"/>
            <a:chExt cx="6647868" cy="2821589"/>
          </a:xfrm>
        </p:grpSpPr>
        <p:sp>
          <p:nvSpPr>
            <p:cNvPr id="21" name="Rectangle 20"/>
            <p:cNvSpPr/>
            <p:nvPr/>
          </p:nvSpPr>
          <p:spPr>
            <a:xfrm>
              <a:off x="2924812" y="4441488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Zero flag:</a:t>
              </a:r>
              <a:r>
                <a:rPr lang="en-US" sz="1400" dirty="0"/>
                <a:t> A value of 1 indicates a result </a:t>
              </a:r>
              <a:br>
                <a:rPr lang="en-US" sz="1400" dirty="0"/>
              </a:br>
              <a:r>
                <a:rPr lang="en-US" sz="1400" dirty="0"/>
                <a:t>(or difference) of zero</a:t>
              </a:r>
            </a:p>
          </p:txBody>
        </p:sp>
        <p:cxnSp>
          <p:nvCxnSpPr>
            <p:cNvPr id="26" name="Elbow Connector 25"/>
            <p:cNvCxnSpPr>
              <a:stCxn id="21" idx="1"/>
              <a:endCxn id="13" idx="2"/>
            </p:cNvCxnSpPr>
            <p:nvPr/>
          </p:nvCxnSpPr>
          <p:spPr>
            <a:xfrm rot="10800000">
              <a:off x="1572828" y="2289486"/>
              <a:ext cx="1351984" cy="248679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2719876" y="3019273"/>
            <a:ext cx="7024820" cy="3335197"/>
            <a:chOff x="1195876" y="2287736"/>
            <a:chExt cx="7024820" cy="3335197"/>
          </a:xfrm>
        </p:grpSpPr>
        <p:sp>
          <p:nvSpPr>
            <p:cNvPr id="22" name="Rectangle 21"/>
            <p:cNvSpPr/>
            <p:nvPr/>
          </p:nvSpPr>
          <p:spPr>
            <a:xfrm>
              <a:off x="2924812" y="4953346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Negative flag</a:t>
              </a:r>
              <a:r>
                <a:rPr lang="en-US" sz="1400" dirty="0"/>
                <a:t>: A value of 1 indicates a negative result</a:t>
              </a:r>
            </a:p>
          </p:txBody>
        </p:sp>
        <p:cxnSp>
          <p:nvCxnSpPr>
            <p:cNvPr id="27" name="Elbow Connector 26"/>
            <p:cNvCxnSpPr>
              <a:stCxn id="22" idx="1"/>
              <a:endCxn id="12" idx="2"/>
            </p:cNvCxnSpPr>
            <p:nvPr/>
          </p:nvCxnSpPr>
          <p:spPr>
            <a:xfrm rot="10800000">
              <a:off x="1195876" y="2287736"/>
              <a:ext cx="1728936" cy="30004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3666590" y="2644914"/>
            <a:ext cx="372619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3292786" y="2636651"/>
            <a:ext cx="368668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2908353" y="2637415"/>
            <a:ext cx="379671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2531401" y="2640151"/>
            <a:ext cx="378193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ight Brace 2"/>
          <p:cNvSpPr/>
          <p:nvPr/>
        </p:nvSpPr>
        <p:spPr>
          <a:xfrm rot="16200000">
            <a:off x="3287966" y="1314638"/>
            <a:ext cx="368667" cy="1881796"/>
          </a:xfrm>
          <a:prstGeom prst="rightBrac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531400" y="1691375"/>
            <a:ext cx="6909379" cy="369332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This subset is the Application Processor Status Register (APSR)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3CED39-F3C7-41CE-BAED-5CDCC7BC8EDF}"/>
              </a:ext>
            </a:extLst>
          </p:cNvPr>
          <p:cNvSpPr txBox="1"/>
          <p:nvPr/>
        </p:nvSpPr>
        <p:spPr>
          <a:xfrm>
            <a:off x="9128241" y="3071572"/>
            <a:ext cx="3028072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b="1" dirty="0"/>
              <a:t>Overflow during addition:</a:t>
            </a:r>
          </a:p>
          <a:p>
            <a:pPr marL="0" lvl="1" algn="ctr"/>
            <a:r>
              <a:rPr lang="en-US" b="1" dirty="0">
                <a:solidFill>
                  <a:srgbClr val="92D050"/>
                </a:solidFill>
              </a:rPr>
              <a:t>Unsigned</a:t>
            </a:r>
            <a:r>
              <a:rPr lang="en-US" dirty="0"/>
              <a:t>: C flag = 1</a:t>
            </a:r>
          </a:p>
          <a:p>
            <a:pPr marL="0" lvl="1" algn="ctr"/>
            <a:r>
              <a:rPr lang="en-US" b="1" dirty="0">
                <a:solidFill>
                  <a:srgbClr val="FF0000"/>
                </a:solidFill>
              </a:rPr>
              <a:t>2’s Comp</a:t>
            </a:r>
            <a:r>
              <a:rPr lang="en-US" dirty="0"/>
              <a:t>: V flag =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FC7F7F-AAFB-4C3B-A05E-160BB2A8288C}"/>
              </a:ext>
            </a:extLst>
          </p:cNvPr>
          <p:cNvSpPr txBox="1"/>
          <p:nvPr/>
        </p:nvSpPr>
        <p:spPr>
          <a:xfrm>
            <a:off x="8827681" y="4684577"/>
            <a:ext cx="3328632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b="1" dirty="0"/>
              <a:t>Overflow during subtraction:</a:t>
            </a:r>
          </a:p>
          <a:p>
            <a:pPr marL="0" lvl="1" algn="ctr"/>
            <a:r>
              <a:rPr lang="en-US" b="1" dirty="0">
                <a:solidFill>
                  <a:srgbClr val="92D050"/>
                </a:solidFill>
              </a:rPr>
              <a:t>Unsigned</a:t>
            </a:r>
            <a:r>
              <a:rPr lang="en-US" dirty="0"/>
              <a:t>: C flag = 0</a:t>
            </a:r>
          </a:p>
          <a:p>
            <a:pPr marL="0" lvl="1" algn="ctr"/>
            <a:r>
              <a:rPr lang="en-US" b="1" dirty="0">
                <a:solidFill>
                  <a:srgbClr val="FF0000"/>
                </a:solidFill>
              </a:rPr>
              <a:t>2’s Comp</a:t>
            </a:r>
            <a:r>
              <a:rPr lang="en-US" dirty="0"/>
              <a:t>: V flag = 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DA0286-70E9-4CE5-9840-8D0769CC4524}"/>
              </a:ext>
            </a:extLst>
          </p:cNvPr>
          <p:cNvSpPr/>
          <p:nvPr/>
        </p:nvSpPr>
        <p:spPr>
          <a:xfrm>
            <a:off x="3283079" y="2636650"/>
            <a:ext cx="742032" cy="3686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64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603967"/>
              </p:ext>
            </p:extLst>
          </p:nvPr>
        </p:nvGraphicFramePr>
        <p:xfrm>
          <a:off x="2209800" y="1343536"/>
          <a:ext cx="7772400" cy="4267201"/>
        </p:xfrm>
        <a:graphic>
          <a:graphicData uri="http://schemas.openxmlformats.org/drawingml/2006/table">
            <a:tbl>
              <a:tblPr firstRow="1" firstCol="1" bandRow="1"/>
              <a:tblGrid>
                <a:gridCol w="1999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5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Instruction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Format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Flags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Add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ADD{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}	Rd,Rn,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Op2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Rd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Rn + Op2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N,Z,C,V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Add with Carry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ADC{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}	Rd,Rn,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Op2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Rd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Rn + Op2 + Carry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N,Z,C,V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Subtract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SUB{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}	Rd,Rn,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Op2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Rd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Rn − Op2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N,Z,C,V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Subtract with Carry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SBC{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}	Rd,Rn,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Op2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Rd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Rn − Op2 − ~Carry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N,Z,C,V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Reverse Subtract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RSB{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}	Rd,Rn,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Op2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Rd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Op2 − Rn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N,Z,C,V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910390" y="785433"/>
            <a:ext cx="9356557" cy="617256"/>
          </a:xfrm>
          <a:prstGeom prst="rect">
            <a:avLst/>
          </a:prstGeom>
        </p:spPr>
        <p:txBody>
          <a:bodyPr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ADD AND SUBTRACT INSTRUCTIONS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205496" y="5616533"/>
            <a:ext cx="3396914" cy="1107996"/>
            <a:chOff x="5486401" y="5385137"/>
            <a:chExt cx="3396914" cy="1107996"/>
          </a:xfrm>
        </p:grpSpPr>
        <p:sp>
          <p:nvSpPr>
            <p:cNvPr id="4" name="TextBox 3"/>
            <p:cNvSpPr txBox="1"/>
            <p:nvPr/>
          </p:nvSpPr>
          <p:spPr>
            <a:xfrm>
              <a:off x="5486401" y="5385137"/>
              <a:ext cx="3396914" cy="1107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lvl="1"/>
              <a:r>
                <a:rPr lang="en-US" sz="2000" dirty="0"/>
                <a:t>"</a:t>
              </a:r>
              <a:r>
                <a:rPr lang="en-US" sz="2000" b="1" dirty="0">
                  <a:solidFill>
                    <a:srgbClr val="FF0000"/>
                  </a:solidFill>
                </a:rPr>
                <a:t>S</a:t>
              </a:r>
              <a:r>
                <a:rPr lang="en-US" sz="2000" dirty="0"/>
                <a:t>" must be appended to affect the flags!</a:t>
              </a:r>
            </a:p>
          </p:txBody>
        </p:sp>
        <p:pic>
          <p:nvPicPr>
            <p:cNvPr id="5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/>
          <p:cNvGrpSpPr/>
          <p:nvPr/>
        </p:nvGrpSpPr>
        <p:grpSpPr>
          <a:xfrm>
            <a:off x="6238328" y="5625873"/>
            <a:ext cx="3729788" cy="1015663"/>
            <a:chOff x="5486401" y="5385137"/>
            <a:chExt cx="3729788" cy="1015663"/>
          </a:xfrm>
        </p:grpSpPr>
        <p:sp>
          <p:nvSpPr>
            <p:cNvPr id="8" name="TextBox 7"/>
            <p:cNvSpPr txBox="1"/>
            <p:nvPr/>
          </p:nvSpPr>
          <p:spPr>
            <a:xfrm>
              <a:off x="5486401" y="5385137"/>
              <a:ext cx="3729788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lvl="1"/>
              <a:r>
                <a:rPr lang="en-US" dirty="0"/>
                <a:t>"</a:t>
              </a:r>
              <a:r>
                <a:rPr lang="en-US" b="1" dirty="0">
                  <a:solidFill>
                    <a:srgbClr val="0000FF"/>
                  </a:solidFill>
                </a:rPr>
                <a:t>Op2</a:t>
              </a:r>
              <a:r>
                <a:rPr lang="en-US" dirty="0"/>
                <a:t>" may only be a constant, a register, or a shifted register.</a:t>
              </a:r>
            </a:p>
          </p:txBody>
        </p:sp>
        <p:pic>
          <p:nvPicPr>
            <p:cNvPr id="9" name="Picture 8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/>
          <p:cNvGrpSpPr/>
          <p:nvPr/>
        </p:nvGrpSpPr>
        <p:grpSpPr>
          <a:xfrm>
            <a:off x="5768727" y="2219630"/>
            <a:ext cx="468630" cy="3190672"/>
            <a:chOff x="4267200" y="2187776"/>
            <a:chExt cx="468630" cy="3190672"/>
          </a:xfrm>
        </p:grpSpPr>
        <p:sp>
          <p:nvSpPr>
            <p:cNvPr id="10" name="Rectangle 9"/>
            <p:cNvSpPr/>
            <p:nvPr/>
          </p:nvSpPr>
          <p:spPr>
            <a:xfrm>
              <a:off x="4267200" y="2187776"/>
              <a:ext cx="457200" cy="304800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267200" y="2882032"/>
              <a:ext cx="457200" cy="34853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267200" y="3597994"/>
              <a:ext cx="457200" cy="34853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267200" y="4313956"/>
              <a:ext cx="457200" cy="34853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278630" y="5029918"/>
              <a:ext cx="457200" cy="34853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633147" y="2219630"/>
            <a:ext cx="304800" cy="3190672"/>
            <a:chOff x="4267200" y="2187776"/>
            <a:chExt cx="304800" cy="3190672"/>
          </a:xfrm>
        </p:grpSpPr>
        <p:sp>
          <p:nvSpPr>
            <p:cNvPr id="17" name="Rectangle 16"/>
            <p:cNvSpPr/>
            <p:nvPr/>
          </p:nvSpPr>
          <p:spPr>
            <a:xfrm>
              <a:off x="4267200" y="2187776"/>
              <a:ext cx="304800" cy="261477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67200" y="2882032"/>
              <a:ext cx="304800" cy="348530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267200" y="3597993"/>
              <a:ext cx="304800" cy="359383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267200" y="4313955"/>
              <a:ext cx="304800" cy="359383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78630" y="5029917"/>
              <a:ext cx="293370" cy="348531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121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599069"/>
              </p:ext>
            </p:extLst>
          </p:nvPr>
        </p:nvGraphicFramePr>
        <p:xfrm>
          <a:off x="2476499" y="1211507"/>
          <a:ext cx="8410575" cy="2682240"/>
        </p:xfrm>
        <a:graphic>
          <a:graphicData uri="http://schemas.openxmlformats.org/drawingml/2006/table">
            <a:tbl>
              <a:tblPr firstRow="1" firstCol="1" bandRow="1"/>
              <a:tblGrid>
                <a:gridCol w="841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1200">
                <a:tc>
                  <a:txBody>
                    <a:bodyPr/>
                    <a:lstStyle/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0" algn="l"/>
                          <a:tab pos="1714500" algn="l"/>
                          <a:tab pos="291465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11430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487488" algn="l"/>
                          <a:tab pos="251301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int64_t Add64(int64_t num1, int64_t num2) ;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11430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712913" algn="l"/>
                          <a:tab pos="2859088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.global	Add64</a:t>
                      </a:r>
                    </a:p>
                    <a:p>
                      <a:pPr marL="11430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712913" algn="l"/>
                          <a:tab pos="2859088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.align</a:t>
                      </a:r>
                    </a:p>
                    <a:p>
                      <a:pPr marL="11430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712913" algn="l"/>
                          <a:tab pos="2859088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.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thumb_func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</a:p>
                    <a:p>
                      <a:pPr marL="11430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712913" algn="l"/>
                          <a:tab pos="2859088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Add64:</a:t>
                      </a:r>
                    </a:p>
                    <a:p>
                      <a:pPr marL="11430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712913" algn="l"/>
                          <a:tab pos="2859088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ADDS	R0,R0,R2	// R0 = sum bits 31-0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11430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712913" algn="l"/>
                          <a:tab pos="2859088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ADCS	R1,R1,R3	// R1 = sum bits 63-32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11430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712913" algn="l"/>
                          <a:tab pos="2859088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BX	LR	// Return</a:t>
                      </a:r>
                    </a:p>
                    <a:p>
                      <a:pPr marL="11430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712913" algn="l"/>
                          <a:tab pos="2859088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.end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11430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4213" algn="l"/>
                          <a:tab pos="1487488" algn="l"/>
                          <a:tab pos="2513013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 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59631" marR="5963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0" y="2934371"/>
            <a:ext cx="2021769" cy="21408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399" y="2703373"/>
            <a:ext cx="2021770" cy="21109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902368" y="757775"/>
            <a:ext cx="8229600" cy="601793"/>
          </a:xfrm>
          <a:prstGeom prst="rect">
            <a:avLst/>
          </a:prstGeom>
        </p:spPr>
        <p:txBody>
          <a:bodyPr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MULTIPLE-PRECISION ADDITION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610073" y="5486400"/>
            <a:ext cx="3628801" cy="1015663"/>
            <a:chOff x="5486401" y="5385137"/>
            <a:chExt cx="3536299" cy="1015663"/>
          </a:xfrm>
        </p:grpSpPr>
        <p:sp>
          <p:nvSpPr>
            <p:cNvPr id="5" name="TextBox 4"/>
            <p:cNvSpPr txBox="1"/>
            <p:nvPr/>
          </p:nvSpPr>
          <p:spPr>
            <a:xfrm>
              <a:off x="5486401" y="5385137"/>
              <a:ext cx="3536299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Use an ADC so that the carry is included in the second sum.</a:t>
              </a:r>
            </a:p>
          </p:txBody>
        </p:sp>
        <p:pic>
          <p:nvPicPr>
            <p:cNvPr id="6" name="Picture 5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/>
          <p:cNvGrpSpPr/>
          <p:nvPr/>
        </p:nvGrpSpPr>
        <p:grpSpPr>
          <a:xfrm>
            <a:off x="6644364" y="4204038"/>
            <a:ext cx="3185436" cy="1015663"/>
            <a:chOff x="5486401" y="5385137"/>
            <a:chExt cx="3185436" cy="1015663"/>
          </a:xfrm>
        </p:grpSpPr>
        <p:sp>
          <p:nvSpPr>
            <p:cNvPr id="8" name="TextBox 7"/>
            <p:cNvSpPr txBox="1"/>
            <p:nvPr/>
          </p:nvSpPr>
          <p:spPr>
            <a:xfrm>
              <a:off x="5486401" y="5385137"/>
              <a:ext cx="3185436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Append "S" to ADD so it will record any carry out.</a:t>
              </a:r>
            </a:p>
          </p:txBody>
        </p:sp>
        <p:pic>
          <p:nvPicPr>
            <p:cNvPr id="9" name="Picture 8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ctangle 11"/>
          <p:cNvSpPr/>
          <p:nvPr/>
        </p:nvSpPr>
        <p:spPr>
          <a:xfrm>
            <a:off x="2476501" y="4059527"/>
            <a:ext cx="1895803" cy="39686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7278" y="4060790"/>
            <a:ext cx="1895803" cy="39686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67278" y="5134203"/>
            <a:ext cx="1895803" cy="39686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6500" y="5134203"/>
            <a:ext cx="1895803" cy="39686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1659" y="4131828"/>
            <a:ext cx="88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num1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8737" y="5161737"/>
            <a:ext cx="88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num2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200" y="4615727"/>
            <a:ext cx="1241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alibri"/>
                <a:cs typeface="Calibri"/>
              </a:rPr>
              <a:t>1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alibri"/>
                <a:cs typeface="Calibri"/>
              </a:rPr>
              <a:t>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alibri"/>
                <a:cs typeface="Calibri"/>
              </a:rPr>
              <a:t>: ADDS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97646" y="4619135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alibri"/>
                <a:cs typeface="Calibri"/>
              </a:rPr>
              <a:t>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alibri"/>
                <a:cs typeface="Calibri"/>
              </a:rPr>
              <a:t>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alibri"/>
                <a:cs typeface="Calibri"/>
              </a:rPr>
              <a:t>: ADC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466372" y="6235811"/>
            <a:ext cx="1895803" cy="39686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7149" y="6237074"/>
            <a:ext cx="1895803" cy="39686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R0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222170" y="5701767"/>
            <a:ext cx="357351" cy="3236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3276175" y="5701767"/>
            <a:ext cx="357351" cy="3236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82646" y="3909723"/>
            <a:ext cx="2112748" cy="28547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80427" y="3914979"/>
            <a:ext cx="2112748" cy="28547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17367" y="1843008"/>
            <a:ext cx="3028800" cy="601793"/>
          </a:xfrm>
          <a:prstGeom prst="rect">
            <a:avLst/>
          </a:prstGeom>
        </p:spPr>
        <p:txBody>
          <a:bodyPr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64bit Add</a:t>
            </a:r>
          </a:p>
        </p:txBody>
      </p:sp>
    </p:spTree>
    <p:extLst>
      <p:ext uri="{BB962C8B-B14F-4D97-AF65-F5344CB8AC3E}">
        <p14:creationId xmlns:p14="http://schemas.microsoft.com/office/powerpoint/2010/main" val="70108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72036" y="1944457"/>
            <a:ext cx="82403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LDR	R0,=x	// R0 &lt;-- &amp;x         (get the address of x)</a:t>
            </a:r>
          </a:p>
          <a:p>
            <a:r>
              <a:rPr lang="en-US" dirty="0"/>
              <a:t>LDR	R0,[R0]	// R0 </a:t>
            </a:r>
            <a:r>
              <a:rPr lang="en-US" dirty="0">
                <a:sym typeface="Wingdings" panose="05000000000000000000" pitchFamily="2" charset="2"/>
              </a:rPr>
              <a:t>&lt;-- x           (load the value of what R0 points)</a:t>
            </a:r>
            <a:endParaRPr lang="en-US" dirty="0"/>
          </a:p>
          <a:p>
            <a:r>
              <a:rPr lang="en-US" dirty="0"/>
              <a:t>ADD	R0,R0,5	// R0 &lt;-- R0 + 5  (add 5)</a:t>
            </a:r>
          </a:p>
          <a:p>
            <a:r>
              <a:rPr lang="en-US" dirty="0"/>
              <a:t>LDR	R1,=y	// R1 &lt;-- &amp;y        (get the address of y) </a:t>
            </a:r>
          </a:p>
          <a:p>
            <a:r>
              <a:rPr lang="en-US" dirty="0"/>
              <a:t>STR	R0,[R1]	// R0 --&gt; y          (store R0 to address of 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F2FC2C1-D2B0-4AF5-B32F-76A99D00CB52}"/>
                  </a:ext>
                </a:extLst>
              </p:cNvPr>
              <p:cNvSpPr/>
              <p:nvPr/>
            </p:nvSpPr>
            <p:spPr>
              <a:xfrm>
                <a:off x="2157150" y="4620195"/>
                <a:ext cx="5412661" cy="18732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Common mistake: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LDR	R0,=</a:t>
                </a:r>
                <a:r>
                  <a:rPr lang="en-US" b="1" dirty="0">
                    <a:solidFill>
                      <a:srgbClr val="FF0000"/>
                    </a:solidFill>
                  </a:rPr>
                  <a:t>x+5</a:t>
                </a:r>
                <a:r>
                  <a:rPr lang="en-US" dirty="0">
                    <a:solidFill>
                      <a:schemeClr val="tx1"/>
                    </a:solidFill>
                  </a:rPr>
                  <a:t>  // R0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x+5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is an </a:t>
                </a:r>
                <a:r>
                  <a:rPr lang="en-US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address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expression evaluated at time of assembly.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F2FC2C1-D2B0-4AF5-B32F-76A99D00CB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150" y="4620195"/>
                <a:ext cx="5412661" cy="1873274"/>
              </a:xfrm>
              <a:prstGeom prst="rect">
                <a:avLst/>
              </a:prstGeom>
              <a:blipFill>
                <a:blip r:embed="rId2"/>
                <a:stretch>
                  <a:fillRect l="-1012"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29140"/>
            <a:ext cx="7974874" cy="718646"/>
          </a:xfrm>
        </p:spPr>
        <p:txBody>
          <a:bodyPr>
            <a:normAutofit/>
          </a:bodyPr>
          <a:lstStyle/>
          <a:p>
            <a:r>
              <a:rPr lang="en-US" dirty="0"/>
              <a:t>EXAMPLE Implementing  y = x + 5 ;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07387" y="3119538"/>
            <a:ext cx="2390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Try it with </a:t>
            </a:r>
            <a:r>
              <a:rPr lang="en-US" b="1" dirty="0" err="1">
                <a:solidFill>
                  <a:srgbClr val="FF0000"/>
                </a:solidFill>
              </a:rPr>
              <a:t>CPULator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729" y="3555954"/>
            <a:ext cx="3561168" cy="2863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40526" y="1575125"/>
            <a:ext cx="2685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https://cpulator.01xz.net/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3" y="3801848"/>
            <a:ext cx="8221222" cy="5811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3" y="3198317"/>
            <a:ext cx="2353003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1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A0FE0-C12B-4B4A-993E-7C314D1F5F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ARM Thumb-2</a:t>
            </a:r>
          </a:p>
        </p:txBody>
      </p:sp>
    </p:spTree>
    <p:extLst>
      <p:ext uri="{BB962C8B-B14F-4D97-AF65-F5344CB8AC3E}">
        <p14:creationId xmlns:p14="http://schemas.microsoft.com/office/powerpoint/2010/main" val="66123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223"/>
            <a:ext cx="8311758" cy="626419"/>
          </a:xfrm>
        </p:spPr>
        <p:txBody>
          <a:bodyPr>
            <a:normAutofit/>
          </a:bodyPr>
          <a:lstStyle/>
          <a:p>
            <a:r>
              <a:rPr lang="en-US" b="1" dirty="0"/>
              <a:t>ARM Thumb-2 Instruction Encodings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63321"/>
            <a:ext cx="10393221" cy="4970089"/>
          </a:xfrm>
        </p:spPr>
        <p:txBody>
          <a:bodyPr/>
          <a:lstStyle/>
          <a:p>
            <a:pPr>
              <a:spcBef>
                <a:spcPts val="1350"/>
              </a:spcBef>
            </a:pPr>
            <a:endParaRPr lang="en-US" dirty="0"/>
          </a:p>
          <a:p>
            <a:pPr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Two instruction sizes: 16-bits and 32-bits</a:t>
            </a:r>
          </a:p>
          <a:p>
            <a:pPr>
              <a:spcBef>
                <a:spcPts val="1350"/>
              </a:spcBef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Some operations are available in both versions</a:t>
            </a:r>
          </a:p>
          <a:p>
            <a:pPr>
              <a:spcBef>
                <a:spcPts val="1350"/>
              </a:spcBef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The assembler always uses a 16-bit version if available</a:t>
            </a:r>
          </a:p>
        </p:txBody>
      </p:sp>
    </p:spTree>
    <p:extLst>
      <p:ext uri="{BB962C8B-B14F-4D97-AF65-F5344CB8AC3E}">
        <p14:creationId xmlns:p14="http://schemas.microsoft.com/office/powerpoint/2010/main" val="3846002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1796795" y="2446575"/>
            <a:ext cx="4308046" cy="1134884"/>
            <a:chOff x="453188" y="1044890"/>
            <a:chExt cx="5744061" cy="764294"/>
          </a:xfrm>
        </p:grpSpPr>
        <p:grpSp>
          <p:nvGrpSpPr>
            <p:cNvPr id="30" name="Group 29"/>
            <p:cNvGrpSpPr/>
            <p:nvPr/>
          </p:nvGrpSpPr>
          <p:grpSpPr>
            <a:xfrm>
              <a:off x="453188" y="1178564"/>
              <a:ext cx="5744061" cy="630620"/>
              <a:chOff x="145012" y="809298"/>
              <a:chExt cx="5744061" cy="630620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2"/>
              <a:srcRect t="8189" r="47406" b="82112"/>
              <a:stretch/>
            </p:blipFill>
            <p:spPr>
              <a:xfrm>
                <a:off x="145012" y="809298"/>
                <a:ext cx="5744061" cy="630620"/>
              </a:xfrm>
              <a:prstGeom prst="rect">
                <a:avLst/>
              </a:prstGeom>
            </p:spPr>
          </p:pic>
          <p:sp>
            <p:nvSpPr>
              <p:cNvPr id="6" name="Rectangle 5"/>
              <p:cNvSpPr/>
              <p:nvPr/>
            </p:nvSpPr>
            <p:spPr>
              <a:xfrm>
                <a:off x="3616083" y="1091247"/>
                <a:ext cx="1942602" cy="260463"/>
              </a:xfrm>
              <a:prstGeom prst="rect">
                <a:avLst/>
              </a:prstGeom>
              <a:solidFill>
                <a:srgbClr val="FF0000">
                  <a:alpha val="25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680662" y="1087533"/>
                <a:ext cx="935421" cy="257622"/>
              </a:xfrm>
              <a:prstGeom prst="rect">
                <a:avLst/>
              </a:prstGeom>
              <a:solidFill>
                <a:srgbClr val="0070C0">
                  <a:alpha val="25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656551" y="1044890"/>
              <a:ext cx="3527818" cy="279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b="1" dirty="0"/>
                <a:t>ADDS </a:t>
              </a:r>
              <a:r>
                <a:rPr lang="en-US" sz="2100" b="1" dirty="0">
                  <a:solidFill>
                    <a:srgbClr val="FF0000"/>
                  </a:solidFill>
                </a:rPr>
                <a:t>Rd</a:t>
              </a:r>
              <a:r>
                <a:rPr lang="en-US" sz="2100" b="1" dirty="0"/>
                <a:t>,</a:t>
              </a:r>
              <a:r>
                <a:rPr lang="en-US" sz="2100" b="1" dirty="0">
                  <a:solidFill>
                    <a:srgbClr val="FF0000"/>
                  </a:solidFill>
                </a:rPr>
                <a:t>Rn</a:t>
              </a:r>
              <a:r>
                <a:rPr lang="en-US" sz="2100" b="1" dirty="0"/>
                <a:t>,</a:t>
              </a:r>
              <a:r>
                <a:rPr lang="en-US" sz="21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imm3</a:t>
              </a:r>
            </a:p>
          </p:txBody>
        </p:sp>
      </p:grpSp>
      <p:sp>
        <p:nvSpPr>
          <p:cNvPr id="43" name="Title 42"/>
          <p:cNvSpPr>
            <a:spLocks noGrp="1"/>
          </p:cNvSpPr>
          <p:nvPr>
            <p:ph type="title"/>
          </p:nvPr>
        </p:nvSpPr>
        <p:spPr>
          <a:xfrm>
            <a:off x="960370" y="739547"/>
            <a:ext cx="4120967" cy="724296"/>
          </a:xfrm>
        </p:spPr>
        <p:txBody>
          <a:bodyPr>
            <a:normAutofit/>
          </a:bodyPr>
          <a:lstStyle/>
          <a:p>
            <a:r>
              <a:rPr lang="en-US" sz="4050" dirty="0"/>
              <a:t>ADD Immediate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16141" y="4017256"/>
            <a:ext cx="8081819" cy="1245818"/>
            <a:chOff x="449288" y="5107571"/>
            <a:chExt cx="10775759" cy="1661090"/>
          </a:xfrm>
        </p:grpSpPr>
        <p:grpSp>
          <p:nvGrpSpPr>
            <p:cNvPr id="38" name="Group 37"/>
            <p:cNvGrpSpPr/>
            <p:nvPr/>
          </p:nvGrpSpPr>
          <p:grpSpPr>
            <a:xfrm>
              <a:off x="449288" y="5107571"/>
              <a:ext cx="10775759" cy="1661090"/>
              <a:chOff x="453189" y="3734882"/>
              <a:chExt cx="6119154" cy="79939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453189" y="3882633"/>
                <a:ext cx="6119154" cy="651641"/>
                <a:chOff x="145013" y="3584028"/>
                <a:chExt cx="6119154" cy="651641"/>
              </a:xfrm>
            </p:grpSpPr>
            <p:pic>
              <p:nvPicPr>
                <p:cNvPr id="28" name="Picture 27"/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50902" b="39076"/>
                <a:stretch/>
              </p:blipFill>
              <p:spPr>
                <a:xfrm>
                  <a:off x="145013" y="3584028"/>
                  <a:ext cx="6119154" cy="651641"/>
                </a:xfrm>
                <a:prstGeom prst="rect">
                  <a:avLst/>
                </a:prstGeom>
              </p:spPr>
            </p:pic>
            <p:sp>
              <p:nvSpPr>
                <p:cNvPr id="8" name="Rectangle 7"/>
                <p:cNvSpPr/>
                <p:nvPr/>
              </p:nvSpPr>
              <p:spPr>
                <a:xfrm>
                  <a:off x="2488324" y="3859925"/>
                  <a:ext cx="713201" cy="276646"/>
                </a:xfrm>
                <a:prstGeom prst="rect">
                  <a:avLst/>
                </a:prstGeom>
                <a:solidFill>
                  <a:srgbClr val="FF0000">
                    <a:alpha val="25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3936124" y="3859925"/>
                  <a:ext cx="717331" cy="276646"/>
                </a:xfrm>
                <a:prstGeom prst="rect">
                  <a:avLst/>
                </a:prstGeom>
                <a:solidFill>
                  <a:srgbClr val="FF0000">
                    <a:alpha val="25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1202120" y="3859925"/>
                  <a:ext cx="164037" cy="276646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3406852" y="3859925"/>
                  <a:ext cx="529271" cy="276646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4653454" y="3859925"/>
                  <a:ext cx="1451930" cy="276646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37" name="TextBox 36"/>
              <p:cNvSpPr txBox="1"/>
              <p:nvPr/>
            </p:nvSpPr>
            <p:spPr>
              <a:xfrm>
                <a:off x="568671" y="3734882"/>
                <a:ext cx="4161147" cy="266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b="1" dirty="0"/>
                  <a:t>ADD{</a:t>
                </a:r>
                <a:r>
                  <a:rPr lang="en-US" sz="2100" b="1" dirty="0">
                    <a:solidFill>
                      <a:srgbClr val="00B050"/>
                    </a:solidFill>
                  </a:rPr>
                  <a:t>S</a:t>
                </a:r>
                <a:r>
                  <a:rPr lang="en-US" sz="2100" b="1" dirty="0"/>
                  <a:t>} </a:t>
                </a:r>
                <a:r>
                  <a:rPr lang="en-US" sz="2100" b="1" dirty="0">
                    <a:solidFill>
                      <a:srgbClr val="FF0000"/>
                    </a:solidFill>
                  </a:rPr>
                  <a:t>Rd</a:t>
                </a:r>
                <a:r>
                  <a:rPr lang="en-US" sz="2100" b="1" dirty="0"/>
                  <a:t>,</a:t>
                </a:r>
                <a:r>
                  <a:rPr lang="en-US" sz="2100" b="1" dirty="0">
                    <a:solidFill>
                      <a:srgbClr val="FF0000"/>
                    </a:solidFill>
                  </a:rPr>
                  <a:t>Rn</a:t>
                </a:r>
                <a:r>
                  <a:rPr lang="en-US" sz="2100" b="1" dirty="0"/>
                  <a:t>,</a:t>
                </a:r>
                <a:r>
                  <a:rPr lang="en-US" sz="21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imm12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4221525" y="5962859"/>
              <a:ext cx="347035" cy="596037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02843" y="2584326"/>
          <a:ext cx="4286306" cy="1234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43153">
                  <a:extLst>
                    <a:ext uri="{9D8B030D-6E8A-4147-A177-3AD203B41FA5}">
                      <a16:colId xmlns:a16="http://schemas.microsoft.com/office/drawing/2014/main" val="3572006396"/>
                    </a:ext>
                  </a:extLst>
                </a:gridCol>
                <a:gridCol w="2143153">
                  <a:extLst>
                    <a:ext uri="{9D8B030D-6E8A-4147-A177-3AD203B41FA5}">
                      <a16:colId xmlns:a16="http://schemas.microsoft.com/office/drawing/2014/main" val="150208114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16-bit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32-bit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35108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US" sz="1800" dirty="0"/>
                        <a:t>Registers R0-R7</a:t>
                      </a:r>
                    </a:p>
                    <a:p>
                      <a:r>
                        <a:rPr lang="en-US" sz="1800" dirty="0"/>
                        <a:t>3-bit constants</a:t>
                      </a:r>
                      <a:endParaRPr lang="en-US" sz="1800" baseline="0" dirty="0"/>
                    </a:p>
                    <a:p>
                      <a:r>
                        <a:rPr lang="en-US" sz="1800" dirty="0"/>
                        <a:t>"S" required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Registers R0-R15</a:t>
                      </a:r>
                    </a:p>
                    <a:p>
                      <a:r>
                        <a:rPr lang="en-US" sz="1800" dirty="0"/>
                        <a:t>12-bit constants</a:t>
                      </a:r>
                    </a:p>
                    <a:p>
                      <a:r>
                        <a:rPr lang="en-US" sz="1800" dirty="0"/>
                        <a:t>"S" optional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577694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 flipV="1">
            <a:off x="5924707" y="3204179"/>
            <a:ext cx="332656" cy="7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335260" y="3818766"/>
            <a:ext cx="3952323" cy="534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679E529-EB23-B0BA-0E8E-16C28891E893}"/>
              </a:ext>
            </a:extLst>
          </p:cNvPr>
          <p:cNvSpPr txBox="1"/>
          <p:nvPr/>
        </p:nvSpPr>
        <p:spPr>
          <a:xfrm>
            <a:off x="7089999" y="6149848"/>
            <a:ext cx="748923" cy="3693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12bit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098D2B-6D53-BBF9-9CEE-3AD6691A0190}"/>
              </a:ext>
            </a:extLst>
          </p:cNvPr>
          <p:cNvCxnSpPr>
            <a:stCxn id="2" idx="0"/>
            <a:endCxn id="15" idx="2"/>
          </p:cNvCxnSpPr>
          <p:nvPr/>
        </p:nvCxnSpPr>
        <p:spPr>
          <a:xfrm flipH="1" flipV="1">
            <a:off x="6473701" y="5108634"/>
            <a:ext cx="990760" cy="1041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D2D08B-0C97-739E-3B77-14E8685D2CF5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7464461" y="5158140"/>
            <a:ext cx="1278504" cy="991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631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42"/>
          <p:cNvSpPr>
            <a:spLocks noGrp="1"/>
          </p:cNvSpPr>
          <p:nvPr>
            <p:ph type="title"/>
          </p:nvPr>
        </p:nvSpPr>
        <p:spPr>
          <a:xfrm>
            <a:off x="952558" y="748878"/>
            <a:ext cx="3767831" cy="674859"/>
          </a:xfrm>
        </p:spPr>
        <p:txBody>
          <a:bodyPr>
            <a:normAutofit/>
          </a:bodyPr>
          <a:lstStyle/>
          <a:p>
            <a:r>
              <a:rPr lang="en-US" sz="4050" dirty="0"/>
              <a:t>ADD Register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824418" y="2278258"/>
            <a:ext cx="4271583" cy="1278172"/>
            <a:chOff x="355087" y="1695118"/>
            <a:chExt cx="5695444" cy="1704229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5087" y="2324919"/>
              <a:ext cx="5695444" cy="1074428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579995" y="1695118"/>
              <a:ext cx="3527819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b="1" dirty="0"/>
                <a:t>ADDS </a:t>
              </a:r>
              <a:r>
                <a:rPr lang="en-US" sz="2100" b="1" dirty="0" err="1">
                  <a:solidFill>
                    <a:srgbClr val="FF0000"/>
                  </a:solidFill>
                </a:rPr>
                <a:t>Rd</a:t>
              </a:r>
              <a:r>
                <a:rPr lang="en-US" sz="2100" b="1" dirty="0" err="1"/>
                <a:t>,</a:t>
              </a:r>
              <a:r>
                <a:rPr lang="en-US" sz="2100" b="1" dirty="0" err="1">
                  <a:solidFill>
                    <a:srgbClr val="FF0000"/>
                  </a:solidFill>
                </a:rPr>
                <a:t>Rn</a:t>
              </a:r>
              <a:r>
                <a:rPr lang="en-US" sz="2100" b="1" dirty="0" err="1"/>
                <a:t>,</a:t>
              </a:r>
              <a:r>
                <a:rPr lang="en-US" sz="2100" b="1" dirty="0" err="1">
                  <a:solidFill>
                    <a:srgbClr val="FF0000"/>
                  </a:solidFill>
                </a:rPr>
                <a:t>Rm</a:t>
              </a:r>
              <a:endParaRPr lang="en-US" sz="21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23570" y="2694754"/>
              <a:ext cx="2815382" cy="542431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824418" y="3972825"/>
            <a:ext cx="8154440" cy="1301810"/>
            <a:chOff x="355087" y="4496888"/>
            <a:chExt cx="10872587" cy="1735746"/>
          </a:xfrm>
        </p:grpSpPr>
        <p:sp>
          <p:nvSpPr>
            <p:cNvPr id="37" name="TextBox 36"/>
            <p:cNvSpPr txBox="1"/>
            <p:nvPr/>
          </p:nvSpPr>
          <p:spPr>
            <a:xfrm>
              <a:off x="579995" y="4496888"/>
              <a:ext cx="5116612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b="1" dirty="0"/>
                <a:t>ADD{</a:t>
              </a:r>
              <a:r>
                <a:rPr lang="en-US" sz="2100" b="1" dirty="0">
                  <a:solidFill>
                    <a:srgbClr val="00B050"/>
                  </a:solidFill>
                </a:rPr>
                <a:t>S</a:t>
              </a:r>
              <a:r>
                <a:rPr lang="en-US" sz="2100" b="1" dirty="0"/>
                <a:t>} </a:t>
              </a:r>
              <a:r>
                <a:rPr lang="en-US" sz="2100" b="1" dirty="0" err="1">
                  <a:solidFill>
                    <a:srgbClr val="FF0000"/>
                  </a:solidFill>
                </a:rPr>
                <a:t>Rd</a:t>
              </a:r>
              <a:r>
                <a:rPr lang="en-US" sz="2100" b="1" dirty="0" err="1"/>
                <a:t>,</a:t>
              </a:r>
              <a:r>
                <a:rPr lang="en-US" sz="2100" b="1" dirty="0" err="1">
                  <a:solidFill>
                    <a:srgbClr val="FF0000"/>
                  </a:solidFill>
                </a:rPr>
                <a:t>Rn</a:t>
              </a:r>
              <a:r>
                <a:rPr lang="en-US" sz="2100" b="1" dirty="0" err="1"/>
                <a:t>,</a:t>
              </a:r>
              <a:r>
                <a:rPr lang="en-US" sz="2100" b="1" dirty="0" err="1">
                  <a:solidFill>
                    <a:srgbClr val="FF0000"/>
                  </a:solidFill>
                </a:rPr>
                <a:t>Rm</a:t>
              </a:r>
              <a:r>
                <a:rPr lang="en-US" sz="2100" b="1" dirty="0"/>
                <a:t>{,</a:t>
              </a:r>
              <a:r>
                <a:rPr lang="en-US" sz="21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shift</a:t>
              </a:r>
              <a:r>
                <a:rPr lang="en-US" sz="21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bits</a:t>
              </a:r>
              <a:r>
                <a:rPr lang="en-US" sz="2100" b="1" dirty="0"/>
                <a:t>}</a:t>
              </a:r>
              <a:endParaRPr lang="en-US" sz="21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5087" y="5108006"/>
              <a:ext cx="10872587" cy="1124628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4463032" y="5475890"/>
              <a:ext cx="1233575" cy="583161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095873" y="5481134"/>
              <a:ext cx="1233575" cy="583161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781264" y="5475890"/>
              <a:ext cx="1233575" cy="583161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096000" y="5475889"/>
              <a:ext cx="999873" cy="583161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329448" y="5442062"/>
              <a:ext cx="799092" cy="583161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162098" y="5442062"/>
              <a:ext cx="300934" cy="583161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28539" y="5461598"/>
              <a:ext cx="648555" cy="583161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6016948" y="2278257"/>
          <a:ext cx="4175798" cy="1508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7899">
                  <a:extLst>
                    <a:ext uri="{9D8B030D-6E8A-4147-A177-3AD203B41FA5}">
                      <a16:colId xmlns:a16="http://schemas.microsoft.com/office/drawing/2014/main" val="3572006396"/>
                    </a:ext>
                  </a:extLst>
                </a:gridCol>
                <a:gridCol w="2087899">
                  <a:extLst>
                    <a:ext uri="{9D8B030D-6E8A-4147-A177-3AD203B41FA5}">
                      <a16:colId xmlns:a16="http://schemas.microsoft.com/office/drawing/2014/main" val="150208114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16-bit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32-bit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35108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US" sz="1800" dirty="0"/>
                        <a:t>Registers R0-R7</a:t>
                      </a:r>
                    </a:p>
                    <a:p>
                      <a:r>
                        <a:rPr lang="en-US" sz="1800" dirty="0"/>
                        <a:t>"S" required</a:t>
                      </a:r>
                    </a:p>
                    <a:p>
                      <a:r>
                        <a:rPr lang="en-US" sz="1800" dirty="0"/>
                        <a:t>Rm</a:t>
                      </a:r>
                      <a:r>
                        <a:rPr lang="en-US" sz="1800" baseline="0" dirty="0"/>
                        <a:t> not shifted</a:t>
                      </a:r>
                      <a:endParaRPr lang="en-US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Registers R0-R15</a:t>
                      </a:r>
                    </a:p>
                    <a:p>
                      <a:r>
                        <a:rPr lang="en-US" sz="1800" dirty="0"/>
                        <a:t>"S" optional</a:t>
                      </a:r>
                    </a:p>
                    <a:p>
                      <a:r>
                        <a:rPr lang="en-US" sz="1800" dirty="0"/>
                        <a:t>Shifted Rm optional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577694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 flipV="1">
            <a:off x="4322618" y="2508932"/>
            <a:ext cx="1694330" cy="519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37" idx="3"/>
          </p:cNvCxnSpPr>
          <p:nvPr/>
        </p:nvCxnSpPr>
        <p:spPr>
          <a:xfrm flipH="1">
            <a:off x="5830558" y="3787017"/>
            <a:ext cx="3124516" cy="393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415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6516" y="749192"/>
            <a:ext cx="8002947" cy="722672"/>
          </a:xfrm>
        </p:spPr>
        <p:txBody>
          <a:bodyPr>
            <a:normAutofit/>
          </a:bodyPr>
          <a:lstStyle/>
          <a:p>
            <a:r>
              <a:rPr lang="en-US" b="1" dirty="0"/>
              <a:t>Reducing Code Size </a:t>
            </a:r>
            <a:r>
              <a:rPr lang="en-US" b="1" dirty="0">
                <a:sym typeface="Wingdings" panose="05000000000000000000" pitchFamily="2" charset="2"/>
              </a:rPr>
              <a:t>= Faster Code</a:t>
            </a:r>
            <a:endParaRPr lang="en-US" i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36516" y="1703428"/>
            <a:ext cx="10429316" cy="4913940"/>
          </a:xfrm>
        </p:spPr>
        <p:txBody>
          <a:bodyPr>
            <a:normAutofit/>
          </a:bodyPr>
          <a:lstStyle/>
          <a:p>
            <a:pPr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Use 16-bit instructions whenever possible.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chemeClr val="tx1"/>
                </a:solidFill>
              </a:rPr>
              <a:t>Most 16-bit instructions </a:t>
            </a:r>
            <a:r>
              <a:rPr lang="en-US" b="1" i="1" u="sng" dirty="0">
                <a:solidFill>
                  <a:srgbClr val="FF0000"/>
                </a:solidFill>
              </a:rPr>
              <a:t>require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 letter “S”</a:t>
            </a:r>
          </a:p>
          <a:p>
            <a:pPr lvl="1"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Always add “S” unless flags must </a:t>
            </a:r>
            <a:r>
              <a:rPr lang="en-US" u="sng" dirty="0">
                <a:solidFill>
                  <a:schemeClr val="tx1"/>
                </a:solidFill>
              </a:rPr>
              <a:t>not</a:t>
            </a:r>
            <a:r>
              <a:rPr lang="en-US" dirty="0">
                <a:solidFill>
                  <a:schemeClr val="tx1"/>
                </a:solidFill>
              </a:rPr>
              <a:t> be changed</a:t>
            </a:r>
          </a:p>
          <a:p>
            <a:pPr lvl="1">
              <a:spcBef>
                <a:spcPts val="450"/>
              </a:spcBef>
            </a:pPr>
            <a:r>
              <a:rPr lang="en-US" dirty="0">
                <a:solidFill>
                  <a:schemeClr val="tx1"/>
                </a:solidFill>
              </a:rPr>
              <a:t>Without “S”, instruction </a:t>
            </a:r>
            <a:r>
              <a:rPr lang="en-US" u="sng" dirty="0">
                <a:solidFill>
                  <a:schemeClr val="tx1"/>
                </a:solidFill>
              </a:rPr>
              <a:t>will</a:t>
            </a:r>
            <a:r>
              <a:rPr lang="en-US" dirty="0">
                <a:solidFill>
                  <a:schemeClr val="tx1"/>
                </a:solidFill>
              </a:rPr>
              <a:t> be 32 bits wide!</a:t>
            </a:r>
          </a:p>
          <a:p>
            <a:pPr>
              <a:spcBef>
                <a:spcPts val="1800"/>
              </a:spcBef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chemeClr val="tx1"/>
                </a:solidFill>
              </a:rPr>
              <a:t>Use the “narrow” 16-bit instruction if available (e.g., ADD</a:t>
            </a:r>
            <a:r>
              <a:rPr lang="en-US" b="1" dirty="0">
                <a:solidFill>
                  <a:srgbClr val="FF0000"/>
                </a:solidFill>
              </a:rPr>
              <a:t>.N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Doesn’t change the instruction, but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Causes error message </a:t>
            </a:r>
            <a:r>
              <a:rPr lang="en-US" dirty="0">
                <a:solidFill>
                  <a:schemeClr val="tx1"/>
                </a:solidFill>
              </a:rPr>
              <a:t>if there is no 16-bit version</a:t>
            </a:r>
          </a:p>
          <a:p>
            <a:pPr>
              <a:spcBef>
                <a:spcPts val="1800"/>
              </a:spcBef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chemeClr val="tx1"/>
                </a:solidFill>
              </a:rPr>
              <a:t>Use the “wide” 32-bit instruction (e.g., ADD</a:t>
            </a:r>
            <a:r>
              <a:rPr lang="en-US" b="1" dirty="0">
                <a:solidFill>
                  <a:srgbClr val="FF0000"/>
                </a:solidFill>
              </a:rPr>
              <a:t>.W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36170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00892-770F-7633-70AA-BD70A8F5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1582-1C6F-B0F0-7AA8-FF273CBD7B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5</a:t>
            </a:r>
            <a:br>
              <a:rPr lang="en-US" dirty="0"/>
            </a:br>
            <a:r>
              <a:rPr lang="en-US" dirty="0"/>
              <a:t>Integer Arithmetic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C50E5-1764-0115-F479-79E4DDFCD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269856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20321"/>
            <a:ext cx="6346600" cy="697320"/>
          </a:xfrm>
        </p:spPr>
        <p:txBody>
          <a:bodyPr/>
          <a:lstStyle/>
          <a:p>
            <a:r>
              <a:rPr lang="en-US" dirty="0"/>
              <a:t>DECIMAL MULTIPLICATION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139789"/>
            <a:ext cx="4114800" cy="12926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algn="ctr"/>
            <a:r>
              <a:rPr lang="en-US" sz="2400" dirty="0"/>
              <a:t>The product may require as many digits as the </a:t>
            </a:r>
            <a:br>
              <a:rPr lang="en-US" sz="2400" dirty="0"/>
            </a:br>
            <a:r>
              <a:rPr lang="en-US" sz="2400" dirty="0">
                <a:solidFill>
                  <a:srgbClr val="FF0000"/>
                </a:solidFill>
              </a:rPr>
              <a:t>total #</a:t>
            </a:r>
            <a:r>
              <a:rPr lang="en-US" sz="2400" dirty="0"/>
              <a:t> of digits!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446020" y="2023595"/>
            <a:ext cx="7764780" cy="1447617"/>
            <a:chOff x="922020" y="1551154"/>
            <a:chExt cx="7764780" cy="1447617"/>
          </a:xfrm>
        </p:grpSpPr>
        <p:sp>
          <p:nvSpPr>
            <p:cNvPr id="5" name="TextBox 4"/>
            <p:cNvSpPr txBox="1"/>
            <p:nvPr/>
          </p:nvSpPr>
          <p:spPr>
            <a:xfrm>
              <a:off x="3775710" y="1613776"/>
              <a:ext cx="20574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Consolas" panose="020B0609020204030204" pitchFamily="49" charset="0"/>
                </a:rPr>
                <a:t>    99</a:t>
              </a:r>
            </a:p>
            <a:p>
              <a:r>
                <a:rPr lang="en-US" sz="2800" u="sng" dirty="0">
                  <a:latin typeface="Consolas" panose="020B0609020204030204" pitchFamily="49" charset="0"/>
                </a:rPr>
                <a:t>   ×99</a:t>
              </a:r>
            </a:p>
            <a:p>
              <a:r>
                <a:rPr lang="en-US" sz="2800" dirty="0">
                  <a:latin typeface="Consolas" panose="020B0609020204030204" pitchFamily="49" charset="0"/>
                </a:rPr>
                <a:t> 9,801</a:t>
              </a:r>
              <a:r>
                <a:rPr lang="en-US" sz="2800" baseline="-25000" dirty="0">
                  <a:latin typeface="Consolas" panose="020B0609020204030204" pitchFamily="49" charset="0"/>
                </a:rPr>
                <a:t>10</a:t>
              </a:r>
              <a:endParaRPr lang="en-US" sz="2800" dirty="0">
                <a:latin typeface="Consolas" panose="020B0609020204030204" pitchFamily="49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22020" y="1551154"/>
              <a:ext cx="20574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Consolas" panose="020B0609020204030204" pitchFamily="49" charset="0"/>
                </a:rPr>
                <a:t>     9</a:t>
              </a:r>
            </a:p>
            <a:p>
              <a:r>
                <a:rPr lang="en-US" sz="2800" u="sng" dirty="0">
                  <a:latin typeface="Consolas" panose="020B0609020204030204" pitchFamily="49" charset="0"/>
                </a:rPr>
                <a:t>  ×999</a:t>
              </a:r>
            </a:p>
            <a:p>
              <a:r>
                <a:rPr lang="en-US" sz="2800" dirty="0">
                  <a:latin typeface="Consolas" panose="020B0609020204030204" pitchFamily="49" charset="0"/>
                </a:rPr>
                <a:t> 8,991</a:t>
              </a:r>
              <a:r>
                <a:rPr lang="en-US" sz="2800" baseline="-25000" dirty="0">
                  <a:latin typeface="Consolas" panose="020B0609020204030204" pitchFamily="49" charset="0"/>
                </a:rPr>
                <a:t>10</a:t>
              </a:r>
              <a:endParaRPr lang="en-US" sz="2800" dirty="0">
                <a:latin typeface="Consolas" panose="020B0609020204030204" pitchFamily="49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29400" y="1613776"/>
              <a:ext cx="20574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Consolas" panose="020B0609020204030204" pitchFamily="49" charset="0"/>
                </a:rPr>
                <a:t>    999</a:t>
              </a:r>
            </a:p>
            <a:p>
              <a:r>
                <a:rPr lang="en-US" sz="2800" u="sng" dirty="0">
                  <a:latin typeface="Consolas" panose="020B0609020204030204" pitchFamily="49" charset="0"/>
                </a:rPr>
                <a:t>   ×999</a:t>
              </a:r>
            </a:p>
            <a:p>
              <a:r>
                <a:rPr lang="en-US" sz="2800" dirty="0">
                  <a:latin typeface="Consolas" panose="020B0609020204030204" pitchFamily="49" charset="0"/>
                </a:rPr>
                <a:t>998,001</a:t>
              </a:r>
              <a:r>
                <a:rPr lang="en-US" sz="2800" baseline="-25000" dirty="0">
                  <a:latin typeface="Consolas" panose="020B0609020204030204" pitchFamily="49" charset="0"/>
                </a:rPr>
                <a:t>10</a:t>
              </a:r>
              <a:endParaRPr lang="en-US" sz="2800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0549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72839" y="3914795"/>
            <a:ext cx="21384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     0011</a:t>
            </a:r>
          </a:p>
          <a:p>
            <a:r>
              <a:rPr lang="en-US" sz="2800" u="sng" dirty="0">
                <a:latin typeface="Consolas" panose="020B0609020204030204" pitchFamily="49" charset="0"/>
              </a:rPr>
              <a:t>    ×0010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0000 0110</a:t>
            </a:r>
            <a:r>
              <a:rPr lang="en-US" sz="2800" baseline="-25000" dirty="0">
                <a:latin typeface="Consolas" panose="020B0609020204030204" pitchFamily="49" charset="0"/>
              </a:rPr>
              <a:t>2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59066" y="4834295"/>
            <a:ext cx="1767439" cy="46549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53790" y="2699272"/>
            <a:ext cx="1775460" cy="503849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79396" y="1826681"/>
            <a:ext cx="21636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     1100</a:t>
            </a:r>
          </a:p>
          <a:p>
            <a:r>
              <a:rPr lang="en-US" sz="2800" u="sng" dirty="0">
                <a:latin typeface="Consolas" panose="020B0609020204030204" pitchFamily="49" charset="0"/>
              </a:rPr>
              <a:t>    ×1101</a:t>
            </a:r>
            <a:br>
              <a:rPr lang="en-US" sz="2800" u="sng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1001 1100</a:t>
            </a:r>
            <a:r>
              <a:rPr lang="en-US" sz="2800" baseline="-25000" dirty="0">
                <a:latin typeface="Consolas" panose="020B0609020204030204" pitchFamily="49" charset="0"/>
              </a:rPr>
              <a:t>2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209"/>
            <a:ext cx="5941537" cy="674508"/>
          </a:xfrm>
        </p:spPr>
        <p:txBody>
          <a:bodyPr/>
          <a:lstStyle/>
          <a:p>
            <a:r>
              <a:rPr lang="en-US" dirty="0"/>
              <a:t>BINARY MULTIPLICATION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1889661"/>
            <a:ext cx="4114800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r>
              <a:rPr lang="en-US" dirty="0"/>
              <a:t>Product may require as many digits as the </a:t>
            </a:r>
            <a:r>
              <a:rPr lang="en-US" dirty="0">
                <a:solidFill>
                  <a:srgbClr val="FF0000"/>
                </a:solidFill>
              </a:rPr>
              <a:t>total # </a:t>
            </a:r>
            <a:r>
              <a:rPr lang="en-US" dirty="0"/>
              <a:t>of digits.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096000" y="2960681"/>
            <a:ext cx="4114800" cy="1015663"/>
            <a:chOff x="5486401" y="5385137"/>
            <a:chExt cx="4114800" cy="101566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" name="TextBox 15"/>
            <p:cNvSpPr txBox="1"/>
            <p:nvPr/>
          </p:nvSpPr>
          <p:spPr>
            <a:xfrm>
              <a:off x="5486401" y="5385137"/>
              <a:ext cx="4114800" cy="1015663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A "</a:t>
              </a:r>
              <a:r>
                <a:rPr lang="en-US" b="1" dirty="0">
                  <a:solidFill>
                    <a:srgbClr val="FF0000"/>
                  </a:solidFill>
                </a:rPr>
                <a:t>double length product</a:t>
              </a:r>
              <a:r>
                <a:rPr lang="en-US" dirty="0"/>
                <a:t>" uses the full product width:</a:t>
              </a:r>
            </a:p>
            <a:p>
              <a:pPr marL="1085850"/>
              <a:r>
                <a:rPr lang="en-US" dirty="0"/>
                <a:t>2N bits </a:t>
              </a:r>
              <a:r>
                <a:rPr lang="en-US" dirty="0">
                  <a:sym typeface="Wingdings" panose="05000000000000000000" pitchFamily="2" charset="2"/>
                </a:rPr>
                <a:t> N bits × N bits</a:t>
              </a:r>
              <a:endParaRPr lang="en-US" dirty="0"/>
            </a:p>
          </p:txBody>
        </p:sp>
        <p:pic>
          <p:nvPicPr>
            <p:cNvPr id="17" name="Picture 16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grpFill/>
          </p:spPr>
        </p:pic>
      </p:grpSp>
      <p:grpSp>
        <p:nvGrpSpPr>
          <p:cNvPr id="18" name="Group 17"/>
          <p:cNvGrpSpPr/>
          <p:nvPr/>
        </p:nvGrpSpPr>
        <p:grpSpPr>
          <a:xfrm>
            <a:off x="6096000" y="4385836"/>
            <a:ext cx="4287253" cy="1015663"/>
            <a:chOff x="5486400" y="5385137"/>
            <a:chExt cx="4287253" cy="101566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" name="TextBox 18"/>
            <p:cNvSpPr txBox="1"/>
            <p:nvPr/>
          </p:nvSpPr>
          <p:spPr>
            <a:xfrm>
              <a:off x="5486400" y="5385137"/>
              <a:ext cx="4287253" cy="1015663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A "</a:t>
              </a:r>
              <a:r>
                <a:rPr lang="en-US" b="1" dirty="0">
                  <a:solidFill>
                    <a:srgbClr val="0000FF"/>
                  </a:solidFill>
                </a:rPr>
                <a:t>single length product</a:t>
              </a:r>
              <a:r>
                <a:rPr lang="en-US" dirty="0"/>
                <a:t>" keeps only least-significant half: N bits </a:t>
              </a:r>
              <a:r>
                <a:rPr lang="en-US" dirty="0">
                  <a:sym typeface="Wingdings" panose="05000000000000000000" pitchFamily="2" charset="2"/>
                </a:rPr>
                <a:t> N bits × N bits</a:t>
              </a:r>
              <a:endParaRPr lang="en-US" dirty="0"/>
            </a:p>
          </p:txBody>
        </p:sp>
        <p:pic>
          <p:nvPicPr>
            <p:cNvPr id="20" name="Picture 19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grpFill/>
          </p:spPr>
        </p:pic>
      </p:grpSp>
      <p:sp>
        <p:nvSpPr>
          <p:cNvPr id="21" name="TextBox 20"/>
          <p:cNvSpPr txBox="1"/>
          <p:nvPr/>
        </p:nvSpPr>
        <p:spPr>
          <a:xfrm>
            <a:off x="2070874" y="1826681"/>
            <a:ext cx="15638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 12</a:t>
            </a:r>
          </a:p>
          <a:p>
            <a:r>
              <a:rPr lang="en-US" sz="2800" u="sng" dirty="0">
                <a:latin typeface="Consolas" panose="020B0609020204030204" pitchFamily="49" charset="0"/>
              </a:rPr>
              <a:t>×13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156</a:t>
            </a:r>
            <a:r>
              <a:rPr lang="en-US" sz="2800" baseline="-25000" dirty="0">
                <a:latin typeface="Consolas" panose="020B0609020204030204" pitchFamily="49" charset="0"/>
              </a:rPr>
              <a:t>10</a:t>
            </a:r>
            <a:r>
              <a:rPr lang="en-US" sz="2800" dirty="0">
                <a:latin typeface="Consolas" panose="020B0609020204030204" pitchFamily="49" charset="0"/>
              </a:rPr>
              <a:t> 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0874" y="3929129"/>
            <a:ext cx="15638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  3</a:t>
            </a:r>
          </a:p>
          <a:p>
            <a:r>
              <a:rPr lang="en-US" sz="2800" u="sng" dirty="0">
                <a:latin typeface="Consolas" panose="020B0609020204030204" pitchFamily="49" charset="0"/>
              </a:rPr>
              <a:t> ×2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6</a:t>
            </a:r>
            <a:r>
              <a:rPr lang="en-US" sz="2800" baseline="-25000" dirty="0">
                <a:latin typeface="Consolas" panose="020B0609020204030204" pitchFamily="49" charset="0"/>
              </a:rPr>
              <a:t>10</a:t>
            </a:r>
            <a:r>
              <a:rPr lang="en-US" sz="2800" dirty="0">
                <a:latin typeface="Consolas" panose="020B0609020204030204" pitchFamily="49" charset="0"/>
              </a:rPr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677933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02466" y="4469498"/>
            <a:ext cx="20906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0000 1100</a:t>
            </a:r>
            <a:r>
              <a:rPr lang="en-US" sz="2800" baseline="-25000" dirty="0">
                <a:latin typeface="Consolas" panose="020B0609020204030204" pitchFamily="49" charset="0"/>
              </a:rPr>
              <a:t>2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01237" y="4452986"/>
            <a:ext cx="20906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1001 1100</a:t>
            </a:r>
            <a:r>
              <a:rPr lang="en-US" sz="2800" baseline="-25000" dirty="0">
                <a:latin typeface="Consolas" panose="020B0609020204030204" pitchFamily="49" charset="0"/>
              </a:rPr>
              <a:t>2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186864" y="4455766"/>
            <a:ext cx="865868" cy="523220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893698" y="4479709"/>
            <a:ext cx="851122" cy="523220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43275" y="2289662"/>
            <a:ext cx="12483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 1100</a:t>
            </a:r>
          </a:p>
          <a:p>
            <a:r>
              <a:rPr lang="en-US" sz="2800" u="sng" dirty="0">
                <a:latin typeface="Consolas" panose="020B0609020204030204" pitchFamily="49" charset="0"/>
              </a:rPr>
              <a:t>×1101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25214"/>
            <a:ext cx="5997684" cy="666439"/>
          </a:xfrm>
        </p:spPr>
        <p:txBody>
          <a:bodyPr/>
          <a:lstStyle/>
          <a:p>
            <a:r>
              <a:rPr lang="en-US" dirty="0"/>
              <a:t>BINARY MULTIPLICATION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2168" y="2301177"/>
            <a:ext cx="12720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 12</a:t>
            </a:r>
          </a:p>
          <a:p>
            <a:r>
              <a:rPr lang="en-US" sz="2800" u="sng" dirty="0">
                <a:latin typeface="Consolas" panose="020B0609020204030204" pitchFamily="49" charset="0"/>
              </a:rPr>
              <a:t>×13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156</a:t>
            </a:r>
            <a:r>
              <a:rPr lang="en-US" sz="2800" baseline="-25000" dirty="0">
                <a:latin typeface="Consolas" panose="020B0609020204030204" pitchFamily="49" charset="0"/>
              </a:rPr>
              <a:t>10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1007" y="2298550"/>
            <a:ext cx="11227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 -4</a:t>
            </a:r>
          </a:p>
          <a:p>
            <a:r>
              <a:rPr lang="en-US" sz="2800" u="sng" dirty="0">
                <a:latin typeface="Consolas" panose="020B0609020204030204" pitchFamily="49" charset="0"/>
              </a:rPr>
              <a:t>×-3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+12</a:t>
            </a:r>
            <a:r>
              <a:rPr lang="en-US" sz="2800" baseline="-25000" dirty="0">
                <a:latin typeface="Consolas" panose="020B0609020204030204" pitchFamily="49" charset="0"/>
              </a:rPr>
              <a:t>10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2436" y="1775331"/>
            <a:ext cx="203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Unsigned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4737" y="1775331"/>
            <a:ext cx="1877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2’s comp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1578" y="1775330"/>
            <a:ext cx="1651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Binary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89973" y="4583791"/>
            <a:ext cx="325821" cy="261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/>
          <p:cNvSpPr/>
          <p:nvPr/>
        </p:nvSpPr>
        <p:spPr>
          <a:xfrm>
            <a:off x="8413061" y="4583791"/>
            <a:ext cx="325821" cy="30412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076494" y="3363311"/>
            <a:ext cx="810903" cy="9354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6271023" y="3363311"/>
            <a:ext cx="767256" cy="9354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3284970" y="2803072"/>
            <a:ext cx="1956608" cy="158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791213" y="2780370"/>
            <a:ext cx="1947669" cy="5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2788317" y="3363310"/>
            <a:ext cx="0" cy="10896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9320497" y="3268716"/>
            <a:ext cx="0" cy="10896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7904" y="5928169"/>
            <a:ext cx="5639493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signed</a:t>
            </a:r>
            <a:r>
              <a:rPr lang="en-US" dirty="0"/>
              <a:t> and </a:t>
            </a:r>
            <a:r>
              <a:rPr lang="en-US" b="1" dirty="0">
                <a:solidFill>
                  <a:srgbClr val="92D050"/>
                </a:solidFill>
              </a:rPr>
              <a:t>unsigned</a:t>
            </a:r>
            <a:r>
              <a:rPr lang="en-US" dirty="0"/>
              <a:t> products are </a:t>
            </a:r>
            <a:r>
              <a:rPr lang="en-US" sz="2400" b="1" dirty="0">
                <a:solidFill>
                  <a:srgbClr val="FF0000"/>
                </a:solidFill>
              </a:rPr>
              <a:t>different</a:t>
            </a:r>
            <a:r>
              <a:rPr lang="en-US" dirty="0"/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0" y="5954590"/>
            <a:ext cx="41148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r>
              <a:rPr lang="en-US" dirty="0"/>
              <a:t>Least-significant </a:t>
            </a:r>
            <a:r>
              <a:rPr lang="en-US" b="1" dirty="0"/>
              <a:t>halves</a:t>
            </a:r>
            <a:r>
              <a:rPr lang="en-US" dirty="0"/>
              <a:t> are the </a:t>
            </a:r>
            <a:r>
              <a:rPr lang="en-US" b="1" dirty="0">
                <a:solidFill>
                  <a:srgbClr val="00B050"/>
                </a:solidFill>
              </a:rPr>
              <a:t>same</a:t>
            </a:r>
            <a:r>
              <a:rPr lang="en-US" dirty="0"/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6955" y="4452986"/>
            <a:ext cx="939909" cy="52322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964414" y="4479709"/>
            <a:ext cx="939909" cy="52322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cxnSpLocks/>
            <a:endCxn id="50" idx="2"/>
          </p:cNvCxnSpPr>
          <p:nvPr/>
        </p:nvCxnSpPr>
        <p:spPr>
          <a:xfrm flipH="1" flipV="1">
            <a:off x="5319259" y="5002929"/>
            <a:ext cx="4359579" cy="954441"/>
          </a:xfrm>
          <a:prstGeom prst="straightConnector1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 flipH="1" flipV="1">
            <a:off x="7655713" y="4986417"/>
            <a:ext cx="2023125" cy="952377"/>
          </a:xfrm>
          <a:prstGeom prst="straightConnector1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endCxn id="24" idx="2"/>
          </p:cNvCxnSpPr>
          <p:nvPr/>
        </p:nvCxnSpPr>
        <p:spPr>
          <a:xfrm flipH="1" flipV="1">
            <a:off x="4434369" y="5002929"/>
            <a:ext cx="533131" cy="94933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260A7EA-5E04-E233-C1B8-F571B4A94866}"/>
              </a:ext>
            </a:extLst>
          </p:cNvPr>
          <p:cNvCxnSpPr>
            <a:cxnSpLocks/>
          </p:cNvCxnSpPr>
          <p:nvPr/>
        </p:nvCxnSpPr>
        <p:spPr>
          <a:xfrm flipV="1">
            <a:off x="5142037" y="5014749"/>
            <a:ext cx="1441992" cy="9560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657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37734"/>
            <a:ext cx="5360010" cy="675570"/>
          </a:xfrm>
        </p:spPr>
        <p:txBody>
          <a:bodyPr/>
          <a:lstStyle/>
          <a:p>
            <a:r>
              <a:rPr lang="en-US" dirty="0"/>
              <a:t>MULTIPLICATION IN C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715000" y="2286722"/>
            <a:ext cx="4712368" cy="1015663"/>
            <a:chOff x="5486401" y="5385137"/>
            <a:chExt cx="4712368" cy="1015663"/>
          </a:xfrm>
        </p:grpSpPr>
        <p:sp>
          <p:nvSpPr>
            <p:cNvPr id="33" name="TextBox 32"/>
            <p:cNvSpPr txBox="1"/>
            <p:nvPr/>
          </p:nvSpPr>
          <p:spPr>
            <a:xfrm>
              <a:off x="5486401" y="5385137"/>
              <a:ext cx="4712368" cy="10156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The data type (and size) of the product is the same as operands. Thus: </a:t>
              </a:r>
              <a:r>
                <a:rPr lang="en-US" dirty="0">
                  <a:solidFill>
                    <a:srgbClr val="FF0000"/>
                  </a:solidFill>
                </a:rPr>
                <a:t>32 bits × 32 bits </a:t>
              </a:r>
              <a:r>
                <a:rPr lang="en-US" dirty="0">
                  <a:solidFill>
                    <a:srgbClr val="FF0000"/>
                  </a:solidFill>
                  <a:sym typeface="Wingdings" panose="05000000000000000000" pitchFamily="2" charset="2"/>
                </a:rPr>
                <a:t> 32 bits</a:t>
              </a:r>
              <a:r>
                <a:rPr lang="en-US" dirty="0"/>
                <a:t>.</a:t>
              </a:r>
            </a:p>
          </p:txBody>
        </p:sp>
        <p:pic>
          <p:nvPicPr>
            <p:cNvPr id="34" name="Picture 33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/>
          <p:cNvSpPr txBox="1"/>
          <p:nvPr/>
        </p:nvSpPr>
        <p:spPr>
          <a:xfrm>
            <a:off x="944537" y="1492741"/>
            <a:ext cx="6629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Consider how integer multiplication works in C:</a:t>
            </a:r>
          </a:p>
          <a:p>
            <a:endParaRPr lang="en-US" sz="2400" dirty="0"/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int32_t a, b;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int32_t c;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c = a * b;</a:t>
            </a:r>
          </a:p>
          <a:p>
            <a:pPr lvl="1"/>
            <a:endParaRPr lang="en-US" sz="2400" dirty="0">
              <a:latin typeface="Consolas" panose="020B0609020204030204" pitchFamily="49" charset="0"/>
            </a:endParaRPr>
          </a:p>
          <a:p>
            <a:pPr lvl="1"/>
            <a:endParaRPr lang="en-US" sz="2400" b="1" dirty="0">
              <a:latin typeface="Consolas" panose="020B0609020204030204" pitchFamily="49" charset="0"/>
            </a:endParaRPr>
          </a:p>
          <a:p>
            <a:pPr lvl="1"/>
            <a:endParaRPr lang="en-US" sz="2400" dirty="0">
              <a:latin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uint32_t x, y;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uint32_t z;</a:t>
            </a:r>
          </a:p>
          <a:p>
            <a:pPr lvl="1"/>
            <a:endParaRPr lang="en-US" sz="2400" dirty="0">
              <a:latin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z = x * y;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715000" y="3616400"/>
            <a:ext cx="4680284" cy="1015663"/>
            <a:chOff x="5486401" y="5385137"/>
            <a:chExt cx="4680284" cy="1015663"/>
          </a:xfrm>
        </p:grpSpPr>
        <p:sp>
          <p:nvSpPr>
            <p:cNvPr id="37" name="TextBox 36"/>
            <p:cNvSpPr txBox="1"/>
            <p:nvPr/>
          </p:nvSpPr>
          <p:spPr>
            <a:xfrm>
              <a:off x="5486401" y="5385137"/>
              <a:ext cx="4680284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The result is often stored in a variable of </a:t>
              </a:r>
              <a:r>
                <a:rPr lang="en-US" b="1" dirty="0">
                  <a:solidFill>
                    <a:srgbClr val="FF0000"/>
                  </a:solidFill>
                </a:rPr>
                <a:t>the same type</a:t>
              </a:r>
              <a:r>
                <a:rPr lang="en-US" dirty="0"/>
                <a:t>, so a single-length product is sufficient.</a:t>
              </a:r>
            </a:p>
          </p:txBody>
        </p:sp>
        <p:pic>
          <p:nvPicPr>
            <p:cNvPr id="38" name="Picture 37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Rectangle 38"/>
          <p:cNvSpPr/>
          <p:nvPr/>
        </p:nvSpPr>
        <p:spPr>
          <a:xfrm>
            <a:off x="1467660" y="3362515"/>
            <a:ext cx="1744772" cy="42799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1467659" y="3046987"/>
            <a:ext cx="1744773" cy="31552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1467659" y="2663190"/>
            <a:ext cx="2185929" cy="38480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5707380" y="4946078"/>
            <a:ext cx="4687904" cy="1292662"/>
            <a:chOff x="5486401" y="5385137"/>
            <a:chExt cx="4687904" cy="1292662"/>
          </a:xfrm>
        </p:grpSpPr>
        <p:sp>
          <p:nvSpPr>
            <p:cNvPr id="45" name="TextBox 44"/>
            <p:cNvSpPr txBox="1"/>
            <p:nvPr/>
          </p:nvSpPr>
          <p:spPr>
            <a:xfrm>
              <a:off x="5486401" y="5385137"/>
              <a:ext cx="4687904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Since the result is a </a:t>
              </a:r>
              <a:r>
                <a:rPr lang="en-US" b="1" dirty="0">
                  <a:solidFill>
                    <a:srgbClr val="0000FF"/>
                  </a:solidFill>
                </a:rPr>
                <a:t>single-length product</a:t>
              </a:r>
              <a:r>
                <a:rPr lang="en-US" dirty="0"/>
                <a:t>, the same instruction can be used for signed and unsigned.</a:t>
              </a:r>
            </a:p>
          </p:txBody>
        </p:sp>
        <p:pic>
          <p:nvPicPr>
            <p:cNvPr id="46" name="Picture 45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7" name="Rectangle 46"/>
          <p:cNvSpPr/>
          <p:nvPr/>
        </p:nvSpPr>
        <p:spPr>
          <a:xfrm>
            <a:off x="1467661" y="2663191"/>
            <a:ext cx="1275540" cy="69932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1456033" y="4856752"/>
            <a:ext cx="1430000" cy="72590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ight Brace 2"/>
          <p:cNvSpPr/>
          <p:nvPr/>
        </p:nvSpPr>
        <p:spPr>
          <a:xfrm rot="5400000">
            <a:off x="2518566" y="3468164"/>
            <a:ext cx="220176" cy="857855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84672" y="4050598"/>
            <a:ext cx="1127760" cy="4065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int32_t</a:t>
            </a:r>
          </a:p>
        </p:txBody>
      </p:sp>
    </p:spTree>
    <p:extLst>
      <p:ext uri="{BB962C8B-B14F-4D97-AF65-F5344CB8AC3E}">
        <p14:creationId xmlns:p14="http://schemas.microsoft.com/office/powerpoint/2010/main" val="3716876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600" y="730370"/>
            <a:ext cx="5203600" cy="752820"/>
          </a:xfrm>
        </p:spPr>
        <p:txBody>
          <a:bodyPr/>
          <a:lstStyle/>
          <a:p>
            <a:r>
              <a:rPr lang="en-US" dirty="0"/>
              <a:t>MULTIPLICATION IN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8600" y="1613374"/>
            <a:ext cx="6629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Consider how integer multiplication works in C:</a:t>
            </a:r>
            <a:endParaRPr lang="en-US" sz="2400" b="1" i="1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uint32_t a32, b32;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uint64_t c64;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c64 = a32 * b32;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c64 = a32 * c64;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553200" y="4009341"/>
            <a:ext cx="3988850" cy="1015663"/>
            <a:chOff x="5486401" y="5385137"/>
            <a:chExt cx="3988850" cy="1015663"/>
          </a:xfrm>
        </p:grpSpPr>
        <p:sp>
          <p:nvSpPr>
            <p:cNvPr id="37" name="TextBox 36"/>
            <p:cNvSpPr txBox="1"/>
            <p:nvPr/>
          </p:nvSpPr>
          <p:spPr>
            <a:xfrm>
              <a:off x="5486401" y="5385137"/>
              <a:ext cx="3988850" cy="1015663"/>
            </a:xfrm>
            <a:prstGeom prst="rect">
              <a:avLst/>
            </a:prstGeom>
            <a:solidFill>
              <a:srgbClr val="FFFF00"/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Storing 32-bit product in a 64-bit variable </a:t>
              </a:r>
              <a:r>
                <a:rPr lang="en-US" b="1" dirty="0">
                  <a:solidFill>
                    <a:srgbClr val="0000FF"/>
                  </a:solidFill>
                </a:rPr>
                <a:t>simply extends the 32-bit result</a:t>
              </a:r>
              <a:r>
                <a:rPr lang="en-US" dirty="0"/>
                <a:t>.</a:t>
              </a:r>
            </a:p>
          </p:txBody>
        </p:sp>
        <p:pic>
          <p:nvPicPr>
            <p:cNvPr id="38" name="Picture 37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Rectangle 38"/>
          <p:cNvSpPr/>
          <p:nvPr/>
        </p:nvSpPr>
        <p:spPr>
          <a:xfrm>
            <a:off x="1990824" y="3497803"/>
            <a:ext cx="1704883" cy="386933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1046908" y="3493018"/>
            <a:ext cx="605430" cy="39171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1046907" y="2409995"/>
            <a:ext cx="3055861" cy="385328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051037" y="2795323"/>
            <a:ext cx="2241605" cy="40105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6553199" y="5222757"/>
            <a:ext cx="4223117" cy="1292662"/>
            <a:chOff x="5486400" y="5400377"/>
            <a:chExt cx="4223117" cy="1292662"/>
          </a:xfrm>
        </p:grpSpPr>
        <p:sp>
          <p:nvSpPr>
            <p:cNvPr id="15" name="TextBox 14"/>
            <p:cNvSpPr txBox="1"/>
            <p:nvPr/>
          </p:nvSpPr>
          <p:spPr>
            <a:xfrm>
              <a:off x="5486400" y="5400377"/>
              <a:ext cx="4223117" cy="1292662"/>
            </a:xfrm>
            <a:prstGeom prst="rect">
              <a:avLst/>
            </a:prstGeom>
            <a:solidFill>
              <a:srgbClr val="FFFF00"/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a32 is promoted to 64-bits to match c64; the 64x64 </a:t>
              </a:r>
              <a:r>
                <a:rPr lang="en-US" b="1" dirty="0"/>
                <a:t>product requires a function</a:t>
              </a:r>
            </a:p>
          </p:txBody>
        </p:sp>
        <p:pic>
          <p:nvPicPr>
            <p:cNvPr id="16" name="Picture 15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Rectangle 16"/>
          <p:cNvSpPr/>
          <p:nvPr/>
        </p:nvSpPr>
        <p:spPr>
          <a:xfrm>
            <a:off x="1990824" y="5310700"/>
            <a:ext cx="636342" cy="37212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553200" y="2565355"/>
            <a:ext cx="3810000" cy="1292662"/>
          </a:xfrm>
          <a:prstGeom prst="rect">
            <a:avLst/>
          </a:prstGeom>
          <a:solidFill>
            <a:srgbClr val="FFFF00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 C, operator results have the same data type as their operands.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8925" indent="-288925">
              <a:buFont typeface="Wingdings" panose="05000000000000000000" pitchFamily="2" charset="2"/>
              <a:buChar char="à"/>
            </a:pPr>
            <a:r>
              <a:rPr lang="en-US" dirty="0"/>
              <a:t>C uses single-length products.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072833" y="3800704"/>
            <a:ext cx="1703216" cy="497866"/>
            <a:chOff x="2390774" y="4309021"/>
            <a:chExt cx="1703216" cy="497866"/>
          </a:xfrm>
        </p:grpSpPr>
        <p:sp>
          <p:nvSpPr>
            <p:cNvPr id="3" name="Right Brace 2"/>
            <p:cNvSpPr/>
            <p:nvPr/>
          </p:nvSpPr>
          <p:spPr>
            <a:xfrm rot="16200000" flipH="1">
              <a:off x="3058088" y="3641707"/>
              <a:ext cx="313199" cy="1647827"/>
            </a:xfrm>
            <a:prstGeom prst="rightBrace">
              <a:avLst>
                <a:gd name="adj1" fmla="val 8333"/>
                <a:gd name="adj2" fmla="val 49027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489780" y="4437555"/>
              <a:ext cx="1604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32-bit product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97376" y="4202979"/>
            <a:ext cx="2871700" cy="475964"/>
            <a:chOff x="-1948181" y="7859078"/>
            <a:chExt cx="1689303" cy="605286"/>
          </a:xfrm>
        </p:grpSpPr>
        <p:sp>
          <p:nvSpPr>
            <p:cNvPr id="21" name="Right Brace 20"/>
            <p:cNvSpPr/>
            <p:nvPr/>
          </p:nvSpPr>
          <p:spPr>
            <a:xfrm rot="16200000" flipH="1">
              <a:off x="-1280867" y="7191764"/>
              <a:ext cx="313199" cy="1647827"/>
            </a:xfrm>
            <a:prstGeom prst="rightBrace">
              <a:avLst>
                <a:gd name="adj1" fmla="val 8333"/>
                <a:gd name="adj2" fmla="val 49027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-1863088" y="7994681"/>
              <a:ext cx="1604210" cy="469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Zero-extended to 64 bits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37119" y="5661042"/>
            <a:ext cx="3031957" cy="942612"/>
            <a:chOff x="1001049" y="5559758"/>
            <a:chExt cx="3031957" cy="942612"/>
          </a:xfrm>
        </p:grpSpPr>
        <p:sp>
          <p:nvSpPr>
            <p:cNvPr id="25" name="TextBox 24"/>
            <p:cNvSpPr txBox="1"/>
            <p:nvPr/>
          </p:nvSpPr>
          <p:spPr>
            <a:xfrm>
              <a:off x="1001049" y="5856039"/>
              <a:ext cx="30319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Zero-extended to 64 bits to match data type of c64</a:t>
              </a:r>
            </a:p>
          </p:txBody>
        </p:sp>
        <p:cxnSp>
          <p:nvCxnSpPr>
            <p:cNvPr id="8" name="Straight Arrow Connector 7"/>
            <p:cNvCxnSpPr>
              <a:stCxn id="25" idx="0"/>
            </p:cNvCxnSpPr>
            <p:nvPr/>
          </p:nvCxnSpPr>
          <p:spPr>
            <a:xfrm flipH="1" flipV="1">
              <a:off x="2514098" y="5559758"/>
              <a:ext cx="2930" cy="29628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1959813" y="4829640"/>
            <a:ext cx="1838757" cy="496041"/>
            <a:chOff x="344550" y="1280411"/>
            <a:chExt cx="3060655" cy="496041"/>
          </a:xfrm>
        </p:grpSpPr>
        <p:sp>
          <p:nvSpPr>
            <p:cNvPr id="32" name="Right Brace 31"/>
            <p:cNvSpPr/>
            <p:nvPr/>
          </p:nvSpPr>
          <p:spPr>
            <a:xfrm rot="5400000" flipH="1">
              <a:off x="1660272" y="252714"/>
              <a:ext cx="246283" cy="2801194"/>
            </a:xfrm>
            <a:prstGeom prst="rightBrace">
              <a:avLst>
                <a:gd name="adj1" fmla="val 8333"/>
                <a:gd name="adj2" fmla="val 49027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4550" y="1280411"/>
              <a:ext cx="3060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64 bits x 64 bits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9630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71446" y="1733664"/>
            <a:ext cx="10410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Consider how integer multiplication works in C:</a:t>
            </a:r>
          </a:p>
          <a:p>
            <a:endParaRPr lang="en-US" sz="2400" dirty="0"/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int8_t a8;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int16_t b16;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int32_t c32;</a:t>
            </a:r>
          </a:p>
          <a:p>
            <a:pPr lvl="1"/>
            <a:endParaRPr lang="en-US" sz="2400" dirty="0">
              <a:latin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c32 = a8 * b16;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62236" y="2523221"/>
            <a:ext cx="2203385" cy="1094274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446" y="744221"/>
            <a:ext cx="5146325" cy="757450"/>
          </a:xfrm>
        </p:spPr>
        <p:txBody>
          <a:bodyPr/>
          <a:lstStyle/>
          <a:p>
            <a:r>
              <a:rPr lang="en-US" dirty="0"/>
              <a:t>MULTIPLICATION IN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17770" y="2545642"/>
            <a:ext cx="4000787" cy="7386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r>
              <a:rPr lang="en-US" dirty="0"/>
              <a:t>On a 32-bit CPU, 8 and 16-bit operands are </a:t>
            </a:r>
            <a:r>
              <a:rPr lang="en-US" b="1" dirty="0">
                <a:solidFill>
                  <a:srgbClr val="FF0000"/>
                </a:solidFill>
              </a:rPr>
              <a:t>promoted to 32 bits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096000" y="3705491"/>
            <a:ext cx="4054642" cy="1015663"/>
            <a:chOff x="5486401" y="5385137"/>
            <a:chExt cx="4054642" cy="1015663"/>
          </a:xfrm>
        </p:grpSpPr>
        <p:sp>
          <p:nvSpPr>
            <p:cNvPr id="37" name="TextBox 36"/>
            <p:cNvSpPr txBox="1"/>
            <p:nvPr/>
          </p:nvSpPr>
          <p:spPr>
            <a:xfrm>
              <a:off x="5486401" y="5385137"/>
              <a:ext cx="4054642" cy="10156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The product of </a:t>
              </a:r>
              <a:r>
                <a:rPr lang="en-US" b="1" dirty="0">
                  <a:solidFill>
                    <a:srgbClr val="FF0000"/>
                  </a:solidFill>
                </a:rPr>
                <a:t>a8 and b16 will becomes a 32x32 </a:t>
              </a:r>
              <a:r>
                <a:rPr lang="en-US" dirty="0"/>
                <a:t>single-length product.</a:t>
              </a:r>
            </a:p>
          </p:txBody>
        </p:sp>
        <p:pic>
          <p:nvPicPr>
            <p:cNvPr id="38" name="Picture 37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Rectangle 38"/>
          <p:cNvSpPr/>
          <p:nvPr/>
        </p:nvSpPr>
        <p:spPr>
          <a:xfrm>
            <a:off x="2910036" y="3977775"/>
            <a:ext cx="1447800" cy="513521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085113" y="5084796"/>
            <a:ext cx="4983939" cy="1015663"/>
            <a:chOff x="5486400" y="5385137"/>
            <a:chExt cx="4983939" cy="1015663"/>
          </a:xfrm>
        </p:grpSpPr>
        <p:sp>
          <p:nvSpPr>
            <p:cNvPr id="13" name="TextBox 12"/>
            <p:cNvSpPr txBox="1"/>
            <p:nvPr/>
          </p:nvSpPr>
          <p:spPr>
            <a:xfrm>
              <a:off x="5486400" y="5385137"/>
              <a:ext cx="4983939" cy="10156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All integer multiplications produce either a single </a:t>
              </a:r>
              <a:r>
                <a:rPr lang="en-US" b="1" dirty="0">
                  <a:solidFill>
                    <a:srgbClr val="FF0000"/>
                  </a:solidFill>
                </a:rPr>
                <a:t>32×32</a:t>
              </a:r>
              <a:r>
                <a:rPr lang="en-US" dirty="0"/>
                <a:t> instruction, or else a </a:t>
              </a:r>
              <a:r>
                <a:rPr lang="en-US" b="1" dirty="0">
                  <a:solidFill>
                    <a:srgbClr val="FF0000"/>
                  </a:solidFill>
                </a:rPr>
                <a:t>64x64</a:t>
              </a:r>
              <a:r>
                <a:rPr lang="en-US" dirty="0"/>
                <a:t> library function call.</a:t>
              </a:r>
            </a:p>
          </p:txBody>
        </p:sp>
        <p:pic>
          <p:nvPicPr>
            <p:cNvPr id="14" name="Picture 13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tangle 14"/>
          <p:cNvSpPr/>
          <p:nvPr/>
        </p:nvSpPr>
        <p:spPr>
          <a:xfrm>
            <a:off x="1462236" y="3977776"/>
            <a:ext cx="1447800" cy="51352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393455" y="4491296"/>
            <a:ext cx="1585361" cy="1227893"/>
            <a:chOff x="2388669" y="4664851"/>
            <a:chExt cx="1585361" cy="1227893"/>
          </a:xfrm>
        </p:grpSpPr>
        <p:sp>
          <p:nvSpPr>
            <p:cNvPr id="3" name="TextBox 2"/>
            <p:cNvSpPr txBox="1"/>
            <p:nvPr/>
          </p:nvSpPr>
          <p:spPr>
            <a:xfrm>
              <a:off x="2388669" y="4969414"/>
              <a:ext cx="158536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Each extended to 32 bits</a:t>
              </a:r>
            </a:p>
          </p:txBody>
        </p:sp>
        <p:sp>
          <p:nvSpPr>
            <p:cNvPr id="5" name="Left Brace 4"/>
            <p:cNvSpPr/>
            <p:nvPr/>
          </p:nvSpPr>
          <p:spPr>
            <a:xfrm rot="16200000">
              <a:off x="3029069" y="4112283"/>
              <a:ext cx="304563" cy="1409699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797339" y="4494380"/>
            <a:ext cx="1673193" cy="950894"/>
            <a:chOff x="2341344" y="4664851"/>
            <a:chExt cx="1673193" cy="950894"/>
          </a:xfrm>
        </p:grpSpPr>
        <p:sp>
          <p:nvSpPr>
            <p:cNvPr id="18" name="TextBox 17"/>
            <p:cNvSpPr txBox="1"/>
            <p:nvPr/>
          </p:nvSpPr>
          <p:spPr>
            <a:xfrm>
              <a:off x="2341344" y="4969414"/>
              <a:ext cx="16731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32 bits x 32 bits</a:t>
              </a:r>
            </a:p>
          </p:txBody>
        </p:sp>
        <p:sp>
          <p:nvSpPr>
            <p:cNvPr id="19" name="Left Brace 18"/>
            <p:cNvSpPr/>
            <p:nvPr/>
          </p:nvSpPr>
          <p:spPr>
            <a:xfrm rot="16200000">
              <a:off x="3029069" y="4112283"/>
              <a:ext cx="304563" cy="1409699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3252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7390" y="4832682"/>
            <a:ext cx="822960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MULS affects flags N and Z.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other multiply instruction affects the flags!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9" y="731021"/>
            <a:ext cx="10417284" cy="668654"/>
          </a:xfrm>
        </p:spPr>
        <p:txBody>
          <a:bodyPr>
            <a:normAutofit/>
          </a:bodyPr>
          <a:lstStyle/>
          <a:p>
            <a:r>
              <a:rPr lang="en-US" dirty="0"/>
              <a:t>MULTIPLICATION </a:t>
            </a:r>
            <a:r>
              <a:rPr lang="en-US" i="1" dirty="0"/>
              <a:t>For Single-Length Products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99559"/>
              </p:ext>
            </p:extLst>
          </p:nvPr>
        </p:nvGraphicFramePr>
        <p:xfrm>
          <a:off x="2015490" y="2699081"/>
          <a:ext cx="8229600" cy="1962406"/>
        </p:xfrm>
        <a:graphic>
          <a:graphicData uri="http://schemas.openxmlformats.org/drawingml/2006/table">
            <a:tbl>
              <a:tblPr firstRow="1" firstCol="1" bandRow="1"/>
              <a:tblGrid>
                <a:gridCol w="179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6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Instruction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Format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32-bit Multiply 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MUL{S}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2730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(int32_t)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×R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32-bit Multiply with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Accumulate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MLA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2730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+ (int32_t)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×R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32-bit Multiply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&amp; Subtract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MLS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2730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– (int32_t)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×R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3672940" y="5735543"/>
            <a:ext cx="4914700" cy="738664"/>
            <a:chOff x="5486400" y="5385137"/>
            <a:chExt cx="4914700" cy="792089"/>
          </a:xfrm>
        </p:grpSpPr>
        <p:sp>
          <p:nvSpPr>
            <p:cNvPr id="7" name="TextBox 6"/>
            <p:cNvSpPr txBox="1"/>
            <p:nvPr/>
          </p:nvSpPr>
          <p:spPr>
            <a:xfrm>
              <a:off x="5486400" y="5385137"/>
              <a:ext cx="4914700" cy="79208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b="1" u="sng" dirty="0"/>
                <a:t>All</a:t>
              </a:r>
              <a:r>
                <a:rPr lang="en-US" dirty="0"/>
                <a:t> multiply instructions </a:t>
              </a:r>
              <a:r>
                <a:rPr lang="en-US" b="1" dirty="0">
                  <a:solidFill>
                    <a:srgbClr val="FF0000"/>
                  </a:solidFill>
                </a:rPr>
                <a:t>require their operands to be in registers</a:t>
              </a:r>
              <a:r>
                <a:rPr lang="en-US" dirty="0"/>
                <a:t>.</a:t>
              </a:r>
            </a:p>
          </p:txBody>
        </p:sp>
        <p:pic>
          <p:nvPicPr>
            <p:cNvPr id="8" name="Picture 7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26928"/>
              <a:ext cx="842410" cy="726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Rectangle 13"/>
          <p:cNvSpPr/>
          <p:nvPr/>
        </p:nvSpPr>
        <p:spPr>
          <a:xfrm>
            <a:off x="6652522" y="1438974"/>
            <a:ext cx="3373796" cy="1015663"/>
          </a:xfrm>
          <a:prstGeom prst="rect">
            <a:avLst/>
          </a:prstGeom>
          <a:solidFill>
            <a:srgbClr val="FF0000">
              <a:alpha val="25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Note: 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MLA and MLS use the product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of the </a:t>
            </a:r>
            <a:r>
              <a:rPr lang="en-US" i="1" u="sng" dirty="0">
                <a:solidFill>
                  <a:schemeClr val="tx1"/>
                </a:solidFill>
              </a:rPr>
              <a:t>middle</a:t>
            </a:r>
            <a:r>
              <a:rPr lang="en-US" dirty="0">
                <a:solidFill>
                  <a:schemeClr val="tx1"/>
                </a:solidFill>
              </a:rPr>
              <a:t> two registers.</a:t>
            </a:r>
          </a:p>
        </p:txBody>
      </p:sp>
      <p:cxnSp>
        <p:nvCxnSpPr>
          <p:cNvPr id="11" name="Straight Arrow Connector 10"/>
          <p:cNvCxnSpPr>
            <a:stCxn id="14" idx="1"/>
          </p:cNvCxnSpPr>
          <p:nvPr/>
        </p:nvCxnSpPr>
        <p:spPr>
          <a:xfrm flipH="1">
            <a:off x="5423574" y="1946806"/>
            <a:ext cx="1228948" cy="1733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253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4" y="718147"/>
            <a:ext cx="6218263" cy="514746"/>
          </a:xfrm>
        </p:spPr>
        <p:txBody>
          <a:bodyPr>
            <a:normAutofit fontScale="90000"/>
          </a:bodyPr>
          <a:lstStyle/>
          <a:p>
            <a:r>
              <a:rPr lang="en-US" dirty="0"/>
              <a:t>MULTIPLICATION OVERFLOW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42012" y="2400493"/>
            <a:ext cx="877418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Double-Length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Products (signed or unsigned):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Overflow is not possible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Single-Length </a:t>
            </a:r>
            <a:r>
              <a:rPr kumimoji="0" 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Products: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Overflow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occurs when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most-significant half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the double-length product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non-zero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Single-Length </a:t>
            </a:r>
            <a:r>
              <a:rPr kumimoji="0" lang="en-US" sz="1800" b="1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Signed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Products: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Overflow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occurs when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most-significant half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the double-length product is </a:t>
            </a:r>
            <a:r>
              <a:rPr lang="en-US" b="1" dirty="0">
                <a:solidFill>
                  <a:srgbClr val="FF0000"/>
                </a:solidFill>
                <a:latin typeface="Arial" panose="020B0604020202020204"/>
              </a:rPr>
              <a:t>NOT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sign-extension</a:t>
            </a:r>
            <a:r>
              <a:rPr lang="en-US" b="1" dirty="0">
                <a:solidFill>
                  <a:srgbClr val="FF0000"/>
                </a:solidFill>
                <a:latin typeface="Arial" panose="020B0604020202020204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the least-significant half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2279" y="2828835"/>
            <a:ext cx="2963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1110    14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0111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×7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0110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0010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98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52279" y="4291831"/>
            <a:ext cx="3192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1110   (-2)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0111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×(+7)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1111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0010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-14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52279" y="3613961"/>
            <a:ext cx="819808" cy="36435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52279" y="5081722"/>
            <a:ext cx="819808" cy="36040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64709" y="5474033"/>
            <a:ext cx="6929791" cy="1015663"/>
            <a:chOff x="5486400" y="5385137"/>
            <a:chExt cx="5759116" cy="1015663"/>
          </a:xfrm>
        </p:grpSpPr>
        <p:sp>
          <p:nvSpPr>
            <p:cNvPr id="9" name="TextBox 8"/>
            <p:cNvSpPr txBox="1"/>
            <p:nvPr/>
          </p:nvSpPr>
          <p:spPr>
            <a:xfrm>
              <a:off x="5486400" y="5385137"/>
              <a:ext cx="5759116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 overflow flag (V) is not affected</a:t>
              </a:r>
              <a:r>
                <a:rPr lang="en-US" b="1" dirty="0">
                  <a:solidFill>
                    <a:srgbClr val="FF0000"/>
                  </a:solidFill>
                  <a:latin typeface="Arial" panose="020B0604020202020204"/>
                </a:rPr>
                <a:t>!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Recognizing overflow </a:t>
              </a: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is virtually impossible </a:t>
              </a:r>
              <a:b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if only a single-length product is available.</a:t>
              </a:r>
            </a:p>
          </p:txBody>
        </p:sp>
        <p:pic>
          <p:nvPicPr>
            <p:cNvPr id="10" name="Picture 9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723194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/>
          <p:cNvSpPr txBox="1"/>
          <p:nvPr/>
        </p:nvSpPr>
        <p:spPr>
          <a:xfrm>
            <a:off x="1028759" y="1510680"/>
            <a:ext cx="7207985" cy="461665"/>
          </a:xfrm>
          <a:prstGeom prst="rect">
            <a:avLst/>
          </a:prstGeom>
          <a:solidFill>
            <a:srgbClr val="0070C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Overflow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correct result exceeds the range.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228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6360145" y="6168666"/>
            <a:ext cx="3473668" cy="45507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48576"/>
            <a:ext cx="10417284" cy="1144151"/>
          </a:xfrm>
        </p:spPr>
        <p:txBody>
          <a:bodyPr>
            <a:normAutofit fontScale="90000"/>
          </a:bodyPr>
          <a:lstStyle/>
          <a:p>
            <a:r>
              <a:rPr lang="en-US" dirty="0"/>
              <a:t>64x64-bit MULTIPLICATION</a:t>
            </a:r>
            <a:br>
              <a:rPr lang="en-US" dirty="0"/>
            </a:br>
            <a:r>
              <a:rPr lang="en-US" dirty="0"/>
              <a:t>(</a:t>
            </a:r>
            <a:r>
              <a:rPr lang="en-US" sz="4000" dirty="0"/>
              <a:t>Computing a 64-bit single-length product)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590800" y="1828828"/>
            <a:ext cx="7407144" cy="1468397"/>
            <a:chOff x="1066800" y="1600200"/>
            <a:chExt cx="7407144" cy="1468397"/>
          </a:xfrm>
        </p:grpSpPr>
        <p:sp>
          <p:nvSpPr>
            <p:cNvPr id="5" name="Rectangle 4"/>
            <p:cNvSpPr/>
            <p:nvPr/>
          </p:nvSpPr>
          <p:spPr>
            <a:xfrm>
              <a:off x="4876800" y="1988026"/>
              <a:ext cx="1752600" cy="43870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</a:t>
              </a:r>
              <a:r>
                <a:rPr kumimoji="0" 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HI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(Upper Half)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4876800" y="1784866"/>
              <a:ext cx="17526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410200" y="1600200"/>
              <a:ext cx="94247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32 bits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6613634" y="1784866"/>
              <a:ext cx="17526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147033" y="1600200"/>
              <a:ext cx="92214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32 bits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629400" y="1988026"/>
              <a:ext cx="1844544" cy="43870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</a:t>
              </a:r>
              <a:r>
                <a:rPr kumimoji="0" 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(Lower Half)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76800" y="2629891"/>
              <a:ext cx="1752600" cy="43870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HI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(Upper Half)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629399" y="2629891"/>
              <a:ext cx="1844545" cy="43870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(Lower Half)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66800" y="1965067"/>
              <a:ext cx="34447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	=  2</a:t>
              </a:r>
              <a:r>
                <a:rPr kumimoji="0" lang="en-US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32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HI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+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66800" y="2579132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	=  2</a:t>
              </a:r>
              <a:r>
                <a:rPr kumimoji="0" lang="en-US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32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HI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+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590800" y="3299848"/>
            <a:ext cx="7407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A×B	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= 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64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 +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1905227" y="4360764"/>
            <a:ext cx="7970292" cy="471181"/>
            <a:chOff x="380176" y="4419600"/>
            <a:chExt cx="7970292" cy="471181"/>
          </a:xfrm>
        </p:grpSpPr>
        <p:sp>
          <p:nvSpPr>
            <p:cNvPr id="19" name="Rectangle 18"/>
            <p:cNvSpPr/>
            <p:nvPr/>
          </p:nvSpPr>
          <p:spPr>
            <a:xfrm>
              <a:off x="3124200" y="4452075"/>
              <a:ext cx="1752600" cy="438706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Not used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387366" y="4452075"/>
              <a:ext cx="1752600" cy="438706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Not used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76" y="4419600"/>
              <a:ext cx="1040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HI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HI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H="1" flipV="1">
              <a:off x="4953000" y="4671428"/>
              <a:ext cx="3397468" cy="1027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6232634" y="4419600"/>
              <a:ext cx="9133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× 2</a:t>
              </a:r>
              <a:r>
                <a:rPr kumimoji="0" lang="en-US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64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880565" y="6145098"/>
            <a:ext cx="7994955" cy="461665"/>
            <a:chOff x="371107" y="8032058"/>
            <a:chExt cx="7994955" cy="461665"/>
          </a:xfrm>
        </p:grpSpPr>
        <p:sp>
          <p:nvSpPr>
            <p:cNvPr id="25" name="Rectangle 24"/>
            <p:cNvSpPr/>
            <p:nvPr/>
          </p:nvSpPr>
          <p:spPr>
            <a:xfrm>
              <a:off x="6613462" y="8034395"/>
              <a:ext cx="1752600" cy="43870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60862" y="8032367"/>
              <a:ext cx="1752600" cy="43870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71107" y="8032058"/>
              <a:ext cx="12009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872798" y="4951141"/>
            <a:ext cx="8033202" cy="1123118"/>
            <a:chOff x="348798" y="4972882"/>
            <a:chExt cx="8033202" cy="1123118"/>
          </a:xfrm>
        </p:grpSpPr>
        <p:sp>
          <p:nvSpPr>
            <p:cNvPr id="21" name="Rectangle 20"/>
            <p:cNvSpPr/>
            <p:nvPr/>
          </p:nvSpPr>
          <p:spPr>
            <a:xfrm>
              <a:off x="4861034" y="5031030"/>
              <a:ext cx="1752600" cy="438706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LSW of A</a:t>
              </a:r>
              <a:r>
                <a:rPr kumimoji="0" 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HI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124200" y="5031030"/>
              <a:ext cx="1752600" cy="438706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Not used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8798" y="4972882"/>
              <a:ext cx="112082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HI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6651734" y="5255568"/>
              <a:ext cx="1730266" cy="514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7097767" y="5024735"/>
              <a:ext cx="88851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× 2</a:t>
              </a:r>
              <a:r>
                <a:rPr kumimoji="0" lang="en-US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32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61034" y="5627659"/>
              <a:ext cx="1752600" cy="438706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124200" y="5627659"/>
              <a:ext cx="1752600" cy="438706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Not used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56564" y="5576080"/>
              <a:ext cx="112082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HI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H="1" flipV="1">
              <a:off x="6629400" y="5865168"/>
              <a:ext cx="1730266" cy="514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7075432" y="5634335"/>
              <a:ext cx="99374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× 2</a:t>
              </a:r>
              <a:r>
                <a:rPr kumimoji="0" lang="en-US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32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2" name="Rectangle 51"/>
          <p:cNvSpPr/>
          <p:nvPr/>
        </p:nvSpPr>
        <p:spPr>
          <a:xfrm>
            <a:off x="4325033" y="3715346"/>
            <a:ext cx="917527" cy="38644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943599" y="3730350"/>
            <a:ext cx="2308671" cy="37248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671033" y="3715346"/>
            <a:ext cx="1029427" cy="386443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665017" y="5599025"/>
            <a:ext cx="1754833" cy="45009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931467" y="4401400"/>
            <a:ext cx="3473668" cy="45507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665017" y="5031564"/>
            <a:ext cx="1740118" cy="43130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376280" y="6144684"/>
            <a:ext cx="3472164" cy="4455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UMULL(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  <a:r>
              <a:rPr kumimoji="0" lang="en-US" sz="1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1" y="5612316"/>
            <a:ext cx="1736834" cy="440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MLA(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  <a:r>
              <a:rPr kumimoji="0" lang="en-US" sz="16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6242" y="5007261"/>
            <a:ext cx="1717784" cy="4369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MUL(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  <a:r>
              <a:rPr kumimoji="0" lang="en-US" sz="16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2876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9191"/>
            <a:ext cx="10417284" cy="610377"/>
          </a:xfrm>
        </p:spPr>
        <p:txBody>
          <a:bodyPr>
            <a:normAutofit/>
          </a:bodyPr>
          <a:lstStyle/>
          <a:p>
            <a:r>
              <a:rPr lang="en-US" sz="3200" dirty="0"/>
              <a:t>MULTIPLICATION Single-Length 64x64-Bit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750" y="2054827"/>
            <a:ext cx="10152858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	      // int64_t Mult64x64(int64_t  a, int64_t  b) ;</a:t>
            </a: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	.global	Mult64x64</a:t>
            </a: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	.align</a:t>
            </a: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	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thumb_func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Mult64x64: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R1.R0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 a,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R3.R2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 b</a:t>
            </a: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	MUL	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//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AHI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x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BLO</a:t>
            </a: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	MLA	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R0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R3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//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+=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ALO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x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BHI</a:t>
            </a: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	UMULL	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R0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R0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//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R0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ALO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x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BLO</a:t>
            </a: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	ADDS	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//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+= MSHalf of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ALO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x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BLO</a:t>
            </a: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7985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</a:tabLst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	BX	LR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146175" algn="l"/>
                <a:tab pos="2743200" algn="l"/>
              </a:tabLst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   .end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42A76-BBE9-093E-9FF7-4617A05A3194}"/>
              </a:ext>
            </a:extLst>
          </p:cNvPr>
          <p:cNvSpPr txBox="1"/>
          <p:nvPr/>
        </p:nvSpPr>
        <p:spPr>
          <a:xfrm>
            <a:off x="5840083" y="5909094"/>
            <a:ext cx="387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 err="1"/>
              <a:t>MSHalf</a:t>
            </a:r>
            <a:r>
              <a:rPr lang="en-US" dirty="0"/>
              <a:t> = Most Significant Halfword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A7B540-2F5A-40D4-A193-6FA3B17B7A11}"/>
              </a:ext>
            </a:extLst>
          </p:cNvPr>
          <p:cNvCxnSpPr/>
          <p:nvPr/>
        </p:nvCxnSpPr>
        <p:spPr>
          <a:xfrm flipV="1">
            <a:off x="6357668" y="4796287"/>
            <a:ext cx="534838" cy="1112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06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303791"/>
              </p:ext>
            </p:extLst>
          </p:nvPr>
        </p:nvGraphicFramePr>
        <p:xfrm>
          <a:off x="1866900" y="1955672"/>
          <a:ext cx="8458200" cy="4041586"/>
        </p:xfrm>
        <a:graphic>
          <a:graphicData uri="http://schemas.openxmlformats.org/drawingml/2006/table">
            <a:tbl>
              <a:tblPr firstRow="1" firstCol="1" bandRow="1"/>
              <a:tblGrid>
                <a:gridCol w="1801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5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Instruction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Format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64-bit </a:t>
                      </a:r>
                      <a:r>
                        <a:rPr lang="en-US" sz="20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Unsigned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Multiply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MULL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2730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(uint64_t)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×R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64-bit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Unsigned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Multiply with Accumulate</a:t>
                      </a: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MLAL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2730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+ (uint64_t)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×R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64-bit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Signed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Multiply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MULL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2730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(int64_t)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×R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64-bit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Signed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Multiply with Accumulate</a:t>
                      </a: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MLAL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2730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dhi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dlo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- (int64_t)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×R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7" y="744967"/>
            <a:ext cx="10417284" cy="614602"/>
          </a:xfrm>
        </p:spPr>
        <p:txBody>
          <a:bodyPr>
            <a:normAutofit/>
          </a:bodyPr>
          <a:lstStyle/>
          <a:p>
            <a:r>
              <a:rPr lang="en-US" dirty="0"/>
              <a:t>MULTIPLICATION </a:t>
            </a:r>
            <a:r>
              <a:rPr lang="en-US" i="1" dirty="0"/>
              <a:t>For Double-Length Products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351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49192"/>
            <a:ext cx="5464284" cy="618397"/>
          </a:xfrm>
        </p:spPr>
        <p:txBody>
          <a:bodyPr/>
          <a:lstStyle/>
          <a:p>
            <a:r>
              <a:rPr lang="en-US" dirty="0"/>
              <a:t>Multiplication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3990598"/>
                  </p:ext>
                </p:extLst>
              </p:nvPr>
            </p:nvGraphicFramePr>
            <p:xfrm>
              <a:off x="1981201" y="1722120"/>
              <a:ext cx="8229601" cy="42214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97741">
                      <a:extLst>
                        <a:ext uri="{9D8B030D-6E8A-4147-A177-3AD203B41FA5}">
                          <a16:colId xmlns:a16="http://schemas.microsoft.com/office/drawing/2014/main" val="1456316190"/>
                        </a:ext>
                      </a:extLst>
                    </a:gridCol>
                    <a:gridCol w="3065930">
                      <a:extLst>
                        <a:ext uri="{9D8B030D-6E8A-4147-A177-3AD203B41FA5}">
                          <a16:colId xmlns:a16="http://schemas.microsoft.com/office/drawing/2014/main" val="1973613491"/>
                        </a:ext>
                      </a:extLst>
                    </a:gridCol>
                    <a:gridCol w="3065930">
                      <a:extLst>
                        <a:ext uri="{9D8B030D-6E8A-4147-A177-3AD203B41FA5}">
                          <a16:colId xmlns:a16="http://schemas.microsoft.com/office/drawing/2014/main" val="893504263"/>
                        </a:ext>
                      </a:extLst>
                    </a:gridCol>
                  </a:tblGrid>
                  <a:tr h="899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32 </a:t>
                          </a:r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 32 x 32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(single length)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64 </a:t>
                          </a:r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 32 x 32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(double length)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64 </a:t>
                          </a:r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 64 x 64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(single length)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2886846"/>
                      </a:ext>
                    </a:extLst>
                  </a:tr>
                  <a:tr h="1082040">
                    <a:tc rowSpan="2">
                      <a:txBody>
                        <a:bodyPr/>
                        <a:lstStyle/>
                        <a:p>
                          <a:pPr algn="ctr">
                            <a:spcAft>
                              <a:spcPts val="1200"/>
                            </a:spcAft>
                          </a:pP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MUL R3,</a:t>
                          </a:r>
                          <a:r>
                            <a:rPr lang="en-US" sz="2000" b="1" baseline="0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</a:rPr>
                            <a:t>R1,R2</a:t>
                          </a:r>
                        </a:p>
                        <a:p>
                          <a:pPr algn="ctr">
                            <a:spcBef>
                              <a:spcPts val="0"/>
                            </a:spcBef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 b="0" i="1" baseline="0" smtClean="0">
                                            <a:latin typeface="Cambria Math" panose="02040503050406030204" pitchFamily="18" charset="0"/>
                                          </a:rPr>
                                          <m:t>𝑠𝑖𝑔𝑛𝑒𝑑</m:t>
                                        </m:r>
                                        <m:r>
                                          <a:rPr lang="en-US" sz="2000" b="0" i="1" baseline="0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000" b="0" i="1" baseline="0" smtClean="0">
                                            <a:latin typeface="Cambria Math" panose="02040503050406030204" pitchFamily="18" charset="0"/>
                                          </a:rPr>
                                          <m:t>𝑜𝑟</m:t>
                                        </m:r>
                                      </m:e>
                                      <m:e>
                                        <m:r>
                                          <a:rPr lang="en-US" sz="2000" b="0" i="1" baseline="0" smtClean="0">
                                            <a:latin typeface="Cambria Math" panose="02040503050406030204" pitchFamily="18" charset="0"/>
                                          </a:rPr>
                                          <m:t>𝑢𝑛𝑠𝑖𝑔𝑛𝑒𝑑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baseline="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600"/>
                            </a:spcAft>
                          </a:pPr>
                          <a:r>
                            <a:rPr lang="en-US" sz="2000" dirty="0"/>
                            <a:t>UMULL</a:t>
                          </a:r>
                          <a:r>
                            <a:rPr lang="pt-BR" sz="2000" dirty="0">
                              <a:latin typeface="Consolas" panose="020B0609020204030204" pitchFamily="49" charset="0"/>
                            </a:rPr>
                            <a:t>	R2,R3,</a:t>
                          </a:r>
                          <a:r>
                            <a:rPr lang="pt-BR" sz="2000" b="1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</a:rPr>
                            <a:t>R0,R1</a:t>
                          </a:r>
                        </a:p>
                        <a:p>
                          <a:pPr algn="ctr"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𝑢𝑛𝑠𝑖𝑔𝑛𝑒𝑑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122238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1036638" algn="l"/>
                            </a:tabLst>
                            <a:defRPr/>
                          </a:pPr>
                          <a:r>
                            <a:rPr lang="pt-BR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UMULL	R4,R5,</a:t>
                          </a:r>
                          <a:r>
                            <a:rPr lang="pt-BR" sz="2000" b="1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</a:rPr>
                            <a:t>R0,R2</a:t>
                          </a:r>
                        </a:p>
                        <a:p>
                          <a:pPr marL="122238" indent="0" algn="l">
                            <a:tabLst>
                              <a:tab pos="1036638" algn="l"/>
                            </a:tabLst>
                          </a:pPr>
                          <a:r>
                            <a:rPr lang="pt-BR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MLA	R5,</a:t>
                          </a:r>
                          <a:r>
                            <a:rPr lang="pt-BR" sz="2000" b="1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</a:rPr>
                            <a:t>R1,R2</a:t>
                          </a:r>
                          <a:r>
                            <a:rPr lang="pt-BR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,R5</a:t>
                          </a:r>
                        </a:p>
                        <a:p>
                          <a:pPr marL="122238" indent="0" algn="l">
                            <a:spcAft>
                              <a:spcPts val="1200"/>
                            </a:spcAft>
                            <a:tabLst>
                              <a:tab pos="1036638" algn="l"/>
                            </a:tabLst>
                          </a:pPr>
                          <a:r>
                            <a:rPr lang="pt-BR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MLA	R5,</a:t>
                          </a:r>
                          <a:r>
                            <a:rPr lang="pt-BR" sz="2000" b="1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</a:rPr>
                            <a:t>R0,R3</a:t>
                          </a:r>
                          <a:r>
                            <a:rPr lang="pt-BR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,R5</a:t>
                          </a:r>
                        </a:p>
                        <a:p>
                          <a:pPr marL="122238" indent="0" algn="l">
                            <a:tabLst>
                              <a:tab pos="1036638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d>
                                  <m:dPr>
                                    <m:ctrlPr>
                                      <a:rPr lang="en-US" sz="20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𝑠𝑖𝑔𝑛𝑒𝑑</m:t>
                                    </m:r>
                                    <m:r>
                                      <a:rPr lang="en-US" sz="20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𝑜𝑟</m:t>
                                    </m:r>
                                    <m:r>
                                      <a:rPr lang="en-US" sz="20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baseline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𝑢𝑛𝑠𝑖𝑔𝑛𝑒𝑑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2471324"/>
                      </a:ext>
                    </a:extLst>
                  </a:tr>
                  <a:tr h="105156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600"/>
                            </a:spcAft>
                          </a:pP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SMULL</a:t>
                          </a:r>
                          <a:r>
                            <a:rPr lang="pt-BR" sz="2000" dirty="0">
                              <a:latin typeface="Consolas" panose="020B0609020204030204" pitchFamily="49" charset="0"/>
                            </a:rPr>
                            <a:t>	R2,R3,</a:t>
                          </a:r>
                          <a:r>
                            <a:rPr lang="pt-BR" sz="2000" b="1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</a:rPr>
                            <a:t>R0,R1</a:t>
                          </a: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𝑠𝑖𝑔𝑛𝑒𝑑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1483872"/>
                      </a:ext>
                    </a:extLst>
                  </a:tr>
                  <a:tr h="899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R3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  <a:sym typeface="Wingdings" panose="05000000000000000000" pitchFamily="2" charset="2"/>
                            </a:rPr>
                            <a:t>=</a:t>
                          </a:r>
                          <a:r>
                            <a:rPr lang="en-US" sz="2000" b="1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sym typeface="Wingdings" panose="05000000000000000000" pitchFamily="2" charset="2"/>
                            </a:rPr>
                            <a:t>R1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× 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sym typeface="Wingdings" panose="05000000000000000000" pitchFamily="2" charset="2"/>
                            </a:rPr>
                            <a:t>R2</a:t>
                          </a:r>
                          <a:endParaRPr lang="en-US" sz="2000" b="1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R3.R2</a:t>
                          </a:r>
                          <a:r>
                            <a:rPr lang="en-US" sz="2000" dirty="0">
                              <a:sym typeface="Wingdings" panose="05000000000000000000" pitchFamily="2" charset="2"/>
                            </a:rPr>
                            <a:t>=</a:t>
                          </a:r>
                          <a:r>
                            <a:rPr lang="en-US" sz="2000" b="1" dirty="0">
                              <a:solidFill>
                                <a:srgbClr val="0000FF"/>
                              </a:solidFill>
                              <a:sym typeface="Wingdings" panose="05000000000000000000" pitchFamily="2" charset="2"/>
                            </a:rPr>
                            <a:t>R0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FF"/>
                              </a:solidFill>
                              <a:sym typeface="Wingdings" panose="05000000000000000000" pitchFamily="2" charset="2"/>
                            </a:rPr>
                            <a:t> R1</a:t>
                          </a:r>
                          <a:endParaRPr lang="en-US" sz="20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22238" indent="0" algn="l"/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R5.R4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  <a:sym typeface="Wingdings" panose="05000000000000000000" pitchFamily="2" charset="2"/>
                            </a:rPr>
                            <a:t>=R1.</a:t>
                          </a:r>
                          <a:r>
                            <a:rPr lang="en-US" sz="2000" b="1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sym typeface="Wingdings" panose="05000000000000000000" pitchFamily="2" charset="2"/>
                            </a:rPr>
                            <a:t>R0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× 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sym typeface="Wingdings" panose="05000000000000000000" pitchFamily="2" charset="2"/>
                            </a:rPr>
                            <a:t>R3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  <a:sym typeface="Wingdings" panose="05000000000000000000" pitchFamily="2" charset="2"/>
                            </a:rPr>
                            <a:t>.R2</a:t>
                          </a:r>
                          <a:endParaRPr lang="en-US" sz="2000" dirty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39510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3990598"/>
                  </p:ext>
                </p:extLst>
              </p:nvPr>
            </p:nvGraphicFramePr>
            <p:xfrm>
              <a:off x="1981201" y="1722120"/>
              <a:ext cx="8229601" cy="42214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97741">
                      <a:extLst>
                        <a:ext uri="{9D8B030D-6E8A-4147-A177-3AD203B41FA5}">
                          <a16:colId xmlns:a16="http://schemas.microsoft.com/office/drawing/2014/main" val="1456316190"/>
                        </a:ext>
                      </a:extLst>
                    </a:gridCol>
                    <a:gridCol w="3065930">
                      <a:extLst>
                        <a:ext uri="{9D8B030D-6E8A-4147-A177-3AD203B41FA5}">
                          <a16:colId xmlns:a16="http://schemas.microsoft.com/office/drawing/2014/main" val="1973613491"/>
                        </a:ext>
                      </a:extLst>
                    </a:gridCol>
                    <a:gridCol w="3065930">
                      <a:extLst>
                        <a:ext uri="{9D8B030D-6E8A-4147-A177-3AD203B41FA5}">
                          <a16:colId xmlns:a16="http://schemas.microsoft.com/office/drawing/2014/main" val="893504263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32 </a:t>
                          </a:r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 32 x 32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(single length)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64 </a:t>
                          </a:r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 32 x 32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(double length)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64 </a:t>
                          </a:r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 64 x 64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ym typeface="Wingdings" panose="05000000000000000000" pitchFamily="2" charset="2"/>
                            </a:rPr>
                            <a:t>(single length)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2886846"/>
                      </a:ext>
                    </a:extLst>
                  </a:tr>
                  <a:tr h="108204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1" t="-57429" r="-293314" b="-43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8651" t="-112921" r="-100198" b="-18146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8986" t="-57429" r="-398" b="-43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2471324"/>
                      </a:ext>
                    </a:extLst>
                  </a:tr>
                  <a:tr h="105156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8651" t="-220349" r="-100198" b="-87791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1483872"/>
                      </a:ext>
                    </a:extLst>
                  </a:tr>
                  <a:tr h="899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1" t="-372297" r="-293314" b="-2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8651" t="-372297" r="-100198" b="-2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8986" t="-372297" r="-398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39510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3083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040907-FA7C-4DD1-99F0-C1BC18BC2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5</a:t>
            </a:r>
            <a:br>
              <a:rPr lang="en-US" dirty="0"/>
            </a:br>
            <a:r>
              <a:rPr lang="en-US" dirty="0"/>
              <a:t>Integer Arithmetic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5DCA92F-CB2C-4AC2-9785-3C947E90C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Division</a:t>
            </a:r>
          </a:p>
        </p:txBody>
      </p:sp>
    </p:spTree>
    <p:extLst>
      <p:ext uri="{BB962C8B-B14F-4D97-AF65-F5344CB8AC3E}">
        <p14:creationId xmlns:p14="http://schemas.microsoft.com/office/powerpoint/2010/main" val="3528681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08937"/>
            <a:ext cx="3302610" cy="748833"/>
          </a:xfrm>
        </p:spPr>
        <p:txBody>
          <a:bodyPr/>
          <a:lstStyle/>
          <a:p>
            <a:r>
              <a:rPr lang="en-US" dirty="0"/>
              <a:t>DIVISION IN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3600" y="1547843"/>
            <a:ext cx="5562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Consider how integer division works in C:</a:t>
            </a:r>
          </a:p>
          <a:p>
            <a:endParaRPr lang="en-US" sz="2400" dirty="0"/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int8_t a8;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int16_t b16;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int32_t c32;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int64_t d64;</a:t>
            </a:r>
          </a:p>
          <a:p>
            <a:pPr lvl="1"/>
            <a:endParaRPr lang="en-US" sz="2400" dirty="0">
              <a:latin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... = a8 / b16;</a:t>
            </a:r>
          </a:p>
          <a:p>
            <a:pPr lvl="1"/>
            <a:endParaRPr lang="en-US" sz="3200" dirty="0">
              <a:latin typeface="Consolas" panose="020B0609020204030204" pitchFamily="49" charset="0"/>
            </a:endParaRPr>
          </a:p>
          <a:p>
            <a:pPr lvl="1"/>
            <a:endParaRPr lang="en-US" sz="3200" dirty="0">
              <a:latin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... = d64 / c32;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104999"/>
            <a:ext cx="5133474" cy="101566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8 and 16-bit operands are promoted to 32 bits</a:t>
            </a:r>
            <a:r>
              <a:rPr lang="en-US" dirty="0"/>
              <a:t>; this becomes a single 32÷32 divide instruction that produces a 32-bit quotient.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5515035"/>
            <a:ext cx="5133474" cy="101566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c32 is promoted to 64 bits to match d64</a:t>
            </a:r>
            <a:r>
              <a:rPr lang="en-US" dirty="0"/>
              <a:t>; this becomes a library function call for 64÷64 division that returns a 64-bit quotient.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5714999" y="2324606"/>
            <a:ext cx="5069305" cy="1015663"/>
            <a:chOff x="5486400" y="5385137"/>
            <a:chExt cx="4815840" cy="1015663"/>
          </a:xfrm>
        </p:grpSpPr>
        <p:sp>
          <p:nvSpPr>
            <p:cNvPr id="35" name="TextBox 34"/>
            <p:cNvSpPr txBox="1"/>
            <p:nvPr/>
          </p:nvSpPr>
          <p:spPr>
            <a:xfrm>
              <a:off x="5486400" y="5385137"/>
              <a:ext cx="4815840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/>
              <a:r>
                <a:rPr lang="en-US" dirty="0"/>
                <a:t>All integer divisions produce either a </a:t>
              </a:r>
              <a:r>
                <a:rPr lang="en-US" b="1" dirty="0">
                  <a:solidFill>
                    <a:srgbClr val="FF0000"/>
                  </a:solidFill>
                </a:rPr>
                <a:t>single 32÷32 </a:t>
              </a:r>
              <a:r>
                <a:rPr lang="en-US" dirty="0"/>
                <a:t>instruction, or else a library function call for 64÷64.</a:t>
              </a:r>
            </a:p>
          </p:txBody>
        </p:sp>
        <p:pic>
          <p:nvPicPr>
            <p:cNvPr id="42" name="Picture 41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3641558" y="4490465"/>
            <a:ext cx="1447800" cy="430451"/>
            <a:chOff x="2133600" y="4141548"/>
            <a:chExt cx="1447800" cy="430451"/>
          </a:xfrm>
        </p:grpSpPr>
        <p:sp>
          <p:nvSpPr>
            <p:cNvPr id="3" name="Rectangle 2"/>
            <p:cNvSpPr/>
            <p:nvPr/>
          </p:nvSpPr>
          <p:spPr>
            <a:xfrm>
              <a:off x="2133600" y="4141548"/>
              <a:ext cx="457200" cy="430451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933700" y="4141548"/>
              <a:ext cx="647700" cy="430451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/>
          <p:cNvSpPr/>
          <p:nvPr/>
        </p:nvSpPr>
        <p:spPr>
          <a:xfrm>
            <a:off x="4543425" y="5867963"/>
            <a:ext cx="742950" cy="412025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57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67989" y="1957978"/>
            <a:ext cx="24716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 1111 0000</a:t>
            </a:r>
            <a:r>
              <a:rPr lang="en-US" sz="2800" baseline="-25000" dirty="0">
                <a:latin typeface="Consolas" panose="020B0609020204030204" pitchFamily="49" charset="0"/>
              </a:rPr>
              <a:t>2</a:t>
            </a:r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u="sng" dirty="0">
                <a:latin typeface="Consolas" panose="020B0609020204030204" pitchFamily="49" charset="0"/>
              </a:rPr>
              <a:t>÷0000 0100</a:t>
            </a:r>
            <a:r>
              <a:rPr lang="en-US" sz="2800" baseline="-25000" dirty="0">
                <a:latin typeface="Consolas" panose="020B0609020204030204" pitchFamily="49" charset="0"/>
              </a:rPr>
              <a:t>2</a:t>
            </a:r>
            <a:endParaRPr lang="en-US" sz="2800" u="sng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44691"/>
            <a:ext cx="6099098" cy="606938"/>
          </a:xfrm>
        </p:spPr>
        <p:txBody>
          <a:bodyPr/>
          <a:lstStyle/>
          <a:p>
            <a:r>
              <a:rPr lang="en-US" dirty="0"/>
              <a:t>SINGLE-LENGTH DIVISION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981199" y="3793933"/>
            <a:ext cx="7996842" cy="1015663"/>
            <a:chOff x="457200" y="3793932"/>
            <a:chExt cx="7969705" cy="1015663"/>
          </a:xfrm>
        </p:grpSpPr>
        <p:grpSp>
          <p:nvGrpSpPr>
            <p:cNvPr id="12" name="Group 11"/>
            <p:cNvGrpSpPr/>
            <p:nvPr/>
          </p:nvGrpSpPr>
          <p:grpSpPr>
            <a:xfrm>
              <a:off x="2350667" y="3793932"/>
              <a:ext cx="4114800" cy="1015663"/>
              <a:chOff x="5486401" y="5385137"/>
              <a:chExt cx="4114800" cy="1015663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5486401" y="5385137"/>
                <a:ext cx="4114800" cy="101566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tIns="91440" bIns="91440" rtlCol="0">
                <a:spAutoFit/>
              </a:bodyPr>
              <a:lstStyle/>
              <a:p>
                <a:pPr marL="1085850"/>
                <a:r>
                  <a:rPr lang="en-US" b="1" dirty="0">
                    <a:solidFill>
                      <a:srgbClr val="00B0F0"/>
                    </a:solidFill>
                  </a:rPr>
                  <a:t>Two different instructions  </a:t>
                </a:r>
                <a:r>
                  <a:rPr lang="en-US" dirty="0"/>
                  <a:t>for </a:t>
                </a:r>
                <a:r>
                  <a:rPr lang="en-US" b="1" dirty="0">
                    <a:solidFill>
                      <a:srgbClr val="FF0000"/>
                    </a:solidFill>
                  </a:rPr>
                  <a:t>signed</a:t>
                </a:r>
                <a:r>
                  <a:rPr lang="en-US" dirty="0"/>
                  <a:t> vs </a:t>
                </a:r>
                <a:r>
                  <a:rPr lang="en-US" b="1" dirty="0">
                    <a:solidFill>
                      <a:srgbClr val="92D050"/>
                    </a:solidFill>
                  </a:rPr>
                  <a:t>unsigned</a:t>
                </a:r>
                <a:r>
                  <a:rPr lang="en-US" dirty="0"/>
                  <a:t> division.</a:t>
                </a:r>
              </a:p>
            </p:txBody>
          </p:sp>
          <p:pic>
            <p:nvPicPr>
              <p:cNvPr id="14" name="Picture 13" descr="http://www.aamu.edu/campuslife/living-on-campus/residentialLife/SiteAssets/pages/default/Warning_sig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581375" y="5461337"/>
                <a:ext cx="971826" cy="838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" name="Rectangle 6"/>
            <p:cNvSpPr/>
            <p:nvPr/>
          </p:nvSpPr>
          <p:spPr>
            <a:xfrm>
              <a:off x="457200" y="4020238"/>
              <a:ext cx="1770635" cy="512404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65516" y="4065634"/>
              <a:ext cx="1761389" cy="505265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882597"/>
              </p:ext>
            </p:extLst>
          </p:nvPr>
        </p:nvGraphicFramePr>
        <p:xfrm>
          <a:off x="2859727" y="5159026"/>
          <a:ext cx="6477000" cy="1382204"/>
        </p:xfrm>
        <a:graphic>
          <a:graphicData uri="http://schemas.openxmlformats.org/drawingml/2006/table">
            <a:tbl>
              <a:tblPr firstRow="1" firstCol="1" band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4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Instruction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Format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1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Unsigned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Divide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2625" algn="l"/>
                        </a:tabLst>
                      </a:pPr>
                      <a:r>
                        <a:rPr lang="en-US" sz="20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DIV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(uint32_t)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÷ R</a:t>
                      </a:r>
                      <a:r>
                        <a:rPr lang="en-US" sz="2000" b="1" baseline="-25000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Signed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Divide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30238" algn="l"/>
                        </a:tabLs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DIV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,R</a:t>
                      </a:r>
                      <a:r>
                        <a:rPr lang="en-US" sz="2000" b="1" baseline="-25000" dirty="0" err="1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(int32_t)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2000" b="1" baseline="-25000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÷ R</a:t>
                      </a:r>
                      <a:r>
                        <a:rPr lang="en-US" sz="2000" b="1" baseline="-25000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2057401" y="1497720"/>
            <a:ext cx="3244077" cy="1845253"/>
            <a:chOff x="533400" y="1497719"/>
            <a:chExt cx="3244077" cy="1845253"/>
          </a:xfrm>
        </p:grpSpPr>
        <p:sp>
          <p:nvSpPr>
            <p:cNvPr id="21" name="TextBox 20"/>
            <p:cNvSpPr txBox="1"/>
            <p:nvPr/>
          </p:nvSpPr>
          <p:spPr>
            <a:xfrm>
              <a:off x="704781" y="1957977"/>
              <a:ext cx="157339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Consolas" panose="020B0609020204030204" pitchFamily="49" charset="0"/>
                </a:rPr>
                <a:t>240</a:t>
              </a:r>
              <a:r>
                <a:rPr lang="en-US" sz="2800" baseline="-25000" dirty="0">
                  <a:latin typeface="Consolas" panose="020B0609020204030204" pitchFamily="49" charset="0"/>
                </a:rPr>
                <a:t>10</a:t>
              </a:r>
              <a:endParaRPr lang="en-US" sz="2800" dirty="0">
                <a:latin typeface="Consolas" panose="020B0609020204030204" pitchFamily="49" charset="0"/>
              </a:endParaRPr>
            </a:p>
            <a:p>
              <a:r>
                <a:rPr lang="en-US" sz="2800" u="sng" dirty="0">
                  <a:latin typeface="Consolas" panose="020B0609020204030204" pitchFamily="49" charset="0"/>
                </a:rPr>
                <a:t> ÷4</a:t>
              </a:r>
              <a:r>
                <a:rPr lang="en-US" sz="2800" baseline="-25000" dirty="0">
                  <a:latin typeface="Consolas" panose="020B0609020204030204" pitchFamily="49" charset="0"/>
                </a:rPr>
                <a:t>10</a:t>
              </a:r>
              <a:endParaRPr lang="en-US" sz="2800" u="sng" dirty="0">
                <a:latin typeface="Consolas" panose="020B0609020204030204" pitchFamily="49" charset="0"/>
              </a:endParaRPr>
            </a:p>
            <a:p>
              <a:r>
                <a:rPr lang="en-US" sz="2800" dirty="0">
                  <a:latin typeface="Consolas" panose="020B0609020204030204" pitchFamily="49" charset="0"/>
                </a:rPr>
                <a:t> 60</a:t>
              </a:r>
              <a:r>
                <a:rPr lang="en-US" sz="2800" baseline="-25000" dirty="0">
                  <a:latin typeface="Consolas" panose="020B0609020204030204" pitchFamily="49" charset="0"/>
                </a:rPr>
                <a:t>10</a:t>
              </a:r>
              <a:endParaRPr lang="en-US" sz="2800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33400" y="1497719"/>
              <a:ext cx="32440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92D050"/>
                  </a:solidFill>
                </a:rPr>
                <a:t>Unsigned:</a:t>
              </a:r>
            </a:p>
          </p:txBody>
        </p:sp>
        <p:sp>
          <p:nvSpPr>
            <p:cNvPr id="16" name="Left Arrow 15"/>
            <p:cNvSpPr/>
            <p:nvPr/>
          </p:nvSpPr>
          <p:spPr>
            <a:xfrm>
              <a:off x="2155438" y="2282812"/>
              <a:ext cx="724420" cy="325839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039625" y="1518409"/>
            <a:ext cx="3891134" cy="1815331"/>
            <a:chOff x="5515625" y="1518408"/>
            <a:chExt cx="3891134" cy="1815331"/>
          </a:xfrm>
        </p:grpSpPr>
        <p:sp>
          <p:nvSpPr>
            <p:cNvPr id="25" name="TextBox 24"/>
            <p:cNvSpPr txBox="1"/>
            <p:nvPr/>
          </p:nvSpPr>
          <p:spPr>
            <a:xfrm>
              <a:off x="6708652" y="1948744"/>
              <a:ext cx="179055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Consolas" panose="020B0609020204030204" pitchFamily="49" charset="0"/>
                </a:rPr>
                <a:t>(-16</a:t>
              </a:r>
              <a:r>
                <a:rPr lang="en-US" sz="2800" baseline="-25000" dirty="0">
                  <a:latin typeface="Consolas" panose="020B0609020204030204" pitchFamily="49" charset="0"/>
                </a:rPr>
                <a:t>10</a:t>
              </a:r>
              <a:r>
                <a:rPr lang="en-US" sz="2800" dirty="0"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2800" u="sng" dirty="0">
                  <a:latin typeface="Consolas" panose="020B0609020204030204" pitchFamily="49" charset="0"/>
                </a:rPr>
                <a:t>÷(+4</a:t>
              </a:r>
              <a:r>
                <a:rPr lang="en-US" sz="2800" baseline="-25000" dirty="0">
                  <a:latin typeface="Consolas" panose="020B0609020204030204" pitchFamily="49" charset="0"/>
                </a:rPr>
                <a:t>10</a:t>
              </a:r>
              <a:r>
                <a:rPr lang="en-US" sz="2800" u="sng" dirty="0"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2800" dirty="0">
                  <a:latin typeface="Consolas" panose="020B0609020204030204" pitchFamily="49" charset="0"/>
                </a:rPr>
                <a:t>  -4</a:t>
              </a:r>
              <a:r>
                <a:rPr lang="en-US" sz="2800" baseline="-25000" dirty="0">
                  <a:latin typeface="Consolas" panose="020B0609020204030204" pitchFamily="49" charset="0"/>
                </a:rPr>
                <a:t>10</a:t>
              </a:r>
              <a:endParaRPr lang="en-US" sz="2800" dirty="0">
                <a:latin typeface="Consolas" panose="020B0609020204030204" pitchFamily="49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46916" y="1518408"/>
              <a:ext cx="32598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2’s complement</a:t>
              </a:r>
              <a:r>
                <a:rPr lang="en-US" sz="2800" b="1" i="1" dirty="0"/>
                <a:t>:</a:t>
              </a:r>
            </a:p>
          </p:txBody>
        </p:sp>
        <p:sp>
          <p:nvSpPr>
            <p:cNvPr id="27" name="Left Arrow 26"/>
            <p:cNvSpPr/>
            <p:nvPr/>
          </p:nvSpPr>
          <p:spPr>
            <a:xfrm rot="10800000">
              <a:off x="5515625" y="2304897"/>
              <a:ext cx="724420" cy="325839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912995" y="3368944"/>
            <a:ext cx="2090637" cy="1162324"/>
            <a:chOff x="388994" y="3368944"/>
            <a:chExt cx="2090637" cy="1162324"/>
          </a:xfrm>
        </p:grpSpPr>
        <p:sp>
          <p:nvSpPr>
            <p:cNvPr id="4" name="Rectangle 3"/>
            <p:cNvSpPr/>
            <p:nvPr/>
          </p:nvSpPr>
          <p:spPr>
            <a:xfrm>
              <a:off x="388994" y="4008048"/>
              <a:ext cx="209063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Consolas" panose="020B0609020204030204" pitchFamily="49" charset="0"/>
                </a:rPr>
                <a:t>0011 1100</a:t>
              </a:r>
              <a:r>
                <a:rPr lang="en-US" sz="2800" baseline="-25000" dirty="0">
                  <a:latin typeface="Consolas" panose="020B0609020204030204" pitchFamily="49" charset="0"/>
                </a:rPr>
                <a:t>2</a:t>
              </a:r>
              <a:endParaRPr lang="en-US" sz="2800" dirty="0"/>
            </a:p>
          </p:txBody>
        </p:sp>
        <p:sp>
          <p:nvSpPr>
            <p:cNvPr id="28" name="Left Arrow 27"/>
            <p:cNvSpPr/>
            <p:nvPr/>
          </p:nvSpPr>
          <p:spPr>
            <a:xfrm rot="16200000">
              <a:off x="982364" y="3478101"/>
              <a:ext cx="544155" cy="325841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932567" y="3390307"/>
            <a:ext cx="2306308" cy="1171602"/>
            <a:chOff x="6408566" y="3390307"/>
            <a:chExt cx="2306308" cy="1171602"/>
          </a:xfrm>
        </p:grpSpPr>
        <p:sp>
          <p:nvSpPr>
            <p:cNvPr id="8" name="Rectangle 7"/>
            <p:cNvSpPr/>
            <p:nvPr/>
          </p:nvSpPr>
          <p:spPr>
            <a:xfrm>
              <a:off x="6408566" y="4038689"/>
              <a:ext cx="230630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Consolas" panose="020B0609020204030204" pitchFamily="49" charset="0"/>
                </a:rPr>
                <a:t> 1111 1100</a:t>
              </a:r>
              <a:r>
                <a:rPr lang="en-US" sz="2800" baseline="-25000" dirty="0">
                  <a:latin typeface="Consolas" panose="020B0609020204030204" pitchFamily="49" charset="0"/>
                </a:rPr>
                <a:t>2</a:t>
              </a:r>
              <a:endParaRPr lang="en-US" sz="2800" dirty="0">
                <a:latin typeface="Consolas" panose="020B0609020204030204" pitchFamily="49" charset="0"/>
              </a:endParaRPr>
            </a:p>
          </p:txBody>
        </p:sp>
        <p:sp>
          <p:nvSpPr>
            <p:cNvPr id="29" name="Left Arrow 28"/>
            <p:cNvSpPr/>
            <p:nvPr/>
          </p:nvSpPr>
          <p:spPr>
            <a:xfrm rot="16200000">
              <a:off x="7181804" y="3499464"/>
              <a:ext cx="544155" cy="325841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7990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463" y="750542"/>
            <a:ext cx="5131411" cy="617048"/>
          </a:xfrm>
        </p:spPr>
        <p:txBody>
          <a:bodyPr/>
          <a:lstStyle/>
          <a:p>
            <a:r>
              <a:rPr lang="en-US" dirty="0"/>
              <a:t>DIVISION OVERFLOW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400" y="2612843"/>
            <a:ext cx="777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smaller range of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single-length dividend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reduces the </a:t>
            </a: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#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operand combinations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that result in an overflow.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Two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possibilities: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or 2's complement: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Division by zero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2's complement: Full-scale negative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31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 divided by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407011" y="5489168"/>
            <a:ext cx="5281725" cy="1015663"/>
            <a:chOff x="5486400" y="5385137"/>
            <a:chExt cx="4875438" cy="1015663"/>
          </a:xfrm>
        </p:grpSpPr>
        <p:sp>
          <p:nvSpPr>
            <p:cNvPr id="9" name="TextBox 8"/>
            <p:cNvSpPr txBox="1"/>
            <p:nvPr/>
          </p:nvSpPr>
          <p:spPr>
            <a:xfrm>
              <a:off x="5486400" y="5385137"/>
              <a:ext cx="4875438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8585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There is no hardware detection of overflow during integer division!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V flag (overflow) is not affected!</a:t>
              </a:r>
            </a:p>
          </p:txBody>
        </p:sp>
        <p:pic>
          <p:nvPicPr>
            <p:cNvPr id="10" name="Picture 9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/>
          <p:cNvSpPr txBox="1"/>
          <p:nvPr/>
        </p:nvSpPr>
        <p:spPr>
          <a:xfrm>
            <a:off x="975664" y="1443790"/>
            <a:ext cx="10861530" cy="954107"/>
          </a:xfrm>
          <a:prstGeom prst="rect">
            <a:avLst/>
          </a:prstGeom>
          <a:solidFill>
            <a:srgbClr val="0070C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Overflow during division =&gt;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Arial" panose="020B0604020202020204"/>
              </a:rPr>
              <a:t>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result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exceeds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the quotient’s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range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8117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3782" y="1890313"/>
            <a:ext cx="119214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62013" algn="l"/>
                <a:tab pos="3143250" algn="l"/>
              </a:tabLst>
              <a:defRPr/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emainder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62013" algn="l"/>
                <a:tab pos="314325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//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&lt;--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dividend 					// example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62013" algn="l"/>
                <a:tab pos="3143250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//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&lt;-- divisor					// example =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62013" algn="l"/>
                <a:tab pos="3143250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SDIV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R2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R2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/ 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		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14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/ 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62013" algn="l"/>
                <a:tab pos="3143250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MLS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	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R3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– (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R2)	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14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– (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62013" algn="l"/>
                <a:tab pos="3143250" algn="l"/>
              </a:tabLst>
              <a:defRPr/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	BX     LR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8B8782-4FCA-0EE2-450D-D45CBFF65647}"/>
              </a:ext>
            </a:extLst>
          </p:cNvPr>
          <p:cNvSpPr/>
          <p:nvPr/>
        </p:nvSpPr>
        <p:spPr>
          <a:xfrm>
            <a:off x="1556569" y="2690887"/>
            <a:ext cx="381000" cy="37648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7493" y="2282720"/>
            <a:ext cx="439153" cy="37648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F60792-0A6F-68E0-39D4-D08D08215D75}"/>
              </a:ext>
            </a:extLst>
          </p:cNvPr>
          <p:cNvSpPr/>
          <p:nvPr/>
        </p:nvSpPr>
        <p:spPr>
          <a:xfrm>
            <a:off x="7641438" y="3411854"/>
            <a:ext cx="332657" cy="37648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4C7D68-9943-02FF-8EFB-94552E004737}"/>
              </a:ext>
            </a:extLst>
          </p:cNvPr>
          <p:cNvSpPr/>
          <p:nvPr/>
        </p:nvSpPr>
        <p:spPr>
          <a:xfrm>
            <a:off x="7067581" y="3411854"/>
            <a:ext cx="446275" cy="37648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5716E4-3DC3-917F-531C-C466B929B8DD}"/>
              </a:ext>
            </a:extLst>
          </p:cNvPr>
          <p:cNvSpPr/>
          <p:nvPr/>
        </p:nvSpPr>
        <p:spPr>
          <a:xfrm>
            <a:off x="6089467" y="3407612"/>
            <a:ext cx="381000" cy="37648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0E3318-15F1-4F65-7E15-A5AB34B5F051}"/>
              </a:ext>
            </a:extLst>
          </p:cNvPr>
          <p:cNvSpPr/>
          <p:nvPr/>
        </p:nvSpPr>
        <p:spPr>
          <a:xfrm>
            <a:off x="5252897" y="3416463"/>
            <a:ext cx="381000" cy="376486"/>
          </a:xfrm>
          <a:prstGeom prst="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82245" y="3014930"/>
            <a:ext cx="431611" cy="37648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9467" y="3034416"/>
            <a:ext cx="381000" cy="37648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48011" y="3033313"/>
            <a:ext cx="381000" cy="37648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664697"/>
              </p:ext>
            </p:extLst>
          </p:nvPr>
        </p:nvGraphicFramePr>
        <p:xfrm>
          <a:off x="3112170" y="4219075"/>
          <a:ext cx="5791199" cy="2438400"/>
        </p:xfrm>
        <a:graphic>
          <a:graphicData uri="http://schemas.openxmlformats.org/drawingml/2006/table">
            <a:tbl>
              <a:tblPr firstRow="1" firstCol="1" bandRow="1"/>
              <a:tblGrid>
                <a:gridCol w="204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3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Quotient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Remainder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(+</a:t>
                      </a:r>
                      <a:r>
                        <a:rPr lang="en-US" sz="2400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) ÷ (+</a:t>
                      </a:r>
                      <a:r>
                        <a:rPr lang="en-US" sz="2400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+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+</a:t>
                      </a:r>
                      <a:r>
                        <a:rPr lang="en-US" sz="2400" dirty="0">
                          <a:solidFill>
                            <a:schemeClr val="accent4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 dirty="0">
                        <a:solidFill>
                          <a:schemeClr val="accent4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(+14) ÷ (-3)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-4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+2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(-14) ÷ (+3)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-4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-2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(-14) ÷ (-3)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+4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-2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958516" y="747313"/>
            <a:ext cx="10274968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Computing A Remainder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remainder = dividend – divisor × quotient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8461AE-A43C-3CD6-FABE-6BC42BCC15CD}"/>
              </a:ext>
            </a:extLst>
          </p:cNvPr>
          <p:cNvSpPr/>
          <p:nvPr/>
        </p:nvSpPr>
        <p:spPr>
          <a:xfrm>
            <a:off x="2226331" y="3035368"/>
            <a:ext cx="381000" cy="37648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F13FFF-0280-3D07-2563-A54031699801}"/>
              </a:ext>
            </a:extLst>
          </p:cNvPr>
          <p:cNvSpPr/>
          <p:nvPr/>
        </p:nvSpPr>
        <p:spPr>
          <a:xfrm>
            <a:off x="2720625" y="3033313"/>
            <a:ext cx="381000" cy="37648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B38889-C607-DA3F-346F-1661DDE8BECD}"/>
              </a:ext>
            </a:extLst>
          </p:cNvPr>
          <p:cNvSpPr/>
          <p:nvPr/>
        </p:nvSpPr>
        <p:spPr>
          <a:xfrm>
            <a:off x="3249764" y="3039379"/>
            <a:ext cx="381000" cy="37648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EB6868-A9EE-7872-8CF8-59BC9501C536}"/>
              </a:ext>
            </a:extLst>
          </p:cNvPr>
          <p:cNvSpPr/>
          <p:nvPr/>
        </p:nvSpPr>
        <p:spPr>
          <a:xfrm>
            <a:off x="2224700" y="3404936"/>
            <a:ext cx="381000" cy="376486"/>
          </a:xfrm>
          <a:prstGeom prst="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BC1A01-1BDF-6C7E-1252-DA1A44C96541}"/>
              </a:ext>
            </a:extLst>
          </p:cNvPr>
          <p:cNvSpPr/>
          <p:nvPr/>
        </p:nvSpPr>
        <p:spPr>
          <a:xfrm>
            <a:off x="2718246" y="3404936"/>
            <a:ext cx="381000" cy="37648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5ACEC7-EBAC-ADF1-1DEE-45B6D40DAF5F}"/>
              </a:ext>
            </a:extLst>
          </p:cNvPr>
          <p:cNvSpPr/>
          <p:nvPr/>
        </p:nvSpPr>
        <p:spPr>
          <a:xfrm>
            <a:off x="3247633" y="3424989"/>
            <a:ext cx="381000" cy="37648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1A023-E111-E8D1-BB48-CDDEBD8EF75D}"/>
              </a:ext>
            </a:extLst>
          </p:cNvPr>
          <p:cNvSpPr/>
          <p:nvPr/>
        </p:nvSpPr>
        <p:spPr>
          <a:xfrm>
            <a:off x="3745316" y="3415865"/>
            <a:ext cx="381000" cy="37648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1B0FA-0924-0B54-CA4C-D649CE449E7C}"/>
              </a:ext>
            </a:extLst>
          </p:cNvPr>
          <p:cNvSpPr/>
          <p:nvPr/>
        </p:nvSpPr>
        <p:spPr>
          <a:xfrm>
            <a:off x="8815551" y="3391416"/>
            <a:ext cx="381000" cy="376486"/>
          </a:xfrm>
          <a:prstGeom prst="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4BFBF4-E2C7-A6D8-F6C6-4471753154D7}"/>
              </a:ext>
            </a:extLst>
          </p:cNvPr>
          <p:cNvSpPr/>
          <p:nvPr/>
        </p:nvSpPr>
        <p:spPr>
          <a:xfrm>
            <a:off x="8819769" y="3014930"/>
            <a:ext cx="381000" cy="37648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3C803B-F2C9-5EC1-E251-660F70F3A74A}"/>
              </a:ext>
            </a:extLst>
          </p:cNvPr>
          <p:cNvSpPr/>
          <p:nvPr/>
        </p:nvSpPr>
        <p:spPr>
          <a:xfrm>
            <a:off x="9570381" y="3014930"/>
            <a:ext cx="381000" cy="37648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81CC0B-5285-8188-53C6-8A07F93EE5DE}"/>
              </a:ext>
            </a:extLst>
          </p:cNvPr>
          <p:cNvSpPr/>
          <p:nvPr/>
        </p:nvSpPr>
        <p:spPr>
          <a:xfrm>
            <a:off x="9567346" y="3391416"/>
            <a:ext cx="381000" cy="37648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F39819-B41A-479E-F3B6-5CA16CAAED94}"/>
              </a:ext>
            </a:extLst>
          </p:cNvPr>
          <p:cNvSpPr/>
          <p:nvPr/>
        </p:nvSpPr>
        <p:spPr>
          <a:xfrm>
            <a:off x="10506682" y="3014930"/>
            <a:ext cx="303275" cy="37648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E36B8-77D7-37DE-42B9-F3C75CF2CC5B}"/>
              </a:ext>
            </a:extLst>
          </p:cNvPr>
          <p:cNvSpPr/>
          <p:nvPr/>
        </p:nvSpPr>
        <p:spPr>
          <a:xfrm>
            <a:off x="10546568" y="3411854"/>
            <a:ext cx="269478" cy="37648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8C0E89-7700-3F20-3DCD-A55A52472117}"/>
              </a:ext>
            </a:extLst>
          </p:cNvPr>
          <p:cNvSpPr/>
          <p:nvPr/>
        </p:nvSpPr>
        <p:spPr>
          <a:xfrm>
            <a:off x="10920572" y="3391416"/>
            <a:ext cx="269478" cy="37648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E6C2F6-DF43-0E90-4F24-56362EA04CDF}"/>
              </a:ext>
            </a:extLst>
          </p:cNvPr>
          <p:cNvSpPr/>
          <p:nvPr/>
        </p:nvSpPr>
        <p:spPr>
          <a:xfrm>
            <a:off x="3687163" y="4753174"/>
            <a:ext cx="310071" cy="37648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6A4E83-CE91-474D-2DBB-FC03FEA895CF}"/>
              </a:ext>
            </a:extLst>
          </p:cNvPr>
          <p:cNvSpPr/>
          <p:nvPr/>
        </p:nvSpPr>
        <p:spPr>
          <a:xfrm>
            <a:off x="4572227" y="4753174"/>
            <a:ext cx="191362" cy="37648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C25049-061A-41FA-DCFE-0EE6466DC1F3}"/>
              </a:ext>
            </a:extLst>
          </p:cNvPr>
          <p:cNvSpPr/>
          <p:nvPr/>
        </p:nvSpPr>
        <p:spPr>
          <a:xfrm>
            <a:off x="5884014" y="4748247"/>
            <a:ext cx="381000" cy="37648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21E35D-A936-CC1A-3D68-A200A76DDE31}"/>
              </a:ext>
            </a:extLst>
          </p:cNvPr>
          <p:cNvSpPr/>
          <p:nvPr/>
        </p:nvSpPr>
        <p:spPr>
          <a:xfrm>
            <a:off x="7888088" y="4748247"/>
            <a:ext cx="184758" cy="376486"/>
          </a:xfrm>
          <a:prstGeom prst="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5F43DA-A6E9-D5AE-B476-E7BA23AE6F81}"/>
              </a:ext>
            </a:extLst>
          </p:cNvPr>
          <p:cNvSpPr/>
          <p:nvPr/>
        </p:nvSpPr>
        <p:spPr>
          <a:xfrm>
            <a:off x="10546567" y="2282720"/>
            <a:ext cx="511957" cy="37648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024512-189E-2846-05A0-A1BDEB8AECCF}"/>
              </a:ext>
            </a:extLst>
          </p:cNvPr>
          <p:cNvSpPr/>
          <p:nvPr/>
        </p:nvSpPr>
        <p:spPr>
          <a:xfrm>
            <a:off x="10546567" y="2652111"/>
            <a:ext cx="511957" cy="37648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604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5</a:t>
            </a:r>
            <a:br>
              <a:rPr lang="en-US" dirty="0"/>
            </a:br>
            <a:r>
              <a:rPr lang="en-US" dirty="0"/>
              <a:t>Integer Arithmetic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Part 4: Summary of Integer Arithmetic Instructions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38773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193"/>
            <a:ext cx="4112737" cy="654492"/>
          </a:xfrm>
        </p:spPr>
        <p:txBody>
          <a:bodyPr/>
          <a:lstStyle/>
          <a:p>
            <a:r>
              <a:rPr lang="en-US" dirty="0"/>
              <a:t>Integer Addition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36516" y="1643270"/>
            <a:ext cx="10433326" cy="4974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Instructions: </a:t>
            </a:r>
            <a:r>
              <a:rPr lang="en-US" dirty="0">
                <a:solidFill>
                  <a:srgbClr val="0070C0"/>
                </a:solidFill>
              </a:rPr>
              <a:t>ADD{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0070C0"/>
                </a:solidFill>
              </a:rPr>
              <a:t>}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rgbClr val="0070C0"/>
                </a:solidFill>
              </a:rPr>
              <a:t> ADC{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0070C0"/>
                </a:solidFill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</a:rPr>
              <a:t>Format Examples: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ADD	R0,R1,</a:t>
            </a:r>
            <a:r>
              <a:rPr lang="en-US" b="1" dirty="0">
                <a:solidFill>
                  <a:srgbClr val="0000FF"/>
                </a:solidFill>
              </a:rPr>
              <a:t>#5</a:t>
            </a:r>
            <a:r>
              <a:rPr lang="en-US" dirty="0">
                <a:solidFill>
                  <a:schemeClr val="tx1"/>
                </a:solidFill>
              </a:rPr>
              <a:t>			// R0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R1 + 5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ADD	R0,R1,R2		// R0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R1 + R2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ADD	R0,R1,</a:t>
            </a:r>
            <a:r>
              <a:rPr lang="en-US" b="1" dirty="0">
                <a:solidFill>
                  <a:srgbClr val="0000FF"/>
                </a:solidFill>
              </a:rPr>
              <a:t>R2,LSL #2</a:t>
            </a:r>
            <a:r>
              <a:rPr lang="en-US" dirty="0">
                <a:solidFill>
                  <a:schemeClr val="tx1"/>
                </a:solidFill>
              </a:rPr>
              <a:t>		// R0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R1 + </a:t>
            </a:r>
            <a:r>
              <a:rPr 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(R2 &lt;&lt; 2)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Flags: </a:t>
            </a:r>
            <a:r>
              <a:rPr lang="en-US" dirty="0">
                <a:solidFill>
                  <a:srgbClr val="0070C0"/>
                </a:solidFill>
              </a:rPr>
              <a:t>Append “S” to capture result characteristics in NCVZ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Overflow:</a:t>
            </a: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Unsigned</a:t>
            </a:r>
            <a:r>
              <a:rPr lang="en-US" dirty="0">
                <a:solidFill>
                  <a:srgbClr val="0070C0"/>
                </a:solidFill>
              </a:rPr>
              <a:t>: Carry Flag (C) = 1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     </a:t>
            </a:r>
            <a:r>
              <a:rPr lang="en-US" b="1" dirty="0">
                <a:solidFill>
                  <a:srgbClr val="FF0000"/>
                </a:solidFill>
              </a:rPr>
              <a:t>Signed</a:t>
            </a:r>
            <a:r>
              <a:rPr lang="en-US" dirty="0">
                <a:solidFill>
                  <a:srgbClr val="0070C0"/>
                </a:solidFill>
              </a:rPr>
              <a:t>: Overflow Flag (V) = 1 (Set when C</a:t>
            </a:r>
            <a:r>
              <a:rPr lang="en-US" baseline="-25000" dirty="0">
                <a:solidFill>
                  <a:srgbClr val="0070C0"/>
                </a:solidFill>
              </a:rPr>
              <a:t>N</a:t>
            </a:r>
            <a:r>
              <a:rPr lang="en-US" dirty="0">
                <a:solidFill>
                  <a:srgbClr val="0070C0"/>
                </a:solidFill>
              </a:rPr>
              <a:t>≠C</a:t>
            </a:r>
            <a:r>
              <a:rPr lang="en-US" baseline="-25000" dirty="0">
                <a:solidFill>
                  <a:srgbClr val="0070C0"/>
                </a:solidFill>
              </a:rPr>
              <a:t>N-1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Multiple precision addition: </a:t>
            </a:r>
            <a:r>
              <a:rPr lang="en-US" dirty="0">
                <a:solidFill>
                  <a:srgbClr val="0070C0"/>
                </a:solidFill>
              </a:rPr>
              <a:t>ADD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 ADC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9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192"/>
            <a:ext cx="4606031" cy="662513"/>
          </a:xfrm>
        </p:spPr>
        <p:txBody>
          <a:bodyPr/>
          <a:lstStyle/>
          <a:p>
            <a:r>
              <a:rPr lang="en-US" dirty="0"/>
              <a:t>Integer Subtraction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936515" y="1708172"/>
            <a:ext cx="10425305" cy="495331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Instructions: </a:t>
            </a:r>
            <a:r>
              <a:rPr lang="en-US" sz="2100" dirty="0">
                <a:solidFill>
                  <a:srgbClr val="0070C0"/>
                </a:solidFill>
              </a:rPr>
              <a:t>SUB{S}, SBC{S}, RSB{S}</a:t>
            </a:r>
          </a:p>
          <a:p>
            <a:r>
              <a:rPr lang="en-US" sz="2100" dirty="0"/>
              <a:t>Format Examples:</a:t>
            </a:r>
          </a:p>
          <a:p>
            <a:pPr lvl="1"/>
            <a:r>
              <a:rPr lang="en-US" sz="1800" dirty="0"/>
              <a:t>SUB	R0,R1,</a:t>
            </a:r>
            <a:r>
              <a:rPr lang="en-US" sz="1800" b="1" dirty="0">
                <a:solidFill>
                  <a:srgbClr val="0000FF"/>
                </a:solidFill>
              </a:rPr>
              <a:t>#5</a:t>
            </a:r>
            <a:r>
              <a:rPr lang="en-US" sz="1800" dirty="0"/>
              <a:t>		// R0 </a:t>
            </a:r>
            <a:r>
              <a:rPr lang="en-US" sz="1800" dirty="0">
                <a:sym typeface="Wingdings" panose="05000000000000000000" pitchFamily="2" charset="2"/>
              </a:rPr>
              <a:t>= R1 - 5</a:t>
            </a:r>
            <a:endParaRPr lang="en-US" sz="1800" dirty="0"/>
          </a:p>
          <a:p>
            <a:pPr lvl="1"/>
            <a:r>
              <a:rPr lang="en-US" sz="1800" dirty="0"/>
              <a:t>SUB	R0,R1,R2		// R0 </a:t>
            </a:r>
            <a:r>
              <a:rPr lang="en-US" sz="1800" dirty="0">
                <a:sym typeface="Wingdings" panose="05000000000000000000" pitchFamily="2" charset="2"/>
              </a:rPr>
              <a:t>= R1 - R2</a:t>
            </a:r>
            <a:endParaRPr lang="en-US" sz="1800" dirty="0"/>
          </a:p>
          <a:p>
            <a:pPr lvl="1"/>
            <a:r>
              <a:rPr lang="en-US" sz="1800" dirty="0"/>
              <a:t>SUB	R0,R1,</a:t>
            </a:r>
            <a:r>
              <a:rPr lang="en-US" sz="1800" b="1" dirty="0">
                <a:solidFill>
                  <a:srgbClr val="0000FF"/>
                </a:solidFill>
              </a:rPr>
              <a:t>R2,LSL #2</a:t>
            </a:r>
            <a:r>
              <a:rPr lang="en-US" sz="1800" dirty="0"/>
              <a:t>		// R0 </a:t>
            </a:r>
            <a:r>
              <a:rPr lang="en-US" sz="1800" dirty="0">
                <a:sym typeface="Wingdings" panose="05000000000000000000" pitchFamily="2" charset="2"/>
              </a:rPr>
              <a:t>= R1 - </a:t>
            </a:r>
            <a:r>
              <a:rPr lang="en-US" sz="1800" b="1" dirty="0">
                <a:solidFill>
                  <a:srgbClr val="0000FF"/>
                </a:solidFill>
                <a:sym typeface="Wingdings" panose="05000000000000000000" pitchFamily="2" charset="2"/>
              </a:rPr>
              <a:t>(R2 &lt;&lt; 2)</a:t>
            </a:r>
            <a:r>
              <a:rPr lang="en-US" sz="1800" dirty="0">
                <a:solidFill>
                  <a:srgbClr val="0070C0"/>
                </a:solidFill>
                <a:sym typeface="Wingdings" panose="05000000000000000000" pitchFamily="2" charset="2"/>
              </a:rPr>
              <a:t>	</a:t>
            </a:r>
            <a:endParaRPr lang="en-US" sz="1800" dirty="0">
              <a:solidFill>
                <a:srgbClr val="0070C0"/>
              </a:solidFill>
            </a:endParaRPr>
          </a:p>
          <a:p>
            <a:endParaRPr lang="en-US" sz="2100" dirty="0"/>
          </a:p>
          <a:p>
            <a:r>
              <a:rPr lang="en-US" sz="2100" dirty="0"/>
              <a:t>Flags: </a:t>
            </a:r>
            <a:r>
              <a:rPr lang="en-US" sz="2100" dirty="0">
                <a:solidFill>
                  <a:srgbClr val="0070C0"/>
                </a:solidFill>
              </a:rPr>
              <a:t>Append “S” to capture result characteristics in NCVZ</a:t>
            </a:r>
          </a:p>
          <a:p>
            <a:endParaRPr lang="en-US" sz="2100" dirty="0"/>
          </a:p>
          <a:p>
            <a:r>
              <a:rPr lang="en-US" sz="2100" dirty="0"/>
              <a:t>Overflow:</a:t>
            </a:r>
          </a:p>
          <a:p>
            <a:pPr lvl="1"/>
            <a:r>
              <a:rPr lang="en-US" sz="1800" b="1" dirty="0">
                <a:solidFill>
                  <a:srgbClr val="92D050"/>
                </a:solidFill>
              </a:rPr>
              <a:t>Unsigned</a:t>
            </a:r>
            <a:r>
              <a:rPr lang="en-US" sz="1800" dirty="0">
                <a:solidFill>
                  <a:srgbClr val="0070C0"/>
                </a:solidFill>
              </a:rPr>
              <a:t>: Carry Flag       (C) = 0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     </a:t>
            </a:r>
            <a:r>
              <a:rPr lang="en-US" sz="1800" b="1" dirty="0">
                <a:solidFill>
                  <a:srgbClr val="FF0000"/>
                </a:solidFill>
              </a:rPr>
              <a:t>Signed</a:t>
            </a:r>
            <a:r>
              <a:rPr lang="en-US" sz="1800" dirty="0">
                <a:solidFill>
                  <a:srgbClr val="0070C0"/>
                </a:solidFill>
              </a:rPr>
              <a:t>: Overflow Flag (V) = 1 (Set when C</a:t>
            </a:r>
            <a:r>
              <a:rPr lang="en-US" sz="1800" baseline="-25000" dirty="0">
                <a:solidFill>
                  <a:srgbClr val="0070C0"/>
                </a:solidFill>
              </a:rPr>
              <a:t>N</a:t>
            </a:r>
            <a:r>
              <a:rPr lang="en-US" sz="1800" dirty="0">
                <a:solidFill>
                  <a:srgbClr val="0070C0"/>
                </a:solidFill>
              </a:rPr>
              <a:t>≠C</a:t>
            </a:r>
            <a:r>
              <a:rPr lang="en-US" sz="1800" baseline="-25000" dirty="0">
                <a:solidFill>
                  <a:srgbClr val="0070C0"/>
                </a:solidFill>
              </a:rPr>
              <a:t>N-1</a:t>
            </a:r>
            <a:r>
              <a:rPr lang="en-US" sz="1800" dirty="0">
                <a:solidFill>
                  <a:srgbClr val="0070C0"/>
                </a:solidFill>
              </a:rPr>
              <a:t>)</a:t>
            </a:r>
          </a:p>
          <a:p>
            <a:endParaRPr lang="en-US" sz="2100" dirty="0"/>
          </a:p>
          <a:p>
            <a:r>
              <a:rPr lang="en-US" sz="2100" dirty="0"/>
              <a:t>Multiple precision subtraction: </a:t>
            </a:r>
            <a:r>
              <a:rPr lang="en-US" sz="2100" dirty="0">
                <a:solidFill>
                  <a:srgbClr val="0070C0"/>
                </a:solidFill>
              </a:rPr>
              <a:t>SUB</a:t>
            </a:r>
            <a:r>
              <a:rPr lang="en-US" sz="2100" b="1" dirty="0">
                <a:solidFill>
                  <a:srgbClr val="FF0000"/>
                </a:solidFill>
              </a:rPr>
              <a:t>S</a:t>
            </a:r>
            <a:r>
              <a:rPr lang="en-US" sz="2100" dirty="0">
                <a:solidFill>
                  <a:srgbClr val="0070C0"/>
                </a:solidFill>
              </a:rPr>
              <a:t> </a:t>
            </a:r>
            <a:r>
              <a:rPr lang="en-US" sz="2100" dirty="0">
                <a:solidFill>
                  <a:srgbClr val="0070C0"/>
                </a:solidFill>
                <a:sym typeface="Wingdings" panose="05000000000000000000" pitchFamily="2" charset="2"/>
              </a:rPr>
              <a:t> SBC</a:t>
            </a:r>
            <a:endParaRPr lang="en-US" sz="2100" dirty="0">
              <a:solidFill>
                <a:srgbClr val="0070C0"/>
              </a:solidFill>
            </a:endParaRPr>
          </a:p>
          <a:p>
            <a:endParaRPr lang="en-US" sz="2100" dirty="0"/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046813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181"/>
            <a:ext cx="9466789" cy="686577"/>
          </a:xfrm>
        </p:spPr>
        <p:txBody>
          <a:bodyPr>
            <a:normAutofit/>
          </a:bodyPr>
          <a:lstStyle/>
          <a:p>
            <a:r>
              <a:rPr lang="en-US" dirty="0"/>
              <a:t>Single-Length 32x32 Integer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1807701"/>
            <a:ext cx="10441347" cy="484175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Instructions: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MUL{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0070C0"/>
                </a:solidFill>
              </a:rPr>
              <a:t>}, MLA, MLS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Signed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vs.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Unsigned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Use </a:t>
            </a:r>
            <a:r>
              <a:rPr lang="en-US" b="1" dirty="0">
                <a:solidFill>
                  <a:srgbClr val="0070C0"/>
                </a:solidFill>
              </a:rPr>
              <a:t>same</a:t>
            </a:r>
            <a:r>
              <a:rPr lang="en-US" dirty="0">
                <a:solidFill>
                  <a:srgbClr val="0070C0"/>
                </a:solidFill>
              </a:rPr>
              <a:t> instruction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Format Examples: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MUL	R0,</a:t>
            </a:r>
            <a:r>
              <a:rPr lang="en-US" b="1" dirty="0">
                <a:solidFill>
                  <a:srgbClr val="0000FF"/>
                </a:solidFill>
              </a:rPr>
              <a:t>R1,R2</a:t>
            </a:r>
            <a:r>
              <a:rPr lang="en-US" dirty="0">
                <a:solidFill>
                  <a:schemeClr val="tx1"/>
                </a:solidFill>
              </a:rPr>
              <a:t>		// R0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</a:t>
            </a:r>
            <a:r>
              <a:rPr 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R1 × R2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MLA	R0,</a:t>
            </a:r>
            <a:r>
              <a:rPr lang="en-US" b="1" dirty="0">
                <a:solidFill>
                  <a:srgbClr val="0000FF"/>
                </a:solidFill>
              </a:rPr>
              <a:t>R1,R2</a:t>
            </a:r>
            <a:r>
              <a:rPr lang="en-US" dirty="0">
                <a:solidFill>
                  <a:schemeClr val="tx1"/>
                </a:solidFill>
              </a:rPr>
              <a:t>,R3		// R0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R3 + </a:t>
            </a:r>
            <a:r>
              <a:rPr 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R1 × R2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MLS	R0,</a:t>
            </a:r>
            <a:r>
              <a:rPr lang="en-US" b="1" dirty="0">
                <a:solidFill>
                  <a:srgbClr val="0000FF"/>
                </a:solidFill>
              </a:rPr>
              <a:t>R1,R2</a:t>
            </a:r>
            <a:r>
              <a:rPr lang="en-US" dirty="0">
                <a:solidFill>
                  <a:schemeClr val="tx1"/>
                </a:solidFill>
              </a:rPr>
              <a:t>,R3		// R0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R3 -  </a:t>
            </a:r>
            <a:r>
              <a:rPr 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R1 × R2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Flags: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Append “S” (only MUL) to capture result characteristics in N and Z flags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Overflow: </a:t>
            </a:r>
            <a:r>
              <a:rPr lang="en-US" b="1" dirty="0">
                <a:solidFill>
                  <a:srgbClr val="FF0000"/>
                </a:solidFill>
              </a:rPr>
              <a:t>May happen but impossible to detect!</a:t>
            </a:r>
          </a:p>
        </p:txBody>
      </p:sp>
    </p:spTree>
    <p:extLst>
      <p:ext uri="{BB962C8B-B14F-4D97-AF65-F5344CB8AC3E}">
        <p14:creationId xmlns:p14="http://schemas.microsoft.com/office/powerpoint/2010/main" val="3196419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171"/>
            <a:ext cx="9643252" cy="734703"/>
          </a:xfrm>
        </p:spPr>
        <p:txBody>
          <a:bodyPr>
            <a:normAutofit/>
          </a:bodyPr>
          <a:lstStyle/>
          <a:p>
            <a:r>
              <a:rPr lang="en-US" dirty="0"/>
              <a:t>Double-Length 32x32 Integer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1795670"/>
            <a:ext cx="10425305" cy="483373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Instructions: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UMULL, SMULL, UMLAL, SMLAL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Signed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vs. </a:t>
            </a:r>
            <a:r>
              <a:rPr lang="en-US" b="1" dirty="0">
                <a:solidFill>
                  <a:srgbClr val="92D050"/>
                </a:solidFill>
              </a:rPr>
              <a:t>Unsigned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Use </a:t>
            </a:r>
            <a:r>
              <a:rPr lang="en-US" b="1" dirty="0">
                <a:solidFill>
                  <a:srgbClr val="0070C0"/>
                </a:solidFill>
              </a:rPr>
              <a:t>different</a:t>
            </a:r>
            <a:r>
              <a:rPr lang="en-US" dirty="0">
                <a:solidFill>
                  <a:srgbClr val="0070C0"/>
                </a:solidFill>
              </a:rPr>
              <a:t> instructions!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Signed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Instruction Formats: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chemeClr val="tx1"/>
                </a:solidFill>
              </a:rPr>
              <a:t>MULL	R0,R1,</a:t>
            </a:r>
            <a:r>
              <a:rPr lang="en-US" b="1" dirty="0">
                <a:solidFill>
                  <a:srgbClr val="0000FF"/>
                </a:solidFill>
              </a:rPr>
              <a:t>R2,R3</a:t>
            </a:r>
            <a:r>
              <a:rPr lang="en-US" dirty="0">
                <a:solidFill>
                  <a:schemeClr val="tx1"/>
                </a:solidFill>
              </a:rPr>
              <a:t>		// R0.R1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              </a:t>
            </a:r>
            <a:r>
              <a:rPr 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R2 × R3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chemeClr val="tx1"/>
                </a:solidFill>
              </a:rPr>
              <a:t>MLAL	R0,R1,</a:t>
            </a:r>
            <a:r>
              <a:rPr lang="en-US" b="1" dirty="0">
                <a:solidFill>
                  <a:srgbClr val="0000FF"/>
                </a:solidFill>
              </a:rPr>
              <a:t>R2,R3</a:t>
            </a:r>
            <a:r>
              <a:rPr lang="en-US" dirty="0">
                <a:solidFill>
                  <a:schemeClr val="tx1"/>
                </a:solidFill>
              </a:rPr>
              <a:t>		// R0.R1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R0.R1 + </a:t>
            </a:r>
            <a:r>
              <a:rPr 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R2 × R3</a:t>
            </a:r>
          </a:p>
          <a:p>
            <a:r>
              <a:rPr lang="en-US" b="1" dirty="0">
                <a:solidFill>
                  <a:srgbClr val="92D050"/>
                </a:solidFill>
              </a:rPr>
              <a:t>Unsigned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Instruction Formats:</a:t>
            </a: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U</a:t>
            </a:r>
            <a:r>
              <a:rPr lang="en-US" dirty="0">
                <a:solidFill>
                  <a:schemeClr val="tx1"/>
                </a:solidFill>
              </a:rPr>
              <a:t>MULL	R0,R1,</a:t>
            </a:r>
            <a:r>
              <a:rPr lang="en-US" b="1" dirty="0">
                <a:solidFill>
                  <a:srgbClr val="0000FF"/>
                </a:solidFill>
              </a:rPr>
              <a:t>R2,R3</a:t>
            </a:r>
            <a:r>
              <a:rPr lang="en-US" dirty="0">
                <a:solidFill>
                  <a:schemeClr val="tx1"/>
                </a:solidFill>
              </a:rPr>
              <a:t>		// R0.R1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              </a:t>
            </a:r>
            <a:r>
              <a:rPr 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R2 × R3</a:t>
            </a: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U</a:t>
            </a:r>
            <a:r>
              <a:rPr lang="en-US" dirty="0">
                <a:solidFill>
                  <a:schemeClr val="tx1"/>
                </a:solidFill>
              </a:rPr>
              <a:t>MLAL	R0,R1,</a:t>
            </a:r>
            <a:r>
              <a:rPr lang="en-US" b="1" dirty="0">
                <a:solidFill>
                  <a:srgbClr val="0000FF"/>
                </a:solidFill>
              </a:rPr>
              <a:t>R2,R3</a:t>
            </a:r>
            <a:r>
              <a:rPr lang="en-US" dirty="0">
                <a:solidFill>
                  <a:schemeClr val="tx1"/>
                </a:solidFill>
              </a:rPr>
              <a:t>		// R0.R1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= R0.R1 + </a:t>
            </a:r>
            <a:r>
              <a:rPr lang="en-US" b="1" dirty="0">
                <a:solidFill>
                  <a:srgbClr val="0000FF"/>
                </a:solidFill>
                <a:sym typeface="Wingdings" panose="05000000000000000000" pitchFamily="2" charset="2"/>
              </a:rPr>
              <a:t>R2 × R3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Flags:</a:t>
            </a:r>
            <a:r>
              <a:rPr lang="en-US" dirty="0"/>
              <a:t>      </a:t>
            </a:r>
            <a:r>
              <a:rPr lang="en-US" b="1" dirty="0">
                <a:solidFill>
                  <a:srgbClr val="FF0000"/>
                </a:solidFill>
              </a:rPr>
              <a:t>Unaffected!</a:t>
            </a:r>
          </a:p>
          <a:p>
            <a:r>
              <a:rPr lang="en-US" dirty="0">
                <a:solidFill>
                  <a:schemeClr val="tx1"/>
                </a:solidFill>
              </a:rPr>
              <a:t>Overflow: </a:t>
            </a:r>
            <a:r>
              <a:rPr lang="en-US" b="1" dirty="0">
                <a:solidFill>
                  <a:srgbClr val="FF0000"/>
                </a:solidFill>
              </a:rPr>
              <a:t>Can’t happen</a:t>
            </a:r>
          </a:p>
        </p:txBody>
      </p:sp>
    </p:spTree>
    <p:extLst>
      <p:ext uri="{BB962C8B-B14F-4D97-AF65-F5344CB8AC3E}">
        <p14:creationId xmlns:p14="http://schemas.microsoft.com/office/powerpoint/2010/main" val="228742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45181"/>
            <a:ext cx="8315769" cy="746735"/>
          </a:xfrm>
        </p:spPr>
        <p:txBody>
          <a:bodyPr>
            <a:normAutofit/>
          </a:bodyPr>
          <a:lstStyle/>
          <a:p>
            <a:r>
              <a:rPr lang="en-US" dirty="0"/>
              <a:t>Single-Length 32÷32 Integer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25" y="1806366"/>
            <a:ext cx="10409263" cy="483506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Instructions: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0070C0"/>
                </a:solidFill>
              </a:rPr>
              <a:t>DIV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92D050"/>
                </a:solidFill>
              </a:rPr>
              <a:t>U</a:t>
            </a:r>
            <a:r>
              <a:rPr lang="en-US" dirty="0">
                <a:solidFill>
                  <a:srgbClr val="0070C0"/>
                </a:solidFill>
              </a:rPr>
              <a:t>DIV</a:t>
            </a:r>
          </a:p>
          <a:p>
            <a:r>
              <a:rPr lang="en-US" b="1" dirty="0">
                <a:solidFill>
                  <a:srgbClr val="FF0000"/>
                </a:solidFill>
              </a:rPr>
              <a:t>Signed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vs.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Unsigned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Use </a:t>
            </a:r>
            <a:r>
              <a:rPr lang="en-US" dirty="0">
                <a:solidFill>
                  <a:srgbClr val="FF0000"/>
                </a:solidFill>
              </a:rPr>
              <a:t>different</a:t>
            </a:r>
            <a:r>
              <a:rPr lang="en-US" dirty="0">
                <a:solidFill>
                  <a:srgbClr val="0070C0"/>
                </a:solidFill>
              </a:rPr>
              <a:t> instructions!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Signed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Instruction Format: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0070C0"/>
                </a:solidFill>
              </a:rPr>
              <a:t>DIV	R0,R1,R2		// R0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= R1 ÷ R2</a:t>
            </a:r>
          </a:p>
          <a:p>
            <a:r>
              <a:rPr lang="en-US" b="1" dirty="0">
                <a:solidFill>
                  <a:srgbClr val="92D050"/>
                </a:solidFill>
              </a:rPr>
              <a:t>Unsigned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Instruction Format:</a:t>
            </a: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U</a:t>
            </a:r>
            <a:r>
              <a:rPr lang="en-US" dirty="0">
                <a:solidFill>
                  <a:srgbClr val="0070C0"/>
                </a:solidFill>
              </a:rPr>
              <a:t>DIV	R0,R1,R2		// R0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= R1 ÷ R2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Flags: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Unaffected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Overflow: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Division by zero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Full-scale negative divided by -1</a:t>
            </a:r>
          </a:p>
        </p:txBody>
      </p:sp>
    </p:spTree>
    <p:extLst>
      <p:ext uri="{BB962C8B-B14F-4D97-AF65-F5344CB8AC3E}">
        <p14:creationId xmlns:p14="http://schemas.microsoft.com/office/powerpoint/2010/main" val="3769027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1369</TotalTime>
  <Words>3005</Words>
  <Application>Microsoft Office PowerPoint</Application>
  <PresentationFormat>Widescreen</PresentationFormat>
  <Paragraphs>528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Arial Narrow</vt:lpstr>
      <vt:lpstr>Calibri</vt:lpstr>
      <vt:lpstr>Cambria Math</vt:lpstr>
      <vt:lpstr>Consolas</vt:lpstr>
      <vt:lpstr>Garamond</vt:lpstr>
      <vt:lpstr>Times New Roman</vt:lpstr>
      <vt:lpstr>Wingdings</vt:lpstr>
      <vt:lpstr>SCUTemplate</vt:lpstr>
      <vt:lpstr>Custom Design</vt:lpstr>
      <vt:lpstr>1_SCUTemplate</vt:lpstr>
      <vt:lpstr>CSEN20</vt:lpstr>
      <vt:lpstr>Chapter 5 Integer Arithmetic</vt:lpstr>
      <vt:lpstr>ADDITION AND SUBTRACTION</vt:lpstr>
      <vt:lpstr>FLAGS Current Program Status Register (APSR)</vt:lpstr>
      <vt:lpstr>PowerPoint Presentation</vt:lpstr>
      <vt:lpstr>PowerPoint Presentation</vt:lpstr>
      <vt:lpstr>EXAMPLE Implementing  y = x + 5 ;  </vt:lpstr>
      <vt:lpstr>ARM Thumb-2</vt:lpstr>
      <vt:lpstr>ARM Thumb-2 Instruction Encodings</vt:lpstr>
      <vt:lpstr>ADD Immediate</vt:lpstr>
      <vt:lpstr>ADD Register</vt:lpstr>
      <vt:lpstr>Reducing Code Size = Faster Code</vt:lpstr>
      <vt:lpstr>Chapter 5 Integer Arithmetic</vt:lpstr>
      <vt:lpstr>DECIMAL MULTIPLICATION</vt:lpstr>
      <vt:lpstr>BINARY MULTIPLICATION</vt:lpstr>
      <vt:lpstr>BINARY MULTIPLICATION</vt:lpstr>
      <vt:lpstr>MULTIPLICATION IN C</vt:lpstr>
      <vt:lpstr>MULTIPLICATION IN C</vt:lpstr>
      <vt:lpstr>MULTIPLICATION IN C</vt:lpstr>
      <vt:lpstr>MULTIPLICATION For Single-Length Products</vt:lpstr>
      <vt:lpstr>MULTIPLICATION OVERFLOW</vt:lpstr>
      <vt:lpstr>64x64-bit MULTIPLICATION (Computing a 64-bit single-length product)</vt:lpstr>
      <vt:lpstr>MULTIPLICATION Single-Length 64x64-Bit Product</vt:lpstr>
      <vt:lpstr>MULTIPLICATION For Double-Length Products</vt:lpstr>
      <vt:lpstr>Multiplication Summary</vt:lpstr>
      <vt:lpstr>Chapter 5 Integer Arithmetic</vt:lpstr>
      <vt:lpstr>DIVISION IN C</vt:lpstr>
      <vt:lpstr>SINGLE-LENGTH DIVISION</vt:lpstr>
      <vt:lpstr>DIVISION OVERFLOW</vt:lpstr>
      <vt:lpstr>PowerPoint Presentation</vt:lpstr>
      <vt:lpstr>Chapter 5 Integer Arithmetic</vt:lpstr>
      <vt:lpstr>Integer Addition</vt:lpstr>
      <vt:lpstr>Integer Subtraction</vt:lpstr>
      <vt:lpstr>Single-Length 32x32 Integer Multiplication</vt:lpstr>
      <vt:lpstr>Double-Length 32x32 Integer Multiplication</vt:lpstr>
      <vt:lpstr>Single-Length 32÷32 Integer Division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223</cp:revision>
  <cp:lastPrinted>2023-09-11T21:46:56Z</cp:lastPrinted>
  <dcterms:created xsi:type="dcterms:W3CDTF">2023-09-09T19:51:41Z</dcterms:created>
  <dcterms:modified xsi:type="dcterms:W3CDTF">2026-10-26T18:58:50Z</dcterms:modified>
</cp:coreProperties>
</file>