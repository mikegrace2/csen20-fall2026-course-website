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theme/theme2.xml" ContentType="application/vnd.openxmlformats-officedocument.theme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  <p:sldMasterId id="2147483674" r:id="rId2"/>
    <p:sldMasterId id="2147483687" r:id="rId3"/>
  </p:sldMasterIdLst>
  <p:notesMasterIdLst>
    <p:notesMasterId r:id="rId100"/>
  </p:notesMasterIdLst>
  <p:handoutMasterIdLst>
    <p:handoutMasterId r:id="rId101"/>
  </p:handoutMasterIdLst>
  <p:sldIdLst>
    <p:sldId id="333" r:id="rId4"/>
    <p:sldId id="334" r:id="rId5"/>
    <p:sldId id="335" r:id="rId6"/>
    <p:sldId id="336" r:id="rId7"/>
    <p:sldId id="468" r:id="rId8"/>
    <p:sldId id="469" r:id="rId9"/>
    <p:sldId id="337" r:id="rId10"/>
    <p:sldId id="338" r:id="rId11"/>
    <p:sldId id="339" r:id="rId12"/>
    <p:sldId id="340" r:id="rId13"/>
    <p:sldId id="341" r:id="rId14"/>
    <p:sldId id="342" r:id="rId15"/>
    <p:sldId id="344" r:id="rId16"/>
    <p:sldId id="343" r:id="rId17"/>
    <p:sldId id="346" r:id="rId18"/>
    <p:sldId id="345" r:id="rId19"/>
    <p:sldId id="347" r:id="rId20"/>
    <p:sldId id="458" r:id="rId21"/>
    <p:sldId id="348" r:id="rId22"/>
    <p:sldId id="349" r:id="rId23"/>
    <p:sldId id="350" r:id="rId24"/>
    <p:sldId id="467" r:id="rId25"/>
    <p:sldId id="351" r:id="rId26"/>
    <p:sldId id="352" r:id="rId27"/>
    <p:sldId id="353" r:id="rId28"/>
    <p:sldId id="354" r:id="rId29"/>
    <p:sldId id="470" r:id="rId30"/>
    <p:sldId id="355" r:id="rId31"/>
    <p:sldId id="356" r:id="rId32"/>
    <p:sldId id="357" r:id="rId33"/>
    <p:sldId id="360" r:id="rId34"/>
    <p:sldId id="362" r:id="rId35"/>
    <p:sldId id="369" r:id="rId36"/>
    <p:sldId id="370" r:id="rId37"/>
    <p:sldId id="371" r:id="rId38"/>
    <p:sldId id="372" r:id="rId39"/>
    <p:sldId id="490" r:id="rId40"/>
    <p:sldId id="386" r:id="rId41"/>
    <p:sldId id="387" r:id="rId42"/>
    <p:sldId id="388" r:id="rId43"/>
    <p:sldId id="389" r:id="rId44"/>
    <p:sldId id="390" r:id="rId45"/>
    <p:sldId id="452" r:id="rId46"/>
    <p:sldId id="392" r:id="rId47"/>
    <p:sldId id="394" r:id="rId48"/>
    <p:sldId id="395" r:id="rId49"/>
    <p:sldId id="400" r:id="rId50"/>
    <p:sldId id="401" r:id="rId51"/>
    <p:sldId id="453" r:id="rId52"/>
    <p:sldId id="454" r:id="rId53"/>
    <p:sldId id="397" r:id="rId54"/>
    <p:sldId id="489" r:id="rId55"/>
    <p:sldId id="471" r:id="rId56"/>
    <p:sldId id="472" r:id="rId57"/>
    <p:sldId id="473" r:id="rId58"/>
    <p:sldId id="474" r:id="rId59"/>
    <p:sldId id="475" r:id="rId60"/>
    <p:sldId id="476" r:id="rId61"/>
    <p:sldId id="477" r:id="rId62"/>
    <p:sldId id="478" r:id="rId63"/>
    <p:sldId id="480" r:id="rId64"/>
    <p:sldId id="481" r:id="rId65"/>
    <p:sldId id="482" r:id="rId66"/>
    <p:sldId id="483" r:id="rId67"/>
    <p:sldId id="484" r:id="rId68"/>
    <p:sldId id="503" r:id="rId69"/>
    <p:sldId id="486" r:id="rId70"/>
    <p:sldId id="485" r:id="rId71"/>
    <p:sldId id="502" r:id="rId72"/>
    <p:sldId id="487" r:id="rId73"/>
    <p:sldId id="488" r:id="rId74"/>
    <p:sldId id="407" r:id="rId75"/>
    <p:sldId id="408" r:id="rId76"/>
    <p:sldId id="409" r:id="rId77"/>
    <p:sldId id="410" r:id="rId78"/>
    <p:sldId id="455" r:id="rId79"/>
    <p:sldId id="412" r:id="rId80"/>
    <p:sldId id="413" r:id="rId81"/>
    <p:sldId id="414" r:id="rId82"/>
    <p:sldId id="415" r:id="rId83"/>
    <p:sldId id="462" r:id="rId84"/>
    <p:sldId id="445" r:id="rId85"/>
    <p:sldId id="446" r:id="rId86"/>
    <p:sldId id="456" r:id="rId87"/>
    <p:sldId id="491" r:id="rId88"/>
    <p:sldId id="492" r:id="rId89"/>
    <p:sldId id="493" r:id="rId90"/>
    <p:sldId id="494" r:id="rId91"/>
    <p:sldId id="495" r:id="rId92"/>
    <p:sldId id="496" r:id="rId93"/>
    <p:sldId id="448" r:id="rId94"/>
    <p:sldId id="498" r:id="rId95"/>
    <p:sldId id="499" r:id="rId96"/>
    <p:sldId id="500" r:id="rId97"/>
    <p:sldId id="501" r:id="rId98"/>
    <p:sldId id="447" r:id="rId99"/>
  </p:sldIdLst>
  <p:sldSz cx="12192000" cy="6858000"/>
  <p:notesSz cx="7010400" cy="92964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493" autoAdjust="0"/>
    <p:restoredTop sz="94660"/>
  </p:normalViewPr>
  <p:slideViewPr>
    <p:cSldViewPr snapToGrid="0">
      <p:cViewPr varScale="1">
        <p:scale>
          <a:sx n="161" d="100"/>
          <a:sy n="161" d="100"/>
        </p:scale>
        <p:origin x="500" y="10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3.xml"/><Relationship Id="rId21" Type="http://schemas.openxmlformats.org/officeDocument/2006/relationships/slide" Target="slides/slide18.xml"/><Relationship Id="rId42" Type="http://schemas.openxmlformats.org/officeDocument/2006/relationships/slide" Target="slides/slide39.xml"/><Relationship Id="rId47" Type="http://schemas.openxmlformats.org/officeDocument/2006/relationships/slide" Target="slides/slide44.xml"/><Relationship Id="rId63" Type="http://schemas.openxmlformats.org/officeDocument/2006/relationships/slide" Target="slides/slide60.xml"/><Relationship Id="rId68" Type="http://schemas.openxmlformats.org/officeDocument/2006/relationships/slide" Target="slides/slide65.xml"/><Relationship Id="rId84" Type="http://schemas.openxmlformats.org/officeDocument/2006/relationships/slide" Target="slides/slide81.xml"/><Relationship Id="rId89" Type="http://schemas.openxmlformats.org/officeDocument/2006/relationships/slide" Target="slides/slide86.xml"/><Relationship Id="rId16" Type="http://schemas.openxmlformats.org/officeDocument/2006/relationships/slide" Target="slides/slide13.xml"/><Relationship Id="rId11" Type="http://schemas.openxmlformats.org/officeDocument/2006/relationships/slide" Target="slides/slide8.xml"/><Relationship Id="rId32" Type="http://schemas.openxmlformats.org/officeDocument/2006/relationships/slide" Target="slides/slide29.xml"/><Relationship Id="rId37" Type="http://schemas.openxmlformats.org/officeDocument/2006/relationships/slide" Target="slides/slide34.xml"/><Relationship Id="rId53" Type="http://schemas.openxmlformats.org/officeDocument/2006/relationships/slide" Target="slides/slide50.xml"/><Relationship Id="rId58" Type="http://schemas.openxmlformats.org/officeDocument/2006/relationships/slide" Target="slides/slide55.xml"/><Relationship Id="rId74" Type="http://schemas.openxmlformats.org/officeDocument/2006/relationships/slide" Target="slides/slide71.xml"/><Relationship Id="rId79" Type="http://schemas.openxmlformats.org/officeDocument/2006/relationships/slide" Target="slides/slide76.xml"/><Relationship Id="rId102" Type="http://schemas.openxmlformats.org/officeDocument/2006/relationships/presProps" Target="presProps.xml"/><Relationship Id="rId5" Type="http://schemas.openxmlformats.org/officeDocument/2006/relationships/slide" Target="slides/slide2.xml"/><Relationship Id="rId90" Type="http://schemas.openxmlformats.org/officeDocument/2006/relationships/slide" Target="slides/slide87.xml"/><Relationship Id="rId95" Type="http://schemas.openxmlformats.org/officeDocument/2006/relationships/slide" Target="slides/slide92.xml"/><Relationship Id="rId22" Type="http://schemas.openxmlformats.org/officeDocument/2006/relationships/slide" Target="slides/slide19.xml"/><Relationship Id="rId27" Type="http://schemas.openxmlformats.org/officeDocument/2006/relationships/slide" Target="slides/slide24.xml"/><Relationship Id="rId43" Type="http://schemas.openxmlformats.org/officeDocument/2006/relationships/slide" Target="slides/slide40.xml"/><Relationship Id="rId48" Type="http://schemas.openxmlformats.org/officeDocument/2006/relationships/slide" Target="slides/slide45.xml"/><Relationship Id="rId64" Type="http://schemas.openxmlformats.org/officeDocument/2006/relationships/slide" Target="slides/slide61.xml"/><Relationship Id="rId69" Type="http://schemas.openxmlformats.org/officeDocument/2006/relationships/slide" Target="slides/slide66.xml"/><Relationship Id="rId80" Type="http://schemas.openxmlformats.org/officeDocument/2006/relationships/slide" Target="slides/slide77.xml"/><Relationship Id="rId85" Type="http://schemas.openxmlformats.org/officeDocument/2006/relationships/slide" Target="slides/slide82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33" Type="http://schemas.openxmlformats.org/officeDocument/2006/relationships/slide" Target="slides/slide30.xml"/><Relationship Id="rId38" Type="http://schemas.openxmlformats.org/officeDocument/2006/relationships/slide" Target="slides/slide35.xml"/><Relationship Id="rId59" Type="http://schemas.openxmlformats.org/officeDocument/2006/relationships/slide" Target="slides/slide56.xml"/><Relationship Id="rId103" Type="http://schemas.openxmlformats.org/officeDocument/2006/relationships/viewProps" Target="viewProps.xml"/><Relationship Id="rId20" Type="http://schemas.openxmlformats.org/officeDocument/2006/relationships/slide" Target="slides/slide17.xml"/><Relationship Id="rId41" Type="http://schemas.openxmlformats.org/officeDocument/2006/relationships/slide" Target="slides/slide38.xml"/><Relationship Id="rId54" Type="http://schemas.openxmlformats.org/officeDocument/2006/relationships/slide" Target="slides/slide51.xml"/><Relationship Id="rId62" Type="http://schemas.openxmlformats.org/officeDocument/2006/relationships/slide" Target="slides/slide59.xml"/><Relationship Id="rId70" Type="http://schemas.openxmlformats.org/officeDocument/2006/relationships/slide" Target="slides/slide67.xml"/><Relationship Id="rId75" Type="http://schemas.openxmlformats.org/officeDocument/2006/relationships/slide" Target="slides/slide72.xml"/><Relationship Id="rId83" Type="http://schemas.openxmlformats.org/officeDocument/2006/relationships/slide" Target="slides/slide80.xml"/><Relationship Id="rId88" Type="http://schemas.openxmlformats.org/officeDocument/2006/relationships/slide" Target="slides/slide85.xml"/><Relationship Id="rId91" Type="http://schemas.openxmlformats.org/officeDocument/2006/relationships/slide" Target="slides/slide88.xml"/><Relationship Id="rId96" Type="http://schemas.openxmlformats.org/officeDocument/2006/relationships/slide" Target="slides/slide93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5" Type="http://schemas.openxmlformats.org/officeDocument/2006/relationships/slide" Target="slides/slide12.xml"/><Relationship Id="rId23" Type="http://schemas.openxmlformats.org/officeDocument/2006/relationships/slide" Target="slides/slide20.xml"/><Relationship Id="rId28" Type="http://schemas.openxmlformats.org/officeDocument/2006/relationships/slide" Target="slides/slide25.xml"/><Relationship Id="rId36" Type="http://schemas.openxmlformats.org/officeDocument/2006/relationships/slide" Target="slides/slide33.xml"/><Relationship Id="rId49" Type="http://schemas.openxmlformats.org/officeDocument/2006/relationships/slide" Target="slides/slide46.xml"/><Relationship Id="rId57" Type="http://schemas.openxmlformats.org/officeDocument/2006/relationships/slide" Target="slides/slide54.xml"/><Relationship Id="rId10" Type="http://schemas.openxmlformats.org/officeDocument/2006/relationships/slide" Target="slides/slide7.xml"/><Relationship Id="rId31" Type="http://schemas.openxmlformats.org/officeDocument/2006/relationships/slide" Target="slides/slide28.xml"/><Relationship Id="rId44" Type="http://schemas.openxmlformats.org/officeDocument/2006/relationships/slide" Target="slides/slide41.xml"/><Relationship Id="rId52" Type="http://schemas.openxmlformats.org/officeDocument/2006/relationships/slide" Target="slides/slide49.xml"/><Relationship Id="rId60" Type="http://schemas.openxmlformats.org/officeDocument/2006/relationships/slide" Target="slides/slide57.xml"/><Relationship Id="rId65" Type="http://schemas.openxmlformats.org/officeDocument/2006/relationships/slide" Target="slides/slide62.xml"/><Relationship Id="rId73" Type="http://schemas.openxmlformats.org/officeDocument/2006/relationships/slide" Target="slides/slide70.xml"/><Relationship Id="rId78" Type="http://schemas.openxmlformats.org/officeDocument/2006/relationships/slide" Target="slides/slide75.xml"/><Relationship Id="rId81" Type="http://schemas.openxmlformats.org/officeDocument/2006/relationships/slide" Target="slides/slide78.xml"/><Relationship Id="rId86" Type="http://schemas.openxmlformats.org/officeDocument/2006/relationships/slide" Target="slides/slide83.xml"/><Relationship Id="rId94" Type="http://schemas.openxmlformats.org/officeDocument/2006/relationships/slide" Target="slides/slide91.xml"/><Relationship Id="rId99" Type="http://schemas.openxmlformats.org/officeDocument/2006/relationships/slide" Target="slides/slide96.xml"/><Relationship Id="rId101" Type="http://schemas.openxmlformats.org/officeDocument/2006/relationships/handoutMaster" Target="handoutMasters/handout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9" Type="http://schemas.openxmlformats.org/officeDocument/2006/relationships/slide" Target="slides/slide36.xml"/><Relationship Id="rId34" Type="http://schemas.openxmlformats.org/officeDocument/2006/relationships/slide" Target="slides/slide31.xml"/><Relationship Id="rId50" Type="http://schemas.openxmlformats.org/officeDocument/2006/relationships/slide" Target="slides/slide47.xml"/><Relationship Id="rId55" Type="http://schemas.openxmlformats.org/officeDocument/2006/relationships/slide" Target="slides/slide52.xml"/><Relationship Id="rId76" Type="http://schemas.openxmlformats.org/officeDocument/2006/relationships/slide" Target="slides/slide73.xml"/><Relationship Id="rId97" Type="http://schemas.openxmlformats.org/officeDocument/2006/relationships/slide" Target="slides/slide94.xml"/><Relationship Id="rId104" Type="http://schemas.openxmlformats.org/officeDocument/2006/relationships/theme" Target="theme/theme1.xml"/><Relationship Id="rId7" Type="http://schemas.openxmlformats.org/officeDocument/2006/relationships/slide" Target="slides/slide4.xml"/><Relationship Id="rId71" Type="http://schemas.openxmlformats.org/officeDocument/2006/relationships/slide" Target="slides/slide68.xml"/><Relationship Id="rId92" Type="http://schemas.openxmlformats.org/officeDocument/2006/relationships/slide" Target="slides/slide89.xml"/><Relationship Id="rId2" Type="http://schemas.openxmlformats.org/officeDocument/2006/relationships/slideMaster" Target="slideMasters/slideMaster2.xml"/><Relationship Id="rId29" Type="http://schemas.openxmlformats.org/officeDocument/2006/relationships/slide" Target="slides/slide26.xml"/><Relationship Id="rId24" Type="http://schemas.openxmlformats.org/officeDocument/2006/relationships/slide" Target="slides/slide21.xml"/><Relationship Id="rId40" Type="http://schemas.openxmlformats.org/officeDocument/2006/relationships/slide" Target="slides/slide37.xml"/><Relationship Id="rId45" Type="http://schemas.openxmlformats.org/officeDocument/2006/relationships/slide" Target="slides/slide42.xml"/><Relationship Id="rId66" Type="http://schemas.openxmlformats.org/officeDocument/2006/relationships/slide" Target="slides/slide63.xml"/><Relationship Id="rId87" Type="http://schemas.openxmlformats.org/officeDocument/2006/relationships/slide" Target="slides/slide84.xml"/><Relationship Id="rId61" Type="http://schemas.openxmlformats.org/officeDocument/2006/relationships/slide" Target="slides/slide58.xml"/><Relationship Id="rId82" Type="http://schemas.openxmlformats.org/officeDocument/2006/relationships/slide" Target="slides/slide79.xml"/><Relationship Id="rId19" Type="http://schemas.openxmlformats.org/officeDocument/2006/relationships/slide" Target="slides/slide16.xml"/><Relationship Id="rId14" Type="http://schemas.openxmlformats.org/officeDocument/2006/relationships/slide" Target="slides/slide11.xml"/><Relationship Id="rId30" Type="http://schemas.openxmlformats.org/officeDocument/2006/relationships/slide" Target="slides/slide27.xml"/><Relationship Id="rId35" Type="http://schemas.openxmlformats.org/officeDocument/2006/relationships/slide" Target="slides/slide32.xml"/><Relationship Id="rId56" Type="http://schemas.openxmlformats.org/officeDocument/2006/relationships/slide" Target="slides/slide53.xml"/><Relationship Id="rId77" Type="http://schemas.openxmlformats.org/officeDocument/2006/relationships/slide" Target="slides/slide74.xml"/><Relationship Id="rId100" Type="http://schemas.openxmlformats.org/officeDocument/2006/relationships/notesMaster" Target="notesMasters/notesMaster1.xml"/><Relationship Id="rId105" Type="http://schemas.openxmlformats.org/officeDocument/2006/relationships/tableStyles" Target="tableStyles.xml"/><Relationship Id="rId8" Type="http://schemas.openxmlformats.org/officeDocument/2006/relationships/slide" Target="slides/slide5.xml"/><Relationship Id="rId51" Type="http://schemas.openxmlformats.org/officeDocument/2006/relationships/slide" Target="slides/slide48.xml"/><Relationship Id="rId72" Type="http://schemas.openxmlformats.org/officeDocument/2006/relationships/slide" Target="slides/slide69.xml"/><Relationship Id="rId93" Type="http://schemas.openxmlformats.org/officeDocument/2006/relationships/slide" Target="slides/slide90.xml"/><Relationship Id="rId98" Type="http://schemas.openxmlformats.org/officeDocument/2006/relationships/slide" Target="slides/slide95.xml"/><Relationship Id="rId3" Type="http://schemas.openxmlformats.org/officeDocument/2006/relationships/slideMaster" Target="slideMasters/slideMaster3.xml"/><Relationship Id="rId25" Type="http://schemas.openxmlformats.org/officeDocument/2006/relationships/slide" Target="slides/slide22.xml"/><Relationship Id="rId46" Type="http://schemas.openxmlformats.org/officeDocument/2006/relationships/slide" Target="slides/slide43.xml"/><Relationship Id="rId67" Type="http://schemas.openxmlformats.org/officeDocument/2006/relationships/slide" Target="slides/slide6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8E938536-29D3-49BD-A567-41CAF057586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B2E2B272-7A3A-4005-B1B0-0F9070B870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879073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70938" y="0"/>
            <a:ext cx="3037840" cy="466434"/>
          </a:xfrm>
          <a:prstGeom prst="rect">
            <a:avLst/>
          </a:prstGeom>
        </p:spPr>
        <p:txBody>
          <a:bodyPr vert="horz" lIns="93177" tIns="46589" rIns="93177" bIns="46589" rtlCol="0"/>
          <a:lstStyle>
            <a:lvl1pPr algn="r">
              <a:defRPr sz="1200"/>
            </a:lvl1pPr>
          </a:lstStyle>
          <a:p>
            <a:fld id="{71559A16-B3AD-4CE2-9A5E-FAAD3C2C27CA}" type="datetimeFigureOut">
              <a:rPr lang="en-US" smtClean="0"/>
              <a:t>8/19/2026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717550" y="1162050"/>
            <a:ext cx="5575300" cy="31369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3177" tIns="46589" rIns="93177" bIns="46589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01040" y="4473892"/>
            <a:ext cx="5608320" cy="3660458"/>
          </a:xfrm>
          <a:prstGeom prst="rect">
            <a:avLst/>
          </a:prstGeom>
        </p:spPr>
        <p:txBody>
          <a:bodyPr vert="horz" lIns="93177" tIns="46589" rIns="93177" bIns="4658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70938" y="8829967"/>
            <a:ext cx="3037840" cy="466433"/>
          </a:xfrm>
          <a:prstGeom prst="rect">
            <a:avLst/>
          </a:prstGeom>
        </p:spPr>
        <p:txBody>
          <a:bodyPr vert="horz" lIns="93177" tIns="46589" rIns="93177" bIns="46589" rtlCol="0" anchor="b"/>
          <a:lstStyle>
            <a:lvl1pPr algn="r">
              <a:defRPr sz="1200"/>
            </a:lvl1pPr>
          </a:lstStyle>
          <a:p>
            <a:fld id="{28C6438F-747C-40FA-8F40-021E653C05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690109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42E8489-359D-4C17-8528-4B3DB5E0DB6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31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3569010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3866954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538119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8869841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841700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84945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680007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5404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010712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507211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5034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010484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317878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8145046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9875062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4800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8460084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CB289B0-9BEC-4093-861C-76154CD68B5D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8/19/2026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7136E94-7335-4773-A64D-0D46B1CA62E8}" type="slidenum">
              <a:rPr kumimoji="0" lang="en-US" alt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alt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9205049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7551773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272682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29921" y="2386076"/>
            <a:ext cx="4623647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33239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 ©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2000,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Daniel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14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Lew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is. 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Rig</a:t>
            </a:r>
            <a:r>
              <a:rPr kumimoji="0" lang="en-US" sz="1400" b="0" i="0" u="none" strike="noStrike" kern="1200" cap="none" spc="-1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lang="en-US" sz="1400" b="0" i="0" u="none" strike="noStrike" kern="1200" cap="none" spc="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</a:t>
            </a:r>
            <a:r>
              <a:rPr kumimoji="0" lang="en-US" sz="1400" b="0" i="0" u="none" strike="noStrike" kern="1200" cap="none" spc="-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1400" b="0" i="0" u="none" strike="noStrike" kern="1200" cap="none" spc="-25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ese</a:t>
            </a:r>
            <a:r>
              <a:rPr kumimoji="0" lang="en-US" sz="1400" b="0" i="0" u="none" strike="noStrike" kern="1200" cap="none" spc="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</a:t>
            </a:r>
            <a:r>
              <a:rPr kumimoji="0" lang="en-US" sz="1400" b="0" i="0" u="none" strike="noStrike" kern="1200" cap="none" spc="-1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</a:t>
            </a:r>
            <a:r>
              <a: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ed.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8/19/2026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6196364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4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8/19/2026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73961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1_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8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8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1D8BD707-D9CF-40AE-B4C6-C98DA3205C09}" type="datetimeFigureOut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8/19/2026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6F15528-21DE-4FAA-801E-634DDDAF4B2B}" type="slidenum">
              <a:rPr kumimoji="0" lang="en-US" sz="18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845994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5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4400" b="0" i="0">
                <a:solidFill>
                  <a:srgbClr val="0000CC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14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pPr marL="12700">
              <a:spcBef>
                <a:spcPts val="30"/>
              </a:spcBef>
            </a:pPr>
            <a:r>
              <a:rPr lang="en-US"/>
              <a:t>C</a:t>
            </a:r>
            <a:r>
              <a:rPr lang="en-US" spc="-5"/>
              <a:t>o</a:t>
            </a:r>
            <a:r>
              <a:rPr lang="en-US" spc="-10"/>
              <a:t>p</a:t>
            </a:r>
            <a:r>
              <a:rPr lang="en-US"/>
              <a:t>y</a:t>
            </a:r>
            <a:r>
              <a:rPr lang="en-US" spc="-5"/>
              <a:t>r</a:t>
            </a:r>
            <a:r>
              <a:rPr lang="en-US"/>
              <a:t>ig</a:t>
            </a:r>
            <a:r>
              <a:rPr lang="en-US" spc="-15"/>
              <a:t>h</a:t>
            </a:r>
            <a:r>
              <a:rPr lang="en-US"/>
              <a:t>t ©</a:t>
            </a:r>
            <a:r>
              <a:rPr lang="en-US" spc="-10"/>
              <a:t> </a:t>
            </a:r>
            <a:r>
              <a:rPr lang="en-US"/>
              <a:t>2000,</a:t>
            </a:r>
            <a:r>
              <a:rPr lang="en-US" spc="-5"/>
              <a:t> </a:t>
            </a:r>
            <a:r>
              <a:rPr lang="en-US"/>
              <a:t>Daniel</a:t>
            </a:r>
            <a:r>
              <a:rPr lang="en-US" spc="-5"/>
              <a:t> </a:t>
            </a:r>
            <a:r>
              <a:rPr lang="en-US" spc="-140"/>
              <a:t>W</a:t>
            </a:r>
            <a:r>
              <a:rPr lang="en-US"/>
              <a:t>.</a:t>
            </a:r>
            <a:r>
              <a:rPr lang="en-US" spc="-10"/>
              <a:t> </a:t>
            </a:r>
            <a:r>
              <a:rPr lang="en-US" spc="-5"/>
              <a:t>Lew</a:t>
            </a:r>
            <a:r>
              <a:rPr lang="en-US"/>
              <a:t>is. </a:t>
            </a:r>
            <a:r>
              <a:rPr lang="en-US" spc="-15"/>
              <a:t> </a:t>
            </a:r>
            <a:r>
              <a:rPr lang="en-US"/>
              <a:t>All</a:t>
            </a:r>
            <a:r>
              <a:rPr lang="en-US" spc="-5"/>
              <a:t> </a:t>
            </a:r>
            <a:r>
              <a:rPr lang="en-US"/>
              <a:t>Rig</a:t>
            </a:r>
            <a:r>
              <a:rPr lang="en-US" spc="-15"/>
              <a:t>h</a:t>
            </a:r>
            <a:r>
              <a:rPr lang="en-US" spc="5"/>
              <a:t>t</a:t>
            </a:r>
            <a:r>
              <a:rPr lang="en-US"/>
              <a:t>s</a:t>
            </a:r>
            <a:r>
              <a:rPr lang="en-US" spc="-5"/>
              <a:t> </a:t>
            </a:r>
            <a:r>
              <a:rPr lang="en-US" spc="-25"/>
              <a:t>R</a:t>
            </a:r>
            <a:r>
              <a:rPr lang="en-US"/>
              <a:t>ese</a:t>
            </a:r>
            <a:r>
              <a:rPr lang="en-US" spc="10"/>
              <a:t>r</a:t>
            </a:r>
            <a:r>
              <a:rPr lang="en-US" spc="-10"/>
              <a:t>v</a:t>
            </a:r>
            <a:r>
              <a:rPr lang="en-US"/>
              <a:t>ed.</a:t>
            </a:r>
            <a:endParaRPr lang="en-US" dirty="0"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8/19/2026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69291228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2440867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822073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8089174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6D5B4C3-9B00-474A-97E8-C13B4A35C4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391831"/>
            <a:ext cx="9144000" cy="1655762"/>
          </a:xfrm>
        </p:spPr>
        <p:txBody>
          <a:bodyPr/>
          <a:lstStyle>
            <a:lvl1pPr marL="0" indent="0" algn="l">
              <a:buNone/>
              <a:defRPr sz="2400" b="1" i="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2D22AE50-6F90-E24E-B822-6568D311B3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24000" y="2032145"/>
            <a:ext cx="9144000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85B2EB50-2D06-0F47-91A8-A0077BC58DD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23443529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BAA9E0-FD26-B94E-9B92-E4BB7FDAC5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AD2F48-A24B-4049-960D-8B798AEFA8B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36516" y="2449386"/>
            <a:ext cx="10417284" cy="3805364"/>
          </a:xfrm>
        </p:spPr>
        <p:txBody>
          <a:bodyPr/>
          <a:lstStyle>
            <a:lvl1pPr>
              <a:buClr>
                <a:srgbClr val="B30738"/>
              </a:buClr>
              <a:defRPr b="0" i="0">
                <a:latin typeface="Arial Narrow" panose="020B0604020202020204" pitchFamily="34" charset="0"/>
                <a:cs typeface="Arial Narrow" panose="020B0604020202020204" pitchFamily="34" charset="0"/>
              </a:defRPr>
            </a:lvl1pPr>
            <a:lvl2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2pPr>
            <a:lvl3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3pPr>
            <a:lvl4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4pPr>
            <a:lvl5pPr>
              <a:buClr>
                <a:srgbClr val="B30738"/>
              </a:buClr>
              <a:defRPr b="0" i="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cs typeface="Arial Narrow" panose="020B0604020202020204" pitchFamily="34" charset="0"/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804C7CA-926E-AD42-9C16-D63E0CBCB0B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54750"/>
            <a:ext cx="3873500" cy="4000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1983905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B455421C-28F7-134B-8F0E-FE7D28044B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207617" y="1170297"/>
            <a:ext cx="2316923" cy="215804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74035" y="1170297"/>
            <a:ext cx="10379765" cy="4683851"/>
          </a:xfrm>
        </p:spPr>
        <p:txBody>
          <a:bodyPr>
            <a:normAutofit/>
          </a:bodyPr>
          <a:lstStyle>
            <a:lvl1pPr>
              <a:defRPr sz="6000" b="0" i="0">
                <a:solidFill>
                  <a:schemeClr val="tx1">
                    <a:lumMod val="50000"/>
                    <a:lumOff val="50000"/>
                  </a:schemeClr>
                </a:solidFill>
                <a:latin typeface="Garamond" panose="02020404030301010803" pitchFamily="18" charset="0"/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43C62840-6E05-504B-B2F6-709D240E6923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2791932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F10691-0E51-0642-89F8-2E84D8B866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D74316-63BB-3446-BDDD-074CD2479E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677103"/>
            <a:ext cx="10515600" cy="141254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67D355E-B4A2-6F4F-B305-737A32A3ACE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1430452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112F8-AE85-BC4D-8ACE-BD36C70435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0E9A7C-E733-9C48-89C3-E864661018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36516" y="2438399"/>
            <a:ext cx="5083284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0853515-618E-BC46-A98D-B716B4327E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2438399"/>
            <a:ext cx="5181600" cy="382905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BF872C4E-C1EA-6E4F-ACE3-4DD19FF177F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84893464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42EAC0-550E-1740-BE53-8E9F0A34C05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0" y="882869"/>
            <a:ext cx="10419967" cy="807819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A6707B4-CFB5-CF4A-9970-F7B61DECC9F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5421" y="1839309"/>
            <a:ext cx="5062154" cy="66576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4EA7258-4408-8940-BE1F-BB96B827782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35421" y="2653695"/>
            <a:ext cx="5062154" cy="36074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51E6BE5-8409-9441-A406-BB5D9E6F941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839309"/>
            <a:ext cx="5183188" cy="665766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E3EBE53-5EFB-6744-957B-B93F2D10CC5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653695"/>
            <a:ext cx="5183188" cy="3607405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30A5D7E1-E327-DF48-B848-9BDF99F875D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9776303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3651EA50-74CA-AA48-8D7F-2B85A97EE66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53311392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46758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6AC4C19D-273F-DD4F-AB1E-92F31DD503B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5330566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2731D7-31B8-F741-9BC2-7ACCA951A5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5973418"/>
            <a:ext cx="6524734" cy="575100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2">
            <a:extLst>
              <a:ext uri="{FF2B5EF4-FFF2-40B4-BE49-F238E27FC236}">
                <a16:creationId xmlns:a16="http://schemas.microsoft.com/office/drawing/2014/main" id="{5F1C41BA-7C2D-F548-A588-7F002DC2319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486788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DA9A9976-053D-644A-ACDD-10A8928C184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172200"/>
            <a:ext cx="3873500" cy="482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27211387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9C3A92E6-32C2-FB44-B5B2-762BF26633E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936516" y="956441"/>
            <a:ext cx="10417284" cy="534275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E849984-83FA-4B45-A602-6A412FE0CCE4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99200"/>
            <a:ext cx="3873500" cy="3556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4965870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3C6088-92BE-7449-8B28-318FAB3F25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987425"/>
            <a:ext cx="4138612" cy="142995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0A42DAB-D135-604C-8CA5-59E8EBB192A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52673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DFE57F-E4E9-7543-83FD-1DD747CAD0B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571750"/>
            <a:ext cx="4138612" cy="3829050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2E940D73-0AAB-1944-9712-6637A75B1A9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324600"/>
            <a:ext cx="3873500" cy="33020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92541373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342C89-5587-0348-8D17-7C08B2EAD6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5421" y="956440"/>
            <a:ext cx="4011228" cy="1166649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521D3EC-E376-5D4E-835F-620AC359D3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62167" y="956441"/>
            <a:ext cx="6172200" cy="532370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3B5B150-6498-3B43-813F-7D37535FB17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935420" y="2291254"/>
            <a:ext cx="4011229" cy="3988896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3">
            <a:extLst>
              <a:ext uri="{FF2B5EF4-FFF2-40B4-BE49-F238E27FC236}">
                <a16:creationId xmlns:a16="http://schemas.microsoft.com/office/drawing/2014/main" id="{131420AC-1CC6-B24D-864B-D3A8C0514E9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50150" y="6280150"/>
            <a:ext cx="3873500" cy="374650"/>
          </a:xfrm>
        </p:spPr>
        <p:txBody>
          <a:bodyPr anchor="b">
            <a:normAutofit/>
          </a:bodyPr>
          <a:lstStyle>
            <a:lvl1pPr marL="0" indent="0" algn="r">
              <a:buNone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  <a:lvl2pPr marL="457200" indent="0">
              <a:buNone/>
              <a:defRPr/>
            </a:lvl2pPr>
            <a:lvl3pPr marL="914400" indent="0">
              <a:buNone/>
              <a:defRPr/>
            </a:lvl3pPr>
            <a:lvl4pPr marL="1371600" indent="0">
              <a:buNone/>
              <a:defRPr/>
            </a:lvl4pPr>
            <a:lvl5pPr marL="1828800" indent="0">
              <a:buNone/>
              <a:defRPr/>
            </a:lvl5pPr>
          </a:lstStyle>
          <a:p>
            <a:pPr lvl="0"/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School or Department, Arial 14 pt.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9694305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133039537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70756872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26579946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87F930-5302-8041-8D70-01651E15774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44217" y="1351721"/>
            <a:ext cx="10555357" cy="2317267"/>
          </a:xfrm>
          <a:prstGeom prst="rect">
            <a:avLst/>
          </a:prstGeom>
        </p:spPr>
        <p:txBody>
          <a:bodyPr anchor="b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F2F13BE-DC53-5D42-92BC-B1405D01D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4217" y="4228203"/>
            <a:ext cx="10555357" cy="1377467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4379555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5707BF-1F09-3444-AFBA-78A9352F15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38948"/>
            <a:ext cx="10515600" cy="2464696"/>
          </a:xfrm>
          <a:prstGeom prst="rect">
            <a:avLst/>
          </a:prstGeom>
        </p:spPr>
        <p:txBody>
          <a:bodyPr anchor="ctr">
            <a:normAutofit/>
          </a:bodyPr>
          <a:lstStyle>
            <a:lvl1pPr algn="ctr"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989712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6.xml"/><Relationship Id="rId2" Type="http://schemas.openxmlformats.org/officeDocument/2006/relationships/slideLayout" Target="../slideLayouts/slideLayout25.xml"/><Relationship Id="rId1" Type="http://schemas.openxmlformats.org/officeDocument/2006/relationships/slideLayout" Target="../slideLayouts/slideLayout24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4.xml"/><Relationship Id="rId13" Type="http://schemas.openxmlformats.org/officeDocument/2006/relationships/slideLayout" Target="../slideLayouts/slideLayout39.xml"/><Relationship Id="rId18" Type="http://schemas.openxmlformats.org/officeDocument/2006/relationships/theme" Target="../theme/theme3.xml"/><Relationship Id="rId3" Type="http://schemas.openxmlformats.org/officeDocument/2006/relationships/slideLayout" Target="../slideLayouts/slideLayout29.xml"/><Relationship Id="rId7" Type="http://schemas.openxmlformats.org/officeDocument/2006/relationships/slideLayout" Target="../slideLayouts/slideLayout33.xml"/><Relationship Id="rId12" Type="http://schemas.openxmlformats.org/officeDocument/2006/relationships/slideLayout" Target="../slideLayouts/slideLayout38.xml"/><Relationship Id="rId17" Type="http://schemas.openxmlformats.org/officeDocument/2006/relationships/slideLayout" Target="../slideLayouts/slideLayout43.xml"/><Relationship Id="rId2" Type="http://schemas.openxmlformats.org/officeDocument/2006/relationships/slideLayout" Target="../slideLayouts/slideLayout28.xml"/><Relationship Id="rId16" Type="http://schemas.openxmlformats.org/officeDocument/2006/relationships/slideLayout" Target="../slideLayouts/slideLayout42.xml"/><Relationship Id="rId20" Type="http://schemas.openxmlformats.org/officeDocument/2006/relationships/image" Target="../media/image2.png"/><Relationship Id="rId1" Type="http://schemas.openxmlformats.org/officeDocument/2006/relationships/slideLayout" Target="../slideLayouts/slideLayout27.xml"/><Relationship Id="rId6" Type="http://schemas.openxmlformats.org/officeDocument/2006/relationships/slideLayout" Target="../slideLayouts/slideLayout32.xml"/><Relationship Id="rId11" Type="http://schemas.openxmlformats.org/officeDocument/2006/relationships/slideLayout" Target="../slideLayouts/slideLayout37.xml"/><Relationship Id="rId5" Type="http://schemas.openxmlformats.org/officeDocument/2006/relationships/slideLayout" Target="../slideLayouts/slideLayout31.xml"/><Relationship Id="rId15" Type="http://schemas.openxmlformats.org/officeDocument/2006/relationships/slideLayout" Target="../slideLayouts/slideLayout41.xml"/><Relationship Id="rId10" Type="http://schemas.openxmlformats.org/officeDocument/2006/relationships/slideLayout" Target="../slideLayouts/slideLayout36.xml"/><Relationship Id="rId19" Type="http://schemas.openxmlformats.org/officeDocument/2006/relationships/image" Target="../media/image1.png"/><Relationship Id="rId4" Type="http://schemas.openxmlformats.org/officeDocument/2006/relationships/slideLayout" Target="../slideLayouts/slideLayout30.xml"/><Relationship Id="rId9" Type="http://schemas.openxmlformats.org/officeDocument/2006/relationships/slideLayout" Target="../slideLayouts/slideLayout35.xml"/><Relationship Id="rId14" Type="http://schemas.openxmlformats.org/officeDocument/2006/relationships/slideLayout" Target="../slideLayouts/slideLayout4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25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992432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82" r:id="rId13"/>
    <p:sldLayoutId id="2147483683" r:id="rId14"/>
    <p:sldLayoutId id="2147483685" r:id="rId15"/>
    <p:sldLayoutId id="2147483686" r:id="rId16"/>
    <p:sldLayoutId id="2147483705" r:id="rId17"/>
    <p:sldLayoutId id="2147483711" r:id="rId18"/>
    <p:sldLayoutId id="2147483712" r:id="rId19"/>
    <p:sldLayoutId id="2147483713" r:id="rId20"/>
    <p:sldLayoutId id="2147483714" r:id="rId21"/>
    <p:sldLayoutId id="2147483715" r:id="rId22"/>
    <p:sldLayoutId id="2147483716" r:id="rId2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rgbClr val="B3073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5EF7EA9-7F89-AB44-B414-A35A39B886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1820015"/>
            <a:ext cx="10515600" cy="6427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FD578A8-B26A-4945-96B6-DF5E5BC7DE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2697162"/>
            <a:ext cx="10515600" cy="32464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 err="1"/>
              <a:t>Secod</a:t>
            </a:r>
            <a:r>
              <a:rPr lang="en-US" dirty="0"/>
              <a:t>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694CFB0A-34C6-5D42-83C5-6E58C3499080}"/>
              </a:ext>
            </a:extLst>
          </p:cNvPr>
          <p:cNvCxnSpPr>
            <a:cxnSpLocks/>
          </p:cNvCxnSpPr>
          <p:nvPr/>
        </p:nvCxnSpPr>
        <p:spPr>
          <a:xfrm>
            <a:off x="956394" y="730089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9306B758-975E-984A-8DF2-F551E50A3FBA}"/>
              </a:ext>
            </a:extLst>
          </p:cNvPr>
          <p:cNvCxnSpPr>
            <a:cxnSpLocks/>
          </p:cNvCxnSpPr>
          <p:nvPr/>
        </p:nvCxnSpPr>
        <p:spPr>
          <a:xfrm>
            <a:off x="956394" y="388502"/>
            <a:ext cx="11255484" cy="0"/>
          </a:xfrm>
          <a:prstGeom prst="line">
            <a:avLst/>
          </a:prstGeom>
          <a:ln w="190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15">
            <a:extLst>
              <a:ext uri="{FF2B5EF4-FFF2-40B4-BE49-F238E27FC236}">
                <a16:creationId xmlns:a16="http://schemas.microsoft.com/office/drawing/2014/main" id="{4BCBDF38-9EC5-8347-AE99-4FA5381A78A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50924" y="472981"/>
            <a:ext cx="3880944" cy="172629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A5D1952-D4DE-0B48-9AEC-F81A6CB6ED0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2474" y="157274"/>
            <a:ext cx="804042" cy="8040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62673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1" i="0" kern="1200">
          <a:solidFill>
            <a:schemeClr val="bg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2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bg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8F58DCC4-D98B-2742-9141-E813C534FE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36516" y="1170297"/>
            <a:ext cx="10417284" cy="114415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521E8D8-70CD-BF4D-805E-3BA2B3E8489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36516" y="2449386"/>
            <a:ext cx="10417284" cy="3835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50FD0265-AE87-AC4A-BBB3-EF8B93299236}"/>
              </a:ext>
            </a:extLst>
          </p:cNvPr>
          <p:cNvCxnSpPr>
            <a:cxnSpLocks/>
          </p:cNvCxnSpPr>
          <p:nvPr/>
        </p:nvCxnSpPr>
        <p:spPr>
          <a:xfrm>
            <a:off x="936516" y="730089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2" name="Picture 11">
            <a:extLst>
              <a:ext uri="{FF2B5EF4-FFF2-40B4-BE49-F238E27FC236}">
                <a16:creationId xmlns:a16="http://schemas.microsoft.com/office/drawing/2014/main" id="{1606507F-9FCF-7C40-9CCC-8081F5D27FC8}"/>
              </a:ext>
            </a:extLst>
      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8050924" y="471954"/>
            <a:ext cx="3880944" cy="160105"/>
          </a:xfrm>
          <a:prstGeom prst="rect">
            <a:avLst/>
          </a:prstGeom>
        </p:spPr>
      </p:pic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A215C687-9087-C947-AB5A-223EF7DA7E9A}"/>
              </a:ext>
            </a:extLst>
          </p:cNvPr>
          <p:cNvCxnSpPr>
            <a:cxnSpLocks/>
          </p:cNvCxnSpPr>
          <p:nvPr/>
        </p:nvCxnSpPr>
        <p:spPr>
          <a:xfrm>
            <a:off x="936516" y="388502"/>
            <a:ext cx="11255484" cy="0"/>
          </a:xfrm>
          <a:prstGeom prst="line">
            <a:avLst/>
          </a:prstGeom>
          <a:ln w="19050"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9" name="Picture 28">
            <a:extLst>
              <a:ext uri="{FF2B5EF4-FFF2-40B4-BE49-F238E27FC236}">
                <a16:creationId xmlns:a16="http://schemas.microsoft.com/office/drawing/2014/main" id="{3AF69D0A-C2A3-A54B-87B3-155829A53D57}"/>
              </a:ext>
            </a:extLst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32474" y="160495"/>
            <a:ext cx="804042" cy="804042"/>
          </a:xfrm>
          <a:prstGeom prst="rect">
            <a:avLst/>
          </a:prstGeom>
        </p:spPr>
      </p:pic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72A6E712-938E-934E-86D2-CF80E3166B5B}"/>
              </a:ext>
            </a:extLst>
          </p:cNvPr>
          <p:cNvCxnSpPr>
            <a:cxnSpLocks/>
          </p:cNvCxnSpPr>
          <p:nvPr/>
        </p:nvCxnSpPr>
        <p:spPr>
          <a:xfrm>
            <a:off x="936516" y="6652668"/>
            <a:ext cx="10417284" cy="0"/>
          </a:xfrm>
          <a:prstGeom prst="line">
            <a:avLst/>
          </a:prstGeom>
          <a:ln w="19050"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6020796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8" r:id="rId1"/>
    <p:sldLayoutId id="2147483689" r:id="rId2"/>
    <p:sldLayoutId id="2147483690" r:id="rId3"/>
    <p:sldLayoutId id="2147483691" r:id="rId4"/>
    <p:sldLayoutId id="2147483692" r:id="rId5"/>
    <p:sldLayoutId id="2147483693" r:id="rId6"/>
    <p:sldLayoutId id="2147483694" r:id="rId7"/>
    <p:sldLayoutId id="2147483695" r:id="rId8"/>
    <p:sldLayoutId id="2147483696" r:id="rId9"/>
    <p:sldLayoutId id="2147483697" r:id="rId10"/>
    <p:sldLayoutId id="2147483698" r:id="rId11"/>
    <p:sldLayoutId id="2147483699" r:id="rId12"/>
    <p:sldLayoutId id="2147483700" r:id="rId13"/>
    <p:sldLayoutId id="2147483701" r:id="rId14"/>
    <p:sldLayoutId id="2147483702" r:id="rId15"/>
    <p:sldLayoutId id="2147483703" r:id="rId16"/>
    <p:sldLayoutId id="2147483704" r:id="rId17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b="1" i="0" kern="1200" baseline="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Clr>
          <a:srgbClr val="B30738"/>
        </a:buClr>
        <a:buFont typeface="Arial" panose="020B0604020202020204" pitchFamily="34" charset="0"/>
        <a:buChar char="•"/>
        <a:defRPr sz="2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20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8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6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Clr>
          <a:srgbClr val="B30738"/>
        </a:buClr>
        <a:buFont typeface="Arial" panose="020B0604020202020204" pitchFamily="34" charset="0"/>
        <a:buChar char="•"/>
        <a:defRPr sz="1400" b="0" i="0" kern="1200">
          <a:solidFill>
            <a:schemeClr val="tx1">
              <a:lumMod val="65000"/>
              <a:lumOff val="35000"/>
            </a:schemeClr>
          </a:solidFill>
          <a:latin typeface="Arial Narrow" panose="020B0604020202020204" pitchFamily="34" charset="0"/>
          <a:ea typeface="+mn-ea"/>
          <a:cs typeface="Arial Narrow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NULL"/><Relationship Id="rId1" Type="http://schemas.openxmlformats.org/officeDocument/2006/relationships/slideLayout" Target="../slideLayouts/slideLayout1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7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7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7.xml"/><Relationship Id="rId5" Type="http://schemas.openxmlformats.org/officeDocument/2006/relationships/image" Target="../media/image13.png"/><Relationship Id="rId4" Type="http://schemas.openxmlformats.org/officeDocument/2006/relationships/image" Target="../media/image12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7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1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2.xml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2.xml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3.xml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3.xml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7.xml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DAF3DE3F-7502-904F-9BAB-B1F5DEA23B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42473" y="3074999"/>
            <a:ext cx="10371222" cy="3558411"/>
          </a:xfrm>
        </p:spPr>
        <p:txBody>
          <a:bodyPr>
            <a:normAutofit lnSpcReduction="10000"/>
          </a:bodyPr>
          <a:lstStyle/>
          <a:p>
            <a:r>
              <a:rPr lang="en-US" dirty="0">
                <a:solidFill>
                  <a:schemeClr val="tx1"/>
                </a:solidFill>
              </a:rPr>
              <a:t>Fall 2026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r>
              <a:rPr lang="en-US" sz="3200" dirty="0">
                <a:solidFill>
                  <a:schemeClr val="tx1"/>
                </a:solidFill>
              </a:rPr>
              <a:t>	Introduction to Embedded Systems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sz="2200" dirty="0">
                <a:solidFill>
                  <a:schemeClr val="tx1"/>
                </a:solidFill>
              </a:rPr>
              <a:t>Michael Schimpf, PhD, mschimpf@scu.edu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A818BAB-0338-734A-B1E8-2463F3B297A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42473" y="1787503"/>
            <a:ext cx="9144000" cy="1144151"/>
          </a:xfrm>
        </p:spPr>
        <p:txBody>
          <a:bodyPr/>
          <a:lstStyle/>
          <a:p>
            <a:r>
              <a:rPr lang="en-US" dirty="0"/>
              <a:t>CSEN20</a:t>
            </a:r>
          </a:p>
        </p:txBody>
      </p:sp>
    </p:spTree>
    <p:extLst>
      <p:ext uri="{BB962C8B-B14F-4D97-AF65-F5344CB8AC3E}">
        <p14:creationId xmlns:p14="http://schemas.microsoft.com/office/powerpoint/2010/main" val="405208017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</p:spTree>
    <p:extLst>
      <p:ext uri="{BB962C8B-B14F-4D97-AF65-F5344CB8AC3E}">
        <p14:creationId xmlns:p14="http://schemas.microsoft.com/office/powerpoint/2010/main" val="200593332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0035" y="742267"/>
            <a:ext cx="31127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Kinds</a:t>
            </a:r>
            <a:r>
              <a:rPr spc="-35" dirty="0"/>
              <a:t> </a:t>
            </a:r>
            <a:r>
              <a:rPr spc="-5" dirty="0"/>
              <a:t>Of</a:t>
            </a:r>
            <a:r>
              <a:rPr spc="-40" dirty="0"/>
              <a:t> </a:t>
            </a:r>
            <a:r>
              <a:rPr spc="-5" dirty="0"/>
              <a:t>Data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0035" y="1892978"/>
            <a:ext cx="2617470" cy="3352840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 typeface="Calibri"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 typeface="Calibri"/>
              <a:buChar char="•"/>
              <a:tabLst>
                <a:tab pos="1155700" algn="l"/>
              </a:tabLst>
              <a:defRPr/>
            </a:pP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0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Reals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Fixed-Point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2" indent="-229235" algn="l" defTabSz="914400" rtl="0" eaLnBrk="1" fontAlgn="auto" latinLnBrk="0" hangingPunct="1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Floating-Point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054424" y="1892978"/>
            <a:ext cx="2796540" cy="4219744"/>
          </a:xfrm>
          <a:prstGeom prst="rect">
            <a:avLst/>
          </a:prstGeom>
        </p:spPr>
        <p:txBody>
          <a:bodyPr vert="horz" wrap="square" lIns="0" tIns="107314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44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Text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ASCII</a:t>
            </a:r>
            <a:r>
              <a:rPr kumimoji="0" sz="24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Characters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Strings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Graphics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Images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Video</a:t>
            </a: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015" algn="l"/>
                <a:tab pos="75565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Audio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896586" y="847424"/>
            <a:ext cx="440377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92D050"/>
                </a:solidFill>
              </a:rPr>
              <a:t>Depending on interpretation!</a:t>
            </a:r>
          </a:p>
        </p:txBody>
      </p:sp>
    </p:spTree>
    <p:extLst>
      <p:ext uri="{BB962C8B-B14F-4D97-AF65-F5344CB8AC3E}">
        <p14:creationId xmlns:p14="http://schemas.microsoft.com/office/powerpoint/2010/main" val="25034276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730234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409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526415" algn="l"/>
                <a:tab pos="5270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(0's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and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1's).</a:t>
            </a: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55700" marR="0" lvl="1" indent="-228600" algn="l" defTabSz="914400" rtl="0" eaLnBrk="1" fontAlgn="auto" latinLnBrk="0" hangingPunct="1">
              <a:lnSpc>
                <a:spcPct val="100000"/>
              </a:lnSpc>
              <a:spcBef>
                <a:spcPts val="22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How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many digits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(bits)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need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to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represent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0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in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bin?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 + 2</a:t>
            </a:r>
            <a:r>
              <a:rPr kumimoji="0" lang="en-US" sz="2000" b="0" i="0" u="none" strike="noStrike" kern="1200" cap="none" spc="-5" normalizeH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+ 4 = 7 -&gt; 3 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3964238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4028025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412115" lvl="0" algn="l" defTabSz="914400" rtl="0" eaLnBrk="1" fontAlgn="auto" latinLnBrk="0" hangingPunct="1">
              <a:lnSpc>
                <a:spcPts val="3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526415" algn="l"/>
                <a:tab pos="527050" algn="l"/>
              </a:tabLst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2.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with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(“fixed-precision”).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Tx/>
              <a:buNone/>
              <a:tabLst>
                <a:tab pos="755015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Byte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alf-word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ord</a:t>
            </a: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ouble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-word</a:t>
            </a:r>
            <a:endParaRPr lang="en-US" sz="2400" noProof="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8128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1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01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Why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000" dirty="0">
                <a:solidFill>
                  <a:srgbClr val="000000"/>
                </a:solidFill>
                <a:latin typeface="Calibri"/>
                <a:cs typeface="Calibri"/>
              </a:rPr>
              <a:t>we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need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all these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data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types?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92228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70715" y="746919"/>
            <a:ext cx="552069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Number</a:t>
            </a:r>
            <a:r>
              <a:rPr spc="-70" dirty="0"/>
              <a:t> </a:t>
            </a:r>
            <a:r>
              <a:rPr dirty="0"/>
              <a:t>Representation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0715" y="1835200"/>
            <a:ext cx="10371053" cy="2925480"/>
          </a:xfrm>
          <a:prstGeom prst="rect">
            <a:avLst/>
          </a:prstGeom>
        </p:spPr>
        <p:txBody>
          <a:bodyPr vert="horz" wrap="square" lIns="0" tIns="52069" rIns="0" bIns="0" rtlCol="0">
            <a:spAutoFit/>
          </a:bodyPr>
          <a:lstStyle/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represent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27050" marR="309245" lvl="0" indent="-514350" algn="l" defTabSz="914400" rtl="0" eaLnBrk="1" fontAlgn="auto" latinLnBrk="0" hangingPunct="1">
              <a:lnSpc>
                <a:spcPct val="907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signed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numbers using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2's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"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instead of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“sign-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-magnitude”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representation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br>
              <a:rPr kumimoji="0" lang="en-US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Why?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581870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141" y="765830"/>
            <a:ext cx="8561786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575945" marR="5080" indent="-563880">
              <a:lnSpc>
                <a:spcPct val="100499"/>
              </a:lnSpc>
              <a:spcBef>
                <a:spcPts val="70"/>
              </a:spcBef>
            </a:pPr>
            <a:r>
              <a:rPr dirty="0"/>
              <a:t>Si</a:t>
            </a:r>
            <a:r>
              <a:rPr spc="-5" dirty="0"/>
              <a:t>g</a:t>
            </a:r>
            <a:r>
              <a:rPr spc="5" dirty="0"/>
              <a:t>n</a:t>
            </a:r>
            <a:r>
              <a:rPr dirty="0"/>
              <a:t>-and-Ma</a:t>
            </a:r>
            <a:r>
              <a:rPr spc="5" dirty="0"/>
              <a:t>g</a:t>
            </a:r>
            <a:r>
              <a:rPr dirty="0"/>
              <a:t>nit</a:t>
            </a:r>
            <a:r>
              <a:rPr spc="5" dirty="0"/>
              <a:t>u</a:t>
            </a:r>
            <a:r>
              <a:rPr dirty="0"/>
              <a:t>de  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914777" y="195890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+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5572377" y="1943665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-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2153651" y="2514600"/>
            <a:ext cx="4307306" cy="38501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TextBox 5"/>
          <p:cNvSpPr txBox="1"/>
          <p:nvPr/>
        </p:nvSpPr>
        <p:spPr>
          <a:xfrm>
            <a:off x="3646690" y="1367704"/>
            <a:ext cx="327096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Two 0 representations?!?!?!</a:t>
            </a:r>
          </a:p>
        </p:txBody>
      </p:sp>
      <p:cxnSp>
        <p:nvCxnSpPr>
          <p:cNvPr id="8" name="Straight Arrow Connector 7"/>
          <p:cNvCxnSpPr>
            <a:stCxn id="6" idx="2"/>
          </p:cNvCxnSpPr>
          <p:nvPr/>
        </p:nvCxnSpPr>
        <p:spPr>
          <a:xfrm flipH="1">
            <a:off x="2590264" y="1737036"/>
            <a:ext cx="2691906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>
            <a:stCxn id="6" idx="2"/>
          </p:cNvCxnSpPr>
          <p:nvPr/>
        </p:nvCxnSpPr>
        <p:spPr>
          <a:xfrm>
            <a:off x="5282170" y="1737036"/>
            <a:ext cx="781868" cy="777564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8926628" y="2374471"/>
            <a:ext cx="2525050" cy="92333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if (x == </a:t>
            </a: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0 &amp;&amp; x ==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/>
              <a:t>0){</a:t>
            </a:r>
          </a:p>
          <a:p>
            <a:r>
              <a:rPr lang="en-US" dirty="0"/>
              <a:t>   …</a:t>
            </a:r>
          </a:p>
          <a:p>
            <a:r>
              <a:rPr lang="en-US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1783790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5940" y="734246"/>
            <a:ext cx="736473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2’s</a:t>
            </a:r>
            <a:r>
              <a:rPr spc="5" dirty="0"/>
              <a:t> </a:t>
            </a:r>
            <a:r>
              <a:rPr spc="-5" dirty="0"/>
              <a:t>Complement</a:t>
            </a:r>
            <a:r>
              <a:rPr dirty="0"/>
              <a:t> </a:t>
            </a:r>
            <a:r>
              <a:rPr spc="-5" dirty="0"/>
              <a:t>Representation</a:t>
            </a: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2446172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0011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0101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0110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7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0111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6414978" y="1588462"/>
          <a:ext cx="2667000" cy="46634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90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76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Dec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Binary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3810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-1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-2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-3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-4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1100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-5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-6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1010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-7</a:t>
                      </a: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1001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-</a:t>
                      </a:r>
                      <a:r>
                        <a:rPr lang="en-US" sz="2800" dirty="0">
                          <a:latin typeface="Calibri"/>
                          <a:cs typeface="Calibri"/>
                        </a:rPr>
                        <a:t>8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3810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150"/>
                        </a:spcBef>
                      </a:pPr>
                      <a:r>
                        <a:rPr sz="2800" spc="5" dirty="0">
                          <a:latin typeface="Calibri"/>
                          <a:cs typeface="Calibri"/>
                        </a:rPr>
                        <a:t>100</a:t>
                      </a:r>
                      <a:r>
                        <a:rPr lang="en-US" sz="2800" spc="5" dirty="0">
                          <a:latin typeface="Calibri"/>
                          <a:cs typeface="Calibri"/>
                        </a:rPr>
                        <a:t>0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38100">
                      <a:solidFill>
                        <a:srgbClr val="000000"/>
                      </a:solidFill>
                      <a:prstDash val="soli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6686796" y="5811253"/>
            <a:ext cx="2048130" cy="328863"/>
          </a:xfrm>
          <a:prstGeom prst="rect">
            <a:avLst/>
          </a:prstGeom>
          <a:noFill/>
          <a:ln w="190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TextBox 6"/>
          <p:cNvSpPr txBox="1"/>
          <p:nvPr/>
        </p:nvSpPr>
        <p:spPr>
          <a:xfrm>
            <a:off x="9307534" y="5770784"/>
            <a:ext cx="17427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One “–” more </a:t>
            </a:r>
          </a:p>
        </p:txBody>
      </p:sp>
      <p:cxnSp>
        <p:nvCxnSpPr>
          <p:cNvPr id="8" name="Straight Arrow Connector 7"/>
          <p:cNvCxnSpPr>
            <a:stCxn id="7" idx="1"/>
          </p:cNvCxnSpPr>
          <p:nvPr/>
        </p:nvCxnSpPr>
        <p:spPr>
          <a:xfrm flipH="1">
            <a:off x="8763000" y="5955450"/>
            <a:ext cx="544534" cy="8203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69692972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</a:t>
            </a:r>
            <a:r>
              <a:rPr lang="en-US" spc="-5" dirty="0"/>
              <a:t> </a:t>
            </a:r>
            <a:r>
              <a:rPr spc="-5" dirty="0"/>
              <a:t>+</a:t>
            </a:r>
            <a:r>
              <a:rPr lang="en-US" spc="-5" dirty="0"/>
              <a:t> </a:t>
            </a:r>
            <a:r>
              <a:rPr spc="-5" dirty="0"/>
              <a:t>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345873" y="1645422"/>
            <a:ext cx="6088138" cy="3776034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Complicates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addition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128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755650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irst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check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signs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88900" lvl="2" indent="-228600" algn="l" defTabSz="914400" rtl="0" eaLnBrk="1" fontAlgn="auto" latinLnBrk="0" hangingPunct="1">
              <a:lnSpc>
                <a:spcPct val="100000"/>
              </a:lnSpc>
              <a:spcBef>
                <a:spcPts val="5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(same)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add 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both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same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sign;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r>
              <a:rPr kumimoji="0" lang="en-US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lse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lang="en-US" sz="2000" spc="-5" dirty="0">
                <a:solidFill>
                  <a:srgbClr val="0033CC"/>
                </a:solidFill>
                <a:latin typeface="Tahoma"/>
                <a:cs typeface="Tahoma"/>
              </a:rPr>
              <a:t>!same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0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u="sng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subtract</a:t>
            </a:r>
            <a:r>
              <a:rPr kumimoji="0" sz="2000" b="0" u="sng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</a:t>
            </a:r>
            <a:r>
              <a:rPr kumimoji="0" sz="2100" b="0" u="sng" strike="noStrike" kern="1200" cap="none" spc="-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u="sng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 the </a:t>
            </a:r>
            <a:r>
              <a:rPr kumimoji="0" sz="2100" b="0" u="sng" strike="noStrike" kern="1200" cap="none" spc="-4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;</a:t>
            </a:r>
            <a:br>
              <a:rPr kumimoji="0" lang="en-US" sz="2100" b="0" i="0" u="none" strike="noStrike" kern="1200" cap="none" spc="-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6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larger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lang="en-US" sz="20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1155700" marR="5080" lvl="2" indent="-228600" algn="l" defTabSz="914400" rtl="0" eaLnBrk="1" fontAlgn="auto" latinLnBrk="0" hangingPunct="1">
              <a:lnSpc>
                <a:spcPts val="2400"/>
              </a:lnSpc>
              <a:spcBef>
                <a:spcPts val="58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1155700" algn="l"/>
              </a:tabLst>
              <a:defRPr/>
            </a:pPr>
            <a:endParaRPr kumimoji="0" lang="en-US" sz="20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5080" lvl="1" indent="-228600">
              <a:lnSpc>
                <a:spcPts val="2400"/>
              </a:lnSpc>
              <a:spcBef>
                <a:spcPts val="585"/>
              </a:spcBef>
              <a:buFontTx/>
              <a:buChar char="•"/>
              <a:tabLst>
                <a:tab pos="1155700" algn="l"/>
              </a:tabLst>
            </a:pP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How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do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which</a:t>
            </a:r>
            <a:r>
              <a:rPr kumimoji="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b="0" i="0" u="none" strike="noStrike" kern="1200" cap="none" spc="-5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smaller/larger?</a:t>
            </a:r>
            <a:endParaRPr kumimoji="0" lang="en-US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1070058" y="1747840"/>
            <a:ext cx="2676525" cy="4164965"/>
            <a:chOff x="300037" y="1138237"/>
            <a:chExt cx="2676525" cy="4164965"/>
          </a:xfrm>
        </p:grpSpPr>
        <p:sp>
          <p:nvSpPr>
            <p:cNvPr id="6" name="object 6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2667000" y="0"/>
                  </a:moveTo>
                  <a:lnTo>
                    <a:pt x="0" y="0"/>
                  </a:lnTo>
                  <a:lnTo>
                    <a:pt x="0" y="4154984"/>
                  </a:lnTo>
                  <a:lnTo>
                    <a:pt x="2667000" y="4154984"/>
                  </a:lnTo>
                  <a:lnTo>
                    <a:pt x="26670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304800" y="1143000"/>
              <a:ext cx="2667000" cy="4155440"/>
            </a:xfrm>
            <a:custGeom>
              <a:avLst/>
              <a:gdLst/>
              <a:ahLst/>
              <a:cxnLst/>
              <a:rect l="l" t="t" r="r" b="b"/>
              <a:pathLst>
                <a:path w="2667000" h="4155440">
                  <a:moveTo>
                    <a:pt x="0" y="0"/>
                  </a:moveTo>
                  <a:lnTo>
                    <a:pt x="2667000" y="0"/>
                  </a:lnTo>
                  <a:lnTo>
                    <a:pt x="2667000" y="4154984"/>
                  </a:lnTo>
                  <a:lnTo>
                    <a:pt x="0" y="4154984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8" name="object 8"/>
          <p:cNvSpPr txBox="1"/>
          <p:nvPr/>
        </p:nvSpPr>
        <p:spPr>
          <a:xfrm>
            <a:off x="1128160" y="1773431"/>
            <a:ext cx="2019300" cy="25888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55880" lvl="0" indent="0" algn="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55065" algn="l"/>
              </a:tabLst>
              <a:defRPr/>
            </a:pP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400" b="0" i="0" u="none" strike="noStrike" kern="1200" cap="none" spc="-5" normalizeH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30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70485" lvl="0" indent="0" algn="r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</a:t>
            </a:r>
            <a:r>
              <a:rPr kumimoji="0" sz="2400" b="1" i="0" u="sng" strike="noStrike" kern="1200" cap="none" spc="-5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sng" strike="noStrike" kern="1200" cap="none" spc="-5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3843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????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2845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6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&gt;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010: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223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9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431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-</a:t>
            </a:r>
            <a:r>
              <a:rPr kumimoji="0" sz="2400" b="0" i="0" u="sng" strike="noStrike" kern="1200" cap="none" spc="-10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sng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010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68580" lvl="0" indent="0" algn="r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1140860" y="4705607"/>
            <a:ext cx="2048510" cy="11169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30480" lvl="0" indent="0" algn="r" defTabSz="914400" rtl="0" eaLnBrk="1" fontAlgn="auto" latinLnBrk="0" hangingPunct="1">
              <a:lnSpc>
                <a:spcPts val="284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Use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9855" lvl="0" indent="0" algn="r" defTabSz="914400" rtl="0" eaLnBrk="1" fontAlgn="auto" latinLnBrk="0" hangingPunct="1">
              <a:lnSpc>
                <a:spcPts val="284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Times New Roman"/>
                <a:ea typeface="+mn-ea"/>
                <a:cs typeface="Times New Roman"/>
              </a:rPr>
              <a:t>1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3980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2400" b="0" i="0" u="none" strike="noStrike" kern="1200" cap="none" spc="-5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2400" b="0" i="0" u="none" strike="noStrike" kern="1200" cap="none" spc="0" normalizeH="0" baseline="-17361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128160" y="2743286"/>
            <a:ext cx="545342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larger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17850" y="2743286"/>
            <a:ext cx="63991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/>
              <a:t>smaller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3088105" y="3573380"/>
            <a:ext cx="3441032" cy="6432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 flipH="1">
            <a:off x="2534654" y="4491789"/>
            <a:ext cx="3966409" cy="60960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087990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3575" y="761838"/>
            <a:ext cx="5168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25" dirty="0"/>
              <a:t> </a:t>
            </a:r>
            <a:r>
              <a:rPr spc="-5" dirty="0"/>
              <a:t>2’s</a:t>
            </a:r>
            <a:r>
              <a:rPr spc="-10" dirty="0"/>
              <a:t> </a:t>
            </a:r>
            <a:r>
              <a:rPr spc="-5" dirty="0"/>
              <a:t>Complement?</a:t>
            </a:r>
          </a:p>
        </p:txBody>
      </p:sp>
      <p:grpSp>
        <p:nvGrpSpPr>
          <p:cNvPr id="4" name="object 4"/>
          <p:cNvGrpSpPr/>
          <p:nvPr/>
        </p:nvGrpSpPr>
        <p:grpSpPr>
          <a:xfrm>
            <a:off x="1968419" y="1551328"/>
            <a:ext cx="6866769" cy="5026660"/>
            <a:chOff x="300037" y="985837"/>
            <a:chExt cx="3286125" cy="5026660"/>
          </a:xfrm>
        </p:grpSpPr>
        <p:sp>
          <p:nvSpPr>
            <p:cNvPr id="5" name="object 5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3276600" y="0"/>
                  </a:moveTo>
                  <a:lnTo>
                    <a:pt x="0" y="0"/>
                  </a:lnTo>
                  <a:lnTo>
                    <a:pt x="0" y="5016756"/>
                  </a:lnTo>
                  <a:lnTo>
                    <a:pt x="3276600" y="5016756"/>
                  </a:lnTo>
                  <a:lnTo>
                    <a:pt x="3276600" y="0"/>
                  </a:lnTo>
                  <a:close/>
                </a:path>
              </a:pathLst>
            </a:custGeom>
            <a:solidFill>
              <a:srgbClr val="FFFFB3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304800" y="990600"/>
              <a:ext cx="3276600" cy="5017135"/>
            </a:xfrm>
            <a:custGeom>
              <a:avLst/>
              <a:gdLst/>
              <a:ahLst/>
              <a:cxnLst/>
              <a:rect l="l" t="t" r="r" b="b"/>
              <a:pathLst>
                <a:path w="3276600" h="5017135">
                  <a:moveTo>
                    <a:pt x="0" y="0"/>
                  </a:moveTo>
                  <a:lnTo>
                    <a:pt x="3276600" y="0"/>
                  </a:lnTo>
                  <a:lnTo>
                    <a:pt x="3276600" y="5016757"/>
                  </a:lnTo>
                  <a:lnTo>
                    <a:pt x="0" y="5016757"/>
                  </a:lnTo>
                  <a:lnTo>
                    <a:pt x="0" y="0"/>
                  </a:lnTo>
                  <a:close/>
                </a:path>
              </a:pathLst>
            </a:custGeom>
            <a:ln w="9525">
              <a:solidFill>
                <a:srgbClr val="73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 txBox="1"/>
          <p:nvPr/>
        </p:nvSpPr>
        <p:spPr>
          <a:xfrm>
            <a:off x="2026522" y="1575903"/>
            <a:ext cx="5643858" cy="49295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9700" marR="0" lvl="0" indent="0" algn="l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780539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+(-7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4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b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</a:br>
            <a:r>
              <a:rPr lang="en-US" sz="3200" dirty="0">
                <a:solidFill>
                  <a:srgbClr val="000000"/>
                </a:solidFill>
                <a:latin typeface="Times New Roman"/>
                <a:cs typeface="Times New Roman"/>
              </a:rPr>
              <a:t>                 </a:t>
            </a: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</a:t>
            </a: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b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lang="en-US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6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-5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8100" marR="0" lvl="0" indent="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827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249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+2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150" b="0" i="0" u="none" strike="noStrike" kern="1200" cap="none" spc="42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0010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61925" lvl="0" indent="0" algn="r" defTabSz="914400" rtl="0" eaLnBrk="1" fontAlgn="auto" latinLnBrk="0" hangingPunct="1">
              <a:lnSpc>
                <a:spcPts val="3815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0591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+(9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	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>
                  <a:solidFill>
                    <a:srgbClr val="730000"/>
                  </a:solidFill>
                </a:uFill>
                <a:latin typeface="Times New Roman"/>
                <a:ea typeface="+mn-ea"/>
                <a:cs typeface="Times New Roman"/>
              </a:rPr>
              <a:t>+1001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83515" lvl="0" indent="0" algn="r" defTabSz="914400" rtl="0" eaLnBrk="1" fontAlgn="auto" latinLnBrk="0" hangingPunct="1">
              <a:lnSpc>
                <a:spcPts val="38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30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1011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0" marR="106680" lvl="0" indent="0" algn="r" defTabSz="914400" rtl="0" eaLnBrk="1" fontAlgn="auto" latinLnBrk="0" hangingPunct="1">
              <a:lnSpc>
                <a:spcPct val="100000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     </a:t>
            </a:r>
            <a:r>
              <a:rPr kumimoji="0" sz="3200" b="0" i="0" u="none" strike="noStrike" kern="1200" cap="none" spc="-45" normalizeH="0" baseline="0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=11</a:t>
            </a:r>
            <a:r>
              <a:rPr kumimoji="0" sz="3150" b="0" i="0" u="none" strike="noStrike" kern="1200" cap="none" spc="-67" normalizeH="0" baseline="-18518" noProof="0" dirty="0">
                <a:ln>
                  <a:noFill/>
                </a:ln>
                <a:solidFill>
                  <a:srgbClr val="73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  <p:sp>
        <p:nvSpPr>
          <p:cNvPr id="9" name="object 3"/>
          <p:cNvSpPr txBox="1"/>
          <p:nvPr/>
        </p:nvSpPr>
        <p:spPr>
          <a:xfrm>
            <a:off x="4960861" y="2694756"/>
            <a:ext cx="3292801" cy="367408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b="1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cs typeface="Tahoma"/>
              </a:rPr>
              <a:t>Easy addition</a:t>
            </a:r>
            <a:r>
              <a:rPr lang="en-US" b="1" spc="-5" dirty="0">
                <a:solidFill>
                  <a:srgbClr val="00B050"/>
                </a:solidFill>
                <a:latin typeface="Tahoma"/>
                <a:cs typeface="Tahoma"/>
              </a:rPr>
              <a:t>/subtractions</a:t>
            </a:r>
            <a:endParaRPr kumimoji="0" lang="en-US" b="1" i="0" u="none" strike="noStrike" kern="1200" cap="none" spc="-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09302274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8" y="734246"/>
            <a:ext cx="612902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Why</a:t>
            </a:r>
            <a:r>
              <a:rPr spc="-30" dirty="0"/>
              <a:t> </a:t>
            </a:r>
            <a:r>
              <a:rPr dirty="0"/>
              <a:t>Not</a:t>
            </a:r>
            <a:r>
              <a:rPr spc="-15" dirty="0"/>
              <a:t> </a:t>
            </a:r>
            <a:r>
              <a:rPr spc="-5" dirty="0"/>
              <a:t>Sign+Magnitude?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74319" y="1597296"/>
            <a:ext cx="10355418" cy="4686539"/>
          </a:xfrm>
          <a:prstGeom prst="rect">
            <a:avLst/>
          </a:prstGeom>
        </p:spPr>
        <p:txBody>
          <a:bodyPr vert="horz" wrap="square" lIns="0" tIns="89535" rIns="0" bIns="0" rtlCol="0">
            <a:spAutoFit/>
          </a:bodyPr>
          <a:lstStyle/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Main reasons: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Two zero representations are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very annoying </a:t>
            </a:r>
            <a:r>
              <a:rPr lang="en-US" sz="2000" dirty="0">
                <a:latin typeface="Tahoma"/>
                <a:cs typeface="Tahoma"/>
              </a:rPr>
              <a:t>(and a math problem!)</a:t>
            </a:r>
            <a:endParaRPr lang="en-US" sz="2800" b="1" dirty="0">
              <a:solidFill>
                <a:srgbClr val="FF0000"/>
              </a:solidFill>
              <a:latin typeface="Tahoma"/>
              <a:cs typeface="Tahoma"/>
            </a:endParaRP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value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wasted</a:t>
            </a:r>
          </a:p>
          <a:p>
            <a:pPr marL="4699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705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Hardware implementation is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complicated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Addition without </a:t>
            </a:r>
            <a:r>
              <a:rPr lang="en-US" sz="2800" b="1" dirty="0">
                <a:solidFill>
                  <a:srgbClr val="FF0000"/>
                </a:solidFill>
                <a:latin typeface="Tahoma"/>
                <a:cs typeface="Tahoma"/>
              </a:rPr>
              <a:t>check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, which operand is larger.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Simply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add</a:t>
            </a: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 numbers.</a:t>
            </a:r>
          </a:p>
          <a:p>
            <a:pPr marL="469900" lvl="0" indent="-457200">
              <a:spcBef>
                <a:spcPts val="705"/>
              </a:spcBef>
              <a:buFont typeface="Arial" panose="020B0604020202020204" pitchFamily="34" charset="0"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2800" dirty="0">
                <a:solidFill>
                  <a:srgbClr val="000000"/>
                </a:solidFill>
                <a:latin typeface="Tahoma"/>
                <a:cs typeface="Tahoma"/>
              </a:rPr>
              <a:t>One hardware adder </a:t>
            </a:r>
            <a:r>
              <a:rPr lang="en-US" sz="2800" b="1" dirty="0">
                <a:solidFill>
                  <a:srgbClr val="92D050"/>
                </a:solidFill>
                <a:latin typeface="Tahoma"/>
                <a:cs typeface="Tahoma"/>
              </a:rPr>
              <a:t>works for both signed and unsigned</a:t>
            </a:r>
            <a:endParaRPr lang="en-US" sz="2800" dirty="0">
              <a:solidFill>
                <a:srgbClr val="000000"/>
              </a:solidFill>
              <a:latin typeface="Tahom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125792065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E583A903-8B2B-46BF-9E2E-ED3B2E7A2B3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82AE9CF5-360A-42DC-9BD3-935C41C3EF9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1: Polynomial Evaluation</a:t>
            </a:r>
          </a:p>
        </p:txBody>
      </p:sp>
    </p:spTree>
    <p:extLst>
      <p:ext uri="{BB962C8B-B14F-4D97-AF65-F5344CB8AC3E}">
        <p14:creationId xmlns:p14="http://schemas.microsoft.com/office/powerpoint/2010/main" val="240721453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49192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Symbols and their values used in positional number systems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1892969" y="2193759"/>
          <a:ext cx="8414084" cy="4339388"/>
        </p:xfrm>
        <a:graphic>
          <a:graphicData uri="http://schemas.openxmlformats.org/drawingml/2006/table">
            <a:tbl>
              <a:tblPr firstRow="1" firstCol="1" bandRow="1"/>
              <a:tblGrid>
                <a:gridCol w="14995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32924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40296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17865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185996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System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Radix</a:t>
                      </a:r>
                      <a:endParaRPr lang="en-US" sz="3200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Symbols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Corresponding </a:t>
                      </a:r>
                    </a:p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3200" b="1" i="1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Digit </a:t>
                      </a:r>
                      <a:r>
                        <a:rPr lang="en-US" sz="3200" b="1" i="1" u="sng" dirty="0">
                          <a:solidFill>
                            <a:schemeClr val="bg1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Values</a:t>
                      </a:r>
                      <a:endParaRPr lang="en-US" sz="3200" u="sng" dirty="0">
                        <a:solidFill>
                          <a:schemeClr val="bg1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68580" marR="68580" marT="0" marB="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24319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Binary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2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045158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Decimal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5,6,7,8,9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48391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Hex</a:t>
                      </a:r>
                      <a:endParaRPr lang="en-US" sz="2400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16</a:t>
                      </a:r>
                      <a:endParaRPr lang="en-US" sz="240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A,B,C,D,E,F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1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0,1,2,3,4,5,6,7,</a:t>
                      </a:r>
                      <a:b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</a:br>
                      <a:r>
                        <a:rPr lang="en-US" sz="2400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8,9,</a:t>
                      </a:r>
                      <a:r>
                        <a:rPr lang="en-US" sz="2400" b="1" dirty="0">
                          <a:solidFill>
                            <a:srgbClr val="000000"/>
                          </a:solidFill>
                          <a:effectLst/>
                          <a:latin typeface="Calibri"/>
                          <a:ea typeface="Calibri"/>
                          <a:cs typeface="Calibri"/>
                        </a:rPr>
                        <a:t>10,11,12,13,14,15</a:t>
                      </a:r>
                      <a:endParaRPr lang="en-US" sz="2400" b="1" dirty="0">
                        <a:solidFill>
                          <a:srgbClr val="000000"/>
                        </a:solidFill>
                        <a:effectLst/>
                        <a:latin typeface="Arial"/>
                        <a:ea typeface="Arial"/>
                        <a:cs typeface="Calibri"/>
                      </a:endParaRPr>
                    </a:p>
                  </a:txBody>
                  <a:tcPr marL="73025" marR="73025" marT="36830" marB="36830" anchor="ctr">
                    <a:lnL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543388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5205" y="746277"/>
            <a:ext cx="62388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Positional</a:t>
            </a:r>
            <a:r>
              <a:rPr spc="-25" dirty="0"/>
              <a:t> </a:t>
            </a:r>
            <a:r>
              <a:rPr spc="-5" dirty="0"/>
              <a:t>Number</a:t>
            </a:r>
            <a:r>
              <a:rPr spc="-25" dirty="0"/>
              <a:t> </a:t>
            </a:r>
            <a:r>
              <a:rPr spc="-5" dirty="0"/>
              <a:t>Systems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5205" y="1445903"/>
            <a:ext cx="10382500" cy="4614084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marR="43180" indent="-342900">
              <a:lnSpc>
                <a:spcPts val="3000"/>
              </a:lnSpc>
              <a:spcBef>
                <a:spcPts val="500"/>
              </a:spcBef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Numeric values are represented </a:t>
            </a:r>
            <a:r>
              <a:rPr sz="2800" dirty="0">
                <a:latin typeface="Calibri"/>
                <a:cs typeface="Calibri"/>
              </a:rPr>
              <a:t>by a </a:t>
            </a:r>
            <a:r>
              <a:rPr sz="2800" i="1" spc="-5" dirty="0">
                <a:latin typeface="Calibri"/>
                <a:cs typeface="Calibri"/>
              </a:rPr>
              <a:t>sequence </a:t>
            </a:r>
            <a:r>
              <a:rPr sz="2800" spc="-5" dirty="0">
                <a:latin typeface="Calibri"/>
                <a:cs typeface="Calibri"/>
              </a:rPr>
              <a:t>of </a:t>
            </a:r>
            <a:r>
              <a:rPr sz="2800" spc="-62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digit symbols.</a:t>
            </a:r>
            <a:endParaRPr sz="28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endParaRPr lang="en-US" sz="2400" dirty="0">
              <a:latin typeface="Calibri"/>
              <a:cs typeface="Calibri"/>
            </a:endParaRPr>
          </a:p>
          <a:p>
            <a:pPr marL="520700">
              <a:spcBef>
                <a:spcPts val="285"/>
              </a:spcBef>
              <a:tabLst>
                <a:tab pos="805815" algn="l"/>
              </a:tabLst>
            </a:pPr>
            <a:r>
              <a:rPr sz="2400" dirty="0">
                <a:latin typeface="Calibri"/>
                <a:cs typeface="Calibri"/>
              </a:rPr>
              <a:t>–	E</a:t>
            </a:r>
            <a:r>
              <a:rPr sz="2400" spc="-5" dirty="0">
                <a:latin typeface="Calibri"/>
                <a:cs typeface="Calibri"/>
              </a:rPr>
              <a:t>x</a:t>
            </a:r>
            <a:r>
              <a:rPr sz="2400" dirty="0">
                <a:latin typeface="Calibri"/>
                <a:cs typeface="Calibri"/>
              </a:rPr>
              <a:t>a</a:t>
            </a:r>
            <a:r>
              <a:rPr sz="2400" spc="-10" dirty="0">
                <a:latin typeface="Calibri"/>
                <a:cs typeface="Calibri"/>
              </a:rPr>
              <a:t>m</a:t>
            </a:r>
            <a:r>
              <a:rPr sz="2400" dirty="0">
                <a:latin typeface="Calibri"/>
                <a:cs typeface="Calibri"/>
              </a:rPr>
              <a:t>ples: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235</a:t>
            </a:r>
            <a:r>
              <a:rPr sz="2400" spc="-10" dirty="0">
                <a:latin typeface="Calibri"/>
                <a:cs typeface="Calibri"/>
              </a:rPr>
              <a:t>4</a:t>
            </a:r>
            <a:r>
              <a:rPr sz="2400" baseline="-17361" dirty="0">
                <a:latin typeface="Calibri"/>
                <a:cs typeface="Calibri"/>
              </a:rPr>
              <a:t>10 </a:t>
            </a:r>
            <a:r>
              <a:rPr sz="2400" dirty="0">
                <a:latin typeface="Calibri"/>
                <a:cs typeface="Calibri"/>
              </a:rPr>
              <a:t>,</a:t>
            </a:r>
            <a:r>
              <a:rPr sz="2400" spc="-18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1101</a:t>
            </a:r>
            <a:r>
              <a:rPr sz="2400" baseline="-17361" dirty="0">
                <a:latin typeface="Calibri"/>
                <a:cs typeface="Calibri"/>
              </a:rPr>
              <a:t>2, </a:t>
            </a:r>
            <a:r>
              <a:rPr sz="2400" spc="-5" dirty="0">
                <a:latin typeface="Calibri"/>
                <a:cs typeface="Calibri"/>
              </a:rPr>
              <a:t>F</a:t>
            </a:r>
            <a:r>
              <a:rPr sz="2400" spc="-10" dirty="0">
                <a:latin typeface="Calibri"/>
                <a:cs typeface="Calibri"/>
              </a:rPr>
              <a:t>8</a:t>
            </a:r>
            <a:r>
              <a:rPr sz="2400" dirty="0">
                <a:latin typeface="Calibri"/>
                <a:cs typeface="Calibri"/>
              </a:rPr>
              <a:t>ED</a:t>
            </a:r>
            <a:r>
              <a:rPr sz="2400" baseline="-17361" dirty="0">
                <a:latin typeface="Calibri"/>
                <a:cs typeface="Calibri"/>
              </a:rPr>
              <a:t>16</a:t>
            </a:r>
            <a:endParaRPr sz="3250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63500"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  <a:p>
            <a:pPr marL="406400" indent="-342900">
              <a:buChar char="•"/>
              <a:tabLst>
                <a:tab pos="405765" algn="l"/>
                <a:tab pos="406400" algn="l"/>
              </a:tabLst>
            </a:pPr>
            <a:r>
              <a:rPr sz="2800" spc="-5" dirty="0">
                <a:latin typeface="Calibri"/>
                <a:cs typeface="Calibri"/>
              </a:rPr>
              <a:t>Symbols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represent</a:t>
            </a:r>
            <a:r>
              <a:rPr sz="2800" spc="-10" dirty="0">
                <a:latin typeface="Calibri"/>
                <a:cs typeface="Calibri"/>
              </a:rPr>
              <a:t> </a:t>
            </a:r>
            <a:r>
              <a:rPr sz="2800" spc="-5" dirty="0">
                <a:latin typeface="Calibri"/>
                <a:cs typeface="Calibri"/>
              </a:rPr>
              <a:t>numeric</a:t>
            </a:r>
            <a:r>
              <a:rPr sz="2800" dirty="0">
                <a:latin typeface="Calibri"/>
                <a:cs typeface="Calibri"/>
              </a:rPr>
              <a:t> </a:t>
            </a:r>
            <a:r>
              <a:rPr sz="2800" i="1" spc="-5" dirty="0">
                <a:latin typeface="Calibri"/>
                <a:cs typeface="Calibri"/>
              </a:rPr>
              <a:t>values</a:t>
            </a:r>
            <a:r>
              <a:rPr sz="2800" spc="-5" dirty="0">
                <a:latin typeface="Calibri"/>
                <a:cs typeface="Calibri"/>
              </a:rPr>
              <a:t>.</a:t>
            </a:r>
            <a:endParaRPr sz="2800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endParaRPr lang="en-US" sz="2400" spc="-5" dirty="0">
              <a:latin typeface="Calibri"/>
              <a:cs typeface="Calibri"/>
            </a:endParaRPr>
          </a:p>
          <a:p>
            <a:pPr marL="806450" lvl="1" indent="-285750">
              <a:spcBef>
                <a:spcPts val="254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Symbols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dirty="0">
                <a:latin typeface="Calibri"/>
                <a:cs typeface="Calibri"/>
              </a:rPr>
              <a:t>are</a:t>
            </a:r>
            <a:r>
              <a:rPr sz="2400" spc="-5" dirty="0">
                <a:latin typeface="Calibri"/>
                <a:cs typeface="Calibri"/>
              </a:rPr>
              <a:t> </a:t>
            </a:r>
            <a:r>
              <a:rPr sz="2400" b="1" spc="-5" dirty="0">
                <a:solidFill>
                  <a:srgbClr val="FF0000"/>
                </a:solidFill>
                <a:latin typeface="Calibri"/>
                <a:cs typeface="Calibri"/>
              </a:rPr>
              <a:t>not</a:t>
            </a:r>
            <a:r>
              <a:rPr sz="2400" spc="-15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limited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to</a:t>
            </a:r>
            <a:r>
              <a:rPr sz="2400" spc="-1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‘0’-’9’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r>
              <a:rPr lang="en-US" sz="2400" b="1" spc="-5" dirty="0">
                <a:solidFill>
                  <a:srgbClr val="92D050"/>
                </a:solidFill>
                <a:latin typeface="Calibri"/>
                <a:cs typeface="Calibri"/>
              </a:rPr>
              <a:t>additional</a:t>
            </a:r>
            <a:r>
              <a:rPr lang="en-US" sz="2400" spc="-5" dirty="0">
                <a:latin typeface="Calibri"/>
                <a:cs typeface="Calibri"/>
              </a:rPr>
              <a:t> ‘A’ – ‘F’</a:t>
            </a:r>
            <a:r>
              <a:rPr sz="2400" spc="-5" dirty="0">
                <a:latin typeface="Calibri"/>
                <a:cs typeface="Calibri"/>
              </a:rPr>
              <a:t>!</a:t>
            </a:r>
            <a:r>
              <a:rPr lang="en-US" sz="2400" spc="-5" dirty="0">
                <a:latin typeface="Calibri"/>
                <a:cs typeface="Calibri"/>
              </a:rPr>
              <a:t> </a:t>
            </a:r>
            <a:endParaRPr sz="2400" dirty="0">
              <a:latin typeface="Calibri"/>
              <a:cs typeface="Calibri"/>
            </a:endParaRPr>
          </a:p>
          <a:p>
            <a:pPr marL="806450" lvl="1" indent="-285750">
              <a:spcBef>
                <a:spcPts val="315"/>
              </a:spcBef>
              <a:buChar char="–"/>
              <a:tabLst>
                <a:tab pos="805815" algn="l"/>
                <a:tab pos="806450" algn="l"/>
              </a:tabLst>
            </a:pPr>
            <a:r>
              <a:rPr sz="2400" spc="-5" dirty="0">
                <a:latin typeface="Calibri"/>
                <a:cs typeface="Calibri"/>
              </a:rPr>
              <a:t>Example:</a:t>
            </a:r>
            <a:r>
              <a:rPr sz="2400" spc="-40" dirty="0">
                <a:latin typeface="Calibri"/>
                <a:cs typeface="Calibri"/>
              </a:rPr>
              <a:t> </a:t>
            </a:r>
            <a:r>
              <a:rPr sz="2400" spc="-5" dirty="0">
                <a:latin typeface="Calibri"/>
                <a:cs typeface="Calibri"/>
              </a:rPr>
              <a:t>AFED</a:t>
            </a:r>
            <a:r>
              <a:rPr sz="2400" spc="-7" baseline="-17361" dirty="0">
                <a:latin typeface="Calibri"/>
                <a:cs typeface="Calibri"/>
              </a:rPr>
              <a:t>16</a:t>
            </a:r>
            <a:endParaRPr sz="3200" dirty="0">
              <a:latin typeface="Calibri"/>
              <a:cs typeface="Calibri"/>
            </a:endParaRPr>
          </a:p>
          <a:p>
            <a:pPr marL="63500" marR="179705">
              <a:lnSpc>
                <a:spcPts val="3000"/>
              </a:lnSpc>
              <a:tabLst>
                <a:tab pos="405765" algn="l"/>
                <a:tab pos="406400" algn="l"/>
              </a:tabLst>
            </a:pPr>
            <a:endParaRPr lang="en-US" sz="2800" spc="-5" dirty="0">
              <a:latin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66229617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8" y="741426"/>
            <a:ext cx="6615304" cy="730437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</p:spPr>
            <p:txBody>
              <a:bodyPr/>
              <a:lstStyle/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Example:</a:t>
                </a:r>
                <a:r>
                  <a:rPr lang="en-US" dirty="0"/>
                  <a:t>	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aseline="-25000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/>
                  <a:t>	</a:t>
                </a:r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="1" i="1" dirty="0"/>
                  <a:t>	 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𝒏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</m:oMath>
                </a14:m>
                <a:r>
                  <a:rPr lang="en-US" b="1" dirty="0"/>
                  <a:t> </a:t>
                </a:r>
                <a:r>
                  <a:rPr lang="en-US" b="1" dirty="0">
                    <a:solidFill>
                      <a:schemeClr val="tx1"/>
                    </a:solidFill>
                  </a:rPr>
                  <a:t>+</a:t>
                </a:r>
                <a14:m>
                  <m:oMath xmlns:m="http://schemas.openxmlformats.org/officeDocument/2006/math">
                    <m:r>
                      <a:rPr lang="en-US" b="1" i="0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a:rPr lang="en-US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⋯</m:t>
                    </m:r>
                  </m:oMath>
                </a14:m>
                <a:r>
                  <a:rPr lang="en-US" b="1" dirty="0">
                    <a:solidFill>
                      <a:schemeClr val="tx1"/>
                    </a:solidFill>
                  </a:rPr>
                  <a:t> +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𝟏</m:t>
                        </m:r>
                      </m:sup>
                    </m:sSup>
                    <m:r>
                      <a:rPr lang="en-US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sSup>
                      <m:sSupPr>
                        <m:ctrlP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</a:rPr>
                          <m:t>𝑹</m:t>
                        </m:r>
                      </m:e>
                      <m:sup>
                        <m:r>
                          <a:rPr lang="en-US" b="1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𝟎</m:t>
                        </m:r>
                      </m:sup>
                    </m:sSup>
                  </m:oMath>
                </a14:m>
                <a:endParaRPr lang="en-US" b="1" dirty="0"/>
              </a:p>
              <a:p>
                <a:pPr marL="0" indent="0">
                  <a:buNone/>
                  <a:tabLst>
                    <a:tab pos="2743200" algn="r"/>
                    <a:tab pos="2916238" algn="l"/>
                  </a:tabLst>
                </a:pPr>
                <a:endParaRPr lang="en-US" b="1" dirty="0"/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baseline="-25000" dirty="0"/>
                  <a:t>	</a:t>
                </a:r>
                <a:r>
                  <a:rPr lang="en-US" dirty="0">
                    <a:solidFill>
                      <a:schemeClr val="tx1"/>
                    </a:solidFill>
                  </a:rPr>
                  <a:t>where: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𝒗</m:t>
                        </m:r>
                      </m:e>
                      <m:sub>
                        <m:r>
                          <a:rPr lang="en-US" b="1" i="1">
                            <a:solidFill>
                              <a:srgbClr val="00B0F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𝒊</m:t>
                        </m:r>
                      </m:sub>
                    </m:sSub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are the corresponding digit </a:t>
                </a:r>
                <a:r>
                  <a:rPr lang="en-US" u="sng" dirty="0">
                    <a:solidFill>
                      <a:schemeClr val="tx1"/>
                    </a:solidFill>
                  </a:rPr>
                  <a:t>values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dirty="0">
                    <a:solidFill>
                      <a:schemeClr val="tx1"/>
                    </a:solidFill>
                  </a:rPr>
                  <a:t>	and:</a:t>
                </a:r>
                <a:r>
                  <a:rPr lang="en-US" dirty="0"/>
                  <a:t>	</a:t>
                </a:r>
                <a14:m>
                  <m:oMath xmlns:m="http://schemas.openxmlformats.org/officeDocument/2006/math">
                    <m:r>
                      <a:rPr lang="en-US" b="1" i="1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𝑹</m:t>
                    </m:r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is the </a:t>
                </a:r>
                <a:r>
                  <a:rPr lang="en-US" u="sng" dirty="0">
                    <a:solidFill>
                      <a:schemeClr val="tx1"/>
                    </a:solidFill>
                  </a:rPr>
                  <a:t>radix</a:t>
                </a:r>
                <a:r>
                  <a:rPr lang="en-US" dirty="0">
                    <a:solidFill>
                      <a:schemeClr val="tx1"/>
                    </a:solidFill>
                  </a:rPr>
                  <a:t> (number base)</a:t>
                </a: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endParaRPr lang="en-US" dirty="0">
                  <a:solidFill>
                    <a:schemeClr val="tx1"/>
                  </a:solidFill>
                </a:endParaRPr>
              </a:p>
              <a:p>
                <a:pPr marL="400050" lvl="1" indent="0">
                  <a:buNone/>
                  <a:tabLst>
                    <a:tab pos="2743200" algn="r"/>
                    <a:tab pos="2916238" algn="l"/>
                  </a:tabLst>
                </a:pPr>
                <a:r>
                  <a:rPr lang="en-US" sz="2400" dirty="0">
                    <a:solidFill>
                      <a:schemeClr val="tx1"/>
                    </a:solidFill>
                  </a:rPr>
                  <a:t>	Ex:</a:t>
                </a:r>
                <a:r>
                  <a:rPr lang="en-US" sz="2400" dirty="0"/>
                  <a:t>	</a:t>
                </a:r>
                <a14:m>
                  <m:oMath xmlns:m="http://schemas.openxmlformats.org/officeDocument/2006/math"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 smtClean="0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6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7</m:t>
                    </m:r>
                    <m:r>
                      <a:rPr lang="en-US" sz="24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sup>
                    </m:sSup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+</m:t>
                    </m:r>
                    <m:r>
                      <a:rPr lang="en-US" sz="2400" i="1" smtClean="0">
                        <a:solidFill>
                          <a:srgbClr val="92D050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2</m:t>
                    </m:r>
                    <m:r>
                      <a:rPr lang="en-US" sz="240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×</m:t>
                    </m:r>
                    <m:sSup>
                      <m:sSupPr>
                        <m:ctrlP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2400" i="1">
                            <a:solidFill>
                              <a:srgbClr val="FF0000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e>
                      <m:sup>
                        <m:r>
                          <a:rPr lang="en-US" sz="240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0</m:t>
                        </m:r>
                      </m:sup>
                    </m:sSup>
                  </m:oMath>
                </a14:m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=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rgbClr val="92D050"/>
                    </a:solidFill>
                  </a:rPr>
                  <a:t>3672</a:t>
                </a:r>
                <a:r>
                  <a:rPr lang="en-US" baseline="-25000" dirty="0">
                    <a:solidFill>
                      <a:srgbClr val="FF0000"/>
                    </a:solidFill>
                  </a:rPr>
                  <a:t>10</a:t>
                </a:r>
                <a:endParaRPr lang="en-US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74557" y="1522335"/>
                <a:ext cx="10371221" cy="5119097"/>
              </a:xfr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5" name="Straight Arrow Connector 4"/>
          <p:cNvCxnSpPr/>
          <p:nvPr/>
        </p:nvCxnSpPr>
        <p:spPr>
          <a:xfrm flipH="1" flipV="1">
            <a:off x="4742237" y="2344131"/>
            <a:ext cx="1140187" cy="716565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780366" y="2752886"/>
            <a:ext cx="390017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Subscript used to identify </a:t>
            </a:r>
            <a:r>
              <a:rPr lang="en-US" dirty="0">
                <a:solidFill>
                  <a:srgbClr val="FF0000"/>
                </a:solidFill>
              </a:rPr>
              <a:t>radix (</a:t>
            </a:r>
            <a:r>
              <a:rPr lang="en-US" b="1" dirty="0">
                <a:solidFill>
                  <a:srgbClr val="FF0000"/>
                </a:solidFill>
              </a:rPr>
              <a:t>R</a:t>
            </a:r>
            <a:r>
              <a:rPr lang="en-US" dirty="0">
                <a:solidFill>
                  <a:srgbClr val="FF0000"/>
                </a:solidFill>
              </a:rPr>
              <a:t>)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97DFE6A4-C5A9-4AFD-965D-DF94762D4C57}"/>
              </a:ext>
            </a:extLst>
          </p:cNvPr>
          <p:cNvCxnSpPr>
            <a:cxnSpLocks/>
          </p:cNvCxnSpPr>
          <p:nvPr/>
        </p:nvCxnSpPr>
        <p:spPr>
          <a:xfrm flipV="1">
            <a:off x="3236495" y="2290011"/>
            <a:ext cx="749968" cy="647542"/>
          </a:xfrm>
          <a:prstGeom prst="straightConnector1">
            <a:avLst/>
          </a:prstGeom>
          <a:ln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D9F3C9A9-F147-4FC4-A194-F4BC3F374FBC}"/>
              </a:ext>
            </a:extLst>
          </p:cNvPr>
          <p:cNvSpPr txBox="1"/>
          <p:nvPr/>
        </p:nvSpPr>
        <p:spPr>
          <a:xfrm>
            <a:off x="283909" y="2752886"/>
            <a:ext cx="32345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rgbClr val="92D050"/>
                </a:solidFill>
              </a:rPr>
              <a:t>These are the digit symbols</a:t>
            </a:r>
          </a:p>
        </p:txBody>
      </p:sp>
    </p:spTree>
    <p:extLst>
      <p:ext uri="{BB962C8B-B14F-4D97-AF65-F5344CB8AC3E}">
        <p14:creationId xmlns:p14="http://schemas.microsoft.com/office/powerpoint/2010/main" val="355751233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98" y="745796"/>
            <a:ext cx="50679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Polynomial</a:t>
            </a:r>
            <a:r>
              <a:rPr spc="-45" dirty="0"/>
              <a:t> </a:t>
            </a:r>
            <a:r>
              <a:rPr dirty="0"/>
              <a:t>Evaluation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1497" y="1703057"/>
            <a:ext cx="10446419" cy="4784708"/>
          </a:xfrm>
          <a:prstGeom prst="rect">
            <a:avLst/>
          </a:prstGeom>
        </p:spPr>
        <p:txBody>
          <a:bodyPr vert="horz" wrap="square" lIns="0" tIns="6350" rIns="0" bIns="0" rtlCol="0">
            <a:spAutoFit/>
          </a:bodyPr>
          <a:lstStyle/>
          <a:p>
            <a:pPr marL="12700" marR="755015" lvl="0" indent="0" algn="l" defTabSz="914400" rtl="0" eaLnBrk="1" fontAlgn="auto" latinLnBrk="0" hangingPunct="1">
              <a:lnSpc>
                <a:spcPct val="1014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>
                <a:tab pos="3021965" algn="l"/>
                <a:tab pos="3490595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can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be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convert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755015" lvl="0" indent="-457200">
              <a:lnSpc>
                <a:spcPct val="101400"/>
              </a:lnSpc>
              <a:spcBef>
                <a:spcPts val="50"/>
              </a:spcBef>
              <a:buFont typeface="Arial" panose="020B0604020202020204" pitchFamily="34" charset="0"/>
              <a:buChar char="•"/>
              <a:tabLst>
                <a:tab pos="3021965" algn="l"/>
                <a:tab pos="349059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any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lang="en-US" sz="2400" spc="5" dirty="0">
                <a:solidFill>
                  <a:srgbClr val="000000"/>
                </a:solidFill>
                <a:uFill>
                  <a:solidFill>
                    <a:srgbClr val="000000"/>
                  </a:solidFill>
                </a:uFill>
                <a:latin typeface="Calibri"/>
                <a:cs typeface="Calibri"/>
              </a:rPr>
              <a:t> (Base aka Radix)</a:t>
            </a:r>
            <a:endParaRPr kumimoji="0" sz="3750" b="0" i="0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***Important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evaluation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only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converting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base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endParaRPr kumimoji="0" lang="en-US" sz="2800" b="1" i="0" u="none" strike="noStrike" kern="1200" cap="none" spc="-5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27100" marR="5080" lvl="1" indent="-457200">
              <a:lnSpc>
                <a:spcPct val="99600"/>
              </a:lnSpc>
              <a:buFont typeface="Arial" panose="020B0604020202020204" pitchFamily="34" charset="0"/>
              <a:buChar char="•"/>
              <a:tabLst>
                <a:tab pos="4071620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doesn’t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work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direction</a:t>
            </a:r>
            <a:br>
              <a:rPr lang="en-US" sz="2800" b="1" spc="-10" dirty="0">
                <a:solidFill>
                  <a:srgbClr val="FF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I.e.,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something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else!	</a:t>
            </a:r>
            <a:b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</a:b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those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cases,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we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other techniques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31143905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168880"/>
            <a:ext cx="8229600" cy="5334000"/>
          </a:xfrm>
          <a:ln>
            <a:noFill/>
          </a:ln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               </a:t>
            </a:r>
            <a:r>
              <a:rPr lang="en-US" dirty="0">
                <a:solidFill>
                  <a:srgbClr val="92D050"/>
                </a:solidFill>
              </a:rPr>
              <a:t>547</a:t>
            </a:r>
            <a:r>
              <a:rPr lang="en-US" dirty="0"/>
              <a:t> 	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179" y="741028"/>
            <a:ext cx="6491316" cy="599999"/>
          </a:xfrm>
        </p:spPr>
        <p:txBody>
          <a:bodyPr/>
          <a:lstStyle/>
          <a:p>
            <a:r>
              <a:rPr lang="en-US" dirty="0"/>
              <a:t>POLYNOMIAL EVALUATION</a:t>
            </a:r>
          </a:p>
        </p:txBody>
      </p:sp>
      <p:sp>
        <p:nvSpPr>
          <p:cNvPr id="4" name="Line Callout 1 (No Border) 3"/>
          <p:cNvSpPr/>
          <p:nvPr/>
        </p:nvSpPr>
        <p:spPr>
          <a:xfrm>
            <a:off x="1975945" y="1209953"/>
            <a:ext cx="1828800" cy="1066800"/>
          </a:xfrm>
          <a:prstGeom prst="callout1">
            <a:avLst>
              <a:gd name="adj1" fmla="val 90372"/>
              <a:gd name="adj2" fmla="val 53904"/>
              <a:gd name="adj3" fmla="val 116199"/>
              <a:gd name="adj4" fmla="val 61079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Symbolic </a:t>
            </a:r>
            <a:r>
              <a:rPr lang="en-US" b="1" dirty="0">
                <a:solidFill>
                  <a:schemeClr val="tx1"/>
                </a:solidFill>
              </a:rPr>
              <a:t>representation</a:t>
            </a:r>
            <a:r>
              <a:rPr lang="en-US" dirty="0">
                <a:solidFill>
                  <a:schemeClr val="tx1"/>
                </a:solidFill>
              </a:rPr>
              <a:t> (</a:t>
            </a:r>
            <a:r>
              <a:rPr lang="en-US" i="1" dirty="0">
                <a:solidFill>
                  <a:schemeClr val="tx1"/>
                </a:solidFill>
              </a:rPr>
              <a:t>What we write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5" name="Line Callout 1 (No Border) 4"/>
          <p:cNvSpPr/>
          <p:nvPr/>
        </p:nvSpPr>
        <p:spPr>
          <a:xfrm>
            <a:off x="1596189" y="5448300"/>
            <a:ext cx="2810161" cy="533400"/>
          </a:xfrm>
          <a:prstGeom prst="callout1">
            <a:avLst>
              <a:gd name="adj1" fmla="val 55930"/>
              <a:gd name="adj2" fmla="val 91851"/>
              <a:gd name="adj3" fmla="val -42232"/>
              <a:gd name="adj4" fmla="val 135596"/>
            </a:avLst>
          </a:prstGeom>
          <a:noFill/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Numeric </a:t>
            </a:r>
            <a:r>
              <a:rPr lang="en-US" b="1" dirty="0">
                <a:solidFill>
                  <a:schemeClr val="tx1"/>
                </a:solidFill>
              </a:rPr>
              <a:t>interpretation</a:t>
            </a:r>
          </a:p>
          <a:p>
            <a:r>
              <a:rPr lang="en-US" dirty="0">
                <a:solidFill>
                  <a:schemeClr val="tx1"/>
                </a:solidFill>
              </a:rPr>
              <a:t>(</a:t>
            </a:r>
            <a:r>
              <a:rPr lang="en-US" i="1" dirty="0">
                <a:solidFill>
                  <a:schemeClr val="tx1"/>
                </a:solidFill>
              </a:rPr>
              <a:t>What we understand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</p:txBody>
      </p:sp>
      <p:sp>
        <p:nvSpPr>
          <p:cNvPr id="6" name="Line Callout 1 (No Border) 5"/>
          <p:cNvSpPr/>
          <p:nvPr/>
        </p:nvSpPr>
        <p:spPr>
          <a:xfrm>
            <a:off x="1967951" y="3413522"/>
            <a:ext cx="2460335" cy="792956"/>
          </a:xfrm>
          <a:prstGeom prst="callout1">
            <a:avLst>
              <a:gd name="adj1" fmla="val -12132"/>
              <a:gd name="adj2" fmla="val 63169"/>
              <a:gd name="adj3" fmla="val -51628"/>
              <a:gd name="adj4" fmla="val 69407"/>
            </a:avLst>
          </a:prstGeom>
          <a:noFill/>
          <a:ln w="28575">
            <a:solidFill>
              <a:schemeClr val="tx1"/>
            </a:solidFill>
            <a:tailEnd type="triangle" w="med" len="me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dirty="0">
                <a:solidFill>
                  <a:schemeClr val="tx1"/>
                </a:solidFill>
              </a:rPr>
              <a:t>Subscript indicate the radix (number base)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515524" y="1575631"/>
            <a:ext cx="27453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Digit values (coefficients)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53001" y="3135868"/>
            <a:ext cx="419858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Positional weights (powers of the radix)</a:t>
            </a:r>
          </a:p>
        </p:txBody>
      </p:sp>
      <p:cxnSp>
        <p:nvCxnSpPr>
          <p:cNvPr id="10" name="Straight Arrow Connector 9"/>
          <p:cNvCxnSpPr/>
          <p:nvPr/>
        </p:nvCxnSpPr>
        <p:spPr>
          <a:xfrm flipH="1">
            <a:off x="5255564" y="1954607"/>
            <a:ext cx="383236" cy="50228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6761747" y="1931746"/>
            <a:ext cx="20053" cy="52514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519737" y="1931746"/>
            <a:ext cx="701842" cy="554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Arrow Connector 21"/>
          <p:cNvCxnSpPr/>
          <p:nvPr/>
        </p:nvCxnSpPr>
        <p:spPr>
          <a:xfrm flipH="1" flipV="1">
            <a:off x="5921666" y="2807733"/>
            <a:ext cx="242539" cy="377365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Straight Arrow Connector 32"/>
          <p:cNvCxnSpPr/>
          <p:nvPr/>
        </p:nvCxnSpPr>
        <p:spPr>
          <a:xfrm flipV="1">
            <a:off x="7427495" y="2845055"/>
            <a:ext cx="0" cy="400273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Arrow Connector 35"/>
          <p:cNvCxnSpPr/>
          <p:nvPr/>
        </p:nvCxnSpPr>
        <p:spPr>
          <a:xfrm flipV="1">
            <a:off x="8199212" y="2859318"/>
            <a:ext cx="619936" cy="32578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4495800" y="2365815"/>
            <a:ext cx="4863832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>
                <a:sym typeface="Wingdings" panose="05000000000000000000" pitchFamily="2" charset="2"/>
              </a:rPr>
              <a:t></a:t>
            </a:r>
            <a:r>
              <a:rPr lang="en-US" sz="32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5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2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4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1</a:t>
            </a:r>
            <a:r>
              <a:rPr lang="en-US" sz="3200" dirty="0"/>
              <a:t> + </a:t>
            </a:r>
            <a:r>
              <a:rPr lang="en-US" sz="3200" dirty="0">
                <a:solidFill>
                  <a:srgbClr val="92D050"/>
                </a:solidFill>
              </a:rPr>
              <a:t>7</a:t>
            </a:r>
            <a:r>
              <a:rPr lang="en-US" sz="3200" dirty="0"/>
              <a:t>×</a:t>
            </a:r>
            <a:r>
              <a:rPr lang="en-US" sz="3200" dirty="0">
                <a:solidFill>
                  <a:srgbClr val="FF0000"/>
                </a:solidFill>
              </a:rPr>
              <a:t>10</a:t>
            </a:r>
            <a:r>
              <a:rPr lang="en-US" sz="3200" baseline="30000" dirty="0"/>
              <a:t>0</a:t>
            </a:r>
            <a:endParaRPr lang="en-US" sz="3200" dirty="0"/>
          </a:p>
        </p:txBody>
      </p:sp>
      <p:sp>
        <p:nvSpPr>
          <p:cNvPr id="15" name="TextBox 14"/>
          <p:cNvSpPr txBox="1"/>
          <p:nvPr/>
        </p:nvSpPr>
        <p:spPr>
          <a:xfrm>
            <a:off x="4724400" y="4221540"/>
            <a:ext cx="2840842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dirty="0"/>
              <a:t>= 500 + 40 + 7</a:t>
            </a:r>
          </a:p>
          <a:p>
            <a:r>
              <a:rPr lang="en-US" sz="3200" dirty="0"/>
              <a:t>= 547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08837" y="2645082"/>
            <a:ext cx="60960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solidFill>
                  <a:srgbClr val="FF0000"/>
                </a:solidFill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0" y="5476055"/>
            <a:ext cx="5023060" cy="923330"/>
          </a:xfrm>
          <a:prstGeom prst="rect">
            <a:avLst/>
          </a:prstGeom>
          <a:solidFill>
            <a:srgbClr val="FF00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US" dirty="0"/>
              <a:t>The result of polynomial evaluation </a:t>
            </a:r>
            <a:r>
              <a:rPr lang="en-US" b="1" dirty="0"/>
              <a:t>is always a decimal number</a:t>
            </a:r>
            <a:r>
              <a:rPr lang="en-US" dirty="0"/>
              <a:t>, regardless of the used </a:t>
            </a:r>
            <a:r>
              <a:rPr lang="en-US" b="1" dirty="0"/>
              <a:t>radix</a:t>
            </a:r>
            <a:r>
              <a:rPr lang="en-US" dirty="0"/>
              <a:t> used in the </a:t>
            </a:r>
            <a:r>
              <a:rPr lang="en-US" b="1" dirty="0"/>
              <a:t>original representation</a:t>
            </a:r>
            <a:r>
              <a:rPr lang="en-US" dirty="0"/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911931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dirty="0"/>
              <a:t>Examples</a:t>
            </a:r>
            <a:endParaRPr spc="-5" dirty="0"/>
          </a:p>
        </p:txBody>
      </p:sp>
    </p:spTree>
    <p:extLst>
      <p:ext uri="{BB962C8B-B14F-4D97-AF65-F5344CB8AC3E}">
        <p14:creationId xmlns:p14="http://schemas.microsoft.com/office/powerpoint/2010/main" val="3072078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4400" y="759911"/>
            <a:ext cx="8771021" cy="699921"/>
          </a:xfrm>
        </p:spPr>
        <p:txBody>
          <a:bodyPr>
            <a:normAutofit/>
          </a:bodyPr>
          <a:lstStyle/>
          <a:p>
            <a:r>
              <a:rPr lang="en-US" dirty="0"/>
              <a:t>Converting from </a:t>
            </a:r>
            <a:r>
              <a:rPr lang="en-US" i="1" dirty="0"/>
              <a:t>ANY</a:t>
            </a:r>
            <a:r>
              <a:rPr lang="en-US" dirty="0"/>
              <a:t> Radix to Decimal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14399" y="1712496"/>
            <a:ext cx="10403305" cy="49329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Example: Converting from Radix 5 to Decimal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3124</a:t>
            </a:r>
            <a:r>
              <a:rPr lang="en-US" b="1" baseline="-25000" dirty="0">
                <a:solidFill>
                  <a:srgbClr val="FF0000"/>
                </a:solidFill>
              </a:rPr>
              <a:t>5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/>
              <a:t> 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5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×125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×25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×5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375 + 25 + 10 + 4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414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5" name="TextBox 4"/>
          <p:cNvSpPr txBox="1"/>
          <p:nvPr/>
        </p:nvSpPr>
        <p:spPr>
          <a:xfrm>
            <a:off x="1868905" y="5931679"/>
            <a:ext cx="8742947" cy="707886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2000" dirty="0"/>
              <a:t>NOTE: Polynomial evaluation to </a:t>
            </a:r>
            <a:r>
              <a:rPr lang="en-US" sz="2000" b="1" dirty="0"/>
              <a:t>convert from ANY radix to decimal</a:t>
            </a:r>
            <a:r>
              <a:rPr lang="en-US" sz="2000" dirty="0"/>
              <a:t>. </a:t>
            </a:r>
          </a:p>
          <a:p>
            <a:r>
              <a:rPr lang="en-US" sz="2000" dirty="0"/>
              <a:t>The positional weights simply become powers of the radix.</a:t>
            </a:r>
          </a:p>
        </p:txBody>
      </p:sp>
    </p:spTree>
    <p:extLst>
      <p:ext uri="{BB962C8B-B14F-4D97-AF65-F5344CB8AC3E}">
        <p14:creationId xmlns:p14="http://schemas.microsoft.com/office/powerpoint/2010/main" val="300179467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156618"/>
            <a:ext cx="10417284" cy="383580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>
                <a:solidFill>
                  <a:srgbClr val="92D050"/>
                </a:solidFill>
              </a:rPr>
              <a:t>1011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>
                <a:solidFill>
                  <a:schemeClr val="tx1"/>
                </a:solidFill>
              </a:rPr>
              <a:t>	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	=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×8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8 + 2 + 1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	= 11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36516" y="759911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 BINARY TO DECIMAL</a:t>
            </a:r>
            <a:br>
              <a:rPr lang="en-US" dirty="0"/>
            </a:br>
            <a:r>
              <a:rPr lang="en-US" i="1" dirty="0"/>
              <a:t>(Using Polynomial Evaluation)</a:t>
            </a:r>
          </a:p>
        </p:txBody>
      </p:sp>
    </p:spTree>
    <p:extLst>
      <p:ext uri="{BB962C8B-B14F-4D97-AF65-F5344CB8AC3E}">
        <p14:creationId xmlns:p14="http://schemas.microsoft.com/office/powerpoint/2010/main" val="386957319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62527" y="2034259"/>
            <a:ext cx="10387262" cy="4611183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10.010111</a:t>
            </a:r>
            <a:r>
              <a:rPr lang="en-US" baseline="-25000" dirty="0">
                <a:solidFill>
                  <a:srgbClr val="FF0000"/>
                </a:solidFill>
              </a:rPr>
              <a:t>2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  <a:sym typeface="Wingdings"/>
              </a:rPr>
              <a:t></a:t>
            </a: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-6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/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/>
              <a:t>			=   </a:t>
            </a:r>
            <a:r>
              <a:rPr lang="en-US" dirty="0">
                <a:solidFill>
                  <a:schemeClr val="tx1"/>
                </a:solidFill>
              </a:rPr>
              <a:t>2 + 1/4  + 1/16  + 1/32 + 1/64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 + 0.25 + 0.0625 + 0.03125 + 0.015625</a:t>
            </a:r>
          </a:p>
          <a:p>
            <a:pPr marL="0" indent="0">
              <a:buNone/>
              <a:tabLst>
                <a:tab pos="690563" algn="l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690563" algn="l"/>
              </a:tabLst>
            </a:pPr>
            <a:r>
              <a:rPr lang="en-US" dirty="0">
                <a:solidFill>
                  <a:schemeClr val="tx1"/>
                </a:solidFill>
              </a:rPr>
              <a:t>			=  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962527" y="747880"/>
            <a:ext cx="9144000" cy="1028783"/>
          </a:xfrm>
        </p:spPr>
        <p:txBody>
          <a:bodyPr>
            <a:normAutofit fontScale="90000"/>
          </a:bodyPr>
          <a:lstStyle/>
          <a:p>
            <a:r>
              <a:rPr lang="en-US" dirty="0"/>
              <a:t>EXTENDING POLYNOMIAL EVALUATION</a:t>
            </a:r>
            <a:br>
              <a:rPr lang="en-US" dirty="0"/>
            </a:br>
            <a:r>
              <a:rPr lang="en-US" dirty="0"/>
              <a:t>TO NUMBERS WITH A FRACTIONAL PART</a:t>
            </a:r>
          </a:p>
        </p:txBody>
      </p:sp>
    </p:spTree>
    <p:extLst>
      <p:ext uri="{BB962C8B-B14F-4D97-AF65-F5344CB8AC3E}">
        <p14:creationId xmlns:p14="http://schemas.microsoft.com/office/powerpoint/2010/main" val="225070156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881474" y="1997593"/>
            <a:ext cx="8802568" cy="3409267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36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72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0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50" b="0" i="0" u="none" strike="noStrike" kern="1200" cap="none" spc="284" normalizeH="0" baseline="23391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</a:t>
            </a:r>
            <a:r>
              <a:rPr kumimoji="0" sz="2850" b="0" i="0" u="none" strike="noStrike" kern="1200" cap="none" spc="292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7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-2</a:t>
            </a:r>
            <a:br>
              <a:rPr kumimoji="0" lang="en-US" sz="2850" b="0" i="0" u="none" strike="noStrike" kern="1200" cap="none" spc="0" normalizeH="0" baseline="23391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</a:br>
            <a:endParaRPr kumimoji="0" lang="en-US" sz="2850" b="0" i="0" u="none" strike="noStrike" kern="1200" cap="none" spc="0" normalizeH="0" baseline="23391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102995" marR="0" lvl="0" indent="0" algn="l" defTabSz="914400" rtl="0" eaLnBrk="1" fontAlgn="auto" latinLnBrk="0" hangingPunct="1">
              <a:lnSpc>
                <a:spcPct val="100000"/>
              </a:lnSpc>
              <a:spcBef>
                <a:spcPts val="74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24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0.875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0.03125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</a:p>
          <a:p>
            <a:pPr marL="1045844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89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	30.90625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34452" y="737938"/>
            <a:ext cx="7996741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Radix</a:t>
            </a:r>
            <a:r>
              <a:rPr kumimoji="0" lang="en-US" sz="32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5907506" y="2117557"/>
            <a:ext cx="315983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92D050"/>
                </a:solidFill>
              </a:rPr>
              <a:t>Another fractional example</a:t>
            </a:r>
          </a:p>
        </p:txBody>
      </p:sp>
    </p:spTree>
    <p:extLst>
      <p:ext uri="{BB962C8B-B14F-4D97-AF65-F5344CB8AC3E}">
        <p14:creationId xmlns:p14="http://schemas.microsoft.com/office/powerpoint/2010/main" val="268547044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54493"/>
            <a:ext cx="4834631" cy="725391"/>
          </a:xfrm>
        </p:spPr>
        <p:txBody>
          <a:bodyPr>
            <a:normAutofit/>
          </a:bodyPr>
          <a:lstStyle/>
          <a:p>
            <a:r>
              <a:rPr lang="en-US" dirty="0"/>
              <a:t>AN EASIER METHOD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777432"/>
            <a:ext cx="10437337" cy="485196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	</a:t>
            </a:r>
            <a:r>
              <a:rPr lang="en-US" sz="2800" dirty="0"/>
              <a:t> </a:t>
            </a:r>
            <a:r>
              <a:rPr lang="en-US" sz="3200" dirty="0">
                <a:solidFill>
                  <a:srgbClr val="92D050"/>
                </a:solidFill>
              </a:rPr>
              <a:t>10.010111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</a:t>
            </a:r>
            <a:r>
              <a:rPr lang="en-US" sz="2800" dirty="0"/>
              <a:t>	</a:t>
            </a: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	</a:t>
            </a:r>
            <a:r>
              <a:rPr lang="en-US" dirty="0">
                <a:solidFill>
                  <a:schemeClr val="tx1"/>
                </a:solidFill>
              </a:rPr>
              <a:t>= (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5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)/</a:t>
            </a:r>
            <a:r>
              <a:rPr lang="en-US" dirty="0">
                <a:solidFill>
                  <a:srgbClr val="FF0000"/>
                </a:solidFill>
              </a:rPr>
              <a:t>2</a:t>
            </a:r>
            <a:r>
              <a:rPr lang="en-US" baseline="30000" dirty="0">
                <a:solidFill>
                  <a:schemeClr val="tx1"/>
                </a:solidFill>
              </a:rPr>
              <a:t>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(128 + 16 + 4 + 2 + 1)/64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151/64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	= 2.359375</a:t>
            </a:r>
            <a:r>
              <a:rPr lang="en-US" baseline="-25000" dirty="0">
                <a:solidFill>
                  <a:schemeClr val="tx1"/>
                </a:solidFill>
              </a:rPr>
              <a:t>10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2550694" y="2332719"/>
            <a:ext cx="978569" cy="0"/>
          </a:xfrm>
          <a:prstGeom prst="straightConnector1">
            <a:avLst/>
          </a:prstGeom>
          <a:ln w="28575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2096789" y="2362388"/>
            <a:ext cx="209544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6 fractional digits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9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>
            <a:off x="6096001" y="2070001"/>
            <a:ext cx="322847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>
                <a:sym typeface="Wingdings"/>
              </a:rPr>
              <a:t>= </a:t>
            </a:r>
            <a:r>
              <a:rPr lang="en-US" sz="3200" dirty="0">
                <a:solidFill>
                  <a:srgbClr val="92D050"/>
                </a:solidFill>
              </a:rPr>
              <a:t>10010111</a:t>
            </a:r>
            <a:r>
              <a:rPr lang="en-US" sz="3200" baseline="-25000" dirty="0">
                <a:solidFill>
                  <a:srgbClr val="FF0000"/>
                </a:solidFill>
              </a:rPr>
              <a:t>2</a:t>
            </a:r>
            <a:r>
              <a:rPr lang="en-US" sz="3200" dirty="0"/>
              <a:t> / </a:t>
            </a:r>
            <a:r>
              <a:rPr lang="en-US" sz="3200" b="1" dirty="0">
                <a:solidFill>
                  <a:srgbClr val="FF0000"/>
                </a:solidFill>
              </a:rPr>
              <a:t>2</a:t>
            </a:r>
            <a:r>
              <a:rPr lang="en-US" sz="3200" b="1" baseline="30000" dirty="0"/>
              <a:t>6</a:t>
            </a:r>
            <a:endParaRPr lang="en-US" sz="3200" b="1" dirty="0">
              <a:sym typeface="Wingdings" panose="05000000000000000000" pitchFamily="2" charset="2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8578517" y="4860758"/>
            <a:ext cx="220980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Only a single division!</a:t>
            </a:r>
          </a:p>
        </p:txBody>
      </p:sp>
      <p:pic>
        <p:nvPicPr>
          <p:cNvPr id="11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8673490" y="4936957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22876762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4537" y="725128"/>
            <a:ext cx="4979010" cy="638451"/>
          </a:xfrm>
        </p:spPr>
        <p:txBody>
          <a:bodyPr/>
          <a:lstStyle/>
          <a:p>
            <a:r>
              <a:rPr lang="en-US" dirty="0"/>
              <a:t>Converting Fractions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</p:spPr>
            <p:txBody>
              <a:bodyPr>
                <a:noAutofit/>
              </a:bodyPr>
              <a:lstStyle/>
              <a:p>
                <a:pPr marL="0" indent="0">
                  <a:buNone/>
                </a:pPr>
                <a:endParaRPr lang="en-US" sz="2800" dirty="0"/>
              </a:p>
              <a:p>
                <a:pPr marL="0" indent="0">
                  <a:buNone/>
                </a:pPr>
                <a:r>
                  <a:rPr lang="en-US" sz="2800" dirty="0">
                    <a:solidFill>
                      <a:schemeClr val="tx1"/>
                    </a:solidFill>
                  </a:rPr>
                  <a:t>Sometimes a fractional value has a </a:t>
                </a:r>
                <a:r>
                  <a:rPr lang="en-US" sz="2800" b="1" dirty="0">
                    <a:solidFill>
                      <a:srgbClr val="92D050"/>
                    </a:solidFill>
                  </a:rPr>
                  <a:t>finite representation </a:t>
                </a:r>
                <a:r>
                  <a:rPr lang="en-US" sz="2800" dirty="0">
                    <a:solidFill>
                      <a:schemeClr val="tx1"/>
                    </a:solidFill>
                  </a:rPr>
                  <a:t>in one number base, but not </a:t>
                </a:r>
                <a:r>
                  <a:rPr lang="en-US" sz="2800" dirty="0">
                    <a:solidFill>
                      <a:srgbClr val="FF0000"/>
                    </a:solidFill>
                  </a:rPr>
                  <a:t>in another</a:t>
                </a:r>
                <a:r>
                  <a:rPr lang="en-US" sz="2800" dirty="0"/>
                  <a:t>:</a:t>
                </a:r>
              </a:p>
              <a:p>
                <a:pPr marL="0" indent="0">
                  <a:buNone/>
                </a:pPr>
                <a:endParaRPr lang="en-US" sz="2800" dirty="0"/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/>
                  <a:t>		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3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3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.333333333333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  <a:p>
                <a:pPr marL="914400" indent="0">
                  <a:buNone/>
                  <a:tabLst>
                    <a:tab pos="2062163" algn="l"/>
                  </a:tabLst>
                </a:pPr>
                <a:r>
                  <a:rPr lang="en-US" sz="2800" dirty="0">
                    <a:solidFill>
                      <a:schemeClr val="tx1"/>
                    </a:solidFill>
                  </a:rPr>
                  <a:t>		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sz="28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sz="2800" dirty="0">
                    <a:solidFill>
                      <a:schemeClr val="tx1"/>
                    </a:solidFill>
                  </a:rPr>
                  <a:t> .0001100110011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⋯</m:t>
                        </m:r>
                      </m:e>
                      <m:sub>
                        <m:r>
                          <a:rPr lang="en-US" sz="28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endParaRPr lang="en-US" sz="28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44537" y="1491917"/>
                <a:ext cx="10393221" cy="5149515"/>
              </a:xfrm>
              <a:blipFill>
                <a:blip r:embed="rId2"/>
                <a:stretch>
                  <a:fillRect l="-1232" r="-140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043249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Representation Error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</p:spPr>
            <p:txBody>
              <a:bodyPr>
                <a:normAutofit/>
              </a:bodyPr>
              <a:lstStyle/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Computers store numbers using a </a:t>
                </a:r>
                <a:r>
                  <a:rPr lang="en-US" b="1" dirty="0">
                    <a:solidFill>
                      <a:srgbClr val="92D050"/>
                    </a:solidFill>
                  </a:rPr>
                  <a:t>fixed number of digits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Some values </a:t>
                </a:r>
                <a:r>
                  <a:rPr lang="en-US" b="1" dirty="0">
                    <a:solidFill>
                      <a:srgbClr val="FF0000"/>
                    </a:solidFill>
                  </a:rPr>
                  <a:t>does not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have a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finite</a:t>
                </a:r>
                <a:r>
                  <a:rPr lang="en-US" dirty="0"/>
                  <a:t> </a:t>
                </a:r>
                <a:r>
                  <a:rPr lang="en-US" dirty="0">
                    <a:solidFill>
                      <a:schemeClr val="tx1"/>
                    </a:solidFill>
                  </a:rPr>
                  <a:t>representation in binary (e.g.,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)</a:t>
                </a:r>
              </a:p>
              <a:p>
                <a:endParaRPr lang="en-US" dirty="0">
                  <a:solidFill>
                    <a:schemeClr val="tx1"/>
                  </a:solidFill>
                </a:endParaRPr>
              </a:p>
              <a:p>
                <a:r>
                  <a:rPr lang="en-US" dirty="0">
                    <a:solidFill>
                      <a:schemeClr val="tx1"/>
                    </a:solidFill>
                  </a:rPr>
                  <a:t>Limiting the number of digits</a:t>
                </a:r>
                <a:r>
                  <a:rPr lang="en-US" dirty="0"/>
                  <a:t> </a:t>
                </a:r>
                <a:r>
                  <a:rPr lang="en-US" b="1" dirty="0">
                    <a:solidFill>
                      <a:srgbClr val="FF0000"/>
                    </a:solidFill>
                  </a:rPr>
                  <a:t>introduces a representation error</a:t>
                </a:r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pPr marL="344488" indent="0">
                  <a:buNone/>
                </a:pPr>
                <a14:m>
                  <m:oMath xmlns:m="http://schemas.openxmlformats.org/officeDocument/2006/math">
                    <m:f>
                      <m:f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10</m:t>
                        </m:r>
                      </m:den>
                    </m:f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i="1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sSub>
                      <m:sSubPr>
                        <m:ctrlP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.1</m:t>
                        </m:r>
                      </m:e>
                      <m:sub>
                        <m:r>
                          <a:rPr lang="en-US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10</m:t>
                        </m:r>
                      </m:sub>
                    </m:sSub>
                    <m:r>
                      <a:rPr lang="en-US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≈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.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0001100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1</m:t>
                        </m:r>
                      </m:e>
                      <m:sub>
                        <m:r>
                          <a:rPr lang="en-US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solidFill>
                      <a:schemeClr val="tx1"/>
                    </a:solidFill>
                  </a:rPr>
                  <a:t> (8 bits) = .09765625</a:t>
                </a:r>
                <a:r>
                  <a:rPr lang="en-US" baseline="-25000" dirty="0">
                    <a:solidFill>
                      <a:schemeClr val="tx1"/>
                    </a:solidFill>
                  </a:rPr>
                  <a:t>10</a:t>
                </a:r>
                <a:endParaRPr lang="en-US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936516" y="1747543"/>
                <a:ext cx="10409263" cy="4873835"/>
              </a:xfrm>
              <a:blipFill>
                <a:blip r:embed="rId2"/>
                <a:stretch>
                  <a:fillRect l="-8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3420753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811200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7" y="1747543"/>
            <a:ext cx="5586996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to decimal using polynomial evaluation: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92D050"/>
                </a:solidFill>
              </a:rPr>
              <a:t>7676</a:t>
            </a:r>
            <a:r>
              <a:rPr lang="en-US" b="1" baseline="-25000" dirty="0">
                <a:solidFill>
                  <a:srgbClr val="FF0000"/>
                </a:solidFill>
              </a:rPr>
              <a:t>8 </a:t>
            </a:r>
            <a:r>
              <a:rPr lang="en-US" dirty="0">
                <a:solidFill>
                  <a:schemeClr val="tx1"/>
                </a:solidFill>
              </a:rPr>
              <a:t>= 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3</a:t>
            </a:r>
            <a:r>
              <a:rPr lang="en-US" dirty="0">
                <a:solidFill>
                  <a:schemeClr val="tx1"/>
                </a:solidFill>
              </a:rPr>
              <a:t>   +</a:t>
            </a:r>
            <a:r>
              <a:rPr lang="en-US" dirty="0"/>
              <a:t> 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2</a:t>
            </a:r>
            <a:r>
              <a:rPr lang="en-US" dirty="0">
                <a:solidFill>
                  <a:schemeClr val="tx1"/>
                </a:solidFill>
              </a:rPr>
              <a:t>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1</a:t>
            </a:r>
            <a:r>
              <a:rPr lang="en-US" dirty="0">
                <a:solidFill>
                  <a:schemeClr val="tx1"/>
                </a:solidFill>
              </a:rPr>
              <a:t>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</a:t>
            </a:r>
            <a:r>
              <a:rPr lang="en-US" b="1" dirty="0">
                <a:solidFill>
                  <a:srgbClr val="FF0000"/>
                </a:solidFill>
              </a:rPr>
              <a:t>8</a:t>
            </a:r>
            <a:r>
              <a:rPr lang="en-US" baseline="30000" dirty="0">
                <a:solidFill>
                  <a:schemeClr val="tx1"/>
                </a:solidFill>
              </a:rPr>
              <a:t>0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           </a:t>
            </a:r>
            <a:r>
              <a:rPr lang="en-US" dirty="0">
                <a:solidFill>
                  <a:schemeClr val="tx1"/>
                </a:solidFill>
              </a:rPr>
              <a:t>=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×512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×64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7</a:t>
            </a:r>
            <a:r>
              <a:rPr lang="en-US" dirty="0">
                <a:solidFill>
                  <a:schemeClr val="tx1"/>
                </a:solidFill>
              </a:rPr>
              <a:t>×8  +</a:t>
            </a:r>
            <a:r>
              <a:rPr lang="en-US" dirty="0"/>
              <a:t> </a:t>
            </a:r>
            <a:r>
              <a:rPr lang="en-US" dirty="0">
                <a:solidFill>
                  <a:srgbClr val="92D050"/>
                </a:solidFill>
              </a:rPr>
              <a:t>6</a:t>
            </a:r>
            <a:r>
              <a:rPr lang="en-US" dirty="0">
                <a:solidFill>
                  <a:schemeClr val="tx1"/>
                </a:solidFill>
              </a:rPr>
              <a:t>×1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3,584 + 384     + 56    + 6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           = 4,030</a:t>
            </a:r>
            <a:r>
              <a:rPr lang="en-US" b="1" baseline="-25000" dirty="0">
                <a:solidFill>
                  <a:srgbClr val="FF0000"/>
                </a:solidFill>
              </a:rPr>
              <a:t>10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B2E295CD-0798-431F-5E43-EA4F780C1C5A}"/>
              </a:ext>
            </a:extLst>
          </p:cNvPr>
          <p:cNvSpPr txBox="1">
            <a:spLocks/>
          </p:cNvSpPr>
          <p:nvPr/>
        </p:nvSpPr>
        <p:spPr>
          <a:xfrm>
            <a:off x="6306143" y="2163179"/>
            <a:ext cx="5586996" cy="48738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20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8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6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rgbClr val="B30738"/>
              </a:buClr>
              <a:buFont typeface="Arial" panose="020B0604020202020204" pitchFamily="34" charset="0"/>
              <a:buChar char="•"/>
              <a:defRPr sz="1400" b="0" i="0" kern="1200">
                <a:solidFill>
                  <a:schemeClr val="tx1">
                    <a:lumMod val="65000"/>
                    <a:lumOff val="35000"/>
                  </a:schemeClr>
                </a:solidFill>
                <a:latin typeface="Arial Narrow" panose="020B0604020202020204" pitchFamily="34" charset="0"/>
                <a:ea typeface="+mn-ea"/>
                <a:cs typeface="Arial Narrow" panose="020B0604020202020204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(unsigned) </a:t>
            </a:r>
            <a:r>
              <a:rPr lang="en-US" dirty="0">
                <a:solidFill>
                  <a:srgbClr val="92D050"/>
                </a:solidFill>
              </a:rPr>
              <a:t>1101 1111 1100 1011</a:t>
            </a:r>
            <a:r>
              <a:rPr lang="en-US" b="1" baseline="-25000" dirty="0">
                <a:solidFill>
                  <a:srgbClr val="FF0000"/>
                </a:solidFill>
              </a:rPr>
              <a:t>2 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8938374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E997E17-A395-4204-8197-0458962DE7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38402199-6E11-474E-9107-53D50ADDDDE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2: Unsigned Decimal to Binary Conversion</a:t>
            </a:r>
          </a:p>
        </p:txBody>
      </p:sp>
    </p:spTree>
    <p:extLst>
      <p:ext uri="{BB962C8B-B14F-4D97-AF65-F5344CB8AC3E}">
        <p14:creationId xmlns:p14="http://schemas.microsoft.com/office/powerpoint/2010/main" val="354157125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1" y="751090"/>
            <a:ext cx="671258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4160107" y="2140197"/>
            <a:ext cx="25336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97.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4590320" y="3348223"/>
            <a:ext cx="2761615" cy="7448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007744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multiplication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Repeated</a:t>
            </a:r>
            <a:r>
              <a:rPr kumimoji="0" sz="1400" b="0" i="0" u="none" strike="noStrike" kern="1200" cap="none" spc="-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1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Division</a:t>
            </a:r>
            <a:endParaRPr kumimoji="0" sz="1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322033" y="4706614"/>
            <a:ext cx="191833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5001876" y="2589241"/>
            <a:ext cx="786130" cy="2211705"/>
          </a:xfrm>
          <a:custGeom>
            <a:avLst/>
            <a:gdLst/>
            <a:ahLst/>
            <a:cxnLst/>
            <a:rect l="l" t="t" r="r" b="b"/>
            <a:pathLst>
              <a:path w="786130" h="2211704">
                <a:moveTo>
                  <a:pt x="6835" y="2110727"/>
                </a:moveTo>
                <a:lnTo>
                  <a:pt x="1676" y="2111752"/>
                </a:lnTo>
                <a:lnTo>
                  <a:pt x="0" y="2114259"/>
                </a:lnTo>
                <a:lnTo>
                  <a:pt x="19283" y="2211373"/>
                </a:lnTo>
                <a:lnTo>
                  <a:pt x="27903" y="2203954"/>
                </a:lnTo>
                <a:lnTo>
                  <a:pt x="26879" y="2203954"/>
                </a:lnTo>
                <a:lnTo>
                  <a:pt x="17874" y="2200849"/>
                </a:lnTo>
                <a:lnTo>
                  <a:pt x="23605" y="2184231"/>
                </a:lnTo>
                <a:lnTo>
                  <a:pt x="9342" y="2112403"/>
                </a:lnTo>
                <a:lnTo>
                  <a:pt x="6835" y="2110727"/>
                </a:lnTo>
                <a:close/>
              </a:path>
              <a:path w="786130" h="2211704">
                <a:moveTo>
                  <a:pt x="23605" y="2184231"/>
                </a:moveTo>
                <a:lnTo>
                  <a:pt x="17874" y="2200849"/>
                </a:lnTo>
                <a:lnTo>
                  <a:pt x="26879" y="2203954"/>
                </a:lnTo>
                <a:lnTo>
                  <a:pt x="27722" y="2201510"/>
                </a:lnTo>
                <a:lnTo>
                  <a:pt x="27036" y="2201510"/>
                </a:lnTo>
                <a:lnTo>
                  <a:pt x="19258" y="2198828"/>
                </a:lnTo>
                <a:lnTo>
                  <a:pt x="25446" y="2193502"/>
                </a:lnTo>
                <a:lnTo>
                  <a:pt x="23605" y="2184231"/>
                </a:lnTo>
                <a:close/>
              </a:path>
              <a:path w="786130" h="2211704">
                <a:moveTo>
                  <a:pt x="88113" y="2139566"/>
                </a:moveTo>
                <a:lnTo>
                  <a:pt x="32609" y="2187336"/>
                </a:lnTo>
                <a:lnTo>
                  <a:pt x="26879" y="2203954"/>
                </a:lnTo>
                <a:lnTo>
                  <a:pt x="27903" y="2203954"/>
                </a:lnTo>
                <a:lnTo>
                  <a:pt x="94327" y="2146785"/>
                </a:lnTo>
                <a:lnTo>
                  <a:pt x="94552" y="2143777"/>
                </a:lnTo>
                <a:lnTo>
                  <a:pt x="91120" y="2139791"/>
                </a:lnTo>
                <a:lnTo>
                  <a:pt x="88113" y="2139566"/>
                </a:lnTo>
                <a:close/>
              </a:path>
              <a:path w="786130" h="2211704">
                <a:moveTo>
                  <a:pt x="25446" y="2193502"/>
                </a:moveTo>
                <a:lnTo>
                  <a:pt x="19258" y="2198828"/>
                </a:lnTo>
                <a:lnTo>
                  <a:pt x="27036" y="2201510"/>
                </a:lnTo>
                <a:lnTo>
                  <a:pt x="25446" y="2193502"/>
                </a:lnTo>
                <a:close/>
              </a:path>
              <a:path w="786130" h="2211704">
                <a:moveTo>
                  <a:pt x="32609" y="2187336"/>
                </a:moveTo>
                <a:lnTo>
                  <a:pt x="25446" y="2193502"/>
                </a:lnTo>
                <a:lnTo>
                  <a:pt x="27036" y="2201510"/>
                </a:lnTo>
                <a:lnTo>
                  <a:pt x="27722" y="2201510"/>
                </a:lnTo>
                <a:lnTo>
                  <a:pt x="32609" y="2187336"/>
                </a:lnTo>
                <a:close/>
              </a:path>
              <a:path w="786130" h="2211704">
                <a:moveTo>
                  <a:pt x="776788" y="0"/>
                </a:moveTo>
                <a:lnTo>
                  <a:pt x="23605" y="2184231"/>
                </a:lnTo>
                <a:lnTo>
                  <a:pt x="25446" y="2193502"/>
                </a:lnTo>
                <a:lnTo>
                  <a:pt x="32609" y="2187336"/>
                </a:lnTo>
                <a:lnTo>
                  <a:pt x="785792" y="3105"/>
                </a:lnTo>
                <a:lnTo>
                  <a:pt x="77678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5945913" y="2581677"/>
            <a:ext cx="347345" cy="2219325"/>
          </a:xfrm>
          <a:custGeom>
            <a:avLst/>
            <a:gdLst/>
            <a:ahLst/>
            <a:cxnLst/>
            <a:rect l="l" t="t" r="r" b="b"/>
            <a:pathLst>
              <a:path w="347344" h="2219325">
                <a:moveTo>
                  <a:pt x="6019" y="2122628"/>
                </a:moveTo>
                <a:lnTo>
                  <a:pt x="1158" y="2124635"/>
                </a:lnTo>
                <a:lnTo>
                  <a:pt x="0" y="2127420"/>
                </a:lnTo>
                <a:lnTo>
                  <a:pt x="37783" y="2218938"/>
                </a:lnTo>
                <a:lnTo>
                  <a:pt x="44620" y="2210212"/>
                </a:lnTo>
                <a:lnTo>
                  <a:pt x="43789" y="2210212"/>
                </a:lnTo>
                <a:lnTo>
                  <a:pt x="34353" y="2208916"/>
                </a:lnTo>
                <a:lnTo>
                  <a:pt x="36749" y="2191475"/>
                </a:lnTo>
                <a:lnTo>
                  <a:pt x="8804" y="2123785"/>
                </a:lnTo>
                <a:lnTo>
                  <a:pt x="6019" y="2122628"/>
                </a:lnTo>
                <a:close/>
              </a:path>
              <a:path w="347344" h="2219325">
                <a:moveTo>
                  <a:pt x="36749" y="2191475"/>
                </a:moveTo>
                <a:lnTo>
                  <a:pt x="34353" y="2208916"/>
                </a:lnTo>
                <a:lnTo>
                  <a:pt x="43789" y="2210212"/>
                </a:lnTo>
                <a:lnTo>
                  <a:pt x="44126" y="2207757"/>
                </a:lnTo>
                <a:lnTo>
                  <a:pt x="43472" y="2207757"/>
                </a:lnTo>
                <a:lnTo>
                  <a:pt x="35321" y="2206637"/>
                </a:lnTo>
                <a:lnTo>
                  <a:pt x="40356" y="2200211"/>
                </a:lnTo>
                <a:lnTo>
                  <a:pt x="36749" y="2191475"/>
                </a:lnTo>
                <a:close/>
              </a:path>
              <a:path w="347344" h="2219325">
                <a:moveTo>
                  <a:pt x="94345" y="2134764"/>
                </a:moveTo>
                <a:lnTo>
                  <a:pt x="91352" y="2135127"/>
                </a:lnTo>
                <a:lnTo>
                  <a:pt x="46186" y="2192771"/>
                </a:lnTo>
                <a:lnTo>
                  <a:pt x="43789" y="2210212"/>
                </a:lnTo>
                <a:lnTo>
                  <a:pt x="44620" y="2210212"/>
                </a:lnTo>
                <a:lnTo>
                  <a:pt x="98849" y="2141001"/>
                </a:lnTo>
                <a:lnTo>
                  <a:pt x="98485" y="2138008"/>
                </a:lnTo>
                <a:lnTo>
                  <a:pt x="94345" y="2134764"/>
                </a:lnTo>
                <a:close/>
              </a:path>
              <a:path w="347344" h="2219325">
                <a:moveTo>
                  <a:pt x="40356" y="2200211"/>
                </a:moveTo>
                <a:lnTo>
                  <a:pt x="35321" y="2206637"/>
                </a:lnTo>
                <a:lnTo>
                  <a:pt x="43472" y="2207757"/>
                </a:lnTo>
                <a:lnTo>
                  <a:pt x="40356" y="2200211"/>
                </a:lnTo>
                <a:close/>
              </a:path>
              <a:path w="347344" h="2219325">
                <a:moveTo>
                  <a:pt x="46186" y="2192771"/>
                </a:moveTo>
                <a:lnTo>
                  <a:pt x="40356" y="2200211"/>
                </a:lnTo>
                <a:lnTo>
                  <a:pt x="43472" y="2207757"/>
                </a:lnTo>
                <a:lnTo>
                  <a:pt x="44126" y="2207757"/>
                </a:lnTo>
                <a:lnTo>
                  <a:pt x="46186" y="2192771"/>
                </a:lnTo>
                <a:close/>
              </a:path>
              <a:path w="347344" h="2219325">
                <a:moveTo>
                  <a:pt x="337868" y="0"/>
                </a:moveTo>
                <a:lnTo>
                  <a:pt x="36749" y="2191475"/>
                </a:lnTo>
                <a:lnTo>
                  <a:pt x="40356" y="2200211"/>
                </a:lnTo>
                <a:lnTo>
                  <a:pt x="46186" y="2192771"/>
                </a:lnTo>
                <a:lnTo>
                  <a:pt x="347304" y="1296"/>
                </a:lnTo>
                <a:lnTo>
                  <a:pt x="337868" y="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40014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49192"/>
            <a:ext cx="7461526" cy="1144151"/>
          </a:xfrm>
        </p:spPr>
        <p:txBody>
          <a:bodyPr>
            <a:normAutofit/>
          </a:bodyPr>
          <a:lstStyle/>
          <a:p>
            <a:r>
              <a:rPr lang="en-US" dirty="0"/>
              <a:t>UNSIGNED DECIMAL TO BINARY CONVERSION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7" y="2117559"/>
            <a:ext cx="10405252" cy="449980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b="1" i="1" dirty="0">
                <a:solidFill>
                  <a:schemeClr val="tx1"/>
                </a:solidFill>
              </a:rPr>
              <a:t>Separate problem into </a:t>
            </a:r>
            <a:r>
              <a:rPr lang="en-US" b="1" i="1" dirty="0">
                <a:solidFill>
                  <a:srgbClr val="00B0F0"/>
                </a:solidFill>
              </a:rPr>
              <a:t>two parts</a:t>
            </a:r>
            <a:r>
              <a:rPr lang="en-US" b="1" i="1" dirty="0"/>
              <a:t>: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92D050"/>
                </a:solidFill>
              </a:rPr>
              <a:t>Integer Part</a:t>
            </a:r>
            <a:r>
              <a:rPr lang="en-US" b="1" dirty="0">
                <a:solidFill>
                  <a:schemeClr val="tx1"/>
                </a:solidFill>
              </a:rPr>
              <a:t>: 		</a:t>
            </a:r>
            <a:r>
              <a:rPr lang="en-US" dirty="0">
                <a:solidFill>
                  <a:schemeClr val="tx1"/>
                </a:solidFill>
              </a:rPr>
              <a:t>Use repeated division </a:t>
            </a:r>
          </a:p>
          <a:p>
            <a:endParaRPr lang="en-US" b="1" dirty="0"/>
          </a:p>
          <a:p>
            <a:r>
              <a:rPr lang="en-US" b="1" dirty="0">
                <a:solidFill>
                  <a:srgbClr val="FF0000"/>
                </a:solidFill>
              </a:rPr>
              <a:t>Fractional Part</a:t>
            </a:r>
            <a:r>
              <a:rPr lang="en-US" b="1" dirty="0">
                <a:solidFill>
                  <a:schemeClr val="tx1"/>
                </a:solidFill>
              </a:rPr>
              <a:t>: 	</a:t>
            </a:r>
            <a:r>
              <a:rPr lang="en-US" dirty="0">
                <a:solidFill>
                  <a:schemeClr val="tx1"/>
                </a:solidFill>
              </a:rPr>
              <a:t>Use repeated multiplication</a:t>
            </a:r>
          </a:p>
        </p:txBody>
      </p:sp>
    </p:spTree>
    <p:extLst>
      <p:ext uri="{BB962C8B-B14F-4D97-AF65-F5344CB8AC3E}">
        <p14:creationId xmlns:p14="http://schemas.microsoft.com/office/powerpoint/2010/main" val="379627427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8546" y="1993233"/>
            <a:ext cx="10437337" cy="464819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914400" algn="l"/>
                <a:tab pos="1887538" algn="l"/>
                <a:tab pos="3716338" algn="l"/>
                <a:tab pos="6119813" algn="l"/>
              </a:tabLst>
            </a:pPr>
            <a:endParaRPr lang="en-US" u="sng" dirty="0"/>
          </a:p>
          <a:p>
            <a:pPr marL="0" indent="0">
              <a:buNone/>
              <a:tabLst>
                <a:tab pos="460375" algn="l"/>
                <a:tab pos="1427163" algn="l"/>
                <a:tab pos="2289175" algn="l"/>
                <a:tab pos="4340225" algn="l"/>
                <a:tab pos="6119813" algn="l"/>
              </a:tabLst>
            </a:pP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N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N÷</a:t>
            </a:r>
            <a:r>
              <a:rPr lang="en-US" u="sng" dirty="0">
                <a:solidFill>
                  <a:srgbClr val="00B0F0"/>
                </a:solidFill>
              </a:rPr>
              <a:t>2</a:t>
            </a:r>
            <a:r>
              <a:rPr lang="en-US" dirty="0"/>
              <a:t>	</a:t>
            </a:r>
            <a:r>
              <a:rPr lang="en-US" u="sng" dirty="0">
                <a:solidFill>
                  <a:schemeClr val="tx1"/>
                </a:solidFill>
              </a:rPr>
              <a:t>Remainder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u="sng" dirty="0">
                <a:solidFill>
                  <a:schemeClr val="tx1"/>
                </a:solidFill>
              </a:rPr>
              <a:t>Result</a:t>
            </a:r>
            <a:endParaRPr lang="en-US" dirty="0">
              <a:solidFill>
                <a:schemeClr val="tx1"/>
              </a:solidFill>
            </a:endParaRP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latin typeface="Consolas" panose="020B0609020204030204" pitchFamily="49" charset="0"/>
              </a:rPr>
              <a:t>	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13	6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6	3	0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3	1	1</a:t>
            </a:r>
          </a:p>
          <a:p>
            <a:pPr marL="0" indent="0" defTabSz="1608138">
              <a:spcBef>
                <a:spcPts val="600"/>
              </a:spcBef>
              <a:buNone/>
              <a:tabLst>
                <a:tab pos="460375" algn="l"/>
                <a:tab pos="1597025" algn="l"/>
                <a:tab pos="2795588" algn="l"/>
                <a:tab pos="4572000" algn="l"/>
                <a:tab pos="6119813" algn="l"/>
              </a:tabLst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 1	0	1</a:t>
            </a:r>
          </a:p>
          <a:p>
            <a:endParaRPr lang="en-US" dirty="0"/>
          </a:p>
        </p:txBody>
      </p:sp>
      <p:sp>
        <p:nvSpPr>
          <p:cNvPr id="4" name="TextBox 3"/>
          <p:cNvSpPr txBox="1"/>
          <p:nvPr/>
        </p:nvSpPr>
        <p:spPr>
          <a:xfrm>
            <a:off x="5829300" y="2736060"/>
            <a:ext cx="1596483" cy="18004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 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 101.</a:t>
            </a:r>
          </a:p>
          <a:p>
            <a:pPr marL="0" marR="0" lvl="0" indent="0" algn="l" defTabSz="1608138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>
                <a:tab pos="460375" algn="l"/>
                <a:tab pos="1717675" algn="l"/>
                <a:tab pos="3084513" algn="l"/>
                <a:tab pos="4572000" algn="l"/>
                <a:tab pos="6119813" algn="l"/>
              </a:tabLst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Consolas" panose="020B0609020204030204" pitchFamily="49" charset="0"/>
                <a:ea typeface="+mn-ea"/>
                <a:cs typeface="+mn-cs"/>
              </a:rPr>
              <a:t>1101.</a:t>
            </a:r>
          </a:p>
        </p:txBody>
      </p:sp>
      <p:sp>
        <p:nvSpPr>
          <p:cNvPr id="16" name="Right Brace 15"/>
          <p:cNvSpPr/>
          <p:nvPr/>
        </p:nvSpPr>
        <p:spPr>
          <a:xfrm>
            <a:off x="6768966" y="2817156"/>
            <a:ext cx="433039" cy="16383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1920798" y="3080657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639254" y="427048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TextBox 18"/>
          <p:cNvSpPr txBox="1"/>
          <p:nvPr/>
        </p:nvSpPr>
        <p:spPr>
          <a:xfrm>
            <a:off x="2037345" y="5110871"/>
            <a:ext cx="8642686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division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divide by the 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radix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51560" y="3118388"/>
            <a:ext cx="3573377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right-to-left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cxnSp>
        <p:nvCxnSpPr>
          <p:cNvPr id="17" name="Straight Arrow Connector 16"/>
          <p:cNvCxnSpPr/>
          <p:nvPr/>
        </p:nvCxnSpPr>
        <p:spPr>
          <a:xfrm>
            <a:off x="4639254" y="3031957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/>
          <p:cNvCxnSpPr/>
          <p:nvPr/>
        </p:nvCxnSpPr>
        <p:spPr>
          <a:xfrm>
            <a:off x="4639254" y="3424990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Arrow Connector 19"/>
          <p:cNvCxnSpPr/>
          <p:nvPr/>
        </p:nvCxnSpPr>
        <p:spPr>
          <a:xfrm>
            <a:off x="4640179" y="3846096"/>
            <a:ext cx="1066800" cy="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/>
          <p:cNvCxnSpPr/>
          <p:nvPr/>
        </p:nvCxnSpPr>
        <p:spPr>
          <a:xfrm flipH="1">
            <a:off x="1920798" y="3471111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/>
          <p:cNvCxnSpPr/>
          <p:nvPr/>
        </p:nvCxnSpPr>
        <p:spPr>
          <a:xfrm flipH="1">
            <a:off x="1920797" y="3861565"/>
            <a:ext cx="689517" cy="3810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55273"/>
            <a:ext cx="9515015" cy="1144151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sz="4000" dirty="0"/>
              <a:t>Method 1: </a:t>
            </a:r>
            <a:r>
              <a:rPr lang="en-US" sz="4000" dirty="0">
                <a:solidFill>
                  <a:srgbClr val="92D050"/>
                </a:solidFill>
              </a:rPr>
              <a:t>Integer Part </a:t>
            </a:r>
            <a:r>
              <a:rPr lang="en-US" sz="4000" dirty="0"/>
              <a:t>(Repeated Division)</a:t>
            </a:r>
          </a:p>
        </p:txBody>
      </p:sp>
      <p:sp>
        <p:nvSpPr>
          <p:cNvPr id="2" name="TextBox 1"/>
          <p:cNvSpPr txBox="1"/>
          <p:nvPr/>
        </p:nvSpPr>
        <p:spPr>
          <a:xfrm>
            <a:off x="2815771" y="4072146"/>
            <a:ext cx="8896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STOP</a:t>
            </a:r>
          </a:p>
        </p:txBody>
      </p:sp>
      <p:pic>
        <p:nvPicPr>
          <p:cNvPr id="2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478485" y="3213865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5215008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2" y="759958"/>
            <a:ext cx="10202779" cy="1143000"/>
          </a:xfrm>
        </p:spPr>
        <p:txBody>
          <a:bodyPr>
            <a:normAutofit fontScale="90000"/>
          </a:bodyPr>
          <a:lstStyle/>
          <a:p>
            <a:r>
              <a:rPr lang="en-US" dirty="0"/>
              <a:t>UNSIGNED DECIMAL TO BINARY</a:t>
            </a:r>
            <a:br>
              <a:rPr lang="en-US" dirty="0"/>
            </a:br>
            <a:r>
              <a:rPr lang="en-US" dirty="0"/>
              <a:t>Method 1: </a:t>
            </a:r>
            <a:r>
              <a:rPr lang="en-US" dirty="0">
                <a:solidFill>
                  <a:srgbClr val="FF0000"/>
                </a:solidFill>
              </a:rPr>
              <a:t>Fractional Part </a:t>
            </a:r>
            <a:r>
              <a:rPr lang="en-US" dirty="0"/>
              <a:t>(Repeated Multiplication)</a:t>
            </a:r>
            <a:endParaRPr lang="en-US" i="1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752600" y="2121577"/>
            <a:ext cx="8229600" cy="4525963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512763" algn="l"/>
                <a:tab pos="1828800" algn="l"/>
                <a:tab pos="2854325" algn="l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Product	</a:t>
            </a:r>
            <a:r>
              <a:rPr lang="en-US" b="1" dirty="0">
                <a:solidFill>
                  <a:schemeClr val="tx1"/>
                </a:solidFill>
              </a:rPr>
              <a:t>Whole</a:t>
            </a: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i="1" dirty="0">
                <a:solidFill>
                  <a:schemeClr val="tx1"/>
                </a:solidFill>
              </a:rPr>
              <a:t>Fractional</a:t>
            </a:r>
          </a:p>
          <a:p>
            <a:pPr marL="0" indent="0">
              <a:buNone/>
              <a:tabLst>
                <a:tab pos="631825" algn="l"/>
                <a:tab pos="2000250" algn="l"/>
                <a:tab pos="3203575" algn="l"/>
                <a:tab pos="4289425" algn="l"/>
              </a:tabLst>
            </a:pPr>
            <a:r>
              <a:rPr lang="en-US" u="sng" dirty="0">
                <a:solidFill>
                  <a:schemeClr val="tx1"/>
                </a:solidFill>
              </a:rPr>
              <a:t>N	(2×</a:t>
            </a:r>
            <a:r>
              <a:rPr lang="en-US" u="sng" dirty="0">
                <a:solidFill>
                  <a:srgbClr val="00B0F0"/>
                </a:solidFill>
              </a:rPr>
              <a:t>N</a:t>
            </a:r>
            <a:r>
              <a:rPr lang="en-US" u="sng" dirty="0">
                <a:solidFill>
                  <a:schemeClr val="tx1"/>
                </a:solidFill>
              </a:rPr>
              <a:t>)	</a:t>
            </a:r>
            <a:r>
              <a:rPr lang="en-US" b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</a:t>
            </a:r>
            <a:r>
              <a:rPr lang="en-US" i="1" u="sng" dirty="0">
                <a:solidFill>
                  <a:schemeClr val="tx1"/>
                </a:solidFill>
              </a:rPr>
              <a:t>Part</a:t>
            </a:r>
            <a:r>
              <a:rPr lang="en-US" u="sng" dirty="0">
                <a:solidFill>
                  <a:schemeClr val="tx1"/>
                </a:solidFill>
              </a:rPr>
              <a:t>	Result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.1	0.2	0	.2	.0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.2	0.4	0	.4	.00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.4	0.8	0	.8	.000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.8	1.6	1	.6	.0001</a:t>
            </a:r>
          </a:p>
          <a:p>
            <a:pPr marL="0" indent="0">
              <a:buNone/>
              <a:tabLst>
                <a:tab pos="803275" algn="l"/>
                <a:tab pos="2058988" algn="l"/>
                <a:tab pos="3255963" algn="l"/>
                <a:tab pos="4341813" algn="l"/>
                <a:tab pos="6400800" algn="l"/>
              </a:tabLst>
            </a:pPr>
            <a:r>
              <a:rPr lang="en-US" dirty="0">
                <a:solidFill>
                  <a:schemeClr val="tx1"/>
                </a:solidFill>
              </a:rPr>
              <a:t>.6	1.2	1	.2	.00011</a:t>
            </a:r>
          </a:p>
          <a:p>
            <a:endParaRPr lang="en-US" dirty="0"/>
          </a:p>
        </p:txBody>
      </p:sp>
      <p:sp>
        <p:nvSpPr>
          <p:cNvPr id="15" name="Arc 14"/>
          <p:cNvSpPr/>
          <p:nvPr/>
        </p:nvSpPr>
        <p:spPr>
          <a:xfrm>
            <a:off x="3962400" y="2883576"/>
            <a:ext cx="2362200" cy="838200"/>
          </a:xfrm>
          <a:prstGeom prst="arc">
            <a:avLst>
              <a:gd name="adj1" fmla="val 11322425"/>
              <a:gd name="adj2" fmla="val 21094993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Arc 15"/>
          <p:cNvSpPr/>
          <p:nvPr/>
        </p:nvSpPr>
        <p:spPr>
          <a:xfrm rot="10800000">
            <a:off x="1752600" y="2797394"/>
            <a:ext cx="3416708" cy="1143000"/>
          </a:xfrm>
          <a:prstGeom prst="arc">
            <a:avLst>
              <a:gd name="adj1" fmla="val 10849483"/>
              <a:gd name="adj2" fmla="val 20664556"/>
            </a:avLst>
          </a:prstGeom>
          <a:ln w="28575">
            <a:solidFill>
              <a:srgbClr val="FF0000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TextBox 10"/>
          <p:cNvSpPr txBox="1"/>
          <p:nvPr/>
        </p:nvSpPr>
        <p:spPr>
          <a:xfrm>
            <a:off x="1343526" y="5630077"/>
            <a:ext cx="10130589" cy="1015663"/>
          </a:xfrm>
          <a:prstGeom prst="rect">
            <a:avLst/>
          </a:prstGeom>
          <a:solidFill>
            <a:schemeClr val="bg2"/>
          </a:solidFill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NOTE: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Repeated multiplication may be used to convert from decimal to ANY radix.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Simply multiply by the.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527765" y="3620513"/>
            <a:ext cx="3946350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Digits are produced </a:t>
            </a:r>
            <a:r>
              <a:rPr kumimoji="0" lang="en-US" sz="18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left-to-right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starting from the radix point.</a:t>
            </a:r>
          </a:p>
        </p:txBody>
      </p:sp>
      <p:sp>
        <p:nvSpPr>
          <p:cNvPr id="13" name="Right Brace 12"/>
          <p:cNvSpPr/>
          <p:nvPr/>
        </p:nvSpPr>
        <p:spPr>
          <a:xfrm>
            <a:off x="6934201" y="3035976"/>
            <a:ext cx="433039" cy="2209800"/>
          </a:xfrm>
          <a:prstGeom prst="rightBrace">
            <a:avLst>
              <a:gd name="adj1" fmla="val 20602"/>
              <a:gd name="adj2" fmla="val 50000"/>
            </a:avLst>
          </a:prstGeom>
          <a:ln w="28575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 w="28575">
                <a:solidFill>
                  <a:srgbClr val="FF0000"/>
                </a:solidFill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TextBox 18"/>
          <p:cNvSpPr txBox="1"/>
          <p:nvPr/>
        </p:nvSpPr>
        <p:spPr>
          <a:xfrm>
            <a:off x="4267200" y="5245776"/>
            <a:ext cx="22098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Begins to repeat!</a:t>
            </a: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C00B9B93-6561-43F9-BFBE-F1A6EC5D5A32}"/>
              </a:ext>
            </a:extLst>
          </p:cNvPr>
          <p:cNvCxnSpPr/>
          <p:nvPr/>
        </p:nvCxnSpPr>
        <p:spPr>
          <a:xfrm flipH="1" flipV="1">
            <a:off x="2300177" y="3940395"/>
            <a:ext cx="2551814" cy="105551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12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7614091" y="3709244"/>
            <a:ext cx="971826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Rectangle 3"/>
          <p:cNvSpPr/>
          <p:nvPr/>
        </p:nvSpPr>
        <p:spPr>
          <a:xfrm>
            <a:off x="3505200" y="2095508"/>
            <a:ext cx="1112662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4617861" y="2097719"/>
            <a:ext cx="130969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/>
          <p:cNvSpPr/>
          <p:nvPr/>
        </p:nvSpPr>
        <p:spPr>
          <a:xfrm>
            <a:off x="2301520" y="2097719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/>
          <p:cNvSpPr/>
          <p:nvPr/>
        </p:nvSpPr>
        <p:spPr>
          <a:xfrm>
            <a:off x="5921282" y="2096485"/>
            <a:ext cx="1203679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Rectangle 19"/>
          <p:cNvSpPr/>
          <p:nvPr/>
        </p:nvSpPr>
        <p:spPr>
          <a:xfrm>
            <a:off x="1543270" y="2095507"/>
            <a:ext cx="756907" cy="814137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8530144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070" y="750972"/>
            <a:ext cx="10064793" cy="874598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2800" dirty="0"/>
              <a:t>Decimal</a:t>
            </a:r>
            <a:r>
              <a:rPr sz="2800" spc="-15" dirty="0"/>
              <a:t> </a:t>
            </a:r>
            <a:r>
              <a:rPr sz="2800" dirty="0"/>
              <a:t>to</a:t>
            </a:r>
            <a:r>
              <a:rPr sz="2800" spc="-20" dirty="0"/>
              <a:t> </a:t>
            </a:r>
            <a:r>
              <a:rPr sz="2800" spc="-5" dirty="0"/>
              <a:t>Binary</a:t>
            </a:r>
            <a:r>
              <a:rPr sz="2800" spc="-25" dirty="0"/>
              <a:t> </a:t>
            </a:r>
            <a:r>
              <a:rPr sz="2800" dirty="0"/>
              <a:t>Conversion</a:t>
            </a:r>
            <a:br>
              <a:rPr lang="en-US" sz="2800" dirty="0"/>
            </a:b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Whole</a:t>
            </a:r>
            <a:r>
              <a:rPr lang="en-US" sz="2800" spc="-2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Part:</a:t>
            </a:r>
            <a:r>
              <a:rPr lang="en-US" sz="2800" spc="-1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2800" spc="-10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2800" dirty="0">
                <a:solidFill>
                  <a:srgbClr val="FF0000"/>
                </a:solidFill>
                <a:latin typeface="Calibri"/>
                <a:cs typeface="Calibri"/>
              </a:rPr>
              <a:t>Division</a:t>
            </a:r>
            <a:r>
              <a:rPr lang="en-US" sz="28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1446413" y="1625570"/>
            <a:ext cx="6943090" cy="705962"/>
          </a:xfrm>
          <a:prstGeom prst="rect">
            <a:avLst/>
          </a:prstGeom>
        </p:spPr>
        <p:txBody>
          <a:bodyPr vert="horz" wrap="square" lIns="0" tIns="2724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17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97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50" b="0" i="0" u="none" strike="noStrike" kern="1200" cap="none" spc="27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736090" y="2647981"/>
          <a:ext cx="8538845" cy="327240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666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38201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899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61200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97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48,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15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LSB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90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69391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48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24,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24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12,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70916">
                <a:tc>
                  <a:txBody>
                    <a:bodyPr/>
                    <a:lstStyle/>
                    <a:p>
                      <a:pPr marR="18542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6,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70915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6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3,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9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0.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1430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69392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3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2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5" dirty="0">
                          <a:latin typeface="Calibri"/>
                          <a:cs typeface="Calibri"/>
                        </a:rPr>
                        <a:t>1,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1.</a:t>
                      </a:r>
                      <a:endParaRPr sz="280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61200">
                <a:tc>
                  <a:txBody>
                    <a:bodyPr/>
                    <a:lstStyle/>
                    <a:p>
                      <a:pPr marR="204470" algn="r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Symbol"/>
                          <a:cs typeface="Symbol"/>
                        </a:rPr>
                        <a:t></a:t>
                      </a:r>
                      <a:r>
                        <a:rPr sz="28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2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Wingdings"/>
                          <a:cs typeface="Wingdings"/>
                        </a:rPr>
                        <a:t></a:t>
                      </a:r>
                      <a:endParaRPr sz="2800">
                        <a:latin typeface="Wingdings"/>
                        <a:cs typeface="Wingdings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19304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quotient</a:t>
                      </a:r>
                      <a:r>
                        <a:rPr sz="2800" spc="-1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0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Stop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tc>
                  <a:txBody>
                    <a:bodyPr/>
                    <a:lstStyle/>
                    <a:p>
                      <a:pPr marL="468630">
                        <a:lnSpc>
                          <a:spcPct val="100000"/>
                        </a:lnSpc>
                        <a:spcBef>
                          <a:spcPts val="80"/>
                        </a:spcBef>
                      </a:pPr>
                      <a:r>
                        <a:rPr sz="2800" spc="-5" dirty="0">
                          <a:latin typeface="Calibri"/>
                          <a:cs typeface="Calibri"/>
                        </a:rPr>
                        <a:t>remainder</a:t>
                      </a:r>
                      <a:r>
                        <a:rPr sz="2800" spc="-2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=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dirty="0">
                          <a:latin typeface="Calibri"/>
                          <a:cs typeface="Calibri"/>
                        </a:rPr>
                        <a:t>1</a:t>
                      </a:r>
                      <a:r>
                        <a:rPr sz="2800" spc="-1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(</a:t>
                      </a:r>
                      <a:r>
                        <a:rPr sz="2800" spc="-5" dirty="0">
                          <a:solidFill>
                            <a:srgbClr val="FF0000"/>
                          </a:solidFill>
                          <a:latin typeface="Calibri"/>
                          <a:cs typeface="Calibri"/>
                        </a:rPr>
                        <a:t>MSB</a:t>
                      </a:r>
                      <a:r>
                        <a:rPr sz="2800" spc="-5" dirty="0">
                          <a:latin typeface="Calibri"/>
                          <a:cs typeface="Calibri"/>
                        </a:rPr>
                        <a:t>)</a:t>
                      </a:r>
                      <a:endParaRPr sz="2800" dirty="0">
                        <a:latin typeface="Calibri"/>
                        <a:cs typeface="Calibri"/>
                      </a:endParaRPr>
                    </a:p>
                  </a:txBody>
                  <a:tcPr marL="0" marR="0" marT="10160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5" name="object 5"/>
          <p:cNvSpPr txBox="1"/>
          <p:nvPr/>
        </p:nvSpPr>
        <p:spPr>
          <a:xfrm>
            <a:off x="4238164" y="5873842"/>
            <a:ext cx="118046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5649011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5910863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172714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34565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6696416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958267" y="5903559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7220118" y="5903559"/>
            <a:ext cx="30480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20467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278868212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bject 5"/>
          <p:cNvSpPr txBox="1"/>
          <p:nvPr/>
        </p:nvSpPr>
        <p:spPr>
          <a:xfrm>
            <a:off x="1844041" y="1895455"/>
            <a:ext cx="8575675" cy="4676920"/>
          </a:xfrm>
          <a:prstGeom prst="rect">
            <a:avLst/>
          </a:prstGeom>
        </p:spPr>
        <p:txBody>
          <a:bodyPr vert="horz" wrap="square" lIns="0" tIns="227329" rIns="0" bIns="0" rtlCol="0">
            <a:spAutoFit/>
          </a:bodyPr>
          <a:lstStyle/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148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66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75D175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.0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stop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42265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Another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0.5</a:t>
            </a:r>
            <a:r>
              <a:rPr kumimoji="0" sz="2850" b="0" i="0" u="none" strike="noStrike" kern="1200" cap="none" spc="-7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850" b="0" i="0" u="none" strike="noStrike" kern="1200" cap="none" spc="0" normalizeH="0" baseline="-17543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2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1904364" algn="l"/>
              </a:tabLst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2E2E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(stop),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351282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050" y="784710"/>
            <a:ext cx="10935108" cy="997709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3200" dirty="0"/>
              <a:t>Decimal</a:t>
            </a:r>
            <a:r>
              <a:rPr sz="3200" spc="-15" dirty="0"/>
              <a:t> </a:t>
            </a:r>
            <a:r>
              <a:rPr sz="3200" dirty="0"/>
              <a:t>to</a:t>
            </a:r>
            <a:r>
              <a:rPr sz="3200" spc="-20" dirty="0"/>
              <a:t> </a:t>
            </a:r>
            <a:r>
              <a:rPr sz="3200" spc="-5" dirty="0"/>
              <a:t>Binary</a:t>
            </a:r>
            <a:r>
              <a:rPr sz="3200" spc="-25" dirty="0"/>
              <a:t> </a:t>
            </a:r>
            <a:r>
              <a:rPr sz="3200" dirty="0"/>
              <a:t>Conversion</a:t>
            </a:r>
            <a:br>
              <a:rPr lang="en-US" sz="3200" dirty="0"/>
            </a:br>
            <a:r>
              <a:rPr lang="en-US" sz="3200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sz="3200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z="3200" dirty="0">
                <a:solidFill>
                  <a:srgbClr val="FF0000"/>
                </a:solidFill>
                <a:latin typeface="Calibri"/>
                <a:cs typeface="Calibri"/>
              </a:rPr>
              <a:t> Multiplication</a:t>
            </a:r>
            <a:r>
              <a:rPr lang="en-US" sz="3200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sz="3200" dirty="0"/>
          </a:p>
        </p:txBody>
      </p:sp>
      <p:sp>
        <p:nvSpPr>
          <p:cNvPr id="3" name="object 3"/>
          <p:cNvSpPr txBox="1"/>
          <p:nvPr/>
        </p:nvSpPr>
        <p:spPr>
          <a:xfrm>
            <a:off x="6481731" y="6122297"/>
            <a:ext cx="180340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6744354" y="6122296"/>
            <a:ext cx="413215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950961" y="4592184"/>
            <a:ext cx="564274" cy="41036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ts val="322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3366FF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211334" y="3003189"/>
            <a:ext cx="4192270" cy="651510"/>
          </a:xfrm>
          <a:custGeom>
            <a:avLst/>
            <a:gdLst/>
            <a:ahLst/>
            <a:cxnLst/>
            <a:rect l="l" t="t" r="r" b="b"/>
            <a:pathLst>
              <a:path w="4192270" h="651510">
                <a:moveTo>
                  <a:pt x="77452" y="552636"/>
                </a:moveTo>
                <a:lnTo>
                  <a:pt x="0" y="614315"/>
                </a:lnTo>
                <a:lnTo>
                  <a:pt x="91814" y="651375"/>
                </a:lnTo>
                <a:lnTo>
                  <a:pt x="94589" y="650195"/>
                </a:lnTo>
                <a:lnTo>
                  <a:pt x="96558" y="645317"/>
                </a:lnTo>
                <a:lnTo>
                  <a:pt x="95379" y="642542"/>
                </a:lnTo>
                <a:lnTo>
                  <a:pt x="33730" y="617659"/>
                </a:lnTo>
                <a:lnTo>
                  <a:pt x="10104" y="617659"/>
                </a:lnTo>
                <a:lnTo>
                  <a:pt x="8733" y="608233"/>
                </a:lnTo>
                <a:lnTo>
                  <a:pt x="26100" y="605707"/>
                </a:lnTo>
                <a:lnTo>
                  <a:pt x="83386" y="560087"/>
                </a:lnTo>
                <a:lnTo>
                  <a:pt x="83726" y="557090"/>
                </a:lnTo>
                <a:lnTo>
                  <a:pt x="80448" y="552975"/>
                </a:lnTo>
                <a:lnTo>
                  <a:pt x="77452" y="552636"/>
                </a:lnTo>
                <a:close/>
              </a:path>
              <a:path w="4192270" h="651510">
                <a:moveTo>
                  <a:pt x="26100" y="605707"/>
                </a:moveTo>
                <a:lnTo>
                  <a:pt x="8733" y="608233"/>
                </a:lnTo>
                <a:lnTo>
                  <a:pt x="10104" y="617659"/>
                </a:lnTo>
                <a:lnTo>
                  <a:pt x="16827" y="616681"/>
                </a:lnTo>
                <a:lnTo>
                  <a:pt x="12320" y="616681"/>
                </a:lnTo>
                <a:lnTo>
                  <a:pt x="11135" y="608539"/>
                </a:lnTo>
                <a:lnTo>
                  <a:pt x="22544" y="608539"/>
                </a:lnTo>
                <a:lnTo>
                  <a:pt x="26100" y="605707"/>
                </a:lnTo>
                <a:close/>
              </a:path>
              <a:path w="4192270" h="651510">
                <a:moveTo>
                  <a:pt x="27472" y="615133"/>
                </a:moveTo>
                <a:lnTo>
                  <a:pt x="10104" y="617659"/>
                </a:lnTo>
                <a:lnTo>
                  <a:pt x="33730" y="617659"/>
                </a:lnTo>
                <a:lnTo>
                  <a:pt x="27472" y="615133"/>
                </a:lnTo>
                <a:close/>
              </a:path>
              <a:path w="4192270" h="651510">
                <a:moveTo>
                  <a:pt x="11135" y="608539"/>
                </a:moveTo>
                <a:lnTo>
                  <a:pt x="12320" y="616681"/>
                </a:lnTo>
                <a:lnTo>
                  <a:pt x="18707" y="611595"/>
                </a:lnTo>
                <a:lnTo>
                  <a:pt x="11135" y="608539"/>
                </a:lnTo>
                <a:close/>
              </a:path>
              <a:path w="4192270" h="651510">
                <a:moveTo>
                  <a:pt x="18707" y="611595"/>
                </a:moveTo>
                <a:lnTo>
                  <a:pt x="12320" y="616681"/>
                </a:lnTo>
                <a:lnTo>
                  <a:pt x="16827" y="616681"/>
                </a:lnTo>
                <a:lnTo>
                  <a:pt x="27472" y="615133"/>
                </a:lnTo>
                <a:lnTo>
                  <a:pt x="18707" y="611595"/>
                </a:lnTo>
                <a:close/>
              </a:path>
              <a:path w="4192270" h="651510">
                <a:moveTo>
                  <a:pt x="4190336" y="0"/>
                </a:moveTo>
                <a:lnTo>
                  <a:pt x="26100" y="605707"/>
                </a:lnTo>
                <a:lnTo>
                  <a:pt x="18707" y="611595"/>
                </a:lnTo>
                <a:lnTo>
                  <a:pt x="27472" y="615133"/>
                </a:lnTo>
                <a:lnTo>
                  <a:pt x="4191707" y="9425"/>
                </a:lnTo>
                <a:lnTo>
                  <a:pt x="4190336" y="0"/>
                </a:lnTo>
                <a:close/>
              </a:path>
              <a:path w="4192270" h="651510">
                <a:moveTo>
                  <a:pt x="22544" y="608539"/>
                </a:moveTo>
                <a:lnTo>
                  <a:pt x="11135" y="608539"/>
                </a:lnTo>
                <a:lnTo>
                  <a:pt x="18707" y="611595"/>
                </a:lnTo>
                <a:lnTo>
                  <a:pt x="22544" y="60853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3722645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6102" y="751335"/>
            <a:ext cx="8228003" cy="112082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Decimal</a:t>
            </a:r>
            <a:r>
              <a:rPr spc="-15" dirty="0"/>
              <a:t> </a:t>
            </a:r>
            <a:r>
              <a:rPr dirty="0"/>
              <a:t>to</a:t>
            </a:r>
            <a:r>
              <a:rPr spc="-20" dirty="0"/>
              <a:t> </a:t>
            </a:r>
            <a:r>
              <a:rPr spc="-5" dirty="0"/>
              <a:t>Binary</a:t>
            </a:r>
            <a:r>
              <a:rPr spc="-25" dirty="0"/>
              <a:t> </a:t>
            </a:r>
            <a:r>
              <a:rPr dirty="0"/>
              <a:t>Conversion</a:t>
            </a:r>
            <a:br>
              <a:rPr lang="en-US" dirty="0"/>
            </a:br>
            <a:r>
              <a:rPr lang="en-US" spc="-5" dirty="0">
                <a:solidFill>
                  <a:srgbClr val="0000CC"/>
                </a:solidFill>
                <a:latin typeface="Calibri"/>
                <a:cs typeface="Calibri"/>
              </a:rPr>
              <a:t>(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Fractional Part: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spc="-5" dirty="0">
                <a:solidFill>
                  <a:srgbClr val="FF0000"/>
                </a:solidFill>
                <a:latin typeface="Calibri"/>
                <a:cs typeface="Calibri"/>
              </a:rPr>
              <a:t>Repeated</a:t>
            </a:r>
            <a:r>
              <a:rPr lang="en-US" spc="5" dirty="0">
                <a:solidFill>
                  <a:srgbClr val="FF0000"/>
                </a:solidFill>
                <a:latin typeface="Calibri"/>
                <a:cs typeface="Calibri"/>
              </a:rPr>
              <a:t> </a:t>
            </a:r>
            <a:r>
              <a:rPr lang="en-US" dirty="0">
                <a:solidFill>
                  <a:srgbClr val="FF0000"/>
                </a:solidFill>
                <a:latin typeface="Calibri"/>
                <a:cs typeface="Calibri"/>
              </a:rPr>
              <a:t>Multiplication</a:t>
            </a:r>
            <a:r>
              <a:rPr lang="en-US" dirty="0">
                <a:solidFill>
                  <a:srgbClr val="0000CC"/>
                </a:solidFill>
                <a:latin typeface="Calibri"/>
                <a:cs typeface="Calibri"/>
              </a:rPr>
              <a:t>)</a:t>
            </a:r>
            <a:endParaRPr dirty="0"/>
          </a:p>
        </p:txBody>
      </p:sp>
      <p:sp>
        <p:nvSpPr>
          <p:cNvPr id="4" name="object 4"/>
          <p:cNvSpPr txBox="1"/>
          <p:nvPr/>
        </p:nvSpPr>
        <p:spPr>
          <a:xfrm>
            <a:off x="2292985" y="2214493"/>
            <a:ext cx="12960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Symbol"/>
                <a:ea typeface="+mn-ea"/>
                <a:cs typeface="Symbol"/>
              </a:rPr>
              <a:t></a:t>
            </a:r>
            <a:r>
              <a:rPr kumimoji="0" sz="2800" b="0" i="0" u="none" strike="noStrike" kern="1200" cap="none" spc="-9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Wingdings"/>
              <a:ea typeface="+mn-ea"/>
              <a:cs typeface="Wingding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4117340" y="2214493"/>
            <a:ext cx="5702935" cy="3354070"/>
          </a:xfrm>
          <a:prstGeom prst="rect">
            <a:avLst/>
          </a:prstGeom>
        </p:spPr>
        <p:txBody>
          <a:bodyPr vert="horz" wrap="square" lIns="0" tIns="24701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0.4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.4,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0.8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.8,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1.6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.6,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9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1.2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(fractional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part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=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whole part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3581527" y="5569694"/>
            <a:ext cx="5027295" cy="1037590"/>
          </a:xfrm>
          <a:prstGeom prst="rect">
            <a:avLst/>
          </a:prstGeom>
        </p:spPr>
        <p:txBody>
          <a:bodyPr vert="horz" wrap="square" lIns="0" tIns="91440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7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.00011001100110011</a:t>
            </a:r>
            <a:r>
              <a:rPr kumimoji="0" sz="2850" b="0" i="0" u="none" strike="noStrike" kern="1200" cap="none" spc="0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…..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(How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much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 we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keep?)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2590778" y="28829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590778" y="48641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2590778" y="34925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2590778" y="4178314"/>
            <a:ext cx="1601470" cy="342900"/>
          </a:xfrm>
          <a:custGeom>
            <a:avLst/>
            <a:gdLst/>
            <a:ahLst/>
            <a:cxnLst/>
            <a:rect l="l" t="t" r="r" b="b"/>
            <a:pathLst>
              <a:path w="1601470" h="342900">
                <a:moveTo>
                  <a:pt x="74678" y="244472"/>
                </a:moveTo>
                <a:lnTo>
                  <a:pt x="0" y="309482"/>
                </a:lnTo>
                <a:lnTo>
                  <a:pt x="93348" y="342488"/>
                </a:lnTo>
                <a:lnTo>
                  <a:pt x="96069" y="341189"/>
                </a:lnTo>
                <a:lnTo>
                  <a:pt x="97822" y="336228"/>
                </a:lnTo>
                <a:lnTo>
                  <a:pt x="96523" y="333508"/>
                </a:lnTo>
                <a:lnTo>
                  <a:pt x="36827" y="312400"/>
                </a:lnTo>
                <a:lnTo>
                  <a:pt x="10132" y="312400"/>
                </a:lnTo>
                <a:lnTo>
                  <a:pt x="8350" y="303043"/>
                </a:lnTo>
                <a:lnTo>
                  <a:pt x="25699" y="299738"/>
                </a:lnTo>
                <a:lnTo>
                  <a:pt x="80932" y="251656"/>
                </a:lnTo>
                <a:lnTo>
                  <a:pt x="81141" y="248648"/>
                </a:lnTo>
                <a:lnTo>
                  <a:pt x="77687" y="244680"/>
                </a:lnTo>
                <a:lnTo>
                  <a:pt x="74678" y="244472"/>
                </a:lnTo>
                <a:close/>
              </a:path>
              <a:path w="1601470" h="342900">
                <a:moveTo>
                  <a:pt x="25699" y="299738"/>
                </a:moveTo>
                <a:lnTo>
                  <a:pt x="8350" y="303043"/>
                </a:lnTo>
                <a:lnTo>
                  <a:pt x="10132" y="312400"/>
                </a:lnTo>
                <a:lnTo>
                  <a:pt x="15879" y="311306"/>
                </a:lnTo>
                <a:lnTo>
                  <a:pt x="12411" y="311306"/>
                </a:lnTo>
                <a:lnTo>
                  <a:pt x="10872" y="303223"/>
                </a:lnTo>
                <a:lnTo>
                  <a:pt x="21696" y="303223"/>
                </a:lnTo>
                <a:lnTo>
                  <a:pt x="25699" y="299738"/>
                </a:lnTo>
                <a:close/>
              </a:path>
              <a:path w="1601470" h="342900">
                <a:moveTo>
                  <a:pt x="27481" y="309096"/>
                </a:moveTo>
                <a:lnTo>
                  <a:pt x="10132" y="312400"/>
                </a:lnTo>
                <a:lnTo>
                  <a:pt x="36827" y="312400"/>
                </a:lnTo>
                <a:lnTo>
                  <a:pt x="27481" y="309096"/>
                </a:lnTo>
                <a:close/>
              </a:path>
              <a:path w="1601470" h="342900">
                <a:moveTo>
                  <a:pt x="10872" y="303223"/>
                </a:moveTo>
                <a:lnTo>
                  <a:pt x="12411" y="311306"/>
                </a:lnTo>
                <a:lnTo>
                  <a:pt x="18569" y="305945"/>
                </a:lnTo>
                <a:lnTo>
                  <a:pt x="10872" y="303223"/>
                </a:lnTo>
                <a:close/>
              </a:path>
              <a:path w="1601470" h="342900">
                <a:moveTo>
                  <a:pt x="18569" y="305945"/>
                </a:moveTo>
                <a:lnTo>
                  <a:pt x="12411" y="311306"/>
                </a:lnTo>
                <a:lnTo>
                  <a:pt x="15879" y="311306"/>
                </a:lnTo>
                <a:lnTo>
                  <a:pt x="27481" y="309096"/>
                </a:lnTo>
                <a:lnTo>
                  <a:pt x="18569" y="305945"/>
                </a:lnTo>
                <a:close/>
              </a:path>
              <a:path w="1601470" h="342900">
                <a:moveTo>
                  <a:pt x="1599330" y="0"/>
                </a:moveTo>
                <a:lnTo>
                  <a:pt x="25699" y="299738"/>
                </a:lnTo>
                <a:lnTo>
                  <a:pt x="18569" y="305945"/>
                </a:lnTo>
                <a:lnTo>
                  <a:pt x="27481" y="309096"/>
                </a:lnTo>
                <a:lnTo>
                  <a:pt x="1601113" y="9357"/>
                </a:lnTo>
                <a:lnTo>
                  <a:pt x="1599330" y="0"/>
                </a:lnTo>
                <a:close/>
              </a:path>
              <a:path w="1601470" h="342900">
                <a:moveTo>
                  <a:pt x="21696" y="303223"/>
                </a:moveTo>
                <a:lnTo>
                  <a:pt x="10872" y="303223"/>
                </a:lnTo>
                <a:lnTo>
                  <a:pt x="18569" y="305945"/>
                </a:lnTo>
                <a:lnTo>
                  <a:pt x="21696" y="303223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0121717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6811505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65234"/>
            <a:ext cx="4826610" cy="626419"/>
          </a:xfrm>
        </p:spPr>
        <p:txBody>
          <a:bodyPr/>
          <a:lstStyle/>
          <a:p>
            <a:r>
              <a:rPr lang="en-US" dirty="0"/>
              <a:t>Group Work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747543"/>
            <a:ext cx="10409263" cy="4873835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repeated division &amp; repeated multiplication: 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>
              <a:solidFill>
                <a:srgbClr val="92D05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145 . 625</a:t>
            </a:r>
            <a:r>
              <a:rPr lang="en-US" b="1" baseline="-25000" dirty="0">
                <a:solidFill>
                  <a:srgbClr val="FF0000"/>
                </a:solidFill>
              </a:rPr>
              <a:t>10  </a:t>
            </a:r>
            <a:r>
              <a:rPr lang="en-US" b="1" dirty="0">
                <a:solidFill>
                  <a:srgbClr val="FF0000"/>
                </a:solidFill>
              </a:rPr>
              <a:t> = </a:t>
            </a:r>
            <a:r>
              <a:rPr lang="en-US" b="1" dirty="0">
                <a:solidFill>
                  <a:srgbClr val="92D050"/>
                </a:solidFill>
              </a:rPr>
              <a:t>1001 0001 . 1010 0000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br>
              <a:rPr lang="en-US" b="1" baseline="-25000" dirty="0">
                <a:solidFill>
                  <a:srgbClr val="FF0000"/>
                </a:solidFill>
              </a:rPr>
            </a:b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r>
              <a:rPr lang="en-US" dirty="0">
                <a:solidFill>
                  <a:srgbClr val="92D050"/>
                </a:solidFill>
              </a:rPr>
              <a:t>244 . 7534</a:t>
            </a:r>
            <a:r>
              <a:rPr lang="en-US" b="1" baseline="-25000" dirty="0">
                <a:solidFill>
                  <a:srgbClr val="FF0000"/>
                </a:solidFill>
              </a:rPr>
              <a:t>10 </a:t>
            </a:r>
            <a:r>
              <a:rPr lang="en-US" b="1" dirty="0">
                <a:solidFill>
                  <a:srgbClr val="FF0000"/>
                </a:solidFill>
              </a:rPr>
              <a:t>= </a:t>
            </a:r>
            <a:r>
              <a:rPr lang="en-US" b="1" dirty="0">
                <a:solidFill>
                  <a:srgbClr val="92D050"/>
                </a:solidFill>
              </a:rPr>
              <a:t>1111 0100 . 1100 0000</a:t>
            </a:r>
            <a:r>
              <a:rPr lang="en-US" b="1" baseline="-25000" dirty="0">
                <a:solidFill>
                  <a:srgbClr val="FF0000"/>
                </a:solidFill>
              </a:rPr>
              <a:t>2</a:t>
            </a: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0" indent="0">
              <a:buNone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b="1" baseline="-25000" dirty="0">
              <a:solidFill>
                <a:srgbClr val="FF0000"/>
              </a:solidFill>
            </a:endParaRPr>
          </a:p>
          <a:p>
            <a:pPr marL="457200" indent="-457200">
              <a:buFont typeface="+mj-lt"/>
              <a:buAutoNum type="arabicPeriod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54154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55F32B2-0513-439A-BE13-A91AA696955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D509549-6ABC-468B-8CD6-6EF5EF14AF8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4: Signed Number Conversions</a:t>
            </a:r>
          </a:p>
        </p:txBody>
      </p:sp>
    </p:spTree>
    <p:extLst>
      <p:ext uri="{BB962C8B-B14F-4D97-AF65-F5344CB8AC3E}">
        <p14:creationId xmlns:p14="http://schemas.microsoft.com/office/powerpoint/2010/main" val="242681572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9163" y="760073"/>
            <a:ext cx="45624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Two</a:t>
            </a:r>
            <a:r>
              <a:rPr spc="-70" dirty="0"/>
              <a:t> </a:t>
            </a:r>
            <a:r>
              <a:rPr dirty="0"/>
              <a:t>Interpretations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402839" y="2195712"/>
            <a:ext cx="4796056" cy="44371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286956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167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lang="en-US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14619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8663941" y="2119512"/>
            <a:ext cx="85280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-89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14619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3505199" y="2333128"/>
            <a:ext cx="1696453" cy="114299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14300" y="0"/>
                </a:moveTo>
                <a:lnTo>
                  <a:pt x="0" y="57150"/>
                </a:lnTo>
                <a:lnTo>
                  <a:pt x="114300" y="114300"/>
                </a:lnTo>
                <a:lnTo>
                  <a:pt x="114300" y="76200"/>
                </a:lnTo>
                <a:lnTo>
                  <a:pt x="95250" y="76200"/>
                </a:lnTo>
                <a:lnTo>
                  <a:pt x="95250" y="38100"/>
                </a:lnTo>
                <a:lnTo>
                  <a:pt x="114300" y="38099"/>
                </a:lnTo>
                <a:lnTo>
                  <a:pt x="114300" y="0"/>
                </a:lnTo>
                <a:close/>
              </a:path>
              <a:path w="1447800" h="114300">
                <a:moveTo>
                  <a:pt x="114300" y="38099"/>
                </a:moveTo>
                <a:lnTo>
                  <a:pt x="95250" y="38100"/>
                </a:lnTo>
                <a:lnTo>
                  <a:pt x="95250" y="76200"/>
                </a:lnTo>
                <a:lnTo>
                  <a:pt x="114300" y="76199"/>
                </a:lnTo>
                <a:lnTo>
                  <a:pt x="114300" y="38099"/>
                </a:lnTo>
                <a:close/>
              </a:path>
              <a:path w="1447800" h="114300">
                <a:moveTo>
                  <a:pt x="114300" y="76199"/>
                </a:moveTo>
                <a:lnTo>
                  <a:pt x="95250" y="76200"/>
                </a:lnTo>
                <a:lnTo>
                  <a:pt x="114300" y="76200"/>
                </a:lnTo>
                <a:close/>
              </a:path>
              <a:path w="1447800" h="114300">
                <a:moveTo>
                  <a:pt x="1447800" y="38098"/>
                </a:moveTo>
                <a:lnTo>
                  <a:pt x="114300" y="38099"/>
                </a:lnTo>
                <a:lnTo>
                  <a:pt x="114300" y="76199"/>
                </a:lnTo>
                <a:lnTo>
                  <a:pt x="1447800" y="76198"/>
                </a:lnTo>
                <a:lnTo>
                  <a:pt x="1447800" y="38098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6" name="object 6"/>
          <p:cNvSpPr/>
          <p:nvPr/>
        </p:nvSpPr>
        <p:spPr>
          <a:xfrm>
            <a:off x="7086600" y="2333127"/>
            <a:ext cx="1447800" cy="114300"/>
          </a:xfrm>
          <a:custGeom>
            <a:avLst/>
            <a:gdLst/>
            <a:ahLst/>
            <a:cxnLst/>
            <a:rect l="l" t="t" r="r" b="b"/>
            <a:pathLst>
              <a:path w="1447800" h="114300">
                <a:moveTo>
                  <a:pt x="1409700" y="38100"/>
                </a:moveTo>
                <a:lnTo>
                  <a:pt x="1352550" y="38100"/>
                </a:lnTo>
                <a:lnTo>
                  <a:pt x="1352550" y="76200"/>
                </a:lnTo>
                <a:lnTo>
                  <a:pt x="1333500" y="76200"/>
                </a:lnTo>
                <a:lnTo>
                  <a:pt x="1333500" y="114300"/>
                </a:lnTo>
                <a:lnTo>
                  <a:pt x="1447800" y="57150"/>
                </a:lnTo>
                <a:lnTo>
                  <a:pt x="1409700" y="38100"/>
                </a:lnTo>
                <a:close/>
              </a:path>
              <a:path w="1447800" h="114300">
                <a:moveTo>
                  <a:pt x="1333500" y="38100"/>
                </a:moveTo>
                <a:lnTo>
                  <a:pt x="0" y="38101"/>
                </a:lnTo>
                <a:lnTo>
                  <a:pt x="0" y="76201"/>
                </a:lnTo>
                <a:lnTo>
                  <a:pt x="1333500" y="76200"/>
                </a:lnTo>
                <a:lnTo>
                  <a:pt x="1333500" y="38100"/>
                </a:lnTo>
                <a:close/>
              </a:path>
              <a:path w="1447800" h="114300">
                <a:moveTo>
                  <a:pt x="1352550" y="38100"/>
                </a:moveTo>
                <a:lnTo>
                  <a:pt x="1333500" y="38100"/>
                </a:lnTo>
                <a:lnTo>
                  <a:pt x="1333500" y="76200"/>
                </a:lnTo>
                <a:lnTo>
                  <a:pt x="1352550" y="76200"/>
                </a:lnTo>
                <a:lnTo>
                  <a:pt x="1352550" y="38100"/>
                </a:lnTo>
                <a:close/>
              </a:path>
              <a:path w="1447800" h="114300">
                <a:moveTo>
                  <a:pt x="1333500" y="0"/>
                </a:moveTo>
                <a:lnTo>
                  <a:pt x="1333500" y="38100"/>
                </a:lnTo>
                <a:lnTo>
                  <a:pt x="1409700" y="38100"/>
                </a:lnTo>
                <a:lnTo>
                  <a:pt x="1333500" y="0"/>
                </a:lnTo>
                <a:close/>
              </a:path>
            </a:pathLst>
          </a:custGeom>
          <a:solidFill>
            <a:srgbClr val="0033CC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919163" y="3190321"/>
            <a:ext cx="10422605" cy="2809744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47434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vs.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matter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33CC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2857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Allowing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both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interpretations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why?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69900" marR="111125" lvl="0" indent="0" algn="l" defTabSz="914400" rtl="0" eaLnBrk="1" fontAlgn="auto" latinLnBrk="0" hangingPunct="1">
              <a:lnSpc>
                <a:spcPct val="99600"/>
              </a:lnSpc>
              <a:spcBef>
                <a:spcPts val="1764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Some data 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count,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age) can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never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, </a:t>
            </a:r>
            <a:b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having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greater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is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useful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507740" y="1738512"/>
            <a:ext cx="477837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374586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unsigned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signed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642048943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bject 9"/>
          <p:cNvSpPr/>
          <p:nvPr/>
        </p:nvSpPr>
        <p:spPr>
          <a:xfrm>
            <a:off x="5943600" y="2133600"/>
            <a:ext cx="4419600" cy="3886200"/>
          </a:xfrm>
          <a:custGeom>
            <a:avLst/>
            <a:gdLst/>
            <a:ahLst/>
            <a:cxnLst/>
            <a:rect l="l" t="t" r="r" b="b"/>
            <a:pathLst>
              <a:path w="4419600" h="3886200">
                <a:moveTo>
                  <a:pt x="0" y="0"/>
                </a:moveTo>
                <a:lnTo>
                  <a:pt x="4419600" y="0"/>
                </a:lnTo>
                <a:lnTo>
                  <a:pt x="4419600" y="3886200"/>
                </a:lnTo>
                <a:lnTo>
                  <a:pt x="0" y="3886200"/>
                </a:lnTo>
                <a:lnTo>
                  <a:pt x="0" y="0"/>
                </a:lnTo>
                <a:close/>
              </a:path>
            </a:pathLst>
          </a:custGeom>
          <a:ln w="952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970547" y="2133600"/>
            <a:ext cx="4896218" cy="2524409"/>
          </a:xfrm>
          <a:prstGeom prst="rect">
            <a:avLst/>
          </a:prstGeom>
          <a:ln w="9525">
            <a:solidFill>
              <a:srgbClr val="000000"/>
            </a:solidFill>
          </a:ln>
        </p:spPr>
        <p:txBody>
          <a:bodyPr vert="horz" wrap="square" lIns="0" tIns="122555" rIns="0" bIns="0" rtlCol="0">
            <a:spAutoFit/>
          </a:bodyPr>
          <a:lstStyle/>
          <a:p>
            <a:pPr marL="167640" marR="0" lvl="0" indent="0" algn="l" defTabSz="914400" rtl="0" eaLnBrk="1" fontAlgn="auto" latinLnBrk="0" hangingPunct="1">
              <a:lnSpc>
                <a:spcPct val="100000"/>
              </a:lnSpc>
              <a:spcBef>
                <a:spcPts val="9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Sign+Magnitude:</a:t>
            </a: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148205" marR="0" lvl="0" indent="0" algn="l" defTabSz="914400" rtl="0" eaLnBrk="1" fontAlgn="auto" latinLnBrk="0" hangingPunct="1">
              <a:lnSpc>
                <a:spcPct val="100000"/>
              </a:lnSpc>
              <a:spcBef>
                <a:spcPts val="13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Change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100" b="0" i="0" u="none" strike="noStrike" kern="1200" cap="none" spc="-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</a:t>
            </a:r>
            <a:r>
              <a:rPr kumimoji="0" lang="en-US" sz="21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(only)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85344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39763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426" y="735271"/>
            <a:ext cx="9045784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28725" marR="5080" indent="-1216025">
              <a:lnSpc>
                <a:spcPct val="100499"/>
              </a:lnSpc>
              <a:spcBef>
                <a:spcPts val="70"/>
              </a:spcBef>
            </a:pPr>
            <a:r>
              <a:rPr dirty="0"/>
              <a:t>Changing</a:t>
            </a:r>
            <a:r>
              <a:rPr spc="-20" dirty="0"/>
              <a:t> </a:t>
            </a:r>
            <a:r>
              <a:rPr dirty="0"/>
              <a:t>the</a:t>
            </a:r>
            <a:r>
              <a:rPr spc="-20" dirty="0"/>
              <a:t> </a:t>
            </a:r>
            <a:r>
              <a:rPr dirty="0"/>
              <a:t>Sign</a:t>
            </a:r>
            <a:r>
              <a:rPr lang="en-US" dirty="0"/>
              <a:t>s</a:t>
            </a:r>
            <a:endParaRPr spc="-5" dirty="0"/>
          </a:p>
        </p:txBody>
      </p:sp>
      <p:sp>
        <p:nvSpPr>
          <p:cNvPr id="3" name="object 3"/>
          <p:cNvSpPr/>
          <p:nvPr/>
        </p:nvSpPr>
        <p:spPr>
          <a:xfrm>
            <a:off x="2794584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082791" y="4209795"/>
            <a:ext cx="1603375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790575" marR="0" lvl="0" indent="0" algn="l" defTabSz="914400" rtl="0" eaLnBrk="1" fontAlgn="auto" latinLnBrk="0" hangingPunct="1">
              <a:lnSpc>
                <a:spcPts val="333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79450" marR="0" lvl="0" indent="0" algn="l" defTabSz="914400" rtl="0" eaLnBrk="1" fontAlgn="auto" latinLnBrk="0" hangingPunct="1">
              <a:lnSpc>
                <a:spcPts val="333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23315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+1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74740" y="2243836"/>
            <a:ext cx="3513454" cy="165417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2’s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Complement: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98500" marR="0" lvl="0" indent="0" algn="l" defTabSz="914400" rtl="0" eaLnBrk="1" fontAlgn="auto" latinLnBrk="0" hangingPunct="1">
              <a:lnSpc>
                <a:spcPct val="100000"/>
              </a:lnSpc>
              <a:spcBef>
                <a:spcPts val="203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0101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5080" lvl="0" indent="0" algn="r" defTabSz="914400" rtl="0" eaLnBrk="1" fontAlgn="auto" latinLnBrk="0" hangingPunct="1">
              <a:lnSpc>
                <a:spcPct val="100000"/>
              </a:lnSpc>
              <a:spcBef>
                <a:spcPts val="15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Invert</a:t>
            </a:r>
            <a:endParaRPr kumimoji="0" sz="21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8994141" y="4617169"/>
            <a:ext cx="1175385" cy="347345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</a:t>
            </a:r>
            <a:r>
              <a:rPr kumimoji="0" sz="21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</a:t>
            </a:r>
            <a:r>
              <a:rPr kumimoji="0" sz="21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remen</a:t>
            </a:r>
            <a:r>
              <a:rPr kumimoji="0" sz="21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</a:t>
            </a:r>
            <a:endParaRPr kumimoji="0" sz="21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3"/>
          <p:cNvSpPr/>
          <p:nvPr/>
        </p:nvSpPr>
        <p:spPr>
          <a:xfrm>
            <a:off x="846413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3" name="object 3"/>
          <p:cNvSpPr/>
          <p:nvPr/>
        </p:nvSpPr>
        <p:spPr>
          <a:xfrm>
            <a:off x="8262838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4" name="object 3"/>
          <p:cNvSpPr/>
          <p:nvPr/>
        </p:nvSpPr>
        <p:spPr>
          <a:xfrm>
            <a:off x="8072053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3"/>
          <p:cNvSpPr/>
          <p:nvPr/>
        </p:nvSpPr>
        <p:spPr>
          <a:xfrm>
            <a:off x="7896190" y="3395804"/>
            <a:ext cx="85725" cy="762000"/>
          </a:xfrm>
          <a:custGeom>
            <a:avLst/>
            <a:gdLst/>
            <a:ahLst/>
            <a:cxnLst/>
            <a:rect l="l" t="t" r="r" b="b"/>
            <a:pathLst>
              <a:path w="85725" h="762000">
                <a:moveTo>
                  <a:pt x="28574" y="676275"/>
                </a:moveTo>
                <a:lnTo>
                  <a:pt x="0" y="676275"/>
                </a:lnTo>
                <a:lnTo>
                  <a:pt x="42862" y="762000"/>
                </a:lnTo>
                <a:lnTo>
                  <a:pt x="78581" y="690562"/>
                </a:lnTo>
                <a:lnTo>
                  <a:pt x="28575" y="690562"/>
                </a:lnTo>
                <a:lnTo>
                  <a:pt x="28574" y="676275"/>
                </a:lnTo>
                <a:close/>
              </a:path>
              <a:path w="85725" h="762000">
                <a:moveTo>
                  <a:pt x="57148" y="0"/>
                </a:moveTo>
                <a:lnTo>
                  <a:pt x="28573" y="0"/>
                </a:lnTo>
                <a:lnTo>
                  <a:pt x="28575" y="690562"/>
                </a:lnTo>
                <a:lnTo>
                  <a:pt x="57150" y="690562"/>
                </a:lnTo>
                <a:lnTo>
                  <a:pt x="57148" y="0"/>
                </a:lnTo>
                <a:close/>
              </a:path>
              <a:path w="85725" h="762000">
                <a:moveTo>
                  <a:pt x="85725" y="676275"/>
                </a:moveTo>
                <a:lnTo>
                  <a:pt x="57149" y="676275"/>
                </a:lnTo>
                <a:lnTo>
                  <a:pt x="57150" y="690562"/>
                </a:lnTo>
                <a:lnTo>
                  <a:pt x="78581" y="690562"/>
                </a:lnTo>
                <a:lnTo>
                  <a:pt x="85725" y="676275"/>
                </a:lnTo>
                <a:close/>
              </a:path>
            </a:pathLst>
          </a:custGeom>
          <a:solidFill>
            <a:srgbClr val="FF0000"/>
          </a:solidFill>
          <a:ln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894909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135" y="734246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1)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0" y="2472435"/>
            <a:ext cx="173355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+4</a:t>
            </a: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4" name="object 4"/>
          <p:cNvGrpSpPr/>
          <p:nvPr/>
        </p:nvGrpSpPr>
        <p:grpSpPr>
          <a:xfrm>
            <a:off x="6248400" y="2967037"/>
            <a:ext cx="457200" cy="1376680"/>
            <a:chOff x="4724400" y="2967037"/>
            <a:chExt cx="457200" cy="1376680"/>
          </a:xfrm>
        </p:grpSpPr>
        <p:sp>
          <p:nvSpPr>
            <p:cNvPr id="5" name="object 5"/>
            <p:cNvSpPr/>
            <p:nvPr/>
          </p:nvSpPr>
          <p:spPr>
            <a:xfrm>
              <a:off x="4724400" y="2971800"/>
              <a:ext cx="457200" cy="0"/>
            </a:xfrm>
            <a:custGeom>
              <a:avLst/>
              <a:gdLst/>
              <a:ahLst/>
              <a:cxnLst/>
              <a:rect l="l" t="t" r="r" b="b"/>
              <a:pathLst>
                <a:path w="457200">
                  <a:moveTo>
                    <a:pt x="0" y="0"/>
                  </a:moveTo>
                  <a:lnTo>
                    <a:pt x="4572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6" name="object 6"/>
            <p:cNvSpPr/>
            <p:nvPr/>
          </p:nvSpPr>
          <p:spPr>
            <a:xfrm>
              <a:off x="49101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7" name="object 7"/>
          <p:cNvSpPr/>
          <p:nvPr/>
        </p:nvSpPr>
        <p:spPr>
          <a:xfrm>
            <a:off x="60531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5142866" y="3542284"/>
            <a:ext cx="1603375" cy="1299845"/>
          </a:xfrm>
          <a:prstGeom prst="rect">
            <a:avLst/>
          </a:prstGeom>
        </p:spPr>
        <p:txBody>
          <a:bodyPr vert="horz" wrap="square" lIns="0" tIns="222885" rIns="0" bIns="0" rtlCol="0">
            <a:spAutoFit/>
          </a:bodyPr>
          <a:lstStyle/>
          <a:p>
            <a:pPr marL="0" marR="32384" lvl="0" indent="0" algn="r" defTabSz="914400" rtl="0" eaLnBrk="1" fontAlgn="auto" latinLnBrk="0" hangingPunct="1">
              <a:lnSpc>
                <a:spcPct val="100000"/>
              </a:lnSpc>
              <a:spcBef>
                <a:spcPts val="1755"/>
              </a:spcBef>
              <a:spcAft>
                <a:spcPts val="0"/>
              </a:spcAft>
              <a:buClrTx/>
              <a:buSzTx/>
              <a:buFontTx/>
              <a:buNone/>
              <a:tabLst>
                <a:tab pos="456565" algn="l"/>
              </a:tabLst>
              <a:defRPr/>
            </a:pPr>
            <a:r>
              <a:rPr kumimoji="0" sz="2800" b="0" i="0" u="sng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-4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269931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6124" y="770178"/>
            <a:ext cx="748284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>
                <a:solidFill>
                  <a:srgbClr val="92D050"/>
                </a:solidFill>
              </a:rPr>
              <a:t>Easier</a:t>
            </a:r>
            <a:r>
              <a:rPr spc="-5" dirty="0"/>
              <a:t> Hand </a:t>
            </a:r>
            <a:r>
              <a:rPr dirty="0"/>
              <a:t>Method</a:t>
            </a:r>
            <a:r>
              <a:rPr spc="-5" dirty="0"/>
              <a:t> (example 2)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5031741" y="2472435"/>
            <a:ext cx="1734185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142865" y="4389627"/>
            <a:ext cx="1604010" cy="4521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-5</a:t>
            </a:r>
            <a:r>
              <a:rPr kumimoji="0" sz="28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grpSp>
        <p:nvGrpSpPr>
          <p:cNvPr id="5" name="object 5"/>
          <p:cNvGrpSpPr/>
          <p:nvPr/>
        </p:nvGrpSpPr>
        <p:grpSpPr>
          <a:xfrm>
            <a:off x="6553200" y="2967038"/>
            <a:ext cx="228600" cy="1381125"/>
            <a:chOff x="5029200" y="2967037"/>
            <a:chExt cx="228600" cy="1381125"/>
          </a:xfrm>
        </p:grpSpPr>
        <p:sp>
          <p:nvSpPr>
            <p:cNvPr id="6" name="object 6"/>
            <p:cNvSpPr/>
            <p:nvPr/>
          </p:nvSpPr>
          <p:spPr>
            <a:xfrm>
              <a:off x="5029200" y="2971800"/>
              <a:ext cx="228600" cy="0"/>
            </a:xfrm>
            <a:custGeom>
              <a:avLst/>
              <a:gdLst/>
              <a:ahLst/>
              <a:cxnLst/>
              <a:rect l="l" t="t" r="r" b="b"/>
              <a:pathLst>
                <a:path w="228600">
                  <a:moveTo>
                    <a:pt x="0" y="0"/>
                  </a:moveTo>
                  <a:lnTo>
                    <a:pt x="2286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7" name="object 7"/>
            <p:cNvSpPr/>
            <p:nvPr/>
          </p:nvSpPr>
          <p:spPr>
            <a:xfrm>
              <a:off x="5029200" y="4343400"/>
              <a:ext cx="152400" cy="0"/>
            </a:xfrm>
            <a:custGeom>
              <a:avLst/>
              <a:gdLst/>
              <a:ahLst/>
              <a:cxnLst/>
              <a:rect l="l" t="t" r="r" b="b"/>
              <a:pathLst>
                <a:path w="152400">
                  <a:moveTo>
                    <a:pt x="0" y="0"/>
                  </a:moveTo>
                  <a:lnTo>
                    <a:pt x="152400" y="1"/>
                  </a:lnTo>
                </a:path>
              </a:pathLst>
            </a:custGeom>
            <a:ln w="9525">
              <a:solidFill>
                <a:srgbClr val="8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5062538" y="2971800"/>
              <a:ext cx="85725" cy="1371600"/>
            </a:xfrm>
            <a:custGeom>
              <a:avLst/>
              <a:gdLst/>
              <a:ahLst/>
              <a:cxnLst/>
              <a:rect l="l" t="t" r="r" b="b"/>
              <a:pathLst>
                <a:path w="85725" h="1371600">
                  <a:moveTo>
                    <a:pt x="28574" y="1285875"/>
                  </a:moveTo>
                  <a:lnTo>
                    <a:pt x="0" y="1285875"/>
                  </a:lnTo>
                  <a:lnTo>
                    <a:pt x="42862" y="1371600"/>
                  </a:lnTo>
                  <a:lnTo>
                    <a:pt x="78580" y="1300163"/>
                  </a:lnTo>
                  <a:lnTo>
                    <a:pt x="28575" y="1300163"/>
                  </a:lnTo>
                  <a:lnTo>
                    <a:pt x="28574" y="1285875"/>
                  </a:lnTo>
                  <a:close/>
                </a:path>
                <a:path w="85725" h="1371600">
                  <a:moveTo>
                    <a:pt x="57148" y="0"/>
                  </a:moveTo>
                  <a:lnTo>
                    <a:pt x="28573" y="0"/>
                  </a:lnTo>
                  <a:lnTo>
                    <a:pt x="28575" y="1300163"/>
                  </a:lnTo>
                  <a:lnTo>
                    <a:pt x="57150" y="1300163"/>
                  </a:lnTo>
                  <a:lnTo>
                    <a:pt x="57148" y="0"/>
                  </a:lnTo>
                  <a:close/>
                </a:path>
                <a:path w="85725" h="1371600">
                  <a:moveTo>
                    <a:pt x="85725" y="1285875"/>
                  </a:moveTo>
                  <a:lnTo>
                    <a:pt x="57149" y="1285875"/>
                  </a:lnTo>
                  <a:lnTo>
                    <a:pt x="57150" y="1300163"/>
                  </a:lnTo>
                  <a:lnTo>
                    <a:pt x="78580" y="1300163"/>
                  </a:lnTo>
                  <a:lnTo>
                    <a:pt x="85725" y="1285875"/>
                  </a:lnTo>
                  <a:close/>
                </a:path>
              </a:pathLst>
            </a:custGeom>
            <a:solidFill>
              <a:srgbClr val="C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9" name="object 9"/>
          <p:cNvSpPr/>
          <p:nvPr/>
        </p:nvSpPr>
        <p:spPr>
          <a:xfrm>
            <a:off x="6205539" y="2971800"/>
            <a:ext cx="85725" cy="1371600"/>
          </a:xfrm>
          <a:custGeom>
            <a:avLst/>
            <a:gdLst/>
            <a:ahLst/>
            <a:cxnLst/>
            <a:rect l="l" t="t" r="r" b="b"/>
            <a:pathLst>
              <a:path w="85725" h="1371600">
                <a:moveTo>
                  <a:pt x="28574" y="1285875"/>
                </a:moveTo>
                <a:lnTo>
                  <a:pt x="0" y="1285875"/>
                </a:lnTo>
                <a:lnTo>
                  <a:pt x="42862" y="1371600"/>
                </a:lnTo>
                <a:lnTo>
                  <a:pt x="78580" y="1300163"/>
                </a:lnTo>
                <a:lnTo>
                  <a:pt x="28575" y="1300163"/>
                </a:lnTo>
                <a:lnTo>
                  <a:pt x="28574" y="1285875"/>
                </a:lnTo>
                <a:close/>
              </a:path>
              <a:path w="85725" h="1371600">
                <a:moveTo>
                  <a:pt x="57148" y="0"/>
                </a:moveTo>
                <a:lnTo>
                  <a:pt x="28573" y="0"/>
                </a:lnTo>
                <a:lnTo>
                  <a:pt x="28575" y="1300163"/>
                </a:lnTo>
                <a:lnTo>
                  <a:pt x="57150" y="1300163"/>
                </a:lnTo>
                <a:lnTo>
                  <a:pt x="57148" y="0"/>
                </a:lnTo>
                <a:close/>
              </a:path>
              <a:path w="85725" h="1371600">
                <a:moveTo>
                  <a:pt x="85725" y="1285875"/>
                </a:moveTo>
                <a:lnTo>
                  <a:pt x="57149" y="1285875"/>
                </a:lnTo>
                <a:lnTo>
                  <a:pt x="57150" y="1300163"/>
                </a:lnTo>
                <a:lnTo>
                  <a:pt x="78580" y="1300163"/>
                </a:lnTo>
                <a:lnTo>
                  <a:pt x="85725" y="1285875"/>
                </a:lnTo>
                <a:close/>
              </a:path>
            </a:pathLst>
          </a:custGeom>
          <a:solidFill>
            <a:srgbClr val="00B05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5" name="object 9"/>
          <p:cNvSpPr txBox="1"/>
          <p:nvPr/>
        </p:nvSpPr>
        <p:spPr>
          <a:xfrm>
            <a:off x="7675563" y="2360140"/>
            <a:ext cx="3871627" cy="2194190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Step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>
                  <a:solidFill>
                    <a:srgbClr val="C00000"/>
                  </a:solidFill>
                </a:uFill>
                <a:latin typeface="Tahoma"/>
                <a:ea typeface="+mn-ea"/>
                <a:cs typeface="Tahoma"/>
              </a:rPr>
              <a:t>1: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C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  <a:r>
              <a:rPr kumimoji="0" sz="2800" b="0" i="0" u="none" strike="noStrike" kern="1200" cap="none" spc="-2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from</a:t>
            </a:r>
            <a:r>
              <a:rPr kumimoji="0" sz="2800" b="0" i="0" u="none" strike="noStrike" kern="1200" cap="none" spc="-3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left, through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including</a:t>
            </a:r>
            <a:r>
              <a:rPr kumimoji="0" lang="en-US" sz="2800" b="0" i="0" u="none" strike="noStrike" kern="1200" cap="none" spc="86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first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C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6" name="object 12"/>
          <p:cNvSpPr txBox="1"/>
          <p:nvPr/>
        </p:nvSpPr>
        <p:spPr>
          <a:xfrm>
            <a:off x="1264929" y="2440927"/>
            <a:ext cx="3065805" cy="1761251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Step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2:</a:t>
            </a:r>
            <a: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800" b="0" i="0" u="none" strike="noStrike" kern="1200" cap="none" spc="-4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endParaRPr kumimoji="0" lang="en-US" sz="2800" b="0" i="0" u="none" strike="noStrike" kern="1200" cap="none" spc="-45" normalizeH="0" baseline="0" noProof="0" dirty="0">
              <a:ln>
                <a:noFill/>
              </a:ln>
              <a:solidFill>
                <a:srgbClr val="00B05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5080" lvl="0" indent="0" algn="l" defTabSz="914400" rtl="0" eaLnBrk="1" fontAlgn="auto" latinLnBrk="0" hangingPunct="1">
              <a:lnSpc>
                <a:spcPct val="101099"/>
              </a:lnSpc>
              <a:spcBef>
                <a:spcPts val="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Copy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inverse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800" b="0" i="0" u="none" strike="noStrike" kern="1200" cap="none" spc="-7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remaining </a:t>
            </a:r>
            <a:r>
              <a:rPr kumimoji="0" sz="2800" b="0" i="0" u="none" strike="noStrike" kern="1200" cap="none" spc="-86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cxnSp>
        <p:nvCxnSpPr>
          <p:cNvPr id="11" name="Straight Arrow Connector 10"/>
          <p:cNvCxnSpPr/>
          <p:nvPr/>
        </p:nvCxnSpPr>
        <p:spPr>
          <a:xfrm flipH="1">
            <a:off x="6055895" y="2201778"/>
            <a:ext cx="2602832" cy="8022"/>
          </a:xfrm>
          <a:prstGeom prst="straightConnector1">
            <a:avLst/>
          </a:prstGeom>
          <a:ln w="19050">
            <a:solidFill>
              <a:srgbClr val="C0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4107617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22214"/>
            <a:ext cx="505523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Representation</a:t>
            </a:r>
            <a:r>
              <a:rPr spc="-85" dirty="0"/>
              <a:t> </a:t>
            </a:r>
            <a:r>
              <a:rPr dirty="0"/>
              <a:t>Width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3255264" y="5135727"/>
            <a:ext cx="4044696" cy="1606296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3431540" y="5606642"/>
            <a:ext cx="3094355" cy="6350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positive: Add leading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0’s 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If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negative: Add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leading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1’s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333489" y="5001615"/>
            <a:ext cx="3090671" cy="1588008"/>
          </a:xfrm>
          <a:prstGeom prst="rect">
            <a:avLst/>
          </a:prstGeom>
        </p:spPr>
      </p:pic>
      <p:sp>
        <p:nvSpPr>
          <p:cNvPr id="6" name="object 6"/>
          <p:cNvSpPr txBox="1"/>
          <p:nvPr/>
        </p:nvSpPr>
        <p:spPr>
          <a:xfrm>
            <a:off x="8023763" y="5759042"/>
            <a:ext cx="1784350" cy="33020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</a:t>
            </a:r>
            <a:endParaRPr kumimoji="0" sz="20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691128" y="2916784"/>
            <a:ext cx="2694431" cy="1252727"/>
          </a:xfrm>
          <a:prstGeom prst="rect">
            <a:avLst/>
          </a:prstGeom>
        </p:spPr>
      </p:pic>
      <p:pic>
        <p:nvPicPr>
          <p:cNvPr id="8" name="object 8"/>
          <p:cNvPicPr/>
          <p:nvPr/>
        </p:nvPicPr>
        <p:blipFill>
          <a:blip r:embed="rId5" cstate="print"/>
          <a:stretch>
            <a:fillRect/>
          </a:stretch>
        </p:blipFill>
        <p:spPr>
          <a:xfrm>
            <a:off x="6662929" y="2916784"/>
            <a:ext cx="2542031" cy="1200911"/>
          </a:xfrm>
          <a:prstGeom prst="rect">
            <a:avLst/>
          </a:prstGeom>
        </p:spPr>
      </p:pic>
      <p:sp>
        <p:nvSpPr>
          <p:cNvPr id="9" name="object 9"/>
          <p:cNvSpPr txBox="1"/>
          <p:nvPr/>
        </p:nvSpPr>
        <p:spPr>
          <a:xfrm>
            <a:off x="1607637" y="1417674"/>
            <a:ext cx="9056352" cy="3751027"/>
          </a:xfrm>
          <a:prstGeom prst="rect">
            <a:avLst/>
          </a:prstGeom>
        </p:spPr>
        <p:txBody>
          <a:bodyPr vert="horz" wrap="square" lIns="0" tIns="13970" rIns="0" bIns="0" rtlCol="0">
            <a:spAutoFit/>
          </a:bodyPr>
          <a:lstStyle/>
          <a:p>
            <a:pPr marL="464820" marR="536575" lvl="0" indent="0" algn="l" defTabSz="914400" rtl="0" eaLnBrk="1" fontAlgn="auto" latinLnBrk="0" hangingPunct="1">
              <a:lnSpc>
                <a:spcPct val="99600"/>
              </a:lnSpc>
              <a:spcBef>
                <a:spcPts val="110"/>
              </a:spcBef>
              <a:spcAft>
                <a:spcPts val="0"/>
              </a:spcAft>
              <a:buClrTx/>
              <a:buSzTx/>
              <a:buFontTx/>
              <a:buNone/>
              <a:tabLst>
                <a:tab pos="2418715" algn="l"/>
              </a:tabLst>
              <a:defRPr/>
            </a:pP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Careful!	</a:t>
            </a:r>
            <a:r>
              <a:rPr kumimoji="0" sz="28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You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must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sure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pad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original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out to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full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representation width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>
                  <a:solidFill>
                    <a:srgbClr val="800000"/>
                  </a:solidFill>
                </a:uFill>
                <a:latin typeface="Tahoma"/>
                <a:ea typeface="+mn-ea"/>
                <a:cs typeface="Tahoma"/>
              </a:rPr>
              <a:t>before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applying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2390140" marR="0" lvl="0" indent="0" algn="l" defTabSz="914400" rtl="0" eaLnBrk="1" fontAlgn="auto" latinLnBrk="0" hangingPunct="1">
              <a:lnSpc>
                <a:spcPct val="100000"/>
              </a:lnSpc>
              <a:spcBef>
                <a:spcPts val="2530"/>
              </a:spcBef>
              <a:spcAft>
                <a:spcPts val="0"/>
              </a:spcAft>
              <a:buClrTx/>
              <a:buSzTx/>
              <a:buFontTx/>
              <a:buNone/>
              <a:tabLst>
                <a:tab pos="5248275" algn="l"/>
              </a:tabLst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</a:t>
            </a:r>
            <a:r>
              <a:rPr kumimoji="0" sz="20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algorithm	Expand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8-bits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ong: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30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    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7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 +7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128714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B05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Right: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+25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2800" b="0" i="0" u="none" strike="noStrike" kern="1200" cap="none" spc="1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1001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1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-25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C384E27-47E3-EB24-A849-8DD2B00D17F5}"/>
              </a:ext>
            </a:extLst>
          </p:cNvPr>
          <p:cNvSpPr/>
          <p:nvPr/>
        </p:nvSpPr>
        <p:spPr>
          <a:xfrm>
            <a:off x="10100241" y="3781270"/>
            <a:ext cx="533520" cy="33642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36D87FB-8157-1DA8-DE8A-2E07BEBA2BFA}"/>
              </a:ext>
            </a:extLst>
          </p:cNvPr>
          <p:cNvSpPr/>
          <p:nvPr/>
        </p:nvSpPr>
        <p:spPr>
          <a:xfrm>
            <a:off x="10050843" y="4736143"/>
            <a:ext cx="533520" cy="336425"/>
          </a:xfrm>
          <a:prstGeom prst="rect">
            <a:avLst/>
          </a:prstGeom>
          <a:noFill/>
          <a:ln w="28575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1274887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006641" y="2161754"/>
            <a:ext cx="10551696" cy="3957494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umber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positive.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as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unsigned.</a:t>
            </a:r>
            <a:endParaRPr kumimoji="0" sz="3200" b="1" i="0" u="none" strike="noStrike" kern="1200" cap="none" spc="0" normalizeH="0" baseline="0" noProof="0" dirty="0">
              <a:ln>
                <a:noFill/>
              </a:ln>
              <a:solidFill>
                <a:srgbClr val="92D05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,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negative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Apply 2’s comp. alg. to find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endParaRPr kumimoji="0" lang="en-US" sz="3200" b="0" i="0" u="none" strike="noStrike" kern="1200" cap="none" spc="-1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22300" marR="5080" lvl="0" indent="-609600" algn="l" defTabSz="914400" rtl="0" eaLnBrk="1" fontAlgn="auto" latinLnBrk="0" hangingPunct="1">
              <a:lnSpc>
                <a:spcPts val="3820"/>
              </a:lnSpc>
              <a:spcBef>
                <a:spcPts val="100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 the 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using polynomial evaluation.</a:t>
            </a:r>
          </a:p>
          <a:p>
            <a:pPr marL="622300" marR="0" lvl="0" indent="-609600" algn="l" defTabSz="914400" rtl="0" eaLnBrk="1" fontAlgn="auto" latinLnBrk="0" hangingPunct="1">
              <a:lnSpc>
                <a:spcPct val="100000"/>
              </a:lnSpc>
              <a:spcBef>
                <a:spcPts val="615"/>
              </a:spcBef>
              <a:spcAft>
                <a:spcPts val="0"/>
              </a:spcAft>
              <a:buClrTx/>
              <a:buSzTx/>
              <a:buFontTx/>
              <a:buAutoNum type="arabicPeriod"/>
              <a:tabLst>
                <a:tab pos="621665" algn="l"/>
                <a:tab pos="622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Put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front.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58253" y="753979"/>
            <a:ext cx="725211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713881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77178" y="2297633"/>
            <a:ext cx="10380633" cy="4327467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47700" marR="30480" lvl="0" indent="-6096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polynomial evaluation,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 make the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contribution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MSB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negative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6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38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)+(1x2</a:t>
            </a:r>
            <a:r>
              <a:rPr kumimoji="0" sz="3150" b="0" i="0" u="none" strike="noStrike" kern="1200" cap="none" spc="0" normalizeH="0" baseline="2645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477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-128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33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+ 32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 +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977178" y="754995"/>
            <a:ext cx="9720738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32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32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32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46660773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4538" y="745369"/>
            <a:ext cx="11062978" cy="630428"/>
          </a:xfrm>
          <a:prstGeom prst="rect">
            <a:avLst/>
          </a:prstGeom>
        </p:spPr>
        <p:txBody>
          <a:bodyPr vert="horz" wrap="square" lIns="0" tIns="75691" rIns="0" bIns="0" rtlCol="0" anchor="ctr">
            <a:spAutoFit/>
          </a:bodyPr>
          <a:lstStyle/>
          <a:p>
            <a:pPr marL="3397250" marR="5080" indent="-2682240">
              <a:lnSpc>
                <a:spcPct val="100000"/>
              </a:lnSpc>
              <a:spcBef>
                <a:spcPts val="100"/>
              </a:spcBef>
            </a:pPr>
            <a:r>
              <a:rPr spc="-10" dirty="0"/>
              <a:t>Finding </a:t>
            </a:r>
            <a:r>
              <a:rPr spc="-5" dirty="0"/>
              <a:t>2’s complement </a:t>
            </a:r>
            <a:r>
              <a:rPr dirty="0"/>
              <a:t>of </a:t>
            </a:r>
            <a:r>
              <a:rPr spc="-5" dirty="0"/>
              <a:t>fraction </a:t>
            </a:r>
            <a:r>
              <a:rPr spc="-890" dirty="0"/>
              <a:t> </a:t>
            </a:r>
            <a:r>
              <a:rPr spc="-5" dirty="0"/>
              <a:t>numbers</a:t>
            </a:r>
            <a:endParaRPr dirty="0"/>
          </a:p>
        </p:txBody>
      </p:sp>
      <p:sp>
        <p:nvSpPr>
          <p:cNvPr id="3" name="object 3"/>
          <p:cNvSpPr txBox="1"/>
          <p:nvPr/>
        </p:nvSpPr>
        <p:spPr>
          <a:xfrm>
            <a:off x="1702335" y="1797063"/>
            <a:ext cx="8612739" cy="4422364"/>
          </a:xfrm>
          <a:prstGeom prst="rect">
            <a:avLst/>
          </a:prstGeom>
        </p:spPr>
        <p:txBody>
          <a:bodyPr vert="horz" wrap="square" lIns="0" tIns="107315" rIns="0" bIns="0" rtlCol="0">
            <a:spAutoFit/>
          </a:bodyPr>
          <a:lstStyle/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8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+5.75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0101.1100</a:t>
            </a:r>
            <a:r>
              <a:rPr kumimoji="0" sz="2850" b="0" i="0" u="none" strike="noStrike" kern="1200" cap="none" spc="0" normalizeH="0" baseline="-17543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lang="en-US" sz="28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 binary.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5400" marR="0" lvl="0" indent="0" algn="l" defTabSz="914400" rtl="0" eaLnBrk="1" fontAlgn="auto" latinLnBrk="0" hangingPunct="1">
              <a:lnSpc>
                <a:spcPct val="100000"/>
              </a:lnSpc>
              <a:spcBef>
                <a:spcPts val="6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Solution: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1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Remove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0101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54200" marR="17780" lvl="0" indent="-1219200" algn="l" defTabSz="914400" rtl="0" eaLnBrk="1" fontAlgn="auto" latinLnBrk="0" hangingPunct="1">
              <a:lnSpc>
                <a:spcPts val="3500"/>
              </a:lnSpc>
              <a:spcBef>
                <a:spcPts val="1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 2: Find the 2’s complement of 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</a:t>
            </a:r>
            <a:r>
              <a:rPr kumimoji="0" lang="en-US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0100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0" marR="0" lvl="0" indent="0" algn="l" defTabSz="914400" rtl="0" eaLnBrk="1" fontAlgn="auto" latinLnBrk="0" hangingPunct="1">
              <a:lnSpc>
                <a:spcPct val="100000"/>
              </a:lnSpc>
              <a:spcBef>
                <a:spcPts val="3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Step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3: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Replace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 point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1010.0100</a:t>
            </a:r>
            <a:r>
              <a:rPr kumimoji="0" sz="24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-5.75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8392017" y="4443531"/>
            <a:ext cx="7557" cy="50632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8255991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8112408" y="4443531"/>
            <a:ext cx="7557" cy="51387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7968825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7761066" y="4435974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7617483" y="4443531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7437373" y="4435973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/>
          <p:cNvCxnSpPr/>
          <p:nvPr/>
        </p:nvCxnSpPr>
        <p:spPr>
          <a:xfrm>
            <a:off x="7257263" y="4435972"/>
            <a:ext cx="7557" cy="513877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8305679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42386" y="3144714"/>
            <a:ext cx="11590156" cy="11387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Exercise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: Find the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8-bit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2’s complement (minus) representation of:</a:t>
            </a:r>
          </a:p>
          <a:p>
            <a:pPr marL="1428750" marR="0" lvl="0" indent="-142875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4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40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endParaRPr kumimoji="0" lang="en-US" sz="4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06886016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954505" y="747880"/>
            <a:ext cx="8229600" cy="1143000"/>
          </a:xfrm>
        </p:spPr>
        <p:txBody>
          <a:bodyPr>
            <a:normAutofit/>
          </a:bodyPr>
          <a:lstStyle/>
          <a:p>
            <a:r>
              <a:rPr lang="en-US" dirty="0"/>
              <a:t>CONVERTING SIGNED DECIMAL TO TWO’S COMPLEMENT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54504" y="2013283"/>
            <a:ext cx="10399295" cy="3631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the magnitude to unsigned binary: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25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16 + 8 + 1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1 1001</a:t>
            </a:r>
            <a:r>
              <a:rPr kumimoji="0" lang="en-US" sz="24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1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Zero extend to 8 bits: 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1 1001 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1 1001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Find the 2’s complement: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1371600" marR="0" lvl="3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0001 1001   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1110 0111</a:t>
            </a:r>
            <a:r>
              <a:rPr kumimoji="0" lang="en-US" sz="2400" b="1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819871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474495" y="2948862"/>
            <a:ext cx="5209032" cy="124967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481609" y="2032938"/>
            <a:ext cx="7037705" cy="34334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Example: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10110010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8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?</a:t>
            </a:r>
            <a:r>
              <a:rPr kumimoji="0" sz="3150" b="0" i="0" u="none" strike="noStrike" kern="1200" cap="none" spc="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9781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Apply algorithm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&amp;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add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negative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sign</a:t>
            </a:r>
            <a:endParaRPr kumimoji="0" sz="2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1.	10110010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150" b="0" i="0" u="none" strike="noStrike" kern="1200" cap="none" spc="37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</a:t>
            </a:r>
            <a:r>
              <a:rPr kumimoji="0" sz="3200" b="0" i="0" u="none" strike="noStrike" kern="1200" cap="none" spc="-9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-01001110</a:t>
            </a:r>
            <a:r>
              <a:rPr kumimoji="0" sz="315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6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2.	-(01001110</a:t>
            </a:r>
            <a:r>
              <a:rPr kumimoji="0" sz="3150" b="0" i="0" u="none" strike="noStrike" kern="1200" cap="none" spc="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-(64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+ 8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+ 4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+ 2) =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>
                <a:tab pos="659765" algn="l"/>
                <a:tab pos="228727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3.	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Answer:	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-78</a:t>
            </a:r>
            <a:r>
              <a:rPr kumimoji="0" sz="3150" b="0" i="0" u="none" strike="noStrike" kern="1200" cap="none" spc="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3150" b="0" i="0" u="none" strike="noStrike" kern="1200" cap="none" spc="0" normalizeH="0" baseline="-18518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878305" y="766011"/>
            <a:ext cx="943232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Converting 2’s complement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numbers</a:t>
            </a:r>
            <a:r>
              <a:rPr kumimoji="0" lang="en-US" sz="2400" b="1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to</a:t>
            </a:r>
            <a:r>
              <a:rPr kumimoji="0" lang="en-US" sz="2400" b="1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decimal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–</a:t>
            </a:r>
            <a:r>
              <a:rPr kumimoji="0" lang="en-US" sz="2400" b="1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Approach</a:t>
            </a:r>
            <a:r>
              <a:rPr kumimoji="0" lang="en-US" sz="2400" b="1" i="0" u="heavy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400" b="1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#1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" name="TextBox 1"/>
          <p:cNvSpPr txBox="1"/>
          <p:nvPr/>
        </p:nvSpPr>
        <p:spPr>
          <a:xfrm>
            <a:off x="10443411" y="2406316"/>
            <a:ext cx="1193660" cy="110799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10110010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</a:p>
          <a:p>
            <a:endParaRPr lang="en-US" spc="-7" baseline="-18518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endParaRPr lang="en-US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lvl="0"/>
            <a:r>
              <a:rPr lang="en-US" spc="-5" dirty="0">
                <a:solidFill>
                  <a:srgbClr val="000000"/>
                </a:solidFill>
                <a:latin typeface="Calibri"/>
                <a:cs typeface="Calibri"/>
              </a:rPr>
              <a:t>01001110</a:t>
            </a:r>
            <a:r>
              <a:rPr lang="en-US" spc="-7" baseline="-18518" dirty="0">
                <a:solidFill>
                  <a:srgbClr val="000000"/>
                </a:solidFill>
                <a:latin typeface="Calibri"/>
                <a:cs typeface="Calibri"/>
              </a:rPr>
              <a:t>2</a:t>
            </a:r>
            <a:endParaRPr lang="en-US" baseline="-18518" dirty="0">
              <a:solidFill>
                <a:srgbClr val="000000"/>
              </a:solidFill>
              <a:latin typeface="Calibri"/>
              <a:cs typeface="Calibri"/>
            </a:endParaRPr>
          </a:p>
        </p:txBody>
      </p:sp>
      <p:cxnSp>
        <p:nvCxnSpPr>
          <p:cNvPr id="7" name="Straight Arrow Connector 6"/>
          <p:cNvCxnSpPr/>
          <p:nvPr/>
        </p:nvCxnSpPr>
        <p:spPr>
          <a:xfrm>
            <a:off x="11417968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11297653" y="2727158"/>
            <a:ext cx="0" cy="457200"/>
          </a:xfrm>
          <a:prstGeom prst="straightConnector1">
            <a:avLst/>
          </a:prstGeom>
          <a:ln w="12700">
            <a:solidFill>
              <a:srgbClr val="92D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11161295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11044990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>
            <a:off x="10940716" y="2720262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>
            <a:off x="10832432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10708106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/>
          <p:cNvCxnSpPr/>
          <p:nvPr/>
        </p:nvCxnSpPr>
        <p:spPr>
          <a:xfrm>
            <a:off x="10583779" y="2727158"/>
            <a:ext cx="0" cy="457200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 rot="5400000">
            <a:off x="10519166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8" name="TextBox 17"/>
          <p:cNvSpPr txBox="1"/>
          <p:nvPr/>
        </p:nvSpPr>
        <p:spPr>
          <a:xfrm rot="5400000">
            <a:off x="10855487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19" name="TextBox 18"/>
          <p:cNvSpPr txBox="1"/>
          <p:nvPr/>
        </p:nvSpPr>
        <p:spPr>
          <a:xfrm rot="5400000">
            <a:off x="10735172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0" name="TextBox 19"/>
          <p:cNvSpPr txBox="1"/>
          <p:nvPr/>
        </p:nvSpPr>
        <p:spPr>
          <a:xfrm rot="5400000">
            <a:off x="10648417" y="2811496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1" name="TextBox 20"/>
          <p:cNvSpPr txBox="1"/>
          <p:nvPr/>
        </p:nvSpPr>
        <p:spPr>
          <a:xfrm rot="5400000">
            <a:off x="10394873" y="2818392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  <p:sp>
        <p:nvSpPr>
          <p:cNvPr id="22" name="TextBox 21"/>
          <p:cNvSpPr txBox="1"/>
          <p:nvPr/>
        </p:nvSpPr>
        <p:spPr>
          <a:xfrm rot="5400000">
            <a:off x="10265622" y="2825288"/>
            <a:ext cx="516488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dirty="0">
                <a:solidFill>
                  <a:srgbClr val="FF0000"/>
                </a:solidFill>
              </a:rPr>
              <a:t>inverse</a:t>
            </a:r>
          </a:p>
        </p:txBody>
      </p:sp>
    </p:spTree>
    <p:extLst>
      <p:ext uri="{BB962C8B-B14F-4D97-AF65-F5344CB8AC3E}">
        <p14:creationId xmlns:p14="http://schemas.microsoft.com/office/powerpoint/2010/main" val="2491012228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4589" y="715097"/>
            <a:ext cx="10417284" cy="1144151"/>
          </a:xfrm>
        </p:spPr>
        <p:txBody>
          <a:bodyPr>
            <a:normAutofit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1)</a:t>
            </a:r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39551" y="2169730"/>
            <a:ext cx="5609638" cy="443159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sz="2800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sz="2800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sz="2800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sz="1400" dirty="0">
              <a:solidFill>
                <a:schemeClr val="tx1"/>
              </a:solidFill>
            </a:endParaRPr>
          </a:p>
          <a:p>
            <a:pPr marL="461963" lvl="1" indent="-457200">
              <a:buFont typeface="+mj-lt"/>
              <a:buAutoNum type="arabicPeriod"/>
            </a:pPr>
            <a:r>
              <a:rPr lang="en-US" sz="2400" dirty="0">
                <a:solidFill>
                  <a:schemeClr val="tx1"/>
                </a:solidFill>
              </a:rPr>
              <a:t>Change every bit: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914400" lvl="1" indent="-514350">
              <a:buAutoNum type="arabicPeriod"/>
            </a:pP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400050" lvl="1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			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1110.1011</a:t>
            </a:r>
          </a:p>
          <a:p>
            <a:pPr marL="400050" lvl="1" indent="0">
              <a:buNone/>
            </a:pPr>
            <a:endParaRPr lang="en-US" dirty="0">
              <a:latin typeface="Consolas" panose="020B0609020204030204" pitchFamily="49" charset="0"/>
            </a:endParaRPr>
          </a:p>
          <a:p>
            <a:pPr marL="461963" lvl="1" indent="-457200">
              <a:buFont typeface="+mj-lt"/>
              <a:buAutoNum type="arabicPeriod" startAt="2"/>
            </a:pPr>
            <a:r>
              <a:rPr lang="en-US" sz="2400" dirty="0">
                <a:solidFill>
                  <a:schemeClr val="tx1"/>
                </a:solidFill>
              </a:rPr>
              <a:t>Then add 1 to the		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+1</a:t>
            </a:r>
            <a:r>
              <a:rPr lang="en-US" sz="2400" dirty="0">
                <a:solidFill>
                  <a:schemeClr val="tx1"/>
                </a:solidFill>
              </a:rPr>
              <a:t>	 </a:t>
            </a:r>
            <a:br>
              <a:rPr lang="en-US" sz="2400" dirty="0">
                <a:solidFill>
                  <a:schemeClr val="tx1"/>
                </a:solidFill>
              </a:rPr>
            </a:br>
            <a:r>
              <a:rPr lang="en-US" sz="2400" dirty="0">
                <a:solidFill>
                  <a:schemeClr val="tx1"/>
                </a:solidFill>
              </a:rPr>
              <a:t>least-significant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   </a:t>
            </a:r>
            <a: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  <a:t>1110.1100</a:t>
            </a:r>
            <a:br>
              <a:rPr lang="en-US" sz="2400" dirty="0">
                <a:solidFill>
                  <a:schemeClr val="tx1"/>
                </a:solidFill>
                <a:latin typeface="Consolas" panose="020B0609020204030204" pitchFamily="49" charset="0"/>
              </a:rPr>
            </a:br>
            <a:r>
              <a:rPr lang="en-US" sz="2400" dirty="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bit position.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206802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3863275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027707" y="3785941"/>
            <a:ext cx="0" cy="45720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209823" y="3743376"/>
            <a:ext cx="6094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solidFill>
                  <a:srgbClr val="FF0000"/>
                </a:solidFill>
              </a:rPr>
              <a:t>. . .</a:t>
            </a:r>
          </a:p>
        </p:txBody>
      </p:sp>
      <p:cxnSp>
        <p:nvCxnSpPr>
          <p:cNvPr id="12" name="Straight Connector 11"/>
          <p:cNvCxnSpPr/>
          <p:nvPr/>
        </p:nvCxnSpPr>
        <p:spPr>
          <a:xfrm flipV="1">
            <a:off x="3744370" y="4933013"/>
            <a:ext cx="1546746" cy="7961"/>
          </a:xfrm>
          <a:prstGeom prst="line">
            <a:avLst/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TextBox 10"/>
          <p:cNvSpPr txBox="1"/>
          <p:nvPr/>
        </p:nvSpPr>
        <p:spPr>
          <a:xfrm>
            <a:off x="6713624" y="3437033"/>
            <a:ext cx="4150895" cy="1015663"/>
          </a:xfrm>
          <a:prstGeom prst="rect">
            <a:avLst/>
          </a:prstGeom>
          <a:ln/>
        </p:spPr>
        <p:style>
          <a:lnRef idx="1">
            <a:schemeClr val="accent2"/>
          </a:lnRef>
          <a:fillRef idx="2">
            <a:schemeClr val="accent2"/>
          </a:fillRef>
          <a:effectRef idx="1">
            <a:schemeClr val="accent2"/>
          </a:effectRef>
          <a:fontRef idx="minor">
            <a:schemeClr val="dk1"/>
          </a:fontRef>
        </p:style>
        <p:txBody>
          <a:bodyPr wrap="square" tIns="91440" bIns="91440" rtlCol="0">
            <a:spAutoFit/>
          </a:bodyPr>
          <a:lstStyle/>
          <a:p>
            <a:pPr marL="1027113" lvl="1"/>
            <a:r>
              <a:rPr lang="en-US" dirty="0"/>
              <a:t>Simply changing the most-significant bit is NOT the same and doesn’t work!</a:t>
            </a:r>
          </a:p>
        </p:txBody>
      </p:sp>
      <p:pic>
        <p:nvPicPr>
          <p:cNvPr id="14" name="Picture 4" descr="http://www.aamu.edu/campuslife/living-on-campus/residentialLife/SiteAssets/pages/default/Warning_sign.png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flipH="1">
            <a:off x="6822632" y="3513233"/>
            <a:ext cx="911802" cy="838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947880615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4492241" y="5251153"/>
            <a:ext cx="9144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100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125762" y="5273630"/>
            <a:ext cx="1473814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Content Placeholder 2"/>
          <p:cNvSpPr>
            <a:spLocks noGrp="1"/>
          </p:cNvSpPr>
          <p:nvPr>
            <p:ph idx="1"/>
          </p:nvPr>
        </p:nvSpPr>
        <p:spPr>
          <a:xfrm>
            <a:off x="920473" y="1880938"/>
            <a:ext cx="10469422" cy="479257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If   +1.25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0001.0100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Then -1.25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10</a:t>
            </a:r>
            <a:r>
              <a:rPr lang="en-US" dirty="0">
                <a:solidFill>
                  <a:schemeClr val="tx1"/>
                </a:solidFill>
                <a:latin typeface="Consolas" panose="020B0609020204030204" pitchFamily="49" charset="0"/>
              </a:rPr>
              <a:t> = ????.????</a:t>
            </a:r>
            <a:r>
              <a:rPr lang="en-US" baseline="-25000" dirty="0">
                <a:solidFill>
                  <a:schemeClr val="tx1"/>
                </a:solidFill>
                <a:latin typeface="Consolas" panose="020B0609020204030204" pitchFamily="49" charset="0"/>
              </a:rPr>
              <a:t>2</a:t>
            </a:r>
            <a:endParaRPr lang="en-US" dirty="0">
              <a:solidFill>
                <a:schemeClr val="tx1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Copy right-to-left</a:t>
            </a:r>
            <a:r>
              <a:rPr lang="en-US" dirty="0"/>
              <a:t>   </a:t>
            </a:r>
            <a:r>
              <a:rPr lang="en-US" dirty="0">
                <a:solidFill>
                  <a:schemeClr val="tx1"/>
                </a:solidFill>
              </a:rPr>
              <a:t>  </a:t>
            </a:r>
            <a:r>
              <a:rPr lang="en-US" sz="3200" dirty="0">
                <a:solidFill>
                  <a:schemeClr val="tx1"/>
                </a:solidFill>
                <a:latin typeface="Consolas" panose="020B0609020204030204" pitchFamily="49" charset="0"/>
              </a:rPr>
              <a:t>0001.0100</a:t>
            </a:r>
          </a:p>
          <a:p>
            <a:pPr marL="0" indent="0">
              <a:buNone/>
            </a:pPr>
            <a:r>
              <a:rPr lang="en-US" dirty="0">
                <a:solidFill>
                  <a:srgbClr val="7030A0"/>
                </a:solidFill>
              </a:rPr>
              <a:t>through first 1:</a:t>
            </a:r>
            <a:r>
              <a:rPr lang="en-US" dirty="0"/>
              <a:t>		</a:t>
            </a:r>
            <a:endParaRPr lang="en-US" sz="2800" dirty="0"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sz="2800" dirty="0">
                <a:latin typeface="Consolas" panose="020B0609020204030204" pitchFamily="49" charset="0"/>
              </a:rPr>
              <a:t>	</a:t>
            </a:r>
            <a:br>
              <a:rPr lang="en-US" sz="2800" dirty="0">
                <a:latin typeface="Consolas" panose="020B0609020204030204" pitchFamily="49" charset="0"/>
              </a:rPr>
            </a:br>
            <a:r>
              <a:rPr lang="en-US" sz="2800" dirty="0">
                <a:latin typeface="Consolas" panose="020B0609020204030204" pitchFamily="49" charset="0"/>
              </a:rPr>
              <a:t>			</a:t>
            </a:r>
            <a:r>
              <a:rPr lang="en-US" dirty="0">
                <a:latin typeface="Consolas" panose="020B0609020204030204" pitchFamily="49" charset="0"/>
              </a:rPr>
              <a:t>     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pPr marL="0" indent="0">
              <a:buNone/>
            </a:pPr>
            <a:r>
              <a:rPr lang="en-US" dirty="0">
                <a:solidFill>
                  <a:srgbClr val="00B050"/>
                </a:solidFill>
              </a:rPr>
              <a:t>Copy opposite of</a:t>
            </a:r>
            <a:br>
              <a:rPr lang="en-US" dirty="0">
                <a:solidFill>
                  <a:srgbClr val="00B050"/>
                </a:solidFill>
              </a:rPr>
            </a:br>
            <a:r>
              <a:rPr lang="en-US" dirty="0">
                <a:solidFill>
                  <a:srgbClr val="00B050"/>
                </a:solidFill>
              </a:rPr>
              <a:t>all remaining bits:</a:t>
            </a:r>
            <a:r>
              <a:rPr lang="en-US" dirty="0"/>
              <a:t>	</a:t>
            </a:r>
            <a:endParaRPr lang="en-US" dirty="0">
              <a:solidFill>
                <a:srgbClr val="7030A0"/>
              </a:solidFill>
              <a:latin typeface="Consolas" panose="020B0609020204030204" pitchFamily="49" charset="0"/>
            </a:endParaRPr>
          </a:p>
          <a:p>
            <a:endParaRPr lang="en-US" dirty="0"/>
          </a:p>
        </p:txBody>
      </p:sp>
      <p:sp>
        <p:nvSpPr>
          <p:cNvPr id="12" name="TextBox 11"/>
          <p:cNvSpPr txBox="1"/>
          <p:nvPr/>
        </p:nvSpPr>
        <p:spPr>
          <a:xfrm>
            <a:off x="3203323" y="5251153"/>
            <a:ext cx="1494225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dirty="0">
                <a:latin typeface="Consolas" panose="020B0609020204030204" pitchFamily="49" charset="0"/>
              </a:rPr>
              <a:t>1110.1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7643" y="5272490"/>
            <a:ext cx="641138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0473" y="745190"/>
            <a:ext cx="10076390" cy="951263"/>
          </a:xfrm>
        </p:spPr>
        <p:txBody>
          <a:bodyPr>
            <a:normAutofit fontScale="90000"/>
          </a:bodyPr>
          <a:lstStyle/>
          <a:p>
            <a:r>
              <a:rPr lang="en-US" dirty="0"/>
              <a:t>Changing the Sign of a Two’s Complement Number </a:t>
            </a:r>
            <a:r>
              <a:rPr lang="en-US" dirty="0">
                <a:solidFill>
                  <a:srgbClr val="FF0000"/>
                </a:solidFill>
              </a:rPr>
              <a:t>(Method 2)</a:t>
            </a:r>
          </a:p>
        </p:txBody>
      </p:sp>
      <p:cxnSp>
        <p:nvCxnSpPr>
          <p:cNvPr id="6" name="Straight Arrow Connector 5"/>
          <p:cNvCxnSpPr/>
          <p:nvPr/>
        </p:nvCxnSpPr>
        <p:spPr>
          <a:xfrm>
            <a:off x="5140164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H="1">
            <a:off x="4674961" y="3705910"/>
            <a:ext cx="8003" cy="1524000"/>
          </a:xfrm>
          <a:prstGeom prst="straightConnector1">
            <a:avLst/>
          </a:prstGeom>
          <a:ln w="28575">
            <a:solidFill>
              <a:srgbClr val="7030A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/>
          <p:cNvSpPr txBox="1"/>
          <p:nvPr/>
        </p:nvSpPr>
        <p:spPr>
          <a:xfrm>
            <a:off x="4674961" y="42393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7030A0"/>
                </a:solidFill>
              </a:rPr>
              <a:t>. . .</a:t>
            </a:r>
          </a:p>
        </p:txBody>
      </p:sp>
      <p:cxnSp>
        <p:nvCxnSpPr>
          <p:cNvPr id="11" name="Straight Arrow Connector 10"/>
          <p:cNvCxnSpPr/>
          <p:nvPr/>
        </p:nvCxnSpPr>
        <p:spPr>
          <a:xfrm>
            <a:off x="3332751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>
            <a:off x="4395997" y="3734078"/>
            <a:ext cx="0" cy="1539766"/>
          </a:xfrm>
          <a:prstGeom prst="straightConnector1">
            <a:avLst/>
          </a:prstGeom>
          <a:ln w="28575">
            <a:solidFill>
              <a:srgbClr val="00B05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TextBox 14"/>
          <p:cNvSpPr txBox="1"/>
          <p:nvPr/>
        </p:nvSpPr>
        <p:spPr>
          <a:xfrm>
            <a:off x="3646567" y="4278910"/>
            <a:ext cx="5052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00B050"/>
                </a:solidFill>
              </a:rPr>
              <a:t>. . 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43053" y="3261290"/>
            <a:ext cx="762873" cy="457200"/>
          </a:xfrm>
          <a:prstGeom prst="rect">
            <a:avLst/>
          </a:prstGeom>
          <a:solidFill>
            <a:srgbClr val="7030A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3203323" y="3261290"/>
            <a:ext cx="1339730" cy="457200"/>
          </a:xfrm>
          <a:prstGeom prst="rect">
            <a:avLst/>
          </a:prstGeom>
          <a:solidFill>
            <a:srgbClr val="00B05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4238843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8" name="Subtitle 7">
            <a:extLst>
              <a:ext uri="{FF2B5EF4-FFF2-40B4-BE49-F238E27FC236}">
                <a16:creationId xmlns:a16="http://schemas.microsoft.com/office/drawing/2014/main" id="{92630C35-C1C5-40C0-B3E8-F7F5E49BA716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6: Power Relationships</a:t>
            </a:r>
          </a:p>
        </p:txBody>
      </p:sp>
    </p:spTree>
    <p:extLst>
      <p:ext uri="{BB962C8B-B14F-4D97-AF65-F5344CB8AC3E}">
        <p14:creationId xmlns:p14="http://schemas.microsoft.com/office/powerpoint/2010/main" val="124810718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Hex</a:t>
            </a:r>
          </a:p>
        </p:txBody>
      </p:sp>
    </p:spTree>
    <p:extLst>
      <p:ext uri="{BB962C8B-B14F-4D97-AF65-F5344CB8AC3E}">
        <p14:creationId xmlns:p14="http://schemas.microsoft.com/office/powerpoint/2010/main" val="30727865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>
              <a:solidFill>
                <a:srgbClr val="0070C0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Hexadecimal is a convenient short-hand for binary: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Hex (radix 16) numbers require 1/4</a:t>
            </a:r>
            <a:r>
              <a:rPr lang="en-US" baseline="30000" dirty="0">
                <a:solidFill>
                  <a:schemeClr val="tx1"/>
                </a:solidFill>
              </a:rPr>
              <a:t>th</a:t>
            </a:r>
            <a:r>
              <a:rPr lang="en-US" dirty="0">
                <a:solidFill>
                  <a:schemeClr val="tx1"/>
                </a:solidFill>
              </a:rPr>
              <a:t> as many digits than their equivalent binary (radix 2) representation</a:t>
            </a:r>
            <a:endParaRPr lang="en-US" sz="700" dirty="0">
              <a:solidFill>
                <a:schemeClr val="tx1"/>
              </a:solidFill>
            </a:endParaRP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Easier for humans </a:t>
            </a:r>
            <a:r>
              <a:rPr lang="en-US" dirty="0">
                <a:solidFill>
                  <a:schemeClr val="tx1"/>
                </a:solidFill>
                <a:sym typeface="Wingdings" panose="05000000000000000000" pitchFamily="2" charset="2"/>
              </a:rPr>
              <a:t> </a:t>
            </a:r>
            <a:r>
              <a:rPr lang="en-US" dirty="0">
                <a:solidFill>
                  <a:schemeClr val="tx1"/>
                </a:solidFill>
              </a:rPr>
              <a:t>reduces transcription errors</a:t>
            </a:r>
          </a:p>
        </p:txBody>
      </p:sp>
    </p:spTree>
    <p:extLst>
      <p:ext uri="{BB962C8B-B14F-4D97-AF65-F5344CB8AC3E}">
        <p14:creationId xmlns:p14="http://schemas.microsoft.com/office/powerpoint/2010/main" val="1275193133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3149"/>
            <a:ext cx="3138179" cy="626419"/>
          </a:xfrm>
        </p:spPr>
        <p:txBody>
          <a:bodyPr>
            <a:normAutofit/>
          </a:bodyPr>
          <a:lstStyle/>
          <a:p>
            <a:r>
              <a:rPr lang="en-US" dirty="0"/>
              <a:t>MOTIVATION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1607175"/>
            <a:ext cx="10433326" cy="5026236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Conversion is trivial due to power relationship (16 = 2</a:t>
            </a:r>
            <a:r>
              <a:rPr lang="en-US" baseline="30000" dirty="0">
                <a:solidFill>
                  <a:srgbClr val="0070C0"/>
                </a:solidFill>
              </a:rPr>
              <a:t>4</a:t>
            </a:r>
            <a:r>
              <a:rPr lang="en-US" dirty="0">
                <a:solidFill>
                  <a:srgbClr val="0070C0"/>
                </a:solidFill>
              </a:rPr>
              <a:t>):</a:t>
            </a:r>
          </a:p>
          <a:p>
            <a:endParaRPr lang="en-US" dirty="0"/>
          </a:p>
          <a:p>
            <a:r>
              <a:rPr lang="en-US" dirty="0">
                <a:solidFill>
                  <a:schemeClr val="tx1"/>
                </a:solidFill>
              </a:rPr>
              <a:t>Each hex digit corresponds to a group of </a:t>
            </a:r>
            <a:r>
              <a:rPr lang="en-US" b="1" dirty="0">
                <a:solidFill>
                  <a:schemeClr val="tx1"/>
                </a:solidFill>
              </a:rPr>
              <a:t>4 binary digits</a:t>
            </a:r>
            <a:r>
              <a:rPr lang="en-US" dirty="0">
                <a:solidFill>
                  <a:schemeClr val="tx1"/>
                </a:solidFill>
              </a:rPr>
              <a:t>. </a:t>
            </a:r>
          </a:p>
          <a:p>
            <a:endParaRPr lang="en-US" dirty="0">
              <a:solidFill>
                <a:schemeClr val="tx1"/>
              </a:solidFill>
            </a:endParaRPr>
          </a:p>
          <a:p>
            <a:r>
              <a:rPr lang="en-US" dirty="0">
                <a:solidFill>
                  <a:schemeClr val="tx1"/>
                </a:solidFill>
              </a:rPr>
              <a:t>Easy to convert: Groups are</a:t>
            </a:r>
            <a:r>
              <a:rPr lang="en-US" dirty="0"/>
              <a:t> </a:t>
            </a:r>
            <a:r>
              <a:rPr lang="en-US" b="1" dirty="0">
                <a:solidFill>
                  <a:srgbClr val="92D050"/>
                </a:solidFill>
              </a:rPr>
              <a:t>independent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of each other.</a:t>
            </a:r>
          </a:p>
        </p:txBody>
      </p:sp>
    </p:spTree>
    <p:extLst>
      <p:ext uri="{BB962C8B-B14F-4D97-AF65-F5344CB8AC3E}">
        <p14:creationId xmlns:p14="http://schemas.microsoft.com/office/powerpoint/2010/main" val="909582884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667" y="745777"/>
            <a:ext cx="8961270" cy="56297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240155" marR="5080" indent="-1228090">
              <a:lnSpc>
                <a:spcPct val="100499"/>
              </a:lnSpc>
              <a:spcBef>
                <a:spcPts val="70"/>
              </a:spcBef>
            </a:pPr>
            <a:r>
              <a:rPr spc="-5" dirty="0"/>
              <a:t>Hexadecimal Numbers </a:t>
            </a:r>
            <a:r>
              <a:rPr spc="-980" dirty="0"/>
              <a:t> </a:t>
            </a:r>
            <a:r>
              <a:rPr spc="-5" dirty="0"/>
              <a:t>(Radix</a:t>
            </a:r>
            <a:r>
              <a:rPr spc="-15" dirty="0"/>
              <a:t> </a:t>
            </a:r>
            <a:r>
              <a:rPr dirty="0"/>
              <a:t>=</a:t>
            </a:r>
            <a:r>
              <a:rPr spc="-10" dirty="0"/>
              <a:t> </a:t>
            </a:r>
            <a:r>
              <a:rPr spc="-5" dirty="0"/>
              <a:t>16)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0667" y="1523856"/>
            <a:ext cx="10425112" cy="5152949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355600" marR="364490" lvl="0" indent="-342900" algn="l" defTabSz="914400" rtl="0" eaLnBrk="1" fontAlgn="auto" latinLnBrk="0" hangingPunct="1">
              <a:lnSpc>
                <a:spcPct val="100000"/>
              </a:lnSpc>
              <a:spcBef>
                <a:spcPts val="1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number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digit symbols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determined by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radix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(e.g.,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16)</a:t>
            </a: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508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value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 the digit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 from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 (0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R-1).</a:t>
            </a: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2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The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500" b="0" i="0" u="none" strike="noStrike" kern="1200" cap="none" spc="-5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symbols</a:t>
            </a:r>
            <a:r>
              <a:rPr kumimoji="0" sz="2500" b="0" i="0" u="none" strike="noStrike" kern="1200" cap="none" spc="-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0-9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followed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by A-F.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39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between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 hex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trivial!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55600" marR="453390" lvl="0" indent="-342900" algn="l" defTabSz="914400" rtl="0" eaLnBrk="1" fontAlgn="auto" latinLnBrk="0" hangingPunct="1">
              <a:lnSpc>
                <a:spcPct val="100800"/>
              </a:lnSpc>
              <a:spcBef>
                <a:spcPts val="139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Use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as a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shorthand for binary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b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</a:b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(significantly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fewer </a:t>
            </a:r>
            <a:r>
              <a:rPr kumimoji="0" sz="2400" b="0" i="0" u="none" strike="noStrike" kern="1200" cap="none" spc="-73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 are required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same magnitude).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256246139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/>
          <a:lstStyle/>
          <a:p>
            <a:r>
              <a:rPr lang="en-US" dirty="0"/>
              <a:t>Hex/Binary Table</a:t>
            </a:r>
          </a:p>
        </p:txBody>
      </p:sp>
      <p:pic>
        <p:nvPicPr>
          <p:cNvPr id="8" name="Picture 7"/>
          <p:cNvPicPr/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90801" y="1862772"/>
            <a:ext cx="6476999" cy="46904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15518155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1413" y="750225"/>
            <a:ext cx="596900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dirty="0"/>
              <a:t>Binary</a:t>
            </a:r>
            <a:r>
              <a:rPr spc="-30" dirty="0"/>
              <a:t> </a:t>
            </a:r>
            <a:r>
              <a:rPr dirty="0"/>
              <a:t>to</a:t>
            </a:r>
            <a:r>
              <a:rPr spc="-15" dirty="0"/>
              <a:t> </a:t>
            </a:r>
            <a:r>
              <a:rPr spc="-5" dirty="0"/>
              <a:t>Hex</a:t>
            </a:r>
            <a:r>
              <a:rPr spc="-30" dirty="0"/>
              <a:t> </a:t>
            </a:r>
            <a:r>
              <a:rPr dirty="0"/>
              <a:t>Conversions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9641841" y="2629346"/>
            <a:ext cx="581025" cy="429259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</a:t>
            </a:r>
            <a:endParaRPr kumimoji="0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951412" y="1428311"/>
            <a:ext cx="10434471" cy="4778039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250190" lvl="0" indent="0" algn="l" defTabSz="914400" rtl="0" eaLnBrk="1" fontAlgn="auto" latinLnBrk="0" hangingPunct="1">
              <a:lnSpc>
                <a:spcPts val="32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Hex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digits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are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in</a:t>
            </a:r>
            <a:r>
              <a:rPr kumimoji="0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one-to-one</a:t>
            </a:r>
            <a:r>
              <a:rPr kumimoji="0" lang="en-US" sz="2800" b="1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of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four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:</a:t>
            </a:r>
            <a:endParaRPr kumimoji="0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450850" marR="0" lvl="0" indent="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None/>
              <a:tabLst>
                <a:tab pos="1060450" algn="l"/>
                <a:tab pos="2057400" algn="l"/>
                <a:tab pos="3054350" algn="l"/>
                <a:tab pos="4050665" algn="l"/>
                <a:tab pos="4371340" algn="l"/>
                <a:tab pos="5368925" algn="l"/>
                <a:tab pos="6365875" algn="l"/>
                <a:tab pos="736282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	1010	0101	0110	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1110	0010	1111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</a:t>
            </a:r>
          </a:p>
          <a:p>
            <a:pPr marL="303530" marR="0" lvl="0" indent="0" algn="l" defTabSz="914400" rtl="0" eaLnBrk="1" fontAlgn="auto" latinLnBrk="0" hangingPunct="1">
              <a:lnSpc>
                <a:spcPct val="100000"/>
              </a:lnSpc>
              <a:spcBef>
                <a:spcPts val="1630"/>
              </a:spcBef>
              <a:spcAft>
                <a:spcPts val="0"/>
              </a:spcAft>
              <a:buClrTx/>
              <a:buSzTx/>
              <a:buFontTx/>
              <a:buNone/>
              <a:tabLst>
                <a:tab pos="1275715" algn="l"/>
                <a:tab pos="2266315" algn="l"/>
                <a:tab pos="3238500" algn="l"/>
                <a:tab pos="4097654" algn="l"/>
                <a:tab pos="4837430" algn="l"/>
                <a:tab pos="5815330" algn="l"/>
                <a:tab pos="6786880" algn="l"/>
                <a:tab pos="7750175" algn="l"/>
              </a:tabLst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5	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6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.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E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F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  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Start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at binary</a:t>
            </a:r>
            <a:r>
              <a:rPr kumimoji="0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point</a:t>
            </a:r>
            <a:r>
              <a:rPr kumimoji="0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and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identify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of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</a:t>
            </a:r>
          </a:p>
          <a:p>
            <a:pPr marL="63500" marR="478790" lvl="0" indent="0" algn="l" defTabSz="914400" rtl="0" eaLnBrk="1" fontAlgn="auto" latinLnBrk="0" hangingPunct="1">
              <a:lnSpc>
                <a:spcPct val="100699"/>
              </a:lnSpc>
              <a:spcBef>
                <a:spcPts val="1630"/>
              </a:spcBef>
              <a:spcAft>
                <a:spcPts val="0"/>
              </a:spcAft>
              <a:buClr>
                <a:srgbClr val="000000"/>
              </a:buClr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lang="en-US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Zero-fill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on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left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and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right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ends to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complete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the </a:t>
            </a:r>
            <a:r>
              <a:rPr kumimoji="0" sz="2800" b="0" i="0" u="none" strike="noStrike" kern="1200" cap="none" spc="-8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groups!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Conversion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a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simple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table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lookup!</a:t>
            </a:r>
          </a:p>
          <a:p>
            <a:pPr marL="336550" marR="0" lvl="0" indent="-27305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36550" algn="l"/>
              </a:tabLst>
              <a:defRPr/>
            </a:pP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Works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because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16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2</a:t>
            </a:r>
            <a:r>
              <a:rPr kumimoji="0" sz="2850" b="0" i="0" u="none" strike="noStrike" kern="1200" cap="none" spc="-7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850" b="0" i="0" u="none" strike="noStrike" kern="1200" cap="none" spc="-30" normalizeH="0" baseline="2339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(power relationship)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9616440" y="2610491"/>
            <a:ext cx="822960" cy="457200"/>
          </a:xfrm>
          <a:custGeom>
            <a:avLst/>
            <a:gdLst/>
            <a:ahLst/>
            <a:cxnLst/>
            <a:rect l="l" t="t" r="r" b="b"/>
            <a:pathLst>
              <a:path w="822959" h="457200">
                <a:moveTo>
                  <a:pt x="822959" y="0"/>
                </a:moveTo>
                <a:lnTo>
                  <a:pt x="0" y="0"/>
                </a:lnTo>
                <a:lnTo>
                  <a:pt x="0" y="457200"/>
                </a:lnTo>
                <a:lnTo>
                  <a:pt x="822959" y="457200"/>
                </a:lnTo>
                <a:lnTo>
                  <a:pt x="822959" y="0"/>
                </a:lnTo>
                <a:close/>
              </a:path>
            </a:pathLst>
          </a:custGeom>
          <a:solidFill>
            <a:srgbClr val="FFFFFF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4740442" y="3585411"/>
            <a:ext cx="296779" cy="2767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76890678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45182"/>
            <a:ext cx="5460273" cy="678556"/>
          </a:xfrm>
        </p:spPr>
        <p:txBody>
          <a:bodyPr/>
          <a:lstStyle/>
          <a:p>
            <a:r>
              <a:rPr lang="en-US" dirty="0"/>
              <a:t>Example: Binary to Hex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981200" y="1600201"/>
            <a:ext cx="8229600" cy="4724399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2800" dirty="0"/>
          </a:p>
          <a:p>
            <a:pPr marL="514350" indent="-514350">
              <a:buAutoNum type="arabicPeriod"/>
            </a:pPr>
            <a:r>
              <a:rPr lang="en-US" sz="2800" dirty="0">
                <a:solidFill>
                  <a:schemeClr val="tx1"/>
                </a:solidFill>
                <a:sym typeface="Wingdings"/>
              </a:rPr>
              <a:t>Split into groups of 4, starting at radix point:</a:t>
            </a:r>
            <a:endParaRPr lang="en-US" sz="2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101	1010  .  1001  011</a:t>
            </a:r>
          </a:p>
          <a:p>
            <a:pPr marL="800100" lvl="2" indent="0">
              <a:buNone/>
            </a:pPr>
            <a:r>
              <a:rPr lang="en-US" sz="2200" b="1" dirty="0">
                <a:solidFill>
                  <a:srgbClr val="FF0000"/>
                </a:solidFill>
              </a:rPr>
              <a:t>Form groups working outward from the radix point!</a:t>
            </a:r>
          </a:p>
          <a:p>
            <a:pPr marL="800100" lvl="2" indent="0">
              <a:buNone/>
            </a:pPr>
            <a:endParaRPr lang="en-US" sz="1600" dirty="0"/>
          </a:p>
          <a:p>
            <a:pPr marL="514350" indent="-514350">
              <a:buAutoNum type="arabicPeriod" startAt="2"/>
            </a:pPr>
            <a:r>
              <a:rPr lang="en-US" sz="2800" dirty="0">
                <a:solidFill>
                  <a:schemeClr val="tx1"/>
                </a:solidFill>
              </a:rPr>
              <a:t>Pad with 0’s to complete the groups:</a:t>
            </a:r>
          </a:p>
          <a:p>
            <a:pPr marL="0" indent="0">
              <a:buNone/>
            </a:pPr>
            <a:r>
              <a:rPr lang="en-US" sz="2800" dirty="0"/>
              <a:t>	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  <a:r>
              <a:rPr lang="en-US" sz="2800" dirty="0">
                <a:solidFill>
                  <a:schemeClr val="tx1"/>
                </a:solidFill>
              </a:rPr>
              <a:t>101	1010	.  1001  011</a:t>
            </a:r>
            <a:r>
              <a:rPr lang="en-US" sz="2800" b="1" dirty="0">
                <a:solidFill>
                  <a:srgbClr val="FF0000"/>
                </a:solidFill>
              </a:rPr>
              <a:t>0</a:t>
            </a:r>
          </a:p>
          <a:p>
            <a:pPr marL="0" indent="0">
              <a:buNone/>
            </a:pPr>
            <a:endParaRPr lang="en-US" sz="28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sz="2800" dirty="0"/>
              <a:t>3.  </a:t>
            </a:r>
            <a:r>
              <a:rPr lang="en-US" sz="2800" dirty="0">
                <a:solidFill>
                  <a:schemeClr val="tx1"/>
                </a:solidFill>
              </a:rPr>
              <a:t>Replace each group by equivalent hex digit:</a:t>
            </a:r>
          </a:p>
          <a:p>
            <a:pPr marL="0" indent="0">
              <a:buNone/>
            </a:pPr>
            <a:r>
              <a:rPr lang="en-US" sz="2800" dirty="0">
                <a:solidFill>
                  <a:schemeClr val="tx1"/>
                </a:solidFill>
              </a:rPr>
              <a:t>	    5	   A	.     9	      6</a:t>
            </a:r>
            <a:r>
              <a:rPr lang="en-US" sz="2800" baseline="-25000" dirty="0">
                <a:solidFill>
                  <a:schemeClr val="tx1"/>
                </a:solidFill>
              </a:rPr>
              <a:t>16</a:t>
            </a:r>
            <a:endParaRPr lang="en-US" sz="2800" dirty="0">
              <a:solidFill>
                <a:schemeClr val="tx1"/>
              </a:solidFill>
            </a:endParaRP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9016484" y="127699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95953031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36200"/>
            <a:ext cx="5472305" cy="715611"/>
          </a:xfrm>
        </p:spPr>
        <p:txBody>
          <a:bodyPr/>
          <a:lstStyle/>
          <a:p>
            <a:r>
              <a:rPr lang="en-US" dirty="0"/>
              <a:t>Example: Hex to Binary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5" y="1835775"/>
            <a:ext cx="10425305" cy="4812030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Convert F1.2C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r>
              <a:rPr lang="en-US" dirty="0">
                <a:solidFill>
                  <a:schemeClr val="tx1"/>
                </a:solidFill>
              </a:rPr>
              <a:t> to Binary: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  <a:sym typeface="Wingdings"/>
            </a:endParaRP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F	1	.	2	C</a:t>
            </a:r>
          </a:p>
          <a:p>
            <a:pPr marL="0" indent="0">
              <a:buNone/>
              <a:tabLst>
                <a:tab pos="914400" algn="ctr"/>
                <a:tab pos="2286000" algn="ctr"/>
                <a:tab pos="3141663" algn="ctr"/>
                <a:tab pos="4114800" algn="ctr"/>
                <a:tab pos="5486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 defTabSz="1031875">
              <a:buNone/>
              <a:tabLst>
                <a:tab pos="914400" algn="ctr"/>
                <a:tab pos="2286000" algn="ctr"/>
                <a:tab pos="3200400" algn="ctr"/>
                <a:tab pos="4114800" algn="ctr"/>
                <a:tab pos="5486400" algn="ctr"/>
              </a:tabLst>
            </a:pPr>
            <a:r>
              <a:rPr lang="en-US" dirty="0">
                <a:solidFill>
                  <a:schemeClr val="tx1"/>
                </a:solidFill>
              </a:rPr>
              <a:t>	1111	0001	.	0010	1100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>
            <a:off x="1900989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>
            <a:off x="3324726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5133474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6537157" y="3557337"/>
            <a:ext cx="0" cy="609600"/>
          </a:xfrm>
          <a:prstGeom prst="straightConnector1">
            <a:avLst/>
          </a:prstGeom>
          <a:ln w="28575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8118246" y="1094005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9123964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59189" y="3080031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02D9BF-3C85-C57A-0078-945C34DDE7F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60889562"/>
              </p:ext>
            </p:extLst>
          </p:nvPr>
        </p:nvGraphicFramePr>
        <p:xfrm>
          <a:off x="10128806" y="936569"/>
          <a:ext cx="1405811" cy="53708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25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843486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31593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23347146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49864"/>
            <a:ext cx="7265010" cy="697938"/>
          </a:xfrm>
        </p:spPr>
        <p:txBody>
          <a:bodyPr>
            <a:normAutofit/>
          </a:bodyPr>
          <a:lstStyle/>
          <a:p>
            <a:r>
              <a:rPr lang="en-US" dirty="0"/>
              <a:t>Example: 110101.010101</a:t>
            </a:r>
            <a:r>
              <a:rPr lang="en-US" baseline="-25000" dirty="0"/>
              <a:t>2</a:t>
            </a:r>
            <a:r>
              <a:rPr lang="en-US" dirty="0"/>
              <a:t> to Hex</a:t>
            </a:r>
          </a:p>
        </p:txBody>
      </p:sp>
      <p:sp>
        <p:nvSpPr>
          <p:cNvPr id="7" name="Content Placeholder 6"/>
          <p:cNvSpPr>
            <a:spLocks noGrp="1"/>
          </p:cNvSpPr>
          <p:nvPr>
            <p:ph idx="1"/>
          </p:nvPr>
        </p:nvSpPr>
        <p:spPr>
          <a:xfrm>
            <a:off x="936516" y="1791660"/>
            <a:ext cx="10405252" cy="485378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power relationship (16 = 2</a:t>
            </a:r>
            <a:r>
              <a:rPr lang="en-US" b="1" baseline="30000" dirty="0">
                <a:solidFill>
                  <a:srgbClr val="FF0000"/>
                </a:solidFill>
              </a:rPr>
              <a:t>4</a:t>
            </a:r>
            <a:r>
              <a:rPr lang="en-US" dirty="0">
                <a:solidFill>
                  <a:schemeClr val="tx1"/>
                </a:solidFill>
              </a:rPr>
              <a:t>)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Form groups of</a:t>
            </a:r>
            <a:r>
              <a:rPr lang="en-US" dirty="0"/>
              <a:t> </a:t>
            </a:r>
            <a:r>
              <a:rPr lang="en-US" b="1" dirty="0">
                <a:solidFill>
                  <a:srgbClr val="FF0000"/>
                </a:solidFill>
              </a:rPr>
              <a:t>4</a:t>
            </a:r>
            <a:r>
              <a:rPr lang="en-US" dirty="0"/>
              <a:t> </a:t>
            </a:r>
            <a:r>
              <a:rPr lang="en-US" dirty="0">
                <a:solidFill>
                  <a:schemeClr val="tx1"/>
                </a:solidFill>
              </a:rPr>
              <a:t>bits, starting at radix point: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 11  0101  .  0101  01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  <a:r>
              <a:rPr lang="en-US" dirty="0">
                <a:solidFill>
                  <a:schemeClr val="tx1"/>
                </a:solidFill>
              </a:rPr>
              <a:t>11  0101  .  0101  01</a:t>
            </a:r>
            <a:r>
              <a:rPr lang="en-US" b="1" dirty="0">
                <a:solidFill>
                  <a:srgbClr val="0070C0"/>
                </a:solidFill>
              </a:rPr>
              <a:t>00</a:t>
            </a:r>
          </a:p>
          <a:p>
            <a:pPr marL="0" indent="0">
              <a:buNone/>
            </a:pPr>
            <a:endParaRPr lang="en-US" sz="1300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Use Table to convert each group:</a:t>
            </a: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0011  0101  .   0101   0100</a:t>
            </a:r>
          </a:p>
          <a:p>
            <a:pPr marL="0" indent="0">
              <a:buNone/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</a:rPr>
              <a:t>	   3       5     .      5         4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7315200" y="2971800"/>
          <a:ext cx="3048000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85800">
                  <a:extLst>
                    <a:ext uri="{9D8B030D-6E8A-4147-A177-3AD203B41FA5}">
                      <a16:colId xmlns:a16="http://schemas.microsoft.com/office/drawing/2014/main" val="1746332057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125769222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50784738"/>
                    </a:ext>
                  </a:extLst>
                </a:gridCol>
                <a:gridCol w="838200">
                  <a:extLst>
                    <a:ext uri="{9D8B030D-6E8A-4147-A177-3AD203B41FA5}">
                      <a16:colId xmlns:a16="http://schemas.microsoft.com/office/drawing/2014/main" val="231331473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8128968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170536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3953262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8394656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8997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277645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39041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4457779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2236737"/>
                  </a:ext>
                </a:extLst>
              </a:tr>
            </a:tbl>
          </a:graphicData>
        </a:graphic>
      </p:graphicFrame>
      <p:grpSp>
        <p:nvGrpSpPr>
          <p:cNvPr id="14" name="Group 13"/>
          <p:cNvGrpSpPr/>
          <p:nvPr/>
        </p:nvGrpSpPr>
        <p:grpSpPr>
          <a:xfrm>
            <a:off x="1922074" y="5374105"/>
            <a:ext cx="552422" cy="533400"/>
            <a:chOff x="1524000" y="4572000"/>
            <a:chExt cx="762000" cy="533400"/>
          </a:xfrm>
        </p:grpSpPr>
        <p:cxnSp>
          <p:nvCxnSpPr>
            <p:cNvPr id="11" name="Straight Arrow Connector 10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" name="Straight Connector 1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Group 14"/>
          <p:cNvGrpSpPr/>
          <p:nvPr/>
        </p:nvGrpSpPr>
        <p:grpSpPr>
          <a:xfrm>
            <a:off x="2614863" y="5374105"/>
            <a:ext cx="545432" cy="533400"/>
            <a:chOff x="1524000" y="4572000"/>
            <a:chExt cx="762000" cy="533400"/>
          </a:xfrm>
        </p:grpSpPr>
        <p:cxnSp>
          <p:nvCxnSpPr>
            <p:cNvPr id="16" name="Straight Arrow Connector 15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Straight Connector 16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3551838" y="5374105"/>
            <a:ext cx="591036" cy="533400"/>
            <a:chOff x="1524000" y="4572000"/>
            <a:chExt cx="762000" cy="5334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4360703" y="5374105"/>
            <a:ext cx="592297" cy="533400"/>
            <a:chOff x="1524000" y="4572000"/>
            <a:chExt cx="762000" cy="5334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1905000" y="4572000"/>
              <a:ext cx="0" cy="533400"/>
            </a:xfrm>
            <a:prstGeom prst="straightConnector1">
              <a:avLst/>
            </a:prstGeom>
            <a:ln w="31750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1524000" y="4572000"/>
              <a:ext cx="762000" cy="0"/>
            </a:xfrm>
            <a:prstGeom prst="line">
              <a:avLst/>
            </a:prstGeom>
            <a:ln w="31750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25" name="Straight Arrow Connector 24"/>
          <p:cNvCxnSpPr/>
          <p:nvPr/>
        </p:nvCxnSpPr>
        <p:spPr>
          <a:xfrm flipH="1">
            <a:off x="2943726" y="2133600"/>
            <a:ext cx="1199148" cy="766011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87251451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7CBF680B-ADE2-45D3-AAF0-628F148C1D1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Octal</a:t>
            </a:r>
          </a:p>
        </p:txBody>
      </p:sp>
    </p:spTree>
    <p:extLst>
      <p:ext uri="{BB962C8B-B14F-4D97-AF65-F5344CB8AC3E}">
        <p14:creationId xmlns:p14="http://schemas.microsoft.com/office/powerpoint/2010/main" val="3071873933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/>
          <p:cNvSpPr>
            <a:spLocks noGrp="1"/>
          </p:cNvSpPr>
          <p:nvPr>
            <p:ph type="title"/>
          </p:nvPr>
        </p:nvSpPr>
        <p:spPr>
          <a:xfrm>
            <a:off x="948547" y="718622"/>
            <a:ext cx="4072632" cy="725168"/>
          </a:xfrm>
        </p:spPr>
        <p:txBody>
          <a:bodyPr>
            <a:normAutofit fontScale="90000"/>
          </a:bodyPr>
          <a:lstStyle/>
          <a:p>
            <a:r>
              <a:rPr lang="en-US" dirty="0"/>
              <a:t>Octal/Binary Table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648134" y="2199578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sp>
        <p:nvSpPr>
          <p:cNvPr id="2" name="TextBox 1"/>
          <p:cNvSpPr txBox="1"/>
          <p:nvPr/>
        </p:nvSpPr>
        <p:spPr>
          <a:xfrm>
            <a:off x="3783263" y="2288986"/>
            <a:ext cx="7500771" cy="28623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and hexadecimal is a compromise between binary and decimal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Easier to read for humans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Was more important in the early days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Octal is not really used a lot</a:t>
            </a: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One the rights of a Unix/Linux file it is used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48763849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Hard way: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decimal (polynomial evaluation)</a:t>
            </a: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4572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decimal to hex (repeated division/multiplication)</a:t>
            </a:r>
          </a:p>
        </p:txBody>
      </p:sp>
    </p:spTree>
    <p:extLst>
      <p:ext uri="{BB962C8B-B14F-4D97-AF65-F5344CB8AC3E}">
        <p14:creationId xmlns:p14="http://schemas.microsoft.com/office/powerpoint/2010/main" val="2556433624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70C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70C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Easy way: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 using short-cut (8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3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binary to hex using short-cut (16 = 2</a:t>
            </a:r>
            <a:r>
              <a:rPr kumimoji="0" lang="en-US" sz="2800" b="0" i="0" u="none" strike="noStrike" kern="1200" cap="none" spc="0" normalizeH="0" baseline="30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4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394249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1541753"/>
            <a:ext cx="10405252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596641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596641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Example: 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 ?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16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  <a:sym typeface="Wingdings" panose="05000000000000000000" pitchFamily="2" charset="2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12.65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8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001 010 . 110 101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 = 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  <a:sym typeface="Wingdings" panose="05000000000000000000" pitchFamily="2" charset="2"/>
              </a:rPr>
              <a:t>2</a:t>
            </a: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514350" marR="0" lvl="0" indent="-5143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001010.110101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0000 1010 . 1101 0100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2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= 0A.D4</a:t>
            </a:r>
            <a:r>
              <a:rPr kumimoji="0" lang="en-US" sz="2800" b="0" i="0" u="none" strike="noStrike" kern="1200" cap="none" spc="0" normalizeH="0" baseline="-250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4011933271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28495" y="753109"/>
            <a:ext cx="7417410" cy="634534"/>
          </a:xfrm>
        </p:spPr>
        <p:txBody>
          <a:bodyPr>
            <a:normAutofit/>
          </a:bodyPr>
          <a:lstStyle/>
          <a:p>
            <a:r>
              <a:rPr lang="en-US" dirty="0"/>
              <a:t>Converting Octal (Base 8) to Hex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28495" y="2345057"/>
            <a:ext cx="10405252" cy="224676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octal to binary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endParaRPr kumimoji="0" lang="en-US" sz="2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+mj-lt"/>
              <a:buAutoNum type="arabicPeriod"/>
              <a:tabLst/>
              <a:defRPr/>
            </a:pPr>
            <a:r>
              <a:rPr kumimoji="0" lang="en-US" sz="2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Convert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binary to hex </a:t>
            </a:r>
          </a:p>
        </p:txBody>
      </p:sp>
    </p:spTree>
    <p:extLst>
      <p:ext uri="{BB962C8B-B14F-4D97-AF65-F5344CB8AC3E}">
        <p14:creationId xmlns:p14="http://schemas.microsoft.com/office/powerpoint/2010/main" val="1555432299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/>
          </a:bodyPr>
          <a:lstStyle/>
          <a:p>
            <a:r>
              <a:rPr lang="en-US" dirty="0"/>
              <a:t>Convert 21.34</a:t>
            </a:r>
            <a:r>
              <a:rPr lang="en-US" baseline="-25000" dirty="0"/>
              <a:t>8</a:t>
            </a:r>
            <a:r>
              <a:rPr lang="en-US" dirty="0"/>
              <a:t> to Binary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755267" y="2291264"/>
            <a:ext cx="3962401" cy="2220279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               </a:t>
            </a:r>
            <a:r>
              <a:rPr lang="en-US" dirty="0">
                <a:solidFill>
                  <a:schemeClr val="tx1"/>
                </a:solidFill>
              </a:rPr>
              <a:t>2     1     .    3     4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	</a:t>
            </a:r>
          </a:p>
          <a:p>
            <a:pPr marL="0" indent="0">
              <a:buNone/>
              <a:tabLst>
                <a:tab pos="1941513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>
                <a:solidFill>
                  <a:schemeClr val="tx1"/>
                </a:solidFill>
              </a:rPr>
              <a:t>             010 001   .  011 100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36" name="Straight Connector 35"/>
          <p:cNvCxnSpPr/>
          <p:nvPr/>
        </p:nvCxnSpPr>
        <p:spPr>
          <a:xfrm>
            <a:off x="8360916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804528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467831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6990402" y="2902211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2684442" y="196024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5672455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type="body" idx="1"/>
          </p:nvPr>
        </p:nvSpPr>
        <p:spPr>
          <a:xfrm>
            <a:off x="1640305" y="1527091"/>
            <a:ext cx="4275221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Base 16 to base 2 (16=2</a:t>
            </a:r>
            <a:r>
              <a:rPr lang="en-US" baseline="30000" dirty="0">
                <a:solidFill>
                  <a:schemeClr val="bg1"/>
                </a:solidFill>
              </a:rPr>
              <a:t>4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cxnSp>
        <p:nvCxnSpPr>
          <p:cNvPr id="14" name="Straight Arrow Connector 13"/>
          <p:cNvCxnSpPr/>
          <p:nvPr/>
        </p:nvCxnSpPr>
        <p:spPr>
          <a:xfrm flipV="1">
            <a:off x="5314445" y="2947737"/>
            <a:ext cx="1486023" cy="760961"/>
          </a:xfrm>
          <a:prstGeom prst="straightConnector1">
            <a:avLst/>
          </a:prstGeom>
          <a:ln w="127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5071" y="729660"/>
            <a:ext cx="5868813" cy="634421"/>
          </a:xfrm>
        </p:spPr>
        <p:txBody>
          <a:bodyPr>
            <a:normAutofit fontScale="90000"/>
          </a:bodyPr>
          <a:lstStyle/>
          <a:p>
            <a:r>
              <a:rPr lang="en-US" dirty="0"/>
              <a:t>Convert AB.CD</a:t>
            </a:r>
            <a:r>
              <a:rPr lang="en-US" baseline="-25000" dirty="0"/>
              <a:t>16</a:t>
            </a:r>
            <a:r>
              <a:rPr lang="en-US" dirty="0"/>
              <a:t> to base 8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1699954" y="2166853"/>
            <a:ext cx="3836214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A	B	.	C	D</a:t>
            </a:r>
            <a:r>
              <a:rPr lang="en-US" baseline="-25000" dirty="0">
                <a:solidFill>
                  <a:schemeClr val="tx1"/>
                </a:solidFill>
              </a:rPr>
              <a:t>16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457200" algn="ctr"/>
                <a:tab pos="1371600" algn="ctr"/>
                <a:tab pos="1828800" algn="ctr"/>
                <a:tab pos="2286000" algn="ctr"/>
                <a:tab pos="3200400" algn="ctr"/>
              </a:tabLst>
            </a:pPr>
            <a:r>
              <a:rPr lang="en-US" dirty="0">
                <a:solidFill>
                  <a:schemeClr val="tx1"/>
                </a:solidFill>
              </a:rPr>
              <a:t>	1010	1011	.	1100	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969302" y="1526686"/>
            <a:ext cx="5529278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Base 2 to base 8 (8=2</a:t>
            </a:r>
            <a:r>
              <a:rPr lang="en-US" baseline="30000" dirty="0">
                <a:solidFill>
                  <a:schemeClr val="bg1"/>
                </a:solidFill>
              </a:rPr>
              <a:t>3</a:t>
            </a:r>
            <a:r>
              <a:rPr lang="en-US" dirty="0">
                <a:solidFill>
                  <a:schemeClr val="bg1"/>
                </a:solidFill>
              </a:rPr>
              <a:t>)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983702" y="2303796"/>
            <a:ext cx="3962401" cy="3951288"/>
          </a:xfrm>
        </p:spPr>
        <p:txBody>
          <a:bodyPr/>
          <a:lstStyle/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194151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10101011.11001101</a:t>
            </a:r>
            <a:r>
              <a:rPr lang="en-US" baseline="-25000" dirty="0">
                <a:solidFill>
                  <a:schemeClr val="tx1"/>
                </a:solidFill>
              </a:rPr>
              <a:t>2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1828800" algn="ctr"/>
              </a:tabLst>
            </a:pP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>
                <a:solidFill>
                  <a:schemeClr val="tx1"/>
                </a:solidFill>
              </a:rPr>
              <a:t>	010	101	011	110	011	010</a:t>
            </a:r>
          </a:p>
          <a:p>
            <a:pPr marL="0" indent="0">
              <a:buNone/>
              <a:tabLst>
                <a:tab pos="1828800" algn="ctr"/>
              </a:tabLst>
            </a:pPr>
            <a:endParaRPr lang="en-US" sz="3200" dirty="0"/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rgbClr val="00B0F0"/>
                </a:solidFill>
              </a:rPr>
              <a:t>0</a:t>
            </a:r>
            <a:r>
              <a:rPr lang="en-US" dirty="0">
                <a:solidFill>
                  <a:schemeClr val="tx1"/>
                </a:solidFill>
              </a:rPr>
              <a:t>10	101	011	110	011	01</a:t>
            </a:r>
            <a:r>
              <a:rPr lang="en-US" dirty="0">
                <a:solidFill>
                  <a:srgbClr val="00B0F0"/>
                </a:solidFill>
              </a:rPr>
              <a:t>0</a:t>
            </a: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endParaRPr lang="en-US" dirty="0">
              <a:solidFill>
                <a:srgbClr val="00B0F0"/>
              </a:solidFill>
            </a:endParaRPr>
          </a:p>
          <a:p>
            <a:pPr marL="0" indent="0">
              <a:buNone/>
              <a:tabLst>
                <a:tab pos="284163" algn="ctr"/>
                <a:tab pos="914400" algn="ctr"/>
                <a:tab pos="1544638" algn="ctr"/>
                <a:tab pos="2225675" algn="ctr"/>
                <a:tab pos="2855913" algn="ctr"/>
                <a:tab pos="3484563" algn="ctr"/>
              </a:tabLst>
            </a:pPr>
            <a:r>
              <a:rPr lang="en-US" dirty="0"/>
              <a:t>	</a:t>
            </a:r>
            <a:r>
              <a:rPr lang="en-US" dirty="0">
                <a:solidFill>
                  <a:schemeClr val="tx1"/>
                </a:solidFill>
              </a:rPr>
              <a:t>2	5	3	6	3	2</a:t>
            </a:r>
            <a:r>
              <a:rPr lang="en-US" baseline="-25000" dirty="0">
                <a:solidFill>
                  <a:schemeClr val="tx1"/>
                </a:solidFill>
              </a:rPr>
              <a:t>8</a:t>
            </a:r>
            <a:endParaRPr lang="en-US" dirty="0">
              <a:solidFill>
                <a:schemeClr val="tx1"/>
              </a:solidFill>
            </a:endParaRPr>
          </a:p>
          <a:p>
            <a:pPr marL="0" indent="0">
              <a:buNone/>
            </a:pPr>
            <a:endParaRPr lang="en-US" dirty="0"/>
          </a:p>
        </p:txBody>
      </p:sp>
      <p:cxnSp>
        <p:nvCxnSpPr>
          <p:cNvPr id="8" name="Straight Arrow Connector 7"/>
          <p:cNvCxnSpPr/>
          <p:nvPr/>
        </p:nvCxnSpPr>
        <p:spPr>
          <a:xfrm>
            <a:off x="2217837" y="3033963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>
            <a:off x="3156300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Straight Arrow Connector 9"/>
          <p:cNvCxnSpPr/>
          <p:nvPr/>
        </p:nvCxnSpPr>
        <p:spPr>
          <a:xfrm>
            <a:off x="4062679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Arrow Connector 10"/>
          <p:cNvCxnSpPr/>
          <p:nvPr/>
        </p:nvCxnSpPr>
        <p:spPr>
          <a:xfrm>
            <a:off x="4936974" y="3006027"/>
            <a:ext cx="0" cy="533400"/>
          </a:xfrm>
          <a:prstGeom prst="straightConnector1">
            <a:avLst/>
          </a:prstGeom>
          <a:ln w="222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7" name="Group 16"/>
          <p:cNvGrpSpPr/>
          <p:nvPr/>
        </p:nvGrpSpPr>
        <p:grpSpPr>
          <a:xfrm>
            <a:off x="6133329" y="5067477"/>
            <a:ext cx="457200" cy="457200"/>
            <a:chOff x="4800600" y="4800600"/>
            <a:chExt cx="457200" cy="457200"/>
          </a:xfrm>
        </p:grpSpPr>
        <p:cxnSp>
          <p:nvCxnSpPr>
            <p:cNvPr id="13" name="Straight Arrow Connector 12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8" name="Group 17"/>
          <p:cNvGrpSpPr/>
          <p:nvPr/>
        </p:nvGrpSpPr>
        <p:grpSpPr>
          <a:xfrm>
            <a:off x="6768806" y="5071488"/>
            <a:ext cx="457200" cy="457200"/>
            <a:chOff x="4800600" y="4800600"/>
            <a:chExt cx="457200" cy="457200"/>
          </a:xfrm>
        </p:grpSpPr>
        <p:cxnSp>
          <p:nvCxnSpPr>
            <p:cNvPr id="19" name="Straight Arrow Connector 18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1" name="Group 20"/>
          <p:cNvGrpSpPr/>
          <p:nvPr/>
        </p:nvGrpSpPr>
        <p:grpSpPr>
          <a:xfrm>
            <a:off x="7404283" y="5067477"/>
            <a:ext cx="457200" cy="457200"/>
            <a:chOff x="4800600" y="4800600"/>
            <a:chExt cx="457200" cy="457200"/>
          </a:xfrm>
        </p:grpSpPr>
        <p:cxnSp>
          <p:nvCxnSpPr>
            <p:cNvPr id="22" name="Straight Arrow Connector 21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Straight Connector 22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4" name="Group 23"/>
          <p:cNvGrpSpPr/>
          <p:nvPr/>
        </p:nvGrpSpPr>
        <p:grpSpPr>
          <a:xfrm>
            <a:off x="8092278" y="5067477"/>
            <a:ext cx="457200" cy="457200"/>
            <a:chOff x="4800600" y="4800600"/>
            <a:chExt cx="457200" cy="457200"/>
          </a:xfrm>
        </p:grpSpPr>
        <p:cxnSp>
          <p:nvCxnSpPr>
            <p:cNvPr id="25" name="Straight Arrow Connector 24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Straight Connector 25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27" name="Group 26"/>
          <p:cNvGrpSpPr/>
          <p:nvPr/>
        </p:nvGrpSpPr>
        <p:grpSpPr>
          <a:xfrm>
            <a:off x="8727756" y="5067477"/>
            <a:ext cx="457200" cy="457200"/>
            <a:chOff x="4800600" y="4800600"/>
            <a:chExt cx="457200" cy="457200"/>
          </a:xfrm>
        </p:grpSpPr>
        <p:cxnSp>
          <p:nvCxnSpPr>
            <p:cNvPr id="28" name="Straight Arrow Connector 27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Straight Connector 28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Group 29"/>
          <p:cNvGrpSpPr/>
          <p:nvPr/>
        </p:nvGrpSpPr>
        <p:grpSpPr>
          <a:xfrm>
            <a:off x="9368016" y="5067477"/>
            <a:ext cx="417665" cy="457200"/>
            <a:chOff x="4800600" y="4800600"/>
            <a:chExt cx="457200" cy="457200"/>
          </a:xfrm>
        </p:grpSpPr>
        <p:cxnSp>
          <p:nvCxnSpPr>
            <p:cNvPr id="31" name="Straight Arrow Connector 30"/>
            <p:cNvCxnSpPr/>
            <p:nvPr/>
          </p:nvCxnSpPr>
          <p:spPr>
            <a:xfrm>
              <a:off x="5029200" y="4800600"/>
              <a:ext cx="0" cy="457200"/>
            </a:xfrm>
            <a:prstGeom prst="straightConnector1">
              <a:avLst/>
            </a:prstGeom>
            <a:ln w="22225">
              <a:solidFill>
                <a:srgbClr val="FF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Straight Connector 31"/>
            <p:cNvCxnSpPr/>
            <p:nvPr/>
          </p:nvCxnSpPr>
          <p:spPr>
            <a:xfrm>
              <a:off x="4800600" y="4800600"/>
              <a:ext cx="457200" cy="0"/>
            </a:xfrm>
            <a:prstGeom prst="line">
              <a:avLst/>
            </a:prstGeom>
            <a:ln w="22225">
              <a:solidFill>
                <a:srgbClr val="FF0000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TextBox 32"/>
          <p:cNvSpPr txBox="1"/>
          <p:nvPr/>
        </p:nvSpPr>
        <p:spPr>
          <a:xfrm>
            <a:off x="7790841" y="5647039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36302" y="3687696"/>
            <a:ext cx="457200" cy="40011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.</a:t>
            </a:r>
          </a:p>
        </p:txBody>
      </p:sp>
      <p:cxnSp>
        <p:nvCxnSpPr>
          <p:cNvPr id="36" name="Straight Connector 35"/>
          <p:cNvCxnSpPr/>
          <p:nvPr/>
        </p:nvCxnSpPr>
        <p:spPr>
          <a:xfrm>
            <a:off x="8021051" y="263491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/>
          <p:cNvCxnSpPr/>
          <p:nvPr/>
        </p:nvCxnSpPr>
        <p:spPr>
          <a:xfrm>
            <a:off x="841309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/>
          <p:cNvCxnSpPr/>
          <p:nvPr/>
        </p:nvCxnSpPr>
        <p:spPr>
          <a:xfrm>
            <a:off x="8789256" y="2590800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/>
          <p:cNvCxnSpPr/>
          <p:nvPr/>
        </p:nvCxnSpPr>
        <p:spPr>
          <a:xfrm>
            <a:off x="7524955" y="2614863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/>
          <p:cNvCxnSpPr/>
          <p:nvPr/>
        </p:nvCxnSpPr>
        <p:spPr>
          <a:xfrm>
            <a:off x="7136537" y="2638926"/>
            <a:ext cx="0" cy="68580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Down Arrow 40"/>
          <p:cNvSpPr/>
          <p:nvPr/>
        </p:nvSpPr>
        <p:spPr>
          <a:xfrm>
            <a:off x="7790841" y="4085662"/>
            <a:ext cx="381000" cy="533400"/>
          </a:xfrm>
          <a:prstGeom prst="downArrow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aphicFrame>
        <p:nvGraphicFramePr>
          <p:cNvPr id="43" name="Table 42"/>
          <p:cNvGraphicFramePr>
            <a:graphicFrameLocks noGrp="1"/>
          </p:cNvGraphicFramePr>
          <p:nvPr/>
        </p:nvGraphicFramePr>
        <p:xfrm>
          <a:off x="315534" y="1527091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45" name="Table 44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  <p:cxnSp>
        <p:nvCxnSpPr>
          <p:cNvPr id="52" name="Straight Arrow Connector 51"/>
          <p:cNvCxnSpPr/>
          <p:nvPr/>
        </p:nvCxnSpPr>
        <p:spPr>
          <a:xfrm flipV="1">
            <a:off x="1640304" y="3900582"/>
            <a:ext cx="570009" cy="111859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/>
          <p:cNvCxnSpPr/>
          <p:nvPr/>
        </p:nvCxnSpPr>
        <p:spPr>
          <a:xfrm flipV="1">
            <a:off x="1640304" y="3887751"/>
            <a:ext cx="1466130" cy="14302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/>
          <p:cNvCxnSpPr/>
          <p:nvPr/>
        </p:nvCxnSpPr>
        <p:spPr>
          <a:xfrm flipV="1">
            <a:off x="1640304" y="3887751"/>
            <a:ext cx="2459735" cy="175928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/>
          <p:cNvCxnSpPr/>
          <p:nvPr/>
        </p:nvCxnSpPr>
        <p:spPr>
          <a:xfrm flipV="1">
            <a:off x="1640304" y="3900582"/>
            <a:ext cx="3320252" cy="205505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7309837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1262" y="747482"/>
            <a:ext cx="588073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  <a:tabLst>
                <a:tab pos="3763645" algn="l"/>
              </a:tabLst>
            </a:pPr>
            <a:r>
              <a:rPr spc="-5" dirty="0"/>
              <a:t>Convert</a:t>
            </a:r>
            <a:r>
              <a:rPr spc="25" dirty="0"/>
              <a:t> </a:t>
            </a:r>
            <a:r>
              <a:rPr dirty="0"/>
              <a:t>FA.CE</a:t>
            </a:r>
            <a:r>
              <a:rPr sz="4350" baseline="-19157" dirty="0"/>
              <a:t>16	</a:t>
            </a:r>
            <a:r>
              <a:rPr dirty="0"/>
              <a:t>to</a:t>
            </a:r>
            <a:r>
              <a:rPr spc="-25" dirty="0"/>
              <a:t> </a:t>
            </a:r>
            <a:r>
              <a:rPr spc="-5" dirty="0"/>
              <a:t>base</a:t>
            </a:r>
            <a:r>
              <a:rPr spc="-40" dirty="0"/>
              <a:t> </a:t>
            </a:r>
            <a:r>
              <a:rPr dirty="0"/>
              <a:t>8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1981200" y="2349245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20637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(16=2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5057140" y="3505009"/>
            <a:ext cx="431800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600" b="0" i="0" u="none" strike="noStrike" kern="1200" cap="none" spc="0" normalizeH="0" baseline="11574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</a:t>
            </a:r>
            <a:r>
              <a:rPr kumimoji="0" sz="16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16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183766" y="3441001"/>
            <a:ext cx="3499485" cy="1269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276225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172210" algn="l"/>
                <a:tab pos="1678939" algn="l"/>
                <a:tab pos="209359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	A	.	C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951865" algn="l"/>
                <a:tab pos="2729230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	1010</a:t>
            </a:r>
            <a:r>
              <a:rPr kumimoji="0" sz="2400" b="0" i="0" u="none" strike="noStrike" kern="1200" cap="none" spc="3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r>
              <a:rPr kumimoji="0" sz="2400" b="0" i="0" u="none" strike="noStrike" kern="1200" cap="none" spc="3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541778" y="5562409"/>
            <a:ext cx="271970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6169026" y="2349245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327025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400" b="1" i="0" u="none" strike="noStrike" kern="1200" cap="none" spc="-2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base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(8=2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/>
          <p:nvPr/>
        </p:nvSpPr>
        <p:spPr>
          <a:xfrm>
            <a:off x="2476500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33909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10"/>
          <p:cNvSpPr/>
          <p:nvPr/>
        </p:nvSpPr>
        <p:spPr>
          <a:xfrm>
            <a:off x="43053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1" name="object 11"/>
          <p:cNvSpPr/>
          <p:nvPr/>
        </p:nvSpPr>
        <p:spPr>
          <a:xfrm>
            <a:off x="5219701" y="3862133"/>
            <a:ext cx="76200" cy="533400"/>
          </a:xfrm>
          <a:custGeom>
            <a:avLst/>
            <a:gdLst/>
            <a:ahLst/>
            <a:cxnLst/>
            <a:rect l="l" t="t" r="r" b="b"/>
            <a:pathLst>
              <a:path w="76200" h="533400">
                <a:moveTo>
                  <a:pt x="26987" y="457200"/>
                </a:moveTo>
                <a:lnTo>
                  <a:pt x="0" y="457200"/>
                </a:lnTo>
                <a:lnTo>
                  <a:pt x="38100" y="533400"/>
                </a:lnTo>
                <a:lnTo>
                  <a:pt x="69850" y="469900"/>
                </a:lnTo>
                <a:lnTo>
                  <a:pt x="26987" y="469900"/>
                </a:lnTo>
                <a:lnTo>
                  <a:pt x="26987" y="457200"/>
                </a:lnTo>
                <a:close/>
              </a:path>
              <a:path w="76200" h="533400">
                <a:moveTo>
                  <a:pt x="49211" y="0"/>
                </a:moveTo>
                <a:lnTo>
                  <a:pt x="26986" y="0"/>
                </a:lnTo>
                <a:lnTo>
                  <a:pt x="26987" y="469900"/>
                </a:lnTo>
                <a:lnTo>
                  <a:pt x="49212" y="469900"/>
                </a:lnTo>
                <a:lnTo>
                  <a:pt x="49211" y="0"/>
                </a:lnTo>
                <a:close/>
              </a:path>
              <a:path w="76200" h="533400">
                <a:moveTo>
                  <a:pt x="76200" y="457200"/>
                </a:moveTo>
                <a:lnTo>
                  <a:pt x="49212" y="457200"/>
                </a:lnTo>
                <a:lnTo>
                  <a:pt x="49212" y="469900"/>
                </a:lnTo>
                <a:lnTo>
                  <a:pt x="69850" y="469900"/>
                </a:lnTo>
                <a:lnTo>
                  <a:pt x="76200" y="457200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12" name="object 12"/>
          <p:cNvGrpSpPr/>
          <p:nvPr/>
        </p:nvGrpSpPr>
        <p:grpSpPr>
          <a:xfrm>
            <a:off x="3721100" y="4916233"/>
            <a:ext cx="406400" cy="558800"/>
            <a:chOff x="2197100" y="4102100"/>
            <a:chExt cx="406400" cy="558800"/>
          </a:xfrm>
        </p:grpSpPr>
        <p:sp>
          <p:nvSpPr>
            <p:cNvPr id="13" name="object 13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14" name="object 14"/>
            <p:cNvSpPr/>
            <p:nvPr/>
          </p:nvSpPr>
          <p:spPr>
            <a:xfrm>
              <a:off x="2209800" y="411480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15" name="object 15"/>
          <p:cNvSpPr/>
          <p:nvPr/>
        </p:nvSpPr>
        <p:spPr>
          <a:xfrm>
            <a:off x="6515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71247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7760178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8" name="object 18"/>
          <p:cNvSpPr/>
          <p:nvPr/>
        </p:nvSpPr>
        <p:spPr>
          <a:xfrm>
            <a:off x="8420101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9" name="object 19"/>
          <p:cNvSpPr/>
          <p:nvPr/>
        </p:nvSpPr>
        <p:spPr>
          <a:xfrm>
            <a:off x="9071396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0" name="object 20"/>
          <p:cNvSpPr/>
          <p:nvPr/>
        </p:nvSpPr>
        <p:spPr>
          <a:xfrm>
            <a:off x="9716934" y="5709618"/>
            <a:ext cx="76200" cy="457200"/>
          </a:xfrm>
          <a:custGeom>
            <a:avLst/>
            <a:gdLst/>
            <a:ahLst/>
            <a:cxnLst/>
            <a:rect l="l" t="t" r="r" b="b"/>
            <a:pathLst>
              <a:path w="76200" h="457200">
                <a:moveTo>
                  <a:pt x="26987" y="380999"/>
                </a:moveTo>
                <a:lnTo>
                  <a:pt x="0" y="380999"/>
                </a:lnTo>
                <a:lnTo>
                  <a:pt x="38100" y="457199"/>
                </a:lnTo>
                <a:lnTo>
                  <a:pt x="69849" y="393701"/>
                </a:lnTo>
                <a:lnTo>
                  <a:pt x="26987" y="393701"/>
                </a:lnTo>
                <a:lnTo>
                  <a:pt x="26987" y="380999"/>
                </a:lnTo>
                <a:close/>
              </a:path>
              <a:path w="76200" h="457200">
                <a:moveTo>
                  <a:pt x="49211" y="0"/>
                </a:moveTo>
                <a:lnTo>
                  <a:pt x="26986" y="0"/>
                </a:lnTo>
                <a:lnTo>
                  <a:pt x="26987" y="393701"/>
                </a:lnTo>
                <a:lnTo>
                  <a:pt x="49212" y="393699"/>
                </a:lnTo>
                <a:lnTo>
                  <a:pt x="49211" y="0"/>
                </a:lnTo>
                <a:close/>
              </a:path>
              <a:path w="76200" h="457200">
                <a:moveTo>
                  <a:pt x="76200" y="380999"/>
                </a:moveTo>
                <a:lnTo>
                  <a:pt x="49212" y="380999"/>
                </a:lnTo>
                <a:lnTo>
                  <a:pt x="49212" y="393699"/>
                </a:lnTo>
                <a:lnTo>
                  <a:pt x="26987" y="393701"/>
                </a:lnTo>
                <a:lnTo>
                  <a:pt x="69850" y="393699"/>
                </a:lnTo>
                <a:lnTo>
                  <a:pt x="76200" y="380999"/>
                </a:lnTo>
                <a:close/>
              </a:path>
            </a:pathLst>
          </a:custGeom>
          <a:solidFill>
            <a:srgbClr val="FF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81706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8653729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3" name="object 23"/>
          <p:cNvSpPr/>
          <p:nvPr/>
        </p:nvSpPr>
        <p:spPr>
          <a:xfrm>
            <a:off x="9118120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4" name="object 24"/>
          <p:cNvSpPr/>
          <p:nvPr/>
        </p:nvSpPr>
        <p:spPr>
          <a:xfrm>
            <a:off x="7637251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25" name="object 25"/>
          <p:cNvSpPr/>
          <p:nvPr/>
        </p:nvSpPr>
        <p:spPr>
          <a:xfrm>
            <a:off x="7188677" y="3328733"/>
            <a:ext cx="0" cy="685800"/>
          </a:xfrm>
          <a:custGeom>
            <a:avLst/>
            <a:gdLst/>
            <a:ahLst/>
            <a:cxnLst/>
            <a:rect l="l" t="t" r="r" b="b"/>
            <a:pathLst>
              <a:path h="685800">
                <a:moveTo>
                  <a:pt x="0" y="0"/>
                </a:moveTo>
                <a:lnTo>
                  <a:pt x="1" y="685800"/>
                </a:lnTo>
              </a:path>
            </a:pathLst>
          </a:custGeom>
          <a:ln w="19050">
            <a:solidFill>
              <a:srgbClr val="FF0000"/>
            </a:solidFill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26" name="object 26"/>
          <p:cNvGrpSpPr/>
          <p:nvPr/>
        </p:nvGrpSpPr>
        <p:grpSpPr>
          <a:xfrm>
            <a:off x="7950200" y="4723113"/>
            <a:ext cx="406400" cy="558800"/>
            <a:chOff x="6426200" y="3908980"/>
            <a:chExt cx="406400" cy="558800"/>
          </a:xfrm>
        </p:grpSpPr>
        <p:sp>
          <p:nvSpPr>
            <p:cNvPr id="27" name="object 27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285750" y="0"/>
                  </a:moveTo>
                  <a:lnTo>
                    <a:pt x="95250" y="0"/>
                  </a:lnTo>
                  <a:lnTo>
                    <a:pt x="95250" y="342900"/>
                  </a:lnTo>
                  <a:lnTo>
                    <a:pt x="0" y="342900"/>
                  </a:lnTo>
                  <a:lnTo>
                    <a:pt x="190500" y="533400"/>
                  </a:lnTo>
                  <a:lnTo>
                    <a:pt x="381000" y="342900"/>
                  </a:lnTo>
                  <a:lnTo>
                    <a:pt x="285750" y="342900"/>
                  </a:lnTo>
                  <a:lnTo>
                    <a:pt x="285750" y="0"/>
                  </a:lnTo>
                  <a:close/>
                </a:path>
              </a:pathLst>
            </a:custGeom>
            <a:solidFill>
              <a:srgbClr val="FFFFCC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28" name="object 28"/>
            <p:cNvSpPr/>
            <p:nvPr/>
          </p:nvSpPr>
          <p:spPr>
            <a:xfrm>
              <a:off x="6438900" y="3921680"/>
              <a:ext cx="381000" cy="533400"/>
            </a:xfrm>
            <a:custGeom>
              <a:avLst/>
              <a:gdLst/>
              <a:ahLst/>
              <a:cxnLst/>
              <a:rect l="l" t="t" r="r" b="b"/>
              <a:pathLst>
                <a:path w="381000" h="533400">
                  <a:moveTo>
                    <a:pt x="0" y="342900"/>
                  </a:moveTo>
                  <a:lnTo>
                    <a:pt x="95250" y="342900"/>
                  </a:lnTo>
                  <a:lnTo>
                    <a:pt x="95250" y="0"/>
                  </a:lnTo>
                  <a:lnTo>
                    <a:pt x="285750" y="0"/>
                  </a:lnTo>
                  <a:lnTo>
                    <a:pt x="285750" y="342900"/>
                  </a:lnTo>
                  <a:lnTo>
                    <a:pt x="381000" y="342900"/>
                  </a:lnTo>
                  <a:lnTo>
                    <a:pt x="190500" y="533400"/>
                  </a:lnTo>
                  <a:lnTo>
                    <a:pt x="0" y="342900"/>
                  </a:lnTo>
                  <a:close/>
                </a:path>
              </a:pathLst>
            </a:custGeom>
            <a:ln w="25400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sp>
        <p:nvSpPr>
          <p:cNvPr id="29" name="object 29"/>
          <p:cNvSpPr txBox="1"/>
          <p:nvPr/>
        </p:nvSpPr>
        <p:spPr>
          <a:xfrm>
            <a:off x="6250496" y="3441001"/>
            <a:ext cx="3790315" cy="317436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13030" marR="0" lvl="0" indent="0" algn="ctr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11111010.11001110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	111	010</a:t>
            </a:r>
            <a:r>
              <a:rPr kumimoji="0" sz="2400" b="0" i="0" u="none" strike="noStrike" kern="1200" cap="none" spc="1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75" normalizeH="0" baseline="-277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	011	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692785" algn="l"/>
                <a:tab pos="1323340" algn="l"/>
                <a:tab pos="2634615" algn="l"/>
                <a:tab pos="3263265" algn="l"/>
              </a:tabLst>
              <a:defRPr/>
            </a:pP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010</a:t>
            </a:r>
            <a:r>
              <a:rPr kumimoji="0" sz="2400" b="0" i="0" u="none" strike="noStrike" kern="1200" cap="none" spc="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000" b="1" i="0" u="none" strike="noStrike" kern="1200" cap="none" spc="0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r>
              <a:rPr kumimoji="0" sz="3000" b="1" i="0" u="none" strike="noStrike" kern="1200" cap="none" spc="225" normalizeH="0" baseline="-1250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110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011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10</a:t>
            </a:r>
            <a:r>
              <a:rPr kumimoji="0" sz="2400" b="0" i="0" u="heavy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>
                  <a:solidFill>
                    <a:srgbClr val="FF0000"/>
                  </a:solidFill>
                </a:uFill>
                <a:latin typeface="Calibri"/>
                <a:ea typeface="+mn-ea"/>
                <a:cs typeface="Calibri"/>
              </a:rPr>
              <a:t>0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1717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847090" algn="l"/>
                <a:tab pos="1477645" algn="l"/>
                <a:tab pos="1870710" algn="l"/>
                <a:tab pos="2158365" algn="l"/>
                <a:tab pos="2788920" algn="l"/>
                <a:tab pos="3366135" algn="l"/>
              </a:tabLst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	7	2	</a:t>
            </a:r>
            <a:r>
              <a:rPr kumimoji="0" sz="20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	3	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30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322428" y="1484883"/>
          <a:ext cx="1324770" cy="5181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9909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794861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10105157" y="2624053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36385788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BB1EDC84-3F9E-4FFC-8709-F3819A5D9DC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70B13FFC-EB4C-4CA6-A3BB-084038728AD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5: Worked Examples</a:t>
            </a:r>
          </a:p>
        </p:txBody>
      </p:sp>
    </p:spTree>
    <p:extLst>
      <p:ext uri="{BB962C8B-B14F-4D97-AF65-F5344CB8AC3E}">
        <p14:creationId xmlns:p14="http://schemas.microsoft.com/office/powerpoint/2010/main" val="427480086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6516" y="713097"/>
            <a:ext cx="7441473" cy="762777"/>
          </a:xfrm>
        </p:spPr>
        <p:txBody>
          <a:bodyPr/>
          <a:lstStyle/>
          <a:p>
            <a:pPr marL="514350" indent="-514350"/>
            <a:r>
              <a:rPr lang="en-US" dirty="0"/>
              <a:t>Convert unsigned 25</a:t>
            </a:r>
            <a:r>
              <a:rPr lang="en-US" baseline="-25000" dirty="0"/>
              <a:t>6</a:t>
            </a:r>
            <a:r>
              <a:rPr lang="en-US" dirty="0"/>
              <a:t> to decimal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36516" y="2449386"/>
            <a:ext cx="10409263" cy="419204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Base R to Decimal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polynomial evaluation: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</a:t>
            </a:r>
            <a:r>
              <a:rPr lang="en-US" baseline="-25000" dirty="0"/>
              <a:t>6</a:t>
            </a:r>
            <a:r>
              <a:rPr lang="en-US" dirty="0"/>
              <a:t> 	=  2x6</a:t>
            </a:r>
            <a:r>
              <a:rPr lang="en-US" baseline="30000" dirty="0"/>
              <a:t>1</a:t>
            </a:r>
            <a:r>
              <a:rPr lang="en-US" dirty="0"/>
              <a:t> + 5x6</a:t>
            </a:r>
            <a:r>
              <a:rPr lang="en-US" baseline="30000" dirty="0"/>
              <a:t>0</a:t>
            </a:r>
            <a:r>
              <a:rPr lang="en-US" dirty="0"/>
              <a:t>  </a:t>
            </a:r>
          </a:p>
          <a:p>
            <a:pPr marL="914400" indent="0">
              <a:buNone/>
            </a:pPr>
            <a:r>
              <a:rPr lang="en-US" dirty="0"/>
              <a:t>	=  2x6   + 5x1</a:t>
            </a:r>
          </a:p>
          <a:p>
            <a:pPr marL="914400" indent="0">
              <a:buNone/>
            </a:pPr>
            <a:r>
              <a:rPr lang="en-US" dirty="0"/>
              <a:t>	=   12    +   5</a:t>
            </a:r>
          </a:p>
          <a:p>
            <a:pPr marL="914400" indent="0">
              <a:buNone/>
            </a:pPr>
            <a:r>
              <a:rPr lang="en-US" dirty="0"/>
              <a:t>	=   17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82823665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46829"/>
            <a:ext cx="7261000" cy="648851"/>
          </a:xfrm>
        </p:spPr>
        <p:txBody>
          <a:bodyPr>
            <a:normAutofit/>
          </a:bodyPr>
          <a:lstStyle/>
          <a:p>
            <a:r>
              <a:rPr lang="en-US" dirty="0"/>
              <a:t>Convert unsigned 25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5" y="1744580"/>
            <a:ext cx="10417285" cy="4924926"/>
          </a:xfrm>
        </p:spPr>
        <p:txBody>
          <a:bodyPr/>
          <a:lstStyle/>
          <a:p>
            <a:pPr marL="0" indent="0">
              <a:buNone/>
            </a:pPr>
            <a:r>
              <a:rPr lang="en-US" dirty="0">
                <a:solidFill>
                  <a:srgbClr val="0070C0"/>
                </a:solidFill>
              </a:rPr>
              <a:t>Whole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division (by 7):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25÷7 </a:t>
            </a:r>
            <a:r>
              <a:rPr lang="en-US" dirty="0">
                <a:sym typeface="Wingdings" panose="05000000000000000000" pitchFamily="2" charset="2"/>
              </a:rPr>
              <a:t> Q=3, R=4		</a:t>
            </a:r>
            <a:r>
              <a:rPr lang="en-US" dirty="0">
                <a:solidFill>
                  <a:schemeClr val="bg1"/>
                </a:solidFill>
                <a:sym typeface="Wingdings" panose="05000000000000000000" pitchFamily="2" charset="2"/>
              </a:rPr>
              <a:t>3</a:t>
            </a: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dirty="0"/>
              <a:t>        </a:t>
            </a:r>
            <a:r>
              <a:rPr lang="en-US" dirty="0">
                <a:sym typeface="Wingdings" panose="05000000000000000000" pitchFamily="2" charset="2"/>
              </a:rPr>
              <a:t> Q=0, R=3		</a:t>
            </a:r>
          </a:p>
        </p:txBody>
      </p:sp>
      <p:cxnSp>
        <p:nvCxnSpPr>
          <p:cNvPr id="5" name="Straight Arrow Connector 4"/>
          <p:cNvCxnSpPr/>
          <p:nvPr/>
        </p:nvCxnSpPr>
        <p:spPr>
          <a:xfrm flipH="1">
            <a:off x="2185737" y="3023904"/>
            <a:ext cx="1199147" cy="581559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>
            <a:off x="4572000" y="2843463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>
            <a:off x="4571026" y="3752001"/>
            <a:ext cx="1447800" cy="0"/>
          </a:xfrm>
          <a:prstGeom prst="straightConnector1">
            <a:avLst/>
          </a:prstGeom>
          <a:ln w="34925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/>
          <p:cNvCxnSpPr/>
          <p:nvPr/>
        </p:nvCxnSpPr>
        <p:spPr>
          <a:xfrm flipV="1">
            <a:off x="3420978" y="4078705"/>
            <a:ext cx="0" cy="609600"/>
          </a:xfrm>
          <a:prstGeom prst="straightConnector1">
            <a:avLst/>
          </a:prstGeom>
          <a:ln w="254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3019925" y="4852539"/>
            <a:ext cx="9184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STOP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50311" y="2527028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0" name="TextBox 9"/>
          <p:cNvSpPr txBox="1"/>
          <p:nvPr/>
        </p:nvSpPr>
        <p:spPr>
          <a:xfrm>
            <a:off x="6295974" y="3460703"/>
            <a:ext cx="893379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/>
              <a:t>34</a:t>
            </a:r>
            <a:r>
              <a:rPr lang="en-US" sz="3200" baseline="-25000" dirty="0"/>
              <a:t>7</a:t>
            </a:r>
            <a:endParaRPr lang="en-US" sz="3200" dirty="0"/>
          </a:p>
        </p:txBody>
      </p:sp>
      <p:sp>
        <p:nvSpPr>
          <p:cNvPr id="11" name="TextBox 10"/>
          <p:cNvSpPr txBox="1"/>
          <p:nvPr/>
        </p:nvSpPr>
        <p:spPr>
          <a:xfrm>
            <a:off x="1924979" y="3513148"/>
            <a:ext cx="89337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3÷7</a:t>
            </a:r>
          </a:p>
        </p:txBody>
      </p:sp>
    </p:spTree>
    <p:extLst>
      <p:ext uri="{BB962C8B-B14F-4D97-AF65-F5344CB8AC3E}">
        <p14:creationId xmlns:p14="http://schemas.microsoft.com/office/powerpoint/2010/main" val="3778120810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6" y="715786"/>
            <a:ext cx="7277042" cy="692629"/>
          </a:xfrm>
        </p:spPr>
        <p:txBody>
          <a:bodyPr/>
          <a:lstStyle/>
          <a:p>
            <a:r>
              <a:rPr lang="en-US" dirty="0"/>
              <a:t>Convert unsigned .3</a:t>
            </a:r>
            <a:r>
              <a:rPr lang="en-US" baseline="-25000" dirty="0"/>
              <a:t>10</a:t>
            </a:r>
            <a:r>
              <a:rPr lang="en-US" dirty="0"/>
              <a:t> to base 7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940526" y="1680412"/>
            <a:ext cx="10413274" cy="4948988"/>
          </a:xfrm>
        </p:spPr>
        <p:txBody>
          <a:bodyPr>
            <a:normAutofit lnSpcReduction="10000"/>
          </a:bodyPr>
          <a:lstStyle/>
          <a:p>
            <a:pPr marL="231775" indent="0">
              <a:buNone/>
            </a:pPr>
            <a:r>
              <a:rPr lang="en-US" dirty="0">
                <a:solidFill>
                  <a:srgbClr val="0070C0"/>
                </a:solidFill>
              </a:rPr>
              <a:t>Fractional #</a:t>
            </a:r>
            <a:r>
              <a:rPr lang="en-US" baseline="-25000" dirty="0">
                <a:solidFill>
                  <a:srgbClr val="0070C0"/>
                </a:solidFill>
              </a:rPr>
              <a:t>10</a:t>
            </a:r>
            <a:r>
              <a:rPr lang="en-US" dirty="0">
                <a:solidFill>
                  <a:srgbClr val="0070C0"/>
                </a:solidFill>
              </a:rPr>
              <a:t> to Base R </a:t>
            </a:r>
            <a:r>
              <a:rPr lang="en-US" dirty="0">
                <a:solidFill>
                  <a:srgbClr val="0070C0"/>
                </a:solidFill>
                <a:sym typeface="Wingdings" panose="05000000000000000000" pitchFamily="2" charset="2"/>
              </a:rPr>
              <a:t></a:t>
            </a:r>
            <a:r>
              <a:rPr lang="en-US" dirty="0">
                <a:solidFill>
                  <a:srgbClr val="0070C0"/>
                </a:solidFill>
              </a:rPr>
              <a:t> repeated multiplication:</a:t>
            </a:r>
          </a:p>
          <a:p>
            <a:pPr marL="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.3 =</a:t>
            </a:r>
            <a:r>
              <a:rPr lang="en-US" dirty="0">
                <a:sym typeface="Wingdings" panose="05000000000000000000" pitchFamily="2" charset="2"/>
              </a:rPr>
              <a:t> 2.1				.2</a:t>
            </a:r>
          </a:p>
          <a:p>
            <a:pPr marL="914400" indent="0">
              <a:buNone/>
            </a:pPr>
            <a:endParaRPr lang="en-US" dirty="0"/>
          </a:p>
          <a:p>
            <a:pPr marL="914400" indent="0">
              <a:buNone/>
            </a:pPr>
            <a:r>
              <a:rPr lang="en-US" dirty="0"/>
              <a:t>7 x .1 </a:t>
            </a:r>
            <a:r>
              <a:rPr lang="en-US" dirty="0">
                <a:sym typeface="Wingdings" panose="05000000000000000000" pitchFamily="2" charset="2"/>
              </a:rPr>
              <a:t>= 0.7				.20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.7 = 4.9				.204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7 x .9 = 6.3				.2046</a:t>
            </a:r>
          </a:p>
          <a:p>
            <a:pPr marL="914400" indent="0">
              <a:buNone/>
            </a:pPr>
            <a:endParaRPr lang="en-US" dirty="0">
              <a:sym typeface="Wingdings" panose="05000000000000000000" pitchFamily="2" charset="2"/>
            </a:endParaRPr>
          </a:p>
          <a:p>
            <a:pPr marL="914400" indent="0">
              <a:buNone/>
            </a:pPr>
            <a:r>
              <a:rPr lang="en-US" dirty="0">
                <a:sym typeface="Wingdings" panose="05000000000000000000" pitchFamily="2" charset="2"/>
              </a:rPr>
              <a:t>		</a:t>
            </a:r>
            <a:r>
              <a:rPr lang="en-US" dirty="0">
                <a:solidFill>
                  <a:srgbClr val="FF0000"/>
                </a:solidFill>
                <a:sym typeface="Wingdings" panose="05000000000000000000" pitchFamily="2" charset="2"/>
              </a:rPr>
              <a:t>Repeats!</a:t>
            </a:r>
            <a:r>
              <a:rPr lang="en-US" dirty="0">
                <a:sym typeface="Wingdings" panose="05000000000000000000" pitchFamily="2" charset="2"/>
              </a:rPr>
              <a:t>		.20462046···</a:t>
            </a:r>
            <a:endParaRPr lang="en-US" dirty="0"/>
          </a:p>
          <a:p>
            <a:pPr marL="463550" indent="0">
              <a:buNone/>
            </a:pPr>
            <a:endParaRPr lang="en-US" dirty="0"/>
          </a:p>
        </p:txBody>
      </p:sp>
      <p:cxnSp>
        <p:nvCxnSpPr>
          <p:cNvPr id="5" name="Straight Arrow Connector 4"/>
          <p:cNvCxnSpPr/>
          <p:nvPr/>
        </p:nvCxnSpPr>
        <p:spPr>
          <a:xfrm flipV="1">
            <a:off x="3778634" y="26829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Straight Arrow Connector 5"/>
          <p:cNvCxnSpPr/>
          <p:nvPr/>
        </p:nvCxnSpPr>
        <p:spPr>
          <a:xfrm flipV="1">
            <a:off x="3742540" y="3539784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7" name="Straight Arrow Connector 6"/>
          <p:cNvCxnSpPr/>
          <p:nvPr/>
        </p:nvCxnSpPr>
        <p:spPr>
          <a:xfrm flipV="1">
            <a:off x="3742539" y="4361200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Straight Arrow Connector 7"/>
          <p:cNvCxnSpPr/>
          <p:nvPr/>
        </p:nvCxnSpPr>
        <p:spPr>
          <a:xfrm flipV="1">
            <a:off x="3742539" y="5202826"/>
            <a:ext cx="2524835" cy="13648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Oval 8"/>
          <p:cNvSpPr/>
          <p:nvPr/>
        </p:nvSpPr>
        <p:spPr>
          <a:xfrm>
            <a:off x="2969525" y="5028067"/>
            <a:ext cx="319107" cy="346040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Oval 9"/>
          <p:cNvSpPr/>
          <p:nvPr/>
        </p:nvSpPr>
        <p:spPr>
          <a:xfrm>
            <a:off x="2316589" y="2525377"/>
            <a:ext cx="314317" cy="322096"/>
          </a:xfrm>
          <a:prstGeom prst="ellipse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1" name="Straight Arrow Connector 10"/>
          <p:cNvCxnSpPr/>
          <p:nvPr/>
        </p:nvCxnSpPr>
        <p:spPr>
          <a:xfrm flipH="1" flipV="1">
            <a:off x="2506579" y="2874901"/>
            <a:ext cx="532055" cy="2086517"/>
          </a:xfrm>
          <a:prstGeom prst="straightConnector1">
            <a:avLst/>
          </a:prstGeom>
          <a:ln w="28575">
            <a:tailEnd type="triangle" w="lg" len="lg"/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18374460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940526" y="736239"/>
            <a:ext cx="7349232" cy="668353"/>
          </a:xfrm>
        </p:spPr>
        <p:txBody>
          <a:bodyPr/>
          <a:lstStyle/>
          <a:p>
            <a:r>
              <a:rPr lang="en-US" dirty="0"/>
              <a:t>Converting -25.75</a:t>
            </a:r>
            <a:r>
              <a:rPr lang="en-US" baseline="-25000" dirty="0"/>
              <a:t>10</a:t>
            </a:r>
            <a:r>
              <a:rPr lang="en-US" dirty="0"/>
              <a:t> to 2’s Comp.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half" idx="2"/>
          </p:nvPr>
        </p:nvSpPr>
        <p:spPr>
          <a:xfrm>
            <a:off x="1892966" y="1918110"/>
            <a:ext cx="4040188" cy="4378325"/>
          </a:xfrm>
        </p:spPr>
        <p:txBody>
          <a:bodyPr>
            <a:normAutofit fontScale="92500" lnSpcReduction="2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-25:	25 	= 16 + 8 + 1</a:t>
            </a:r>
          </a:p>
          <a:p>
            <a:pPr marL="457200" lvl="1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011001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	-25	= 100111</a:t>
            </a:r>
          </a:p>
          <a:p>
            <a:pPr>
              <a:tabLst>
                <a:tab pos="1092200" algn="l"/>
              </a:tabLst>
            </a:pPr>
            <a:endParaRPr lang="en-US" sz="1200" dirty="0"/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.75:	.75	= .5 + .25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/>
              <a:t>	</a:t>
            </a:r>
            <a:r>
              <a:rPr lang="en-US" dirty="0">
                <a:sym typeface="Wingdings" panose="05000000000000000000" pitchFamily="2" charset="2"/>
              </a:rPr>
              <a:t> .11</a:t>
            </a: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Combining results: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 100111.11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Checking (poly </a:t>
            </a:r>
            <a:r>
              <a:rPr lang="en-US" dirty="0" err="1">
                <a:sym typeface="Wingdings" panose="05000000000000000000" pitchFamily="2" charset="2"/>
              </a:rPr>
              <a:t>eval</a:t>
            </a:r>
            <a:r>
              <a:rPr lang="en-US" dirty="0">
                <a:sym typeface="Wingdings" panose="05000000000000000000" pitchFamily="2" charset="2"/>
              </a:rPr>
              <a:t>):</a:t>
            </a:r>
          </a:p>
          <a:p>
            <a:pPr marL="0" indent="0">
              <a:buNone/>
              <a:tabLst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= -24.25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  <p:sp>
        <p:nvSpPr>
          <p:cNvPr id="7" name="Text Placeholder 6"/>
          <p:cNvSpPr>
            <a:spLocks noGrp="1"/>
          </p:cNvSpPr>
          <p:nvPr>
            <p:ph type="body" sz="quarter" idx="3"/>
          </p:nvPr>
        </p:nvSpPr>
        <p:spPr>
          <a:xfrm>
            <a:off x="5169567" y="1835906"/>
            <a:ext cx="4953000" cy="639762"/>
          </a:xfrm>
        </p:spPr>
        <p:txBody>
          <a:bodyPr anchor="ctr"/>
          <a:lstStyle/>
          <a:p>
            <a:r>
              <a:rPr lang="en-US"/>
              <a:t>Correct Method:</a:t>
            </a:r>
            <a:endParaRPr lang="en-US" dirty="0"/>
          </a:p>
        </p:txBody>
      </p:sp>
      <p:sp>
        <p:nvSpPr>
          <p:cNvPr id="8" name="Content Placeholder 7"/>
          <p:cNvSpPr>
            <a:spLocks noGrp="1"/>
          </p:cNvSpPr>
          <p:nvPr>
            <p:ph sz="quarter" idx="4"/>
          </p:nvPr>
        </p:nvSpPr>
        <p:spPr>
          <a:xfrm>
            <a:off x="5093367" y="2475668"/>
            <a:ext cx="5486399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/>
              <a:t>+25.75	= 16 + 8 + 1 + .5 + .25</a:t>
            </a:r>
          </a:p>
          <a:p>
            <a:pPr marL="5715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= 011001.11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Find the negative representation: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 100110.01  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Check: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100110.01	= 10011001/2</a:t>
            </a:r>
            <a:r>
              <a:rPr lang="en-US" baseline="30000" dirty="0">
                <a:sym typeface="Wingdings" panose="05000000000000000000" pitchFamily="2" charset="2"/>
              </a:rPr>
              <a:t>2</a:t>
            </a: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(-128+16+8+1)/4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-103/4</a:t>
            </a:r>
          </a:p>
          <a:p>
            <a:pPr marL="0" indent="0">
              <a:buNone/>
              <a:tabLst>
                <a:tab pos="627063" algn="l"/>
                <a:tab pos="1092200" algn="l"/>
              </a:tabLst>
            </a:pPr>
            <a:r>
              <a:rPr lang="en-US" dirty="0">
                <a:sym typeface="Wingdings" panose="05000000000000000000" pitchFamily="2" charset="2"/>
              </a:rPr>
              <a:t>				= -25.75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>
              <a:sym typeface="Wingdings" panose="05000000000000000000" pitchFamily="2" charset="2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3386167" y="4548720"/>
            <a:ext cx="1213907" cy="390605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/>
          <p:cNvSpPr/>
          <p:nvPr/>
        </p:nvSpPr>
        <p:spPr>
          <a:xfrm>
            <a:off x="6580060" y="3660737"/>
            <a:ext cx="1447800" cy="457200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1671" y="2399443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2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823958" y="3397401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 descr="Image result for x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46011" y="5452843"/>
            <a:ext cx="687957" cy="6879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2" descr="Related image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16915" y="5801510"/>
            <a:ext cx="408392" cy="40839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0140994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3216435" y="1695539"/>
            <a:ext cx="5386917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1</a:t>
            </a:r>
            <a:r>
              <a:rPr lang="en-US" baseline="30000" dirty="0">
                <a:solidFill>
                  <a:schemeClr val="bg1"/>
                </a:solidFill>
              </a:rPr>
              <a:t>st</a:t>
            </a:r>
            <a:r>
              <a:rPr lang="en-US" dirty="0">
                <a:solidFill>
                  <a:schemeClr val="bg1"/>
                </a:solidFill>
              </a:rPr>
              <a:t>: Get Binary Magnitude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2"/>
          </p:nvPr>
        </p:nvSpPr>
        <p:spPr>
          <a:xfrm>
            <a:off x="3216435" y="2335301"/>
            <a:ext cx="5386917" cy="3951288"/>
          </a:xfrm>
        </p:spPr>
        <p:txBody>
          <a:bodyPr>
            <a:normAutofit lnSpcReduction="10000"/>
          </a:bodyPr>
          <a:lstStyle/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</a:t>
            </a:r>
            <a:r>
              <a:rPr lang="en-US" baseline="-25000" dirty="0"/>
              <a:t>10</a:t>
            </a:r>
            <a:r>
              <a:rPr lang="en-US" dirty="0"/>
              <a:t>	= 64 + 8 + 2 + 1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6</a:t>
            </a:r>
            <a:r>
              <a:rPr lang="en-US" dirty="0"/>
              <a:t> + 2</a:t>
            </a:r>
            <a:r>
              <a:rPr lang="en-US" baseline="30000" dirty="0"/>
              <a:t>3</a:t>
            </a:r>
            <a:r>
              <a:rPr lang="en-US" dirty="0"/>
              <a:t> + 2</a:t>
            </a:r>
            <a:r>
              <a:rPr lang="en-US" baseline="30000" dirty="0"/>
              <a:t>1</a:t>
            </a:r>
            <a:r>
              <a:rPr lang="en-US" dirty="0"/>
              <a:t> + 2</a:t>
            </a:r>
            <a:r>
              <a:rPr lang="en-US" baseline="30000" dirty="0"/>
              <a:t>0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1001011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.75</a:t>
            </a:r>
            <a:r>
              <a:rPr lang="en-US" baseline="-25000" dirty="0"/>
              <a:t>10</a:t>
            </a:r>
            <a:r>
              <a:rPr lang="en-US" dirty="0"/>
              <a:t>	= .5 + .25</a:t>
            </a:r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	= 2</a:t>
            </a:r>
            <a:r>
              <a:rPr lang="en-US" baseline="30000" dirty="0"/>
              <a:t>-1</a:t>
            </a:r>
            <a:r>
              <a:rPr lang="en-US" dirty="0"/>
              <a:t> + 2</a:t>
            </a:r>
            <a:r>
              <a:rPr lang="en-US" baseline="30000" dirty="0"/>
              <a:t>-2</a:t>
            </a:r>
            <a:endParaRPr lang="en-US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>
                <a:sym typeface="Wingdings" panose="05000000000000000000" pitchFamily="2" charset="2"/>
              </a:rPr>
              <a:t>	= .11</a:t>
            </a:r>
            <a:r>
              <a:rPr lang="en-US" baseline="-25000" dirty="0">
                <a:sym typeface="Wingdings" panose="05000000000000000000" pitchFamily="2" charset="2"/>
              </a:rPr>
              <a:t>2</a:t>
            </a:r>
            <a:r>
              <a:rPr lang="en-US" dirty="0"/>
              <a:t> </a:t>
            </a:r>
          </a:p>
          <a:p>
            <a:pPr marL="0" indent="0">
              <a:buNone/>
              <a:tabLst>
                <a:tab pos="1198563" algn="l"/>
              </a:tabLst>
            </a:pPr>
            <a:endParaRPr lang="en-US" sz="1200" dirty="0"/>
          </a:p>
          <a:p>
            <a:pPr marL="0" indent="0">
              <a:buNone/>
              <a:tabLst>
                <a:tab pos="1198563" algn="l"/>
              </a:tabLst>
            </a:pP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1001011.11</a:t>
            </a:r>
            <a:r>
              <a:rPr lang="en-US" baseline="-25000" dirty="0"/>
              <a:t>2</a:t>
            </a:r>
            <a:endParaRPr lang="en-US" sz="1200" dirty="0"/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75819267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40527" y="726541"/>
            <a:ext cx="7974873" cy="677144"/>
          </a:xfrm>
        </p:spPr>
        <p:txBody>
          <a:bodyPr>
            <a:normAutofit/>
          </a:bodyPr>
          <a:lstStyle/>
          <a:p>
            <a:pPr marL="514350" indent="-514350"/>
            <a:r>
              <a:rPr lang="en-US" dirty="0"/>
              <a:t>Convert -75.75</a:t>
            </a:r>
            <a:r>
              <a:rPr lang="en-US" baseline="-25000" dirty="0"/>
              <a:t>10</a:t>
            </a:r>
            <a:r>
              <a:rPr lang="en-US" dirty="0"/>
              <a:t> to 2’s complement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>
            <a:norm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2</a:t>
            </a:r>
            <a:r>
              <a:rPr lang="en-US" baseline="30000" dirty="0">
                <a:solidFill>
                  <a:schemeClr val="bg1"/>
                </a:solidFill>
              </a:rPr>
              <a:t>nd</a:t>
            </a:r>
            <a:r>
              <a:rPr lang="en-US" dirty="0">
                <a:solidFill>
                  <a:schemeClr val="bg1"/>
                </a:solidFill>
              </a:rPr>
              <a:t>: Convert to 2’s Complement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>
            <a:normAutofit/>
          </a:bodyPr>
          <a:lstStyle/>
          <a:p>
            <a:pPr marL="0" indent="0">
              <a:buNone/>
              <a:tabLst>
                <a:tab pos="1371600" algn="l"/>
              </a:tabLst>
            </a:pPr>
            <a:endParaRPr lang="en-US" sz="1200" dirty="0">
              <a:solidFill>
                <a:srgbClr val="FF0000"/>
              </a:solidFill>
            </a:endParaRPr>
          </a:p>
          <a:p>
            <a:pPr marL="0" indent="0">
              <a:buNone/>
              <a:tabLst>
                <a:tab pos="1371600" algn="l"/>
              </a:tabLst>
            </a:pPr>
            <a:r>
              <a:rPr lang="en-US" b="1" dirty="0">
                <a:solidFill>
                  <a:srgbClr val="FF0000"/>
                </a:solidFill>
              </a:rPr>
              <a:t>+</a:t>
            </a:r>
            <a:r>
              <a:rPr lang="en-US" dirty="0"/>
              <a:t>75.75</a:t>
            </a:r>
            <a:r>
              <a:rPr lang="en-US" baseline="-25000" dirty="0"/>
              <a:t>10</a:t>
            </a: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0</a:t>
            </a:r>
            <a:r>
              <a:rPr lang="en-US" dirty="0"/>
              <a:t>1001011.11</a:t>
            </a:r>
            <a:r>
              <a:rPr lang="en-US" baseline="-25000" dirty="0"/>
              <a:t>2</a:t>
            </a: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r>
              <a:rPr lang="en-US" b="1" i="1" dirty="0"/>
              <a:t>Find </a:t>
            </a:r>
            <a:r>
              <a:rPr lang="en-US" b="1" i="1" dirty="0">
                <a:solidFill>
                  <a:srgbClr val="FF0000"/>
                </a:solidFill>
              </a:rPr>
              <a:t>─</a:t>
            </a:r>
            <a:r>
              <a:rPr lang="en-US" b="1" i="1" dirty="0"/>
              <a:t>75.75</a:t>
            </a:r>
            <a:r>
              <a:rPr lang="en-US" b="1" i="1" baseline="-25000" dirty="0"/>
              <a:t>10</a:t>
            </a:r>
            <a:r>
              <a:rPr lang="en-US" b="1" i="1" dirty="0"/>
              <a:t>:</a:t>
            </a:r>
          </a:p>
          <a:p>
            <a:pPr marL="0" indent="0">
              <a:buNone/>
              <a:tabLst>
                <a:tab pos="1371600" algn="l"/>
              </a:tabLst>
            </a:pPr>
            <a:endParaRPr lang="en-US" sz="1200" dirty="0"/>
          </a:p>
          <a:p>
            <a:pPr marL="0" indent="0">
              <a:buNone/>
              <a:tabLst>
                <a:tab pos="1604963" algn="l"/>
              </a:tabLst>
            </a:pPr>
            <a:r>
              <a:rPr lang="en-US" dirty="0"/>
              <a:t>2’s Comp:	10110100.01</a:t>
            </a:r>
          </a:p>
          <a:p>
            <a:pPr marL="0" indent="0">
              <a:buNone/>
              <a:tabLst>
                <a:tab pos="1604963" algn="l"/>
              </a:tabLst>
            </a:pPr>
            <a:endParaRPr lang="en-US" sz="1200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  <a:p>
            <a:pPr marL="0" indent="0">
              <a:buNone/>
              <a:tabLst>
                <a:tab pos="1371600" algn="l"/>
              </a:tabLst>
            </a:pP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3988478" y="4972051"/>
            <a:ext cx="3430995" cy="1154112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The most-significant bit must be “1” (negative), so the </a:t>
            </a:r>
            <a:r>
              <a:rPr lang="en-US" i="1" u="sng" dirty="0">
                <a:solidFill>
                  <a:schemeClr val="tx1"/>
                </a:solidFill>
              </a:rPr>
              <a:t>minimum</a:t>
            </a:r>
            <a:r>
              <a:rPr lang="en-US" dirty="0">
                <a:solidFill>
                  <a:schemeClr val="tx1"/>
                </a:solidFill>
              </a:rPr>
              <a:t> number of bits is 10.</a:t>
            </a:r>
          </a:p>
        </p:txBody>
      </p:sp>
      <p:cxnSp>
        <p:nvCxnSpPr>
          <p:cNvPr id="9" name="Straight Arrow Connector 8"/>
          <p:cNvCxnSpPr/>
          <p:nvPr/>
        </p:nvCxnSpPr>
        <p:spPr>
          <a:xfrm flipV="1">
            <a:off x="5129473" y="4295274"/>
            <a:ext cx="4001" cy="676777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Rectangle 10"/>
          <p:cNvSpPr/>
          <p:nvPr/>
        </p:nvSpPr>
        <p:spPr>
          <a:xfrm>
            <a:off x="5426754" y="3071020"/>
            <a:ext cx="2678520" cy="644524"/>
          </a:xfrm>
          <a:prstGeom prst="rect">
            <a:avLst/>
          </a:prstGeom>
          <a:solidFill>
            <a:srgbClr val="FF0000">
              <a:alpha val="25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Make sure the most-significant bit is 0.</a:t>
            </a:r>
          </a:p>
        </p:txBody>
      </p:sp>
      <p:cxnSp>
        <p:nvCxnSpPr>
          <p:cNvPr id="13" name="Straight Arrow Connector 12"/>
          <p:cNvCxnSpPr/>
          <p:nvPr/>
        </p:nvCxnSpPr>
        <p:spPr>
          <a:xfrm flipH="1" flipV="1">
            <a:off x="5188630" y="2814638"/>
            <a:ext cx="238125" cy="256382"/>
          </a:xfrm>
          <a:prstGeom prst="straightConnector1">
            <a:avLst/>
          </a:prstGeom>
          <a:ln w="1905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57892790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"/>
          </p:nvPr>
        </p:nvSpPr>
        <p:spPr>
          <a:xfrm>
            <a:off x="3721756" y="1555168"/>
            <a:ext cx="5386917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#1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sz="half" idx="2"/>
          </p:nvPr>
        </p:nvSpPr>
        <p:spPr>
          <a:xfrm>
            <a:off x="3721756" y="2194930"/>
            <a:ext cx="5386917" cy="3951288"/>
          </a:xfrm>
        </p:spPr>
        <p:txBody>
          <a:bodyPr>
            <a:normAutofit/>
          </a:bodyPr>
          <a:lstStyle/>
          <a:p>
            <a:pPr marL="0" indent="0">
              <a:buNone/>
            </a:pPr>
            <a:endParaRPr lang="en-US" sz="1200" b="1" dirty="0">
              <a:solidFill>
                <a:srgbClr val="FF0000"/>
              </a:solidFill>
            </a:endParaRPr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 (&lt; 0) - Find pos. </a:t>
            </a:r>
            <a:r>
              <a:rPr lang="en-US" dirty="0" err="1"/>
              <a:t>equiv</a:t>
            </a:r>
            <a:r>
              <a:rPr lang="en-US" dirty="0"/>
              <a:t>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2’s Comp:	0110.1010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Get decimal	= 4+2+.5+.125</a:t>
            </a: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	= 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</a:p>
          <a:p>
            <a:pPr marL="0" indent="0">
              <a:buNone/>
              <a:tabLst>
                <a:tab pos="2173288" algn="l"/>
              </a:tabLst>
            </a:pPr>
            <a:endParaRPr lang="en-US" dirty="0">
              <a:sym typeface="Wingdings" panose="05000000000000000000" pitchFamily="2" charset="2"/>
            </a:endParaRPr>
          </a:p>
          <a:p>
            <a:pPr marL="0" indent="0">
              <a:buNone/>
              <a:tabLst>
                <a:tab pos="2173288" algn="l"/>
              </a:tabLst>
            </a:pPr>
            <a:r>
              <a:rPr lang="en-US" dirty="0">
                <a:sym typeface="Wingdings" panose="05000000000000000000" pitchFamily="2" charset="2"/>
              </a:rPr>
              <a:t>Add minus sign	-6.625</a:t>
            </a:r>
            <a:r>
              <a:rPr lang="en-US" baseline="-25000" dirty="0">
                <a:sym typeface="Wingdings" panose="05000000000000000000" pitchFamily="2" charset="2"/>
              </a:rPr>
              <a:t>10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46297143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8463" y="711994"/>
            <a:ext cx="9144000" cy="611480"/>
          </a:xfrm>
        </p:spPr>
        <p:txBody>
          <a:bodyPr>
            <a:normAutofit/>
          </a:bodyPr>
          <a:lstStyle/>
          <a:p>
            <a:r>
              <a:rPr lang="en-US" dirty="0"/>
              <a:t>Convert 2’s Comp. 1001.0110</a:t>
            </a:r>
            <a:r>
              <a:rPr lang="en-US" baseline="-25000" dirty="0"/>
              <a:t>2</a:t>
            </a:r>
            <a:r>
              <a:rPr lang="en-US" dirty="0"/>
              <a:t> to decimal</a:t>
            </a:r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3"/>
          </p:nvPr>
        </p:nvSpPr>
        <p:spPr>
          <a:xfrm>
            <a:off x="3361947" y="1535113"/>
            <a:ext cx="5389033" cy="639762"/>
          </a:xfrm>
          <a:solidFill>
            <a:schemeClr val="tx1"/>
          </a:solidFill>
        </p:spPr>
        <p:txBody>
          <a:bodyPr anchor="ctr"/>
          <a:lstStyle/>
          <a:p>
            <a:pPr algn="ctr"/>
            <a:r>
              <a:rPr lang="en-US" dirty="0">
                <a:solidFill>
                  <a:schemeClr val="bg1"/>
                </a:solidFill>
              </a:rPr>
              <a:t>Method #2</a:t>
            </a:r>
          </a:p>
        </p:txBody>
      </p:sp>
      <p:sp>
        <p:nvSpPr>
          <p:cNvPr id="10" name="Content Placeholder 9"/>
          <p:cNvSpPr>
            <a:spLocks noGrp="1"/>
          </p:cNvSpPr>
          <p:nvPr>
            <p:ph sz="quarter" idx="4"/>
          </p:nvPr>
        </p:nvSpPr>
        <p:spPr>
          <a:xfrm>
            <a:off x="3361947" y="2174875"/>
            <a:ext cx="5389033" cy="3951288"/>
          </a:xfrm>
        </p:spPr>
        <p:txBody>
          <a:bodyPr/>
          <a:lstStyle/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dirty="0"/>
              <a:t>Use poly. </a:t>
            </a:r>
            <a:r>
              <a:rPr lang="en-US" dirty="0" err="1"/>
              <a:t>eval</a:t>
            </a:r>
            <a:r>
              <a:rPr lang="en-US" dirty="0"/>
              <a:t>. w/neg. 1</a:t>
            </a:r>
            <a:r>
              <a:rPr lang="en-US" baseline="30000" dirty="0"/>
              <a:t>st</a:t>
            </a:r>
            <a:r>
              <a:rPr lang="en-US" dirty="0"/>
              <a:t> term:</a:t>
            </a:r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b="1" dirty="0">
                <a:solidFill>
                  <a:srgbClr val="FF0000"/>
                </a:solidFill>
              </a:rPr>
              <a:t>1</a:t>
            </a:r>
            <a:r>
              <a:rPr lang="en-US" dirty="0"/>
              <a:t>001.0110: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	= </a:t>
            </a:r>
            <a:r>
              <a:rPr lang="en-US" b="1" dirty="0">
                <a:solidFill>
                  <a:srgbClr val="FF0000"/>
                </a:solidFill>
              </a:rPr>
              <a:t>-</a:t>
            </a:r>
            <a:r>
              <a:rPr lang="en-US" dirty="0">
                <a:solidFill>
                  <a:srgbClr val="FF0000"/>
                </a:solidFill>
              </a:rPr>
              <a:t>8</a:t>
            </a:r>
            <a:r>
              <a:rPr lang="en-US" dirty="0"/>
              <a:t> + 1 + .25 + .125 </a:t>
            </a:r>
          </a:p>
          <a:p>
            <a:pPr marL="0" indent="0">
              <a:buNone/>
            </a:pPr>
            <a:r>
              <a:rPr lang="en-US" dirty="0"/>
              <a:t>	= -7 + .375</a:t>
            </a:r>
          </a:p>
          <a:p>
            <a:pPr marL="0" indent="0">
              <a:buNone/>
            </a:pPr>
            <a:r>
              <a:rPr lang="en-US" dirty="0"/>
              <a:t>	= -6.625</a:t>
            </a:r>
            <a:r>
              <a:rPr lang="en-US" baseline="-25000" dirty="0"/>
              <a:t>10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33229243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879" y="770341"/>
            <a:ext cx="3996054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i="1" spc="-5" dirty="0">
                <a:latin typeface="Calibri"/>
                <a:cs typeface="Calibri"/>
              </a:rPr>
              <a:t>Review</a:t>
            </a:r>
            <a:r>
              <a:rPr i="1" spc="-60" dirty="0">
                <a:latin typeface="Calibri"/>
                <a:cs typeface="Calibri"/>
              </a:rPr>
              <a:t> </a:t>
            </a:r>
            <a:r>
              <a:rPr i="1" spc="-5" dirty="0">
                <a:latin typeface="Calibri"/>
                <a:cs typeface="Calibri"/>
              </a:rPr>
              <a:t>Problems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53879" y="1781209"/>
            <a:ext cx="10399921" cy="2503249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tabLst/>
              <a:defRPr/>
            </a:pPr>
            <a:endParaRPr kumimoji="0" sz="26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7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Signed: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7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-75.75</a:t>
            </a:r>
            <a:r>
              <a:rPr kumimoji="0" sz="2700" b="0" i="0" u="none" strike="noStrike" kern="1200" cap="none" spc="-7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700" b="0" i="0" u="none" strike="noStrike" kern="1200" cap="none" spc="284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signed</a:t>
            </a:r>
            <a:r>
              <a:rPr kumimoji="0" sz="27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endParaRPr kumimoji="0" lang="en-US" sz="27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0" marR="0" lvl="0" indent="-342900" algn="l" defTabSz="914400" rtl="0" eaLnBrk="1" fontAlgn="auto" latinLnBrk="0" hangingPunct="1">
              <a:lnSpc>
                <a:spcPts val="321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80365" algn="l"/>
                <a:tab pos="381000" algn="l"/>
              </a:tabLst>
              <a:defRPr/>
            </a:pP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Convert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1001.0110</a:t>
            </a:r>
            <a:r>
              <a:rPr kumimoji="0" sz="270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700" b="0" i="0" u="none" strike="noStrike" kern="1200" cap="none" spc="300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from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</a:t>
            </a:r>
            <a:r>
              <a:rPr kumimoji="0" sz="27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comp.</a:t>
            </a:r>
            <a:r>
              <a:rPr kumimoji="0" sz="27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7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decimal</a:t>
            </a:r>
            <a:endParaRPr kumimoji="0" sz="2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70593393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63320" y="745753"/>
            <a:ext cx="746696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20" dirty="0"/>
              <a:t> </a:t>
            </a:r>
            <a:r>
              <a:rPr sz="4000" spc="-5" dirty="0"/>
              <a:t>-75.75</a:t>
            </a:r>
            <a:r>
              <a:rPr sz="4050" spc="-7" baseline="-18518" dirty="0"/>
              <a:t>10</a:t>
            </a:r>
            <a:r>
              <a:rPr sz="4050" spc="390" baseline="-18518" dirty="0"/>
              <a:t> </a:t>
            </a:r>
            <a:r>
              <a:rPr sz="4000" spc="-5" dirty="0"/>
              <a:t>to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5" dirty="0"/>
              <a:t> </a:t>
            </a:r>
            <a:r>
              <a:rPr sz="4000" spc="-5" dirty="0"/>
              <a:t>complement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034716" y="1578997"/>
            <a:ext cx="4495800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91440" marR="0" lvl="0" indent="0" algn="l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1" i="0" u="none" strike="noStrike" kern="1200" cap="none" spc="-7" normalizeH="0" baseline="2430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Binary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>
            <a:spLocks noGrp="1"/>
          </p:cNvSpPr>
          <p:nvPr>
            <p:ph sz="half" idx="2"/>
          </p:nvPr>
        </p:nvSpPr>
        <p:spPr>
          <a:xfrm>
            <a:off x="1038702" y="2373059"/>
            <a:ext cx="4623647" cy="3341941"/>
          </a:xfrm>
          <a:prstGeom prst="rect">
            <a:avLst/>
          </a:prstGeom>
        </p:spPr>
        <p:txBody>
          <a:bodyPr vert="horz" wrap="square" lIns="0" tIns="76200" rIns="0" bIns="0" rtlCol="0">
            <a:spAutoFit/>
          </a:bodyPr>
          <a:lstStyle/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spc="-5" dirty="0"/>
              <a:t>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20" dirty="0"/>
              <a:t> </a:t>
            </a:r>
            <a:r>
              <a:rPr spc="-5" dirty="0"/>
              <a:t>64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8</a:t>
            </a:r>
            <a:r>
              <a:rPr spc="-20" dirty="0"/>
              <a:t> </a:t>
            </a:r>
            <a:r>
              <a:rPr dirty="0"/>
              <a:t>+</a:t>
            </a:r>
            <a:r>
              <a:rPr spc="-20" dirty="0"/>
              <a:t> </a:t>
            </a:r>
            <a:r>
              <a:rPr dirty="0"/>
              <a:t>2</a:t>
            </a:r>
            <a:r>
              <a:rPr spc="-20" dirty="0"/>
              <a:t> </a:t>
            </a:r>
            <a:r>
              <a:rPr dirty="0"/>
              <a:t>+</a:t>
            </a:r>
            <a:r>
              <a:rPr spc="-15" dirty="0"/>
              <a:t> </a:t>
            </a:r>
            <a:r>
              <a:rPr dirty="0"/>
              <a:t>1</a:t>
            </a:r>
            <a:endParaRPr lang="en-US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6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3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1</a:t>
            </a:r>
            <a:r>
              <a:rPr lang="en-US" spc="247" baseline="24305" dirty="0"/>
              <a:t> </a:t>
            </a:r>
            <a:r>
              <a:rPr lang="en-US" dirty="0"/>
              <a:t>+</a:t>
            </a:r>
            <a:r>
              <a:rPr lang="en-US" spc="-15" dirty="0"/>
              <a:t> </a:t>
            </a:r>
            <a:r>
              <a:rPr lang="en-US" spc="-5" dirty="0"/>
              <a:t>2</a:t>
            </a:r>
            <a:r>
              <a:rPr lang="en-US" spc="-7" baseline="24305" dirty="0"/>
              <a:t>0</a:t>
            </a:r>
            <a:endParaRPr lang="en-US" baseline="24305" dirty="0"/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45" dirty="0"/>
              <a:t> </a:t>
            </a:r>
            <a:r>
              <a:rPr lang="en-US" spc="-5" dirty="0"/>
              <a:t>1001011</a:t>
            </a:r>
            <a:r>
              <a:rPr lang="en-US" spc="-7" baseline="-17361" dirty="0"/>
              <a:t>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spc="-5" dirty="0"/>
              <a:t>75</a:t>
            </a:r>
            <a:r>
              <a:rPr lang="en-US" spc="-7" baseline="-17361" dirty="0"/>
              <a:t>10	</a:t>
            </a:r>
            <a:r>
              <a:rPr lang="en-US" dirty="0"/>
              <a:t>=</a:t>
            </a:r>
            <a:r>
              <a:rPr lang="en-US" spc="-40" dirty="0"/>
              <a:t> </a:t>
            </a:r>
            <a:r>
              <a:rPr lang="en-US" spc="-5" dirty="0"/>
              <a:t>.5</a:t>
            </a:r>
            <a:r>
              <a:rPr lang="en-US" spc="-45" dirty="0"/>
              <a:t> </a:t>
            </a:r>
            <a:r>
              <a:rPr lang="en-US" dirty="0"/>
              <a:t>+</a:t>
            </a:r>
            <a:r>
              <a:rPr lang="en-US" spc="-35" dirty="0"/>
              <a:t> </a:t>
            </a:r>
            <a:r>
              <a:rPr lang="en-US" spc="-5" dirty="0"/>
              <a:t>.25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baseline="-16203" dirty="0"/>
              <a:t>	=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-1</a:t>
            </a:r>
            <a:r>
              <a:rPr lang="en-US" spc="145" dirty="0"/>
              <a:t> </a:t>
            </a:r>
            <a:r>
              <a:rPr lang="en-US" baseline="-16203" dirty="0"/>
              <a:t>+</a:t>
            </a:r>
            <a:r>
              <a:rPr lang="en-US" spc="-52" baseline="-16203" dirty="0"/>
              <a:t> </a:t>
            </a:r>
            <a:r>
              <a:rPr lang="en-US" spc="-7" baseline="-16203" dirty="0"/>
              <a:t>2</a:t>
            </a:r>
            <a:r>
              <a:rPr lang="en-US" spc="-5" dirty="0"/>
              <a:t>-2</a:t>
            </a:r>
          </a:p>
          <a:p>
            <a:pPr marL="0" indent="0">
              <a:lnSpc>
                <a:spcPct val="100000"/>
              </a:lnSpc>
              <a:spcBef>
                <a:spcPts val="600"/>
              </a:spcBef>
              <a:buNone/>
              <a:tabLst>
                <a:tab pos="1274445" algn="l"/>
              </a:tabLst>
            </a:pPr>
            <a:r>
              <a:rPr lang="en-US" dirty="0"/>
              <a:t>	=</a:t>
            </a:r>
            <a:r>
              <a:rPr lang="en-US" spc="-50" dirty="0"/>
              <a:t> </a:t>
            </a:r>
            <a:r>
              <a:rPr lang="en-US" spc="-5" dirty="0"/>
              <a:t>.11</a:t>
            </a:r>
            <a:r>
              <a:rPr lang="en-US" spc="-7" baseline="-17361" dirty="0"/>
              <a:t>2</a:t>
            </a:r>
            <a:endParaRPr baseline="-17361" dirty="0"/>
          </a:p>
          <a:p>
            <a:pPr marL="0" indent="0">
              <a:lnSpc>
                <a:spcPct val="100000"/>
              </a:lnSpc>
              <a:spcBef>
                <a:spcPts val="2325"/>
              </a:spcBef>
              <a:buNone/>
              <a:tabLst>
                <a:tab pos="1274445" algn="l"/>
              </a:tabLst>
            </a:pPr>
            <a:r>
              <a:rPr spc="-5" dirty="0"/>
              <a:t>75.75</a:t>
            </a:r>
            <a:r>
              <a:rPr spc="-7" baseline="-17361" dirty="0"/>
              <a:t>10	</a:t>
            </a:r>
            <a:r>
              <a:rPr dirty="0"/>
              <a:t>=</a:t>
            </a:r>
            <a:r>
              <a:rPr spc="-45" dirty="0"/>
              <a:t> </a:t>
            </a:r>
            <a:r>
              <a:rPr spc="-5" dirty="0"/>
              <a:t>1001011.11</a:t>
            </a:r>
            <a:r>
              <a:rPr spc="-7" baseline="-17361" dirty="0"/>
              <a:t>2</a:t>
            </a:r>
            <a:endParaRPr baseline="-17361" dirty="0"/>
          </a:p>
        </p:txBody>
      </p:sp>
      <p:sp>
        <p:nvSpPr>
          <p:cNvPr id="5" name="object 5"/>
          <p:cNvSpPr txBox="1"/>
          <p:nvPr/>
        </p:nvSpPr>
        <p:spPr>
          <a:xfrm>
            <a:off x="5995353" y="1578997"/>
            <a:ext cx="4291647" cy="478977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39065" rIns="0" bIns="0" rtlCol="0">
            <a:spAutoFit/>
          </a:bodyPr>
          <a:lstStyle/>
          <a:p>
            <a:pPr marL="90805" marR="0" lvl="0" indent="0" algn="l" defTabSz="914400" rtl="0" eaLnBrk="1" fontAlgn="auto" latinLnBrk="0" hangingPunct="1">
              <a:lnSpc>
                <a:spcPct val="100000"/>
              </a:lnSpc>
              <a:spcBef>
                <a:spcPts val="10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r>
              <a:rPr kumimoji="0" sz="2250" b="1" i="0" u="none" strike="noStrike" kern="1200" cap="none" spc="-22" normalizeH="0" baseline="25925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nd</a:t>
            </a:r>
            <a:r>
              <a:rPr kumimoji="0" sz="2200" b="1" i="0" u="none" strike="noStrike" kern="1200" cap="none" spc="-1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Convert to 2’s</a:t>
            </a:r>
            <a:r>
              <a:rPr kumimoji="0" sz="2200" b="1" i="0" u="none" strike="noStrike" kern="1200" cap="none" spc="-1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Complement</a:t>
            </a:r>
            <a:endParaRPr kumimoji="0" sz="2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6209666" y="2450084"/>
            <a:ext cx="341312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421765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	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1001011.11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</a:t>
            </a:r>
            <a:endParaRPr kumimoji="0" sz="2400" b="0" i="0" u="none" strike="noStrike" kern="1200" cap="none" spc="0" normalizeH="0" baseline="-17361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7700328" y="3261867"/>
            <a:ext cx="231775" cy="26924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16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6247766" y="3096259"/>
            <a:ext cx="1768475" cy="3911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671320" algn="l"/>
              </a:tabLst>
              <a:defRPr/>
            </a:pP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</a:t>
            </a:r>
            <a:r>
              <a:rPr kumimoji="0" sz="2400" b="1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─</a:t>
            </a:r>
            <a:r>
              <a:rPr kumimoji="0" sz="2400" b="1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75.7</a:t>
            </a:r>
            <a:r>
              <a:rPr kumimoji="0" sz="2400" b="1" i="1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5	: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graphicFrame>
        <p:nvGraphicFramePr>
          <p:cNvPr id="9" name="object 9"/>
          <p:cNvGraphicFramePr>
            <a:graphicFrameLocks noGrp="1"/>
          </p:cNvGraphicFramePr>
          <p:nvPr/>
        </p:nvGraphicFramePr>
        <p:xfrm>
          <a:off x="6228715" y="3784962"/>
          <a:ext cx="3285489" cy="169185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5321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22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516743">
                <a:tc>
                  <a:txBody>
                    <a:bodyPr/>
                    <a:lstStyle/>
                    <a:p>
                      <a:pPr marL="3175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Ignore</a:t>
                      </a:r>
                      <a:r>
                        <a:rPr sz="2400" spc="-35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ts val="2765"/>
                        </a:lnSpc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0100101111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659892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2’s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Comp: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25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30175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15219">
                <a:tc>
                  <a:txBody>
                    <a:bodyPr/>
                    <a:lstStyle/>
                    <a:p>
                      <a:pPr marL="3175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Restore</a:t>
                      </a:r>
                      <a:r>
                        <a:rPr sz="2400" spc="-40" dirty="0">
                          <a:latin typeface="Calibri"/>
                          <a:cs typeface="Calibri"/>
                        </a:rPr>
                        <a:t> </a:t>
                      </a:r>
                      <a:r>
                        <a:rPr sz="2400" spc="-5" dirty="0">
                          <a:latin typeface="Calibri"/>
                          <a:cs typeface="Calibri"/>
                        </a:rPr>
                        <a:t>“.”:</a:t>
                      </a:r>
                      <a:endParaRPr sz="240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tc>
                  <a:txBody>
                    <a:bodyPr/>
                    <a:lstStyle/>
                    <a:p>
                      <a:pPr marL="83820">
                        <a:lnSpc>
                          <a:spcPct val="100000"/>
                        </a:lnSpc>
                        <a:spcBef>
                          <a:spcPts val="1010"/>
                        </a:spcBef>
                      </a:pPr>
                      <a:r>
                        <a:rPr sz="2400" spc="-5" dirty="0">
                          <a:latin typeface="Calibri"/>
                          <a:cs typeface="Calibri"/>
                        </a:rPr>
                        <a:t>10110100.01</a:t>
                      </a:r>
                      <a:endParaRPr sz="2400" dirty="0">
                        <a:latin typeface="Calibri"/>
                        <a:cs typeface="Calibri"/>
                      </a:endParaRPr>
                    </a:p>
                  </a:txBody>
                  <a:tcPr marL="0" marR="0" marT="12827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10" name="object 10"/>
          <p:cNvSpPr txBox="1"/>
          <p:nvPr/>
        </p:nvSpPr>
        <p:spPr>
          <a:xfrm>
            <a:off x="7467600" y="5715000"/>
            <a:ext cx="2743200" cy="914400"/>
          </a:xfrm>
          <a:prstGeom prst="rect">
            <a:avLst/>
          </a:prstGeom>
          <a:solidFill>
            <a:srgbClr val="FF0000">
              <a:alpha val="25099"/>
            </a:srgbClr>
          </a:solidFill>
        </p:spPr>
        <p:txBody>
          <a:bodyPr vert="horz" wrap="square" lIns="0" tIns="0" rIns="0" bIns="0" rtlCol="0">
            <a:spAutoFit/>
          </a:bodyPr>
          <a:lstStyle/>
          <a:p>
            <a:pPr marL="112395" marR="0" lvl="0" indent="0" algn="l" defTabSz="914400" rtl="0" eaLnBrk="1" fontAlgn="auto" latinLnBrk="0" hangingPunct="1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1" u="sng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minimum</a:t>
            </a:r>
            <a:r>
              <a:rPr kumimoji="0" sz="2000" b="0" i="1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number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of</a:t>
            </a:r>
          </a:p>
          <a:p>
            <a:pPr marL="610870" marR="195580" lvl="0" indent="-40830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bits</a:t>
            </a:r>
            <a:r>
              <a:rPr kumimoji="0" sz="20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</a:t>
            </a:r>
            <a:r>
              <a:rPr kumimoji="0" sz="20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</a:t>
            </a:r>
            <a:r>
              <a:rPr kumimoji="0" sz="20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-75.75 </a:t>
            </a:r>
            <a:r>
              <a:rPr kumimoji="0" sz="2000" b="0" i="0" u="none" strike="noStrike" kern="1200" cap="none" spc="-48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in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binary</a:t>
            </a:r>
            <a:r>
              <a:rPr kumimoji="0" sz="20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20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10.</a:t>
            </a:r>
          </a:p>
        </p:txBody>
      </p:sp>
      <p:sp>
        <p:nvSpPr>
          <p:cNvPr id="11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277704525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0459" y="730123"/>
            <a:ext cx="8618855" cy="63500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4000" spc="-5" dirty="0"/>
              <a:t>Convert</a:t>
            </a:r>
            <a:r>
              <a:rPr sz="4000" spc="-15" dirty="0"/>
              <a:t> </a:t>
            </a:r>
            <a:r>
              <a:rPr sz="4000" spc="-5" dirty="0"/>
              <a:t>2’s</a:t>
            </a:r>
            <a:r>
              <a:rPr sz="4000" spc="-10" dirty="0"/>
              <a:t> </a:t>
            </a:r>
            <a:r>
              <a:rPr sz="4000" spc="-5" dirty="0"/>
              <a:t>Comp.</a:t>
            </a:r>
            <a:r>
              <a:rPr sz="4000" spc="-10" dirty="0"/>
              <a:t> </a:t>
            </a:r>
            <a:r>
              <a:rPr sz="4000" spc="-5" dirty="0"/>
              <a:t>1001.0110</a:t>
            </a:r>
            <a:r>
              <a:rPr sz="4050" spc="-7" baseline="-18518" dirty="0"/>
              <a:t>2</a:t>
            </a:r>
            <a:r>
              <a:rPr sz="4050" spc="397" baseline="-18518" dirty="0"/>
              <a:t> </a:t>
            </a:r>
            <a:r>
              <a:rPr sz="4000" spc="-5" dirty="0"/>
              <a:t>to</a:t>
            </a:r>
            <a:r>
              <a:rPr sz="4000" spc="-10" dirty="0"/>
              <a:t> </a:t>
            </a:r>
            <a:r>
              <a:rPr sz="4000" spc="-5" dirty="0"/>
              <a:t>decimal</a:t>
            </a:r>
            <a:endParaRPr sz="4000" dirty="0"/>
          </a:p>
        </p:txBody>
      </p:sp>
      <p:sp>
        <p:nvSpPr>
          <p:cNvPr id="3" name="object 3"/>
          <p:cNvSpPr txBox="1"/>
          <p:nvPr/>
        </p:nvSpPr>
        <p:spPr>
          <a:xfrm>
            <a:off x="1981200" y="1535112"/>
            <a:ext cx="4040504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059940" y="2371852"/>
            <a:ext cx="379476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(&lt; 0)</a:t>
            </a:r>
            <a:r>
              <a:rPr kumimoji="0" sz="2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Find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pos.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equiv: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2059940" y="3075940"/>
            <a:ext cx="1272540" cy="113220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lvl="0" indent="0" algn="just" defTabSz="914400" rtl="0" eaLnBrk="1" fontAlgn="auto" latinLnBrk="0" hangingPunct="1">
              <a:lnSpc>
                <a:spcPct val="11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Ignore “.”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2’s Comp: </a:t>
            </a: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Restore</a:t>
            </a:r>
            <a:r>
              <a:rPr kumimoji="0" sz="2200" b="0" i="0" u="none" strike="noStrike" kern="1200" cap="none" spc="-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“.”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4233546" y="3075940"/>
            <a:ext cx="1226185" cy="1132205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10010110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0110.1010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059940" y="4581652"/>
            <a:ext cx="1386840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Get</a:t>
            </a:r>
            <a:r>
              <a:rPr kumimoji="0" sz="2200" b="0" i="0" u="none" strike="noStrike" kern="1200" cap="none" spc="-6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decimal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208146" y="4548123"/>
            <a:ext cx="1687195" cy="763270"/>
          </a:xfrm>
          <a:prstGeom prst="rect">
            <a:avLst/>
          </a:prstGeom>
        </p:spPr>
        <p:txBody>
          <a:bodyPr vert="horz" wrap="square" lIns="0" tIns="46355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4+2+.5+.125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26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2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6.625</a:t>
            </a:r>
            <a:r>
              <a:rPr kumimoji="0" sz="2250" b="0" i="0" u="none" strike="noStrike" kern="1200" cap="none" spc="-22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2059941" y="5688076"/>
            <a:ext cx="174815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</a:t>
            </a:r>
            <a:r>
              <a:rPr kumimoji="0" sz="22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minus</a:t>
            </a:r>
            <a:r>
              <a:rPr kumimoji="0" sz="22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endParaRPr kumimoji="0" sz="2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208146" y="5688076"/>
            <a:ext cx="984885" cy="36068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381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250" b="0" i="0" u="none" strike="noStrike" kern="1200" cap="none" spc="-15" normalizeH="0" baseline="-18518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250" b="0" i="0" u="none" strike="noStrike" kern="1200" cap="none" spc="0" normalizeH="0" baseline="-18518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6169026" y="1535112"/>
            <a:ext cx="4041775" cy="480900"/>
          </a:xfrm>
          <a:prstGeom prst="rect">
            <a:avLst/>
          </a:prstGeom>
          <a:solidFill>
            <a:srgbClr val="000000"/>
          </a:solidFill>
        </p:spPr>
        <p:txBody>
          <a:bodyPr vert="horz" wrap="square" lIns="0" tIns="110489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869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Method</a:t>
            </a:r>
            <a:r>
              <a:rPr kumimoji="0" sz="2400" b="1" i="0" u="none" strike="noStrike" kern="1200" cap="none" spc="-4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FF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#2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6209665" y="2450085"/>
            <a:ext cx="3950970" cy="28022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poly.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eval.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w/neg.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7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</a:t>
            </a:r>
            <a:r>
              <a:rPr kumimoji="0" sz="2400" b="0" i="0" u="none" strike="noStrike" kern="1200" cap="none" spc="254" normalizeH="0" baseline="24305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term: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22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001.0110: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8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.25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.125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-7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  <a:r>
              <a:rPr kumimoji="0" sz="2400" b="0" i="0" u="none" strike="noStrike" kern="1200" cap="none" spc="-2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.375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965200" marR="0" lvl="0" indent="0" algn="l" defTabSz="914400" rtl="0" eaLnBrk="1" fontAlgn="auto" latinLnBrk="0" hangingPunct="1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=</a:t>
            </a:r>
            <a:r>
              <a:rPr kumimoji="0" sz="24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-6.625</a:t>
            </a:r>
            <a:r>
              <a:rPr kumimoji="0" sz="2400" b="0" i="0" u="none" strike="noStrike" kern="1200" cap="none" spc="-7" normalizeH="0" baseline="-17361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endParaRPr kumimoji="0" sz="2400" b="0" i="0" u="none" strike="noStrike" kern="1200" cap="none" spc="0" normalizeH="0" baseline="-17361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13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</p:spTree>
    <p:extLst>
      <p:ext uri="{BB962C8B-B14F-4D97-AF65-F5344CB8AC3E}">
        <p14:creationId xmlns:p14="http://schemas.microsoft.com/office/powerpoint/2010/main" val="1642349314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7638" y="733676"/>
            <a:ext cx="5320030" cy="57404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38100">
              <a:lnSpc>
                <a:spcPct val="100000"/>
              </a:lnSpc>
              <a:spcBef>
                <a:spcPts val="100"/>
              </a:spcBef>
            </a:pPr>
            <a:r>
              <a:rPr sz="3600" spc="-5" dirty="0"/>
              <a:t>Practice</a:t>
            </a:r>
            <a:r>
              <a:rPr sz="3600" spc="-35" dirty="0"/>
              <a:t> </a:t>
            </a:r>
            <a:r>
              <a:rPr sz="3600" spc="-5" dirty="0"/>
              <a:t>Problems:</a:t>
            </a:r>
            <a:r>
              <a:rPr sz="3600" spc="-25" dirty="0"/>
              <a:t> </a:t>
            </a:r>
            <a:r>
              <a:rPr sz="3600" spc="-5" dirty="0"/>
              <a:t>N</a:t>
            </a:r>
            <a:r>
              <a:rPr sz="3600" spc="-7" baseline="-18518" dirty="0"/>
              <a:t>R1</a:t>
            </a:r>
            <a:r>
              <a:rPr sz="3600" spc="-5" dirty="0">
                <a:latin typeface="Wingdings"/>
                <a:cs typeface="Wingdings"/>
              </a:rPr>
              <a:t></a:t>
            </a:r>
            <a:r>
              <a:rPr sz="3600" spc="-5" dirty="0"/>
              <a:t>N</a:t>
            </a:r>
            <a:r>
              <a:rPr sz="3600" spc="-7" baseline="-18518" dirty="0"/>
              <a:t>R2</a:t>
            </a:r>
            <a:endParaRPr sz="3600" baseline="-18518" dirty="0">
              <a:latin typeface="Wingdings"/>
              <a:cs typeface="Wingdings"/>
            </a:endParaRPr>
          </a:p>
        </p:txBody>
      </p:sp>
      <p:sp>
        <p:nvSpPr>
          <p:cNvPr id="4" name="object 2"/>
          <p:cNvSpPr txBox="1">
            <a:spLocks/>
          </p:cNvSpPr>
          <p:nvPr/>
        </p:nvSpPr>
        <p:spPr>
          <a:xfrm>
            <a:off x="0" y="0"/>
            <a:ext cx="1209216" cy="686085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b="0" i="0" kern="1200" baseline="0">
                <a:solidFill>
                  <a:srgbClr val="0000CC"/>
                </a:solidFill>
                <a:latin typeface="Calibri"/>
                <a:ea typeface="+mj-ea"/>
                <a:cs typeface="Calibri"/>
              </a:defRPr>
            </a:lvl1pPr>
          </a:lstStyle>
          <a:p>
            <a:pPr marL="1228725" marR="5080" lvl="0" indent="-1216025" algn="l" defTabSz="914400" rtl="0" eaLnBrk="1" fontAlgn="auto" latinLnBrk="0" hangingPunct="1">
              <a:lnSpc>
                <a:spcPct val="100499"/>
              </a:lnSpc>
              <a:spcBef>
                <a:spcPts val="7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4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j-ea"/>
                <a:cs typeface="Calibri"/>
              </a:rPr>
              <a:t>MOE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6242" y="2013570"/>
            <a:ext cx="9959016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1101011</a:t>
            </a:r>
            <a:r>
              <a:rPr lang="en-US" baseline="-25000" dirty="0"/>
              <a:t>2  	</a:t>
            </a:r>
            <a:r>
              <a:rPr lang="en-US" dirty="0"/>
              <a:t>→ ?</a:t>
            </a:r>
            <a:r>
              <a:rPr lang="en-US" baseline="-25000" dirty="0"/>
              <a:t>16 	</a:t>
            </a:r>
            <a:r>
              <a:rPr lang="en-US" dirty="0"/>
              <a:t>110 1011 	→ 0110 1011		→6B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11.01011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16</a:t>
            </a:r>
            <a:r>
              <a:rPr lang="en-US" dirty="0"/>
              <a:t> 	11 . 0101 1 	→ 0011 .  0101 1000	→ 3.58</a:t>
            </a:r>
            <a:r>
              <a:rPr lang="en-US" baseline="-25000" dirty="0"/>
              <a:t>16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1 101 011	→ 001 101 011		→153</a:t>
            </a:r>
            <a:r>
              <a:rPr lang="en-US" baseline="-25000" dirty="0"/>
              <a:t>8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11010.11</a:t>
            </a:r>
            <a:r>
              <a:rPr lang="en-US" baseline="-25000" dirty="0"/>
              <a:t>2	</a:t>
            </a:r>
            <a:r>
              <a:rPr lang="en-US" dirty="0"/>
              <a:t>→ ?</a:t>
            </a:r>
            <a:r>
              <a:rPr lang="en-US" baseline="-25000" dirty="0"/>
              <a:t>8</a:t>
            </a:r>
            <a:r>
              <a:rPr lang="en-US" dirty="0"/>
              <a:t> 	11 010 . 11 	→ 011 010 . 110		→32.6</a:t>
            </a:r>
            <a:r>
              <a:rPr lang="en-US" baseline="-25000" dirty="0"/>
              <a:t>8</a:t>
            </a:r>
            <a:r>
              <a:rPr lang="en-US" dirty="0"/>
              <a:t> 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FACE</a:t>
            </a:r>
            <a:r>
              <a:rPr lang="en-US" baseline="-25000" dirty="0"/>
              <a:t>16</a:t>
            </a:r>
            <a:r>
              <a:rPr lang="en-US" dirty="0"/>
              <a:t> 		→ ?</a:t>
            </a:r>
            <a:r>
              <a:rPr lang="en-US" baseline="-25000" dirty="0"/>
              <a:t>2</a:t>
            </a:r>
            <a:r>
              <a:rPr lang="en-US" dirty="0"/>
              <a:t> 	F A C E 		→ 1111 1010 1100 1110</a:t>
            </a:r>
            <a:r>
              <a:rPr lang="en-US" baseline="-25000" dirty="0"/>
              <a:t>2</a:t>
            </a:r>
            <a:r>
              <a:rPr lang="en-US" dirty="0"/>
              <a:t>	→ 1111101011001110</a:t>
            </a:r>
            <a:r>
              <a:rPr lang="en-US" baseline="-25000" dirty="0"/>
              <a:t>2</a:t>
            </a:r>
            <a:endParaRPr lang="en-US" dirty="0"/>
          </a:p>
        </p:txBody>
      </p:sp>
      <p:cxnSp>
        <p:nvCxnSpPr>
          <p:cNvPr id="6" name="Straight Connector 5"/>
          <p:cNvCxnSpPr/>
          <p:nvPr/>
        </p:nvCxnSpPr>
        <p:spPr>
          <a:xfrm flipH="1">
            <a:off x="4427625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/>
          <p:cNvCxnSpPr/>
          <p:nvPr/>
        </p:nvCxnSpPr>
        <p:spPr>
          <a:xfrm flipH="1">
            <a:off x="6681541" y="201357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/>
          <p:cNvCxnSpPr/>
          <p:nvPr/>
        </p:nvCxnSpPr>
        <p:spPr>
          <a:xfrm flipH="1">
            <a:off x="4331372" y="285979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Connector 12"/>
          <p:cNvCxnSpPr/>
          <p:nvPr/>
        </p:nvCxnSpPr>
        <p:spPr>
          <a:xfrm flipH="1">
            <a:off x="4985088" y="285979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Connector 13"/>
          <p:cNvCxnSpPr/>
          <p:nvPr/>
        </p:nvCxnSpPr>
        <p:spPr>
          <a:xfrm flipH="1">
            <a:off x="6681541" y="2859789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/>
          <p:cNvCxnSpPr/>
          <p:nvPr/>
        </p:nvCxnSpPr>
        <p:spPr>
          <a:xfrm flipH="1">
            <a:off x="7439530" y="284403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/>
          <p:cNvCxnSpPr/>
          <p:nvPr/>
        </p:nvCxnSpPr>
        <p:spPr>
          <a:xfrm flipH="1">
            <a:off x="4616120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4178973" y="3637833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 flipH="1">
            <a:off x="6982330" y="3687776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6541173" y="368777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 flipH="1">
            <a:off x="4769729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4283246" y="44979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Straight Connector 21"/>
          <p:cNvCxnSpPr/>
          <p:nvPr/>
        </p:nvCxnSpPr>
        <p:spPr>
          <a:xfrm flipH="1">
            <a:off x="6509088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6995571" y="4497900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Straight Connector 23"/>
          <p:cNvCxnSpPr/>
          <p:nvPr/>
        </p:nvCxnSpPr>
        <p:spPr>
          <a:xfrm flipH="1">
            <a:off x="6618567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Straight Connector 24"/>
          <p:cNvCxnSpPr/>
          <p:nvPr/>
        </p:nvCxnSpPr>
        <p:spPr>
          <a:xfrm flipH="1">
            <a:off x="7210931" y="5286445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Straight Connector 25"/>
          <p:cNvCxnSpPr/>
          <p:nvPr/>
        </p:nvCxnSpPr>
        <p:spPr>
          <a:xfrm flipH="1">
            <a:off x="7752351" y="5302202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Straight Connector 26"/>
          <p:cNvCxnSpPr/>
          <p:nvPr/>
        </p:nvCxnSpPr>
        <p:spPr>
          <a:xfrm flipH="1">
            <a:off x="10335130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/>
          <p:cNvCxnSpPr/>
          <p:nvPr/>
        </p:nvCxnSpPr>
        <p:spPr>
          <a:xfrm flipH="1">
            <a:off x="9833815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/>
          <p:cNvCxnSpPr/>
          <p:nvPr/>
        </p:nvCxnSpPr>
        <p:spPr>
          <a:xfrm flipH="1">
            <a:off x="9333708" y="5302201"/>
            <a:ext cx="1208" cy="344905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62685" y="1269427"/>
          <a:ext cx="973241" cy="47768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9297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583944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Hex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0111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36564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331530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91697318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B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1011</a:t>
                      </a:r>
                    </a:p>
                  </a:txBody>
                  <a:tcPr marT="0" marB="0"/>
                </a:tc>
                <a:extLst>
                  <a:ext uri="{0D108BD9-81ED-4DB2-BD59-A6C34878D82A}">
                    <a16:rowId xmlns:a16="http://schemas.microsoft.com/office/drawing/2014/main" val="4075394160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14663952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31116849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5306194"/>
                  </a:ext>
                </a:extLst>
              </a:tr>
              <a:tr h="271884"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100" dirty="0"/>
                        <a:t>1111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34400677"/>
                  </a:ext>
                </a:extLst>
              </a:tr>
            </a:tbl>
          </a:graphicData>
        </a:graphic>
      </p:graphicFrame>
      <p:graphicFrame>
        <p:nvGraphicFramePr>
          <p:cNvPr id="31" name="Table 30"/>
          <p:cNvGraphicFramePr>
            <a:graphicFrameLocks noGrp="1"/>
          </p:cNvGraphicFramePr>
          <p:nvPr/>
        </p:nvGraphicFramePr>
        <p:xfrm>
          <a:off x="10413416" y="986875"/>
          <a:ext cx="1665733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6294">
                  <a:extLst>
                    <a:ext uri="{9D8B030D-6E8A-4147-A177-3AD203B41FA5}">
                      <a16:colId xmlns:a16="http://schemas.microsoft.com/office/drawing/2014/main" val="3136641699"/>
                    </a:ext>
                  </a:extLst>
                </a:gridCol>
                <a:gridCol w="999439">
                  <a:extLst>
                    <a:ext uri="{9D8B030D-6E8A-4147-A177-3AD203B41FA5}">
                      <a16:colId xmlns:a16="http://schemas.microsoft.com/office/drawing/2014/main" val="1383339620"/>
                    </a:ext>
                  </a:extLst>
                </a:gridCol>
              </a:tblGrid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Octal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Binary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866141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38799050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5559171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3602270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011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76968378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8934514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75092162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7120626"/>
                  </a:ext>
                </a:extLst>
              </a:tr>
              <a:tr h="29990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/>
                        <a:t>111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6657174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87947256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4A7D050-31EC-4F85-A190-6DD15437A59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Chapter 2</a:t>
            </a:r>
            <a:br>
              <a:rPr lang="en-US" dirty="0"/>
            </a:br>
            <a:r>
              <a:rPr lang="en-US" dirty="0"/>
              <a:t>Binary Number Systems</a:t>
            </a:r>
          </a:p>
        </p:txBody>
      </p:sp>
      <p:sp>
        <p:nvSpPr>
          <p:cNvPr id="6" name="Subtitle 5">
            <a:extLst>
              <a:ext uri="{FF2B5EF4-FFF2-40B4-BE49-F238E27FC236}">
                <a16:creationId xmlns:a16="http://schemas.microsoft.com/office/drawing/2014/main" id="{96972D72-615C-49BA-BD34-82C715E444B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Part 3: Number Representations that use a Fixed Number of Digits</a:t>
            </a:r>
          </a:p>
        </p:txBody>
      </p:sp>
    </p:spTree>
    <p:extLst>
      <p:ext uri="{BB962C8B-B14F-4D97-AF65-F5344CB8AC3E}">
        <p14:creationId xmlns:p14="http://schemas.microsoft.com/office/powerpoint/2010/main" val="1048432916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22212" y="738256"/>
            <a:ext cx="224726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Question: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22212" y="1828397"/>
            <a:ext cx="10431588" cy="2521844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355600" marR="5080" lvl="0" indent="-342900" algn="l" defTabSz="914400" rtl="0" eaLnBrk="1" fontAlgn="auto" latinLnBrk="0" hangingPunct="1">
              <a:lnSpc>
                <a:spcPct val="99800"/>
              </a:lnSpc>
              <a:spcBef>
                <a:spcPts val="1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you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trust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car salesman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tells you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the 1966 Mustang has only 13,000 miles that 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its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odometer shows?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Calibri"/>
              <a:buChar char="•"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If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not,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what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happened?</a:t>
            </a:r>
          </a:p>
        </p:txBody>
      </p:sp>
    </p:spTree>
    <p:extLst>
      <p:ext uri="{BB962C8B-B14F-4D97-AF65-F5344CB8AC3E}">
        <p14:creationId xmlns:p14="http://schemas.microsoft.com/office/powerpoint/2010/main" val="123643599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0022" y="746277"/>
            <a:ext cx="190246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0023" y="1738923"/>
            <a:ext cx="6219825" cy="1703705"/>
          </a:xfrm>
          <a:prstGeom prst="rect">
            <a:avLst/>
          </a:prstGeom>
        </p:spPr>
        <p:txBody>
          <a:bodyPr vert="horz" wrap="square" lIns="0" tIns="108585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8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Consequence</a:t>
            </a:r>
            <a:r>
              <a:rPr kumimoji="0" sz="3200" b="0" i="0" u="heavy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of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fixed</a:t>
            </a:r>
            <a:r>
              <a:rPr kumimoji="0" sz="3200" b="0" i="1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1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precision</a:t>
            </a:r>
            <a:r>
              <a:rPr kumimoji="0" sz="32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66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04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Computers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fixed precision!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75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left-hand</a:t>
            </a:r>
            <a:r>
              <a:rPr kumimoji="0" sz="3200" b="0" i="0" u="heavy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end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</a:p>
        </p:txBody>
      </p:sp>
      <p:graphicFrame>
        <p:nvGraphicFramePr>
          <p:cNvPr id="4" name="object 4"/>
          <p:cNvGraphicFramePr>
            <a:graphicFrameLocks noGrp="1"/>
          </p:cNvGraphicFramePr>
          <p:nvPr/>
        </p:nvGraphicFramePr>
        <p:xfrm>
          <a:off x="1667892" y="392500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59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1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3019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graphicFrame>
        <p:nvGraphicFramePr>
          <p:cNvPr id="5" name="object 5"/>
          <p:cNvGraphicFramePr>
            <a:graphicFrameLocks noGrp="1"/>
          </p:cNvGraphicFramePr>
          <p:nvPr/>
        </p:nvGraphicFramePr>
        <p:xfrm>
          <a:off x="1667892" y="4709868"/>
          <a:ext cx="6096000" cy="370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762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762000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70"/>
                        </a:spcBef>
                      </a:pPr>
                      <a:r>
                        <a:rPr sz="1800" b="1" dirty="0">
                          <a:latin typeface="Times New Roman"/>
                          <a:cs typeface="Times New Roman"/>
                        </a:rPr>
                        <a:t>0</a:t>
                      </a: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34290" marB="0">
                    <a:lnL w="19050">
                      <a:solidFill>
                        <a:srgbClr val="000000"/>
                      </a:solidFill>
                      <a:prstDash val="solid"/>
                    </a:lnL>
                    <a:lnR w="19050">
                      <a:solidFill>
                        <a:srgbClr val="000000"/>
                      </a:solidFill>
                      <a:prstDash val="solid"/>
                    </a:lnR>
                    <a:lnT w="19050">
                      <a:solidFill>
                        <a:srgbClr val="000000"/>
                      </a:solidFill>
                      <a:prstDash val="solid"/>
                    </a:lnT>
                    <a:lnB w="190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6" name="object 6"/>
          <p:cNvSpPr txBox="1"/>
          <p:nvPr/>
        </p:nvSpPr>
        <p:spPr>
          <a:xfrm>
            <a:off x="930022" y="4526173"/>
            <a:ext cx="5772150" cy="1266825"/>
          </a:xfrm>
          <a:prstGeom prst="rect">
            <a:avLst/>
          </a:prstGeom>
        </p:spPr>
        <p:txBody>
          <a:bodyPr vert="horz" wrap="square" lIns="0" tIns="178435" rIns="0" bIns="0" rtlCol="0">
            <a:spAutoFit/>
          </a:bodyPr>
          <a:lstStyle/>
          <a:p>
            <a:pPr marL="231775" marR="0" lvl="0" indent="0" algn="l" defTabSz="914400" rtl="0" eaLnBrk="1" fontAlgn="auto" latinLnBrk="0" hangingPunct="1">
              <a:lnSpc>
                <a:spcPct val="100000"/>
              </a:lnSpc>
              <a:spcBef>
                <a:spcPts val="140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endParaRPr kumimoji="0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174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Remaining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digits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are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still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correct.</a:t>
            </a:r>
            <a:endParaRPr kumimoji="0" sz="3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812011999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16949" y="738256"/>
            <a:ext cx="627697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dirty="0"/>
              <a:t> in </a:t>
            </a:r>
            <a:r>
              <a:rPr spc="-5" dirty="0"/>
              <a:t>Unsigned</a:t>
            </a:r>
            <a:r>
              <a:rPr dirty="0"/>
              <a:t>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16949" y="1780273"/>
            <a:ext cx="10412788" cy="4499373"/>
          </a:xfrm>
          <a:prstGeom prst="rect">
            <a:avLst/>
          </a:prstGeom>
        </p:spPr>
        <p:txBody>
          <a:bodyPr vert="horz" wrap="square" lIns="0" tIns="33655" rIns="0" bIns="0" rtlCol="0">
            <a:spAutoFit/>
          </a:bodyPr>
          <a:lstStyle/>
          <a:p>
            <a:pPr marL="368300" marR="17780" lvl="0" indent="-342900" algn="l" defTabSz="914400" rtl="0" eaLnBrk="1" fontAlgn="auto" latinLnBrk="0" hangingPunct="1">
              <a:lnSpc>
                <a:spcPts val="3790"/>
              </a:lnSpc>
              <a:spcBef>
                <a:spcPts val="26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67665" algn="l"/>
                <a:tab pos="36830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Consider an 8-bit byte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used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represent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an </a:t>
            </a:r>
            <a:r>
              <a:rPr kumimoji="0" sz="3200" b="0" i="0" u="none" strike="noStrike" kern="1200" cap="none" spc="-7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unsigned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integer: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82600" marR="0" lvl="0" indent="0" algn="l" defTabSz="914400" rtl="0" eaLnBrk="1" fontAlgn="auto" latinLnBrk="0" hangingPunct="1">
              <a:lnSpc>
                <a:spcPct val="100000"/>
              </a:lnSpc>
              <a:spcBef>
                <a:spcPts val="6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–</a:t>
            </a:r>
            <a:r>
              <a:rPr kumimoji="0" sz="2800" b="0" i="0" u="none" strike="noStrike" kern="1200" cap="none" spc="2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Range: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sz="2800" b="0" i="0" u="none" strike="noStrike" kern="1200" cap="none" spc="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(0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  <a:r>
              <a:rPr kumimoji="0" sz="2800" b="0" i="0" u="none" strike="noStrike" kern="1200" cap="none" spc="-6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50" b="0" i="0" u="none" strike="noStrike" kern="1200" cap="none" spc="-7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)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231140" lvl="1" indent="-285750" algn="l" defTabSz="914400" rtl="0" eaLnBrk="1" fontAlgn="auto" latinLnBrk="0" hangingPunct="1">
              <a:lnSpc>
                <a:spcPct val="101400"/>
              </a:lnSpc>
              <a:spcBef>
                <a:spcPts val="600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Incrementing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value of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255</a:t>
            </a:r>
            <a:r>
              <a:rPr kumimoji="0" sz="28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should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yield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256, </a:t>
            </a:r>
            <a:r>
              <a:rPr kumimoji="0" sz="2800" b="0" i="0" u="none" strike="noStrike" kern="1200" cap="none" spc="-6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but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this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exceeds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 range.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endParaRPr kumimoji="0" lang="en-US" sz="2800" b="0" i="0" u="heavy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>
                <a:solidFill>
                  <a:srgbClr val="000000"/>
                </a:solidFill>
              </a:uFill>
              <a:latin typeface="Calibri"/>
              <a:ea typeface="+mn-ea"/>
              <a:cs typeface="Calibri"/>
            </a:endParaRPr>
          </a:p>
          <a:p>
            <a:pPr marL="7683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62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68350" algn="l"/>
              </a:tabLst>
              <a:defRPr/>
            </a:pP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Exceeding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the</a:t>
            </a: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range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is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known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as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lang="en-US" sz="2800" b="0" i="1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143733362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/>
          <p:cNvSpPr txBox="1"/>
          <p:nvPr/>
        </p:nvSpPr>
        <p:spPr>
          <a:xfrm>
            <a:off x="931360" y="2304035"/>
            <a:ext cx="8850314" cy="261610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In signed two’s complement with 8 bits adding 1 to -1  should result in 0 and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does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</a:t>
            </a:r>
            <a:r>
              <a:rPr kumimoji="0" lang="en-US" sz="2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1111 1111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+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		0000 0001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Carry = 1	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0000 0000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It is a rollover with an </a:t>
            </a: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accidental correct 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result.</a:t>
            </a:r>
          </a:p>
        </p:txBody>
      </p:sp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360" y="726225"/>
            <a:ext cx="5665470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 </a:t>
            </a:r>
            <a:r>
              <a:rPr dirty="0"/>
              <a:t>in</a:t>
            </a:r>
            <a:r>
              <a:rPr spc="-5" dirty="0"/>
              <a:t> </a:t>
            </a:r>
            <a:r>
              <a:rPr dirty="0"/>
              <a:t>Signed </a:t>
            </a:r>
            <a:r>
              <a:rPr spc="-5" dirty="0"/>
              <a:t>Binary</a:t>
            </a:r>
          </a:p>
        </p:txBody>
      </p:sp>
      <p:sp>
        <p:nvSpPr>
          <p:cNvPr id="3" name="object 3"/>
          <p:cNvSpPr/>
          <p:nvPr/>
        </p:nvSpPr>
        <p:spPr>
          <a:xfrm>
            <a:off x="2822326" y="3720434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2057093" y="3660866"/>
            <a:ext cx="646604" cy="205104"/>
          </a:xfrm>
          <a:custGeom>
            <a:avLst/>
            <a:gdLst/>
            <a:ahLst/>
            <a:cxnLst/>
            <a:rect l="l" t="t" r="r" b="b"/>
            <a:pathLst>
              <a:path w="762635" h="205104">
                <a:moveTo>
                  <a:pt x="84298" y="105228"/>
                </a:moveTo>
                <a:lnTo>
                  <a:pt x="0" y="157161"/>
                </a:lnTo>
                <a:lnTo>
                  <a:pt x="86700" y="204976"/>
                </a:lnTo>
                <a:lnTo>
                  <a:pt x="89597" y="204139"/>
                </a:lnTo>
                <a:lnTo>
                  <a:pt x="92137" y="199533"/>
                </a:lnTo>
                <a:lnTo>
                  <a:pt x="91300" y="196636"/>
                </a:lnTo>
                <a:lnTo>
                  <a:pt x="27944" y="161695"/>
                </a:lnTo>
                <a:lnTo>
                  <a:pt x="9563" y="161695"/>
                </a:lnTo>
                <a:lnTo>
                  <a:pt x="9334" y="152172"/>
                </a:lnTo>
                <a:lnTo>
                  <a:pt x="26943" y="151750"/>
                </a:lnTo>
                <a:lnTo>
                  <a:pt x="89294" y="113337"/>
                </a:lnTo>
                <a:lnTo>
                  <a:pt x="89991" y="110403"/>
                </a:lnTo>
                <a:lnTo>
                  <a:pt x="87231" y="105924"/>
                </a:lnTo>
                <a:lnTo>
                  <a:pt x="84298" y="105228"/>
                </a:lnTo>
                <a:close/>
              </a:path>
              <a:path w="762635" h="205104">
                <a:moveTo>
                  <a:pt x="26943" y="151750"/>
                </a:moveTo>
                <a:lnTo>
                  <a:pt x="9334" y="152172"/>
                </a:lnTo>
                <a:lnTo>
                  <a:pt x="9563" y="161695"/>
                </a:lnTo>
                <a:lnTo>
                  <a:pt x="27172" y="161269"/>
                </a:lnTo>
                <a:lnTo>
                  <a:pt x="26664" y="160989"/>
                </a:lnTo>
                <a:lnTo>
                  <a:pt x="11947" y="160989"/>
                </a:lnTo>
                <a:lnTo>
                  <a:pt x="11749" y="152763"/>
                </a:lnTo>
                <a:lnTo>
                  <a:pt x="25299" y="152763"/>
                </a:lnTo>
                <a:lnTo>
                  <a:pt x="26943" y="151750"/>
                </a:lnTo>
                <a:close/>
              </a:path>
              <a:path w="762635" h="205104">
                <a:moveTo>
                  <a:pt x="27172" y="161269"/>
                </a:moveTo>
                <a:lnTo>
                  <a:pt x="9563" y="161695"/>
                </a:lnTo>
                <a:lnTo>
                  <a:pt x="27944" y="161695"/>
                </a:lnTo>
                <a:lnTo>
                  <a:pt x="27172" y="161269"/>
                </a:lnTo>
                <a:close/>
              </a:path>
              <a:path w="762635" h="205104">
                <a:moveTo>
                  <a:pt x="369314" y="91555"/>
                </a:moveTo>
                <a:lnTo>
                  <a:pt x="329329" y="111066"/>
                </a:lnTo>
                <a:lnTo>
                  <a:pt x="286396" y="123165"/>
                </a:lnTo>
                <a:lnTo>
                  <a:pt x="233239" y="133789"/>
                </a:lnTo>
                <a:lnTo>
                  <a:pt x="172192" y="142438"/>
                </a:lnTo>
                <a:lnTo>
                  <a:pt x="70753" y="150699"/>
                </a:lnTo>
                <a:lnTo>
                  <a:pt x="26943" y="151750"/>
                </a:lnTo>
                <a:lnTo>
                  <a:pt x="18898" y="156706"/>
                </a:lnTo>
                <a:lnTo>
                  <a:pt x="27172" y="161269"/>
                </a:lnTo>
                <a:lnTo>
                  <a:pt x="71421" y="160200"/>
                </a:lnTo>
                <a:lnTo>
                  <a:pt x="140417" y="155348"/>
                </a:lnTo>
                <a:lnTo>
                  <a:pt x="205018" y="147802"/>
                </a:lnTo>
                <a:lnTo>
                  <a:pt x="262971" y="138002"/>
                </a:lnTo>
                <a:lnTo>
                  <a:pt x="312110" y="126363"/>
                </a:lnTo>
                <a:lnTo>
                  <a:pt x="350371" y="113219"/>
                </a:lnTo>
                <a:lnTo>
                  <a:pt x="381739" y="91988"/>
                </a:lnTo>
                <a:lnTo>
                  <a:pt x="368924" y="91988"/>
                </a:lnTo>
                <a:lnTo>
                  <a:pt x="369314" y="91555"/>
                </a:lnTo>
                <a:close/>
              </a:path>
              <a:path w="762635" h="205104">
                <a:moveTo>
                  <a:pt x="11749" y="152763"/>
                </a:moveTo>
                <a:lnTo>
                  <a:pt x="11947" y="160989"/>
                </a:lnTo>
                <a:lnTo>
                  <a:pt x="18898" y="156706"/>
                </a:lnTo>
                <a:lnTo>
                  <a:pt x="11749" y="152763"/>
                </a:lnTo>
                <a:close/>
              </a:path>
              <a:path w="762635" h="205104">
                <a:moveTo>
                  <a:pt x="18898" y="156706"/>
                </a:moveTo>
                <a:lnTo>
                  <a:pt x="11947" y="160989"/>
                </a:lnTo>
                <a:lnTo>
                  <a:pt x="26664" y="160989"/>
                </a:lnTo>
                <a:lnTo>
                  <a:pt x="18898" y="156706"/>
                </a:lnTo>
                <a:close/>
              </a:path>
              <a:path w="762635" h="205104">
                <a:moveTo>
                  <a:pt x="25299" y="152763"/>
                </a:moveTo>
                <a:lnTo>
                  <a:pt x="11749" y="152763"/>
                </a:lnTo>
                <a:lnTo>
                  <a:pt x="18898" y="156706"/>
                </a:lnTo>
                <a:lnTo>
                  <a:pt x="25299" y="152763"/>
                </a:lnTo>
                <a:close/>
              </a:path>
              <a:path w="762635" h="205104">
                <a:moveTo>
                  <a:pt x="369792" y="91231"/>
                </a:moveTo>
                <a:lnTo>
                  <a:pt x="369314" y="91555"/>
                </a:lnTo>
                <a:lnTo>
                  <a:pt x="368924" y="91988"/>
                </a:lnTo>
                <a:lnTo>
                  <a:pt x="369792" y="91231"/>
                </a:lnTo>
                <a:close/>
              </a:path>
              <a:path w="762635" h="205104">
                <a:moveTo>
                  <a:pt x="382420" y="91231"/>
                </a:moveTo>
                <a:lnTo>
                  <a:pt x="369792" y="91231"/>
                </a:lnTo>
                <a:lnTo>
                  <a:pt x="368924" y="91988"/>
                </a:lnTo>
                <a:lnTo>
                  <a:pt x="381739" y="91988"/>
                </a:lnTo>
                <a:lnTo>
                  <a:pt x="382420" y="91231"/>
                </a:lnTo>
                <a:close/>
              </a:path>
              <a:path w="762635" h="205104">
                <a:moveTo>
                  <a:pt x="374591" y="85693"/>
                </a:moveTo>
                <a:lnTo>
                  <a:pt x="369314" y="91555"/>
                </a:lnTo>
                <a:lnTo>
                  <a:pt x="369792" y="91231"/>
                </a:lnTo>
                <a:lnTo>
                  <a:pt x="382420" y="91231"/>
                </a:lnTo>
                <a:lnTo>
                  <a:pt x="382840" y="90765"/>
                </a:lnTo>
                <a:lnTo>
                  <a:pt x="383186" y="90154"/>
                </a:lnTo>
                <a:lnTo>
                  <a:pt x="384244" y="86700"/>
                </a:lnTo>
                <a:lnTo>
                  <a:pt x="374282" y="86700"/>
                </a:lnTo>
                <a:lnTo>
                  <a:pt x="374591" y="85693"/>
                </a:lnTo>
                <a:close/>
              </a:path>
              <a:path w="762635" h="205104">
                <a:moveTo>
                  <a:pt x="375296" y="84909"/>
                </a:moveTo>
                <a:lnTo>
                  <a:pt x="374591" y="85693"/>
                </a:lnTo>
                <a:lnTo>
                  <a:pt x="374282" y="86700"/>
                </a:lnTo>
                <a:lnTo>
                  <a:pt x="375296" y="84909"/>
                </a:lnTo>
                <a:close/>
              </a:path>
              <a:path w="762635" h="205104">
                <a:moveTo>
                  <a:pt x="384793" y="84909"/>
                </a:moveTo>
                <a:lnTo>
                  <a:pt x="375296" y="84909"/>
                </a:lnTo>
                <a:lnTo>
                  <a:pt x="374282" y="86700"/>
                </a:lnTo>
                <a:lnTo>
                  <a:pt x="384244" y="86700"/>
                </a:lnTo>
                <a:lnTo>
                  <a:pt x="384793" y="84909"/>
                </a:lnTo>
                <a:close/>
              </a:path>
              <a:path w="762635" h="205104">
                <a:moveTo>
                  <a:pt x="761907" y="0"/>
                </a:moveTo>
                <a:lnTo>
                  <a:pt x="690842" y="1711"/>
                </a:lnTo>
                <a:lnTo>
                  <a:pt x="621789" y="6558"/>
                </a:lnTo>
                <a:lnTo>
                  <a:pt x="557145" y="14102"/>
                </a:lnTo>
                <a:lnTo>
                  <a:pt x="499222" y="23889"/>
                </a:lnTo>
                <a:lnTo>
                  <a:pt x="450153" y="35496"/>
                </a:lnTo>
                <a:lnTo>
                  <a:pt x="412068" y="48531"/>
                </a:lnTo>
                <a:lnTo>
                  <a:pt x="379203" y="71156"/>
                </a:lnTo>
                <a:lnTo>
                  <a:pt x="374591" y="85693"/>
                </a:lnTo>
                <a:lnTo>
                  <a:pt x="375296" y="84909"/>
                </a:lnTo>
                <a:lnTo>
                  <a:pt x="384793" y="84909"/>
                </a:lnTo>
                <a:lnTo>
                  <a:pt x="387212" y="77012"/>
                </a:lnTo>
                <a:lnTo>
                  <a:pt x="386747" y="77012"/>
                </a:lnTo>
                <a:lnTo>
                  <a:pt x="387761" y="75222"/>
                </a:lnTo>
                <a:lnTo>
                  <a:pt x="388359" y="75222"/>
                </a:lnTo>
                <a:lnTo>
                  <a:pt x="392438" y="70690"/>
                </a:lnTo>
                <a:lnTo>
                  <a:pt x="392251" y="70690"/>
                </a:lnTo>
                <a:lnTo>
                  <a:pt x="393119" y="69933"/>
                </a:lnTo>
                <a:lnTo>
                  <a:pt x="393358" y="69933"/>
                </a:lnTo>
                <a:lnTo>
                  <a:pt x="401950" y="64060"/>
                </a:lnTo>
                <a:lnTo>
                  <a:pt x="415460" y="57431"/>
                </a:lnTo>
                <a:lnTo>
                  <a:pt x="452533" y="44719"/>
                </a:lnTo>
                <a:lnTo>
                  <a:pt x="500945" y="33257"/>
                </a:lnTo>
                <a:lnTo>
                  <a:pt x="558364" y="23548"/>
                </a:lnTo>
                <a:lnTo>
                  <a:pt x="622457" y="16060"/>
                </a:lnTo>
                <a:lnTo>
                  <a:pt x="691071" y="11234"/>
                </a:lnTo>
                <a:lnTo>
                  <a:pt x="762136" y="9522"/>
                </a:lnTo>
                <a:lnTo>
                  <a:pt x="761907" y="0"/>
                </a:lnTo>
                <a:close/>
              </a:path>
              <a:path w="762635" h="205104">
                <a:moveTo>
                  <a:pt x="387761" y="75222"/>
                </a:moveTo>
                <a:lnTo>
                  <a:pt x="386747" y="77012"/>
                </a:lnTo>
                <a:lnTo>
                  <a:pt x="387452" y="76229"/>
                </a:lnTo>
                <a:lnTo>
                  <a:pt x="387761" y="75222"/>
                </a:lnTo>
                <a:close/>
              </a:path>
              <a:path w="762635" h="205104">
                <a:moveTo>
                  <a:pt x="387452" y="76229"/>
                </a:moveTo>
                <a:lnTo>
                  <a:pt x="386747" y="77012"/>
                </a:lnTo>
                <a:lnTo>
                  <a:pt x="387212" y="77012"/>
                </a:lnTo>
                <a:lnTo>
                  <a:pt x="387452" y="76229"/>
                </a:lnTo>
                <a:close/>
              </a:path>
              <a:path w="762635" h="205104">
                <a:moveTo>
                  <a:pt x="388359" y="75222"/>
                </a:moveTo>
                <a:lnTo>
                  <a:pt x="387761" y="75222"/>
                </a:lnTo>
                <a:lnTo>
                  <a:pt x="387452" y="76229"/>
                </a:lnTo>
                <a:lnTo>
                  <a:pt x="388359" y="75222"/>
                </a:lnTo>
                <a:close/>
              </a:path>
              <a:path w="762635" h="205104">
                <a:moveTo>
                  <a:pt x="393119" y="69933"/>
                </a:moveTo>
                <a:lnTo>
                  <a:pt x="392251" y="70690"/>
                </a:lnTo>
                <a:lnTo>
                  <a:pt x="392736" y="70359"/>
                </a:lnTo>
                <a:lnTo>
                  <a:pt x="393119" y="69933"/>
                </a:lnTo>
                <a:close/>
              </a:path>
              <a:path w="762635" h="205104">
                <a:moveTo>
                  <a:pt x="392736" y="70359"/>
                </a:moveTo>
                <a:lnTo>
                  <a:pt x="392251" y="70690"/>
                </a:lnTo>
                <a:lnTo>
                  <a:pt x="392438" y="70690"/>
                </a:lnTo>
                <a:lnTo>
                  <a:pt x="392736" y="70359"/>
                </a:lnTo>
                <a:close/>
              </a:path>
              <a:path w="762635" h="205104">
                <a:moveTo>
                  <a:pt x="393358" y="69933"/>
                </a:moveTo>
                <a:lnTo>
                  <a:pt x="393119" y="69933"/>
                </a:lnTo>
                <a:lnTo>
                  <a:pt x="392736" y="70359"/>
                </a:lnTo>
                <a:lnTo>
                  <a:pt x="393358" y="69933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9" name="object 3"/>
          <p:cNvSpPr/>
          <p:nvPr/>
        </p:nvSpPr>
        <p:spPr>
          <a:xfrm>
            <a:off x="2768754" y="3993151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10" name="object 3"/>
          <p:cNvSpPr/>
          <p:nvPr/>
        </p:nvSpPr>
        <p:spPr>
          <a:xfrm>
            <a:off x="2768753" y="4053309"/>
            <a:ext cx="1271133" cy="0"/>
          </a:xfrm>
          <a:custGeom>
            <a:avLst/>
            <a:gdLst/>
            <a:ahLst/>
            <a:cxnLst/>
            <a:rect l="l" t="t" r="r" b="b"/>
            <a:pathLst>
              <a:path w="1499235">
                <a:moveTo>
                  <a:pt x="0" y="0"/>
                </a:moveTo>
                <a:lnTo>
                  <a:pt x="1498640" y="0"/>
                </a:lnTo>
              </a:path>
            </a:pathLst>
          </a:custGeom>
          <a:ln w="20421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1079756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968601" y="2201700"/>
            <a:ext cx="10417284" cy="6585905"/>
          </a:xfrm>
          <a:prstGeom prst="rect">
            <a:avLst/>
          </a:prstGeom>
        </p:spPr>
        <p:txBody>
          <a:bodyPr vert="horz" wrap="square" lIns="0" tIns="63500" rIns="0" bIns="0" rtlCol="0">
            <a:spAutoFit/>
          </a:bodyPr>
          <a:lstStyle/>
          <a:p>
            <a:pPr marL="355600" marR="823594" lvl="0" indent="-34290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Rollover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describes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pattern</a:t>
            </a:r>
            <a:r>
              <a:rPr kumimoji="0" sz="3200" b="0" i="0" u="none" strike="noStrike" kern="1200" cap="none" spc="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sequence </a:t>
            </a:r>
            <a:r>
              <a:rPr kumimoji="0" sz="3200" b="0" i="0" u="none" strike="noStrike" kern="1200" cap="none" spc="-7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behavior.</a:t>
            </a: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2700" marR="823594" lvl="0" algn="l" defTabSz="914400" rtl="0" eaLnBrk="1" fontAlgn="auto" latinLnBrk="0" hangingPunct="1">
              <a:lnSpc>
                <a:spcPts val="3500"/>
              </a:lnSpc>
              <a:spcBef>
                <a:spcPts val="500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lvl="0" indent="-342900">
              <a:spcBef>
                <a:spcPts val="305"/>
              </a:spcBef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Overflow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describes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an</a:t>
            </a:r>
            <a:r>
              <a:rPr lang="en-US" sz="3200" spc="5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32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3200" spc="-5" dirty="0">
                <a:solidFill>
                  <a:srgbClr val="000000"/>
                </a:solidFill>
                <a:latin typeface="Calibri"/>
                <a:cs typeface="Calibri"/>
              </a:rPr>
              <a:t>behavior.</a:t>
            </a:r>
            <a:endParaRPr lang="en-US" sz="3200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469900" lvl="0">
              <a:spcBef>
                <a:spcPts val="350"/>
              </a:spcBef>
              <a:defRPr/>
            </a:pP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–</a:t>
            </a:r>
            <a:r>
              <a:rPr lang="en-US" sz="2800" spc="21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Resulted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from an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10" dirty="0">
                <a:solidFill>
                  <a:srgbClr val="000000"/>
                </a:solidFill>
                <a:latin typeface="Calibri"/>
                <a:cs typeface="Calibri"/>
              </a:rPr>
              <a:t>arithmetic</a:t>
            </a:r>
            <a:r>
              <a:rPr lang="en-US" sz="2800" dirty="0">
                <a:solidFill>
                  <a:srgbClr val="000000"/>
                </a:solidFill>
                <a:latin typeface="Calibri"/>
                <a:cs typeface="Calibri"/>
              </a:rPr>
              <a:t> </a:t>
            </a:r>
            <a:r>
              <a:rPr lang="en-US" sz="2800" spc="-5" dirty="0">
                <a:solidFill>
                  <a:srgbClr val="000000"/>
                </a:solidFill>
                <a:latin typeface="Calibri"/>
                <a:cs typeface="Calibri"/>
              </a:rPr>
              <a:t>operation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Whether or not rollover causes overflow  depends on how the patterns are  interpreted as numeric values!</a:t>
            </a:r>
          </a:p>
          <a:p>
            <a:pPr marL="12700" marR="0" lvl="0" algn="l" defTabSz="914400" rtl="0" eaLnBrk="1" fontAlgn="auto" latinLnBrk="0" hangingPunct="1">
              <a:lnSpc>
                <a:spcPct val="100000"/>
              </a:lnSpc>
              <a:spcBef>
                <a:spcPts val="305"/>
              </a:spcBef>
              <a:spcAft>
                <a:spcPts val="0"/>
              </a:spcAft>
              <a:buClrTx/>
              <a:buSzTx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927100" marR="0" lvl="0" indent="-45720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28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69900" marR="0" lvl="0" indent="0" algn="l" defTabSz="914400" rtl="0" eaLnBrk="1" fontAlgn="auto" latinLnBrk="0" hangingPunct="1">
              <a:lnSpc>
                <a:spcPct val="100000"/>
              </a:lnSpc>
              <a:spcBef>
                <a:spcPts val="3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2800" spc="-5" dirty="0">
              <a:solidFill>
                <a:srgbClr val="000000"/>
              </a:solidFill>
              <a:latin typeface="Calibri"/>
              <a:cs typeface="Calibri"/>
            </a:endParaRPr>
          </a:p>
          <a:p>
            <a:pPr marL="12700" marR="424815" lvl="0" indent="0" algn="l" defTabSz="914400" rtl="0" eaLnBrk="1" fontAlgn="auto" latinLnBrk="0" hangingPunct="1">
              <a:lnSpc>
                <a:spcPct val="90000"/>
              </a:lnSpc>
              <a:spcBef>
                <a:spcPts val="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354965" algn="l"/>
                <a:tab pos="3556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898358" y="761999"/>
            <a:ext cx="70195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Rollover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is</a:t>
            </a:r>
            <a:r>
              <a:rPr kumimoji="0" lang="en-US" sz="2800" b="1" i="0" u="none" strike="noStrike" kern="1200" cap="none" spc="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CC"/>
                  </a:solidFill>
                </a:uFill>
                <a:latin typeface="Arial" panose="020B0604020202020204"/>
                <a:ea typeface="+mn-ea"/>
                <a:cs typeface="+mn-cs"/>
              </a:rPr>
              <a:t>not </a:t>
            </a:r>
            <a:r>
              <a:rPr kumimoji="0" lang="en-US" sz="2800" b="1" i="0" u="none" strike="noStrike" kern="1200" cap="none" spc="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a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synonym for</a:t>
            </a:r>
            <a:r>
              <a:rPr kumimoji="0" lang="en-US" sz="2800" b="1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 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rPr>
              <a:t>overflow!</a:t>
            </a:r>
            <a:endParaRPr kumimoji="0" lang="en-US" sz="28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062810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7210" y="765929"/>
            <a:ext cx="6011545" cy="695960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</a:t>
            </a:r>
            <a:r>
              <a:rPr spc="-10" dirty="0"/>
              <a:t> </a:t>
            </a:r>
            <a:r>
              <a:rPr dirty="0"/>
              <a:t>Causing</a:t>
            </a:r>
            <a:r>
              <a:rPr spc="-5" dirty="0"/>
              <a:t> Overflow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2819400" y="1981200"/>
            <a:ext cx="6419850" cy="1708150"/>
          </a:xfrm>
          <a:prstGeom prst="rect">
            <a:avLst/>
          </a:prstGeom>
        </p:spPr>
      </p:pic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04488" y="4419601"/>
            <a:ext cx="8653046" cy="15710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0598549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1822" y="744512"/>
            <a:ext cx="6205855" cy="566822"/>
          </a:xfrm>
          <a:prstGeom prst="rect">
            <a:avLst/>
          </a:prstGeom>
        </p:spPr>
        <p:txBody>
          <a:bodyPr vert="horz" wrap="square" lIns="0" tIns="12700" rIns="0" bIns="0" rtlCol="0" anchor="ctr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pc="-5" dirty="0"/>
              <a:t>Rollovers</a:t>
            </a:r>
            <a:r>
              <a:rPr spc="-10" dirty="0"/>
              <a:t> </a:t>
            </a:r>
            <a:r>
              <a:rPr dirty="0"/>
              <a:t>Versus</a:t>
            </a:r>
            <a:r>
              <a:rPr spc="-10" dirty="0"/>
              <a:t> </a:t>
            </a:r>
            <a:r>
              <a:rPr spc="-5" dirty="0"/>
              <a:t>Overflows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31822" y="1582154"/>
            <a:ext cx="10421978" cy="4839786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0" lvl="0" indent="0" algn="just" defTabSz="914400" rtl="0" eaLnBrk="1" fontAlgn="auto" latinLnBrk="0" hangingPunct="1">
              <a:lnSpc>
                <a:spcPts val="3815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ummary: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605790" lvl="0" indent="-457200" algn="just" defTabSz="914400" rtl="0" eaLnBrk="1" fontAlgn="auto" latinLnBrk="0" hangingPunct="1">
              <a:lnSpc>
                <a:spcPts val="3910"/>
              </a:lnSpc>
              <a:spcBef>
                <a:spcPts val="4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Rollovers, that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do not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result in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are 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ok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</a:p>
          <a:p>
            <a:pPr marL="927100" marR="0" lvl="1" indent="-457200" algn="just" defTabSz="914400" rtl="0" eaLnBrk="1" fontAlgn="auto" latinLnBrk="0" hangingPunct="1">
              <a:lnSpc>
                <a:spcPts val="365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signed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(-1 + 1 = 0)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just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endParaRPr kumimoji="0" lang="en-US" sz="3200" b="0" i="0" u="none" strike="noStrike" kern="1200" cap="none" spc="-5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469900" marR="5080" lvl="0" indent="-457200" algn="l" defTabSz="914400" rtl="0" eaLnBrk="1" fontAlgn="auto" latinLnBrk="0" hangingPunct="1">
              <a:lnSpc>
                <a:spcPct val="100000"/>
              </a:lnSpc>
              <a:spcBef>
                <a:spcPts val="5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4699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occur when you do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some operation, </a:t>
            </a:r>
            <a:b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</a:b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and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result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can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not be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represented with that many bits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because </a:t>
            </a:r>
            <a:r>
              <a:rPr kumimoji="0" sz="3200" b="0" i="0" u="none" strike="noStrike" kern="1200" cap="none" spc="-78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the value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is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too</a:t>
            </a:r>
            <a:r>
              <a:rPr kumimoji="0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large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.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927100" marR="0" lvl="1" indent="-457200" algn="l" defTabSz="914400" rtl="0" eaLnBrk="1" fontAlgn="auto" latinLnBrk="0" hangingPunct="1">
              <a:lnSpc>
                <a:spcPts val="379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927100" algn="l"/>
              </a:tabLst>
              <a:defRPr/>
            </a:pP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92D05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unsigned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lang="en-US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-10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1111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+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1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	(256 + 1 </a:t>
            </a:r>
            <a:r>
              <a:rPr kumimoji="0" lang="en-US" sz="32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= 0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)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  <a:p>
            <a:pPr marL="1384300" marR="0" lvl="2" indent="-45720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 typeface="Arial MT"/>
              <a:buChar char="•"/>
              <a:tabLst>
                <a:tab pos="1383665" algn="l"/>
                <a:tab pos="1384300" algn="l"/>
              </a:tabLst>
              <a:defRPr/>
            </a:pP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Overflows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must</a:t>
            </a:r>
            <a:r>
              <a:rPr kumimoji="0" sz="2400" b="1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be</a:t>
            </a:r>
            <a:r>
              <a:rPr kumimoji="0" sz="24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 </a:t>
            </a:r>
            <a:r>
              <a:rPr kumimoji="0" sz="24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imes New Roman"/>
                <a:ea typeface="+mn-ea"/>
                <a:cs typeface="Times New Roman"/>
              </a:rPr>
              <a:t>handled</a:t>
            </a:r>
            <a:endParaRPr kumimoji="0" sz="2400" b="1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Times New Roman"/>
              <a:ea typeface="+mn-ea"/>
              <a:cs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121687617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4495" y="726504"/>
            <a:ext cx="7656052" cy="439864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468630" marR="5080" indent="-456565">
              <a:lnSpc>
                <a:spcPct val="100499"/>
              </a:lnSpc>
              <a:spcBef>
                <a:spcPts val="70"/>
              </a:spcBef>
            </a:pPr>
            <a:r>
              <a:rPr sz="2800" spc="-5" dirty="0"/>
              <a:t>Example </a:t>
            </a:r>
            <a:r>
              <a:rPr sz="2800" dirty="0"/>
              <a:t>of </a:t>
            </a:r>
            <a:r>
              <a:rPr sz="2800" spc="-5" dirty="0">
                <a:solidFill>
                  <a:srgbClr val="92D050"/>
                </a:solidFill>
              </a:rPr>
              <a:t>Unsigned</a:t>
            </a:r>
            <a:r>
              <a:rPr sz="2800" spc="-5" dirty="0"/>
              <a:t> </a:t>
            </a:r>
            <a:r>
              <a:rPr sz="2800" spc="-5" dirty="0">
                <a:solidFill>
                  <a:srgbClr val="FF0000"/>
                </a:solidFill>
              </a:rPr>
              <a:t>Overflow</a:t>
            </a:r>
            <a:r>
              <a:rPr sz="2800" spc="-5" dirty="0"/>
              <a:t> </a:t>
            </a:r>
            <a:r>
              <a:rPr sz="2800" spc="-980" dirty="0"/>
              <a:t> </a:t>
            </a:r>
            <a:r>
              <a:rPr sz="2800" dirty="0"/>
              <a:t>Using</a:t>
            </a:r>
            <a:r>
              <a:rPr sz="2800" spc="-10" dirty="0"/>
              <a:t> </a:t>
            </a:r>
            <a:r>
              <a:rPr sz="2800" spc="-5" dirty="0"/>
              <a:t>4-bit</a:t>
            </a:r>
            <a:endParaRPr sz="2800" dirty="0"/>
          </a:p>
        </p:txBody>
      </p:sp>
      <p:sp>
        <p:nvSpPr>
          <p:cNvPr id="3" name="object 3"/>
          <p:cNvSpPr txBox="1"/>
          <p:nvPr/>
        </p:nvSpPr>
        <p:spPr>
          <a:xfrm>
            <a:off x="3202940" y="1891284"/>
            <a:ext cx="2513965" cy="1778000"/>
          </a:xfrm>
          <a:prstGeom prst="rect">
            <a:avLst/>
          </a:prstGeom>
        </p:spPr>
        <p:txBody>
          <a:bodyPr vert="horz" wrap="square" lIns="0" tIns="109855" rIns="0" bIns="0" rtlCol="0">
            <a:spAutoFit/>
          </a:bodyPr>
          <a:lstStyle/>
          <a:p>
            <a:pPr marL="196850" marR="0" lvl="0" indent="0" algn="l" defTabSz="914400" rtl="0" eaLnBrk="1" fontAlgn="auto" latinLnBrk="0" hangingPunct="1">
              <a:lnSpc>
                <a:spcPct val="100000"/>
              </a:lnSpc>
              <a:spcBef>
                <a:spcPts val="865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</a:tabLst>
              <a:defRPr/>
            </a:pP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1100	(12)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7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40864" algn="l"/>
                <a:tab pos="2148840" algn="l"/>
              </a:tabLst>
              <a:defRPr/>
            </a:pP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+</a:t>
            </a:r>
            <a:r>
              <a:rPr kumimoji="0" lang="en-US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 </a:t>
            </a:r>
            <a:r>
              <a:rPr kumimoji="0" sz="32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Calibri"/>
                <a:ea typeface="+mn-ea"/>
                <a:cs typeface="Calibri"/>
              </a:rPr>
              <a:t>0111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	(	7)</a:t>
            </a:r>
          </a:p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74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</a:t>
            </a:r>
            <a:r>
              <a:rPr kumimoji="0" lang="en-US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</a:t>
            </a:r>
          </a:p>
        </p:txBody>
      </p:sp>
      <p:sp>
        <p:nvSpPr>
          <p:cNvPr id="4" name="object 4"/>
          <p:cNvSpPr txBox="1"/>
          <p:nvPr/>
        </p:nvSpPr>
        <p:spPr>
          <a:xfrm>
            <a:off x="2288541" y="3532124"/>
            <a:ext cx="5352415" cy="2182495"/>
          </a:xfrm>
          <a:prstGeom prst="rect">
            <a:avLst/>
          </a:prstGeom>
        </p:spPr>
        <p:txBody>
          <a:bodyPr vert="horz" wrap="square" lIns="0" tIns="207645" rIns="0" bIns="0" rtlCol="0">
            <a:spAutoFit/>
          </a:bodyPr>
          <a:lstStyle/>
          <a:p>
            <a:pPr marL="127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Lost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1841500" marR="0" lvl="0" indent="0" algn="l" defTabSz="914400" rtl="0" eaLnBrk="1" fontAlgn="auto" latinLnBrk="0" hangingPunct="1">
              <a:lnSpc>
                <a:spcPct val="100000"/>
              </a:lnSpc>
              <a:spcBef>
                <a:spcPts val="15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(Result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limited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by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word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size)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4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5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22987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1874520" algn="l"/>
              </a:tabLst>
              <a:defRPr/>
            </a:pP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0011	(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3)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wrong</a:t>
            </a:r>
            <a:r>
              <a:rPr kumimoji="0" lang="en-US" sz="32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!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2971800" y="3733801"/>
            <a:ext cx="347980" cy="319405"/>
          </a:xfrm>
          <a:custGeom>
            <a:avLst/>
            <a:gdLst/>
            <a:ahLst/>
            <a:cxnLst/>
            <a:rect l="l" t="t" r="r" b="b"/>
            <a:pathLst>
              <a:path w="347980" h="319404">
                <a:moveTo>
                  <a:pt x="290512" y="290512"/>
                </a:moveTo>
                <a:lnTo>
                  <a:pt x="0" y="290512"/>
                </a:lnTo>
                <a:lnTo>
                  <a:pt x="0" y="319087"/>
                </a:lnTo>
                <a:lnTo>
                  <a:pt x="312690" y="319087"/>
                </a:lnTo>
                <a:lnTo>
                  <a:pt x="319087" y="312690"/>
                </a:lnTo>
                <a:lnTo>
                  <a:pt x="319087" y="304800"/>
                </a:lnTo>
                <a:lnTo>
                  <a:pt x="290512" y="304800"/>
                </a:lnTo>
                <a:lnTo>
                  <a:pt x="290512" y="290512"/>
                </a:lnTo>
                <a:close/>
              </a:path>
              <a:path w="347980" h="319404">
                <a:moveTo>
                  <a:pt x="319087" y="71437"/>
                </a:moveTo>
                <a:lnTo>
                  <a:pt x="290512" y="71437"/>
                </a:lnTo>
                <a:lnTo>
                  <a:pt x="290512" y="304800"/>
                </a:lnTo>
                <a:lnTo>
                  <a:pt x="304800" y="290512"/>
                </a:lnTo>
                <a:lnTo>
                  <a:pt x="319087" y="290512"/>
                </a:lnTo>
                <a:lnTo>
                  <a:pt x="319087" y="71437"/>
                </a:lnTo>
                <a:close/>
              </a:path>
              <a:path w="347980" h="319404">
                <a:moveTo>
                  <a:pt x="319087" y="290512"/>
                </a:moveTo>
                <a:lnTo>
                  <a:pt x="304800" y="290512"/>
                </a:lnTo>
                <a:lnTo>
                  <a:pt x="290512" y="304800"/>
                </a:lnTo>
                <a:lnTo>
                  <a:pt x="319087" y="304800"/>
                </a:lnTo>
                <a:lnTo>
                  <a:pt x="319087" y="290512"/>
                </a:lnTo>
                <a:close/>
              </a:path>
              <a:path w="347980" h="319404">
                <a:moveTo>
                  <a:pt x="304800" y="0"/>
                </a:moveTo>
                <a:lnTo>
                  <a:pt x="261937" y="85725"/>
                </a:lnTo>
                <a:lnTo>
                  <a:pt x="290512" y="85725"/>
                </a:lnTo>
                <a:lnTo>
                  <a:pt x="290512" y="71437"/>
                </a:lnTo>
                <a:lnTo>
                  <a:pt x="340518" y="71437"/>
                </a:lnTo>
                <a:lnTo>
                  <a:pt x="304800" y="0"/>
                </a:lnTo>
                <a:close/>
              </a:path>
              <a:path w="347980" h="319404">
                <a:moveTo>
                  <a:pt x="340518" y="71437"/>
                </a:moveTo>
                <a:lnTo>
                  <a:pt x="319087" y="71437"/>
                </a:lnTo>
                <a:lnTo>
                  <a:pt x="319087" y="85725"/>
                </a:lnTo>
                <a:lnTo>
                  <a:pt x="347662" y="85725"/>
                </a:lnTo>
                <a:lnTo>
                  <a:pt x="340518" y="71437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grpSp>
        <p:nvGrpSpPr>
          <p:cNvPr id="6" name="object 6"/>
          <p:cNvGrpSpPr/>
          <p:nvPr/>
        </p:nvGrpSpPr>
        <p:grpSpPr>
          <a:xfrm>
            <a:off x="3429000" y="3729037"/>
            <a:ext cx="762000" cy="1529080"/>
            <a:chOff x="1905000" y="3729037"/>
            <a:chExt cx="762000" cy="1529080"/>
          </a:xfrm>
        </p:grpSpPr>
        <p:sp>
          <p:nvSpPr>
            <p:cNvPr id="7" name="object 7"/>
            <p:cNvSpPr/>
            <p:nvPr/>
          </p:nvSpPr>
          <p:spPr>
            <a:xfrm>
              <a:off x="1905000" y="3733800"/>
              <a:ext cx="762000" cy="0"/>
            </a:xfrm>
            <a:custGeom>
              <a:avLst/>
              <a:gdLst/>
              <a:ahLst/>
              <a:cxnLst/>
              <a:rect l="l" t="t" r="r" b="b"/>
              <a:pathLst>
                <a:path w="762000">
                  <a:moveTo>
                    <a:pt x="0" y="0"/>
                  </a:moveTo>
                  <a:lnTo>
                    <a:pt x="762000" y="1"/>
                  </a:lnTo>
                </a:path>
              </a:pathLst>
            </a:custGeom>
            <a:ln w="952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  <p:sp>
          <p:nvSpPr>
            <p:cNvPr id="8" name="object 8"/>
            <p:cNvSpPr/>
            <p:nvPr/>
          </p:nvSpPr>
          <p:spPr>
            <a:xfrm>
              <a:off x="2243138" y="3733800"/>
              <a:ext cx="85725" cy="1524000"/>
            </a:xfrm>
            <a:custGeom>
              <a:avLst/>
              <a:gdLst/>
              <a:ahLst/>
              <a:cxnLst/>
              <a:rect l="l" t="t" r="r" b="b"/>
              <a:pathLst>
                <a:path w="85725" h="1524000">
                  <a:moveTo>
                    <a:pt x="28574" y="1438275"/>
                  </a:moveTo>
                  <a:lnTo>
                    <a:pt x="0" y="1438275"/>
                  </a:lnTo>
                  <a:lnTo>
                    <a:pt x="42862" y="1524000"/>
                  </a:lnTo>
                  <a:lnTo>
                    <a:pt x="78581" y="1452562"/>
                  </a:lnTo>
                  <a:lnTo>
                    <a:pt x="28575" y="1452562"/>
                  </a:lnTo>
                  <a:lnTo>
                    <a:pt x="28574" y="1438275"/>
                  </a:lnTo>
                  <a:close/>
                </a:path>
                <a:path w="85725" h="1524000">
                  <a:moveTo>
                    <a:pt x="57148" y="0"/>
                  </a:moveTo>
                  <a:lnTo>
                    <a:pt x="28573" y="0"/>
                  </a:lnTo>
                  <a:lnTo>
                    <a:pt x="28575" y="1452562"/>
                  </a:lnTo>
                  <a:lnTo>
                    <a:pt x="57150" y="1452562"/>
                  </a:lnTo>
                  <a:lnTo>
                    <a:pt x="57148" y="0"/>
                  </a:lnTo>
                  <a:close/>
                </a:path>
                <a:path w="85725" h="1524000">
                  <a:moveTo>
                    <a:pt x="85725" y="1438275"/>
                  </a:moveTo>
                  <a:lnTo>
                    <a:pt x="57149" y="1438275"/>
                  </a:lnTo>
                  <a:lnTo>
                    <a:pt x="57150" y="1452562"/>
                  </a:lnTo>
                  <a:lnTo>
                    <a:pt x="78581" y="1452562"/>
                  </a:lnTo>
                  <a:lnTo>
                    <a:pt x="85725" y="1438275"/>
                  </a:lnTo>
                  <a:close/>
                </a:path>
              </a:pathLst>
            </a:custGeom>
            <a:solidFill>
              <a:srgbClr val="000000"/>
            </a:solidFill>
          </p:spPr>
          <p:txBody>
            <a:bodyPr wrap="square" lIns="0" tIns="0" rIns="0" bIns="0" rtlCol="0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 panose="020B0604020202020204"/>
                <a:ea typeface="+mn-ea"/>
                <a:cs typeface="+mn-cs"/>
              </a:endParaRPr>
            </a:p>
          </p:txBody>
        </p:sp>
      </p:grpSp>
      <p:pic>
        <p:nvPicPr>
          <p:cNvPr id="9" name="object 9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6205728" y="2051304"/>
            <a:ext cx="4447032" cy="1480820"/>
          </a:xfrm>
          <a:prstGeom prst="rect">
            <a:avLst/>
          </a:prstGeom>
        </p:spPr>
      </p:pic>
      <p:sp>
        <p:nvSpPr>
          <p:cNvPr id="10" name="object 10"/>
          <p:cNvSpPr txBox="1"/>
          <p:nvPr/>
        </p:nvSpPr>
        <p:spPr>
          <a:xfrm>
            <a:off x="6506528" y="1986788"/>
            <a:ext cx="3522345" cy="1112484"/>
          </a:xfrm>
          <a:prstGeom prst="rect">
            <a:avLst/>
          </a:prstGeom>
        </p:spPr>
        <p:txBody>
          <a:bodyPr vert="horz" wrap="square" lIns="0" tIns="192405" rIns="0" bIns="0" rtlCol="0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15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Range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for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4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is</a:t>
            </a:r>
            <a:r>
              <a:rPr kumimoji="0" sz="24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400" b="0" i="0" u="none" strike="noStrike" kern="1200" cap="none" spc="-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to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15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" marR="0" lvl="0" indent="0" algn="ctr" defTabSz="914400" rtl="0" eaLnBrk="1" fontAlgn="auto" latinLnBrk="0" hangingPunct="1">
              <a:lnSpc>
                <a:spcPct val="100000"/>
              </a:lnSpc>
              <a:spcBef>
                <a:spcPts val="141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16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3</a:t>
            </a:r>
            <a:r>
              <a:rPr kumimoji="0" sz="2400" b="0" i="0" u="none" strike="noStrike" kern="1200" cap="none" spc="-2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=</a:t>
            </a:r>
            <a:r>
              <a:rPr kumimoji="0" sz="2400" b="0" i="0" u="none" strike="noStrike" kern="1200" cap="none" spc="-15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19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4171911326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32866" y="767634"/>
            <a:ext cx="8006597" cy="50141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61925" marR="5080" indent="-149225">
              <a:lnSpc>
                <a:spcPct val="100499"/>
              </a:lnSpc>
              <a:spcBef>
                <a:spcPts val="70"/>
              </a:spcBef>
            </a:pPr>
            <a:r>
              <a:rPr sz="3200" spc="-5" dirty="0"/>
              <a:t>Example </a:t>
            </a:r>
            <a:r>
              <a:rPr sz="3200" dirty="0"/>
              <a:t>of </a:t>
            </a:r>
            <a:r>
              <a:rPr sz="3200" dirty="0">
                <a:solidFill>
                  <a:srgbClr val="FF0000"/>
                </a:solidFill>
              </a:rPr>
              <a:t>Signed</a:t>
            </a:r>
            <a:r>
              <a:rPr sz="3200" dirty="0"/>
              <a:t> </a:t>
            </a:r>
            <a:r>
              <a:rPr sz="3200" spc="-5" dirty="0"/>
              <a:t>Overflow </a:t>
            </a:r>
            <a:r>
              <a:rPr sz="3200" spc="-980" dirty="0"/>
              <a:t> </a:t>
            </a:r>
            <a:r>
              <a:rPr sz="3200" dirty="0"/>
              <a:t>Using</a:t>
            </a:r>
            <a:r>
              <a:rPr sz="3200" spc="-20" dirty="0"/>
              <a:t> </a:t>
            </a:r>
            <a:r>
              <a:rPr sz="3200" spc="-5" dirty="0"/>
              <a:t>8-bit</a:t>
            </a:r>
            <a:endParaRPr sz="3200" dirty="0"/>
          </a:p>
        </p:txBody>
      </p:sp>
      <p:sp>
        <p:nvSpPr>
          <p:cNvPr id="3" name="object 3"/>
          <p:cNvSpPr/>
          <p:nvPr/>
        </p:nvSpPr>
        <p:spPr>
          <a:xfrm>
            <a:off x="4019009" y="5861719"/>
            <a:ext cx="2519680" cy="0"/>
          </a:xfrm>
          <a:custGeom>
            <a:avLst/>
            <a:gdLst/>
            <a:ahLst/>
            <a:cxnLst/>
            <a:rect l="l" t="t" r="r" b="b"/>
            <a:pathLst>
              <a:path w="2519679">
                <a:moveTo>
                  <a:pt x="0" y="0"/>
                </a:moveTo>
                <a:lnTo>
                  <a:pt x="2519071" y="0"/>
                </a:lnTo>
              </a:path>
            </a:pathLst>
          </a:custGeom>
          <a:ln w="23825">
            <a:solidFill>
              <a:srgbClr val="000000"/>
            </a:solidFill>
            <a:prstDash val="dash"/>
          </a:ln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81373" y="1601694"/>
            <a:ext cx="7578725" cy="4854575"/>
          </a:xfrm>
          <a:prstGeom prst="rect">
            <a:avLst/>
          </a:prstGeom>
        </p:spPr>
        <p:txBody>
          <a:bodyPr vert="horz" wrap="square" lIns="0" tIns="67310" rIns="0" bIns="0" rtlCol="0">
            <a:spAutoFit/>
          </a:bodyPr>
          <a:lstStyle/>
          <a:p>
            <a:pPr marL="3556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53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is</a:t>
            </a:r>
            <a:r>
              <a:rPr kumimoji="0" sz="32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impossible</a:t>
            </a:r>
            <a:r>
              <a:rPr kumimoji="0" sz="32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lang="en-US" sz="32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7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adding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 have different 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755650" marR="0" lvl="1" indent="-28575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Char char="–"/>
              <a:tabLst>
                <a:tab pos="755650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subtracting numbers</a:t>
            </a:r>
            <a:r>
              <a:rPr kumimoji="0" sz="2800" b="0" i="0" u="none" strike="noStrike" kern="1200" cap="none" spc="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that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have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same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signs.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55600" marR="5080" lvl="0" indent="-342900" algn="l" defTabSz="914400" rtl="0" eaLnBrk="1" fontAlgn="auto" latinLnBrk="0" hangingPunct="1">
              <a:lnSpc>
                <a:spcPts val="3479"/>
              </a:lnSpc>
              <a:spcBef>
                <a:spcPts val="760"/>
              </a:spcBef>
              <a:spcAft>
                <a:spcPts val="0"/>
              </a:spcAft>
              <a:buClrTx/>
              <a:buSzTx/>
              <a:buFontTx/>
              <a:buChar char="•"/>
              <a:tabLst>
                <a:tab pos="354965" algn="l"/>
                <a:tab pos="355600" algn="l"/>
              </a:tabLst>
              <a:defRPr/>
            </a:pP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Overflow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occurs</a:t>
            </a:r>
            <a:r>
              <a:rPr kumimoji="0" sz="3200" b="0" i="0" u="none" strike="noStrike" kern="1200" cap="none" spc="4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when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5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magnitude</a:t>
            </a:r>
            <a:r>
              <a:rPr kumimoji="0" sz="3200" b="0" i="0" u="none" strike="noStrike" kern="1200" cap="none" spc="4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of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result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extends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into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the</a:t>
            </a:r>
            <a:r>
              <a:rPr kumimoji="0" sz="3200" b="0" i="0" u="none" strike="noStrike" kern="1200" cap="none" spc="-1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sign</a:t>
            </a:r>
            <a:r>
              <a:rPr kumimoji="0" sz="3200" b="0" i="0" u="none" strike="noStrike" kern="1200" cap="none" spc="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32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bit </a:t>
            </a:r>
            <a:r>
              <a:rPr kumimoji="0" sz="32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position:</a:t>
            </a:r>
            <a:endParaRPr kumimoji="0" sz="3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7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3126105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0111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1111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(127)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+</a:t>
            </a:r>
          </a:p>
          <a:p>
            <a:pPr marL="3112770" marR="0" lvl="0" indent="0" algn="l" defTabSz="914400" rtl="0" eaLnBrk="1" fontAlgn="auto" latinLnBrk="0" hangingPunct="1">
              <a:lnSpc>
                <a:spcPct val="100000"/>
              </a:lnSpc>
              <a:spcBef>
                <a:spcPts val="33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0000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0001</a:t>
            </a:r>
            <a:r>
              <a:rPr kumimoji="0" sz="2800" b="0" i="0" u="none" strike="noStrike" kern="1200" cap="none" spc="-1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+mn-ea"/>
                <a:cs typeface="Calibri"/>
              </a:rPr>
              <a:t>(1)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5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33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/>
              <a:ea typeface="+mn-ea"/>
              <a:cs typeface="Calibri"/>
            </a:endParaRPr>
          </a:p>
          <a:p>
            <a:pPr marL="49149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(0)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0000</a:t>
            </a:r>
            <a:r>
              <a:rPr kumimoji="0" sz="2400" b="0" i="0" u="none" strike="noStrike" kern="1200" cap="none" spc="-3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400" b="0" i="0" u="none" strike="noStrike" kern="1200" cap="none" spc="0" normalizeH="0" baseline="0" noProof="0" dirty="0">
                <a:ln>
                  <a:noFill/>
                </a:ln>
                <a:solidFill>
                  <a:srgbClr val="8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(-128)</a:t>
            </a:r>
            <a:endParaRPr kumimoji="0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4279211" y="4058112"/>
            <a:ext cx="1983105" cy="636905"/>
          </a:xfrm>
          <a:custGeom>
            <a:avLst/>
            <a:gdLst/>
            <a:ahLst/>
            <a:cxnLst/>
            <a:rect l="l" t="t" r="r" b="b"/>
            <a:pathLst>
              <a:path w="1983104" h="636904">
                <a:moveTo>
                  <a:pt x="70083" y="541199"/>
                </a:moveTo>
                <a:lnTo>
                  <a:pt x="67071" y="541323"/>
                </a:lnTo>
                <a:lnTo>
                  <a:pt x="0" y="614158"/>
                </a:lnTo>
                <a:lnTo>
                  <a:pt x="96414" y="636689"/>
                </a:lnTo>
                <a:lnTo>
                  <a:pt x="98976" y="635097"/>
                </a:lnTo>
                <a:lnTo>
                  <a:pt x="100172" y="629975"/>
                </a:lnTo>
                <a:lnTo>
                  <a:pt x="98581" y="627414"/>
                </a:lnTo>
                <a:lnTo>
                  <a:pt x="49442" y="615930"/>
                </a:lnTo>
                <a:lnTo>
                  <a:pt x="10431" y="615930"/>
                </a:lnTo>
                <a:lnTo>
                  <a:pt x="7631" y="606827"/>
                </a:lnTo>
                <a:lnTo>
                  <a:pt x="24470" y="601646"/>
                </a:lnTo>
                <a:lnTo>
                  <a:pt x="74077" y="547776"/>
                </a:lnTo>
                <a:lnTo>
                  <a:pt x="73953" y="544762"/>
                </a:lnTo>
                <a:lnTo>
                  <a:pt x="70083" y="541199"/>
                </a:lnTo>
                <a:close/>
              </a:path>
              <a:path w="1983104" h="636904">
                <a:moveTo>
                  <a:pt x="24470" y="601646"/>
                </a:moveTo>
                <a:lnTo>
                  <a:pt x="7631" y="606827"/>
                </a:lnTo>
                <a:lnTo>
                  <a:pt x="10431" y="615930"/>
                </a:lnTo>
                <a:lnTo>
                  <a:pt x="14740" y="614605"/>
                </a:lnTo>
                <a:lnTo>
                  <a:pt x="12537" y="614605"/>
                </a:lnTo>
                <a:lnTo>
                  <a:pt x="10118" y="606741"/>
                </a:lnTo>
                <a:lnTo>
                  <a:pt x="19778" y="606741"/>
                </a:lnTo>
                <a:lnTo>
                  <a:pt x="24470" y="601646"/>
                </a:lnTo>
                <a:close/>
              </a:path>
              <a:path w="1983104" h="636904">
                <a:moveTo>
                  <a:pt x="27270" y="610749"/>
                </a:moveTo>
                <a:lnTo>
                  <a:pt x="10431" y="615930"/>
                </a:lnTo>
                <a:lnTo>
                  <a:pt x="49442" y="615930"/>
                </a:lnTo>
                <a:lnTo>
                  <a:pt x="27270" y="610749"/>
                </a:lnTo>
                <a:close/>
              </a:path>
              <a:path w="1983104" h="636904">
                <a:moveTo>
                  <a:pt x="10118" y="606741"/>
                </a:moveTo>
                <a:lnTo>
                  <a:pt x="12537" y="614605"/>
                </a:lnTo>
                <a:lnTo>
                  <a:pt x="18068" y="608599"/>
                </a:lnTo>
                <a:lnTo>
                  <a:pt x="10118" y="606741"/>
                </a:lnTo>
                <a:close/>
              </a:path>
              <a:path w="1983104" h="636904">
                <a:moveTo>
                  <a:pt x="18068" y="608599"/>
                </a:moveTo>
                <a:lnTo>
                  <a:pt x="12537" y="614605"/>
                </a:lnTo>
                <a:lnTo>
                  <a:pt x="14740" y="614605"/>
                </a:lnTo>
                <a:lnTo>
                  <a:pt x="27270" y="610749"/>
                </a:lnTo>
                <a:lnTo>
                  <a:pt x="18068" y="608599"/>
                </a:lnTo>
                <a:close/>
              </a:path>
              <a:path w="1983104" h="636904">
                <a:moveTo>
                  <a:pt x="1979820" y="0"/>
                </a:moveTo>
                <a:lnTo>
                  <a:pt x="24470" y="601646"/>
                </a:lnTo>
                <a:lnTo>
                  <a:pt x="18068" y="608599"/>
                </a:lnTo>
                <a:lnTo>
                  <a:pt x="27270" y="610749"/>
                </a:lnTo>
                <a:lnTo>
                  <a:pt x="1982622" y="9103"/>
                </a:lnTo>
                <a:lnTo>
                  <a:pt x="1979820" y="0"/>
                </a:lnTo>
                <a:close/>
              </a:path>
              <a:path w="1983104" h="636904">
                <a:moveTo>
                  <a:pt x="19778" y="606741"/>
                </a:moveTo>
                <a:lnTo>
                  <a:pt x="10118" y="606741"/>
                </a:lnTo>
                <a:lnTo>
                  <a:pt x="18068" y="608599"/>
                </a:lnTo>
                <a:lnTo>
                  <a:pt x="19778" y="606741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 panose="020B06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81453842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40527" y="729909"/>
            <a:ext cx="10417284" cy="378309"/>
          </a:xfrm>
          <a:prstGeom prst="rect">
            <a:avLst/>
          </a:prstGeom>
        </p:spPr>
        <p:txBody>
          <a:bodyPr vert="horz" wrap="square" lIns="0" tIns="8890" rIns="0" bIns="0" rtlCol="0" anchor="ctr">
            <a:spAutoFit/>
          </a:bodyPr>
          <a:lstStyle/>
          <a:p>
            <a:pPr marL="1389380" marR="5080" indent="-1146175">
              <a:lnSpc>
                <a:spcPct val="100499"/>
              </a:lnSpc>
              <a:spcBef>
                <a:spcPts val="70"/>
              </a:spcBef>
            </a:pPr>
            <a:r>
              <a:rPr sz="2400" dirty="0"/>
              <a:t>Another</a:t>
            </a:r>
            <a:r>
              <a:rPr sz="2400" spc="5" dirty="0"/>
              <a:t> </a:t>
            </a:r>
            <a:r>
              <a:rPr sz="2400" spc="-5" dirty="0"/>
              <a:t>Example</a:t>
            </a:r>
            <a:r>
              <a:rPr sz="2400" dirty="0"/>
              <a:t> of</a:t>
            </a:r>
            <a:r>
              <a:rPr sz="2400" spc="-10" dirty="0"/>
              <a:t> </a:t>
            </a:r>
            <a:r>
              <a:rPr sz="2400" spc="-5" dirty="0">
                <a:solidFill>
                  <a:srgbClr val="FF0000"/>
                </a:solidFill>
              </a:rPr>
              <a:t>Signed</a:t>
            </a:r>
            <a:r>
              <a:rPr sz="2400" dirty="0"/>
              <a:t> </a:t>
            </a:r>
            <a:r>
              <a:rPr sz="2400" spc="-5" dirty="0">
                <a:solidFill>
                  <a:srgbClr val="FF0000"/>
                </a:solidFill>
              </a:rPr>
              <a:t>Overflow</a:t>
            </a:r>
            <a:r>
              <a:rPr sz="2400" spc="-5" dirty="0"/>
              <a:t> </a:t>
            </a:r>
            <a:r>
              <a:rPr sz="2400" spc="-980" dirty="0"/>
              <a:t> </a:t>
            </a:r>
            <a:r>
              <a:rPr sz="2400" dirty="0"/>
              <a:t>Using</a:t>
            </a:r>
            <a:r>
              <a:rPr sz="2400" spc="-5" dirty="0"/>
              <a:t> 8-bit</a:t>
            </a:r>
            <a:endParaRPr sz="2400" dirty="0"/>
          </a:p>
        </p:txBody>
      </p:sp>
      <p:sp>
        <p:nvSpPr>
          <p:cNvPr id="3" name="object 3"/>
          <p:cNvSpPr txBox="1"/>
          <p:nvPr/>
        </p:nvSpPr>
        <p:spPr>
          <a:xfrm>
            <a:off x="2150182" y="1909840"/>
            <a:ext cx="3611879" cy="1970405"/>
          </a:xfrm>
          <a:prstGeom prst="rect">
            <a:avLst/>
          </a:prstGeom>
        </p:spPr>
        <p:txBody>
          <a:bodyPr vert="horz" wrap="square" lIns="0" tIns="234950" rIns="0" bIns="0" rtlCol="0">
            <a:spAutoFit/>
          </a:bodyPr>
          <a:lstStyle/>
          <a:p>
            <a:pPr marL="926465" marR="0" lvl="0" indent="0" algn="ctr" defTabSz="914400" rtl="0" eaLnBrk="1" fontAlgn="auto" latinLnBrk="0" hangingPunct="1">
              <a:lnSpc>
                <a:spcPct val="100000"/>
              </a:lnSpc>
              <a:spcBef>
                <a:spcPts val="1850"/>
              </a:spcBef>
              <a:spcAft>
                <a:spcPts val="0"/>
              </a:spcAft>
              <a:buClrTx/>
              <a:buSzTx/>
              <a:buFontTx/>
              <a:buNone/>
              <a:tabLst>
                <a:tab pos="2230120" algn="l"/>
                <a:tab pos="3155315" algn="l"/>
              </a:tabLst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-120</a:t>
            </a:r>
            <a:r>
              <a:rPr kumimoji="0" sz="2850" b="0" i="0" u="none" strike="noStrike" kern="1200" cap="none" spc="-15" normalizeH="0" baseline="-14619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Wingdings"/>
                <a:ea typeface="+mn-ea"/>
                <a:cs typeface="Wingdings"/>
              </a:rPr>
              <a:t></a:t>
            </a:r>
          </a:p>
          <a:p>
            <a:pPr marL="0" marR="1640205" lvl="0" indent="0" algn="r" defTabSz="914400" rtl="0" eaLnBrk="1" fontAlgn="auto" latinLnBrk="0" hangingPunct="1">
              <a:lnSpc>
                <a:spcPct val="100000"/>
              </a:lnSpc>
              <a:spcBef>
                <a:spcPts val="175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heavy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-17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0" marR="1691005" lvl="0" indent="0" algn="r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sum:</a:t>
            </a:r>
            <a:r>
              <a:rPr kumimoji="0" sz="2800" b="0" i="0" u="none" strike="noStrike" kern="1200" cap="none" spc="-8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-137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6112581" y="1940320"/>
            <a:ext cx="2805430" cy="1939925"/>
          </a:xfrm>
          <a:prstGeom prst="rect">
            <a:avLst/>
          </a:prstGeom>
        </p:spPr>
        <p:txBody>
          <a:bodyPr vert="horz" wrap="square" lIns="0" tIns="219710" rIns="0" bIns="0" rtlCol="0">
            <a:spAutoFit/>
          </a:bodyPr>
          <a:lstStyle/>
          <a:p>
            <a:pPr marL="606425" marR="0" lvl="0" indent="0" algn="l" defTabSz="914400" rtl="0" eaLnBrk="1" fontAlgn="auto" latinLnBrk="0" hangingPunct="1">
              <a:lnSpc>
                <a:spcPct val="100000"/>
              </a:lnSpc>
              <a:spcBef>
                <a:spcPts val="1730"/>
              </a:spcBef>
              <a:spcAft>
                <a:spcPts val="0"/>
              </a:spcAft>
              <a:buClrTx/>
              <a:buSzTx/>
              <a:buFontTx/>
              <a:buNone/>
              <a:tabLst>
                <a:tab pos="2507615" algn="l"/>
              </a:tabLst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1000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+</a:t>
            </a: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635"/>
              </a:spcBef>
              <a:spcAft>
                <a:spcPts val="0"/>
              </a:spcAft>
              <a:buClrTx/>
              <a:buSzTx/>
              <a:buFontTx/>
              <a:buNone/>
              <a:tabLst>
                <a:tab pos="605790" algn="l"/>
              </a:tabLst>
              <a:defRPr/>
            </a:pPr>
            <a:r>
              <a:rPr kumimoji="0" sz="2800" b="0" i="0" u="heavy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imes New Roman"/>
                <a:ea typeface="+mn-ea"/>
                <a:cs typeface="Times New Roman"/>
              </a:rPr>
              <a:t> 	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1110</a:t>
            </a:r>
            <a:r>
              <a:rPr kumimoji="0" lang="en-US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 </a:t>
            </a:r>
            <a:r>
              <a:rPr kumimoji="0" sz="2800" b="0" i="0" u="heavy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>
                  <a:solidFill>
                    <a:srgbClr val="000000"/>
                  </a:solidFill>
                </a:uFill>
                <a:latin typeface="Tahoma"/>
                <a:ea typeface="+mn-ea"/>
                <a:cs typeface="Tahoma"/>
              </a:rPr>
              <a:t>1111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50800" marR="0" lvl="0" indent="0" algn="l" defTabSz="914400" rtl="0" eaLnBrk="1" fontAlgn="auto" latinLnBrk="0" hangingPunct="1">
              <a:lnSpc>
                <a:spcPct val="100000"/>
              </a:lnSpc>
              <a:spcBef>
                <a:spcPts val="172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1)</a:t>
            </a:r>
            <a:r>
              <a:rPr kumimoji="0" sz="2800" b="0" i="0" u="none" strike="noStrike" kern="1200" cap="none" spc="-85" normalizeH="0" baseline="0" noProof="0" dirty="0">
                <a:ln>
                  <a:noFill/>
                </a:ln>
                <a:solidFill>
                  <a:srgbClr val="0033CC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</a:t>
            </a:r>
            <a:endParaRPr kumimoji="0" sz="2850" b="0" i="0" u="none" strike="noStrike" kern="1200" cap="none" spc="0" normalizeH="0" baseline="-20467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6099881" y="4494543"/>
            <a:ext cx="4008120" cy="15189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ClrTx/>
              <a:buSzTx/>
              <a:buFontTx/>
              <a:buNone/>
              <a:tabLst>
                <a:tab pos="1964689" algn="l"/>
              </a:tabLst>
              <a:defRPr/>
            </a:pP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111</a:t>
            </a:r>
            <a:r>
              <a:rPr kumimoji="0" lang="en-US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0111</a:t>
            </a:r>
            <a:r>
              <a:rPr kumimoji="0" sz="2850" b="0" i="0" u="none" strike="noStrike" kern="1200" cap="none" spc="-7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2	</a:t>
            </a:r>
            <a:r>
              <a:rPr kumimoji="0" sz="2800" b="0" i="0" u="none" strike="noStrike" kern="1200" cap="none" spc="-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(keep</a:t>
            </a:r>
            <a:r>
              <a:rPr kumimoji="0" sz="2800" b="0" i="0" u="none" strike="noStrike" kern="1200" cap="none" spc="-4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8</a:t>
            </a:r>
            <a:r>
              <a:rPr kumimoji="0" sz="2800" b="0" i="0" u="none" strike="noStrike" kern="1200" cap="none" spc="-45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bits)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41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  <a:p>
            <a:pPr marL="6350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(+119</a:t>
            </a:r>
            <a:r>
              <a:rPr kumimoji="0" sz="2850" b="0" i="0" u="none" strike="noStrike" kern="1200" cap="none" spc="-15" normalizeH="0" baseline="-20467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10</a:t>
            </a:r>
            <a:r>
              <a:rPr kumimoji="0" sz="2800" b="0" i="0" u="none" strike="noStrike" kern="1200" cap="none" spc="-1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)</a:t>
            </a:r>
            <a:r>
              <a:rPr kumimoji="0" sz="2800" b="0" i="0" u="none" strike="noStrike" kern="1200" cap="none" spc="-2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wrong</a:t>
            </a:r>
            <a:r>
              <a:rPr kumimoji="0" sz="2800" b="1" i="0" u="none" strike="noStrike" kern="1200" cap="none" spc="-1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 </a:t>
            </a:r>
            <a:r>
              <a:rPr kumimoji="0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result</a:t>
            </a:r>
            <a:r>
              <a:rPr kumimoji="0" lang="en-US" sz="2800" b="1" i="0" u="none" strike="noStrike" kern="1200" cap="none" spc="-5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Tahoma"/>
                <a:ea typeface="+mn-ea"/>
                <a:cs typeface="Tahoma"/>
              </a:rPr>
              <a:t>!</a:t>
            </a:r>
            <a:endParaRPr kumimoji="0" sz="28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ahoma"/>
              <a:ea typeface="+mn-ea"/>
              <a:cs typeface="Tahoma"/>
            </a:endParaRPr>
          </a:p>
        </p:txBody>
      </p:sp>
    </p:spTree>
    <p:extLst>
      <p:ext uri="{BB962C8B-B14F-4D97-AF65-F5344CB8AC3E}">
        <p14:creationId xmlns:p14="http://schemas.microsoft.com/office/powerpoint/2010/main" val="676302378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>
              <a:defRPr/>
            </a:pPr>
            <a:r>
              <a:rPr lang="en-US" dirty="0"/>
              <a:t>Done</a:t>
            </a:r>
          </a:p>
        </p:txBody>
      </p:sp>
      <p:sp>
        <p:nvSpPr>
          <p:cNvPr id="5123" name="Slide Number Placeholder 3"/>
          <p:cNvSpPr>
            <a:spLocks noGrp="1"/>
          </p:cNvSpPr>
          <p:nvPr>
            <p:ph type="sldNum" sz="quarter" idx="4294967295"/>
          </p:nvPr>
        </p:nvSpPr>
        <p:spPr bwMode="auto"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20000"/>
              </a:spcBef>
              <a:buFont typeface="Arial" panose="020B0604020202020204" pitchFamily="34" charset="0"/>
              <a:buChar char="•"/>
              <a:defRPr sz="3200">
                <a:solidFill>
                  <a:schemeClr val="tx1"/>
                </a:solidFill>
                <a:latin typeface="Calibri" panose="020F0502020204030204" pitchFamily="34" charset="0"/>
              </a:defRPr>
            </a:lvl1pPr>
            <a:lvl2pPr marL="742950" indent="-285750">
              <a:spcBef>
                <a:spcPct val="20000"/>
              </a:spcBef>
              <a:buFont typeface="Arial" panose="020B0604020202020204" pitchFamily="34" charset="0"/>
              <a:buChar char="–"/>
              <a:defRPr sz="2800">
                <a:solidFill>
                  <a:schemeClr val="tx1"/>
                </a:solidFill>
                <a:latin typeface="Calibri" panose="020F0502020204030204" pitchFamily="34" charset="0"/>
              </a:defRPr>
            </a:lvl2pPr>
            <a:lvl3pPr marL="1143000" indent="-228600">
              <a:spcBef>
                <a:spcPct val="20000"/>
              </a:spcBef>
              <a:buFont typeface="Arial" panose="020B0604020202020204" pitchFamily="34" charset="0"/>
              <a:buChar char="•"/>
              <a:defRPr sz="2400">
                <a:solidFill>
                  <a:schemeClr val="tx1"/>
                </a:solidFill>
                <a:latin typeface="Calibri" panose="020F0502020204030204" pitchFamily="34" charset="0"/>
              </a:defRPr>
            </a:lvl3pPr>
            <a:lvl4pPr marL="1600200" indent="-228600">
              <a:spcBef>
                <a:spcPct val="20000"/>
              </a:spcBef>
              <a:buFont typeface="Arial" panose="020B0604020202020204" pitchFamily="34" charset="0"/>
              <a:buChar char="–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4pPr>
            <a:lvl5pPr marL="2057400" indent="-228600">
              <a:spcBef>
                <a:spcPct val="20000"/>
              </a:spcBef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5pPr>
            <a:lvl6pPr marL="25146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6pPr>
            <a:lvl7pPr marL="29718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7pPr>
            <a:lvl8pPr marL="34290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8pPr>
            <a:lvl9pPr marL="3886200" indent="-228600" eaLnBrk="0" fontAlgn="base" hangingPunct="0">
              <a:spcBef>
                <a:spcPct val="20000"/>
              </a:spcBef>
              <a:spcAft>
                <a:spcPct val="0"/>
              </a:spcAft>
              <a:buFont typeface="Arial" panose="020B0604020202020204" pitchFamily="34" charset="0"/>
              <a:buChar char="»"/>
              <a:defRPr sz="2000">
                <a:solidFill>
                  <a:schemeClr val="tx1"/>
                </a:solidFill>
                <a:latin typeface="Calibri" panose="020F050202020403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altLang="en-US" sz="1200" b="0" i="0" u="none" strike="noStrike" kern="1200" cap="none" spc="0" normalizeH="0" baseline="0" noProof="0" dirty="0">
                <a:ln>
                  <a:noFill/>
                </a:ln>
                <a:solidFill>
                  <a:srgbClr val="898989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+mn-cs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750172162"/>
      </p:ext>
    </p:extLst>
  </p:cSld>
  <p:clrMapOvr>
    <a:masterClrMapping/>
  </p:clrMapOvr>
</p:sld>
</file>

<file path=ppt/theme/theme1.xml><?xml version="1.0" encoding="utf-8"?>
<a:theme xmlns:a="http://schemas.openxmlformats.org/drawingml/2006/main" name="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C2E27841-7055-4EC2-8474-90BDE5ACE175}"/>
    </a:ext>
  </a:extLst>
</a:theme>
</file>

<file path=ppt/theme/theme3.xml><?xml version="1.0" encoding="utf-8"?>
<a:theme xmlns:a="http://schemas.openxmlformats.org/drawingml/2006/main" name="1_SCUTemplate">
  <a:themeElements>
    <a:clrScheme name="Santa Clara Powerpoint 1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96641"/>
      </a:accent1>
      <a:accent2>
        <a:srgbClr val="495764"/>
      </a:accent2>
      <a:accent3>
        <a:srgbClr val="71001B"/>
      </a:accent3>
      <a:accent4>
        <a:srgbClr val="FFC000"/>
      </a:accent4>
      <a:accent5>
        <a:srgbClr val="9D9B7B"/>
      </a:accent5>
      <a:accent6>
        <a:srgbClr val="759C9A"/>
      </a:accent6>
      <a:hlink>
        <a:srgbClr val="9E1B32"/>
      </a:hlink>
      <a:folHlink>
        <a:srgbClr val="954F72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OEN912.pptx" id="{30FD953E-F8CF-43B1-AE2C-113081E30BF0}" vid="{F0B77AA3-1BFC-4F21-AA5C-47F762EA0811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SCUTemplate</Template>
  <TotalTime>1240</TotalTime>
  <Words>4942</Words>
  <Application>Microsoft Office PowerPoint</Application>
  <PresentationFormat>Widescreen</PresentationFormat>
  <Paragraphs>1324</Paragraphs>
  <Slides>96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96</vt:i4>
      </vt:variant>
    </vt:vector>
  </HeadingPairs>
  <TitlesOfParts>
    <vt:vector size="110" baseType="lpstr">
      <vt:lpstr>Arial</vt:lpstr>
      <vt:lpstr>Arial MT</vt:lpstr>
      <vt:lpstr>Arial Narrow</vt:lpstr>
      <vt:lpstr>Calibri</vt:lpstr>
      <vt:lpstr>Cambria Math</vt:lpstr>
      <vt:lpstr>Consolas</vt:lpstr>
      <vt:lpstr>Garamond</vt:lpstr>
      <vt:lpstr>Symbol</vt:lpstr>
      <vt:lpstr>Tahoma</vt:lpstr>
      <vt:lpstr>Times New Roman</vt:lpstr>
      <vt:lpstr>Wingdings</vt:lpstr>
      <vt:lpstr>SCUTemplate</vt:lpstr>
      <vt:lpstr>Custom Design</vt:lpstr>
      <vt:lpstr>1_SCUTemplate</vt:lpstr>
      <vt:lpstr>CSEN20</vt:lpstr>
      <vt:lpstr>Chapter 2 Binary Number Systems</vt:lpstr>
      <vt:lpstr>Kinds Of Data</vt:lpstr>
      <vt:lpstr>Number Representation</vt:lpstr>
      <vt:lpstr>Number Representation</vt:lpstr>
      <vt:lpstr>Number Representation</vt:lpstr>
      <vt:lpstr>Sign-and-Magnitude  Representation</vt:lpstr>
      <vt:lpstr>2’s Complement Representation</vt:lpstr>
      <vt:lpstr>Why Not Sign + Magnitude?</vt:lpstr>
      <vt:lpstr>Why 2’s Complement?</vt:lpstr>
      <vt:lpstr>Why Not Sign+Magnitude?</vt:lpstr>
      <vt:lpstr>Chapter 2 Binary Number Systems</vt:lpstr>
      <vt:lpstr>Symbols and their values used in positional number systems</vt:lpstr>
      <vt:lpstr>Positional Number Systems</vt:lpstr>
      <vt:lpstr>POLYNOMIAL EVALUATION</vt:lpstr>
      <vt:lpstr>Polynomial Evaluation</vt:lpstr>
      <vt:lpstr>POLYNOMIAL EVALUATION</vt:lpstr>
      <vt:lpstr>Examples</vt:lpstr>
      <vt:lpstr>Converting from ANY Radix to Decimal</vt:lpstr>
      <vt:lpstr>CONVERT BINARY TO DECIMAL (Using Polynomial Evaluation)</vt:lpstr>
      <vt:lpstr>EXTENDING POLYNOMIAL EVALUATION TO NUMBERS WITH A FRACTIONAL PART</vt:lpstr>
      <vt:lpstr>PowerPoint Presentation</vt:lpstr>
      <vt:lpstr>AN EASIER METHOD</vt:lpstr>
      <vt:lpstr>Converting Fractions</vt:lpstr>
      <vt:lpstr>Representation Error</vt:lpstr>
      <vt:lpstr>Group Work</vt:lpstr>
      <vt:lpstr>Group Work</vt:lpstr>
      <vt:lpstr>Chapter 2 Binary Number Systems</vt:lpstr>
      <vt:lpstr>Decimal to Binary Conversion</vt:lpstr>
      <vt:lpstr>UNSIGNED DECIMAL TO BINARY CONVERSION</vt:lpstr>
      <vt:lpstr>UNSIGNED DECIMAL TO BINARY Method 1: Integer Part (Repeated Division)</vt:lpstr>
      <vt:lpstr>UNSIGNED DECIMAL TO BINARY Method 1: Fractional Part (Repeated Multiplication)</vt:lpstr>
      <vt:lpstr>Decimal to Binary Conversion (Whole Part: Repeated Division)</vt:lpstr>
      <vt:lpstr>Decimal to Binary Conversion (Fractional Part: Repeated Multiplication)</vt:lpstr>
      <vt:lpstr>Decimal to Binary Conversion (Fractional Part: Repeated Multiplication)</vt:lpstr>
      <vt:lpstr>Group Work</vt:lpstr>
      <vt:lpstr>Group Work</vt:lpstr>
      <vt:lpstr>Chapter 2 Binary Number Systems</vt:lpstr>
      <vt:lpstr>Two Interpretations</vt:lpstr>
      <vt:lpstr>Changing the Signs</vt:lpstr>
      <vt:lpstr>Easier Hand Method (example 1)</vt:lpstr>
      <vt:lpstr>Easier Hand Method (example 2)</vt:lpstr>
      <vt:lpstr>Representation Width</vt:lpstr>
      <vt:lpstr>PowerPoint Presentation</vt:lpstr>
      <vt:lpstr>PowerPoint Presentation</vt:lpstr>
      <vt:lpstr>Finding 2’s complement of fraction  numbers</vt:lpstr>
      <vt:lpstr>CONVERTING SIGNED DECIMAL TO TWO’S COMPLEMENT</vt:lpstr>
      <vt:lpstr>CONVERTING SIGNED DECIMAL TO TWO’S COMPLEMENT</vt:lpstr>
      <vt:lpstr>PowerPoint Presentation</vt:lpstr>
      <vt:lpstr>Changing the Sign of a Two’s Complement Number (Method 1)</vt:lpstr>
      <vt:lpstr>Changing the Sign of a Two’s Complement Number (Method 2)</vt:lpstr>
      <vt:lpstr>Chapter 2 Binary Number Systems</vt:lpstr>
      <vt:lpstr>Hex</vt:lpstr>
      <vt:lpstr>MOTIVATION</vt:lpstr>
      <vt:lpstr>MOTIVATION</vt:lpstr>
      <vt:lpstr>Hexadecimal Numbers  (Radix = 16)</vt:lpstr>
      <vt:lpstr>Hex/Binary Table</vt:lpstr>
      <vt:lpstr>Binary to Hex Conversions</vt:lpstr>
      <vt:lpstr>Example: Binary to Hex</vt:lpstr>
      <vt:lpstr>Example: Hex to Binary</vt:lpstr>
      <vt:lpstr>Example: 110101.0101012 to Hex</vt:lpstr>
      <vt:lpstr>Example: 110101.0101012 to Hex</vt:lpstr>
      <vt:lpstr>Octal</vt:lpstr>
      <vt:lpstr>Octal/Binary Table</vt:lpstr>
      <vt:lpstr>Converting Octal (Base 8) to Hex</vt:lpstr>
      <vt:lpstr>Converting Octal (Base 8) to Hex</vt:lpstr>
      <vt:lpstr>Converting Octal (Base 8) to Hex</vt:lpstr>
      <vt:lpstr>Converting Octal (Base 8) to Hex</vt:lpstr>
      <vt:lpstr>Convert 21.348 to Binary</vt:lpstr>
      <vt:lpstr>Convert AB.CD16 to base 8</vt:lpstr>
      <vt:lpstr>Convert FA.CE16 to base 8</vt:lpstr>
      <vt:lpstr>Chapter 2 Binary Number Systems</vt:lpstr>
      <vt:lpstr>Convert unsigned 256 to decimal</vt:lpstr>
      <vt:lpstr>Convert unsigned 2510 to base 7</vt:lpstr>
      <vt:lpstr>Convert unsigned .310 to base 7</vt:lpstr>
      <vt:lpstr>Converting -25.7510 to 2’s Comp.</vt:lpstr>
      <vt:lpstr>Convert -75.7510 to 2’s complement</vt:lpstr>
      <vt:lpstr>Convert -75.7510 to 2’s complement</vt:lpstr>
      <vt:lpstr>Convert 2’s Comp. 1001.01102 to decimal</vt:lpstr>
      <vt:lpstr>Convert 2’s Comp. 1001.01102 to decimal</vt:lpstr>
      <vt:lpstr>Review Problems</vt:lpstr>
      <vt:lpstr>Convert -75.7510 to 2’s complement</vt:lpstr>
      <vt:lpstr>Convert 2’s Comp. 1001.01102 to decimal</vt:lpstr>
      <vt:lpstr>Practice Problems: NR1NR2</vt:lpstr>
      <vt:lpstr>Chapter 2 Binary Number Systems</vt:lpstr>
      <vt:lpstr>Question:</vt:lpstr>
      <vt:lpstr>Rollover</vt:lpstr>
      <vt:lpstr>Rollover in Unsigned Binary</vt:lpstr>
      <vt:lpstr>Rollover in Signed Binary</vt:lpstr>
      <vt:lpstr>PowerPoint Presentation</vt:lpstr>
      <vt:lpstr>Rollover Causing Overflow</vt:lpstr>
      <vt:lpstr>Rollovers Versus Overflows</vt:lpstr>
      <vt:lpstr>Example of Unsigned Overflow  Using 4-bit</vt:lpstr>
      <vt:lpstr>Example of Signed Overflow  Using 8-bit</vt:lpstr>
      <vt:lpstr>Another Example of Signed Overflow  Using 8-bit</vt:lpstr>
      <vt:lpstr>Done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Outline</dc:title>
  <dc:creator>Michael Schimpf</dc:creator>
  <cp:lastModifiedBy>Michael Schimpf</cp:lastModifiedBy>
  <cp:revision>219</cp:revision>
  <cp:lastPrinted>2024-01-05T18:52:18Z</cp:lastPrinted>
  <dcterms:created xsi:type="dcterms:W3CDTF">2023-09-09T19:51:41Z</dcterms:created>
  <dcterms:modified xsi:type="dcterms:W3CDTF">2026-08-19T22:18:40Z</dcterms:modified>
</cp:coreProperties>
</file>