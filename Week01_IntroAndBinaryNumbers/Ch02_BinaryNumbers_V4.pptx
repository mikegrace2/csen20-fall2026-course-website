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101"/>
  </p:notesMasterIdLst>
  <p:handoutMasterIdLst>
    <p:handoutMasterId r:id="rId102"/>
  </p:handoutMasterIdLst>
  <p:sldIdLst>
    <p:sldId id="333" r:id="rId4"/>
    <p:sldId id="334" r:id="rId5"/>
    <p:sldId id="335" r:id="rId6"/>
    <p:sldId id="336" r:id="rId7"/>
    <p:sldId id="468" r:id="rId8"/>
    <p:sldId id="469" r:id="rId9"/>
    <p:sldId id="337" r:id="rId10"/>
    <p:sldId id="338" r:id="rId11"/>
    <p:sldId id="509" r:id="rId12"/>
    <p:sldId id="339" r:id="rId13"/>
    <p:sldId id="340" r:id="rId14"/>
    <p:sldId id="341" r:id="rId15"/>
    <p:sldId id="342" r:id="rId16"/>
    <p:sldId id="344" r:id="rId17"/>
    <p:sldId id="343" r:id="rId18"/>
    <p:sldId id="346" r:id="rId19"/>
    <p:sldId id="345" r:id="rId20"/>
    <p:sldId id="347" r:id="rId21"/>
    <p:sldId id="458" r:id="rId22"/>
    <p:sldId id="348" r:id="rId23"/>
    <p:sldId id="349" r:id="rId24"/>
    <p:sldId id="350" r:id="rId25"/>
    <p:sldId id="467" r:id="rId26"/>
    <p:sldId id="351" r:id="rId27"/>
    <p:sldId id="352" r:id="rId28"/>
    <p:sldId id="353" r:id="rId29"/>
    <p:sldId id="354" r:id="rId30"/>
    <p:sldId id="470" r:id="rId31"/>
    <p:sldId id="355" r:id="rId32"/>
    <p:sldId id="356" r:id="rId33"/>
    <p:sldId id="357" r:id="rId34"/>
    <p:sldId id="360" r:id="rId35"/>
    <p:sldId id="362" r:id="rId36"/>
    <p:sldId id="369" r:id="rId37"/>
    <p:sldId id="370" r:id="rId38"/>
    <p:sldId id="371" r:id="rId39"/>
    <p:sldId id="372" r:id="rId40"/>
    <p:sldId id="490" r:id="rId41"/>
    <p:sldId id="386" r:id="rId42"/>
    <p:sldId id="387" r:id="rId43"/>
    <p:sldId id="388" r:id="rId44"/>
    <p:sldId id="389" r:id="rId45"/>
    <p:sldId id="390" r:id="rId46"/>
    <p:sldId id="452" r:id="rId47"/>
    <p:sldId id="392" r:id="rId48"/>
    <p:sldId id="394" r:id="rId49"/>
    <p:sldId id="395" r:id="rId50"/>
    <p:sldId id="400" r:id="rId51"/>
    <p:sldId id="401" r:id="rId52"/>
    <p:sldId id="453" r:id="rId53"/>
    <p:sldId id="454" r:id="rId54"/>
    <p:sldId id="397" r:id="rId55"/>
    <p:sldId id="489" r:id="rId56"/>
    <p:sldId id="471" r:id="rId57"/>
    <p:sldId id="472" r:id="rId58"/>
    <p:sldId id="473" r:id="rId59"/>
    <p:sldId id="474" r:id="rId60"/>
    <p:sldId id="475" r:id="rId61"/>
    <p:sldId id="476" r:id="rId62"/>
    <p:sldId id="477" r:id="rId63"/>
    <p:sldId id="478" r:id="rId64"/>
    <p:sldId id="480" r:id="rId65"/>
    <p:sldId id="481" r:id="rId66"/>
    <p:sldId id="482" r:id="rId67"/>
    <p:sldId id="483" r:id="rId68"/>
    <p:sldId id="484" r:id="rId69"/>
    <p:sldId id="503" r:id="rId70"/>
    <p:sldId id="486" r:id="rId71"/>
    <p:sldId id="485" r:id="rId72"/>
    <p:sldId id="502" r:id="rId73"/>
    <p:sldId id="487" r:id="rId74"/>
    <p:sldId id="488" r:id="rId75"/>
    <p:sldId id="407" r:id="rId76"/>
    <p:sldId id="408" r:id="rId77"/>
    <p:sldId id="409" r:id="rId78"/>
    <p:sldId id="410" r:id="rId79"/>
    <p:sldId id="455" r:id="rId80"/>
    <p:sldId id="412" r:id="rId81"/>
    <p:sldId id="413" r:id="rId82"/>
    <p:sldId id="414" r:id="rId83"/>
    <p:sldId id="415" r:id="rId84"/>
    <p:sldId id="462" r:id="rId85"/>
    <p:sldId id="445" r:id="rId86"/>
    <p:sldId id="446" r:id="rId87"/>
    <p:sldId id="456" r:id="rId88"/>
    <p:sldId id="491" r:id="rId89"/>
    <p:sldId id="492" r:id="rId90"/>
    <p:sldId id="493" r:id="rId91"/>
    <p:sldId id="494" r:id="rId92"/>
    <p:sldId id="495" r:id="rId93"/>
    <p:sldId id="496" r:id="rId94"/>
    <p:sldId id="448" r:id="rId95"/>
    <p:sldId id="498" r:id="rId96"/>
    <p:sldId id="499" r:id="rId97"/>
    <p:sldId id="500" r:id="rId98"/>
    <p:sldId id="501" r:id="rId99"/>
    <p:sldId id="447" r:id="rId10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6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viewProps" Target="view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2E8489-359D-4C17-8528-4B3DB5E0DB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690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205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551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2682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29921" y="2386076"/>
            <a:ext cx="4623647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 ©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2000,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Daniel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1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Lew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is. 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ese</a:t>
            </a:r>
            <a:r>
              <a:rPr kumimoji="0" lang="en-US" sz="1400" b="0" i="0" u="none" strike="noStrike" kern="1200" cap="none" spc="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ed.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963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961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599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spcBef>
                <a:spcPts val="30"/>
              </a:spcBef>
            </a:pPr>
            <a:r>
              <a:rPr lang="en-US"/>
              <a:t>C</a:t>
            </a:r>
            <a:r>
              <a:rPr lang="en-US" spc="-5"/>
              <a:t>o</a:t>
            </a:r>
            <a:r>
              <a:rPr lang="en-US" spc="-10"/>
              <a:t>p</a:t>
            </a:r>
            <a:r>
              <a:rPr lang="en-US"/>
              <a:t>y</a:t>
            </a:r>
            <a:r>
              <a:rPr lang="en-US" spc="-5"/>
              <a:t>r</a:t>
            </a:r>
            <a:r>
              <a:rPr lang="en-US"/>
              <a:t>ig</a:t>
            </a:r>
            <a:r>
              <a:rPr lang="en-US" spc="-15"/>
              <a:t>h</a:t>
            </a:r>
            <a:r>
              <a:rPr lang="en-US"/>
              <a:t>t ©</a:t>
            </a:r>
            <a:r>
              <a:rPr lang="en-US" spc="-10"/>
              <a:t> </a:t>
            </a:r>
            <a:r>
              <a:rPr lang="en-US"/>
              <a:t>2000,</a:t>
            </a:r>
            <a:r>
              <a:rPr lang="en-US" spc="-5"/>
              <a:t> </a:t>
            </a:r>
            <a:r>
              <a:rPr lang="en-US"/>
              <a:t>Daniel</a:t>
            </a:r>
            <a:r>
              <a:rPr lang="en-US" spc="-5"/>
              <a:t> </a:t>
            </a:r>
            <a:r>
              <a:rPr lang="en-US" spc="-140"/>
              <a:t>W</a:t>
            </a:r>
            <a:r>
              <a:rPr lang="en-US"/>
              <a:t>.</a:t>
            </a:r>
            <a:r>
              <a:rPr lang="en-US" spc="-10"/>
              <a:t> </a:t>
            </a:r>
            <a:r>
              <a:rPr lang="en-US" spc="-5"/>
              <a:t>Lew</a:t>
            </a:r>
            <a:r>
              <a:rPr lang="en-US"/>
              <a:t>is. </a:t>
            </a:r>
            <a:r>
              <a:rPr lang="en-US" spc="-15"/>
              <a:t> </a:t>
            </a:r>
            <a:r>
              <a:rPr lang="en-US"/>
              <a:t>All</a:t>
            </a:r>
            <a:r>
              <a:rPr lang="en-US" spc="-5"/>
              <a:t> </a:t>
            </a:r>
            <a:r>
              <a:rPr lang="en-US"/>
              <a:t>Rig</a:t>
            </a:r>
            <a:r>
              <a:rPr lang="en-US" spc="-15"/>
              <a:t>h</a:t>
            </a:r>
            <a:r>
              <a:rPr lang="en-US" spc="5"/>
              <a:t>t</a:t>
            </a:r>
            <a:r>
              <a:rPr lang="en-US"/>
              <a:t>s</a:t>
            </a:r>
            <a:r>
              <a:rPr lang="en-US" spc="-5"/>
              <a:t> </a:t>
            </a:r>
            <a:r>
              <a:rPr lang="en-US" spc="-25"/>
              <a:t>R</a:t>
            </a:r>
            <a:r>
              <a:rPr lang="en-US"/>
              <a:t>ese</a:t>
            </a:r>
            <a:r>
              <a:rPr lang="en-US" spc="10"/>
              <a:t>r</a:t>
            </a:r>
            <a:r>
              <a:rPr lang="en-US" spc="-10"/>
              <a:t>v</a:t>
            </a:r>
            <a:r>
              <a:rPr lang="en-US"/>
              <a:t>ed.</a:t>
            </a:r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9122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3074999"/>
            <a:ext cx="10371222" cy="355841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17875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</p:spTree>
    <p:extLst>
      <p:ext uri="{BB962C8B-B14F-4D97-AF65-F5344CB8AC3E}">
        <p14:creationId xmlns:p14="http://schemas.microsoft.com/office/powerpoint/2010/main" val="2005933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035" y="742267"/>
            <a:ext cx="31127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Kinds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40" dirty="0"/>
              <a:t> </a:t>
            </a:r>
            <a:r>
              <a:rPr spc="-5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0035" y="1892978"/>
            <a:ext cx="2617470" cy="335284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 typeface="Calibri"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Reals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Fixed-Point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Floating-Point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054424" y="1892978"/>
            <a:ext cx="2796540" cy="4219744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Text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ASCII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Characters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Strings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Graphics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Images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Video</a:t>
            </a: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Audio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96586" y="847424"/>
            <a:ext cx="4403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Depending on interpretation!</a:t>
            </a:r>
          </a:p>
        </p:txBody>
      </p:sp>
    </p:spTree>
    <p:extLst>
      <p:ext uri="{BB962C8B-B14F-4D97-AF65-F5344CB8AC3E}">
        <p14:creationId xmlns:p14="http://schemas.microsoft.com/office/powerpoint/2010/main" val="2503427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73023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(0's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1's).</a:t>
            </a: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How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many digits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(bits)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need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represent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in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bin?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 + 2</a:t>
            </a:r>
            <a:r>
              <a:rPr kumimoji="0" lang="en-US" sz="2000" b="0" i="0" u="none" strike="noStrike" kern="1200" cap="none" spc="-5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+ 4 = 7 -&gt; 3 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9642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40280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2.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(“fixed-precision”).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Tx/>
              <a:buNone/>
              <a:tabLst>
                <a:tab pos="755015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Byte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alf-word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ouble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-word</a:t>
            </a:r>
            <a:endParaRPr lang="en-US" sz="2400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Why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need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 these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data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types?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922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9254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represent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signed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numbers using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2's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instead of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“sign-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-magnitude”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representation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Why?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18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141" y="765830"/>
            <a:ext cx="8561786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575945" marR="5080" indent="-563880">
              <a:lnSpc>
                <a:spcPct val="100499"/>
              </a:lnSpc>
              <a:spcBef>
                <a:spcPts val="70"/>
              </a:spcBef>
            </a:pPr>
            <a:r>
              <a:rPr dirty="0"/>
              <a:t>Si</a:t>
            </a:r>
            <a:r>
              <a:rPr spc="-5" dirty="0"/>
              <a:t>g</a:t>
            </a:r>
            <a:r>
              <a:rPr spc="5" dirty="0"/>
              <a:t>n</a:t>
            </a:r>
            <a:r>
              <a:rPr dirty="0"/>
              <a:t>-and-Ma</a:t>
            </a:r>
            <a:r>
              <a:rPr spc="5" dirty="0"/>
              <a:t>g</a:t>
            </a:r>
            <a:r>
              <a:rPr dirty="0"/>
              <a:t>nit</a:t>
            </a:r>
            <a:r>
              <a:rPr spc="5" dirty="0"/>
              <a:t>u</a:t>
            </a:r>
            <a:r>
              <a:rPr dirty="0"/>
              <a:t>de  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914777" y="195890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72377" y="194366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53651" y="2514600"/>
            <a:ext cx="4307306" cy="3850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46690" y="1367704"/>
            <a:ext cx="3270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Two 0 representations?!?!?!</a:t>
            </a:r>
          </a:p>
        </p:txBody>
      </p:sp>
      <p:cxnSp>
        <p:nvCxnSpPr>
          <p:cNvPr id="8" name="Straight Arrow Connector 7"/>
          <p:cNvCxnSpPr>
            <a:stCxn id="6" idx="2"/>
          </p:cNvCxnSpPr>
          <p:nvPr/>
        </p:nvCxnSpPr>
        <p:spPr>
          <a:xfrm flipH="1">
            <a:off x="2590264" y="1737036"/>
            <a:ext cx="2691906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</p:cNvCxnSpPr>
          <p:nvPr/>
        </p:nvCxnSpPr>
        <p:spPr>
          <a:xfrm>
            <a:off x="5282170" y="1737036"/>
            <a:ext cx="781868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926628" y="2374471"/>
            <a:ext cx="2525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(x == </a:t>
            </a: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0 &amp;&amp; x ==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/>
              <a:t>0){</a:t>
            </a:r>
          </a:p>
          <a:p>
            <a:r>
              <a:rPr lang="en-US" dirty="0"/>
              <a:t>   …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379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5940" y="734246"/>
            <a:ext cx="736473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2’s</a:t>
            </a:r>
            <a:r>
              <a:rPr spc="5" dirty="0"/>
              <a:t> </a:t>
            </a:r>
            <a:r>
              <a:rPr spc="-5" dirty="0"/>
              <a:t>Complement</a:t>
            </a:r>
            <a:r>
              <a:rPr dirty="0"/>
              <a:t> </a:t>
            </a:r>
            <a:r>
              <a:rPr spc="-5" dirty="0"/>
              <a:t>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46172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14978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-7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lang="en-US" sz="2800" dirty="0">
                          <a:latin typeface="Calibri"/>
                          <a:cs typeface="Calibri"/>
                        </a:rPr>
                        <a:t>8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r>
                        <a:rPr lang="en-US" sz="2800" spc="5" dirty="0">
                          <a:latin typeface="Calibri"/>
                          <a:cs typeface="Calibri"/>
                        </a:rPr>
                        <a:t>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86796" y="5811253"/>
            <a:ext cx="2048130" cy="3288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307534" y="5770784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One “–” more </a:t>
            </a:r>
          </a:p>
        </p:txBody>
      </p:sp>
      <p:cxnSp>
        <p:nvCxnSpPr>
          <p:cNvPr id="8" name="Straight Arrow Connector 7"/>
          <p:cNvCxnSpPr>
            <a:stCxn id="7" idx="1"/>
          </p:cNvCxnSpPr>
          <p:nvPr/>
        </p:nvCxnSpPr>
        <p:spPr>
          <a:xfrm flipH="1">
            <a:off x="8763000" y="5955450"/>
            <a:ext cx="544534" cy="82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29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</a:t>
            </a:r>
            <a:r>
              <a:rPr lang="en-US" spc="-5" dirty="0"/>
              <a:t> </a:t>
            </a:r>
            <a:r>
              <a:rPr spc="-5" dirty="0"/>
              <a:t>+</a:t>
            </a:r>
            <a:r>
              <a:rPr lang="en-US" spc="-5" dirty="0"/>
              <a:t> </a:t>
            </a:r>
            <a:r>
              <a:rPr spc="-5" dirty="0"/>
              <a:t>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5873" y="1645422"/>
            <a:ext cx="6088138" cy="3776034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Complicates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addition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128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650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irst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check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signs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(same)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 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both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same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sign;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!same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u="sng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subtract</a:t>
            </a:r>
            <a:r>
              <a:rPr kumimoji="0" sz="2000" b="0" u="sng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 the </a:t>
            </a:r>
            <a:r>
              <a:rPr kumimoji="0" sz="2100" b="0" u="sng" strike="noStrike" kern="1200" cap="none" spc="-4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;</a:t>
            </a:r>
            <a:b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6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lang="en-US" sz="20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5080" lvl="1" indent="-228600">
              <a:lnSpc>
                <a:spcPts val="2400"/>
              </a:lnSpc>
              <a:spcBef>
                <a:spcPts val="585"/>
              </a:spcBef>
              <a:buFontTx/>
              <a:buChar char="•"/>
              <a:tabLst>
                <a:tab pos="1155700" algn="l"/>
              </a:tabLst>
            </a:pP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How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do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which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b="0" i="0" u="none" strike="noStrike" kern="1200" cap="none" spc="-5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smaller/larger?</a:t>
            </a:r>
            <a:endParaRPr kumimoji="0" lang="en-US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70058" y="1747840"/>
            <a:ext cx="2676525" cy="4164965"/>
            <a:chOff x="300037" y="1138237"/>
            <a:chExt cx="2676525" cy="4164965"/>
          </a:xfrm>
        </p:grpSpPr>
        <p:sp>
          <p:nvSpPr>
            <p:cNvPr id="6" name="object 6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2667000" y="0"/>
                  </a:moveTo>
                  <a:lnTo>
                    <a:pt x="0" y="0"/>
                  </a:lnTo>
                  <a:lnTo>
                    <a:pt x="0" y="4154984"/>
                  </a:lnTo>
                  <a:lnTo>
                    <a:pt x="2667000" y="4154984"/>
                  </a:lnTo>
                  <a:lnTo>
                    <a:pt x="26670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0" y="0"/>
                  </a:moveTo>
                  <a:lnTo>
                    <a:pt x="2667000" y="0"/>
                  </a:lnTo>
                  <a:lnTo>
                    <a:pt x="2667000" y="4154984"/>
                  </a:lnTo>
                  <a:lnTo>
                    <a:pt x="0" y="415498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28160" y="1773431"/>
            <a:ext cx="2019300" cy="2588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5588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5506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400" b="0" i="0" u="none" strike="noStrike" kern="1200" cap="none" spc="-5" normalizeH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30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70485" lvl="0" indent="0" algn="r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</a:t>
            </a:r>
            <a:r>
              <a:rPr kumimoji="0" sz="2400" b="1" i="0" u="sng" strike="noStrike" kern="120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3843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????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2845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6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&gt;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223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9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431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-</a:t>
            </a:r>
            <a:r>
              <a:rPr kumimoji="0" sz="2400" b="0" i="0" u="sng" strike="noStrike" kern="1200" cap="none" spc="-10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685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0860" y="4705607"/>
            <a:ext cx="2048510" cy="1116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30480" lvl="0" indent="0" algn="r" defTabSz="914400" rtl="0" eaLnBrk="1" fontAlgn="auto" latinLnBrk="0" hangingPunct="1">
              <a:lnSpc>
                <a:spcPts val="284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Use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985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3980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5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2400" b="0" i="0" u="none" strike="noStrike" kern="1200" cap="none" spc="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8160" y="2743286"/>
            <a:ext cx="545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larger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7850" y="2743286"/>
            <a:ext cx="6399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smaller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3088105" y="3573380"/>
            <a:ext cx="3441032" cy="643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2534654" y="4491789"/>
            <a:ext cx="3966409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879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3575" y="761838"/>
            <a:ext cx="5168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25" dirty="0"/>
              <a:t> </a:t>
            </a:r>
            <a:r>
              <a:rPr spc="-5" dirty="0"/>
              <a:t>2’s</a:t>
            </a:r>
            <a:r>
              <a:rPr spc="-10" dirty="0"/>
              <a:t> </a:t>
            </a:r>
            <a:r>
              <a:rPr spc="-5" dirty="0"/>
              <a:t>Complement?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68419" y="1551328"/>
            <a:ext cx="6866769" cy="5026660"/>
            <a:chOff x="300037" y="985837"/>
            <a:chExt cx="3286125" cy="5026660"/>
          </a:xfrm>
        </p:grpSpPr>
        <p:sp>
          <p:nvSpPr>
            <p:cNvPr id="5" name="object 5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3276600" y="0"/>
                  </a:moveTo>
                  <a:lnTo>
                    <a:pt x="0" y="0"/>
                  </a:lnTo>
                  <a:lnTo>
                    <a:pt x="0" y="5016756"/>
                  </a:lnTo>
                  <a:lnTo>
                    <a:pt x="3276600" y="5016756"/>
                  </a:lnTo>
                  <a:lnTo>
                    <a:pt x="32766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0" y="0"/>
                  </a:moveTo>
                  <a:lnTo>
                    <a:pt x="3276600" y="0"/>
                  </a:lnTo>
                  <a:lnTo>
                    <a:pt x="3276600" y="5016757"/>
                  </a:lnTo>
                  <a:lnTo>
                    <a:pt x="0" y="5016757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026522" y="1575903"/>
            <a:ext cx="5643858" cy="4929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780539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b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</a:b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                 </a:t>
            </a: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b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827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249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1925" lvl="0" indent="0" algn="r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0591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+(9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8351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6680" lvl="0" indent="0" algn="r" defTabSz="914400" rtl="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=11</a:t>
            </a:r>
            <a:r>
              <a:rPr kumimoji="0" sz="3150" b="0" i="0" u="none" strike="noStrike" kern="1200" cap="none" spc="-6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4960861" y="2694756"/>
            <a:ext cx="3292801" cy="367408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b="1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cs typeface="Tahoma"/>
              </a:rPr>
              <a:t>Easy addition</a:t>
            </a:r>
            <a:r>
              <a:rPr lang="en-US" b="1" spc="-5" dirty="0">
                <a:solidFill>
                  <a:srgbClr val="00B050"/>
                </a:solidFill>
                <a:latin typeface="Tahoma"/>
                <a:cs typeface="Tahoma"/>
              </a:rPr>
              <a:t>/subtractions</a:t>
            </a:r>
            <a:endParaRPr kumimoji="0" lang="en-US" b="1" i="0" u="none" strike="noStrike" kern="1200" cap="none" spc="-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093022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Sign+Magnitude?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4319" y="1597296"/>
            <a:ext cx="10355418" cy="4686539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Main reasons: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Two zero representations are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very annoying </a:t>
            </a:r>
            <a:r>
              <a:rPr lang="en-US" sz="2000" dirty="0">
                <a:latin typeface="Tahoma"/>
                <a:cs typeface="Tahoma"/>
              </a:rPr>
              <a:t>(and a math problem!)</a:t>
            </a:r>
            <a:endParaRPr lang="en-US" sz="2800" b="1" dirty="0">
              <a:solidFill>
                <a:srgbClr val="FF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value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wasted</a:t>
            </a: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Hardware implementation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complicated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Addition without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check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, which operand is larger.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Simply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add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 numbers.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hardware adder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works for both signed and unsigned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57920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2AE9CF5-360A-42DC-9BD3-935C41C3E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Polynomial Evaluation</a:t>
            </a:r>
          </a:p>
        </p:txBody>
      </p:sp>
    </p:spTree>
    <p:extLst>
      <p:ext uri="{BB962C8B-B14F-4D97-AF65-F5344CB8AC3E}">
        <p14:creationId xmlns:p14="http://schemas.microsoft.com/office/powerpoint/2010/main" val="2407214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2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Symbols and their values used in positional number systems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92969" y="2193759"/>
          <a:ext cx="8414084" cy="4339388"/>
        </p:xfrm>
        <a:graphic>
          <a:graphicData uri="http://schemas.openxmlformats.org/drawingml/2006/table">
            <a:tbl>
              <a:tblPr firstRow="1" firstCol="1" bandRow="1"/>
              <a:tblGrid>
                <a:gridCol w="14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599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System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Radix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Symbols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Corresponding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3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Binary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1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Decimal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91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Hex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A,B,C,D,E,F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10,11,12,13,14,15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338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205" y="746277"/>
            <a:ext cx="62388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Positional</a:t>
            </a:r>
            <a:r>
              <a:rPr spc="-25" dirty="0"/>
              <a:t> </a:t>
            </a:r>
            <a:r>
              <a:rPr spc="-5" dirty="0"/>
              <a:t>Number</a:t>
            </a:r>
            <a:r>
              <a:rPr spc="-25" dirty="0"/>
              <a:t> </a:t>
            </a:r>
            <a:r>
              <a:rPr spc="-5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205" y="1445903"/>
            <a:ext cx="10382500" cy="46140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Numeric values are represented </a:t>
            </a:r>
            <a:r>
              <a:rPr sz="2800" dirty="0">
                <a:latin typeface="Calibri"/>
                <a:cs typeface="Calibri"/>
              </a:rPr>
              <a:t>by a </a:t>
            </a:r>
            <a:r>
              <a:rPr sz="2800" i="1" spc="-5" dirty="0">
                <a:latin typeface="Calibri"/>
                <a:cs typeface="Calibri"/>
              </a:rPr>
              <a:t>sequence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digit symbols.</a:t>
            </a:r>
            <a:endParaRPr sz="28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endParaRPr lang="en-US" sz="24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r>
              <a:rPr sz="2400" dirty="0">
                <a:latin typeface="Calibri"/>
                <a:cs typeface="Calibri"/>
              </a:rPr>
              <a:t>–	E</a:t>
            </a:r>
            <a:r>
              <a:rPr sz="2400" spc="-5" dirty="0">
                <a:latin typeface="Calibri"/>
                <a:cs typeface="Calibri"/>
              </a:rPr>
              <a:t>x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m</a:t>
            </a:r>
            <a:r>
              <a:rPr sz="2400" dirty="0">
                <a:latin typeface="Calibri"/>
                <a:cs typeface="Calibri"/>
              </a:rPr>
              <a:t>ples: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235</a:t>
            </a:r>
            <a:r>
              <a:rPr sz="2400" spc="-10" dirty="0">
                <a:latin typeface="Calibri"/>
                <a:cs typeface="Calibri"/>
              </a:rPr>
              <a:t>4</a:t>
            </a:r>
            <a:r>
              <a:rPr sz="2400" baseline="-17361" dirty="0">
                <a:latin typeface="Calibri"/>
                <a:cs typeface="Calibri"/>
              </a:rPr>
              <a:t>10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8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1101</a:t>
            </a:r>
            <a:r>
              <a:rPr sz="2400" baseline="-17361" dirty="0">
                <a:latin typeface="Calibri"/>
                <a:cs typeface="Calibri"/>
              </a:rPr>
              <a:t>2, </a:t>
            </a:r>
            <a:r>
              <a:rPr sz="2400" spc="-5" dirty="0">
                <a:latin typeface="Calibri"/>
                <a:cs typeface="Calibri"/>
              </a:rPr>
              <a:t>F</a:t>
            </a:r>
            <a:r>
              <a:rPr sz="2400" spc="-10" dirty="0">
                <a:latin typeface="Calibri"/>
                <a:cs typeface="Calibri"/>
              </a:rPr>
              <a:t>8</a:t>
            </a:r>
            <a:r>
              <a:rPr sz="2400" dirty="0">
                <a:latin typeface="Calibri"/>
                <a:cs typeface="Calibri"/>
              </a:rPr>
              <a:t>ED</a:t>
            </a:r>
            <a:r>
              <a:rPr sz="2400" baseline="-17361" dirty="0">
                <a:latin typeface="Calibri"/>
                <a:cs typeface="Calibri"/>
              </a:rPr>
              <a:t>16</a:t>
            </a:r>
            <a:endParaRPr sz="3250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63500"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Symbols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represent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numeric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i="1" spc="-5" dirty="0">
                <a:latin typeface="Calibri"/>
                <a:cs typeface="Calibri"/>
              </a:rPr>
              <a:t>values</a:t>
            </a:r>
            <a:r>
              <a:rPr sz="2800" spc="-5" dirty="0">
                <a:latin typeface="Calibri"/>
                <a:cs typeface="Calibri"/>
              </a:rPr>
              <a:t>.</a:t>
            </a:r>
            <a:endParaRPr sz="2800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Symbols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limited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to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‘0’-’9’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lang="en-US" sz="2400" b="1" spc="-5" dirty="0">
                <a:solidFill>
                  <a:srgbClr val="92D050"/>
                </a:solidFill>
                <a:latin typeface="Calibri"/>
                <a:cs typeface="Calibri"/>
              </a:rPr>
              <a:t>additional</a:t>
            </a:r>
            <a:r>
              <a:rPr lang="en-US" sz="2400" spc="-5" dirty="0">
                <a:latin typeface="Calibri"/>
                <a:cs typeface="Calibri"/>
              </a:rPr>
              <a:t> ‘A’ – ‘F’</a:t>
            </a:r>
            <a:r>
              <a:rPr sz="2400" spc="-5" dirty="0">
                <a:latin typeface="Calibri"/>
                <a:cs typeface="Calibri"/>
              </a:rPr>
              <a:t>!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endParaRPr sz="2400" dirty="0">
              <a:latin typeface="Calibri"/>
              <a:cs typeface="Calibri"/>
            </a:endParaRPr>
          </a:p>
          <a:p>
            <a:pPr marL="806450" lvl="1" indent="-285750">
              <a:spcBef>
                <a:spcPts val="315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Example: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AFED</a:t>
            </a:r>
            <a:r>
              <a:rPr sz="2400" spc="-7" baseline="-17361" dirty="0">
                <a:latin typeface="Calibri"/>
                <a:cs typeface="Calibri"/>
              </a:rPr>
              <a:t>16</a:t>
            </a:r>
            <a:endParaRPr sz="3200" dirty="0">
              <a:latin typeface="Calibri"/>
              <a:cs typeface="Calibri"/>
            </a:endParaRPr>
          </a:p>
          <a:p>
            <a:pPr marL="63500" marR="179705">
              <a:lnSpc>
                <a:spcPts val="3000"/>
              </a:lnSpc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2296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8" y="741426"/>
            <a:ext cx="6615304" cy="730437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</p:spPr>
            <p:txBody>
              <a:bodyPr/>
              <a:lstStyle/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  <a:r>
                  <a:rPr lang="en-US" dirty="0"/>
                  <a:t>	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="1" i="1" dirty="0"/>
                  <a:t>	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endParaRPr lang="en-US" b="1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="1" dirty="0"/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where: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corresponding digit </a:t>
                </a:r>
                <a:r>
                  <a:rPr lang="en-US" u="sng" dirty="0">
                    <a:solidFill>
                      <a:schemeClr val="tx1"/>
                    </a:solidFill>
                  </a:rPr>
                  <a:t>values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and: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is the </a:t>
                </a:r>
                <a:r>
                  <a:rPr lang="en-US" u="sng" dirty="0">
                    <a:solidFill>
                      <a:schemeClr val="tx1"/>
                    </a:solidFill>
                  </a:rPr>
                  <a:t>radix</a:t>
                </a:r>
                <a:r>
                  <a:rPr lang="en-US" dirty="0">
                    <a:solidFill>
                      <a:schemeClr val="tx1"/>
                    </a:solidFill>
                  </a:rPr>
                  <a:t> (number base)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</a:rPr>
                  <a:t>	Ex:</a:t>
                </a: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=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742237" y="2344131"/>
            <a:ext cx="1140187" cy="716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80366" y="2752886"/>
            <a:ext cx="390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 used to identify </a:t>
            </a:r>
            <a:r>
              <a:rPr lang="en-US" dirty="0">
                <a:solidFill>
                  <a:srgbClr val="FF0000"/>
                </a:solidFill>
              </a:rPr>
              <a:t>radix (</a:t>
            </a:r>
            <a:r>
              <a:rPr lang="en-US" b="1" dirty="0">
                <a:solidFill>
                  <a:srgbClr val="FF0000"/>
                </a:solidFill>
              </a:rPr>
              <a:t>R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DFE6A4-C5A9-4AFD-965D-DF94762D4C57}"/>
              </a:ext>
            </a:extLst>
          </p:cNvPr>
          <p:cNvCxnSpPr>
            <a:cxnSpLocks/>
          </p:cNvCxnSpPr>
          <p:nvPr/>
        </p:nvCxnSpPr>
        <p:spPr>
          <a:xfrm flipV="1">
            <a:off x="3236495" y="2290011"/>
            <a:ext cx="749968" cy="64754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F3C9A9-F147-4FC4-A194-F4BC3F374FBC}"/>
              </a:ext>
            </a:extLst>
          </p:cNvPr>
          <p:cNvSpPr txBox="1"/>
          <p:nvPr/>
        </p:nvSpPr>
        <p:spPr>
          <a:xfrm>
            <a:off x="283909" y="2752886"/>
            <a:ext cx="323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These are the digit symbols</a:t>
            </a:r>
          </a:p>
        </p:txBody>
      </p:sp>
    </p:spTree>
    <p:extLst>
      <p:ext uri="{BB962C8B-B14F-4D97-AF65-F5344CB8AC3E}">
        <p14:creationId xmlns:p14="http://schemas.microsoft.com/office/powerpoint/2010/main" val="3557512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98" y="745796"/>
            <a:ext cx="50679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Polynomial</a:t>
            </a:r>
            <a:r>
              <a:rPr spc="-45" dirty="0"/>
              <a:t> </a:t>
            </a:r>
            <a:r>
              <a:rPr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1497" y="1703057"/>
            <a:ext cx="10446419" cy="47847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755015" lvl="0" indent="0" algn="l" defTabSz="914400" rtl="0" eaLnBrk="1" fontAlgn="auto" latinLnBrk="0" hangingPunct="1">
              <a:lnSpc>
                <a:spcPct val="101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>
                <a:tab pos="3021965" algn="l"/>
                <a:tab pos="3490595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be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convert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any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lang="en-US" sz="2400" spc="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(Base aka Radix)</a:t>
            </a:r>
            <a:endParaRPr kumimoji="0" sz="375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***Important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evaluation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only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converting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base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1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doesn’t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direction</a:t>
            </a:r>
            <a:br>
              <a:rPr lang="en-US" sz="2800" b="1" spc="-10" dirty="0">
                <a:solidFill>
                  <a:srgbClr val="FF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I.e.,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something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else!	</a:t>
            </a:r>
            <a:b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those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cases,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we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 techniques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4390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68880"/>
            <a:ext cx="8229600" cy="53340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        </a:t>
            </a:r>
            <a:r>
              <a:rPr lang="en-US" dirty="0">
                <a:solidFill>
                  <a:srgbClr val="92D050"/>
                </a:solidFill>
              </a:rPr>
              <a:t>547</a:t>
            </a:r>
            <a:r>
              <a:rPr lang="en-US" dirty="0"/>
              <a:t> 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179" y="741028"/>
            <a:ext cx="6491316" cy="599999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p:sp>
        <p:nvSpPr>
          <p:cNvPr id="4" name="Line Callout 1 (No Border) 3"/>
          <p:cNvSpPr/>
          <p:nvPr/>
        </p:nvSpPr>
        <p:spPr>
          <a:xfrm>
            <a:off x="1975945" y="1209953"/>
            <a:ext cx="1828800" cy="1066800"/>
          </a:xfrm>
          <a:prstGeom prst="callout1">
            <a:avLst>
              <a:gd name="adj1" fmla="val 90372"/>
              <a:gd name="adj2" fmla="val 53904"/>
              <a:gd name="adj3" fmla="val 116199"/>
              <a:gd name="adj4" fmla="val 61079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Symbolic </a:t>
            </a:r>
            <a:r>
              <a:rPr lang="en-US" b="1" dirty="0">
                <a:solidFill>
                  <a:schemeClr val="tx1"/>
                </a:solidFill>
              </a:rPr>
              <a:t>representation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i="1" dirty="0">
                <a:solidFill>
                  <a:schemeClr val="tx1"/>
                </a:solidFill>
              </a:rPr>
              <a:t>What we write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Line Callout 1 (No Border) 4"/>
          <p:cNvSpPr/>
          <p:nvPr/>
        </p:nvSpPr>
        <p:spPr>
          <a:xfrm>
            <a:off x="1596189" y="5448300"/>
            <a:ext cx="2810161" cy="533400"/>
          </a:xfrm>
          <a:prstGeom prst="callout1">
            <a:avLst>
              <a:gd name="adj1" fmla="val 55930"/>
              <a:gd name="adj2" fmla="val 91851"/>
              <a:gd name="adj3" fmla="val -42232"/>
              <a:gd name="adj4" fmla="val 135596"/>
            </a:avLst>
          </a:prstGeom>
          <a:noFill/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Numeric </a:t>
            </a:r>
            <a:r>
              <a:rPr lang="en-US" b="1" dirty="0">
                <a:solidFill>
                  <a:schemeClr val="tx1"/>
                </a:solidFill>
              </a:rPr>
              <a:t>interpretation</a:t>
            </a:r>
          </a:p>
          <a:p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What we understand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Line Callout 1 (No Border) 5"/>
          <p:cNvSpPr/>
          <p:nvPr/>
        </p:nvSpPr>
        <p:spPr>
          <a:xfrm>
            <a:off x="1967951" y="3413522"/>
            <a:ext cx="2460335" cy="792956"/>
          </a:xfrm>
          <a:prstGeom prst="callout1">
            <a:avLst>
              <a:gd name="adj1" fmla="val -12132"/>
              <a:gd name="adj2" fmla="val 63169"/>
              <a:gd name="adj3" fmla="val -51628"/>
              <a:gd name="adj4" fmla="val 69407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Subscript indicate the radix (number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5524" y="1575631"/>
            <a:ext cx="274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 values (coefficients)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1" y="3135868"/>
            <a:ext cx="419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Positional weights (powers of the radix)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255564" y="1954607"/>
            <a:ext cx="383236" cy="5022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761747" y="1931746"/>
            <a:ext cx="20053" cy="525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9737" y="1931746"/>
            <a:ext cx="701842" cy="554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5921666" y="2807733"/>
            <a:ext cx="242539" cy="37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7427495" y="2845055"/>
            <a:ext cx="0" cy="400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8199212" y="2859318"/>
            <a:ext cx="619936" cy="325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365815"/>
            <a:ext cx="4863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Wingdings" panose="05000000000000000000" pitchFamily="2" charset="2"/>
              </a:rPr>
              <a:t>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5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4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1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7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0</a:t>
            </a:r>
            <a:endParaRPr lang="en-US" sz="3200" dirty="0"/>
          </a:p>
        </p:txBody>
      </p:sp>
      <p:sp>
        <p:nvSpPr>
          <p:cNvPr id="15" name="TextBox 14"/>
          <p:cNvSpPr txBox="1"/>
          <p:nvPr/>
        </p:nvSpPr>
        <p:spPr>
          <a:xfrm>
            <a:off x="4724400" y="4221540"/>
            <a:ext cx="284084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 500 + 40 + 7</a:t>
            </a:r>
          </a:p>
          <a:p>
            <a:r>
              <a:rPr lang="en-US" sz="3200" dirty="0"/>
              <a:t>= 547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8837" y="2645082"/>
            <a:ext cx="60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5476055"/>
            <a:ext cx="5023060" cy="923330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result of polynomial evaluation </a:t>
            </a:r>
            <a:r>
              <a:rPr lang="en-US" b="1" dirty="0"/>
              <a:t>is always a decimal number</a:t>
            </a:r>
            <a:r>
              <a:rPr lang="en-US" dirty="0"/>
              <a:t>, regardless of the used </a:t>
            </a:r>
            <a:r>
              <a:rPr lang="en-US" b="1" dirty="0"/>
              <a:t>radix</a:t>
            </a:r>
            <a:r>
              <a:rPr lang="en-US" dirty="0"/>
              <a:t> used in the </a:t>
            </a:r>
            <a:r>
              <a:rPr lang="en-US" b="1" dirty="0"/>
              <a:t>original representation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9119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Examples</a:t>
            </a:r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7207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59911"/>
            <a:ext cx="8771021" cy="699921"/>
          </a:xfrm>
        </p:spPr>
        <p:txBody>
          <a:bodyPr>
            <a:normAutofit/>
          </a:bodyPr>
          <a:lstStyle/>
          <a:p>
            <a:r>
              <a:rPr lang="en-US" dirty="0"/>
              <a:t>Converting from </a:t>
            </a:r>
            <a:r>
              <a:rPr lang="en-US" i="1" dirty="0"/>
              <a:t>ANY</a:t>
            </a:r>
            <a:r>
              <a:rPr lang="en-US" dirty="0"/>
              <a:t> Radix to Decimal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14399" y="1712496"/>
            <a:ext cx="10403305" cy="49329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 Converting from Radix 5 to Decimal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3124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×125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×5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375 + 25 + 10 + 4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414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68905" y="5931679"/>
            <a:ext cx="8742947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NOTE: Polynomial evaluation to </a:t>
            </a:r>
            <a:r>
              <a:rPr lang="en-US" sz="2000" b="1" dirty="0"/>
              <a:t>convert from ANY radix to decimal</a:t>
            </a:r>
            <a:r>
              <a:rPr lang="en-US" sz="2000" dirty="0"/>
              <a:t>. </a:t>
            </a:r>
          </a:p>
          <a:p>
            <a:r>
              <a:rPr lang="en-US" sz="2000" dirty="0"/>
              <a:t>The positional weights simply become powers of the radix.</a:t>
            </a:r>
          </a:p>
        </p:txBody>
      </p:sp>
    </p:spTree>
    <p:extLst>
      <p:ext uri="{BB962C8B-B14F-4D97-AF65-F5344CB8AC3E}">
        <p14:creationId xmlns:p14="http://schemas.microsoft.com/office/powerpoint/2010/main" val="3001794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56618"/>
            <a:ext cx="10417284" cy="38358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1011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	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×8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8 + 2 + 1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11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36516" y="759911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 BINARY TO DECIMAL</a:t>
            </a:r>
            <a:br>
              <a:rPr lang="en-US" dirty="0"/>
            </a:br>
            <a:r>
              <a:rPr lang="en-US" i="1" dirty="0"/>
              <a:t>(Using Polynomial Evaluation)</a:t>
            </a:r>
          </a:p>
        </p:txBody>
      </p:sp>
    </p:spTree>
    <p:extLst>
      <p:ext uri="{BB962C8B-B14F-4D97-AF65-F5344CB8AC3E}">
        <p14:creationId xmlns:p14="http://schemas.microsoft.com/office/powerpoint/2010/main" val="386957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7" y="2034259"/>
            <a:ext cx="10387262" cy="4611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10.010111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=   </a:t>
            </a:r>
            <a:r>
              <a:rPr lang="en-US" dirty="0">
                <a:solidFill>
                  <a:schemeClr val="tx1"/>
                </a:solidFill>
              </a:rPr>
              <a:t>2 + 1/4  + 1/16  + 1/32 + 1/64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 + 0.25 + 0.0625 + 0.03125 + 0.015625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62527" y="747880"/>
            <a:ext cx="9144000" cy="102878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POLYNOMIAL EVALUATION</a:t>
            </a:r>
            <a:br>
              <a:rPr lang="en-US" dirty="0"/>
            </a:br>
            <a:r>
              <a:rPr lang="en-US" dirty="0"/>
              <a:t>TO NUMBERS WITH A FRACTIONAL PART</a:t>
            </a:r>
          </a:p>
        </p:txBody>
      </p:sp>
    </p:spTree>
    <p:extLst>
      <p:ext uri="{BB962C8B-B14F-4D97-AF65-F5344CB8AC3E}">
        <p14:creationId xmlns:p14="http://schemas.microsoft.com/office/powerpoint/2010/main" val="2250701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81474" y="1997593"/>
            <a:ext cx="8802568" cy="3409267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36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72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</a:t>
            </a:r>
            <a:r>
              <a:rPr kumimoji="0" sz="2850" b="0" i="0" u="none" strike="noStrike" kern="1200" cap="none" spc="292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-2</a:t>
            </a:r>
            <a:br>
              <a:rPr kumimoji="0" lang="en-US" sz="2850" b="0" i="0" u="none" strike="noStrike" kern="1200" cap="none" spc="0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50" b="0" i="0" u="none" strike="noStrike" kern="1200" cap="none" spc="0" normalizeH="0" baseline="23391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24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0.875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0.03125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30.90625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4452" y="737938"/>
            <a:ext cx="79967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Radix</a:t>
            </a:r>
            <a:r>
              <a:rPr kumimoji="0" lang="en-US" sz="32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907506" y="2117557"/>
            <a:ext cx="315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Another fractional example</a:t>
            </a:r>
          </a:p>
        </p:txBody>
      </p:sp>
    </p:spTree>
    <p:extLst>
      <p:ext uri="{BB962C8B-B14F-4D97-AF65-F5344CB8AC3E}">
        <p14:creationId xmlns:p14="http://schemas.microsoft.com/office/powerpoint/2010/main" val="2685470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493"/>
            <a:ext cx="4834631" cy="725391"/>
          </a:xfrm>
        </p:spPr>
        <p:txBody>
          <a:bodyPr>
            <a:normAutofit/>
          </a:bodyPr>
          <a:lstStyle/>
          <a:p>
            <a:r>
              <a:rPr lang="en-US" dirty="0"/>
              <a:t>AN EASIER METHOD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77432"/>
            <a:ext cx="10437337" cy="4851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sz="28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10.010111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</a:t>
            </a:r>
            <a:r>
              <a:rPr lang="en-US" sz="2800" dirty="0"/>
              <a:t>	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chemeClr val="tx1"/>
                </a:solidFill>
              </a:rPr>
              <a:t>= (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)/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(128 + 16 + 4 + 2 + 1)/64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151/64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50694" y="2332719"/>
            <a:ext cx="978569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96789" y="236238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 fractional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9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96001" y="2070001"/>
            <a:ext cx="32284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Wingdings"/>
              </a:rPr>
              <a:t>= </a:t>
            </a:r>
            <a:r>
              <a:rPr lang="en-US" sz="3200" dirty="0">
                <a:solidFill>
                  <a:srgbClr val="92D050"/>
                </a:solidFill>
              </a:rPr>
              <a:t>10010111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/ </a:t>
            </a:r>
            <a:r>
              <a:rPr lang="en-US" sz="3200" b="1" dirty="0">
                <a:solidFill>
                  <a:srgbClr val="FF0000"/>
                </a:solidFill>
              </a:rPr>
              <a:t>2</a:t>
            </a:r>
            <a:r>
              <a:rPr lang="en-US" sz="3200" b="1" baseline="30000" dirty="0"/>
              <a:t>6</a:t>
            </a:r>
            <a:endParaRPr lang="en-US" sz="3200" b="1" dirty="0">
              <a:sym typeface="Wingdings" panose="05000000000000000000" pitchFamily="2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11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7676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128"/>
            <a:ext cx="4979010" cy="638451"/>
          </a:xfrm>
        </p:spPr>
        <p:txBody>
          <a:bodyPr/>
          <a:lstStyle/>
          <a:p>
            <a:r>
              <a:rPr lang="en-US" dirty="0"/>
              <a:t>Converting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chemeClr val="tx1"/>
                    </a:solidFill>
                  </a:rPr>
                  <a:t>Sometimes a fractional value has a </a:t>
                </a:r>
                <a:r>
                  <a:rPr lang="en-US" sz="2800" b="1" dirty="0">
                    <a:solidFill>
                      <a:srgbClr val="92D050"/>
                    </a:solidFill>
                  </a:rPr>
                  <a:t>finite representation </a:t>
                </a:r>
                <a:r>
                  <a:rPr lang="en-US" sz="2800" dirty="0">
                    <a:solidFill>
                      <a:schemeClr val="tx1"/>
                    </a:solidFill>
                  </a:rPr>
                  <a:t>in one number base, but not </a:t>
                </a:r>
                <a:r>
                  <a:rPr lang="en-US" sz="2800" dirty="0">
                    <a:solidFill>
                      <a:srgbClr val="FF0000"/>
                    </a:solidFill>
                  </a:rPr>
                  <a:t>in another</a:t>
                </a:r>
                <a:r>
                  <a:rPr lang="en-US" sz="2800" dirty="0"/>
                  <a:t>: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/>
                  <a:t>	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.333333333333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>
                    <a:solidFill>
                      <a:schemeClr val="tx1"/>
                    </a:solidFill>
                  </a:rPr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.0001100110011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  <a:blipFill>
                <a:blip r:embed="rId2"/>
                <a:stretch>
                  <a:fillRect l="-1232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324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Representation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Computers store numbers using a </a:t>
                </a:r>
                <a:r>
                  <a:rPr lang="en-US" b="1" dirty="0">
                    <a:solidFill>
                      <a:srgbClr val="92D050"/>
                    </a:solidFill>
                  </a:rPr>
                  <a:t>fixed number of digits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 values </a:t>
                </a:r>
                <a:r>
                  <a:rPr lang="en-US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have 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finite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representation in binary (e.g.,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Limiting the number of digits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introduces a representation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344488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0001100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(8 bits) = .09765625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10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  <a:blipFill>
                <a:blip r:embed="rId2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207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12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7" y="1747543"/>
            <a:ext cx="5586996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  +</a:t>
            </a:r>
            <a:r>
              <a:rPr lang="en-US" dirty="0"/>
              <a:t> 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×512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×64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×8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3,584 + 384     + 56    + 6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4,030</a:t>
            </a:r>
            <a:r>
              <a:rPr lang="en-US" b="1" baseline="-25000" dirty="0">
                <a:solidFill>
                  <a:srgbClr val="FF0000"/>
                </a:solidFill>
              </a:rPr>
              <a:t>10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E295CD-0798-431F-5E43-EA4F780C1C5A}"/>
              </a:ext>
            </a:extLst>
          </p:cNvPr>
          <p:cNvSpPr txBox="1">
            <a:spLocks/>
          </p:cNvSpPr>
          <p:nvPr/>
        </p:nvSpPr>
        <p:spPr>
          <a:xfrm>
            <a:off x="6306143" y="2163179"/>
            <a:ext cx="5586996" cy="4873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3837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997E17-A395-4204-8197-0458962D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8402199-6E11-474E-9107-53D50ADDDD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Unsigned Decimal to Binary Conversion</a:t>
            </a:r>
          </a:p>
        </p:txBody>
      </p:sp>
    </p:spTree>
    <p:extLst>
      <p:ext uri="{BB962C8B-B14F-4D97-AF65-F5344CB8AC3E}">
        <p14:creationId xmlns:p14="http://schemas.microsoft.com/office/powerpoint/2010/main" val="3541571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1" y="751090"/>
            <a:ext cx="671258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60107" y="2140197"/>
            <a:ext cx="25336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97.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90320" y="3348223"/>
            <a:ext cx="2761615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7744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multiplication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Division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22033" y="4706614"/>
            <a:ext cx="1918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001876" y="2589241"/>
            <a:ext cx="786130" cy="2211705"/>
          </a:xfrm>
          <a:custGeom>
            <a:avLst/>
            <a:gdLst/>
            <a:ahLst/>
            <a:cxnLst/>
            <a:rect l="l" t="t" r="r" b="b"/>
            <a:pathLst>
              <a:path w="786130" h="2211704">
                <a:moveTo>
                  <a:pt x="6835" y="2110727"/>
                </a:moveTo>
                <a:lnTo>
                  <a:pt x="1676" y="2111752"/>
                </a:lnTo>
                <a:lnTo>
                  <a:pt x="0" y="2114259"/>
                </a:lnTo>
                <a:lnTo>
                  <a:pt x="19283" y="2211373"/>
                </a:lnTo>
                <a:lnTo>
                  <a:pt x="27903" y="2203954"/>
                </a:lnTo>
                <a:lnTo>
                  <a:pt x="26879" y="2203954"/>
                </a:lnTo>
                <a:lnTo>
                  <a:pt x="17874" y="2200849"/>
                </a:lnTo>
                <a:lnTo>
                  <a:pt x="23605" y="2184231"/>
                </a:lnTo>
                <a:lnTo>
                  <a:pt x="9342" y="2112403"/>
                </a:lnTo>
                <a:lnTo>
                  <a:pt x="6835" y="2110727"/>
                </a:lnTo>
                <a:close/>
              </a:path>
              <a:path w="786130" h="2211704">
                <a:moveTo>
                  <a:pt x="23605" y="2184231"/>
                </a:moveTo>
                <a:lnTo>
                  <a:pt x="17874" y="2200849"/>
                </a:lnTo>
                <a:lnTo>
                  <a:pt x="26879" y="2203954"/>
                </a:lnTo>
                <a:lnTo>
                  <a:pt x="27722" y="2201510"/>
                </a:lnTo>
                <a:lnTo>
                  <a:pt x="27036" y="2201510"/>
                </a:lnTo>
                <a:lnTo>
                  <a:pt x="19258" y="2198828"/>
                </a:lnTo>
                <a:lnTo>
                  <a:pt x="25446" y="2193502"/>
                </a:lnTo>
                <a:lnTo>
                  <a:pt x="23605" y="2184231"/>
                </a:lnTo>
                <a:close/>
              </a:path>
              <a:path w="786130" h="2211704">
                <a:moveTo>
                  <a:pt x="88113" y="2139566"/>
                </a:moveTo>
                <a:lnTo>
                  <a:pt x="32609" y="2187336"/>
                </a:lnTo>
                <a:lnTo>
                  <a:pt x="26879" y="2203954"/>
                </a:lnTo>
                <a:lnTo>
                  <a:pt x="27903" y="2203954"/>
                </a:lnTo>
                <a:lnTo>
                  <a:pt x="94327" y="2146785"/>
                </a:lnTo>
                <a:lnTo>
                  <a:pt x="94552" y="2143777"/>
                </a:lnTo>
                <a:lnTo>
                  <a:pt x="91120" y="2139791"/>
                </a:lnTo>
                <a:lnTo>
                  <a:pt x="88113" y="2139566"/>
                </a:lnTo>
                <a:close/>
              </a:path>
              <a:path w="786130" h="2211704">
                <a:moveTo>
                  <a:pt x="25446" y="2193502"/>
                </a:moveTo>
                <a:lnTo>
                  <a:pt x="19258" y="2198828"/>
                </a:lnTo>
                <a:lnTo>
                  <a:pt x="27036" y="2201510"/>
                </a:lnTo>
                <a:lnTo>
                  <a:pt x="25446" y="2193502"/>
                </a:lnTo>
                <a:close/>
              </a:path>
              <a:path w="786130" h="2211704">
                <a:moveTo>
                  <a:pt x="32609" y="2187336"/>
                </a:moveTo>
                <a:lnTo>
                  <a:pt x="25446" y="2193502"/>
                </a:lnTo>
                <a:lnTo>
                  <a:pt x="27036" y="2201510"/>
                </a:lnTo>
                <a:lnTo>
                  <a:pt x="27722" y="2201510"/>
                </a:lnTo>
                <a:lnTo>
                  <a:pt x="32609" y="2187336"/>
                </a:lnTo>
                <a:close/>
              </a:path>
              <a:path w="786130" h="2211704">
                <a:moveTo>
                  <a:pt x="776788" y="0"/>
                </a:moveTo>
                <a:lnTo>
                  <a:pt x="23605" y="2184231"/>
                </a:lnTo>
                <a:lnTo>
                  <a:pt x="25446" y="2193502"/>
                </a:lnTo>
                <a:lnTo>
                  <a:pt x="32609" y="2187336"/>
                </a:lnTo>
                <a:lnTo>
                  <a:pt x="785792" y="3105"/>
                </a:lnTo>
                <a:lnTo>
                  <a:pt x="7767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45913" y="2581677"/>
            <a:ext cx="347345" cy="2219325"/>
          </a:xfrm>
          <a:custGeom>
            <a:avLst/>
            <a:gdLst/>
            <a:ahLst/>
            <a:cxnLst/>
            <a:rect l="l" t="t" r="r" b="b"/>
            <a:pathLst>
              <a:path w="347344" h="2219325">
                <a:moveTo>
                  <a:pt x="6019" y="2122628"/>
                </a:moveTo>
                <a:lnTo>
                  <a:pt x="1158" y="2124635"/>
                </a:lnTo>
                <a:lnTo>
                  <a:pt x="0" y="2127420"/>
                </a:lnTo>
                <a:lnTo>
                  <a:pt x="37783" y="2218938"/>
                </a:lnTo>
                <a:lnTo>
                  <a:pt x="44620" y="2210212"/>
                </a:lnTo>
                <a:lnTo>
                  <a:pt x="43789" y="2210212"/>
                </a:lnTo>
                <a:lnTo>
                  <a:pt x="34353" y="2208916"/>
                </a:lnTo>
                <a:lnTo>
                  <a:pt x="36749" y="2191475"/>
                </a:lnTo>
                <a:lnTo>
                  <a:pt x="8804" y="2123785"/>
                </a:lnTo>
                <a:lnTo>
                  <a:pt x="6019" y="2122628"/>
                </a:lnTo>
                <a:close/>
              </a:path>
              <a:path w="347344" h="2219325">
                <a:moveTo>
                  <a:pt x="36749" y="2191475"/>
                </a:moveTo>
                <a:lnTo>
                  <a:pt x="34353" y="2208916"/>
                </a:lnTo>
                <a:lnTo>
                  <a:pt x="43789" y="2210212"/>
                </a:lnTo>
                <a:lnTo>
                  <a:pt x="44126" y="2207757"/>
                </a:lnTo>
                <a:lnTo>
                  <a:pt x="43472" y="2207757"/>
                </a:lnTo>
                <a:lnTo>
                  <a:pt x="35321" y="2206637"/>
                </a:lnTo>
                <a:lnTo>
                  <a:pt x="40356" y="2200211"/>
                </a:lnTo>
                <a:lnTo>
                  <a:pt x="36749" y="2191475"/>
                </a:lnTo>
                <a:close/>
              </a:path>
              <a:path w="347344" h="2219325">
                <a:moveTo>
                  <a:pt x="94345" y="2134764"/>
                </a:moveTo>
                <a:lnTo>
                  <a:pt x="91352" y="2135127"/>
                </a:lnTo>
                <a:lnTo>
                  <a:pt x="46186" y="2192771"/>
                </a:lnTo>
                <a:lnTo>
                  <a:pt x="43789" y="2210212"/>
                </a:lnTo>
                <a:lnTo>
                  <a:pt x="44620" y="2210212"/>
                </a:lnTo>
                <a:lnTo>
                  <a:pt x="98849" y="2141001"/>
                </a:lnTo>
                <a:lnTo>
                  <a:pt x="98485" y="2138008"/>
                </a:lnTo>
                <a:lnTo>
                  <a:pt x="94345" y="2134764"/>
                </a:lnTo>
                <a:close/>
              </a:path>
              <a:path w="347344" h="2219325">
                <a:moveTo>
                  <a:pt x="40356" y="2200211"/>
                </a:moveTo>
                <a:lnTo>
                  <a:pt x="35321" y="2206637"/>
                </a:lnTo>
                <a:lnTo>
                  <a:pt x="43472" y="2207757"/>
                </a:lnTo>
                <a:lnTo>
                  <a:pt x="40356" y="2200211"/>
                </a:lnTo>
                <a:close/>
              </a:path>
              <a:path w="347344" h="2219325">
                <a:moveTo>
                  <a:pt x="46186" y="2192771"/>
                </a:moveTo>
                <a:lnTo>
                  <a:pt x="40356" y="2200211"/>
                </a:lnTo>
                <a:lnTo>
                  <a:pt x="43472" y="2207757"/>
                </a:lnTo>
                <a:lnTo>
                  <a:pt x="44126" y="2207757"/>
                </a:lnTo>
                <a:lnTo>
                  <a:pt x="46186" y="2192771"/>
                </a:lnTo>
                <a:close/>
              </a:path>
              <a:path w="347344" h="2219325">
                <a:moveTo>
                  <a:pt x="337868" y="0"/>
                </a:moveTo>
                <a:lnTo>
                  <a:pt x="36749" y="2191475"/>
                </a:lnTo>
                <a:lnTo>
                  <a:pt x="40356" y="2200211"/>
                </a:lnTo>
                <a:lnTo>
                  <a:pt x="46186" y="2192771"/>
                </a:lnTo>
                <a:lnTo>
                  <a:pt x="347304" y="1296"/>
                </a:lnTo>
                <a:lnTo>
                  <a:pt x="3378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001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2"/>
            <a:ext cx="7461526" cy="1144151"/>
          </a:xfrm>
        </p:spPr>
        <p:txBody>
          <a:bodyPr>
            <a:normAutofit/>
          </a:bodyPr>
          <a:lstStyle/>
          <a:p>
            <a:r>
              <a:rPr lang="en-US" dirty="0"/>
              <a:t>UNSIGNED DECIMAL TO BINARY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7" y="2117559"/>
            <a:ext cx="10405252" cy="44998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chemeClr val="tx1"/>
                </a:solidFill>
              </a:rPr>
              <a:t>Separate problem into </a:t>
            </a:r>
            <a:r>
              <a:rPr lang="en-US" b="1" i="1" dirty="0">
                <a:solidFill>
                  <a:srgbClr val="00B0F0"/>
                </a:solidFill>
              </a:rPr>
              <a:t>two parts</a:t>
            </a:r>
            <a:r>
              <a:rPr lang="en-US" b="1" i="1" dirty="0"/>
              <a:t>: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92D050"/>
                </a:solidFill>
              </a:rPr>
              <a:t>Integer Part</a:t>
            </a:r>
            <a:r>
              <a:rPr lang="en-US" b="1" dirty="0">
                <a:solidFill>
                  <a:schemeClr val="tx1"/>
                </a:solidFill>
              </a:rPr>
              <a:t>: 		</a:t>
            </a:r>
            <a:r>
              <a:rPr lang="en-US" dirty="0">
                <a:solidFill>
                  <a:schemeClr val="tx1"/>
                </a:solidFill>
              </a:rPr>
              <a:t>Use repeated division 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Fractional Part</a:t>
            </a:r>
            <a:r>
              <a:rPr lang="en-US" b="1" dirty="0">
                <a:solidFill>
                  <a:schemeClr val="tx1"/>
                </a:solidFill>
              </a:rPr>
              <a:t>: 	</a:t>
            </a:r>
            <a:r>
              <a:rPr lang="en-US" dirty="0">
                <a:solidFill>
                  <a:schemeClr val="tx1"/>
                </a:solidFill>
              </a:rPr>
              <a:t>Use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796274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46" y="1993233"/>
            <a:ext cx="10437337" cy="464819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914400" algn="l"/>
                <a:tab pos="1887538" algn="l"/>
                <a:tab pos="3716338" algn="l"/>
                <a:tab pos="6119813" algn="l"/>
              </a:tabLst>
            </a:pPr>
            <a:endParaRPr lang="en-US" u="sng" dirty="0"/>
          </a:p>
          <a:p>
            <a:pPr marL="0" indent="0">
              <a:buNone/>
              <a:tabLst>
                <a:tab pos="460375" algn="l"/>
                <a:tab pos="1427163" algn="l"/>
                <a:tab pos="2289175" algn="l"/>
                <a:tab pos="4340225" algn="l"/>
                <a:tab pos="6119813" algn="l"/>
              </a:tabLst>
            </a:pP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N÷</a:t>
            </a:r>
            <a:r>
              <a:rPr lang="en-US" u="sng" dirty="0">
                <a:solidFill>
                  <a:srgbClr val="00B0F0"/>
                </a:solidFill>
              </a:rPr>
              <a:t>2</a:t>
            </a: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Remainder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Result</a:t>
            </a:r>
            <a:endParaRPr lang="en-US" dirty="0">
              <a:solidFill>
                <a:schemeClr val="tx1"/>
              </a:solidFill>
            </a:endParaRP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13	6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6	3	0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3	1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1	0	1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29300" y="2736060"/>
            <a:ext cx="1596483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1101.</a:t>
            </a:r>
          </a:p>
        </p:txBody>
      </p:sp>
      <p:sp>
        <p:nvSpPr>
          <p:cNvPr id="16" name="Right Brace 15"/>
          <p:cNvSpPr/>
          <p:nvPr/>
        </p:nvSpPr>
        <p:spPr>
          <a:xfrm>
            <a:off x="6768966" y="2817156"/>
            <a:ext cx="433039" cy="16383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920798" y="3080657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639254" y="427048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37345" y="5110871"/>
            <a:ext cx="8642686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division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divide by the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radix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1560" y="3118388"/>
            <a:ext cx="3573377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right-to-left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639254" y="303195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4639254" y="3424990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640179" y="3846096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1920798" y="3471111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1920797" y="3861565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55273"/>
            <a:ext cx="9515015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sz="4000" dirty="0"/>
              <a:t>Method 1: </a:t>
            </a:r>
            <a:r>
              <a:rPr lang="en-US" sz="4000" dirty="0">
                <a:solidFill>
                  <a:srgbClr val="92D050"/>
                </a:solidFill>
              </a:rPr>
              <a:t>Integer Part </a:t>
            </a:r>
            <a:r>
              <a:rPr lang="en-US" sz="4000" dirty="0"/>
              <a:t>(Repeated Division)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5771" y="4072146"/>
            <a:ext cx="88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STOP</a:t>
            </a:r>
          </a:p>
        </p:txBody>
      </p:sp>
      <p:pic>
        <p:nvPicPr>
          <p:cNvPr id="2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8485" y="3213865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5008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2" y="759958"/>
            <a:ext cx="1020277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dirty="0"/>
              <a:t>Method 1: </a:t>
            </a:r>
            <a:r>
              <a:rPr lang="en-US" dirty="0">
                <a:solidFill>
                  <a:srgbClr val="FF0000"/>
                </a:solidFill>
              </a:rPr>
              <a:t>Fractional Part </a:t>
            </a:r>
            <a:r>
              <a:rPr lang="en-US" dirty="0"/>
              <a:t>(Repeated Multiplication)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2121577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512763" algn="l"/>
                <a:tab pos="1828800" algn="l"/>
                <a:tab pos="2854325" algn="l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Product	</a:t>
            </a:r>
            <a:r>
              <a:rPr lang="en-US" b="1" dirty="0">
                <a:solidFill>
                  <a:schemeClr val="tx1"/>
                </a:solidFill>
              </a:rPr>
              <a:t>Whole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i="1" dirty="0">
                <a:solidFill>
                  <a:schemeClr val="tx1"/>
                </a:solidFill>
              </a:rPr>
              <a:t>Fractional</a:t>
            </a:r>
          </a:p>
          <a:p>
            <a:pPr marL="0" indent="0">
              <a:buNone/>
              <a:tabLst>
                <a:tab pos="631825" algn="l"/>
                <a:tab pos="2000250" algn="l"/>
                <a:tab pos="3203575" algn="l"/>
                <a:tab pos="4289425" algn="l"/>
              </a:tabLst>
            </a:pPr>
            <a:r>
              <a:rPr lang="en-US" u="sng" dirty="0">
                <a:solidFill>
                  <a:schemeClr val="tx1"/>
                </a:solidFill>
              </a:rPr>
              <a:t>N	(2×</a:t>
            </a:r>
            <a:r>
              <a:rPr lang="en-US" u="sng" dirty="0">
                <a:solidFill>
                  <a:srgbClr val="00B0F0"/>
                </a:solidFill>
              </a:rPr>
              <a:t>N</a:t>
            </a:r>
            <a:r>
              <a:rPr lang="en-US" u="sng" dirty="0">
                <a:solidFill>
                  <a:schemeClr val="tx1"/>
                </a:solidFill>
              </a:rPr>
              <a:t>)	</a:t>
            </a:r>
            <a:r>
              <a:rPr lang="en-US" b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</a:t>
            </a:r>
            <a:r>
              <a:rPr lang="en-US" i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Result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.1	0.2	0	.2	.0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.2	0.4	0	.4	.00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.4	0.8	0	.8	.000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.8	1.6	1	.6	.0001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.6	1.2	1	.2	.00011</a:t>
            </a:r>
          </a:p>
          <a:p>
            <a:endParaRPr lang="en-US" dirty="0"/>
          </a:p>
        </p:txBody>
      </p:sp>
      <p:sp>
        <p:nvSpPr>
          <p:cNvPr id="15" name="Arc 14"/>
          <p:cNvSpPr/>
          <p:nvPr/>
        </p:nvSpPr>
        <p:spPr>
          <a:xfrm>
            <a:off x="3962400" y="2883576"/>
            <a:ext cx="2362200" cy="838200"/>
          </a:xfrm>
          <a:prstGeom prst="arc">
            <a:avLst>
              <a:gd name="adj1" fmla="val 11322425"/>
              <a:gd name="adj2" fmla="val 21094993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Arc 15"/>
          <p:cNvSpPr/>
          <p:nvPr/>
        </p:nvSpPr>
        <p:spPr>
          <a:xfrm rot="10800000">
            <a:off x="1752600" y="2797394"/>
            <a:ext cx="3416708" cy="1143000"/>
          </a:xfrm>
          <a:prstGeom prst="arc">
            <a:avLst>
              <a:gd name="adj1" fmla="val 10849483"/>
              <a:gd name="adj2" fmla="val 20664556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3526" y="5630077"/>
            <a:ext cx="10130589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multiplication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multiply by the.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7765" y="3620513"/>
            <a:ext cx="394635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left-to-right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sp>
        <p:nvSpPr>
          <p:cNvPr id="13" name="Right Brace 12"/>
          <p:cNvSpPr/>
          <p:nvPr/>
        </p:nvSpPr>
        <p:spPr>
          <a:xfrm>
            <a:off x="6934201" y="3035976"/>
            <a:ext cx="433039" cy="22098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67200" y="5245776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Begins to repeat!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B9B93-6561-43F9-BFBE-F1A6EC5D5A32}"/>
              </a:ext>
            </a:extLst>
          </p:cNvPr>
          <p:cNvCxnSpPr/>
          <p:nvPr/>
        </p:nvCxnSpPr>
        <p:spPr>
          <a:xfrm flipH="1" flipV="1">
            <a:off x="2300177" y="3940395"/>
            <a:ext cx="2551814" cy="10555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14091" y="3709244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05200" y="2095508"/>
            <a:ext cx="1112662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17861" y="2097719"/>
            <a:ext cx="130969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301520" y="2097719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921282" y="2096485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543270" y="2095507"/>
            <a:ext cx="75690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301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0" y="750972"/>
            <a:ext cx="10064793" cy="87459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Decimal</a:t>
            </a:r>
            <a:r>
              <a:rPr sz="2800" spc="-15" dirty="0"/>
              <a:t> </a:t>
            </a:r>
            <a:r>
              <a:rPr sz="2800" dirty="0"/>
              <a:t>to</a:t>
            </a:r>
            <a:r>
              <a:rPr sz="2800" spc="-20" dirty="0"/>
              <a:t> </a:t>
            </a:r>
            <a:r>
              <a:rPr sz="2800" spc="-5" dirty="0"/>
              <a:t>Binary</a:t>
            </a:r>
            <a:r>
              <a:rPr sz="2800" spc="-25" dirty="0"/>
              <a:t> </a:t>
            </a:r>
            <a:r>
              <a:rPr sz="2800" dirty="0"/>
              <a:t>Conversion</a:t>
            </a:r>
            <a:br>
              <a:rPr lang="en-US" sz="2800" dirty="0"/>
            </a:b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Whole</a:t>
            </a:r>
            <a:r>
              <a:rPr lang="en-US" sz="28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Part:</a:t>
            </a:r>
            <a:r>
              <a:rPr lang="en-US" sz="2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2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Division</a:t>
            </a: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1446413" y="1625570"/>
            <a:ext cx="6943090" cy="705962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17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50" b="0" i="0" u="none" strike="noStrike" kern="1200" cap="none" spc="27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736090" y="2647981"/>
          <a:ext cx="8538845" cy="32724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97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48,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391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48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24,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24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12,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6,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5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3,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200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Stop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238164" y="5873842"/>
            <a:ext cx="11804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649011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863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72714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4565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96416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58267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20118" y="5903559"/>
            <a:ext cx="30480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20467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8868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1844041" y="1895455"/>
            <a:ext cx="8575675" cy="467692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1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75D175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stop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4226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Another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19043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(stop),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351282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050" y="784710"/>
            <a:ext cx="10935108" cy="997709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Decimal</a:t>
            </a:r>
            <a:r>
              <a:rPr sz="3200" spc="-15" dirty="0"/>
              <a:t> </a:t>
            </a:r>
            <a:r>
              <a:rPr sz="3200" dirty="0"/>
              <a:t>to</a:t>
            </a:r>
            <a:r>
              <a:rPr sz="3200" spc="-20" dirty="0"/>
              <a:t> </a:t>
            </a:r>
            <a:r>
              <a:rPr sz="3200" spc="-5" dirty="0"/>
              <a:t>Binary</a:t>
            </a:r>
            <a:r>
              <a:rPr sz="3200" spc="-25" dirty="0"/>
              <a:t> </a:t>
            </a:r>
            <a:r>
              <a:rPr sz="3200" dirty="0"/>
              <a:t>Conversion</a:t>
            </a:r>
            <a:br>
              <a:rPr lang="en-US" sz="3200" dirty="0"/>
            </a:br>
            <a:r>
              <a:rPr lang="en-US" sz="3200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sz="3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3200" dirty="0">
                <a:solidFill>
                  <a:srgbClr val="FF0000"/>
                </a:solidFill>
                <a:latin typeface="Calibri"/>
                <a:cs typeface="Calibri"/>
              </a:rPr>
              <a:t> Multiplication</a:t>
            </a:r>
            <a:r>
              <a:rPr lang="en-US" sz="32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6481731" y="6122297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44354" y="6122296"/>
            <a:ext cx="413215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50961" y="4592184"/>
            <a:ext cx="56427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11334" y="3003189"/>
            <a:ext cx="4192270" cy="651510"/>
          </a:xfrm>
          <a:custGeom>
            <a:avLst/>
            <a:gdLst/>
            <a:ahLst/>
            <a:cxnLst/>
            <a:rect l="l" t="t" r="r" b="b"/>
            <a:pathLst>
              <a:path w="4192270" h="651510">
                <a:moveTo>
                  <a:pt x="77452" y="552636"/>
                </a:moveTo>
                <a:lnTo>
                  <a:pt x="0" y="614315"/>
                </a:lnTo>
                <a:lnTo>
                  <a:pt x="91814" y="651375"/>
                </a:lnTo>
                <a:lnTo>
                  <a:pt x="94589" y="650195"/>
                </a:lnTo>
                <a:lnTo>
                  <a:pt x="96558" y="645317"/>
                </a:lnTo>
                <a:lnTo>
                  <a:pt x="95379" y="642542"/>
                </a:lnTo>
                <a:lnTo>
                  <a:pt x="33730" y="617659"/>
                </a:lnTo>
                <a:lnTo>
                  <a:pt x="10104" y="617659"/>
                </a:lnTo>
                <a:lnTo>
                  <a:pt x="8733" y="608233"/>
                </a:lnTo>
                <a:lnTo>
                  <a:pt x="26100" y="605707"/>
                </a:lnTo>
                <a:lnTo>
                  <a:pt x="83386" y="560087"/>
                </a:lnTo>
                <a:lnTo>
                  <a:pt x="83726" y="557090"/>
                </a:lnTo>
                <a:lnTo>
                  <a:pt x="80448" y="552975"/>
                </a:lnTo>
                <a:lnTo>
                  <a:pt x="77452" y="552636"/>
                </a:lnTo>
                <a:close/>
              </a:path>
              <a:path w="4192270" h="651510">
                <a:moveTo>
                  <a:pt x="26100" y="605707"/>
                </a:moveTo>
                <a:lnTo>
                  <a:pt x="8733" y="608233"/>
                </a:lnTo>
                <a:lnTo>
                  <a:pt x="10104" y="617659"/>
                </a:lnTo>
                <a:lnTo>
                  <a:pt x="16827" y="616681"/>
                </a:lnTo>
                <a:lnTo>
                  <a:pt x="12320" y="616681"/>
                </a:lnTo>
                <a:lnTo>
                  <a:pt x="11135" y="608539"/>
                </a:lnTo>
                <a:lnTo>
                  <a:pt x="22544" y="608539"/>
                </a:lnTo>
                <a:lnTo>
                  <a:pt x="26100" y="605707"/>
                </a:lnTo>
                <a:close/>
              </a:path>
              <a:path w="4192270" h="651510">
                <a:moveTo>
                  <a:pt x="27472" y="615133"/>
                </a:moveTo>
                <a:lnTo>
                  <a:pt x="10104" y="617659"/>
                </a:lnTo>
                <a:lnTo>
                  <a:pt x="33730" y="617659"/>
                </a:lnTo>
                <a:lnTo>
                  <a:pt x="27472" y="615133"/>
                </a:lnTo>
                <a:close/>
              </a:path>
              <a:path w="4192270" h="651510">
                <a:moveTo>
                  <a:pt x="11135" y="608539"/>
                </a:moveTo>
                <a:lnTo>
                  <a:pt x="12320" y="616681"/>
                </a:lnTo>
                <a:lnTo>
                  <a:pt x="18707" y="611595"/>
                </a:lnTo>
                <a:lnTo>
                  <a:pt x="11135" y="608539"/>
                </a:lnTo>
                <a:close/>
              </a:path>
              <a:path w="4192270" h="651510">
                <a:moveTo>
                  <a:pt x="18707" y="611595"/>
                </a:moveTo>
                <a:lnTo>
                  <a:pt x="12320" y="616681"/>
                </a:lnTo>
                <a:lnTo>
                  <a:pt x="16827" y="616681"/>
                </a:lnTo>
                <a:lnTo>
                  <a:pt x="27472" y="615133"/>
                </a:lnTo>
                <a:lnTo>
                  <a:pt x="18707" y="611595"/>
                </a:lnTo>
                <a:close/>
              </a:path>
              <a:path w="4192270" h="651510">
                <a:moveTo>
                  <a:pt x="4190336" y="0"/>
                </a:moveTo>
                <a:lnTo>
                  <a:pt x="26100" y="605707"/>
                </a:lnTo>
                <a:lnTo>
                  <a:pt x="18707" y="611595"/>
                </a:lnTo>
                <a:lnTo>
                  <a:pt x="27472" y="615133"/>
                </a:lnTo>
                <a:lnTo>
                  <a:pt x="4191707" y="9425"/>
                </a:lnTo>
                <a:lnTo>
                  <a:pt x="4190336" y="0"/>
                </a:lnTo>
                <a:close/>
              </a:path>
              <a:path w="4192270" h="651510">
                <a:moveTo>
                  <a:pt x="22544" y="608539"/>
                </a:moveTo>
                <a:lnTo>
                  <a:pt x="11135" y="608539"/>
                </a:lnTo>
                <a:lnTo>
                  <a:pt x="18707" y="611595"/>
                </a:lnTo>
                <a:lnTo>
                  <a:pt x="22544" y="6085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72264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6102" y="751335"/>
            <a:ext cx="8228003" cy="112082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lang="en-US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Multiplication</a:t>
            </a:r>
            <a:r>
              <a:rPr lang="en-US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2292985" y="2214493"/>
            <a:ext cx="12960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17340" y="2214493"/>
            <a:ext cx="57029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0.4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1.6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81527" y="5569694"/>
            <a:ext cx="5027295" cy="103759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.00011001100110011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…..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(How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much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 we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keep?)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90778" y="28829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90778" y="48641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590778" y="34925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590778" y="41783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2171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115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 </a:t>
            </a:r>
            <a:r>
              <a:rPr lang="en-US" b="1" dirty="0">
                <a:solidFill>
                  <a:srgbClr val="FF0000"/>
                </a:solidFill>
              </a:rPr>
              <a:t> = </a:t>
            </a:r>
            <a:r>
              <a:rPr lang="en-US" b="1" dirty="0">
                <a:solidFill>
                  <a:srgbClr val="92D050"/>
                </a:solidFill>
              </a:rPr>
              <a:t>1001 0001 . 1010 0000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r>
              <a:rPr lang="en-US" b="1" dirty="0">
                <a:solidFill>
                  <a:srgbClr val="FF0000"/>
                </a:solidFill>
              </a:rPr>
              <a:t>= </a:t>
            </a:r>
            <a:r>
              <a:rPr lang="en-US" b="1" dirty="0">
                <a:solidFill>
                  <a:srgbClr val="92D050"/>
                </a:solidFill>
              </a:rPr>
              <a:t>1111 0100 . 1100 0000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5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5F32B2-0513-439A-BE13-A91AA69695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509549-6ABC-468B-8CD6-6EF5EF14AF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Signed Number Conversions</a:t>
            </a:r>
          </a:p>
        </p:txBody>
      </p:sp>
    </p:spTree>
    <p:extLst>
      <p:ext uri="{BB962C8B-B14F-4D97-AF65-F5344CB8AC3E}">
        <p14:creationId xmlns:p14="http://schemas.microsoft.com/office/powerpoint/2010/main" val="24268157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9163" y="760073"/>
            <a:ext cx="45624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Two</a:t>
            </a:r>
            <a:r>
              <a:rPr spc="-70" dirty="0"/>
              <a:t> </a:t>
            </a:r>
            <a:r>
              <a:rPr dirty="0"/>
              <a:t>Interpretations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9" y="2195712"/>
            <a:ext cx="479605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86956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167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lang="en-US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63941" y="2119512"/>
            <a:ext cx="8528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-89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14619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05199" y="2333128"/>
            <a:ext cx="1696453" cy="114299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lnTo>
                  <a:pt x="114300" y="76200"/>
                </a:lnTo>
                <a:lnTo>
                  <a:pt x="95250" y="76200"/>
                </a:lnTo>
                <a:lnTo>
                  <a:pt x="95250" y="38100"/>
                </a:lnTo>
                <a:lnTo>
                  <a:pt x="114300" y="38099"/>
                </a:lnTo>
                <a:lnTo>
                  <a:pt x="114300" y="0"/>
                </a:lnTo>
                <a:close/>
              </a:path>
              <a:path w="1447800" h="114300">
                <a:moveTo>
                  <a:pt x="114300" y="38099"/>
                </a:moveTo>
                <a:lnTo>
                  <a:pt x="95250" y="38100"/>
                </a:lnTo>
                <a:lnTo>
                  <a:pt x="95250" y="76200"/>
                </a:lnTo>
                <a:lnTo>
                  <a:pt x="114300" y="76199"/>
                </a:lnTo>
                <a:lnTo>
                  <a:pt x="114300" y="38099"/>
                </a:lnTo>
                <a:close/>
              </a:path>
              <a:path w="1447800" h="114300">
                <a:moveTo>
                  <a:pt x="114300" y="76199"/>
                </a:moveTo>
                <a:lnTo>
                  <a:pt x="95250" y="76200"/>
                </a:lnTo>
                <a:lnTo>
                  <a:pt x="114300" y="76200"/>
                </a:lnTo>
                <a:close/>
              </a:path>
              <a:path w="1447800" h="114300">
                <a:moveTo>
                  <a:pt x="1447800" y="38098"/>
                </a:moveTo>
                <a:lnTo>
                  <a:pt x="114300" y="38099"/>
                </a:lnTo>
                <a:lnTo>
                  <a:pt x="114300" y="76199"/>
                </a:lnTo>
                <a:lnTo>
                  <a:pt x="1447800" y="76198"/>
                </a:lnTo>
                <a:lnTo>
                  <a:pt x="1447800" y="38098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86600" y="2333127"/>
            <a:ext cx="1447800" cy="114300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409700" y="38100"/>
                </a:moveTo>
                <a:lnTo>
                  <a:pt x="1352550" y="38100"/>
                </a:lnTo>
                <a:lnTo>
                  <a:pt x="1352550" y="76200"/>
                </a:lnTo>
                <a:lnTo>
                  <a:pt x="1333500" y="76200"/>
                </a:lnTo>
                <a:lnTo>
                  <a:pt x="1333500" y="114300"/>
                </a:lnTo>
                <a:lnTo>
                  <a:pt x="1447800" y="57150"/>
                </a:lnTo>
                <a:lnTo>
                  <a:pt x="1409700" y="38100"/>
                </a:lnTo>
                <a:close/>
              </a:path>
              <a:path w="1447800" h="114300">
                <a:moveTo>
                  <a:pt x="1333500" y="38100"/>
                </a:moveTo>
                <a:lnTo>
                  <a:pt x="0" y="38101"/>
                </a:lnTo>
                <a:lnTo>
                  <a:pt x="0" y="76201"/>
                </a:lnTo>
                <a:lnTo>
                  <a:pt x="1333500" y="76200"/>
                </a:lnTo>
                <a:lnTo>
                  <a:pt x="1333500" y="38100"/>
                </a:lnTo>
                <a:close/>
              </a:path>
              <a:path w="1447800" h="114300">
                <a:moveTo>
                  <a:pt x="1352550" y="38100"/>
                </a:moveTo>
                <a:lnTo>
                  <a:pt x="1333500" y="38100"/>
                </a:lnTo>
                <a:lnTo>
                  <a:pt x="1333500" y="76200"/>
                </a:lnTo>
                <a:lnTo>
                  <a:pt x="1352550" y="76200"/>
                </a:lnTo>
                <a:lnTo>
                  <a:pt x="1352550" y="38100"/>
                </a:lnTo>
                <a:close/>
              </a:path>
              <a:path w="1447800" h="114300">
                <a:moveTo>
                  <a:pt x="1333500" y="0"/>
                </a:moveTo>
                <a:lnTo>
                  <a:pt x="1333500" y="38100"/>
                </a:lnTo>
                <a:lnTo>
                  <a:pt x="1409700" y="38100"/>
                </a:lnTo>
                <a:lnTo>
                  <a:pt x="1333500" y="0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9163" y="3190321"/>
            <a:ext cx="10422605" cy="280974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47434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vs.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matter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Allowing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both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why?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69900" marR="111125" lvl="0" indent="0" algn="l" defTabSz="914400" rtl="0" eaLnBrk="1" fontAlgn="auto" latinLnBrk="0" hangingPunct="1">
              <a:lnSpc>
                <a:spcPct val="99600"/>
              </a:lnSpc>
              <a:spcBef>
                <a:spcPts val="176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Some data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count,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age) can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never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,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having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greater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is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07740" y="1738512"/>
            <a:ext cx="47783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374586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42048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/>
          <p:nvPr/>
        </p:nvSpPr>
        <p:spPr>
          <a:xfrm>
            <a:off x="5943600" y="2133600"/>
            <a:ext cx="4419600" cy="3886200"/>
          </a:xfrm>
          <a:custGeom>
            <a:avLst/>
            <a:gdLst/>
            <a:ahLst/>
            <a:cxnLst/>
            <a:rect l="l" t="t" r="r" b="b"/>
            <a:pathLst>
              <a:path w="4419600" h="3886200">
                <a:moveTo>
                  <a:pt x="0" y="0"/>
                </a:moveTo>
                <a:lnTo>
                  <a:pt x="4419600" y="0"/>
                </a:lnTo>
                <a:lnTo>
                  <a:pt x="4419600" y="3886200"/>
                </a:lnTo>
                <a:lnTo>
                  <a:pt x="0" y="388620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0547" y="2133600"/>
            <a:ext cx="4896218" cy="252440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167640" marR="0" lvl="0" indent="0" algn="l" defTabSz="914400" rtl="0" eaLnBrk="1" fontAlgn="auto" latinLnBrk="0" hangingPunct="1">
              <a:lnSpc>
                <a:spcPct val="100000"/>
              </a:lnSpc>
              <a:spcBef>
                <a:spcPts val="9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Sign+Magnitude:</a:t>
            </a: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148205" marR="0" lvl="0" indent="0" algn="l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Change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100" b="0" i="0" u="none" strike="noStrike" kern="1200" cap="none" spc="-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</a:t>
            </a:r>
            <a:r>
              <a:rPr kumimoji="0" lang="en-US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(only)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9763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426" y="735271"/>
            <a:ext cx="9045784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28725" marR="5080" indent="-1216025">
              <a:lnSpc>
                <a:spcPct val="100499"/>
              </a:lnSpc>
              <a:spcBef>
                <a:spcPts val="70"/>
              </a:spcBef>
            </a:pPr>
            <a:r>
              <a:rPr dirty="0"/>
              <a:t>Changing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Sign</a:t>
            </a:r>
            <a:r>
              <a:rPr lang="en-US" dirty="0"/>
              <a:t>s</a:t>
            </a:r>
            <a:endParaRPr spc="-5" dirty="0"/>
          </a:p>
        </p:txBody>
      </p:sp>
      <p:sp>
        <p:nvSpPr>
          <p:cNvPr id="3" name="object 3"/>
          <p:cNvSpPr/>
          <p:nvPr/>
        </p:nvSpPr>
        <p:spPr>
          <a:xfrm>
            <a:off x="2794584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82791" y="4209795"/>
            <a:ext cx="1603375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0575" marR="0" lvl="0" indent="0" algn="l" defTabSz="914400" rtl="0" eaLnBrk="1" fontAlgn="auto" latinLnBrk="0" hangingPunct="1">
              <a:lnSpc>
                <a:spcPts val="33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79450" marR="0" lvl="0" indent="0" algn="l" defTabSz="914400" rtl="0" eaLnBrk="1" fontAlgn="auto" latinLnBrk="0" hangingPunct="1"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23315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+1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74740" y="2243836"/>
            <a:ext cx="3513454" cy="1654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2’s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Complement: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Invert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4141" y="4617169"/>
            <a:ext cx="1175385" cy="3473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</a:t>
            </a: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remen</a:t>
            </a:r>
            <a:r>
              <a:rPr kumimoji="0" sz="21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</a:t>
            </a:r>
            <a:endParaRPr kumimoji="0" sz="2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3"/>
          <p:cNvSpPr/>
          <p:nvPr/>
        </p:nvSpPr>
        <p:spPr>
          <a:xfrm>
            <a:off x="846413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bject 3"/>
          <p:cNvSpPr/>
          <p:nvPr/>
        </p:nvSpPr>
        <p:spPr>
          <a:xfrm>
            <a:off x="8262838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807205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3"/>
          <p:cNvSpPr/>
          <p:nvPr/>
        </p:nvSpPr>
        <p:spPr>
          <a:xfrm>
            <a:off x="7896190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9490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135" y="734246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0" y="2472435"/>
            <a:ext cx="17335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+4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48400" y="2967037"/>
            <a:ext cx="457200" cy="1376680"/>
            <a:chOff x="4724400" y="2967037"/>
            <a:chExt cx="457200" cy="1376680"/>
          </a:xfrm>
        </p:grpSpPr>
        <p:sp>
          <p:nvSpPr>
            <p:cNvPr id="5" name="object 5"/>
            <p:cNvSpPr/>
            <p:nvPr/>
          </p:nvSpPr>
          <p:spPr>
            <a:xfrm>
              <a:off x="4724400" y="2971800"/>
              <a:ext cx="457200" cy="0"/>
            </a:xfrm>
            <a:custGeom>
              <a:avLst/>
              <a:gdLst/>
              <a:ahLst/>
              <a:cxnLst/>
              <a:rect l="l" t="t" r="r" b="b"/>
              <a:pathLst>
                <a:path w="457200">
                  <a:moveTo>
                    <a:pt x="0" y="0"/>
                  </a:moveTo>
                  <a:lnTo>
                    <a:pt x="4572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49101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60531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42866" y="3542284"/>
            <a:ext cx="1603375" cy="1299845"/>
          </a:xfrm>
          <a:prstGeom prst="rect">
            <a:avLst/>
          </a:prstGeom>
        </p:spPr>
        <p:txBody>
          <a:bodyPr vert="horz" wrap="square" lIns="0" tIns="222885" rIns="0" bIns="0" rtlCol="0">
            <a:spAutoFit/>
          </a:bodyPr>
          <a:lstStyle/>
          <a:p>
            <a:pPr marL="0" marR="32384" lvl="0" indent="0" algn="r" defTabSz="914400" rtl="0" eaLnBrk="1" fontAlgn="auto" latinLnBrk="0" hangingPunct="1">
              <a:lnSpc>
                <a:spcPct val="100000"/>
              </a:lnSpc>
              <a:spcBef>
                <a:spcPts val="1755"/>
              </a:spcBef>
              <a:spcAft>
                <a:spcPts val="0"/>
              </a:spcAft>
              <a:buClrTx/>
              <a:buSzTx/>
              <a:buFontTx/>
              <a:buNone/>
              <a:tabLst>
                <a:tab pos="456565" algn="l"/>
              </a:tabLst>
              <a:defRPr/>
            </a:pPr>
            <a:r>
              <a:rPr kumimoji="0" sz="2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-4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269931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124" y="770178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1" y="2472435"/>
            <a:ext cx="17341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42865" y="4389627"/>
            <a:ext cx="16040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53200" y="2967038"/>
            <a:ext cx="228600" cy="1381125"/>
            <a:chOff x="5029200" y="2967037"/>
            <a:chExt cx="228600" cy="1381125"/>
          </a:xfrm>
        </p:grpSpPr>
        <p:sp>
          <p:nvSpPr>
            <p:cNvPr id="6" name="object 6"/>
            <p:cNvSpPr/>
            <p:nvPr/>
          </p:nvSpPr>
          <p:spPr>
            <a:xfrm>
              <a:off x="5029200" y="2971800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6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0" y="4343400"/>
              <a:ext cx="152400" cy="0"/>
            </a:xfrm>
            <a:custGeom>
              <a:avLst/>
              <a:gdLst/>
              <a:ahLst/>
              <a:cxnLst/>
              <a:rect l="l" t="t" r="r" b="b"/>
              <a:pathLst>
                <a:path w="152400">
                  <a:moveTo>
                    <a:pt x="0" y="0"/>
                  </a:moveTo>
                  <a:lnTo>
                    <a:pt x="1524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50625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62055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left, through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lang="en-US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6055895" y="2201778"/>
            <a:ext cx="2602832" cy="802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076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22214"/>
            <a:ext cx="50552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Representation</a:t>
            </a:r>
            <a:r>
              <a:rPr spc="-85" dirty="0"/>
              <a:t> </a:t>
            </a:r>
            <a:r>
              <a:rPr dirty="0"/>
              <a:t>Width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5264" y="5135727"/>
            <a:ext cx="4044696" cy="160629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31540" y="5606642"/>
            <a:ext cx="30943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positive: Add leading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0’s 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negative: Add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leading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1’s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33489" y="5001615"/>
            <a:ext cx="3090671" cy="158800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023763" y="5759042"/>
            <a:ext cx="1784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91128" y="2916784"/>
            <a:ext cx="2694431" cy="125272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62929" y="2916784"/>
            <a:ext cx="2542031" cy="120091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607637" y="1417674"/>
            <a:ext cx="9056352" cy="375102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464820" marR="53657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>
                <a:tab pos="2418715" algn="l"/>
              </a:tabLst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Careful!	</a:t>
            </a:r>
            <a:r>
              <a:rPr kumimoji="0" sz="28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must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sure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original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out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full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representation width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ahoma"/>
                <a:ea typeface="+mn-ea"/>
                <a:cs typeface="Tahoma"/>
              </a:rPr>
              <a:t>before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applying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390140" marR="0" lvl="0" indent="0" algn="l" defTabSz="914400" rtl="0" eaLnBrk="1" fontAlgn="auto" latinLnBrk="0" hangingPunct="1">
              <a:lnSpc>
                <a:spcPct val="100000"/>
              </a:lnSpc>
              <a:spcBef>
                <a:spcPts val="2530"/>
              </a:spcBef>
              <a:spcAft>
                <a:spcPts val="0"/>
              </a:spcAft>
              <a:buClrTx/>
              <a:buSzTx/>
              <a:buFontTx/>
              <a:buNone/>
              <a:tabLst>
                <a:tab pos="524827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	Expand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8-bits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ong: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30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+7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128714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Right: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+25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84E27-47E3-EB24-A849-8DD2B00D17F5}"/>
              </a:ext>
            </a:extLst>
          </p:cNvPr>
          <p:cNvSpPr/>
          <p:nvPr/>
        </p:nvSpPr>
        <p:spPr>
          <a:xfrm>
            <a:off x="10100241" y="3781270"/>
            <a:ext cx="533520" cy="3364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6D87FB-8157-1DA8-DE8A-2E07BEBA2BFA}"/>
              </a:ext>
            </a:extLst>
          </p:cNvPr>
          <p:cNvSpPr/>
          <p:nvPr/>
        </p:nvSpPr>
        <p:spPr>
          <a:xfrm>
            <a:off x="10050843" y="4736143"/>
            <a:ext cx="533520" cy="33642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2748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006641" y="2161754"/>
            <a:ext cx="10551696" cy="39574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umber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positive.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as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unsigned.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negative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Apply 2’s comp. alg. to find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3200" b="0" i="0" u="none" strike="noStrike" kern="1200" cap="none" spc="-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 the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using polynomial evaluation.</a:t>
            </a:r>
          </a:p>
          <a:p>
            <a:pPr marL="622300" marR="0" lvl="0" indent="-609600" algn="l" defTabSz="914400" rtl="0" eaLnBrk="1" fontAlgn="auto" latinLnBrk="0" hangingPunct="1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Put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front.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253" y="753979"/>
            <a:ext cx="7252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3881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77178" y="2297633"/>
            <a:ext cx="10380633" cy="4327467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47700" marR="30480" lvl="0" indent="-6096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evaluation,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 make the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contribution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negative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38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-128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+ 32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 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7178" y="754995"/>
            <a:ext cx="9720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32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32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32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66607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4538" y="745369"/>
            <a:ext cx="11062978" cy="630428"/>
          </a:xfrm>
          <a:prstGeom prst="rect">
            <a:avLst/>
          </a:prstGeom>
        </p:spPr>
        <p:txBody>
          <a:bodyPr vert="horz" wrap="square" lIns="0" tIns="75691" rIns="0" bIns="0" rtlCol="0" anchor="ctr">
            <a:spAutoFit/>
          </a:bodyPr>
          <a:lstStyle/>
          <a:p>
            <a:pPr marL="3397250" marR="5080" indent="-268224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Finding </a:t>
            </a:r>
            <a:r>
              <a:rPr spc="-5" dirty="0"/>
              <a:t>2’s complement </a:t>
            </a:r>
            <a:r>
              <a:rPr dirty="0"/>
              <a:t>of </a:t>
            </a:r>
            <a:r>
              <a:rPr spc="-5" dirty="0"/>
              <a:t>fraction </a:t>
            </a:r>
            <a:r>
              <a:rPr spc="-890" dirty="0"/>
              <a:t> </a:t>
            </a:r>
            <a:r>
              <a:rPr spc="-5" dirty="0"/>
              <a:t>numbers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702335" y="1797063"/>
            <a:ext cx="8612739" cy="4422364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+5.75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0101.1100</a:t>
            </a:r>
            <a:r>
              <a:rPr kumimoji="0" sz="2850" b="0" i="0" u="none" strike="noStrike" kern="1200" cap="none" spc="0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lang="en-US" sz="28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binary.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Solution: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1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Remove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 2: Find the 2’s complement of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Replace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1010.0100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392017" y="4443531"/>
            <a:ext cx="7557" cy="50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255991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112408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968825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7761066" y="4435974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617483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437373" y="4435973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257263" y="4435972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567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386" y="3144714"/>
            <a:ext cx="115901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Exercise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Find the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8-bit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2’s complement (minus) representation of:</a:t>
            </a:r>
          </a:p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4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0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504" y="2013283"/>
            <a:ext cx="10399295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the magnitude to unsigned binary: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16 + 8 + 1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1 1001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Zero extend to 8 bits: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1 1001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1 1001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Find the 2’s complement: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0001 1001  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1110 0111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871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4495" y="2948862"/>
            <a:ext cx="5209032" cy="124967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1609" y="2032938"/>
            <a:ext cx="7037705" cy="3433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9781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 algorithm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&amp;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add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negative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	10110010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7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9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-01001110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2.	-(01001110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-(64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+ 8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+ 4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+ 2) =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  <a:tab pos="228727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	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Answer:	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8305" y="766011"/>
            <a:ext cx="9432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–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Approach</a:t>
            </a:r>
            <a:r>
              <a:rPr kumimoji="0" lang="en-US" sz="2400" b="1" i="0" u="heavy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#1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443411" y="2406316"/>
            <a:ext cx="119366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10110010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</a:p>
          <a:p>
            <a:endParaRPr lang="en-US" spc="-7" baseline="-18518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endParaRPr lang="en-US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01001110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  <a:endParaRPr lang="en-US" baseline="-18518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417968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1297653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1161295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1044990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0940716" y="2720262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832432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0708106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10583779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 rot="5400000">
            <a:off x="10519166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 rot="5400000">
            <a:off x="10855487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10735172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0" name="TextBox 19"/>
          <p:cNvSpPr txBox="1"/>
          <p:nvPr/>
        </p:nvSpPr>
        <p:spPr>
          <a:xfrm rot="5400000">
            <a:off x="10648417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0394873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2" name="TextBox 21"/>
          <p:cNvSpPr txBox="1"/>
          <p:nvPr/>
        </p:nvSpPr>
        <p:spPr>
          <a:xfrm rot="5400000">
            <a:off x="10265622" y="2825288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</p:spTree>
    <p:extLst>
      <p:ext uri="{BB962C8B-B14F-4D97-AF65-F5344CB8AC3E}">
        <p14:creationId xmlns:p14="http://schemas.microsoft.com/office/powerpoint/2010/main" val="24910122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15097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1)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39551" y="2169730"/>
            <a:ext cx="5609638" cy="44315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461963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Change every bit: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914400" lvl="1" indent="-514350">
              <a:buAutoNum type="arabicPeriod"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1110.1011</a:t>
            </a:r>
          </a:p>
          <a:p>
            <a:pPr marL="40005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61963" lvl="1" indent="-457200">
              <a:buFont typeface="+mj-lt"/>
              <a:buAutoNum type="arabicPeriod" startAt="2"/>
            </a:pPr>
            <a:r>
              <a:rPr lang="en-US" sz="2400" dirty="0">
                <a:solidFill>
                  <a:schemeClr val="tx1"/>
                </a:solidFill>
              </a:rPr>
              <a:t>Then add 1 to the		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+1</a:t>
            </a:r>
            <a:r>
              <a:rPr lang="en-US" sz="2400" dirty="0">
                <a:solidFill>
                  <a:schemeClr val="tx1"/>
                </a:solidFill>
              </a:rPr>
              <a:t>	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least-significant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1110.1100</a:t>
            </a:r>
            <a:b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bit position.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06802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63275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027707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09823" y="3743376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. . .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3744370" y="4933013"/>
            <a:ext cx="1546746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13624" y="3437033"/>
            <a:ext cx="4150895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Simply changing the most-significant bit is NOT the same and doesn’t work!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22632" y="3513233"/>
            <a:ext cx="911802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8806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92241" y="525115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5762" y="5273630"/>
            <a:ext cx="1473814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20473" y="1880938"/>
            <a:ext cx="10469422" cy="4792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Copy right-to-left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sz="32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through first 1:</a:t>
            </a:r>
            <a:r>
              <a:rPr lang="en-US" dirty="0"/>
              <a:t>		</a:t>
            </a:r>
            <a:endParaRPr lang="en-US" sz="2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</a:rPr>
              <a:t>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			</a:t>
            </a:r>
            <a:r>
              <a:rPr lang="en-US" dirty="0">
                <a:latin typeface="Consolas" panose="020B0609020204030204" pitchFamily="49" charset="0"/>
              </a:rPr>
              <a:t>     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Copy opposite of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all remaining bits:</a:t>
            </a:r>
            <a:r>
              <a:rPr lang="en-US" dirty="0"/>
              <a:t>	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203323" y="5251153"/>
            <a:ext cx="1494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1110.1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7643" y="5272490"/>
            <a:ext cx="641138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45190"/>
            <a:ext cx="10076390" cy="951263"/>
          </a:xfrm>
        </p:spPr>
        <p:txBody>
          <a:bodyPr>
            <a:normAutofit fontScale="90000"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2)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140164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4674961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74961" y="42393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. . 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332751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395997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46567" y="42789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. . 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3053" y="3261290"/>
            <a:ext cx="762873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03323" y="3261290"/>
            <a:ext cx="1339730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388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2630C35-C1C5-40C0-B3E8-F7F5E49BA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6: Power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2481071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30727865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Hexadecimal is a convenient short-hand for binary: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Hex (radix 16) numbers require 1/4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as many digits than their equivalent binary (radix 2) representation</a:t>
            </a:r>
            <a:endParaRPr lang="en-US" sz="7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Easier for humans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tx1"/>
                </a:solidFill>
              </a:rPr>
              <a:t>reduces transcription errors</a:t>
            </a:r>
          </a:p>
        </p:txBody>
      </p:sp>
    </p:spTree>
    <p:extLst>
      <p:ext uri="{BB962C8B-B14F-4D97-AF65-F5344CB8AC3E}">
        <p14:creationId xmlns:p14="http://schemas.microsoft.com/office/powerpoint/2010/main" val="1275193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Conversion is trivial due to power relationship (16 = 2</a:t>
            </a:r>
            <a:r>
              <a:rPr lang="en-US" baseline="30000" dirty="0">
                <a:solidFill>
                  <a:srgbClr val="0070C0"/>
                </a:solidFill>
              </a:rPr>
              <a:t>4</a:t>
            </a:r>
            <a:r>
              <a:rPr lang="en-US" dirty="0">
                <a:solidFill>
                  <a:srgbClr val="0070C0"/>
                </a:solidFill>
              </a:rPr>
              <a:t>):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Each hex digit corresponds to a group of </a:t>
            </a:r>
            <a:r>
              <a:rPr lang="en-US" b="1" dirty="0">
                <a:solidFill>
                  <a:schemeClr val="tx1"/>
                </a:solidFill>
              </a:rPr>
              <a:t>4 binary digits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to convert: Groups are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independent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each other.</a:t>
            </a:r>
          </a:p>
        </p:txBody>
      </p:sp>
    </p:spTree>
    <p:extLst>
      <p:ext uri="{BB962C8B-B14F-4D97-AF65-F5344CB8AC3E}">
        <p14:creationId xmlns:p14="http://schemas.microsoft.com/office/powerpoint/2010/main" val="909582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667" y="745777"/>
            <a:ext cx="8961270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40155" marR="5080" indent="-1228090">
              <a:lnSpc>
                <a:spcPct val="100499"/>
              </a:lnSpc>
              <a:spcBef>
                <a:spcPts val="70"/>
              </a:spcBef>
            </a:pPr>
            <a:r>
              <a:rPr spc="-5" dirty="0"/>
              <a:t>Hexadecimal Numbers </a:t>
            </a:r>
            <a:r>
              <a:rPr spc="-980" dirty="0"/>
              <a:t> </a:t>
            </a:r>
            <a:r>
              <a:rPr spc="-5" dirty="0"/>
              <a:t>(Radix</a:t>
            </a:r>
            <a:r>
              <a:rPr spc="-15" dirty="0"/>
              <a:t>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16)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0667" y="1523856"/>
            <a:ext cx="10425112" cy="515294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55600" marR="364490" lvl="0" indent="-34290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number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digit symbols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determined by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radix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16)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the digit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 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 (0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R-1).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0-9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followed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by A-F.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between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hex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trivial!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shorthand for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(significantly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fewer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 are required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same magnitude).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624613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/>
          <a:lstStyle/>
          <a:p>
            <a:r>
              <a:rPr lang="en-US" dirty="0"/>
              <a:t>Hex/Binary Table</a:t>
            </a:r>
          </a:p>
        </p:txBody>
      </p:sp>
      <p:pic>
        <p:nvPicPr>
          <p:cNvPr id="8" name="Pictur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1" y="1862772"/>
            <a:ext cx="6476999" cy="46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18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50225"/>
            <a:ext cx="596900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30" dirty="0"/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Hex</a:t>
            </a:r>
            <a:r>
              <a:rPr spc="-30" dirty="0"/>
              <a:t> </a:t>
            </a:r>
            <a:r>
              <a:rPr dirty="0"/>
              <a:t>Conversions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641841" y="2629346"/>
            <a:ext cx="581025" cy="429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1412" y="1428311"/>
            <a:ext cx="10434471" cy="477803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Hex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one-to-one</a:t>
            </a:r>
            <a:r>
              <a:rPr kumimoji="0" lang="en-US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four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5085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>
                <a:tab pos="1060450" algn="l"/>
                <a:tab pos="2057400" algn="l"/>
                <a:tab pos="3054350" algn="l"/>
                <a:tab pos="4050665" algn="l"/>
                <a:tab pos="4371340" algn="l"/>
                <a:tab pos="5368925" algn="l"/>
                <a:tab pos="6365875" algn="l"/>
                <a:tab pos="736282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	1010	0101	0110	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1110	0010	1111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</a:p>
          <a:p>
            <a:pPr marL="303530" marR="0" lvl="0" indent="0" algn="l" defTabSz="914400" rtl="0" eaLnBrk="1" fontAlgn="auto" latinLnBrk="0" hangingPunct="1">
              <a:lnSpc>
                <a:spcPct val="100000"/>
              </a:lnSpc>
              <a:spcBef>
                <a:spcPts val="163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75715" algn="l"/>
                <a:tab pos="2266315" algn="l"/>
                <a:tab pos="3238500" algn="l"/>
                <a:tab pos="4097654" algn="l"/>
                <a:tab pos="4837430" algn="l"/>
                <a:tab pos="5815330" algn="l"/>
                <a:tab pos="6786880" algn="l"/>
                <a:tab pos="775017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6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Start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at binary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point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identify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</a:p>
          <a:p>
            <a:pPr marL="63500" marR="478790" lvl="0" indent="0" algn="l" defTabSz="914400" rtl="0" eaLnBrk="1" fontAlgn="auto" latinLnBrk="0" hangingPunct="1">
              <a:lnSpc>
                <a:spcPct val="100699"/>
              </a:lnSpc>
              <a:spcBef>
                <a:spcPts val="163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Zero-fill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ends to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simple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table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lookup!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Works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because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16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2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50" b="0" i="0" u="none" strike="noStrike" kern="1200" cap="none" spc="-30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(power relationship)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16440" y="2610491"/>
            <a:ext cx="822960" cy="457200"/>
          </a:xfrm>
          <a:custGeom>
            <a:avLst/>
            <a:gdLst/>
            <a:ahLst/>
            <a:cxnLst/>
            <a:rect l="l" t="t" r="r" b="b"/>
            <a:pathLst>
              <a:path w="822959" h="457200">
                <a:moveTo>
                  <a:pt x="822959" y="0"/>
                </a:moveTo>
                <a:lnTo>
                  <a:pt x="0" y="0"/>
                </a:lnTo>
                <a:lnTo>
                  <a:pt x="0" y="457200"/>
                </a:lnTo>
                <a:lnTo>
                  <a:pt x="822959" y="457200"/>
                </a:lnTo>
                <a:lnTo>
                  <a:pt x="8229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740442" y="3585411"/>
            <a:ext cx="296779" cy="27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8906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5182"/>
            <a:ext cx="5460273" cy="678556"/>
          </a:xfrm>
        </p:spPr>
        <p:txBody>
          <a:bodyPr/>
          <a:lstStyle/>
          <a:p>
            <a:r>
              <a:rPr lang="en-US" dirty="0"/>
              <a:t>Example: Binary to Hex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>
                <a:solidFill>
                  <a:schemeClr val="tx1"/>
                </a:solidFill>
                <a:sym typeface="Wingdings"/>
              </a:rPr>
              <a:t>Split into groups of 4, starting at radix point:</a:t>
            </a:r>
            <a:endParaRPr lang="en-US" sz="2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101	1010  .  1001  011</a:t>
            </a:r>
          </a:p>
          <a:p>
            <a:pPr marL="800100" lvl="2" indent="0">
              <a:buNone/>
            </a:pPr>
            <a:r>
              <a:rPr lang="en-US" sz="2200" b="1" dirty="0">
                <a:solidFill>
                  <a:srgbClr val="FF0000"/>
                </a:solidFill>
              </a:rPr>
              <a:t>Form groups working outward from the radix point!</a:t>
            </a:r>
          </a:p>
          <a:p>
            <a:pPr marL="800100" lvl="2" indent="0">
              <a:buNone/>
            </a:pPr>
            <a:endParaRPr lang="en-US" sz="1600" dirty="0"/>
          </a:p>
          <a:p>
            <a:pPr marL="514350" indent="-514350">
              <a:buAutoNum type="arabicPeriod" startAt="2"/>
            </a:pPr>
            <a:r>
              <a:rPr lang="en-US" sz="2800" dirty="0">
                <a:solidFill>
                  <a:schemeClr val="tx1"/>
                </a:solidFill>
              </a:rPr>
              <a:t>Pad with 0’s to complete the groups: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  <a:r>
              <a:rPr lang="en-US" sz="2800" dirty="0">
                <a:solidFill>
                  <a:schemeClr val="tx1"/>
                </a:solidFill>
              </a:rPr>
              <a:t>101	1010	.  1001  011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</a:p>
          <a:p>
            <a:pPr marL="0" indent="0">
              <a:buNone/>
            </a:pPr>
            <a:endParaRPr lang="en-US" sz="2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800" dirty="0"/>
              <a:t>3.  </a:t>
            </a:r>
            <a:r>
              <a:rPr lang="en-US" sz="2800" dirty="0">
                <a:solidFill>
                  <a:schemeClr val="tx1"/>
                </a:solidFill>
              </a:rPr>
              <a:t>Replace each group by equivalent hex digit: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  5	   A	.     9	      6</a:t>
            </a:r>
            <a:r>
              <a:rPr lang="en-US" sz="2800" baseline="-25000" dirty="0">
                <a:solidFill>
                  <a:schemeClr val="tx1"/>
                </a:solidFill>
              </a:rPr>
              <a:t>16</a:t>
            </a:r>
            <a:endParaRPr lang="en-US" sz="28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16484" y="127699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9530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6200"/>
            <a:ext cx="5472305" cy="715611"/>
          </a:xfrm>
        </p:spPr>
        <p:txBody>
          <a:bodyPr/>
          <a:lstStyle/>
          <a:p>
            <a:r>
              <a:rPr lang="en-US" dirty="0"/>
              <a:t>Example: Hex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35775"/>
            <a:ext cx="10425305" cy="481203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F1.2C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r>
              <a:rPr lang="en-US" dirty="0">
                <a:solidFill>
                  <a:schemeClr val="tx1"/>
                </a:solidFill>
              </a:rPr>
              <a:t> to Binary: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sym typeface="Wingdings"/>
            </a:endParaRP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F	1	.	2	C</a:t>
            </a: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 defTabSz="1031875">
              <a:buNone/>
              <a:tabLst>
                <a:tab pos="914400" algn="ctr"/>
                <a:tab pos="2286000" algn="ctr"/>
                <a:tab pos="3200400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1111	0001	.	0010	1100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900989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324726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33474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37157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18246" y="109400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912396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189" y="3080031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2D9BF-3C85-C57A-0078-945C34DD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89562"/>
              </p:ext>
            </p:extLst>
          </p:nvPr>
        </p:nvGraphicFramePr>
        <p:xfrm>
          <a:off x="10128806" y="936569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714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864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936516" y="1791660"/>
            <a:ext cx="10405252" cy="4853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power relationship (16 = 2</a:t>
            </a:r>
            <a:r>
              <a:rPr lang="en-US" b="1" baseline="30000" dirty="0">
                <a:solidFill>
                  <a:srgbClr val="FF000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Form groups of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bits, starting at radix point: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 11  0101  .  0101  01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  <a:r>
              <a:rPr lang="en-US" dirty="0">
                <a:solidFill>
                  <a:schemeClr val="tx1"/>
                </a:solidFill>
              </a:rPr>
              <a:t>11  0101  .  0101  01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Table to convert each group: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0011  0101  .   0101   0100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3       5     .      5         4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971800"/>
          <a:ext cx="304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4633205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76922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5078473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133147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28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053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53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946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899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764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904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577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6737"/>
                  </a:ext>
                </a:extLst>
              </a:tr>
            </a:tbl>
          </a:graphicData>
        </a:graphic>
      </p:graphicFrame>
      <p:grpSp>
        <p:nvGrpSpPr>
          <p:cNvPr id="14" name="Group 13"/>
          <p:cNvGrpSpPr/>
          <p:nvPr/>
        </p:nvGrpSpPr>
        <p:grpSpPr>
          <a:xfrm>
            <a:off x="1922074" y="5374105"/>
            <a:ext cx="552422" cy="533400"/>
            <a:chOff x="1524000" y="4572000"/>
            <a:chExt cx="762000" cy="533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614863" y="5374105"/>
            <a:ext cx="545432" cy="533400"/>
            <a:chOff x="1524000" y="4572000"/>
            <a:chExt cx="762000" cy="533400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551838" y="5374105"/>
            <a:ext cx="591036" cy="533400"/>
            <a:chOff x="1524000" y="4572000"/>
            <a:chExt cx="762000" cy="5334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60703" y="5374105"/>
            <a:ext cx="592297" cy="533400"/>
            <a:chOff x="1524000" y="4572000"/>
            <a:chExt cx="762000" cy="5334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Arrow Connector 24"/>
          <p:cNvCxnSpPr/>
          <p:nvPr/>
        </p:nvCxnSpPr>
        <p:spPr>
          <a:xfrm flipH="1">
            <a:off x="2943726" y="2133600"/>
            <a:ext cx="1199148" cy="76601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25145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30718739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>
            <a:normAutofit fontScale="90000"/>
          </a:bodyPr>
          <a:lstStyle/>
          <a:p>
            <a:r>
              <a:rPr lang="en-US" dirty="0"/>
              <a:t>Octal/Binary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8134" y="2199578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783263" y="2288986"/>
            <a:ext cx="75007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and hexadecimal is a compromise between binary and decimal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Easier to read for humans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Was more important in the early days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is not really used a lot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the rights of a Unix/Linux file it is used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638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Hard way: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decimal (polynomial evaluation)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decimal to hex (repeated division/multiplication)</a:t>
            </a:r>
          </a:p>
        </p:txBody>
      </p:sp>
    </p:spTree>
    <p:extLst>
      <p:ext uri="{BB962C8B-B14F-4D97-AF65-F5344CB8AC3E}">
        <p14:creationId xmlns:p14="http://schemas.microsoft.com/office/powerpoint/2010/main" val="25564336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way: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 using short-cut (8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binary to hex using short-cut (16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9424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59664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?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001 010 . 110 101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0000 1010 . 1101 0100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0A.D4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119332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2345057"/>
            <a:ext cx="104052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binary to hex </a:t>
            </a:r>
          </a:p>
        </p:txBody>
      </p:sp>
    </p:spTree>
    <p:extLst>
      <p:ext uri="{BB962C8B-B14F-4D97-AF65-F5344CB8AC3E}">
        <p14:creationId xmlns:p14="http://schemas.microsoft.com/office/powerpoint/2010/main" val="155543229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/>
          </a:bodyPr>
          <a:lstStyle/>
          <a:p>
            <a:r>
              <a:rPr lang="en-US" dirty="0"/>
              <a:t>Convert 21.34</a:t>
            </a:r>
            <a:r>
              <a:rPr lang="en-US" baseline="-25000" dirty="0"/>
              <a:t>8</a:t>
            </a:r>
            <a:r>
              <a:rPr lang="en-US" dirty="0"/>
              <a:t> to Binary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55267" y="2291264"/>
            <a:ext cx="3962401" cy="222027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               </a:t>
            </a:r>
            <a:r>
              <a:rPr lang="en-US" dirty="0">
                <a:solidFill>
                  <a:schemeClr val="tx1"/>
                </a:solidFill>
              </a:rPr>
              <a:t>2     1     .    3     4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  <a:tabLst>
                <a:tab pos="1941513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             010 001   .  011 100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8360916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804528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467831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990402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684442" y="196024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72455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640305" y="1527091"/>
            <a:ext cx="4275221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Base 16 to base 2 (16=2</a:t>
            </a:r>
            <a:r>
              <a:rPr lang="en-US" baseline="30000" dirty="0">
                <a:solidFill>
                  <a:schemeClr val="bg1"/>
                </a:solidFill>
              </a:rPr>
              <a:t>4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5314445" y="2947737"/>
            <a:ext cx="1486023" cy="76096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 AB.CD</a:t>
            </a:r>
            <a:r>
              <a:rPr lang="en-US" baseline="-25000" dirty="0"/>
              <a:t>16</a:t>
            </a:r>
            <a:r>
              <a:rPr lang="en-US" dirty="0"/>
              <a:t> to base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1699954" y="2166853"/>
            <a:ext cx="3836214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A	B	.	C	D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>
                <a:solidFill>
                  <a:schemeClr val="tx1"/>
                </a:solidFill>
              </a:rPr>
              <a:t>	1010	1011	.	1100	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69302" y="1526686"/>
            <a:ext cx="552927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Base 2 to base 8 (8=2</a:t>
            </a:r>
            <a:r>
              <a:rPr lang="en-US" baseline="30000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3702" y="2303796"/>
            <a:ext cx="3962401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10101011.11001101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8288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>
                <a:solidFill>
                  <a:schemeClr val="tx1"/>
                </a:solidFill>
              </a:rPr>
              <a:t>	010	101	011	110	011	010</a:t>
            </a:r>
          </a:p>
          <a:p>
            <a:pPr marL="0" indent="0">
              <a:buNone/>
              <a:tabLst>
                <a:tab pos="1828800" algn="ctr"/>
              </a:tabLst>
            </a:pPr>
            <a:endParaRPr lang="en-US" sz="3200" dirty="0"/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rgbClr val="00B0F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10	101	011	110	011	01</a:t>
            </a:r>
            <a:r>
              <a:rPr lang="en-US" dirty="0">
                <a:solidFill>
                  <a:srgbClr val="00B0F0"/>
                </a:solidFill>
              </a:rPr>
              <a:t>0</a:t>
            </a: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2	5	3	6	3	2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217837" y="3033963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56300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062679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4936974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/>
          <p:cNvGrpSpPr/>
          <p:nvPr/>
        </p:nvGrpSpPr>
        <p:grpSpPr>
          <a:xfrm>
            <a:off x="6133329" y="5067477"/>
            <a:ext cx="457200" cy="457200"/>
            <a:chOff x="4800600" y="4800600"/>
            <a:chExt cx="4572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6768806" y="5071488"/>
            <a:ext cx="457200" cy="457200"/>
            <a:chOff x="4800600" y="4800600"/>
            <a:chExt cx="457200" cy="4572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7404283" y="5067477"/>
            <a:ext cx="457200" cy="457200"/>
            <a:chOff x="4800600" y="4800600"/>
            <a:chExt cx="457200" cy="4572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8092278" y="5067477"/>
            <a:ext cx="457200" cy="457200"/>
            <a:chOff x="4800600" y="4800600"/>
            <a:chExt cx="457200" cy="457200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727756" y="5067477"/>
            <a:ext cx="457200" cy="457200"/>
            <a:chOff x="4800600" y="4800600"/>
            <a:chExt cx="457200" cy="45720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9368016" y="5067477"/>
            <a:ext cx="417665" cy="457200"/>
            <a:chOff x="4800600" y="4800600"/>
            <a:chExt cx="457200" cy="457200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7790841" y="5647039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6302" y="3687696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8021051" y="263491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41309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789256" y="2590800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524955" y="2614863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13653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790841" y="4085662"/>
            <a:ext cx="381000" cy="533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5534" y="1527091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cxnSp>
        <p:nvCxnSpPr>
          <p:cNvPr id="52" name="Straight Arrow Connector 51"/>
          <p:cNvCxnSpPr/>
          <p:nvPr/>
        </p:nvCxnSpPr>
        <p:spPr>
          <a:xfrm flipV="1">
            <a:off x="1640304" y="3900582"/>
            <a:ext cx="570009" cy="1118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640304" y="3887751"/>
            <a:ext cx="1466130" cy="1430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1640304" y="3887751"/>
            <a:ext cx="2459735" cy="1759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V="1">
            <a:off x="1640304" y="3900582"/>
            <a:ext cx="3320252" cy="2055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3098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62" y="747482"/>
            <a:ext cx="588073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63645" algn="l"/>
              </a:tabLst>
            </a:pPr>
            <a:r>
              <a:rPr spc="-5" dirty="0"/>
              <a:t>Convert</a:t>
            </a:r>
            <a:r>
              <a:rPr spc="25" dirty="0"/>
              <a:t> </a:t>
            </a:r>
            <a:r>
              <a:rPr dirty="0"/>
              <a:t>FA.CE</a:t>
            </a:r>
            <a:r>
              <a:rPr sz="4350" baseline="-19157" dirty="0"/>
              <a:t>16	</a:t>
            </a:r>
            <a:r>
              <a:rPr dirty="0"/>
              <a:t>to</a:t>
            </a:r>
            <a:r>
              <a:rPr spc="-25" dirty="0"/>
              <a:t> </a:t>
            </a:r>
            <a:r>
              <a:rPr spc="-5" dirty="0"/>
              <a:t>base</a:t>
            </a:r>
            <a:r>
              <a:rPr spc="-40" dirty="0"/>
              <a:t> </a:t>
            </a:r>
            <a:r>
              <a:rPr dirty="0"/>
              <a:t>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0" y="2349245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20637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(16=2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57140" y="3505009"/>
            <a:ext cx="431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0" i="0" u="none" strike="noStrike" kern="1200" cap="none" spc="0" normalizeH="0" baseline="11574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83766" y="3441001"/>
            <a:ext cx="3499485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2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72210" algn="l"/>
                <a:tab pos="1678939" algn="l"/>
                <a:tab pos="209359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	A	.	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51865" algn="l"/>
                <a:tab pos="272923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	1010</a:t>
            </a:r>
            <a:r>
              <a:rPr kumimoji="0" sz="2400" b="0" i="0" u="none" strike="noStrike" kern="1200" cap="none" spc="3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400" b="0" i="0" u="none" strike="noStrike" kern="1200" cap="none" spc="3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41778" y="5562409"/>
            <a:ext cx="2719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9026" y="2349245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32702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(8=2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476500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909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053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197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721100" y="4916233"/>
            <a:ext cx="406400" cy="558800"/>
            <a:chOff x="2197100" y="4102100"/>
            <a:chExt cx="406400" cy="558800"/>
          </a:xfrm>
        </p:grpSpPr>
        <p:sp>
          <p:nvSpPr>
            <p:cNvPr id="13" name="object 13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15" name="object 15"/>
          <p:cNvSpPr/>
          <p:nvPr/>
        </p:nvSpPr>
        <p:spPr>
          <a:xfrm>
            <a:off x="6515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1247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760178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420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71396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716934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81706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653729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18120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6372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88677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950200" y="4723113"/>
            <a:ext cx="406400" cy="558800"/>
            <a:chOff x="6426200" y="3908980"/>
            <a:chExt cx="406400" cy="558800"/>
          </a:xfrm>
        </p:grpSpPr>
        <p:sp>
          <p:nvSpPr>
            <p:cNvPr id="27" name="object 27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250496" y="3441001"/>
            <a:ext cx="3790315" cy="317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	111	010</a:t>
            </a:r>
            <a:r>
              <a:rPr kumimoji="0" sz="2400" b="0" i="0" u="none" strike="noStrike" kern="1200" cap="none" spc="1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75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	011	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010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225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17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47090" algn="l"/>
                <a:tab pos="1477645" algn="l"/>
                <a:tab pos="1870710" algn="l"/>
                <a:tab pos="2158365" algn="l"/>
                <a:tab pos="2788920" algn="l"/>
                <a:tab pos="336613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	7	2	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	3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30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2428" y="1484883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3857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1EDC84-3F9E-4FFC-8709-F3819A5D9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B13FFC-EB4C-4CA6-A3BB-084038728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Worked Examples</a:t>
            </a:r>
          </a:p>
        </p:txBody>
      </p:sp>
    </p:spTree>
    <p:extLst>
      <p:ext uri="{BB962C8B-B14F-4D97-AF65-F5344CB8AC3E}">
        <p14:creationId xmlns:p14="http://schemas.microsoft.com/office/powerpoint/2010/main" val="427480086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097"/>
            <a:ext cx="7441473" cy="762777"/>
          </a:xfrm>
        </p:spPr>
        <p:txBody>
          <a:bodyPr/>
          <a:lstStyle/>
          <a:p>
            <a:pPr marL="514350" indent="-514350"/>
            <a:r>
              <a:rPr lang="en-US" dirty="0"/>
              <a:t>Convert unsigned 25</a:t>
            </a:r>
            <a:r>
              <a:rPr lang="en-US" baseline="-25000" dirty="0"/>
              <a:t>6</a:t>
            </a:r>
            <a:r>
              <a:rPr lang="en-US" dirty="0"/>
              <a:t>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09263" cy="41920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Base R to Decimal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polynomial evaluation: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</a:t>
            </a:r>
            <a:r>
              <a:rPr lang="en-US" baseline="-25000" dirty="0"/>
              <a:t>6</a:t>
            </a:r>
            <a:r>
              <a:rPr lang="en-US" dirty="0"/>
              <a:t> 	=  2x6</a:t>
            </a:r>
            <a:r>
              <a:rPr lang="en-US" baseline="30000" dirty="0"/>
              <a:t>1</a:t>
            </a:r>
            <a:r>
              <a:rPr lang="en-US" dirty="0"/>
              <a:t> + 5x6</a:t>
            </a:r>
            <a:r>
              <a:rPr lang="en-US" baseline="30000" dirty="0"/>
              <a:t>0</a:t>
            </a:r>
            <a:r>
              <a:rPr lang="en-US" dirty="0"/>
              <a:t>  </a:t>
            </a:r>
          </a:p>
          <a:p>
            <a:pPr marL="914400" indent="0">
              <a:buNone/>
            </a:pPr>
            <a:r>
              <a:rPr lang="en-US" dirty="0"/>
              <a:t>	=  2x6   + 5x1</a:t>
            </a:r>
          </a:p>
          <a:p>
            <a:pPr marL="914400" indent="0">
              <a:buNone/>
            </a:pPr>
            <a:r>
              <a:rPr lang="en-US" dirty="0"/>
              <a:t>	=   12    +   5</a:t>
            </a:r>
          </a:p>
          <a:p>
            <a:pPr marL="914400" indent="0">
              <a:buNone/>
            </a:pPr>
            <a:r>
              <a:rPr lang="en-US" dirty="0"/>
              <a:t>	=   17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8236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6829"/>
            <a:ext cx="7261000" cy="648851"/>
          </a:xfrm>
        </p:spPr>
        <p:txBody>
          <a:bodyPr>
            <a:normAutofit/>
          </a:bodyPr>
          <a:lstStyle/>
          <a:p>
            <a:r>
              <a:rPr lang="en-US" dirty="0"/>
              <a:t>Convert unsigned 25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44580"/>
            <a:ext cx="10417285" cy="492492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Whole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division (by 7):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25÷7 </a:t>
            </a:r>
            <a:r>
              <a:rPr lang="en-US" dirty="0">
                <a:sym typeface="Wingdings" panose="05000000000000000000" pitchFamily="2" charset="2"/>
              </a:rPr>
              <a:t> Q=3, R=4		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3</a:t>
            </a: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dirty="0"/>
              <a:t>        </a:t>
            </a:r>
            <a:r>
              <a:rPr lang="en-US" dirty="0">
                <a:sym typeface="Wingdings" panose="05000000000000000000" pitchFamily="2" charset="2"/>
              </a:rPr>
              <a:t> Q=0, R=3		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85737" y="3023904"/>
            <a:ext cx="1199147" cy="58155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572000" y="2843463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571026" y="3752001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20978" y="4078705"/>
            <a:ext cx="0" cy="609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9925" y="4852539"/>
            <a:ext cx="9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0311" y="2527028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6295974" y="3460703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1" name="TextBox 10"/>
          <p:cNvSpPr txBox="1"/>
          <p:nvPr/>
        </p:nvSpPr>
        <p:spPr>
          <a:xfrm>
            <a:off x="1924979" y="3513148"/>
            <a:ext cx="8933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3÷7</a:t>
            </a:r>
          </a:p>
        </p:txBody>
      </p:sp>
    </p:spTree>
    <p:extLst>
      <p:ext uri="{BB962C8B-B14F-4D97-AF65-F5344CB8AC3E}">
        <p14:creationId xmlns:p14="http://schemas.microsoft.com/office/powerpoint/2010/main" val="377812081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15786"/>
            <a:ext cx="7277042" cy="692629"/>
          </a:xfrm>
        </p:spPr>
        <p:txBody>
          <a:bodyPr/>
          <a:lstStyle/>
          <a:p>
            <a:r>
              <a:rPr lang="en-US" dirty="0"/>
              <a:t>Convert unsigned .3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80412"/>
            <a:ext cx="10413274" cy="4948988"/>
          </a:xfrm>
        </p:spPr>
        <p:txBody>
          <a:bodyPr>
            <a:normAutofit lnSpcReduction="10000"/>
          </a:bodyPr>
          <a:lstStyle/>
          <a:p>
            <a:pPr marL="231775" indent="0">
              <a:buNone/>
            </a:pPr>
            <a:r>
              <a:rPr lang="en-US" dirty="0">
                <a:solidFill>
                  <a:srgbClr val="0070C0"/>
                </a:solidFill>
              </a:rPr>
              <a:t>Fractional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multiplication: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.3 =</a:t>
            </a:r>
            <a:r>
              <a:rPr lang="en-US" dirty="0">
                <a:sym typeface="Wingdings" panose="05000000000000000000" pitchFamily="2" charset="2"/>
              </a:rPr>
              <a:t> 2.1				.2</a:t>
            </a:r>
          </a:p>
          <a:p>
            <a:pPr marL="91440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.1 </a:t>
            </a:r>
            <a:r>
              <a:rPr lang="en-US" dirty="0">
                <a:sym typeface="Wingdings" panose="05000000000000000000" pitchFamily="2" charset="2"/>
              </a:rPr>
              <a:t>= 0.7				.20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.7 = 4.9				.204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.9 = 6.3				.2046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		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Repeats!</a:t>
            </a:r>
            <a:r>
              <a:rPr lang="en-US" dirty="0">
                <a:sym typeface="Wingdings" panose="05000000000000000000" pitchFamily="2" charset="2"/>
              </a:rPr>
              <a:t>		.20462046···</a:t>
            </a:r>
            <a:endParaRPr lang="en-US" dirty="0"/>
          </a:p>
          <a:p>
            <a:pPr marL="463550" indent="0">
              <a:buNone/>
            </a:pPr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3778634" y="26829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3742540" y="3539784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742539" y="4361200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3742539" y="52028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69525" y="5028067"/>
            <a:ext cx="319107" cy="346040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316589" y="2525377"/>
            <a:ext cx="314317" cy="322096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2506579" y="2874901"/>
            <a:ext cx="532055" cy="2086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744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0526" y="736239"/>
            <a:ext cx="7349232" cy="668353"/>
          </a:xfrm>
        </p:spPr>
        <p:txBody>
          <a:bodyPr/>
          <a:lstStyle/>
          <a:p>
            <a:r>
              <a:rPr lang="en-US" dirty="0"/>
              <a:t>Converting -25.75</a:t>
            </a:r>
            <a:r>
              <a:rPr lang="en-US" baseline="-25000" dirty="0"/>
              <a:t>10</a:t>
            </a:r>
            <a:r>
              <a:rPr lang="en-US" dirty="0"/>
              <a:t> to 2’s Comp.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92966" y="1918110"/>
            <a:ext cx="4040188" cy="43783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-25:	25 	= 16 + 8 + 1</a:t>
            </a:r>
          </a:p>
          <a:p>
            <a:pPr marL="457200" lvl="1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011001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	-25	= 100111</a:t>
            </a:r>
          </a:p>
          <a:p>
            <a:pPr>
              <a:tabLst>
                <a:tab pos="1092200" algn="l"/>
              </a:tabLst>
            </a:pPr>
            <a:endParaRPr lang="en-US" sz="1200" dirty="0"/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.75:	.75	= .5 + .25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.11</a:t>
            </a: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Combining results: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 100111.11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Checking (poly </a:t>
            </a:r>
            <a:r>
              <a:rPr lang="en-US" dirty="0" err="1">
                <a:sym typeface="Wingdings" panose="05000000000000000000" pitchFamily="2" charset="2"/>
              </a:rPr>
              <a:t>eval</a:t>
            </a:r>
            <a:r>
              <a:rPr lang="en-US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= -24.25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5169567" y="1835906"/>
            <a:ext cx="4953000" cy="639762"/>
          </a:xfrm>
        </p:spPr>
        <p:txBody>
          <a:bodyPr anchor="ctr"/>
          <a:lstStyle/>
          <a:p>
            <a:r>
              <a:rPr lang="en-US"/>
              <a:t>Correct Method: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093367" y="2475668"/>
            <a:ext cx="5486399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+25.75	= 16 + 8 + 1 + .5 + .25</a:t>
            </a:r>
          </a:p>
          <a:p>
            <a:pPr marL="5715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= 011001.11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Find the negative representation: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100110.01  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100110.01	= 10011001/2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(-128+16+8+1)/4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-103/4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-25.75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6167" y="4548720"/>
            <a:ext cx="1213907" cy="39060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580060" y="3660737"/>
            <a:ext cx="1447800" cy="4572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1671" y="2399443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958" y="3397401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x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11" y="5452843"/>
            <a:ext cx="687957" cy="68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15" y="5801510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1409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16435" y="1695539"/>
            <a:ext cx="5386917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Get Binary Magnitude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3216435" y="2335301"/>
            <a:ext cx="5386917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</a:t>
            </a:r>
            <a:r>
              <a:rPr lang="en-US" baseline="-25000" dirty="0"/>
              <a:t>10</a:t>
            </a:r>
            <a:r>
              <a:rPr lang="en-US" dirty="0"/>
              <a:t>	= 64 + 8 + 2 + 1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6</a:t>
            </a:r>
            <a:r>
              <a:rPr lang="en-US" dirty="0"/>
              <a:t> + 2</a:t>
            </a:r>
            <a:r>
              <a:rPr lang="en-US" baseline="30000" dirty="0"/>
              <a:t>3</a:t>
            </a:r>
            <a:r>
              <a:rPr lang="en-US" dirty="0"/>
              <a:t> + 2</a:t>
            </a:r>
            <a:r>
              <a:rPr lang="en-US" baseline="30000" dirty="0"/>
              <a:t>1</a:t>
            </a:r>
            <a:r>
              <a:rPr lang="en-US" dirty="0"/>
              <a:t> + 2</a:t>
            </a:r>
            <a:r>
              <a:rPr lang="en-US" baseline="30000" dirty="0"/>
              <a:t>0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1001011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.75</a:t>
            </a:r>
            <a:r>
              <a:rPr lang="en-US" baseline="-25000" dirty="0"/>
              <a:t>10</a:t>
            </a:r>
            <a:r>
              <a:rPr lang="en-US" dirty="0"/>
              <a:t>	= .5 + .25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-1</a:t>
            </a:r>
            <a:r>
              <a:rPr lang="en-US" dirty="0"/>
              <a:t> + 2</a:t>
            </a:r>
            <a:r>
              <a:rPr lang="en-US" baseline="30000" dirty="0"/>
              <a:t>-2</a:t>
            </a:r>
            <a:endParaRPr lang="en-US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1001011.11</a:t>
            </a:r>
            <a:r>
              <a:rPr lang="en-US" baseline="-25000" dirty="0"/>
              <a:t>2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81926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Convert to 2’s Complement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371600" algn="l"/>
              </a:tabLst>
            </a:pPr>
            <a:endParaRPr lang="en-US" sz="1200" dirty="0">
              <a:solidFill>
                <a:srgbClr val="FF0000"/>
              </a:solidFill>
            </a:endParaRPr>
          </a:p>
          <a:p>
            <a:pPr marL="0" indent="0">
              <a:buNone/>
              <a:tabLst>
                <a:tab pos="1371600" algn="l"/>
              </a:tabLst>
            </a:pP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1001011.11</a:t>
            </a:r>
            <a:r>
              <a:rPr lang="en-US" baseline="-25000" dirty="0"/>
              <a:t>2</a:t>
            </a: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r>
              <a:rPr lang="en-US" b="1" i="1" dirty="0"/>
              <a:t>Find </a:t>
            </a:r>
            <a:r>
              <a:rPr lang="en-US" b="1" i="1" dirty="0">
                <a:solidFill>
                  <a:srgbClr val="FF0000"/>
                </a:solidFill>
              </a:rPr>
              <a:t>─</a:t>
            </a:r>
            <a:r>
              <a:rPr lang="en-US" b="1" i="1" dirty="0"/>
              <a:t>75.75</a:t>
            </a:r>
            <a:r>
              <a:rPr lang="en-US" b="1" i="1" baseline="-25000" dirty="0"/>
              <a:t>10</a:t>
            </a:r>
            <a:r>
              <a:rPr lang="en-US" b="1" i="1" dirty="0"/>
              <a:t>:</a:t>
            </a:r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604963" algn="l"/>
              </a:tabLst>
            </a:pPr>
            <a:r>
              <a:rPr lang="en-US" dirty="0"/>
              <a:t>2’s Comp:	10110100.01</a:t>
            </a:r>
          </a:p>
          <a:p>
            <a:pPr marL="0" indent="0">
              <a:buNone/>
              <a:tabLst>
                <a:tab pos="1604963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88478" y="4972051"/>
            <a:ext cx="3430995" cy="115411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most-significant bit must be “1” (negative), so the </a:t>
            </a:r>
            <a:r>
              <a:rPr lang="en-US" i="1" u="sng" dirty="0">
                <a:solidFill>
                  <a:schemeClr val="tx1"/>
                </a:solidFill>
              </a:rPr>
              <a:t>minimum</a:t>
            </a:r>
            <a:r>
              <a:rPr lang="en-US" dirty="0">
                <a:solidFill>
                  <a:schemeClr val="tx1"/>
                </a:solidFill>
              </a:rPr>
              <a:t> number of bits is 10.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5129473" y="4295274"/>
            <a:ext cx="4001" cy="6767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426754" y="3071020"/>
            <a:ext cx="2678520" cy="64452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Make sure the most-significant bit is 0.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5188630" y="2814638"/>
            <a:ext cx="238125" cy="2563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8927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3721756" y="1555168"/>
            <a:ext cx="5386917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#1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3721756" y="2194930"/>
            <a:ext cx="5386917" cy="39512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 (&lt; 0) - Find pos. </a:t>
            </a:r>
            <a:r>
              <a:rPr lang="en-US" dirty="0" err="1"/>
              <a:t>equiv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2’s Comp:	0110.1010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Get decimal	= 4+2+.5+.125</a:t>
            </a: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	= 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Add minus sign	-6.625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2971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#2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dirty="0"/>
              <a:t>Use poly. </a:t>
            </a:r>
            <a:r>
              <a:rPr lang="en-US" dirty="0" err="1"/>
              <a:t>eval</a:t>
            </a:r>
            <a:r>
              <a:rPr lang="en-US" dirty="0"/>
              <a:t>. w/neg. 1</a:t>
            </a:r>
            <a:r>
              <a:rPr lang="en-US" baseline="30000" dirty="0"/>
              <a:t>st</a:t>
            </a:r>
            <a:r>
              <a:rPr lang="en-US" dirty="0"/>
              <a:t> term: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+ 1 + .25 + .125 </a:t>
            </a:r>
          </a:p>
          <a:p>
            <a:pPr marL="0" indent="0">
              <a:buNone/>
            </a:pPr>
            <a:r>
              <a:rPr lang="en-US" dirty="0"/>
              <a:t>	= -7 + .375</a:t>
            </a:r>
          </a:p>
          <a:p>
            <a:pPr marL="0" indent="0">
              <a:buNone/>
            </a:pPr>
            <a:r>
              <a:rPr lang="en-US" dirty="0"/>
              <a:t>	= -6.625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32292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9" y="770341"/>
            <a:ext cx="399605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i="1" spc="-5" dirty="0">
                <a:latin typeface="Calibri"/>
                <a:cs typeface="Calibri"/>
              </a:rPr>
              <a:t>Review</a:t>
            </a:r>
            <a:r>
              <a:rPr i="1" spc="-60" dirty="0">
                <a:latin typeface="Calibri"/>
                <a:cs typeface="Calibri"/>
              </a:rPr>
              <a:t> </a:t>
            </a:r>
            <a:r>
              <a:rPr i="1" spc="-5" dirty="0">
                <a:latin typeface="Calibri"/>
                <a:cs typeface="Calibri"/>
              </a:rPr>
              <a:t>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3879" y="1781209"/>
            <a:ext cx="10399921" cy="2503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Signed: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-75.75</a:t>
            </a:r>
            <a:r>
              <a:rPr kumimoji="0" sz="270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700" b="0" i="0" u="none" strike="noStrike" kern="1200" cap="none" spc="284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1001.0110</a:t>
            </a:r>
            <a:r>
              <a:rPr kumimoji="0" sz="270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700" b="0" i="0" u="none" strike="noStrike" kern="1200" cap="none" spc="30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comp.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decimal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70593393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3320" y="745753"/>
            <a:ext cx="746696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20" dirty="0"/>
              <a:t> </a:t>
            </a:r>
            <a:r>
              <a:rPr sz="4000" spc="-5" dirty="0"/>
              <a:t>-75.75</a:t>
            </a:r>
            <a:r>
              <a:rPr sz="4050" spc="-7" baseline="-18518" dirty="0"/>
              <a:t>10</a:t>
            </a:r>
            <a:r>
              <a:rPr sz="4050" spc="390" baseline="-18518" dirty="0"/>
              <a:t> </a:t>
            </a:r>
            <a:r>
              <a:rPr sz="4000" spc="-5" dirty="0"/>
              <a:t>to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5" dirty="0"/>
              <a:t> </a:t>
            </a:r>
            <a:r>
              <a:rPr sz="4000" spc="-5" dirty="0"/>
              <a:t>complement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034716" y="1578997"/>
            <a:ext cx="4495800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1038702" y="2373059"/>
            <a:ext cx="4623647" cy="3341941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spc="-5" dirty="0"/>
              <a:t>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20" dirty="0"/>
              <a:t> </a:t>
            </a:r>
            <a:r>
              <a:rPr spc="-5" dirty="0"/>
              <a:t>64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8</a:t>
            </a:r>
            <a:r>
              <a:rPr spc="-20" dirty="0"/>
              <a:t> </a:t>
            </a:r>
            <a:r>
              <a:rPr dirty="0"/>
              <a:t>+</a:t>
            </a:r>
            <a:r>
              <a:rPr spc="-20" dirty="0"/>
              <a:t> </a:t>
            </a:r>
            <a:r>
              <a:rPr dirty="0"/>
              <a:t>2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1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6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3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1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0</a:t>
            </a:r>
            <a:endParaRPr lang="en-US" baseline="24305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45" dirty="0"/>
              <a:t> </a:t>
            </a:r>
            <a:r>
              <a:rPr lang="en-US" spc="-5" dirty="0"/>
              <a:t>1001011</a:t>
            </a:r>
            <a:r>
              <a:rPr lang="en-US" spc="-7" baseline="-17361" dirty="0"/>
              <a:t>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spc="-5" dirty="0"/>
              <a:t>75</a:t>
            </a:r>
            <a:r>
              <a:rPr lang="en-US" spc="-7" baseline="-17361" dirty="0"/>
              <a:t>10	</a:t>
            </a:r>
            <a:r>
              <a:rPr lang="en-US" dirty="0"/>
              <a:t>=</a:t>
            </a:r>
            <a:r>
              <a:rPr lang="en-US" spc="-40" dirty="0"/>
              <a:t> </a:t>
            </a:r>
            <a:r>
              <a:rPr lang="en-US" spc="-5" dirty="0"/>
              <a:t>.5</a:t>
            </a:r>
            <a:r>
              <a:rPr lang="en-US" spc="-45" dirty="0"/>
              <a:t> </a:t>
            </a:r>
            <a:r>
              <a:rPr lang="en-US" dirty="0"/>
              <a:t>+</a:t>
            </a:r>
            <a:r>
              <a:rPr lang="en-US" spc="-35" dirty="0"/>
              <a:t> </a:t>
            </a:r>
            <a:r>
              <a:rPr lang="en-US" spc="-5" dirty="0"/>
              <a:t>.25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baseline="-16203" dirty="0"/>
              <a:t>	=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-1</a:t>
            </a:r>
            <a:r>
              <a:rPr lang="en-US" spc="145" dirty="0"/>
              <a:t> </a:t>
            </a:r>
            <a:r>
              <a:rPr lang="en-US" baseline="-16203" dirty="0"/>
              <a:t>+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50" dirty="0"/>
              <a:t> </a:t>
            </a:r>
            <a:r>
              <a:rPr lang="en-US" spc="-5" dirty="0"/>
              <a:t>.11</a:t>
            </a:r>
            <a:r>
              <a:rPr lang="en-US" spc="-7" baseline="-17361" dirty="0"/>
              <a:t>2</a:t>
            </a:r>
            <a:endParaRPr baseline="-17361" dirty="0"/>
          </a:p>
          <a:p>
            <a:pPr marL="0" indent="0">
              <a:lnSpc>
                <a:spcPct val="100000"/>
              </a:lnSpc>
              <a:spcBef>
                <a:spcPts val="2325"/>
              </a:spcBef>
              <a:buNone/>
              <a:tabLst>
                <a:tab pos="1274445" algn="l"/>
              </a:tabLst>
            </a:pPr>
            <a:r>
              <a:rPr spc="-5" dirty="0"/>
              <a:t>75.75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45" dirty="0"/>
              <a:t> </a:t>
            </a:r>
            <a:r>
              <a:rPr spc="-5" dirty="0"/>
              <a:t>1001011.11</a:t>
            </a:r>
            <a:r>
              <a:rPr spc="-7" baseline="-17361" dirty="0"/>
              <a:t>2</a:t>
            </a:r>
            <a:endParaRPr baseline="-17361" dirty="0"/>
          </a:p>
        </p:txBody>
      </p:sp>
      <p:sp>
        <p:nvSpPr>
          <p:cNvPr id="5" name="object 5"/>
          <p:cNvSpPr txBox="1"/>
          <p:nvPr/>
        </p:nvSpPr>
        <p:spPr>
          <a:xfrm>
            <a:off x="5995353" y="1578997"/>
            <a:ext cx="4291647" cy="478977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39065" rIns="0" bIns="0" rtlCol="0">
            <a:spAutoFit/>
          </a:bodyPr>
          <a:lstStyle/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10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250" b="1" i="0" u="none" strike="noStrike" kern="1200" cap="none" spc="-22" normalizeH="0" baseline="2592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Convert to 2’s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9666" y="2450084"/>
            <a:ext cx="3413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421765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1001011.11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00328" y="3261867"/>
            <a:ext cx="2317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47766" y="3096259"/>
            <a:ext cx="176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71320" algn="l"/>
              </a:tabLst>
              <a:defRPr/>
            </a:pP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1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─</a:t>
            </a: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	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228715" y="3784962"/>
          <a:ext cx="3285489" cy="1691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2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743">
                <a:tc>
                  <a:txBody>
                    <a:bodyPr/>
                    <a:lstStyle/>
                    <a:p>
                      <a:pPr marL="3175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Ignore</a:t>
                      </a:r>
                      <a:r>
                        <a:rPr sz="2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0100101111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2’s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Comp: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1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Restore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10110100.01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467600" y="5715000"/>
            <a:ext cx="2743200" cy="914400"/>
          </a:xfrm>
          <a:prstGeom prst="rect">
            <a:avLst/>
          </a:prstGeom>
          <a:solidFill>
            <a:srgbClr val="FF0000">
              <a:alpha val="25099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12395" marR="0" lvl="0" indent="0" algn="l" defTabSz="914400" rtl="0" eaLnBrk="1" fontAlgn="auto" latinLnBrk="0" hangingPunct="1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1" u="sng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minimum</a:t>
            </a:r>
            <a:r>
              <a:rPr kumimoji="0" sz="2000" b="0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number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</a:p>
          <a:p>
            <a:pPr marL="610870" marR="195580" lvl="0" indent="-40830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bits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-75.75 </a:t>
            </a:r>
            <a:r>
              <a:rPr kumimoji="0" sz="2000" b="0" i="0" u="none" strike="noStrike" kern="1200" cap="none" spc="-4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binary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10.</a:t>
            </a:r>
          </a:p>
        </p:txBody>
      </p:sp>
      <p:sp>
        <p:nvSpPr>
          <p:cNvPr id="11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27770452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459" y="730123"/>
            <a:ext cx="861885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0" dirty="0"/>
              <a:t> </a:t>
            </a:r>
            <a:r>
              <a:rPr sz="4000" spc="-5" dirty="0"/>
              <a:t>Comp.</a:t>
            </a:r>
            <a:r>
              <a:rPr sz="4000" spc="-10" dirty="0"/>
              <a:t> </a:t>
            </a:r>
            <a:r>
              <a:rPr sz="4000" spc="-5" dirty="0"/>
              <a:t>1001.0110</a:t>
            </a:r>
            <a:r>
              <a:rPr sz="4050" spc="-7" baseline="-18518" dirty="0"/>
              <a:t>2</a:t>
            </a:r>
            <a:r>
              <a:rPr sz="4050" spc="397" baseline="-18518" dirty="0"/>
              <a:t> </a:t>
            </a:r>
            <a:r>
              <a:rPr sz="4000" spc="-5" dirty="0"/>
              <a:t>to</a:t>
            </a:r>
            <a:r>
              <a:rPr sz="4000" spc="-10" dirty="0"/>
              <a:t> </a:t>
            </a:r>
            <a:r>
              <a:rPr sz="4000" spc="-5" dirty="0"/>
              <a:t>decimal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981200" y="1535112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9940" y="2371852"/>
            <a:ext cx="37947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(&lt; 0)</a:t>
            </a:r>
            <a:r>
              <a:rPr kumimoji="0" sz="2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pos.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equiv: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9940" y="3075940"/>
            <a:ext cx="127254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rtl="0" eaLnBrk="1" fontAlgn="auto" latinLnBrk="0" hangingPunct="1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Ignore “.”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 Comp: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Restore</a:t>
            </a:r>
            <a:r>
              <a:rPr kumimoji="0" sz="2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“.”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33546" y="3075940"/>
            <a:ext cx="1226185" cy="113220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0110.1010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59940" y="4581652"/>
            <a:ext cx="13868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2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08146" y="4548123"/>
            <a:ext cx="1687195" cy="76327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4+2+.5+.125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6.625</a:t>
            </a:r>
            <a:r>
              <a:rPr kumimoji="0" sz="2250" b="0" i="0" u="none" strike="noStrike" kern="1200" cap="none" spc="-2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59941" y="5688076"/>
            <a:ext cx="17481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</a:t>
            </a:r>
            <a:r>
              <a:rPr kumimoji="0" sz="22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22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146" y="5688076"/>
            <a:ext cx="984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25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69026" y="1535112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#2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09665" y="2450085"/>
            <a:ext cx="3950970" cy="280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w/neg.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0" i="0" u="none" strike="noStrike" kern="1200" cap="none" spc="254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term: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22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.125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.375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64234931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7638" y="733676"/>
            <a:ext cx="5320030" cy="57404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/>
              <a:t>Practice</a:t>
            </a:r>
            <a:r>
              <a:rPr sz="3600" spc="-35" dirty="0"/>
              <a:t> </a:t>
            </a:r>
            <a:r>
              <a:rPr sz="3600" spc="-5" dirty="0"/>
              <a:t>Problems:</a:t>
            </a:r>
            <a:r>
              <a:rPr sz="3600" spc="-25" dirty="0"/>
              <a:t> </a:t>
            </a:r>
            <a:r>
              <a:rPr sz="3600" spc="-5" dirty="0"/>
              <a:t>N</a:t>
            </a:r>
            <a:r>
              <a:rPr sz="3600" spc="-7" baseline="-18518" dirty="0"/>
              <a:t>R1</a:t>
            </a:r>
            <a:r>
              <a:rPr sz="3600" spc="-5" dirty="0">
                <a:latin typeface="Wingdings"/>
                <a:cs typeface="Wingdings"/>
              </a:rPr>
              <a:t></a:t>
            </a:r>
            <a:r>
              <a:rPr sz="3600" spc="-5" dirty="0"/>
              <a:t>N</a:t>
            </a:r>
            <a:r>
              <a:rPr sz="3600" spc="-7" baseline="-18518" dirty="0"/>
              <a:t>R2</a:t>
            </a:r>
            <a:endParaRPr sz="3600" baseline="-18518" dirty="0">
              <a:latin typeface="Wingdings"/>
              <a:cs typeface="Wingdings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6242" y="2013570"/>
            <a:ext cx="99590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1101011</a:t>
            </a:r>
            <a:r>
              <a:rPr lang="en-US" baseline="-25000" dirty="0"/>
              <a:t>2  	</a:t>
            </a:r>
            <a:r>
              <a:rPr lang="en-US" dirty="0"/>
              <a:t>→ ?</a:t>
            </a:r>
            <a:r>
              <a:rPr lang="en-US" baseline="-25000" dirty="0"/>
              <a:t>16 	</a:t>
            </a:r>
            <a:r>
              <a:rPr lang="en-US" dirty="0"/>
              <a:t>110 1011 	→ 0110 1011		→6B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11.01011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16</a:t>
            </a:r>
            <a:r>
              <a:rPr lang="en-US" dirty="0"/>
              <a:t> 	11 . 0101 1 	→ 0011 .  0101 1000	→ 3.58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1 101 011	→ 001 101 011		→153</a:t>
            </a:r>
            <a:r>
              <a:rPr lang="en-US" baseline="-25000" dirty="0"/>
              <a:t>8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11010.11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11 010 . 11 	→ 011 010 . 110		→32.6</a:t>
            </a:r>
            <a:r>
              <a:rPr lang="en-US" baseline="-25000" dirty="0"/>
              <a:t>8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FACE</a:t>
            </a:r>
            <a:r>
              <a:rPr lang="en-US" baseline="-25000" dirty="0"/>
              <a:t>16</a:t>
            </a:r>
            <a:r>
              <a:rPr lang="en-US" dirty="0"/>
              <a:t> 		→ ?</a:t>
            </a:r>
            <a:r>
              <a:rPr lang="en-US" baseline="-25000" dirty="0"/>
              <a:t>2</a:t>
            </a:r>
            <a:r>
              <a:rPr lang="en-US" dirty="0"/>
              <a:t> 	F A C E 		→ 1111 1010 1100 1110</a:t>
            </a:r>
            <a:r>
              <a:rPr lang="en-US" baseline="-25000" dirty="0"/>
              <a:t>2</a:t>
            </a:r>
            <a:r>
              <a:rPr lang="en-US" dirty="0"/>
              <a:t>	→ 1111101011001110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 flipH="1">
            <a:off x="4427625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H="1">
            <a:off x="6681541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4331372" y="285979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4985088" y="285979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6681541" y="2859789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7439530" y="284403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4616120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178973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82330" y="3687776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541173" y="368777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4769729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83246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509088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995571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6618567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7210931" y="528644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752351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10335130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9833815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>
            <a:off x="9333708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85" y="1269427"/>
          <a:ext cx="973241" cy="477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97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583944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0413416" y="986875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94725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A7D050-31EC-4F85-A190-6DD15437A5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96972D72-615C-49BA-BD34-82C715E444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Number Representations that use a Fixed Number of Digits</a:t>
            </a:r>
          </a:p>
        </p:txBody>
      </p:sp>
    </p:spTree>
    <p:extLst>
      <p:ext uri="{BB962C8B-B14F-4D97-AF65-F5344CB8AC3E}">
        <p14:creationId xmlns:p14="http://schemas.microsoft.com/office/powerpoint/2010/main" val="104843291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2212" y="738256"/>
            <a:ext cx="2247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Question: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212" y="1828397"/>
            <a:ext cx="10431588" cy="2521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998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trust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car salesman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tells you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the 1966 Mustang has only 13,000 miles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odometer shows?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•"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not,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what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happened?</a:t>
            </a:r>
          </a:p>
        </p:txBody>
      </p:sp>
    </p:spTree>
    <p:extLst>
      <p:ext uri="{BB962C8B-B14F-4D97-AF65-F5344CB8AC3E}">
        <p14:creationId xmlns:p14="http://schemas.microsoft.com/office/powerpoint/2010/main" val="12364359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0022" y="746277"/>
            <a:ext cx="190246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0023" y="1738923"/>
            <a:ext cx="6219825" cy="170370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Consequence</a:t>
            </a:r>
            <a:r>
              <a:rPr kumimoji="0" sz="3200" b="0" i="0" u="heavy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of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fixed</a:t>
            </a:r>
            <a:r>
              <a:rPr kumimoji="0" sz="3200" b="0" i="1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precision</a:t>
            </a:r>
            <a:r>
              <a:rPr kumimoji="0" sz="32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0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 precision!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left-hand</a:t>
            </a:r>
            <a:r>
              <a:rPr kumimoji="0" sz="32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end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667892" y="392500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667892" y="470986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930022" y="4526173"/>
            <a:ext cx="5772150" cy="1266825"/>
          </a:xfrm>
          <a:prstGeom prst="rect">
            <a:avLst/>
          </a:prstGeom>
        </p:spPr>
        <p:txBody>
          <a:bodyPr vert="horz" wrap="square" lIns="0" tIns="178435" rIns="0" bIns="0" rtlCol="0">
            <a:spAutoFit/>
          </a:bodyPr>
          <a:lstStyle/>
          <a:p>
            <a:pPr marL="231775" marR="0" lvl="0" indent="0" algn="l" defTabSz="914400" rtl="0" eaLnBrk="1" fontAlgn="auto" latinLnBrk="0" hangingPunct="1">
              <a:lnSpc>
                <a:spcPct val="100000"/>
              </a:lnSpc>
              <a:spcBef>
                <a:spcPts val="14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74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Remaining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still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correct.</a:t>
            </a: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201199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49" y="738256"/>
            <a:ext cx="62769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dirty="0"/>
              <a:t> in </a:t>
            </a:r>
            <a:r>
              <a:rPr spc="-5" dirty="0"/>
              <a:t>Unsigned</a:t>
            </a:r>
            <a:r>
              <a:rPr dirty="0"/>
              <a:t>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49" y="1780273"/>
            <a:ext cx="10412788" cy="4499373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Consider an 8-bit byte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Range: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Incrementing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value of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yield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256,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exceeds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range.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heavy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>
                <a:solidFill>
                  <a:srgbClr val="000000"/>
                </a:solidFill>
              </a:uFill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Exceeding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known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373336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31360" y="2304035"/>
            <a:ext cx="885031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signed two’s complement with 8 bits adding 1 to -1  should result in 0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does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1111 1111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0000 0001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Carry = 1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0000 0000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is a rollover with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accidental correct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result.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360" y="726225"/>
            <a:ext cx="56654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 </a:t>
            </a:r>
            <a:r>
              <a:rPr dirty="0"/>
              <a:t>in</a:t>
            </a:r>
            <a:r>
              <a:rPr spc="-5" dirty="0"/>
              <a:t> </a:t>
            </a:r>
            <a:r>
              <a:rPr dirty="0"/>
              <a:t>Signed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/>
          <p:nvPr/>
        </p:nvSpPr>
        <p:spPr>
          <a:xfrm>
            <a:off x="2822326" y="3720434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057093" y="3660866"/>
            <a:ext cx="646604" cy="205104"/>
          </a:xfrm>
          <a:custGeom>
            <a:avLst/>
            <a:gdLst/>
            <a:ahLst/>
            <a:cxnLst/>
            <a:rect l="l" t="t" r="r" b="b"/>
            <a:pathLst>
              <a:path w="762635" h="205104">
                <a:moveTo>
                  <a:pt x="84298" y="105228"/>
                </a:moveTo>
                <a:lnTo>
                  <a:pt x="0" y="157161"/>
                </a:lnTo>
                <a:lnTo>
                  <a:pt x="86700" y="204976"/>
                </a:lnTo>
                <a:lnTo>
                  <a:pt x="89597" y="204139"/>
                </a:lnTo>
                <a:lnTo>
                  <a:pt x="92137" y="199533"/>
                </a:lnTo>
                <a:lnTo>
                  <a:pt x="91300" y="196636"/>
                </a:lnTo>
                <a:lnTo>
                  <a:pt x="27944" y="161695"/>
                </a:lnTo>
                <a:lnTo>
                  <a:pt x="9563" y="161695"/>
                </a:lnTo>
                <a:lnTo>
                  <a:pt x="9334" y="152172"/>
                </a:lnTo>
                <a:lnTo>
                  <a:pt x="26943" y="151750"/>
                </a:lnTo>
                <a:lnTo>
                  <a:pt x="89294" y="113337"/>
                </a:lnTo>
                <a:lnTo>
                  <a:pt x="89991" y="110403"/>
                </a:lnTo>
                <a:lnTo>
                  <a:pt x="87231" y="105924"/>
                </a:lnTo>
                <a:lnTo>
                  <a:pt x="84298" y="105228"/>
                </a:lnTo>
                <a:close/>
              </a:path>
              <a:path w="762635" h="205104">
                <a:moveTo>
                  <a:pt x="26943" y="151750"/>
                </a:moveTo>
                <a:lnTo>
                  <a:pt x="9334" y="152172"/>
                </a:lnTo>
                <a:lnTo>
                  <a:pt x="9563" y="161695"/>
                </a:lnTo>
                <a:lnTo>
                  <a:pt x="27172" y="161269"/>
                </a:lnTo>
                <a:lnTo>
                  <a:pt x="26664" y="160989"/>
                </a:lnTo>
                <a:lnTo>
                  <a:pt x="11947" y="160989"/>
                </a:lnTo>
                <a:lnTo>
                  <a:pt x="11749" y="152763"/>
                </a:lnTo>
                <a:lnTo>
                  <a:pt x="25299" y="152763"/>
                </a:lnTo>
                <a:lnTo>
                  <a:pt x="26943" y="151750"/>
                </a:lnTo>
                <a:close/>
              </a:path>
              <a:path w="762635" h="205104">
                <a:moveTo>
                  <a:pt x="27172" y="161269"/>
                </a:moveTo>
                <a:lnTo>
                  <a:pt x="9563" y="161695"/>
                </a:lnTo>
                <a:lnTo>
                  <a:pt x="27944" y="161695"/>
                </a:lnTo>
                <a:lnTo>
                  <a:pt x="27172" y="161269"/>
                </a:lnTo>
                <a:close/>
              </a:path>
              <a:path w="762635" h="205104">
                <a:moveTo>
                  <a:pt x="369314" y="91555"/>
                </a:moveTo>
                <a:lnTo>
                  <a:pt x="329329" y="111066"/>
                </a:lnTo>
                <a:lnTo>
                  <a:pt x="286396" y="123165"/>
                </a:lnTo>
                <a:lnTo>
                  <a:pt x="233239" y="133789"/>
                </a:lnTo>
                <a:lnTo>
                  <a:pt x="172192" y="142438"/>
                </a:lnTo>
                <a:lnTo>
                  <a:pt x="70753" y="150699"/>
                </a:lnTo>
                <a:lnTo>
                  <a:pt x="26943" y="151750"/>
                </a:lnTo>
                <a:lnTo>
                  <a:pt x="18898" y="156706"/>
                </a:lnTo>
                <a:lnTo>
                  <a:pt x="27172" y="161269"/>
                </a:lnTo>
                <a:lnTo>
                  <a:pt x="71421" y="160200"/>
                </a:lnTo>
                <a:lnTo>
                  <a:pt x="140417" y="155348"/>
                </a:lnTo>
                <a:lnTo>
                  <a:pt x="205018" y="147802"/>
                </a:lnTo>
                <a:lnTo>
                  <a:pt x="262971" y="138002"/>
                </a:lnTo>
                <a:lnTo>
                  <a:pt x="312110" y="126363"/>
                </a:lnTo>
                <a:lnTo>
                  <a:pt x="350371" y="113219"/>
                </a:lnTo>
                <a:lnTo>
                  <a:pt x="381739" y="91988"/>
                </a:lnTo>
                <a:lnTo>
                  <a:pt x="368924" y="91988"/>
                </a:lnTo>
                <a:lnTo>
                  <a:pt x="369314" y="91555"/>
                </a:lnTo>
                <a:close/>
              </a:path>
              <a:path w="762635" h="205104">
                <a:moveTo>
                  <a:pt x="11749" y="152763"/>
                </a:moveTo>
                <a:lnTo>
                  <a:pt x="11947" y="160989"/>
                </a:lnTo>
                <a:lnTo>
                  <a:pt x="18898" y="156706"/>
                </a:lnTo>
                <a:lnTo>
                  <a:pt x="11749" y="152763"/>
                </a:lnTo>
                <a:close/>
              </a:path>
              <a:path w="762635" h="205104">
                <a:moveTo>
                  <a:pt x="18898" y="156706"/>
                </a:moveTo>
                <a:lnTo>
                  <a:pt x="11947" y="160989"/>
                </a:lnTo>
                <a:lnTo>
                  <a:pt x="26664" y="160989"/>
                </a:lnTo>
                <a:lnTo>
                  <a:pt x="18898" y="156706"/>
                </a:lnTo>
                <a:close/>
              </a:path>
              <a:path w="762635" h="205104">
                <a:moveTo>
                  <a:pt x="25299" y="152763"/>
                </a:moveTo>
                <a:lnTo>
                  <a:pt x="11749" y="152763"/>
                </a:lnTo>
                <a:lnTo>
                  <a:pt x="18898" y="156706"/>
                </a:lnTo>
                <a:lnTo>
                  <a:pt x="25299" y="152763"/>
                </a:lnTo>
                <a:close/>
              </a:path>
              <a:path w="762635" h="205104">
                <a:moveTo>
                  <a:pt x="369792" y="91231"/>
                </a:moveTo>
                <a:lnTo>
                  <a:pt x="369314" y="91555"/>
                </a:lnTo>
                <a:lnTo>
                  <a:pt x="368924" y="91988"/>
                </a:lnTo>
                <a:lnTo>
                  <a:pt x="369792" y="91231"/>
                </a:lnTo>
                <a:close/>
              </a:path>
              <a:path w="762635" h="205104">
                <a:moveTo>
                  <a:pt x="382420" y="91231"/>
                </a:moveTo>
                <a:lnTo>
                  <a:pt x="369792" y="91231"/>
                </a:lnTo>
                <a:lnTo>
                  <a:pt x="368924" y="91988"/>
                </a:lnTo>
                <a:lnTo>
                  <a:pt x="381739" y="91988"/>
                </a:lnTo>
                <a:lnTo>
                  <a:pt x="382420" y="91231"/>
                </a:lnTo>
                <a:close/>
              </a:path>
              <a:path w="762635" h="205104">
                <a:moveTo>
                  <a:pt x="374591" y="85693"/>
                </a:moveTo>
                <a:lnTo>
                  <a:pt x="369314" y="91555"/>
                </a:lnTo>
                <a:lnTo>
                  <a:pt x="369792" y="91231"/>
                </a:lnTo>
                <a:lnTo>
                  <a:pt x="382420" y="91231"/>
                </a:lnTo>
                <a:lnTo>
                  <a:pt x="382840" y="90765"/>
                </a:lnTo>
                <a:lnTo>
                  <a:pt x="383186" y="90154"/>
                </a:lnTo>
                <a:lnTo>
                  <a:pt x="384244" y="86700"/>
                </a:lnTo>
                <a:lnTo>
                  <a:pt x="374282" y="86700"/>
                </a:lnTo>
                <a:lnTo>
                  <a:pt x="374591" y="85693"/>
                </a:lnTo>
                <a:close/>
              </a:path>
              <a:path w="762635" h="205104">
                <a:moveTo>
                  <a:pt x="375296" y="84909"/>
                </a:moveTo>
                <a:lnTo>
                  <a:pt x="374591" y="85693"/>
                </a:lnTo>
                <a:lnTo>
                  <a:pt x="374282" y="86700"/>
                </a:lnTo>
                <a:lnTo>
                  <a:pt x="375296" y="84909"/>
                </a:lnTo>
                <a:close/>
              </a:path>
              <a:path w="762635" h="205104">
                <a:moveTo>
                  <a:pt x="384793" y="84909"/>
                </a:moveTo>
                <a:lnTo>
                  <a:pt x="375296" y="84909"/>
                </a:lnTo>
                <a:lnTo>
                  <a:pt x="374282" y="86700"/>
                </a:lnTo>
                <a:lnTo>
                  <a:pt x="384244" y="86700"/>
                </a:lnTo>
                <a:lnTo>
                  <a:pt x="384793" y="84909"/>
                </a:lnTo>
                <a:close/>
              </a:path>
              <a:path w="762635" h="205104">
                <a:moveTo>
                  <a:pt x="761907" y="0"/>
                </a:moveTo>
                <a:lnTo>
                  <a:pt x="690842" y="1711"/>
                </a:lnTo>
                <a:lnTo>
                  <a:pt x="621789" y="6558"/>
                </a:lnTo>
                <a:lnTo>
                  <a:pt x="557145" y="14102"/>
                </a:lnTo>
                <a:lnTo>
                  <a:pt x="499222" y="23889"/>
                </a:lnTo>
                <a:lnTo>
                  <a:pt x="450153" y="35496"/>
                </a:lnTo>
                <a:lnTo>
                  <a:pt x="412068" y="48531"/>
                </a:lnTo>
                <a:lnTo>
                  <a:pt x="379203" y="71156"/>
                </a:lnTo>
                <a:lnTo>
                  <a:pt x="374591" y="85693"/>
                </a:lnTo>
                <a:lnTo>
                  <a:pt x="375296" y="84909"/>
                </a:lnTo>
                <a:lnTo>
                  <a:pt x="384793" y="84909"/>
                </a:lnTo>
                <a:lnTo>
                  <a:pt x="387212" y="77012"/>
                </a:lnTo>
                <a:lnTo>
                  <a:pt x="386747" y="77012"/>
                </a:lnTo>
                <a:lnTo>
                  <a:pt x="387761" y="75222"/>
                </a:lnTo>
                <a:lnTo>
                  <a:pt x="388359" y="75222"/>
                </a:lnTo>
                <a:lnTo>
                  <a:pt x="392438" y="70690"/>
                </a:lnTo>
                <a:lnTo>
                  <a:pt x="392251" y="70690"/>
                </a:lnTo>
                <a:lnTo>
                  <a:pt x="393119" y="69933"/>
                </a:lnTo>
                <a:lnTo>
                  <a:pt x="393358" y="69933"/>
                </a:lnTo>
                <a:lnTo>
                  <a:pt x="401950" y="64060"/>
                </a:lnTo>
                <a:lnTo>
                  <a:pt x="415460" y="57431"/>
                </a:lnTo>
                <a:lnTo>
                  <a:pt x="452533" y="44719"/>
                </a:lnTo>
                <a:lnTo>
                  <a:pt x="500945" y="33257"/>
                </a:lnTo>
                <a:lnTo>
                  <a:pt x="558364" y="23548"/>
                </a:lnTo>
                <a:lnTo>
                  <a:pt x="622457" y="16060"/>
                </a:lnTo>
                <a:lnTo>
                  <a:pt x="691071" y="11234"/>
                </a:lnTo>
                <a:lnTo>
                  <a:pt x="762136" y="9522"/>
                </a:lnTo>
                <a:lnTo>
                  <a:pt x="761907" y="0"/>
                </a:lnTo>
                <a:close/>
              </a:path>
              <a:path w="762635" h="205104">
                <a:moveTo>
                  <a:pt x="387761" y="75222"/>
                </a:moveTo>
                <a:lnTo>
                  <a:pt x="386747" y="77012"/>
                </a:lnTo>
                <a:lnTo>
                  <a:pt x="387452" y="76229"/>
                </a:lnTo>
                <a:lnTo>
                  <a:pt x="387761" y="75222"/>
                </a:lnTo>
                <a:close/>
              </a:path>
              <a:path w="762635" h="205104">
                <a:moveTo>
                  <a:pt x="387452" y="76229"/>
                </a:moveTo>
                <a:lnTo>
                  <a:pt x="386747" y="77012"/>
                </a:lnTo>
                <a:lnTo>
                  <a:pt x="387212" y="77012"/>
                </a:lnTo>
                <a:lnTo>
                  <a:pt x="387452" y="76229"/>
                </a:lnTo>
                <a:close/>
              </a:path>
              <a:path w="762635" h="205104">
                <a:moveTo>
                  <a:pt x="388359" y="75222"/>
                </a:moveTo>
                <a:lnTo>
                  <a:pt x="387761" y="75222"/>
                </a:lnTo>
                <a:lnTo>
                  <a:pt x="387452" y="76229"/>
                </a:lnTo>
                <a:lnTo>
                  <a:pt x="388359" y="75222"/>
                </a:lnTo>
                <a:close/>
              </a:path>
              <a:path w="762635" h="205104">
                <a:moveTo>
                  <a:pt x="393119" y="69933"/>
                </a:moveTo>
                <a:lnTo>
                  <a:pt x="392251" y="70690"/>
                </a:lnTo>
                <a:lnTo>
                  <a:pt x="392736" y="70359"/>
                </a:lnTo>
                <a:lnTo>
                  <a:pt x="393119" y="69933"/>
                </a:lnTo>
                <a:close/>
              </a:path>
              <a:path w="762635" h="205104">
                <a:moveTo>
                  <a:pt x="392736" y="70359"/>
                </a:moveTo>
                <a:lnTo>
                  <a:pt x="392251" y="70690"/>
                </a:lnTo>
                <a:lnTo>
                  <a:pt x="392438" y="70690"/>
                </a:lnTo>
                <a:lnTo>
                  <a:pt x="392736" y="70359"/>
                </a:lnTo>
                <a:close/>
              </a:path>
              <a:path w="762635" h="205104">
                <a:moveTo>
                  <a:pt x="393358" y="69933"/>
                </a:moveTo>
                <a:lnTo>
                  <a:pt x="393119" y="69933"/>
                </a:lnTo>
                <a:lnTo>
                  <a:pt x="392736" y="70359"/>
                </a:lnTo>
                <a:lnTo>
                  <a:pt x="393358" y="699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3"/>
          <p:cNvSpPr/>
          <p:nvPr/>
        </p:nvSpPr>
        <p:spPr>
          <a:xfrm>
            <a:off x="2768754" y="3993151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3"/>
          <p:cNvSpPr/>
          <p:nvPr/>
        </p:nvSpPr>
        <p:spPr>
          <a:xfrm>
            <a:off x="2768753" y="4053309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79756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8601" y="2201700"/>
            <a:ext cx="10417284" cy="658590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55600" marR="823594" lvl="0" indent="-34290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describes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sequence </a:t>
            </a:r>
            <a:r>
              <a:rPr kumimoji="0" sz="3200" b="0" i="0" u="none" strike="noStrike" kern="1200" cap="none" spc="-7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behavior.</a:t>
            </a: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823594" lvl="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lvl="0" indent="-342900">
              <a:spcBef>
                <a:spcPts val="305"/>
              </a:spcBef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Overflow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describes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an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behavior.</a:t>
            </a:r>
            <a:endParaRPr lang="en-US" sz="32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469900" lvl="0">
              <a:spcBef>
                <a:spcPts val="350"/>
              </a:spcBef>
              <a:defRPr/>
            </a:pP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–</a:t>
            </a:r>
            <a:r>
              <a:rPr lang="en-US" sz="2800" spc="2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Resulted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from an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10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operation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Whether or not rollover causes overflow  depends on how the patterns are  interpreted as numeric values!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9271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marR="424815" lvl="0" indent="0" algn="l" defTabSz="914400" rtl="0" eaLnBrk="1" fontAlgn="auto" latinLnBrk="0" hangingPunct="1">
              <a:lnSpc>
                <a:spcPct val="90000"/>
              </a:lnSpc>
              <a:spcBef>
                <a:spcPts val="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8358" y="761999"/>
            <a:ext cx="7019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Rollover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</a:t>
            </a:r>
            <a:r>
              <a:rPr kumimoji="0" lang="en-US" sz="28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not </a:t>
            </a:r>
            <a:r>
              <a:rPr kumimoji="0" lang="en-US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synonym for</a:t>
            </a:r>
            <a:r>
              <a:rPr kumimoji="0" lang="en-US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overflow!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28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210" y="765929"/>
            <a:ext cx="601154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spc="-10" dirty="0"/>
              <a:t> </a:t>
            </a:r>
            <a:r>
              <a:rPr dirty="0"/>
              <a:t>Causing</a:t>
            </a:r>
            <a:r>
              <a:rPr spc="-5" dirty="0"/>
              <a:t> Overflow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981200"/>
            <a:ext cx="6419850" cy="17081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4488" y="4419601"/>
            <a:ext cx="8653046" cy="1571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9854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822" y="744512"/>
            <a:ext cx="620585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Rollovers</a:t>
            </a:r>
            <a:r>
              <a:rPr spc="-10" dirty="0"/>
              <a:t> </a:t>
            </a:r>
            <a:r>
              <a:rPr dirty="0"/>
              <a:t>Versus</a:t>
            </a:r>
            <a:r>
              <a:rPr spc="-10" dirty="0"/>
              <a:t> </a:t>
            </a:r>
            <a:r>
              <a:rPr spc="-5" dirty="0"/>
              <a:t>Overflows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822" y="1582154"/>
            <a:ext cx="10421978" cy="48397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ummary: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Rollovers, that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do not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result in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are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ok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</a:p>
          <a:p>
            <a:pPr marL="927100" marR="0" lvl="1" indent="-457200" algn="just" defTabSz="914400" rtl="0" eaLnBrk="1" fontAlgn="auto" latinLnBrk="0" hangingPunct="1">
              <a:lnSpc>
                <a:spcPts val="3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(-1 + 1 = 0)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just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occur when you 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some operation, </a:t>
            </a:r>
            <a:b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result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can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not be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represented with that many bits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because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value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too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large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27100" marR="0" lvl="1" indent="-45720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(256 + 1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 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84300" marR="0" lvl="2" indent="-45720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1383665" algn="l"/>
                <a:tab pos="13843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must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handled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16876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4495" y="726504"/>
            <a:ext cx="7656052" cy="439864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468630" marR="5080" indent="-456565">
              <a:lnSpc>
                <a:spcPct val="100499"/>
              </a:lnSpc>
              <a:spcBef>
                <a:spcPts val="70"/>
              </a:spcBef>
            </a:pPr>
            <a:r>
              <a:rPr sz="2800" spc="-5" dirty="0"/>
              <a:t>Example </a:t>
            </a:r>
            <a:r>
              <a:rPr sz="2800" dirty="0"/>
              <a:t>of </a:t>
            </a:r>
            <a:r>
              <a:rPr sz="2800" spc="-5" dirty="0">
                <a:solidFill>
                  <a:srgbClr val="92D050"/>
                </a:solidFill>
              </a:rPr>
              <a:t>Unsigned</a:t>
            </a:r>
            <a:r>
              <a:rPr sz="2800" spc="-5" dirty="0"/>
              <a:t> </a:t>
            </a:r>
            <a:r>
              <a:rPr sz="2800" spc="-5" dirty="0">
                <a:solidFill>
                  <a:srgbClr val="FF0000"/>
                </a:solidFill>
              </a:rPr>
              <a:t>Overflow</a:t>
            </a:r>
            <a:r>
              <a:rPr sz="2800" spc="-5" dirty="0"/>
              <a:t> </a:t>
            </a:r>
            <a:r>
              <a:rPr sz="2800" spc="-980" dirty="0"/>
              <a:t> </a:t>
            </a:r>
            <a:r>
              <a:rPr sz="2800" dirty="0"/>
              <a:t>Using</a:t>
            </a:r>
            <a:r>
              <a:rPr sz="2800" spc="-10" dirty="0"/>
              <a:t> </a:t>
            </a:r>
            <a:r>
              <a:rPr sz="2800" spc="-5" dirty="0"/>
              <a:t>4-bit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3202940" y="1891284"/>
            <a:ext cx="2513965" cy="177800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96850" marR="0" lvl="0" indent="0" algn="l" defTabSz="914400" rtl="0" eaLnBrk="1" fontAlgn="auto" latinLnBrk="0" hangingPunct="1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(12)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  <a:tab pos="214884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+</a:t>
            </a:r>
            <a:r>
              <a:rPr kumimoji="0" lang="en-US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0111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(	7)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288541" y="3532124"/>
            <a:ext cx="5352415" cy="2182495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415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(Result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limited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size)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2987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452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	(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3)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wrong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71800" y="3733801"/>
            <a:ext cx="347980" cy="319405"/>
          </a:xfrm>
          <a:custGeom>
            <a:avLst/>
            <a:gdLst/>
            <a:ahLst/>
            <a:cxnLst/>
            <a:rect l="l" t="t" r="r" b="b"/>
            <a:pathLst>
              <a:path w="347980" h="319404">
                <a:moveTo>
                  <a:pt x="290512" y="290512"/>
                </a:moveTo>
                <a:lnTo>
                  <a:pt x="0" y="290512"/>
                </a:lnTo>
                <a:lnTo>
                  <a:pt x="0" y="319087"/>
                </a:lnTo>
                <a:lnTo>
                  <a:pt x="312690" y="319087"/>
                </a:lnTo>
                <a:lnTo>
                  <a:pt x="319087" y="312690"/>
                </a:lnTo>
                <a:lnTo>
                  <a:pt x="319087" y="304800"/>
                </a:lnTo>
                <a:lnTo>
                  <a:pt x="290512" y="304800"/>
                </a:lnTo>
                <a:lnTo>
                  <a:pt x="290512" y="290512"/>
                </a:lnTo>
                <a:close/>
              </a:path>
              <a:path w="347980" h="319404">
                <a:moveTo>
                  <a:pt x="319087" y="71437"/>
                </a:moveTo>
                <a:lnTo>
                  <a:pt x="290512" y="71437"/>
                </a:lnTo>
                <a:lnTo>
                  <a:pt x="290512" y="304800"/>
                </a:lnTo>
                <a:lnTo>
                  <a:pt x="304800" y="290512"/>
                </a:lnTo>
                <a:lnTo>
                  <a:pt x="319087" y="290512"/>
                </a:lnTo>
                <a:lnTo>
                  <a:pt x="319087" y="71437"/>
                </a:lnTo>
                <a:close/>
              </a:path>
              <a:path w="347980" h="319404">
                <a:moveTo>
                  <a:pt x="319087" y="290512"/>
                </a:moveTo>
                <a:lnTo>
                  <a:pt x="304800" y="290512"/>
                </a:lnTo>
                <a:lnTo>
                  <a:pt x="290512" y="304800"/>
                </a:lnTo>
                <a:lnTo>
                  <a:pt x="319087" y="304800"/>
                </a:lnTo>
                <a:lnTo>
                  <a:pt x="319087" y="290512"/>
                </a:lnTo>
                <a:close/>
              </a:path>
              <a:path w="347980" h="319404">
                <a:moveTo>
                  <a:pt x="304800" y="0"/>
                </a:moveTo>
                <a:lnTo>
                  <a:pt x="261937" y="85725"/>
                </a:lnTo>
                <a:lnTo>
                  <a:pt x="290512" y="85725"/>
                </a:lnTo>
                <a:lnTo>
                  <a:pt x="290512" y="71437"/>
                </a:lnTo>
                <a:lnTo>
                  <a:pt x="340518" y="71437"/>
                </a:lnTo>
                <a:lnTo>
                  <a:pt x="304800" y="0"/>
                </a:lnTo>
                <a:close/>
              </a:path>
              <a:path w="347980" h="319404">
                <a:moveTo>
                  <a:pt x="340518" y="71437"/>
                </a:moveTo>
                <a:lnTo>
                  <a:pt x="319087" y="71437"/>
                </a:lnTo>
                <a:lnTo>
                  <a:pt x="319087" y="85725"/>
                </a:lnTo>
                <a:lnTo>
                  <a:pt x="347662" y="85725"/>
                </a:lnTo>
                <a:lnTo>
                  <a:pt x="340518" y="7143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29000" y="3729037"/>
            <a:ext cx="762000" cy="1529080"/>
            <a:chOff x="1905000" y="3729037"/>
            <a:chExt cx="762000" cy="1529080"/>
          </a:xfrm>
        </p:grpSpPr>
        <p:sp>
          <p:nvSpPr>
            <p:cNvPr id="7" name="object 7"/>
            <p:cNvSpPr/>
            <p:nvPr/>
          </p:nvSpPr>
          <p:spPr>
            <a:xfrm>
              <a:off x="1905000" y="3733800"/>
              <a:ext cx="762000" cy="0"/>
            </a:xfrm>
            <a:custGeom>
              <a:avLst/>
              <a:gdLst/>
              <a:ahLst/>
              <a:cxnLst/>
              <a:rect l="l" t="t" r="r" b="b"/>
              <a:pathLst>
                <a:path w="762000">
                  <a:moveTo>
                    <a:pt x="0" y="0"/>
                  </a:moveTo>
                  <a:lnTo>
                    <a:pt x="762000" y="1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2243138" y="3733800"/>
              <a:ext cx="85725" cy="1524000"/>
            </a:xfrm>
            <a:custGeom>
              <a:avLst/>
              <a:gdLst/>
              <a:ahLst/>
              <a:cxnLst/>
              <a:rect l="l" t="t" r="r" b="b"/>
              <a:pathLst>
                <a:path w="85725" h="1524000">
                  <a:moveTo>
                    <a:pt x="28574" y="1438275"/>
                  </a:moveTo>
                  <a:lnTo>
                    <a:pt x="0" y="1438275"/>
                  </a:lnTo>
                  <a:lnTo>
                    <a:pt x="42862" y="1524000"/>
                  </a:lnTo>
                  <a:lnTo>
                    <a:pt x="78581" y="1452562"/>
                  </a:lnTo>
                  <a:lnTo>
                    <a:pt x="28575" y="1452562"/>
                  </a:lnTo>
                  <a:lnTo>
                    <a:pt x="28574" y="1438275"/>
                  </a:lnTo>
                  <a:close/>
                </a:path>
                <a:path w="85725" h="1524000">
                  <a:moveTo>
                    <a:pt x="57148" y="0"/>
                  </a:moveTo>
                  <a:lnTo>
                    <a:pt x="28573" y="0"/>
                  </a:lnTo>
                  <a:lnTo>
                    <a:pt x="28575" y="1452562"/>
                  </a:lnTo>
                  <a:lnTo>
                    <a:pt x="57150" y="1452562"/>
                  </a:lnTo>
                  <a:lnTo>
                    <a:pt x="57148" y="0"/>
                  </a:lnTo>
                  <a:close/>
                </a:path>
                <a:path w="85725" h="1524000">
                  <a:moveTo>
                    <a:pt x="85725" y="1438275"/>
                  </a:moveTo>
                  <a:lnTo>
                    <a:pt x="57149" y="1438275"/>
                  </a:lnTo>
                  <a:lnTo>
                    <a:pt x="57150" y="1452562"/>
                  </a:lnTo>
                  <a:lnTo>
                    <a:pt x="78581" y="1452562"/>
                  </a:lnTo>
                  <a:lnTo>
                    <a:pt x="85725" y="14382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05728" y="2051304"/>
            <a:ext cx="4447032" cy="148082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506528" y="1986788"/>
            <a:ext cx="3522345" cy="1112484"/>
          </a:xfrm>
          <a:prstGeom prst="rect">
            <a:avLst/>
          </a:prstGeom>
        </p:spPr>
        <p:txBody>
          <a:bodyPr vert="horz" wrap="square" lIns="0" tIns="19240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14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19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17191132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866" y="767634"/>
            <a:ext cx="8006597" cy="50141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61925" marR="5080" indent="-149225">
              <a:lnSpc>
                <a:spcPct val="100499"/>
              </a:lnSpc>
              <a:spcBef>
                <a:spcPts val="70"/>
              </a:spcBef>
            </a:pPr>
            <a:r>
              <a:rPr sz="3200" spc="-5" dirty="0"/>
              <a:t>Example </a:t>
            </a:r>
            <a:r>
              <a:rPr sz="3200" dirty="0"/>
              <a:t>of </a:t>
            </a:r>
            <a:r>
              <a:rPr sz="3200" dirty="0">
                <a:solidFill>
                  <a:srgbClr val="FF0000"/>
                </a:solidFill>
              </a:rPr>
              <a:t>Signed</a:t>
            </a:r>
            <a:r>
              <a:rPr sz="3200" dirty="0"/>
              <a:t> </a:t>
            </a:r>
            <a:r>
              <a:rPr sz="3200" spc="-5" dirty="0"/>
              <a:t>Overflow </a:t>
            </a:r>
            <a:r>
              <a:rPr sz="3200" spc="-980" dirty="0"/>
              <a:t> </a:t>
            </a:r>
            <a:r>
              <a:rPr sz="3200" dirty="0"/>
              <a:t>Using</a:t>
            </a:r>
            <a:r>
              <a:rPr sz="3200" spc="-20" dirty="0"/>
              <a:t> </a:t>
            </a:r>
            <a:r>
              <a:rPr sz="3200" spc="-5" dirty="0"/>
              <a:t>8-bit</a:t>
            </a:r>
            <a:endParaRPr sz="3200" dirty="0"/>
          </a:p>
        </p:txBody>
      </p:sp>
      <p:sp>
        <p:nvSpPr>
          <p:cNvPr id="3" name="object 3"/>
          <p:cNvSpPr/>
          <p:nvPr/>
        </p:nvSpPr>
        <p:spPr>
          <a:xfrm>
            <a:off x="4019009" y="5861719"/>
            <a:ext cx="2519680" cy="0"/>
          </a:xfrm>
          <a:custGeom>
            <a:avLst/>
            <a:gdLst/>
            <a:ahLst/>
            <a:cxnLst/>
            <a:rect l="l" t="t" r="r" b="b"/>
            <a:pathLst>
              <a:path w="2519679">
                <a:moveTo>
                  <a:pt x="0" y="0"/>
                </a:moveTo>
                <a:lnTo>
                  <a:pt x="2519071" y="0"/>
                </a:lnTo>
              </a:path>
            </a:pathLst>
          </a:custGeom>
          <a:ln w="23825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373" y="1601694"/>
            <a:ext cx="7578725" cy="485457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impossible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have different 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subtracting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same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ts val="3479"/>
              </a:lnSpc>
              <a:spcBef>
                <a:spcPts val="76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occurs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r>
              <a:rPr kumimoji="0" sz="3200" b="0" i="0" u="none" strike="noStrike" kern="1200" cap="none" spc="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extends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position: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1261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(127)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</a:p>
          <a:p>
            <a:pPr marL="311277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9149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(0)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0000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(-128)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79211" y="4058112"/>
            <a:ext cx="1983105" cy="636905"/>
          </a:xfrm>
          <a:custGeom>
            <a:avLst/>
            <a:gdLst/>
            <a:ahLst/>
            <a:cxnLst/>
            <a:rect l="l" t="t" r="r" b="b"/>
            <a:pathLst>
              <a:path w="1983104" h="636904">
                <a:moveTo>
                  <a:pt x="70083" y="541199"/>
                </a:moveTo>
                <a:lnTo>
                  <a:pt x="67071" y="541323"/>
                </a:lnTo>
                <a:lnTo>
                  <a:pt x="0" y="614158"/>
                </a:lnTo>
                <a:lnTo>
                  <a:pt x="96414" y="636689"/>
                </a:lnTo>
                <a:lnTo>
                  <a:pt x="98976" y="635097"/>
                </a:lnTo>
                <a:lnTo>
                  <a:pt x="100172" y="629975"/>
                </a:lnTo>
                <a:lnTo>
                  <a:pt x="98581" y="627414"/>
                </a:lnTo>
                <a:lnTo>
                  <a:pt x="49442" y="615930"/>
                </a:lnTo>
                <a:lnTo>
                  <a:pt x="10431" y="615930"/>
                </a:lnTo>
                <a:lnTo>
                  <a:pt x="7631" y="606827"/>
                </a:lnTo>
                <a:lnTo>
                  <a:pt x="24470" y="601646"/>
                </a:lnTo>
                <a:lnTo>
                  <a:pt x="74077" y="547776"/>
                </a:lnTo>
                <a:lnTo>
                  <a:pt x="73953" y="544762"/>
                </a:lnTo>
                <a:lnTo>
                  <a:pt x="70083" y="541199"/>
                </a:lnTo>
                <a:close/>
              </a:path>
              <a:path w="1983104" h="636904">
                <a:moveTo>
                  <a:pt x="24470" y="601646"/>
                </a:moveTo>
                <a:lnTo>
                  <a:pt x="7631" y="606827"/>
                </a:lnTo>
                <a:lnTo>
                  <a:pt x="10431" y="615930"/>
                </a:lnTo>
                <a:lnTo>
                  <a:pt x="14740" y="614605"/>
                </a:lnTo>
                <a:lnTo>
                  <a:pt x="12537" y="614605"/>
                </a:lnTo>
                <a:lnTo>
                  <a:pt x="10118" y="606741"/>
                </a:lnTo>
                <a:lnTo>
                  <a:pt x="19778" y="606741"/>
                </a:lnTo>
                <a:lnTo>
                  <a:pt x="24470" y="601646"/>
                </a:lnTo>
                <a:close/>
              </a:path>
              <a:path w="1983104" h="636904">
                <a:moveTo>
                  <a:pt x="27270" y="610749"/>
                </a:moveTo>
                <a:lnTo>
                  <a:pt x="10431" y="615930"/>
                </a:lnTo>
                <a:lnTo>
                  <a:pt x="49442" y="615930"/>
                </a:lnTo>
                <a:lnTo>
                  <a:pt x="27270" y="610749"/>
                </a:lnTo>
                <a:close/>
              </a:path>
              <a:path w="1983104" h="636904">
                <a:moveTo>
                  <a:pt x="10118" y="606741"/>
                </a:moveTo>
                <a:lnTo>
                  <a:pt x="12537" y="614605"/>
                </a:lnTo>
                <a:lnTo>
                  <a:pt x="18068" y="608599"/>
                </a:lnTo>
                <a:lnTo>
                  <a:pt x="10118" y="606741"/>
                </a:lnTo>
                <a:close/>
              </a:path>
              <a:path w="1983104" h="636904">
                <a:moveTo>
                  <a:pt x="18068" y="608599"/>
                </a:moveTo>
                <a:lnTo>
                  <a:pt x="12537" y="614605"/>
                </a:lnTo>
                <a:lnTo>
                  <a:pt x="14740" y="614605"/>
                </a:lnTo>
                <a:lnTo>
                  <a:pt x="27270" y="610749"/>
                </a:lnTo>
                <a:lnTo>
                  <a:pt x="18068" y="608599"/>
                </a:lnTo>
                <a:close/>
              </a:path>
              <a:path w="1983104" h="636904">
                <a:moveTo>
                  <a:pt x="1979820" y="0"/>
                </a:moveTo>
                <a:lnTo>
                  <a:pt x="24470" y="601646"/>
                </a:lnTo>
                <a:lnTo>
                  <a:pt x="18068" y="608599"/>
                </a:lnTo>
                <a:lnTo>
                  <a:pt x="27270" y="610749"/>
                </a:lnTo>
                <a:lnTo>
                  <a:pt x="1982622" y="9103"/>
                </a:lnTo>
                <a:lnTo>
                  <a:pt x="1979820" y="0"/>
                </a:lnTo>
                <a:close/>
              </a:path>
              <a:path w="1983104" h="636904">
                <a:moveTo>
                  <a:pt x="19778" y="606741"/>
                </a:moveTo>
                <a:lnTo>
                  <a:pt x="10118" y="606741"/>
                </a:lnTo>
                <a:lnTo>
                  <a:pt x="18068" y="608599"/>
                </a:lnTo>
                <a:lnTo>
                  <a:pt x="19778" y="6067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45384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sz="2400" dirty="0"/>
              <a:t>Another</a:t>
            </a:r>
            <a:r>
              <a:rPr sz="2400" spc="5" dirty="0"/>
              <a:t> </a:t>
            </a:r>
            <a:r>
              <a:rPr sz="2400" spc="-5" dirty="0"/>
              <a:t>Example</a:t>
            </a:r>
            <a:r>
              <a:rPr sz="2400" dirty="0"/>
              <a:t> of</a:t>
            </a:r>
            <a:r>
              <a:rPr sz="2400" spc="-10" dirty="0"/>
              <a:t> </a:t>
            </a:r>
            <a:r>
              <a:rPr sz="2400" spc="-5" dirty="0">
                <a:solidFill>
                  <a:srgbClr val="FF0000"/>
                </a:solidFill>
              </a:rPr>
              <a:t>Signed</a:t>
            </a:r>
            <a:r>
              <a:rPr sz="2400" dirty="0"/>
              <a:t> </a:t>
            </a:r>
            <a:r>
              <a:rPr sz="2400" spc="-5" dirty="0">
                <a:solidFill>
                  <a:srgbClr val="FF0000"/>
                </a:solidFill>
              </a:rPr>
              <a:t>Overflow</a:t>
            </a:r>
            <a:r>
              <a:rPr sz="2400" spc="-5" dirty="0"/>
              <a:t> </a:t>
            </a:r>
            <a:r>
              <a:rPr sz="2400" spc="-980" dirty="0"/>
              <a:t> </a:t>
            </a:r>
            <a:r>
              <a:rPr sz="2400" dirty="0"/>
              <a:t>Using</a:t>
            </a:r>
            <a:r>
              <a:rPr sz="2400" spc="-5" dirty="0"/>
              <a:t> 8-bit</a:t>
            </a:r>
            <a:endParaRPr sz="2400" dirty="0"/>
          </a:p>
        </p:txBody>
      </p:sp>
      <p:sp>
        <p:nvSpPr>
          <p:cNvPr id="3" name="object 3"/>
          <p:cNvSpPr txBox="1"/>
          <p:nvPr/>
        </p:nvSpPr>
        <p:spPr>
          <a:xfrm>
            <a:off x="2150182" y="1909840"/>
            <a:ext cx="3611879" cy="1970405"/>
          </a:xfrm>
          <a:prstGeom prst="rect">
            <a:avLst/>
          </a:prstGeom>
        </p:spPr>
        <p:txBody>
          <a:bodyPr vert="horz" wrap="square" lIns="0" tIns="234950" rIns="0" bIns="0" rtlCol="0">
            <a:spAutoFit/>
          </a:bodyPr>
          <a:lstStyle/>
          <a:p>
            <a:pPr marL="926465" marR="0" lvl="0" indent="0" algn="ctr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30120" algn="l"/>
                <a:tab pos="315531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-120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</a:p>
          <a:p>
            <a:pPr marL="0" marR="1640205" lvl="0" indent="0" algn="r" defTabSz="914400" rtl="0" eaLnBrk="1" fontAlgn="auto" latinLnBrk="0" hangingPunct="1">
              <a:lnSpc>
                <a:spcPct val="100000"/>
              </a:lnSpc>
              <a:spcBef>
                <a:spcPts val="1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-17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1691005" lvl="0" indent="0" algn="r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sum:</a:t>
            </a:r>
            <a:r>
              <a:rPr kumimoji="0" sz="2800" b="0" i="0" u="none" strike="noStrike" kern="1200" cap="none" spc="-8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-137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12581" y="1940320"/>
            <a:ext cx="2805430" cy="1939925"/>
          </a:xfrm>
          <a:prstGeom prst="rect">
            <a:avLst/>
          </a:prstGeom>
        </p:spPr>
        <p:txBody>
          <a:bodyPr vert="horz" wrap="square" lIns="0" tIns="219710" rIns="0" bIns="0" rtlCol="0">
            <a:spAutoFit/>
          </a:bodyPr>
          <a:lstStyle/>
          <a:p>
            <a:pPr marL="606425" marR="0" lvl="0" indent="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0761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>
                <a:tab pos="605790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1110</a:t>
            </a:r>
            <a:r>
              <a:rPr kumimoji="0" lang="en-US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1)</a:t>
            </a:r>
            <a:r>
              <a:rPr kumimoji="0" sz="2800" b="0" i="0" u="none" strike="noStrike" kern="1200" cap="none" spc="-8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9881" y="4494543"/>
            <a:ext cx="4008120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64689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(keep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1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(+119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wrong</a:t>
            </a:r>
            <a:r>
              <a:rPr kumimoji="0" sz="28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result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6763023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0172162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1253</TotalTime>
  <Words>4946</Words>
  <Application>Microsoft Office PowerPoint</Application>
  <PresentationFormat>Widescreen</PresentationFormat>
  <Paragraphs>1325</Paragraphs>
  <Slides>97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97</vt:i4>
      </vt:variant>
    </vt:vector>
  </HeadingPairs>
  <TitlesOfParts>
    <vt:vector size="111" baseType="lpstr">
      <vt:lpstr>Arial</vt:lpstr>
      <vt:lpstr>Arial MT</vt:lpstr>
      <vt:lpstr>Arial Narrow</vt:lpstr>
      <vt:lpstr>Calibri</vt:lpstr>
      <vt:lpstr>Cambria Math</vt:lpstr>
      <vt:lpstr>Consolas</vt:lpstr>
      <vt:lpstr>Garamond</vt:lpstr>
      <vt:lpstr>Symbol</vt:lpstr>
      <vt:lpstr>Tahoma</vt:lpstr>
      <vt:lpstr>Times New Roman</vt:lpstr>
      <vt:lpstr>Wingdings</vt:lpstr>
      <vt:lpstr>SCUTemplate</vt:lpstr>
      <vt:lpstr>Custom Design</vt:lpstr>
      <vt:lpstr>1_SCUTemplate</vt:lpstr>
      <vt:lpstr>CSEN20</vt:lpstr>
      <vt:lpstr>Chapter 2 Binary Number Systems</vt:lpstr>
      <vt:lpstr>Kinds Of Data</vt:lpstr>
      <vt:lpstr>Number Representation</vt:lpstr>
      <vt:lpstr>Number Representation</vt:lpstr>
      <vt:lpstr>Number Representation</vt:lpstr>
      <vt:lpstr>Sign-and-Magnitude  Representation</vt:lpstr>
      <vt:lpstr>2’s Complement Representation</vt:lpstr>
      <vt:lpstr>… to here …</vt:lpstr>
      <vt:lpstr>Why Not Sign + Magnitude?</vt:lpstr>
      <vt:lpstr>Why 2’s Complement?</vt:lpstr>
      <vt:lpstr>Why Not Sign+Magnitude?</vt:lpstr>
      <vt:lpstr>Chapter 2 Binary Number Systems</vt:lpstr>
      <vt:lpstr>Symbols and their values used in positional number systems</vt:lpstr>
      <vt:lpstr>Positional Number Systems</vt:lpstr>
      <vt:lpstr>POLYNOMIAL EVALUATION</vt:lpstr>
      <vt:lpstr>Polynomial Evaluation</vt:lpstr>
      <vt:lpstr>POLYNOMIAL EVALUATION</vt:lpstr>
      <vt:lpstr>Examples</vt:lpstr>
      <vt:lpstr>Converting from ANY Radix to Decimal</vt:lpstr>
      <vt:lpstr>CONVERT BINARY TO DECIMAL (Using Polynomial Evaluation)</vt:lpstr>
      <vt:lpstr>EXTENDING POLYNOMIAL EVALUATION TO NUMBERS WITH A FRACTIONAL PART</vt:lpstr>
      <vt:lpstr>PowerPoint Presentation</vt:lpstr>
      <vt:lpstr>AN EASIER METHOD</vt:lpstr>
      <vt:lpstr>Converting Fractions</vt:lpstr>
      <vt:lpstr>Representation Error</vt:lpstr>
      <vt:lpstr>Group Work</vt:lpstr>
      <vt:lpstr>Group Work</vt:lpstr>
      <vt:lpstr>Chapter 2 Binary Number Systems</vt:lpstr>
      <vt:lpstr>Decimal to Binary Conversion</vt:lpstr>
      <vt:lpstr>UNSIGNED DECIMAL TO BINARY CONVERSION</vt:lpstr>
      <vt:lpstr>UNSIGNED DECIMAL TO BINARY Method 1: Integer Part (Repeated Division)</vt:lpstr>
      <vt:lpstr>UNSIGNED DECIMAL TO BINARY Method 1: Fractional Part (Repeated Multiplication)</vt:lpstr>
      <vt:lpstr>Decimal to Binary Conversion (Whole Part: Repeated Division)</vt:lpstr>
      <vt:lpstr>Decimal to Binary Conversion (Fractional Part: Repeated Multiplication)</vt:lpstr>
      <vt:lpstr>Decimal to Binary Conversion (Fractional Part: Repeated Multiplication)</vt:lpstr>
      <vt:lpstr>Group Work</vt:lpstr>
      <vt:lpstr>Group Work</vt:lpstr>
      <vt:lpstr>Chapter 2 Binary Number Systems</vt:lpstr>
      <vt:lpstr>Two Interpretations</vt:lpstr>
      <vt:lpstr>Changing the Signs</vt:lpstr>
      <vt:lpstr>Easier Hand Method (example 1)</vt:lpstr>
      <vt:lpstr>Easier Hand Method (example 2)</vt:lpstr>
      <vt:lpstr>Representation Width</vt:lpstr>
      <vt:lpstr>PowerPoint Presentation</vt:lpstr>
      <vt:lpstr>PowerPoint Presentation</vt:lpstr>
      <vt:lpstr>Finding 2’s complement of fraction  numbers</vt:lpstr>
      <vt:lpstr>CONVERTING SIGNED DECIMAL TO TWO’S COMPLEMENT</vt:lpstr>
      <vt:lpstr>CONVERTING SIGNED DECIMAL TO TWO’S COMPLEMENT</vt:lpstr>
      <vt:lpstr>PowerPoint Presentation</vt:lpstr>
      <vt:lpstr>Changing the Sign of a Two’s Complement Number (Method 1)</vt:lpstr>
      <vt:lpstr>Changing the Sign of a Two’s Complement Number (Method 2)</vt:lpstr>
      <vt:lpstr>Chapter 2 Binary Number Systems</vt:lpstr>
      <vt:lpstr>Hex</vt:lpstr>
      <vt:lpstr>MOTIVATION</vt:lpstr>
      <vt:lpstr>MOTIVATION</vt:lpstr>
      <vt:lpstr>Hexadecimal Numbers  (Radix = 16)</vt:lpstr>
      <vt:lpstr>Hex/Binary Table</vt:lpstr>
      <vt:lpstr>Binary to Hex Conversions</vt:lpstr>
      <vt:lpstr>Example: Binary to Hex</vt:lpstr>
      <vt:lpstr>Example: Hex to Binary</vt:lpstr>
      <vt:lpstr>Example: 110101.0101012 to Hex</vt:lpstr>
      <vt:lpstr>Example: 110101.0101012 to Hex</vt:lpstr>
      <vt:lpstr>Octal</vt:lpstr>
      <vt:lpstr>Octal/Binary Table</vt:lpstr>
      <vt:lpstr>Converting Octal (Base 8) to Hex</vt:lpstr>
      <vt:lpstr>Converting Octal (Base 8) to Hex</vt:lpstr>
      <vt:lpstr>Converting Octal (Base 8) to Hex</vt:lpstr>
      <vt:lpstr>Converting Octal (Base 8) to Hex</vt:lpstr>
      <vt:lpstr>Convert 21.348 to Binary</vt:lpstr>
      <vt:lpstr>Convert AB.CD16 to base 8</vt:lpstr>
      <vt:lpstr>Convert FA.CE16 to base 8</vt:lpstr>
      <vt:lpstr>Chapter 2 Binary Number Systems</vt:lpstr>
      <vt:lpstr>Convert unsigned 256 to decimal</vt:lpstr>
      <vt:lpstr>Convert unsigned 2510 to base 7</vt:lpstr>
      <vt:lpstr>Convert unsigned .310 to base 7</vt:lpstr>
      <vt:lpstr>Converting -25.7510 to 2’s Comp.</vt:lpstr>
      <vt:lpstr>Convert -75.7510 to 2’s complement</vt:lpstr>
      <vt:lpstr>Convert -75.7510 to 2’s complement</vt:lpstr>
      <vt:lpstr>Convert 2’s Comp. 1001.01102 to decimal</vt:lpstr>
      <vt:lpstr>Convert 2’s Comp. 1001.01102 to decimal</vt:lpstr>
      <vt:lpstr>Review Problems</vt:lpstr>
      <vt:lpstr>Convert -75.7510 to 2’s complement</vt:lpstr>
      <vt:lpstr>Convert 2’s Comp. 1001.01102 to decimal</vt:lpstr>
      <vt:lpstr>Practice Problems: NR1NR2</vt:lpstr>
      <vt:lpstr>Chapter 2 Binary Number Systems</vt:lpstr>
      <vt:lpstr>Question:</vt:lpstr>
      <vt:lpstr>Rollover</vt:lpstr>
      <vt:lpstr>Rollover in Unsigned Binary</vt:lpstr>
      <vt:lpstr>Rollover in Signed Binary</vt:lpstr>
      <vt:lpstr>PowerPoint Presentation</vt:lpstr>
      <vt:lpstr>Rollover Causing Overflow</vt:lpstr>
      <vt:lpstr>Rollovers Versus Overflows</vt:lpstr>
      <vt:lpstr>Example of Unsigned Overflow  Using 4-bit</vt:lpstr>
      <vt:lpstr>Example of Signed Overflow  Using 8-bit</vt:lpstr>
      <vt:lpstr>Another Example of Signed Overflow  Using 8-bit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221</cp:revision>
  <cp:lastPrinted>2024-01-05T18:52:18Z</cp:lastPrinted>
  <dcterms:created xsi:type="dcterms:W3CDTF">2023-09-09T19:51:41Z</dcterms:created>
  <dcterms:modified xsi:type="dcterms:W3CDTF">2026-09-23T19:50:49Z</dcterms:modified>
</cp:coreProperties>
</file>