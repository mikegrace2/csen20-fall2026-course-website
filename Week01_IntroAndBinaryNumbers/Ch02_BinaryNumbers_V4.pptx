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1"/>
  </p:notesMasterIdLst>
  <p:handoutMasterIdLst>
    <p:handoutMasterId r:id="rId102"/>
  </p:handoutMasterIdLst>
  <p:sldIdLst>
    <p:sldId id="333" r:id="rId4"/>
    <p:sldId id="334" r:id="rId5"/>
    <p:sldId id="335" r:id="rId6"/>
    <p:sldId id="336" r:id="rId7"/>
    <p:sldId id="468" r:id="rId8"/>
    <p:sldId id="469" r:id="rId9"/>
    <p:sldId id="509" r:id="rId10"/>
    <p:sldId id="510" r:id="rId11"/>
    <p:sldId id="337" r:id="rId12"/>
    <p:sldId id="338" r:id="rId13"/>
    <p:sldId id="339" r:id="rId14"/>
    <p:sldId id="340" r:id="rId15"/>
    <p:sldId id="341" r:id="rId16"/>
    <p:sldId id="342" r:id="rId17"/>
    <p:sldId id="344" r:id="rId18"/>
    <p:sldId id="343" r:id="rId19"/>
    <p:sldId id="346" r:id="rId20"/>
    <p:sldId id="345" r:id="rId21"/>
    <p:sldId id="347" r:id="rId22"/>
    <p:sldId id="458" r:id="rId23"/>
    <p:sldId id="348" r:id="rId24"/>
    <p:sldId id="349" r:id="rId25"/>
    <p:sldId id="350" r:id="rId26"/>
    <p:sldId id="467" r:id="rId27"/>
    <p:sldId id="351" r:id="rId28"/>
    <p:sldId id="352" r:id="rId29"/>
    <p:sldId id="353" r:id="rId30"/>
    <p:sldId id="354" r:id="rId31"/>
    <p:sldId id="470" r:id="rId32"/>
    <p:sldId id="355" r:id="rId33"/>
    <p:sldId id="356" r:id="rId34"/>
    <p:sldId id="357" r:id="rId35"/>
    <p:sldId id="360" r:id="rId36"/>
    <p:sldId id="369" r:id="rId37"/>
    <p:sldId id="362" r:id="rId38"/>
    <p:sldId id="371" r:id="rId39"/>
    <p:sldId id="370" r:id="rId40"/>
    <p:sldId id="372" r:id="rId41"/>
    <p:sldId id="490" r:id="rId42"/>
    <p:sldId id="386" r:id="rId43"/>
    <p:sldId id="387" r:id="rId44"/>
    <p:sldId id="388" r:id="rId45"/>
    <p:sldId id="389" r:id="rId46"/>
    <p:sldId id="390" r:id="rId47"/>
    <p:sldId id="447" r:id="rId48"/>
    <p:sldId id="395" r:id="rId49"/>
    <p:sldId id="400" r:id="rId50"/>
    <p:sldId id="401" r:id="rId51"/>
    <p:sldId id="453" r:id="rId52"/>
    <p:sldId id="454" r:id="rId53"/>
    <p:sldId id="397" r:id="rId54"/>
    <p:sldId id="489" r:id="rId55"/>
    <p:sldId id="471" r:id="rId56"/>
    <p:sldId id="472" r:id="rId57"/>
    <p:sldId id="473" r:id="rId58"/>
    <p:sldId id="474" r:id="rId59"/>
    <p:sldId id="475" r:id="rId60"/>
    <p:sldId id="476" r:id="rId61"/>
    <p:sldId id="477" r:id="rId62"/>
    <p:sldId id="478" r:id="rId63"/>
    <p:sldId id="480" r:id="rId64"/>
    <p:sldId id="481" r:id="rId65"/>
    <p:sldId id="482" r:id="rId66"/>
    <p:sldId id="483" r:id="rId67"/>
    <p:sldId id="484" r:id="rId68"/>
    <p:sldId id="503" r:id="rId69"/>
    <p:sldId id="486" r:id="rId70"/>
    <p:sldId id="485" r:id="rId71"/>
    <p:sldId id="502" r:id="rId72"/>
    <p:sldId id="487" r:id="rId73"/>
    <p:sldId id="488" r:id="rId74"/>
    <p:sldId id="407" r:id="rId75"/>
    <p:sldId id="408" r:id="rId76"/>
    <p:sldId id="409" r:id="rId77"/>
    <p:sldId id="410" r:id="rId78"/>
    <p:sldId id="455" r:id="rId79"/>
    <p:sldId id="412" r:id="rId80"/>
    <p:sldId id="413" r:id="rId81"/>
    <p:sldId id="414" r:id="rId82"/>
    <p:sldId id="415" r:id="rId83"/>
    <p:sldId id="462" r:id="rId84"/>
    <p:sldId id="445" r:id="rId85"/>
    <p:sldId id="446" r:id="rId86"/>
    <p:sldId id="456" r:id="rId87"/>
    <p:sldId id="491" r:id="rId88"/>
    <p:sldId id="492" r:id="rId89"/>
    <p:sldId id="493" r:id="rId90"/>
    <p:sldId id="494" r:id="rId91"/>
    <p:sldId id="495" r:id="rId92"/>
    <p:sldId id="496" r:id="rId93"/>
    <p:sldId id="448" r:id="rId94"/>
    <p:sldId id="498" r:id="rId95"/>
    <p:sldId id="499" r:id="rId96"/>
    <p:sldId id="500" r:id="rId97"/>
    <p:sldId id="501" r:id="rId98"/>
    <p:sldId id="511" r:id="rId99"/>
    <p:sldId id="512" r:id="rId10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DA60-7421-2EC8-0EE7-3936D79F4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6E5-6306-C23D-CF7F-8C8F488C3D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2270366"/>
            <a:ext cx="10555357" cy="2317267"/>
          </a:xfrm>
        </p:spPr>
        <p:txBody>
          <a:bodyPr/>
          <a:lstStyle/>
          <a:p>
            <a:r>
              <a:rPr lang="en-US" dirty="0"/>
              <a:t>Sign-and-Magnitude </a:t>
            </a:r>
            <a:br>
              <a:rPr lang="en-US" dirty="0"/>
            </a:br>
            <a:r>
              <a:rPr lang="en-US" dirty="0"/>
              <a:t>vs</a:t>
            </a:r>
            <a:br>
              <a:rPr lang="en-US" dirty="0"/>
            </a:br>
            <a:r>
              <a:rPr lang="en-US" spc="-5" dirty="0"/>
              <a:t>2’s</a:t>
            </a:r>
            <a:r>
              <a:rPr lang="en-US" spc="5" dirty="0"/>
              <a:t> </a:t>
            </a:r>
            <a:r>
              <a:rPr lang="en-US" spc="-5" dirty="0"/>
              <a:t>Complement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222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26789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… to here …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8DA8F-0B66-1C3D-2214-F8501C9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5A5C6D2-05EE-7C39-B521-C8D37E6422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lang="en-US" sz="2400" dirty="0"/>
              <a:t>Summary</a:t>
            </a:r>
            <a:endParaRPr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9045AC-016B-53FC-EE44-93D785792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56165"/>
              </p:ext>
            </p:extLst>
          </p:nvPr>
        </p:nvGraphicFramePr>
        <p:xfrm>
          <a:off x="940527" y="1297072"/>
          <a:ext cx="10417284" cy="24122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4321">
                  <a:extLst>
                    <a:ext uri="{9D8B030D-6E8A-4147-A177-3AD203B41FA5}">
                      <a16:colId xmlns:a16="http://schemas.microsoft.com/office/drawing/2014/main" val="1038356411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122443980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674457846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3729601209"/>
                    </a:ext>
                  </a:extLst>
                </a:gridCol>
              </a:tblGrid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Situation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Result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Flag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642679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255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Carry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916510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overflow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726132"/>
                  </a:ext>
                </a:extLst>
              </a:tr>
              <a:tr h="73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underflow/rollover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Carry/borrow indication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0437437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underflow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873089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F47D501-A56E-AA0A-BEFF-D798690BDFDE}"/>
              </a:ext>
            </a:extLst>
          </p:cNvPr>
          <p:cNvSpPr txBox="1"/>
          <p:nvPr/>
        </p:nvSpPr>
        <p:spPr>
          <a:xfrm>
            <a:off x="940527" y="4001799"/>
            <a:ext cx="104172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Rollover is what the bits do. Overflow is what the signed interpretation tells you happened.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same binary operation:</a:t>
            </a:r>
          </a:p>
          <a:p>
            <a:r>
              <a:rPr lang="en-US" dirty="0"/>
              <a:t>01111111 + 00000001 = 10000000</a:t>
            </a:r>
          </a:p>
          <a:p>
            <a:endParaRPr lang="en-US" dirty="0"/>
          </a:p>
          <a:p>
            <a:r>
              <a:rPr lang="en-US" dirty="0"/>
              <a:t>Can be interpreted as: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Unsigned:</a:t>
            </a:r>
            <a:r>
              <a:rPr lang="en-US" dirty="0"/>
              <a:t> 127 + 1 = 128 → perfectly valid, </a:t>
            </a: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b="1" dirty="0"/>
              <a:t> unsigned overflow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Signed:</a:t>
            </a:r>
            <a:r>
              <a:rPr lang="en-US" dirty="0"/>
              <a:t>     127 + 1 = 128 → would be </a:t>
            </a:r>
            <a:r>
              <a:rPr lang="en-US" b="1" dirty="0">
                <a:solidFill>
                  <a:srgbClr val="FF0000"/>
                </a:solidFill>
              </a:rPr>
              <a:t>-1</a:t>
            </a:r>
            <a:r>
              <a:rPr lang="en-US" dirty="0"/>
              <a:t> (in 8-bit signed → </a:t>
            </a:r>
            <a:r>
              <a:rPr lang="en-US" b="1" dirty="0"/>
              <a:t>overflow)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38342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C41D-BF70-812D-3832-1DC06CDE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FD3F-A590-7EDB-A656-2E5A672D8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50745026-6E69-CC26-A1C9-571986FBFBA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7399574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1349</TotalTime>
  <Words>4886</Words>
  <Application>Microsoft Office PowerPoint</Application>
  <PresentationFormat>Widescreen</PresentationFormat>
  <Paragraphs>1334</Paragraphs>
  <Slides>97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97</vt:i4>
      </vt:variant>
    </vt:vector>
  </HeadingPairs>
  <TitlesOfParts>
    <vt:vector size="111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… to here …</vt:lpstr>
      <vt:lpstr>Sign-and-Magnitude  vs 2’s Complement</vt:lpstr>
      <vt:lpstr>Sign-and-Magnitude  Representation</vt:lpstr>
      <vt:lpstr>2’s Complement Representation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Decimal to Binary Conversion (Whole Part: Repeated Division)</vt:lpstr>
      <vt:lpstr>UNSIGNED DECIMAL TO BINARY Method 1: Fractional Part (Repeated Multiplication)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… to here …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Summary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223</cp:revision>
  <cp:lastPrinted>2024-01-05T18:52:18Z</cp:lastPrinted>
  <dcterms:created xsi:type="dcterms:W3CDTF">2023-09-09T19:51:41Z</dcterms:created>
  <dcterms:modified xsi:type="dcterms:W3CDTF">2026-09-28T19:55:43Z</dcterms:modified>
</cp:coreProperties>
</file>