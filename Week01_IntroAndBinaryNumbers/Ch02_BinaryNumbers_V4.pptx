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7" r:id="rId3"/>
  </p:sldMasterIdLst>
  <p:notesMasterIdLst>
    <p:notesMasterId r:id="rId100"/>
  </p:notesMasterIdLst>
  <p:handoutMasterIdLst>
    <p:handoutMasterId r:id="rId101"/>
  </p:handoutMasterIdLst>
  <p:sldIdLst>
    <p:sldId id="333" r:id="rId4"/>
    <p:sldId id="334" r:id="rId5"/>
    <p:sldId id="335" r:id="rId6"/>
    <p:sldId id="336" r:id="rId7"/>
    <p:sldId id="468" r:id="rId8"/>
    <p:sldId id="469" r:id="rId9"/>
    <p:sldId id="510" r:id="rId10"/>
    <p:sldId id="337" r:id="rId11"/>
    <p:sldId id="338" r:id="rId12"/>
    <p:sldId id="339" r:id="rId13"/>
    <p:sldId id="340" r:id="rId14"/>
    <p:sldId id="341" r:id="rId15"/>
    <p:sldId id="342" r:id="rId16"/>
    <p:sldId id="344" r:id="rId17"/>
    <p:sldId id="343" r:id="rId18"/>
    <p:sldId id="346" r:id="rId19"/>
    <p:sldId id="345" r:id="rId20"/>
    <p:sldId id="347" r:id="rId21"/>
    <p:sldId id="458" r:id="rId22"/>
    <p:sldId id="348" r:id="rId23"/>
    <p:sldId id="349" r:id="rId24"/>
    <p:sldId id="350" r:id="rId25"/>
    <p:sldId id="467" r:id="rId26"/>
    <p:sldId id="351" r:id="rId27"/>
    <p:sldId id="352" r:id="rId28"/>
    <p:sldId id="353" r:id="rId29"/>
    <p:sldId id="354" r:id="rId30"/>
    <p:sldId id="470" r:id="rId31"/>
    <p:sldId id="355" r:id="rId32"/>
    <p:sldId id="356" r:id="rId33"/>
    <p:sldId id="357" r:id="rId34"/>
    <p:sldId id="360" r:id="rId35"/>
    <p:sldId id="369" r:id="rId36"/>
    <p:sldId id="362" r:id="rId37"/>
    <p:sldId id="371" r:id="rId38"/>
    <p:sldId id="370" r:id="rId39"/>
    <p:sldId id="372" r:id="rId40"/>
    <p:sldId id="490" r:id="rId41"/>
    <p:sldId id="386" r:id="rId42"/>
    <p:sldId id="387" r:id="rId43"/>
    <p:sldId id="388" r:id="rId44"/>
    <p:sldId id="389" r:id="rId45"/>
    <p:sldId id="390" r:id="rId46"/>
    <p:sldId id="395" r:id="rId47"/>
    <p:sldId id="400" r:id="rId48"/>
    <p:sldId id="401" r:id="rId49"/>
    <p:sldId id="453" r:id="rId50"/>
    <p:sldId id="454" r:id="rId51"/>
    <p:sldId id="397" r:id="rId52"/>
    <p:sldId id="489" r:id="rId53"/>
    <p:sldId id="471" r:id="rId54"/>
    <p:sldId id="472" r:id="rId55"/>
    <p:sldId id="473" r:id="rId56"/>
    <p:sldId id="474" r:id="rId57"/>
    <p:sldId id="475" r:id="rId58"/>
    <p:sldId id="476" r:id="rId59"/>
    <p:sldId id="477" r:id="rId60"/>
    <p:sldId id="478" r:id="rId61"/>
    <p:sldId id="480" r:id="rId62"/>
    <p:sldId id="481" r:id="rId63"/>
    <p:sldId id="482" r:id="rId64"/>
    <p:sldId id="483" r:id="rId65"/>
    <p:sldId id="484" r:id="rId66"/>
    <p:sldId id="503" r:id="rId67"/>
    <p:sldId id="486" r:id="rId68"/>
    <p:sldId id="485" r:id="rId69"/>
    <p:sldId id="502" r:id="rId70"/>
    <p:sldId id="487" r:id="rId71"/>
    <p:sldId id="488" r:id="rId72"/>
    <p:sldId id="407" r:id="rId73"/>
    <p:sldId id="408" r:id="rId74"/>
    <p:sldId id="409" r:id="rId75"/>
    <p:sldId id="410" r:id="rId76"/>
    <p:sldId id="455" r:id="rId77"/>
    <p:sldId id="412" r:id="rId78"/>
    <p:sldId id="413" r:id="rId79"/>
    <p:sldId id="414" r:id="rId80"/>
    <p:sldId id="415" r:id="rId81"/>
    <p:sldId id="462" r:id="rId82"/>
    <p:sldId id="445" r:id="rId83"/>
    <p:sldId id="446" r:id="rId84"/>
    <p:sldId id="456" r:id="rId85"/>
    <p:sldId id="491" r:id="rId86"/>
    <p:sldId id="492" r:id="rId87"/>
    <p:sldId id="493" r:id="rId88"/>
    <p:sldId id="494" r:id="rId89"/>
    <p:sldId id="495" r:id="rId90"/>
    <p:sldId id="496" r:id="rId91"/>
    <p:sldId id="448" r:id="rId92"/>
    <p:sldId id="498" r:id="rId93"/>
    <p:sldId id="499" r:id="rId94"/>
    <p:sldId id="500" r:id="rId95"/>
    <p:sldId id="501" r:id="rId96"/>
    <p:sldId id="511" r:id="rId97"/>
    <p:sldId id="512" r:id="rId98"/>
    <p:sldId id="447" r:id="rId99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9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presProps" Target="presProp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theme" Target="theme/theme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notesMaster" Target="notesMasters/notesMaster1.xml"/><Relationship Id="rId105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42E8489-359D-4C17-8528-4B3DB5E0DB6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5690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CB289B0-9BEC-4093-861C-76154CD68B5D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10/14/2026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7136E94-7335-4773-A64D-0D46B1CA62E8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9205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5517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2682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00C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29921" y="2386076"/>
            <a:ext cx="4623647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</a:t>
            </a:r>
            <a:r>
              <a:rPr kumimoji="0" lang="en-US" sz="14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</a:t>
            </a:r>
            <a:r>
              <a:rPr kumimoji="0" lang="en-US" sz="14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ig</a:t>
            </a:r>
            <a:r>
              <a:rPr kumimoji="0" lang="en-US" sz="1400" b="0" i="0" u="none" strike="noStrike" kern="1200" cap="none" spc="-1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 ©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2000,</a:t>
            </a:r>
            <a:r>
              <a:rPr kumimoji="0" lang="en-US" sz="14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Daniel</a:t>
            </a:r>
            <a:r>
              <a:rPr kumimoji="0" lang="en-US" sz="14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400" b="0" i="0" u="none" strike="noStrike" kern="1200" cap="none" spc="-14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4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Lew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is. </a:t>
            </a:r>
            <a:r>
              <a:rPr kumimoji="0" lang="en-US" sz="1400" b="0" i="0" u="none" strike="noStrike" kern="1200" cap="none" spc="-1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</a:t>
            </a:r>
            <a:r>
              <a:rPr kumimoji="0" lang="en-US" sz="14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Rig</a:t>
            </a:r>
            <a:r>
              <a:rPr kumimoji="0" lang="en-US" sz="1400" b="0" i="0" u="none" strike="noStrike" kern="1200" cap="none" spc="-1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</a:t>
            </a:r>
            <a:r>
              <a:rPr kumimoji="0" lang="en-US" sz="1400" b="0" i="0" u="none" strike="noStrike" kern="1200" cap="none" spc="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</a:t>
            </a:r>
            <a:r>
              <a:rPr kumimoji="0" lang="en-US" sz="1400" b="0" i="0" u="none" strike="noStrike" kern="1200" cap="none" spc="-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400" b="0" i="0" u="none" strike="noStrike" kern="1200" cap="none" spc="-25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ese</a:t>
            </a:r>
            <a:r>
              <a:rPr kumimoji="0" lang="en-US" sz="1400" b="0" i="0" u="none" strike="noStrike" kern="1200" cap="none" spc="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</a:t>
            </a:r>
            <a:r>
              <a:rPr kumimoji="0" lang="en-US" sz="1400" b="0" i="0" u="none" strike="noStrike" kern="1200" cap="none" spc="-1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ed.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10/14/2026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61963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10/14/2026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961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D8BD707-D9CF-40AE-B4C6-C98DA3205C09}" type="datetimeFigureOut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10/14/2026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45994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00C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2700">
              <a:spcBef>
                <a:spcPts val="30"/>
              </a:spcBef>
            </a:pPr>
            <a:r>
              <a:rPr lang="en-US"/>
              <a:t>C</a:t>
            </a:r>
            <a:r>
              <a:rPr lang="en-US" spc="-5"/>
              <a:t>o</a:t>
            </a:r>
            <a:r>
              <a:rPr lang="en-US" spc="-10"/>
              <a:t>p</a:t>
            </a:r>
            <a:r>
              <a:rPr lang="en-US"/>
              <a:t>y</a:t>
            </a:r>
            <a:r>
              <a:rPr lang="en-US" spc="-5"/>
              <a:t>r</a:t>
            </a:r>
            <a:r>
              <a:rPr lang="en-US"/>
              <a:t>ig</a:t>
            </a:r>
            <a:r>
              <a:rPr lang="en-US" spc="-15"/>
              <a:t>h</a:t>
            </a:r>
            <a:r>
              <a:rPr lang="en-US"/>
              <a:t>t ©</a:t>
            </a:r>
            <a:r>
              <a:rPr lang="en-US" spc="-10"/>
              <a:t> </a:t>
            </a:r>
            <a:r>
              <a:rPr lang="en-US"/>
              <a:t>2000,</a:t>
            </a:r>
            <a:r>
              <a:rPr lang="en-US" spc="-5"/>
              <a:t> </a:t>
            </a:r>
            <a:r>
              <a:rPr lang="en-US"/>
              <a:t>Daniel</a:t>
            </a:r>
            <a:r>
              <a:rPr lang="en-US" spc="-5"/>
              <a:t> </a:t>
            </a:r>
            <a:r>
              <a:rPr lang="en-US" spc="-140"/>
              <a:t>W</a:t>
            </a:r>
            <a:r>
              <a:rPr lang="en-US"/>
              <a:t>.</a:t>
            </a:r>
            <a:r>
              <a:rPr lang="en-US" spc="-10"/>
              <a:t> </a:t>
            </a:r>
            <a:r>
              <a:rPr lang="en-US" spc="-5"/>
              <a:t>Lew</a:t>
            </a:r>
            <a:r>
              <a:rPr lang="en-US"/>
              <a:t>is. </a:t>
            </a:r>
            <a:r>
              <a:rPr lang="en-US" spc="-15"/>
              <a:t> </a:t>
            </a:r>
            <a:r>
              <a:rPr lang="en-US"/>
              <a:t>All</a:t>
            </a:r>
            <a:r>
              <a:rPr lang="en-US" spc="-5"/>
              <a:t> </a:t>
            </a:r>
            <a:r>
              <a:rPr lang="en-US"/>
              <a:t>Rig</a:t>
            </a:r>
            <a:r>
              <a:rPr lang="en-US" spc="-15"/>
              <a:t>h</a:t>
            </a:r>
            <a:r>
              <a:rPr lang="en-US" spc="5"/>
              <a:t>t</a:t>
            </a:r>
            <a:r>
              <a:rPr lang="en-US"/>
              <a:t>s</a:t>
            </a:r>
            <a:r>
              <a:rPr lang="en-US" spc="-5"/>
              <a:t> </a:t>
            </a:r>
            <a:r>
              <a:rPr lang="en-US" spc="-25"/>
              <a:t>R</a:t>
            </a:r>
            <a:r>
              <a:rPr lang="en-US"/>
              <a:t>ese</a:t>
            </a:r>
            <a:r>
              <a:rPr lang="en-US" spc="10"/>
              <a:t>r</a:t>
            </a:r>
            <a:r>
              <a:rPr lang="en-US" spc="-10"/>
              <a:t>v</a:t>
            </a:r>
            <a:r>
              <a:rPr lang="en-US"/>
              <a:t>ed.</a:t>
            </a:r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9122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4435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98390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79193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4304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89346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763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31139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33056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13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587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5413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6943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30395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7568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799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95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89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36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  <p:sldLayoutId id="2147483705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0207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NUL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3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473" y="3074999"/>
            <a:ext cx="10371222" cy="355841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r>
              <a:rPr lang="en-US" sz="3200" dirty="0">
                <a:solidFill>
                  <a:schemeClr val="tx1"/>
                </a:solidFill>
              </a:rPr>
              <a:t>	Introduction to Embedded Systems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Michael Schimpf, PhD, mschimpf@scu.edu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473" y="1787503"/>
            <a:ext cx="9144000" cy="1144151"/>
          </a:xfrm>
        </p:spPr>
        <p:txBody>
          <a:bodyPr/>
          <a:lstStyle/>
          <a:p>
            <a:r>
              <a:rPr lang="en-US" dirty="0"/>
              <a:t>CSEN20</a:t>
            </a:r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83A903-8B2B-46BF-9E2E-ED3B2E7A2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2</a:t>
            </a:r>
            <a:br>
              <a:rPr lang="en-US" dirty="0"/>
            </a:br>
            <a:r>
              <a:rPr lang="en-US" dirty="0"/>
              <a:t>Binary Number Systems</a:t>
            </a:r>
          </a:p>
        </p:txBody>
      </p:sp>
    </p:spTree>
    <p:extLst>
      <p:ext uri="{BB962C8B-B14F-4D97-AF65-F5344CB8AC3E}">
        <p14:creationId xmlns:p14="http://schemas.microsoft.com/office/powerpoint/2010/main" val="2005933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0035" y="742267"/>
            <a:ext cx="311277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Kinds</a:t>
            </a:r>
            <a:r>
              <a:rPr spc="-35" dirty="0"/>
              <a:t> </a:t>
            </a:r>
            <a:r>
              <a:rPr spc="-5" dirty="0"/>
              <a:t>Of</a:t>
            </a:r>
            <a:r>
              <a:rPr spc="-40" dirty="0"/>
              <a:t> </a:t>
            </a:r>
            <a:r>
              <a:rPr spc="-5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0035" y="1892978"/>
            <a:ext cx="2617470" cy="3352840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Numbers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556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 typeface="Calibri"/>
              <a:buChar char="–"/>
              <a:tabLst>
                <a:tab pos="755015" algn="l"/>
                <a:tab pos="755650" algn="l"/>
              </a:tabLst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Integers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55700" marR="0" lvl="2" indent="-229235" algn="l" defTabSz="914400" rtl="0" eaLnBrk="1" fontAlgn="auto" latinLnBrk="0" hangingPunct="1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 typeface="Calibri"/>
              <a:buChar char="•"/>
              <a:tabLst>
                <a:tab pos="1155700" algn="l"/>
              </a:tabLst>
              <a:defRPr/>
            </a:pPr>
            <a:r>
              <a:rPr kumimoji="0" sz="20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Unsigned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55700" marR="0" lvl="2" indent="-229235" algn="l" defTabSz="914400" rtl="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 typeface="Calibri"/>
              <a:buChar char="•"/>
              <a:tabLst>
                <a:tab pos="1155700" algn="l"/>
              </a:tabLst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Signed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556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55015" algn="l"/>
                <a:tab pos="755650" algn="l"/>
              </a:tabLst>
              <a:defRPr/>
            </a:pPr>
            <a:endParaRPr kumimoji="0" lang="en-US" sz="2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556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Reals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55700" marR="0" lvl="2" indent="-229235" algn="l" defTabSz="914400" rtl="0" eaLnBrk="1" fontAlgn="auto" latinLnBrk="0" hangingPunct="1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155700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Fixed-Point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55700" marR="0" lvl="2" indent="-229235" algn="l" defTabSz="914400" rtl="0" eaLnBrk="1" fontAlgn="auto" latinLnBrk="0" hangingPunct="1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155700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Floating-Point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54424" y="1892978"/>
            <a:ext cx="2796540" cy="4219744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44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Text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556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ASCII</a:t>
            </a:r>
            <a:r>
              <a:rPr kumimoji="0" sz="2400" b="0" i="0" u="none" strike="noStrike" kern="120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Characters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556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Strings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556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Graphics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556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Images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556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Video</a:t>
            </a:r>
          </a:p>
          <a:p>
            <a:pPr marL="7556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55015" algn="l"/>
                <a:tab pos="75565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Audio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96586" y="847424"/>
            <a:ext cx="4403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92D050"/>
                </a:solidFill>
              </a:rPr>
              <a:t>Depending on interpretation!</a:t>
            </a:r>
          </a:p>
        </p:txBody>
      </p:sp>
    </p:spTree>
    <p:extLst>
      <p:ext uri="{BB962C8B-B14F-4D97-AF65-F5344CB8AC3E}">
        <p14:creationId xmlns:p14="http://schemas.microsoft.com/office/powerpoint/2010/main" val="2503427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715" y="746919"/>
            <a:ext cx="552069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Number</a:t>
            </a:r>
            <a:r>
              <a:rPr spc="-70" dirty="0"/>
              <a:t> </a:t>
            </a:r>
            <a:r>
              <a:rPr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0715" y="1835200"/>
            <a:ext cx="10371053" cy="2730234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5270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6415" algn="l"/>
                <a:tab pos="527050" algn="l"/>
              </a:tabLst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algn="l" defTabSz="914400" rtl="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tabLst>
                <a:tab pos="526415" algn="l"/>
                <a:tab pos="527050" algn="l"/>
              </a:tabLst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270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409"/>
              </a:spcBef>
              <a:spcAft>
                <a:spcPts val="0"/>
              </a:spcAft>
              <a:buClrTx/>
              <a:buSzTx/>
              <a:buFontTx/>
              <a:buAutoNum type="arabicPeriod"/>
              <a:tabLst>
                <a:tab pos="526415" algn="l"/>
                <a:tab pos="52705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Computers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binary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numbers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(0's</a:t>
            </a:r>
            <a:r>
              <a:rPr kumimoji="0" sz="2800" b="1" i="0" u="none" strike="noStrike" kern="1200" cap="none" spc="1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and</a:t>
            </a:r>
            <a:r>
              <a:rPr kumimoji="0" sz="2800" b="1" i="0" u="none" strike="noStrike" kern="1200" cap="none" spc="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1's).</a:t>
            </a:r>
          </a:p>
          <a:p>
            <a:pPr marL="11557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155700" algn="l"/>
              </a:tabLst>
              <a:defRPr/>
            </a:pPr>
            <a:endParaRPr kumimoji="0" lang="en-US" sz="20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557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155700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How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many digits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(bits)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need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to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represent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decimal</a:t>
            </a:r>
            <a:r>
              <a:rPr kumimoji="0" sz="20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7 in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bin?</a:t>
            </a:r>
            <a:b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b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 + 2</a:t>
            </a:r>
            <a:r>
              <a:rPr kumimoji="0" lang="en-US" sz="2000" b="0" i="0" u="none" strike="noStrike" kern="1200" cap="none" spc="-5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+ 4 = 7 -&gt; 3 bits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9642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715" y="746919"/>
            <a:ext cx="552069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Number</a:t>
            </a:r>
            <a:r>
              <a:rPr spc="-70" dirty="0"/>
              <a:t> </a:t>
            </a:r>
            <a:r>
              <a:rPr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0715" y="1835200"/>
            <a:ext cx="10371053" cy="402802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412115" lvl="0" algn="l" defTabSz="914400" rtl="0" eaLnBrk="1" fontAlgn="auto" latinLnBrk="0" hangingPunct="1">
              <a:lnSpc>
                <a:spcPts val="3000"/>
              </a:lnSpc>
              <a:spcBef>
                <a:spcPts val="705"/>
              </a:spcBef>
              <a:spcAft>
                <a:spcPts val="0"/>
              </a:spcAft>
              <a:buClrTx/>
              <a:buSzTx/>
              <a:tabLst>
                <a:tab pos="526415" algn="l"/>
                <a:tab pos="527050" algn="l"/>
              </a:tabLst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412115" lvl="0" algn="l" defTabSz="914400" rtl="0" eaLnBrk="1" fontAlgn="auto" latinLnBrk="0" hangingPunct="1">
              <a:lnSpc>
                <a:spcPts val="3000"/>
              </a:lnSpc>
              <a:spcBef>
                <a:spcPts val="705"/>
              </a:spcBef>
              <a:spcAft>
                <a:spcPts val="0"/>
              </a:spcAft>
              <a:buClrTx/>
              <a:buSzTx/>
              <a:tabLst>
                <a:tab pos="526415" algn="l"/>
                <a:tab pos="527050" algn="l"/>
              </a:tabLst>
              <a:defRPr/>
            </a:pPr>
            <a:r>
              <a:rPr lang="en-US" sz="2800" spc="-5" dirty="0">
                <a:solidFill>
                  <a:srgbClr val="000000"/>
                </a:solidFill>
                <a:latin typeface="Calibri"/>
                <a:cs typeface="Calibri"/>
              </a:rPr>
              <a:t>2.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Computers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with </a:t>
            </a:r>
            <a:r>
              <a:rPr kumimoji="0" sz="2800" b="0" i="0" u="none" strike="noStrike" kern="1200" cap="none" spc="-6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fixed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digits</a:t>
            </a:r>
            <a:r>
              <a:rPr kumimoji="0" sz="2800" b="1" i="0" u="none" strike="noStrike" kern="1200" cap="none" spc="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br>
              <a:rPr kumimoji="0" lang="en-US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(“fixed-precision”).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0" lvl="0" indent="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Tx/>
              <a:buNone/>
              <a:tabLst>
                <a:tab pos="755015" algn="l"/>
              </a:tabLst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8128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755015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Byte</a:t>
            </a:r>
            <a:endParaRPr kumimoji="0" lang="en-US" sz="2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128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755015" algn="l"/>
              </a:tabLst>
              <a:defRPr/>
            </a:pP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alf-word</a:t>
            </a:r>
            <a:endParaRPr kumimoji="0" lang="en-US" sz="2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128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755015" algn="l"/>
              </a:tabLst>
              <a:defRPr/>
            </a:pP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ord</a:t>
            </a:r>
            <a:endParaRPr kumimoji="0" lang="en-US" sz="2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128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755015" algn="l"/>
              </a:tabLst>
              <a:defRPr/>
            </a:pP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ouble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-word</a:t>
            </a:r>
            <a:endParaRPr lang="en-US" sz="2400" noProof="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8128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755015" algn="l"/>
              </a:tabLst>
              <a:defRPr/>
            </a:pPr>
            <a:endParaRPr kumimoji="0" lang="en-US" sz="20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8128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755015" algn="l"/>
              </a:tabLst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Why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/>
                <a:cs typeface="Calibri"/>
              </a:rPr>
              <a:t>we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need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all these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data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types?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9222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0715" y="746919"/>
            <a:ext cx="552069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Number</a:t>
            </a:r>
            <a:r>
              <a:rPr spc="-70" dirty="0"/>
              <a:t> </a:t>
            </a:r>
            <a:r>
              <a:rPr dirty="0"/>
              <a:t>Representation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0715" y="1835200"/>
            <a:ext cx="10371053" cy="292548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527050" marR="309245" lvl="0" indent="-514350" algn="l" defTabSz="914400" rtl="0" eaLnBrk="1" fontAlgn="auto" latinLnBrk="0" hangingPunct="1">
              <a:lnSpc>
                <a:spcPct val="907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27050" marR="309245" lvl="0" indent="-514350" algn="l" defTabSz="914400" rtl="0" eaLnBrk="1" fontAlgn="auto" latinLnBrk="0" hangingPunct="1">
              <a:lnSpc>
                <a:spcPct val="907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3.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Computers represent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s: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b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27050" marR="309245" lvl="0" indent="-514350" algn="l" defTabSz="914400" rtl="0" eaLnBrk="1" fontAlgn="auto" latinLnBrk="0" hangingPunct="1">
              <a:lnSpc>
                <a:spcPct val="907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spc="-5" dirty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signed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numbers using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"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2's </a:t>
            </a:r>
            <a:r>
              <a:rPr kumimoji="0" sz="2800" b="0" i="0" u="none" strike="noStrike" kern="1200" cap="none" spc="-62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complement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"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instead of </a:t>
            </a:r>
            <a:br>
              <a:rPr kumimoji="0" lang="en-US" sz="2800" b="0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</a:b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“sign-</a:t>
            </a:r>
            <a:r>
              <a:rPr kumimoji="0" sz="2800" b="0" i="0" u="none" strike="noStrike" kern="1200" cap="none" spc="-6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lang="en-US" sz="2800" spc="-5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-magnitude”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representation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br>
              <a:rPr kumimoji="0" lang="en-US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br>
              <a:rPr kumimoji="0" lang="en-US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Why?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187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5DA60-7421-2EC8-0EE7-3936D79F4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86E5-6306-C23D-CF7F-8C8F488C3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2270366"/>
            <a:ext cx="10555357" cy="2317267"/>
          </a:xfrm>
        </p:spPr>
        <p:txBody>
          <a:bodyPr/>
          <a:lstStyle/>
          <a:p>
            <a:r>
              <a:rPr lang="en-US" dirty="0"/>
              <a:t>Sign-and-Magnitude </a:t>
            </a:r>
            <a:br>
              <a:rPr lang="en-US" dirty="0"/>
            </a:br>
            <a:r>
              <a:rPr lang="en-US" dirty="0"/>
              <a:t>vs</a:t>
            </a:r>
            <a:br>
              <a:rPr lang="en-US" dirty="0"/>
            </a:br>
            <a:r>
              <a:rPr lang="en-US" spc="-5" dirty="0"/>
              <a:t>2’s</a:t>
            </a:r>
            <a:r>
              <a:rPr lang="en-US" spc="5" dirty="0"/>
              <a:t> </a:t>
            </a:r>
            <a:r>
              <a:rPr lang="en-US" spc="-5" dirty="0"/>
              <a:t>Complement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222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5141" y="765830"/>
            <a:ext cx="8561786" cy="562975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/>
          <a:p>
            <a:pPr marL="575945" marR="5080" indent="-563880">
              <a:lnSpc>
                <a:spcPct val="100499"/>
              </a:lnSpc>
              <a:spcBef>
                <a:spcPts val="70"/>
              </a:spcBef>
            </a:pPr>
            <a:r>
              <a:rPr dirty="0"/>
              <a:t>Si</a:t>
            </a:r>
            <a:r>
              <a:rPr spc="-5" dirty="0"/>
              <a:t>g</a:t>
            </a:r>
            <a:r>
              <a:rPr spc="5" dirty="0"/>
              <a:t>n</a:t>
            </a:r>
            <a:r>
              <a:rPr dirty="0"/>
              <a:t>-and-Ma</a:t>
            </a:r>
            <a:r>
              <a:rPr spc="5" dirty="0"/>
              <a:t>g</a:t>
            </a:r>
            <a:r>
              <a:rPr dirty="0"/>
              <a:t>nit</a:t>
            </a:r>
            <a:r>
              <a:rPr spc="5" dirty="0"/>
              <a:t>u</a:t>
            </a:r>
            <a:r>
              <a:rPr dirty="0"/>
              <a:t>de  Representation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914777" y="1958905"/>
          <a:ext cx="2667000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Dec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Binary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000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001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010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011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100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101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110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+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111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572377" y="1943665"/>
          <a:ext cx="2667000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Dec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Binary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000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001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010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011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100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101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110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111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153651" y="2514600"/>
            <a:ext cx="4307306" cy="3850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46690" y="1367704"/>
            <a:ext cx="3270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Two 0 representations?!?!?!</a:t>
            </a:r>
          </a:p>
        </p:txBody>
      </p:sp>
      <p:cxnSp>
        <p:nvCxnSpPr>
          <p:cNvPr id="8" name="Straight Arrow Connector 7"/>
          <p:cNvCxnSpPr>
            <a:stCxn id="6" idx="2"/>
          </p:cNvCxnSpPr>
          <p:nvPr/>
        </p:nvCxnSpPr>
        <p:spPr>
          <a:xfrm flipH="1">
            <a:off x="2590264" y="1737036"/>
            <a:ext cx="2691906" cy="7775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2"/>
          </p:cNvCxnSpPr>
          <p:nvPr/>
        </p:nvCxnSpPr>
        <p:spPr>
          <a:xfrm>
            <a:off x="5282170" y="1737036"/>
            <a:ext cx="781868" cy="7775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26628" y="2374471"/>
            <a:ext cx="25250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(x == </a:t>
            </a:r>
            <a:r>
              <a:rPr lang="en-US" b="1" dirty="0">
                <a:solidFill>
                  <a:srgbClr val="FF0000"/>
                </a:solidFill>
              </a:rPr>
              <a:t>+</a:t>
            </a:r>
            <a:r>
              <a:rPr lang="en-US" dirty="0"/>
              <a:t>0 &amp;&amp; x == </a:t>
            </a:r>
            <a:r>
              <a:rPr lang="en-US" b="1" dirty="0">
                <a:solidFill>
                  <a:srgbClr val="FF0000"/>
                </a:solidFill>
              </a:rPr>
              <a:t>-</a:t>
            </a:r>
            <a:r>
              <a:rPr lang="en-US" dirty="0"/>
              <a:t>0){</a:t>
            </a:r>
          </a:p>
          <a:p>
            <a:r>
              <a:rPr lang="en-US" dirty="0"/>
              <a:t>   …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78379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5940" y="734246"/>
            <a:ext cx="736473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2’s</a:t>
            </a:r>
            <a:r>
              <a:rPr spc="5" dirty="0"/>
              <a:t> </a:t>
            </a:r>
            <a:r>
              <a:rPr spc="-5" dirty="0"/>
              <a:t>Complement</a:t>
            </a:r>
            <a:r>
              <a:rPr dirty="0"/>
              <a:t> </a:t>
            </a:r>
            <a:r>
              <a:rPr spc="-5" dirty="0"/>
              <a:t>Representation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46172" y="1588462"/>
          <a:ext cx="2667000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Dec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Binary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0000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0001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0010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0011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0100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0101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0110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7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0111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414978" y="1588462"/>
          <a:ext cx="2667000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Dec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Binary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-1</a:t>
                      </a: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1111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-2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1110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-3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1101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-4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1100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-5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1011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-6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1010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-7</a:t>
                      </a: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1001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lang="en-US" sz="2800" dirty="0">
                          <a:latin typeface="Calibri"/>
                          <a:cs typeface="Calibri"/>
                        </a:rPr>
                        <a:t>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2800" spc="5" dirty="0">
                          <a:latin typeface="Calibri"/>
                          <a:cs typeface="Calibri"/>
                        </a:rPr>
                        <a:t>100</a:t>
                      </a:r>
                      <a:r>
                        <a:rPr lang="en-US" sz="2800" spc="5" dirty="0">
                          <a:latin typeface="Calibri"/>
                          <a:cs typeface="Calibri"/>
                        </a:rPr>
                        <a:t>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686796" y="5811253"/>
            <a:ext cx="2048130" cy="32886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9307534" y="5770784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One “–” more </a:t>
            </a:r>
          </a:p>
        </p:txBody>
      </p:sp>
      <p:cxnSp>
        <p:nvCxnSpPr>
          <p:cNvPr id="8" name="Straight Arrow Connector 7"/>
          <p:cNvCxnSpPr>
            <a:stCxn id="7" idx="1"/>
          </p:cNvCxnSpPr>
          <p:nvPr/>
        </p:nvCxnSpPr>
        <p:spPr>
          <a:xfrm flipH="1">
            <a:off x="8763000" y="5955450"/>
            <a:ext cx="544534" cy="820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929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878" y="734246"/>
            <a:ext cx="612902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Why</a:t>
            </a:r>
            <a:r>
              <a:rPr spc="-30" dirty="0"/>
              <a:t> </a:t>
            </a:r>
            <a:r>
              <a:rPr dirty="0"/>
              <a:t>Not</a:t>
            </a:r>
            <a:r>
              <a:rPr spc="-15" dirty="0"/>
              <a:t> </a:t>
            </a:r>
            <a:r>
              <a:rPr spc="-5" dirty="0"/>
              <a:t>Sign</a:t>
            </a:r>
            <a:r>
              <a:rPr lang="en-US" spc="-5" dirty="0"/>
              <a:t> </a:t>
            </a:r>
            <a:r>
              <a:rPr spc="-5" dirty="0"/>
              <a:t>+</a:t>
            </a:r>
            <a:r>
              <a:rPr lang="en-US" spc="-5" dirty="0"/>
              <a:t> </a:t>
            </a:r>
            <a:r>
              <a:rPr spc="-5" dirty="0"/>
              <a:t>Magnitude?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5873" y="1645422"/>
            <a:ext cx="6088138" cy="3776034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0" lvl="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tabLst>
                <a:tab pos="354965" algn="l"/>
                <a:tab pos="355600" algn="l"/>
              </a:tabLst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Complicates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addition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: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8128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755650" algn="l"/>
              </a:tabLst>
              <a:defRPr/>
            </a:pP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F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irst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check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the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signs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!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1155700" marR="88900" lvl="2" indent="-228600" algn="l" defTabSz="914400" rtl="0" eaLnBrk="1" fontAlgn="auto" latinLnBrk="0" hangingPunct="1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155700" algn="l"/>
              </a:tabLst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1155700" marR="88900" lvl="2" indent="-228600" algn="l" defTabSz="914400" rtl="0" eaLnBrk="1" fontAlgn="auto" latinLnBrk="0" hangingPunct="1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155700" algn="l"/>
              </a:tabLst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f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(same)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b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</a:b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add </a:t>
            </a:r>
            <a:r>
              <a:rPr lang="en-US" sz="2000" spc="-5" dirty="0">
                <a:solidFill>
                  <a:srgbClr val="0033CC"/>
                </a:solidFill>
                <a:latin typeface="Tahoma"/>
                <a:cs typeface="Tahoma"/>
              </a:rPr>
              <a:t>both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and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use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same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sign;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1155700" marR="5080" lvl="2" indent="-228600" algn="l" defTabSz="914400" rtl="0" eaLnBrk="1" fontAlgn="auto" latinLnBrk="0" hangingPunct="1">
              <a:lnSpc>
                <a:spcPts val="2400"/>
              </a:lnSpc>
              <a:spcBef>
                <a:spcPts val="58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155700" algn="l"/>
              </a:tabLst>
              <a:defRPr/>
            </a:pPr>
            <a:r>
              <a:rPr kumimoji="0" lang="en-US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lse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</a:t>
            </a:r>
            <a:r>
              <a:rPr lang="en-US" sz="2000" spc="-5" dirty="0">
                <a:solidFill>
                  <a:srgbClr val="0033CC"/>
                </a:solidFill>
                <a:latin typeface="Tahoma"/>
                <a:cs typeface="Tahoma"/>
              </a:rPr>
              <a:t>!same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)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br>
              <a:rPr kumimoji="0" lang="en-US" sz="200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</a:br>
            <a:r>
              <a:rPr kumimoji="0" sz="2000" b="0" u="sng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subtract</a:t>
            </a:r>
            <a:r>
              <a:rPr kumimoji="0" sz="2000" b="0" u="sng" strike="noStrike" kern="1200" cap="none" spc="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u="sng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 </a:t>
            </a:r>
            <a:r>
              <a:rPr kumimoji="0" sz="2100" b="0" u="sng" strike="noStrike" kern="1200" cap="none" spc="-5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smaller</a:t>
            </a:r>
            <a:r>
              <a:rPr kumimoji="0" sz="2100" b="0" u="sng" strike="noStrike" kern="1200" cap="none" spc="-5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u="sng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from the </a:t>
            </a:r>
            <a:r>
              <a:rPr kumimoji="0" sz="2100" b="0" u="sng" strike="noStrike" kern="1200" cap="none" spc="-4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larger</a:t>
            </a:r>
            <a:r>
              <a:rPr kumimoji="0" lang="en-US" sz="2100" b="0" i="0" u="none" strike="noStrike" kern="1200" cap="none" spc="-4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;</a:t>
            </a:r>
            <a:br>
              <a:rPr kumimoji="0" lang="en-US" sz="2100" b="0" i="0" u="none" strike="noStrike" kern="1200" cap="none" spc="-4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</a:b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use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sign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i="0" u="none" strike="noStrike" kern="1200" cap="none" spc="-6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of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larger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.</a:t>
            </a:r>
            <a:endParaRPr lang="en-US" sz="2000" dirty="0">
              <a:solidFill>
                <a:srgbClr val="000000"/>
              </a:solidFill>
              <a:latin typeface="Tahoma"/>
              <a:cs typeface="Tahoma"/>
            </a:endParaRPr>
          </a:p>
          <a:p>
            <a:pPr marL="1155700" marR="5080" lvl="2" indent="-228600" algn="l" defTabSz="914400" rtl="0" eaLnBrk="1" fontAlgn="auto" latinLnBrk="0" hangingPunct="1">
              <a:lnSpc>
                <a:spcPts val="2400"/>
              </a:lnSpc>
              <a:spcBef>
                <a:spcPts val="58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1155700" algn="l"/>
              </a:tabLst>
              <a:defRPr/>
            </a:pPr>
            <a:endParaRPr kumimoji="0" lang="en-US" sz="20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698500" marR="5080" lvl="1" indent="-228600">
              <a:lnSpc>
                <a:spcPts val="2400"/>
              </a:lnSpc>
              <a:spcBef>
                <a:spcPts val="585"/>
              </a:spcBef>
              <a:buFontTx/>
              <a:buChar char="•"/>
              <a:tabLst>
                <a:tab pos="1155700" algn="l"/>
              </a:tabLst>
            </a:pPr>
            <a:r>
              <a:rPr kumimoji="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How 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do</a:t>
            </a:r>
            <a:r>
              <a:rPr kumimoji="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you</a:t>
            </a:r>
            <a:r>
              <a:rPr kumimoji="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determine </a:t>
            </a:r>
            <a:r>
              <a:rPr kumimoji="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which</a:t>
            </a:r>
            <a:r>
              <a:rPr kumimoji="0" b="0" i="0" u="none" strike="noStrike" kern="1200" cap="none" spc="-1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is </a:t>
            </a:r>
            <a:r>
              <a:rPr kumimoji="0" b="0" i="0" u="none" strike="noStrike" kern="1200" cap="none" spc="-55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smaller/larger?</a:t>
            </a:r>
            <a:endParaRPr kumimoji="0" lang="en-US" b="0" i="0" u="none" strike="noStrike" kern="1200" cap="none" spc="-5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70058" y="1747840"/>
            <a:ext cx="2676525" cy="4164965"/>
            <a:chOff x="300037" y="1138237"/>
            <a:chExt cx="2676525" cy="4164965"/>
          </a:xfrm>
        </p:grpSpPr>
        <p:sp>
          <p:nvSpPr>
            <p:cNvPr id="6" name="object 6"/>
            <p:cNvSpPr/>
            <p:nvPr/>
          </p:nvSpPr>
          <p:spPr>
            <a:xfrm>
              <a:off x="304800" y="1143000"/>
              <a:ext cx="2667000" cy="4155440"/>
            </a:xfrm>
            <a:custGeom>
              <a:avLst/>
              <a:gdLst/>
              <a:ahLst/>
              <a:cxnLst/>
              <a:rect l="l" t="t" r="r" b="b"/>
              <a:pathLst>
                <a:path w="2667000" h="4155440">
                  <a:moveTo>
                    <a:pt x="2667000" y="0"/>
                  </a:moveTo>
                  <a:lnTo>
                    <a:pt x="0" y="0"/>
                  </a:lnTo>
                  <a:lnTo>
                    <a:pt x="0" y="4154984"/>
                  </a:lnTo>
                  <a:lnTo>
                    <a:pt x="2667000" y="4154984"/>
                  </a:lnTo>
                  <a:lnTo>
                    <a:pt x="2667000" y="0"/>
                  </a:lnTo>
                  <a:close/>
                </a:path>
              </a:pathLst>
            </a:custGeom>
            <a:solidFill>
              <a:srgbClr val="FFFFB3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04800" y="1143000"/>
              <a:ext cx="2667000" cy="4155440"/>
            </a:xfrm>
            <a:custGeom>
              <a:avLst/>
              <a:gdLst/>
              <a:ahLst/>
              <a:cxnLst/>
              <a:rect l="l" t="t" r="r" b="b"/>
              <a:pathLst>
                <a:path w="2667000" h="4155440">
                  <a:moveTo>
                    <a:pt x="0" y="0"/>
                  </a:moveTo>
                  <a:lnTo>
                    <a:pt x="2667000" y="0"/>
                  </a:lnTo>
                  <a:lnTo>
                    <a:pt x="2667000" y="4154984"/>
                  </a:lnTo>
                  <a:lnTo>
                    <a:pt x="0" y="4154984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3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128160" y="1773431"/>
            <a:ext cx="2019300" cy="258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55880" lvl="0" indent="0" algn="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55065" algn="l"/>
              </a:tabLst>
              <a:defRPr/>
            </a:pP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400" b="0" i="0" u="none" strike="noStrike" kern="1200" cap="none" spc="-5" normalizeH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+2</a:t>
            </a:r>
            <a:r>
              <a:rPr kumimoji="0" sz="2400" b="0" i="0" u="none" strike="noStrike" kern="1200" cap="none" spc="-7" normalizeH="0" baseline="-17361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</a:t>
            </a:r>
            <a:r>
              <a:rPr kumimoji="0" sz="2400" b="0" i="0" u="none" strike="noStrike" kern="1200" cap="none" spc="300" normalizeH="0" baseline="-17361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	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0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010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70485" lvl="0" indent="0" algn="r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+(-7</a:t>
            </a:r>
            <a:r>
              <a:rPr kumimoji="0" sz="2400" b="0" i="0" u="none" strike="noStrike" kern="1200" cap="none" spc="-7" normalizeH="0" baseline="-17361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sng" strike="noStrike" kern="1200" cap="none" spc="-5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>
                  <a:solidFill>
                    <a:srgbClr val="730000"/>
                  </a:solidFill>
                </a:uFill>
                <a:latin typeface="Times New Roman"/>
                <a:ea typeface="+mn-ea"/>
                <a:cs typeface="Times New Roman"/>
              </a:rPr>
              <a:t>+</a:t>
            </a:r>
            <a:r>
              <a:rPr kumimoji="0" sz="2400" b="1" i="0" u="sng" strike="noStrike" kern="1200" cap="none" spc="-5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730000"/>
                  </a:solidFill>
                </a:uFill>
                <a:latin typeface="Times New Roman"/>
                <a:ea typeface="+mn-ea"/>
                <a:cs typeface="Times New Roman"/>
              </a:rPr>
              <a:t>1</a:t>
            </a:r>
            <a:r>
              <a:rPr kumimoji="0" sz="2400" b="0" i="0" u="sng" strike="noStrike" kern="1200" cap="none" spc="-5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>
                  <a:solidFill>
                    <a:srgbClr val="730000"/>
                  </a:solidFill>
                </a:uFill>
                <a:latin typeface="Times New Roman"/>
                <a:ea typeface="+mn-ea"/>
                <a:cs typeface="Times New Roman"/>
              </a:rPr>
              <a:t>111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13843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????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8100" marR="0" lvl="0" indent="0" algn="l" defTabSz="914400" rtl="0" eaLnBrk="1" fontAlgn="auto" latinLnBrk="0" hangingPunct="1">
              <a:lnSpc>
                <a:spcPts val="2845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6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111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&gt;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010: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102235" lvl="0" indent="0" algn="r" defTabSz="914400" rtl="0" eaLnBrk="1" fontAlgn="auto" latinLnBrk="0" hangingPunct="1">
              <a:lnSpc>
                <a:spcPts val="2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9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111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43180" lvl="0" indent="0" algn="r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sng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>
                  <a:solidFill>
                    <a:srgbClr val="730000"/>
                  </a:solidFill>
                </a:uFill>
                <a:latin typeface="Times New Roman"/>
                <a:ea typeface="+mn-ea"/>
                <a:cs typeface="Times New Roman"/>
              </a:rPr>
              <a:t>-</a:t>
            </a:r>
            <a:r>
              <a:rPr kumimoji="0" sz="2400" b="0" i="0" u="sng" strike="noStrike" kern="1200" cap="none" spc="-10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>
                  <a:solidFill>
                    <a:srgbClr val="730000"/>
                  </a:solidFill>
                </a:uFill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sng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>
                  <a:solidFill>
                    <a:srgbClr val="730000"/>
                  </a:solidFill>
                </a:uFill>
                <a:latin typeface="Times New Roman"/>
                <a:ea typeface="+mn-ea"/>
                <a:cs typeface="Times New Roman"/>
              </a:rPr>
              <a:t>010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68580" lvl="0" indent="0" algn="r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101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0860" y="4705607"/>
            <a:ext cx="2048510" cy="111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30480" lvl="0" indent="0" algn="r" defTabSz="914400" rtl="0" eaLnBrk="1" fontAlgn="auto" latinLnBrk="0" hangingPunct="1">
              <a:lnSpc>
                <a:spcPts val="284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Use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sign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111: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109855" lvl="0" indent="0" algn="r" defTabSz="914400" rtl="0" eaLnBrk="1" fontAlgn="auto" latinLnBrk="0" hangingPunct="1">
              <a:lnSpc>
                <a:spcPts val="28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Times New Roman"/>
                <a:ea typeface="+mn-ea"/>
                <a:cs typeface="Times New Roman"/>
              </a:rPr>
              <a:t>1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101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3980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</a:t>
            </a:r>
            <a:r>
              <a:rPr kumimoji="0" sz="2400" b="0" i="0" u="none" strike="noStrike" kern="1200" cap="none" spc="-5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-5</a:t>
            </a:r>
            <a:r>
              <a:rPr kumimoji="0" sz="2400" b="0" i="0" u="none" strike="noStrike" kern="1200" cap="none" spc="0" normalizeH="0" baseline="-17361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</a:t>
            </a:r>
            <a:endParaRPr kumimoji="0" sz="2400" b="0" i="0" u="none" strike="noStrike" kern="1200" cap="none" spc="0" normalizeH="0" baseline="-17361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8160" y="2743286"/>
            <a:ext cx="5453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larger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7850" y="2743286"/>
            <a:ext cx="6399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smaller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3088105" y="3573380"/>
            <a:ext cx="3441032" cy="643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2534654" y="4491789"/>
            <a:ext cx="3966409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8799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3575" y="761838"/>
            <a:ext cx="516826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Why</a:t>
            </a:r>
            <a:r>
              <a:rPr spc="-25" dirty="0"/>
              <a:t> </a:t>
            </a:r>
            <a:r>
              <a:rPr spc="-5" dirty="0"/>
              <a:t>2’s</a:t>
            </a:r>
            <a:r>
              <a:rPr spc="-10" dirty="0"/>
              <a:t> </a:t>
            </a:r>
            <a:r>
              <a:rPr spc="-5" dirty="0"/>
              <a:t>Complement?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968419" y="1551328"/>
            <a:ext cx="6866769" cy="5026660"/>
            <a:chOff x="300037" y="985837"/>
            <a:chExt cx="3286125" cy="5026660"/>
          </a:xfrm>
        </p:grpSpPr>
        <p:sp>
          <p:nvSpPr>
            <p:cNvPr id="5" name="object 5"/>
            <p:cNvSpPr/>
            <p:nvPr/>
          </p:nvSpPr>
          <p:spPr>
            <a:xfrm>
              <a:off x="304800" y="990600"/>
              <a:ext cx="3276600" cy="5017135"/>
            </a:xfrm>
            <a:custGeom>
              <a:avLst/>
              <a:gdLst/>
              <a:ahLst/>
              <a:cxnLst/>
              <a:rect l="l" t="t" r="r" b="b"/>
              <a:pathLst>
                <a:path w="3276600" h="5017135">
                  <a:moveTo>
                    <a:pt x="3276600" y="0"/>
                  </a:moveTo>
                  <a:lnTo>
                    <a:pt x="0" y="0"/>
                  </a:lnTo>
                  <a:lnTo>
                    <a:pt x="0" y="5016756"/>
                  </a:lnTo>
                  <a:lnTo>
                    <a:pt x="3276600" y="5016756"/>
                  </a:lnTo>
                  <a:lnTo>
                    <a:pt x="3276600" y="0"/>
                  </a:lnTo>
                  <a:close/>
                </a:path>
              </a:pathLst>
            </a:custGeom>
            <a:solidFill>
              <a:srgbClr val="FFFFB3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04800" y="990600"/>
              <a:ext cx="3276600" cy="5017135"/>
            </a:xfrm>
            <a:custGeom>
              <a:avLst/>
              <a:gdLst/>
              <a:ahLst/>
              <a:cxnLst/>
              <a:rect l="l" t="t" r="r" b="b"/>
              <a:pathLst>
                <a:path w="3276600" h="5017135">
                  <a:moveTo>
                    <a:pt x="0" y="0"/>
                  </a:moveTo>
                  <a:lnTo>
                    <a:pt x="3276600" y="0"/>
                  </a:lnTo>
                  <a:lnTo>
                    <a:pt x="3276600" y="5016757"/>
                  </a:lnTo>
                  <a:lnTo>
                    <a:pt x="0" y="501675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73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26522" y="1575903"/>
            <a:ext cx="5643858" cy="4929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 marR="0" lvl="0" indent="0" algn="l" defTabSz="914400" rtl="0" eaLnBrk="1" fontAlgn="auto" latinLnBrk="0" hangingPunct="1">
              <a:lnSpc>
                <a:spcPts val="381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Signed: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39700" marR="0" lvl="0" indent="0" algn="l" defTabSz="914400" rtl="0" eaLnBrk="1" fontAlgn="auto" latinLnBrk="0" hangingPunct="1">
              <a:lnSpc>
                <a:spcPts val="38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780539" algn="l"/>
              </a:tabLst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+2</a:t>
            </a:r>
            <a:r>
              <a:rPr kumimoji="0" sz="3150" b="0" i="0" u="none" strike="noStrike" kern="1200" cap="none" spc="0" normalizeH="0" baseline="-18518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</a:t>
            </a:r>
            <a:r>
              <a:rPr kumimoji="0" sz="3150" b="0" i="0" u="none" strike="noStrike" kern="1200" cap="none" spc="427" normalizeH="0" baseline="-18518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	0010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8100" marR="0" lvl="0" indent="0" algn="l" defTabSz="914400" rtl="0" eaLnBrk="1" fontAlgn="auto" latinLnBrk="0" hangingPunct="1">
              <a:lnSpc>
                <a:spcPts val="3815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+(-7</a:t>
            </a:r>
            <a:r>
              <a:rPr kumimoji="0" sz="3150" b="0" i="0" u="none" strike="noStrike" kern="1200" cap="none" spc="0" normalizeH="0" baseline="-18518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</a:t>
            </a:r>
            <a:r>
              <a:rPr kumimoji="0" sz="3200" b="0" i="0" u="none" strike="noStrike" kern="1200" cap="none" spc="-4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heavy" strike="noStrike" kern="1200" cap="none" spc="-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>
                  <a:solidFill>
                    <a:srgbClr val="730000"/>
                  </a:solidFill>
                </a:uFill>
                <a:latin typeface="Times New Roman"/>
                <a:ea typeface="+mn-ea"/>
                <a:cs typeface="Times New Roman"/>
              </a:rPr>
              <a:t>+1001</a:t>
            </a:r>
            <a:b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                 </a:t>
            </a: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101</a:t>
            </a:r>
            <a:r>
              <a:rPr kumimoji="0" lang="en-US" sz="3200" b="0" i="0" u="none" strike="noStrike" kern="1200" cap="none" spc="-3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br>
              <a:rPr kumimoji="0" lang="en-US" sz="3200" b="0" i="0" u="none" strike="noStrike" kern="1200" cap="none" spc="-3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</a:br>
            <a:r>
              <a:rPr kumimoji="0" lang="en-US" sz="3200" b="0" i="0" u="none" strike="noStrike" kern="1200" cap="none" spc="-3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     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</a:t>
            </a:r>
            <a:r>
              <a:rPr kumimoji="0" sz="3200" b="0" i="0" u="none" strike="noStrike" kern="1200" cap="none" spc="-6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200" b="0" i="0" u="none" strike="noStrike" kern="1200" cap="none" spc="-6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-5</a:t>
            </a:r>
            <a:r>
              <a:rPr kumimoji="0" sz="3150" b="0" i="0" u="none" strike="noStrike" kern="1200" cap="none" spc="0" normalizeH="0" baseline="-18518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</a:t>
            </a:r>
            <a:endParaRPr kumimoji="0" sz="3150" b="0" i="0" u="none" strike="noStrike" kern="1200" cap="none" spc="0" normalizeH="0" baseline="-18518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8100" marR="0" lvl="0" indent="0" algn="l" defTabSz="914400" rtl="0" eaLnBrk="1" fontAlgn="auto" latinLnBrk="0" hangingPunct="1">
              <a:lnSpc>
                <a:spcPts val="37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Unsigned: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168275" lvl="0" indent="0" algn="r" defTabSz="914400" rtl="0" eaLnBrk="1" fontAlgn="auto" latinLnBrk="0" hangingPunct="1">
              <a:lnSpc>
                <a:spcPts val="38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24965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+2</a:t>
            </a:r>
            <a:r>
              <a:rPr kumimoji="0" sz="3150" b="0" i="0" u="none" strike="noStrike" kern="1200" cap="none" spc="0" normalizeH="0" baseline="-18518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</a:t>
            </a:r>
            <a:r>
              <a:rPr kumimoji="0" sz="3150" b="0" i="0" u="none" strike="noStrike" kern="1200" cap="none" spc="427" normalizeH="0" baseline="-18518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	0010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161925" lvl="0" indent="0" algn="r" defTabSz="914400" rtl="0" eaLnBrk="1" fontAlgn="auto" latinLnBrk="0" hangingPunct="1">
              <a:lnSpc>
                <a:spcPts val="3815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05915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+(9</a:t>
            </a:r>
            <a:r>
              <a:rPr kumimoji="0" sz="3150" b="0" i="0" u="none" strike="noStrike" kern="1200" cap="none" spc="0" normalizeH="0" baseline="-18518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	</a:t>
            </a:r>
            <a:r>
              <a:rPr kumimoji="0" sz="3200" b="0" i="0" u="heavy" strike="noStrike" kern="1200" cap="none" spc="-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>
                  <a:solidFill>
                    <a:srgbClr val="730000"/>
                  </a:solidFill>
                </a:uFill>
                <a:latin typeface="Times New Roman"/>
                <a:ea typeface="+mn-ea"/>
                <a:cs typeface="Times New Roman"/>
              </a:rPr>
              <a:t>+1001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183515" lvl="0" indent="0" algn="r" defTabSz="914400" rtl="0" eaLnBrk="1" fontAlgn="auto" latinLnBrk="0" hangingPunct="1">
              <a:lnSpc>
                <a:spcPts val="38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-30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1011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106680" lvl="0" indent="0" algn="r" defTabSz="914400" rtl="0" eaLnBrk="1" fontAlgn="auto" latinLnBrk="0" hangingPunct="1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4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          </a:t>
            </a:r>
            <a:r>
              <a:rPr kumimoji="0" sz="3200" b="0" i="0" u="none" strike="noStrike" kern="1200" cap="none" spc="-45" normalizeH="0" baseline="0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=11</a:t>
            </a:r>
            <a:r>
              <a:rPr kumimoji="0" sz="3150" b="0" i="0" u="none" strike="noStrike" kern="1200" cap="none" spc="-67" normalizeH="0" baseline="-18518" noProof="0" dirty="0">
                <a:ln>
                  <a:noFill/>
                </a:ln>
                <a:solidFill>
                  <a:srgbClr val="73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</a:t>
            </a:r>
            <a:endParaRPr kumimoji="0" sz="3150" b="0" i="0" u="none" strike="noStrike" kern="1200" cap="none" spc="0" normalizeH="0" baseline="-18518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4960861" y="2694756"/>
            <a:ext cx="3292801" cy="367408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0" lvl="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tabLst>
                <a:tab pos="354965" algn="l"/>
                <a:tab pos="355600" algn="l"/>
              </a:tabLst>
              <a:defRPr/>
            </a:pPr>
            <a:r>
              <a:rPr kumimoji="0" lang="en-US" b="1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cs typeface="Tahoma"/>
              </a:rPr>
              <a:t>Easy addition</a:t>
            </a:r>
            <a:r>
              <a:rPr lang="en-US" b="1" spc="-5" dirty="0">
                <a:solidFill>
                  <a:srgbClr val="00B050"/>
                </a:solidFill>
                <a:latin typeface="Tahoma"/>
                <a:cs typeface="Tahoma"/>
              </a:rPr>
              <a:t>/subtractions</a:t>
            </a:r>
            <a:endParaRPr kumimoji="0" lang="en-US" b="1" i="0" u="none" strike="noStrike" kern="1200" cap="none" spc="-5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093022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878" y="734246"/>
            <a:ext cx="612902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Why</a:t>
            </a:r>
            <a:r>
              <a:rPr spc="-30" dirty="0"/>
              <a:t> </a:t>
            </a:r>
            <a:r>
              <a:rPr dirty="0"/>
              <a:t>Not</a:t>
            </a:r>
            <a:r>
              <a:rPr spc="-15" dirty="0"/>
              <a:t> </a:t>
            </a:r>
            <a:r>
              <a:rPr spc="-5" dirty="0"/>
              <a:t>Sign+Magnitude?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4319" y="1597296"/>
            <a:ext cx="10355418" cy="4686539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0" lvl="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tabLst>
                <a:tab pos="354965" algn="l"/>
                <a:tab pos="355600" algn="l"/>
              </a:tabLst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12700" marR="0" lvl="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tabLst>
                <a:tab pos="354965" algn="l"/>
                <a:tab pos="355600" algn="l"/>
              </a:tabLst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Main reasons:</a:t>
            </a:r>
            <a:endParaRPr lang="en-US" sz="2800" dirty="0">
              <a:solidFill>
                <a:srgbClr val="000000"/>
              </a:solidFill>
              <a:latin typeface="Tahoma"/>
              <a:cs typeface="Tahoma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endParaRPr lang="en-US" sz="2800" dirty="0">
              <a:solidFill>
                <a:srgbClr val="000000"/>
              </a:solidFill>
              <a:latin typeface="Tahoma"/>
              <a:cs typeface="Tahoma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/>
                <a:cs typeface="Tahoma"/>
              </a:rPr>
              <a:t>Two zero representations are </a:t>
            </a:r>
            <a:r>
              <a:rPr lang="en-US" sz="2800" b="1" dirty="0">
                <a:solidFill>
                  <a:srgbClr val="FF0000"/>
                </a:solidFill>
                <a:latin typeface="Tahoma"/>
                <a:cs typeface="Tahoma"/>
              </a:rPr>
              <a:t>very annoying </a:t>
            </a:r>
            <a:r>
              <a:rPr lang="en-US" sz="2000" dirty="0">
                <a:latin typeface="Tahoma"/>
                <a:cs typeface="Tahoma"/>
              </a:rPr>
              <a:t>(and a math problem!)</a:t>
            </a:r>
            <a:endParaRPr lang="en-US" sz="2800" b="1" dirty="0">
              <a:solidFill>
                <a:srgbClr val="FF0000"/>
              </a:solidFill>
              <a:latin typeface="Tahoma"/>
              <a:cs typeface="Tahoma"/>
            </a:endParaRP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/>
                <a:cs typeface="Tahoma"/>
              </a:rPr>
              <a:t>One value is </a:t>
            </a:r>
            <a:r>
              <a:rPr lang="en-US" sz="2800" b="1" dirty="0">
                <a:solidFill>
                  <a:srgbClr val="FF0000"/>
                </a:solidFill>
                <a:latin typeface="Tahoma"/>
                <a:cs typeface="Tahoma"/>
              </a:rPr>
              <a:t>wasted</a:t>
            </a:r>
          </a:p>
          <a:p>
            <a:pPr marL="4699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/>
                <a:cs typeface="Tahoma"/>
              </a:rPr>
              <a:t>Hardware implementation is </a:t>
            </a:r>
            <a:r>
              <a:rPr lang="en-US" sz="2800" b="1" dirty="0">
                <a:solidFill>
                  <a:srgbClr val="FF0000"/>
                </a:solidFill>
                <a:latin typeface="Tahoma"/>
                <a:cs typeface="Tahoma"/>
              </a:rPr>
              <a:t>complicated</a:t>
            </a:r>
          </a:p>
          <a:p>
            <a:pPr marL="469900" lvl="0" indent="-457200">
              <a:spcBef>
                <a:spcPts val="70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/>
                <a:cs typeface="Tahoma"/>
              </a:rPr>
              <a:t>Addition without </a:t>
            </a:r>
            <a:r>
              <a:rPr lang="en-US" sz="2800" b="1" dirty="0">
                <a:solidFill>
                  <a:srgbClr val="FF0000"/>
                </a:solidFill>
                <a:latin typeface="Tahoma"/>
                <a:cs typeface="Tahoma"/>
              </a:rPr>
              <a:t>check</a:t>
            </a:r>
            <a:r>
              <a:rPr lang="en-US" sz="2800" dirty="0">
                <a:solidFill>
                  <a:srgbClr val="000000"/>
                </a:solidFill>
                <a:latin typeface="Tahoma"/>
                <a:cs typeface="Tahoma"/>
              </a:rPr>
              <a:t>, which operand is larger.</a:t>
            </a:r>
          </a:p>
          <a:p>
            <a:pPr marL="469900" lvl="0" indent="-457200">
              <a:spcBef>
                <a:spcPts val="70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/>
                <a:cs typeface="Tahoma"/>
              </a:rPr>
              <a:t>Simply </a:t>
            </a:r>
            <a:r>
              <a:rPr lang="en-US" sz="2800" b="1" dirty="0">
                <a:solidFill>
                  <a:srgbClr val="92D050"/>
                </a:solidFill>
                <a:latin typeface="Tahoma"/>
                <a:cs typeface="Tahoma"/>
              </a:rPr>
              <a:t>add</a:t>
            </a:r>
            <a:r>
              <a:rPr lang="en-US" sz="2800" dirty="0">
                <a:solidFill>
                  <a:srgbClr val="000000"/>
                </a:solidFill>
                <a:latin typeface="Tahoma"/>
                <a:cs typeface="Tahoma"/>
              </a:rPr>
              <a:t> numbers.</a:t>
            </a:r>
          </a:p>
          <a:p>
            <a:pPr marL="469900" lvl="0" indent="-457200">
              <a:spcBef>
                <a:spcPts val="705"/>
              </a:spcBef>
              <a:buFont typeface="Arial" panose="020B0604020202020204" pitchFamily="34" charset="0"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2800" dirty="0">
                <a:solidFill>
                  <a:srgbClr val="000000"/>
                </a:solidFill>
                <a:latin typeface="Tahoma"/>
                <a:cs typeface="Tahoma"/>
              </a:rPr>
              <a:t>One hardware adder </a:t>
            </a:r>
            <a:r>
              <a:rPr lang="en-US" sz="2800" b="1" dirty="0">
                <a:solidFill>
                  <a:srgbClr val="92D050"/>
                </a:solidFill>
                <a:latin typeface="Tahoma"/>
                <a:cs typeface="Tahoma"/>
              </a:rPr>
              <a:t>works for both signed and unsigned</a:t>
            </a:r>
            <a:endParaRPr lang="en-US" sz="2800" dirty="0">
              <a:solidFill>
                <a:srgbClr val="000000"/>
              </a:solidFill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1257920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83A903-8B2B-46BF-9E2E-ED3B2E7A2B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2</a:t>
            </a:r>
            <a:br>
              <a:rPr lang="en-US" dirty="0"/>
            </a:br>
            <a:r>
              <a:rPr lang="en-US" dirty="0"/>
              <a:t>Binary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2AE9CF5-360A-42DC-9BD3-935C41C3EF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1: Polynomial Evaluation</a:t>
            </a:r>
          </a:p>
        </p:txBody>
      </p:sp>
    </p:spTree>
    <p:extLst>
      <p:ext uri="{BB962C8B-B14F-4D97-AF65-F5344CB8AC3E}">
        <p14:creationId xmlns:p14="http://schemas.microsoft.com/office/powerpoint/2010/main" val="2407214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49192"/>
            <a:ext cx="10417284" cy="1144151"/>
          </a:xfrm>
        </p:spPr>
        <p:txBody>
          <a:bodyPr>
            <a:normAutofit/>
          </a:bodyPr>
          <a:lstStyle/>
          <a:p>
            <a:r>
              <a:rPr lang="en-US" dirty="0"/>
              <a:t>Symbols and their values used in positional number systems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92969" y="2193759"/>
          <a:ext cx="8414084" cy="4339388"/>
        </p:xfrm>
        <a:graphic>
          <a:graphicData uri="http://schemas.openxmlformats.org/drawingml/2006/table">
            <a:tbl>
              <a:tblPr firstRow="1" firstCol="1" bandRow="1"/>
              <a:tblGrid>
                <a:gridCol w="14995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29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2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8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599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System</a:t>
                      </a:r>
                      <a:endParaRPr lang="en-US" sz="32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Radix</a:t>
                      </a:r>
                      <a:endParaRPr lang="en-US" sz="3200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Digit </a:t>
                      </a:r>
                      <a:r>
                        <a:rPr lang="en-US" sz="3200" b="1" i="1" u="sng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Symbols</a:t>
                      </a:r>
                      <a:endParaRPr lang="en-US" sz="3200" u="sng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Corresponding 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i="1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Digit </a:t>
                      </a:r>
                      <a:r>
                        <a:rPr lang="en-US" sz="3200" b="1" i="1" u="sng" dirty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  <a:endParaRPr lang="en-US" sz="3200" u="sng" dirty="0">
                        <a:solidFill>
                          <a:schemeClr val="bg1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3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Binary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0,1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0,1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51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Decimal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0,1,2,3,4,</a:t>
                      </a:r>
                      <a:b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5,6,7,8,9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0,1,2,3,4,</a:t>
                      </a:r>
                      <a:b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5,6,7,8,9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391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Hex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16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0,1,2,3,4,5,6,7,</a:t>
                      </a:r>
                      <a:b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8,9,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A,B,C,D,E,F</a:t>
                      </a:r>
                      <a:endParaRPr lang="en-US" sz="24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0,1,2,3,4,5,6,7,</a:t>
                      </a:r>
                      <a:b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</a:b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8,9,</a:t>
                      </a: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10,11,12,13,14,15</a:t>
                      </a:r>
                      <a:endParaRPr lang="en-US" sz="2400" b="1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Calibri"/>
                      </a:endParaRPr>
                    </a:p>
                  </a:txBody>
                  <a:tcPr marL="73025" marR="73025" marT="36830" marB="368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4338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5205" y="746277"/>
            <a:ext cx="623887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Positional</a:t>
            </a:r>
            <a:r>
              <a:rPr spc="-25" dirty="0"/>
              <a:t> </a:t>
            </a:r>
            <a:r>
              <a:rPr spc="-5" dirty="0"/>
              <a:t>Number</a:t>
            </a:r>
            <a:r>
              <a:rPr spc="-25" dirty="0"/>
              <a:t> </a:t>
            </a:r>
            <a:r>
              <a:rPr spc="-5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5205" y="1445903"/>
            <a:ext cx="10382500" cy="4614084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406400" marR="43180" indent="-342900">
              <a:lnSpc>
                <a:spcPts val="3000"/>
              </a:lnSpc>
              <a:spcBef>
                <a:spcPts val="500"/>
              </a:spcBef>
              <a:buChar char="•"/>
              <a:tabLst>
                <a:tab pos="405765" algn="l"/>
                <a:tab pos="406400" algn="l"/>
              </a:tabLst>
            </a:pPr>
            <a:endParaRPr lang="en-US" sz="2800" spc="-5" dirty="0">
              <a:latin typeface="Calibri"/>
              <a:cs typeface="Calibri"/>
            </a:endParaRPr>
          </a:p>
          <a:p>
            <a:pPr marL="406400" marR="43180" indent="-342900">
              <a:lnSpc>
                <a:spcPts val="3000"/>
              </a:lnSpc>
              <a:spcBef>
                <a:spcPts val="500"/>
              </a:spcBef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Calibri"/>
                <a:cs typeface="Calibri"/>
              </a:rPr>
              <a:t>Numeric values are represented </a:t>
            </a:r>
            <a:r>
              <a:rPr sz="2800" dirty="0">
                <a:latin typeface="Calibri"/>
                <a:cs typeface="Calibri"/>
              </a:rPr>
              <a:t>by a </a:t>
            </a:r>
            <a:r>
              <a:rPr sz="2800" i="1" spc="-5" dirty="0">
                <a:latin typeface="Calibri"/>
                <a:cs typeface="Calibri"/>
              </a:rPr>
              <a:t>sequence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digit symbols.</a:t>
            </a:r>
            <a:endParaRPr sz="2800" dirty="0">
              <a:latin typeface="Calibri"/>
              <a:cs typeface="Calibri"/>
            </a:endParaRPr>
          </a:p>
          <a:p>
            <a:pPr marL="520700">
              <a:spcBef>
                <a:spcPts val="285"/>
              </a:spcBef>
              <a:tabLst>
                <a:tab pos="805815" algn="l"/>
              </a:tabLst>
            </a:pPr>
            <a:endParaRPr lang="en-US" sz="2400" dirty="0">
              <a:latin typeface="Calibri"/>
              <a:cs typeface="Calibri"/>
            </a:endParaRPr>
          </a:p>
          <a:p>
            <a:pPr marL="520700">
              <a:spcBef>
                <a:spcPts val="285"/>
              </a:spcBef>
              <a:tabLst>
                <a:tab pos="805815" algn="l"/>
              </a:tabLst>
            </a:pPr>
            <a:r>
              <a:rPr sz="2400" dirty="0">
                <a:latin typeface="Calibri"/>
                <a:cs typeface="Calibri"/>
              </a:rPr>
              <a:t>–	E</a:t>
            </a:r>
            <a:r>
              <a:rPr sz="2400" spc="-5" dirty="0">
                <a:latin typeface="Calibri"/>
                <a:cs typeface="Calibri"/>
              </a:rPr>
              <a:t>x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10" dirty="0">
                <a:latin typeface="Calibri"/>
                <a:cs typeface="Calibri"/>
              </a:rPr>
              <a:t>m</a:t>
            </a:r>
            <a:r>
              <a:rPr sz="2400" dirty="0">
                <a:latin typeface="Calibri"/>
                <a:cs typeface="Calibri"/>
              </a:rPr>
              <a:t>ples: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235</a:t>
            </a:r>
            <a:r>
              <a:rPr sz="2400" spc="-10" dirty="0">
                <a:latin typeface="Calibri"/>
                <a:cs typeface="Calibri"/>
              </a:rPr>
              <a:t>4</a:t>
            </a:r>
            <a:r>
              <a:rPr sz="2400" baseline="-17361" dirty="0">
                <a:latin typeface="Calibri"/>
                <a:cs typeface="Calibri"/>
              </a:rPr>
              <a:t>10 </a:t>
            </a:r>
            <a:r>
              <a:rPr sz="2400" dirty="0">
                <a:latin typeface="Calibri"/>
                <a:cs typeface="Calibri"/>
              </a:rPr>
              <a:t>,</a:t>
            </a:r>
            <a:r>
              <a:rPr sz="2400" spc="-18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1101</a:t>
            </a:r>
            <a:r>
              <a:rPr sz="2400" baseline="-17361" dirty="0">
                <a:latin typeface="Calibri"/>
                <a:cs typeface="Calibri"/>
              </a:rPr>
              <a:t>2, </a:t>
            </a:r>
            <a:r>
              <a:rPr sz="2400" spc="-5" dirty="0">
                <a:latin typeface="Calibri"/>
                <a:cs typeface="Calibri"/>
              </a:rPr>
              <a:t>F</a:t>
            </a:r>
            <a:r>
              <a:rPr sz="2400" spc="-10" dirty="0">
                <a:latin typeface="Calibri"/>
                <a:cs typeface="Calibri"/>
              </a:rPr>
              <a:t>8</a:t>
            </a:r>
            <a:r>
              <a:rPr sz="2400" dirty="0">
                <a:latin typeface="Calibri"/>
                <a:cs typeface="Calibri"/>
              </a:rPr>
              <a:t>ED</a:t>
            </a:r>
            <a:r>
              <a:rPr sz="2400" baseline="-17361" dirty="0">
                <a:latin typeface="Calibri"/>
                <a:cs typeface="Calibri"/>
              </a:rPr>
              <a:t>16</a:t>
            </a:r>
            <a:endParaRPr sz="3250" dirty="0">
              <a:latin typeface="Calibri"/>
              <a:cs typeface="Calibri"/>
            </a:endParaRPr>
          </a:p>
          <a:p>
            <a:pPr marL="406400" indent="-342900">
              <a:buChar char="•"/>
              <a:tabLst>
                <a:tab pos="405765" algn="l"/>
                <a:tab pos="406400" algn="l"/>
              </a:tabLst>
            </a:pPr>
            <a:endParaRPr lang="en-US" sz="2800" spc="-5" dirty="0">
              <a:latin typeface="Calibri"/>
              <a:cs typeface="Calibri"/>
            </a:endParaRPr>
          </a:p>
          <a:p>
            <a:pPr marL="63500">
              <a:tabLst>
                <a:tab pos="405765" algn="l"/>
                <a:tab pos="406400" algn="l"/>
              </a:tabLst>
            </a:pPr>
            <a:endParaRPr lang="en-US" sz="2800" spc="-5" dirty="0">
              <a:latin typeface="Calibri"/>
              <a:cs typeface="Calibri"/>
            </a:endParaRPr>
          </a:p>
          <a:p>
            <a:pPr marL="406400" indent="-342900">
              <a:buChar char="•"/>
              <a:tabLst>
                <a:tab pos="405765" algn="l"/>
                <a:tab pos="406400" algn="l"/>
              </a:tabLst>
            </a:pPr>
            <a:r>
              <a:rPr sz="2800" spc="-5" dirty="0">
                <a:latin typeface="Calibri"/>
                <a:cs typeface="Calibri"/>
              </a:rPr>
              <a:t>Symbols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represent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numeric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i="1" spc="-5" dirty="0">
                <a:latin typeface="Calibri"/>
                <a:cs typeface="Calibri"/>
              </a:rPr>
              <a:t>values</a:t>
            </a:r>
            <a:r>
              <a:rPr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806450" lvl="1" indent="-285750">
              <a:spcBef>
                <a:spcPts val="254"/>
              </a:spcBef>
              <a:buChar char="–"/>
              <a:tabLst>
                <a:tab pos="805815" algn="l"/>
                <a:tab pos="806450" algn="l"/>
              </a:tabLst>
            </a:pPr>
            <a:endParaRPr lang="en-US" sz="2400" spc="-5" dirty="0">
              <a:latin typeface="Calibri"/>
              <a:cs typeface="Calibri"/>
            </a:endParaRPr>
          </a:p>
          <a:p>
            <a:pPr marL="806450" lvl="1" indent="-285750">
              <a:spcBef>
                <a:spcPts val="254"/>
              </a:spcBef>
              <a:buChar char="–"/>
              <a:tabLst>
                <a:tab pos="805815" algn="l"/>
                <a:tab pos="806450" algn="l"/>
              </a:tabLst>
            </a:pPr>
            <a:r>
              <a:rPr sz="2400" spc="-5" dirty="0">
                <a:latin typeface="Calibri"/>
                <a:cs typeface="Calibri"/>
              </a:rPr>
              <a:t>Symbols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limited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‘0’-’9’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b="1" spc="-5" dirty="0">
                <a:solidFill>
                  <a:srgbClr val="92D050"/>
                </a:solidFill>
                <a:latin typeface="Calibri"/>
                <a:cs typeface="Calibri"/>
              </a:rPr>
              <a:t>additional</a:t>
            </a:r>
            <a:r>
              <a:rPr lang="en-US" sz="2400" spc="-5" dirty="0">
                <a:latin typeface="Calibri"/>
                <a:cs typeface="Calibri"/>
              </a:rPr>
              <a:t> ‘A’ – ‘F’</a:t>
            </a:r>
            <a:r>
              <a:rPr sz="2400" spc="-5" dirty="0">
                <a:latin typeface="Calibri"/>
                <a:cs typeface="Calibri"/>
              </a:rPr>
              <a:t>!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endParaRPr sz="2400" dirty="0">
              <a:latin typeface="Calibri"/>
              <a:cs typeface="Calibri"/>
            </a:endParaRPr>
          </a:p>
          <a:p>
            <a:pPr marL="806450" lvl="1" indent="-285750">
              <a:spcBef>
                <a:spcPts val="315"/>
              </a:spcBef>
              <a:buChar char="–"/>
              <a:tabLst>
                <a:tab pos="805815" algn="l"/>
                <a:tab pos="806450" algn="l"/>
              </a:tabLst>
            </a:pPr>
            <a:r>
              <a:rPr sz="2400" spc="-5" dirty="0">
                <a:latin typeface="Calibri"/>
                <a:cs typeface="Calibri"/>
              </a:rPr>
              <a:t>Example: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AFED</a:t>
            </a:r>
            <a:r>
              <a:rPr sz="2400" spc="-7" baseline="-17361" dirty="0">
                <a:latin typeface="Calibri"/>
                <a:cs typeface="Calibri"/>
              </a:rPr>
              <a:t>16</a:t>
            </a:r>
            <a:endParaRPr sz="3200" dirty="0">
              <a:latin typeface="Calibri"/>
              <a:cs typeface="Calibri"/>
            </a:endParaRPr>
          </a:p>
          <a:p>
            <a:pPr marL="63500" marR="179705">
              <a:lnSpc>
                <a:spcPts val="3000"/>
              </a:lnSpc>
              <a:tabLst>
                <a:tab pos="405765" algn="l"/>
                <a:tab pos="406400" algn="l"/>
              </a:tabLst>
            </a:pPr>
            <a:endParaRPr lang="en-US" sz="2800" spc="-5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62296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8" y="741426"/>
            <a:ext cx="6615304" cy="730437"/>
          </a:xfrm>
        </p:spPr>
        <p:txBody>
          <a:bodyPr/>
          <a:lstStyle/>
          <a:p>
            <a:r>
              <a:rPr lang="en-US" dirty="0"/>
              <a:t>POLYNOMIAL EVALUATION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74557" y="1522335"/>
                <a:ext cx="10371221" cy="5119097"/>
              </a:xfrm>
            </p:spPr>
            <p:txBody>
              <a:bodyPr/>
              <a:lstStyle/>
              <a:p>
                <a:pPr marL="0" indent="0">
                  <a:buNone/>
                  <a:tabLst>
                    <a:tab pos="2743200" algn="r"/>
                    <a:tab pos="2916238" algn="l"/>
                  </a:tabLst>
                </a:pPr>
                <a:r>
                  <a:rPr lang="en-US" dirty="0"/>
                  <a:t>	</a:t>
                </a:r>
                <a:endParaRPr lang="en-US" baseline="-25000" dirty="0"/>
              </a:p>
              <a:p>
                <a:pPr marL="0" indent="0">
                  <a:buNone/>
                  <a:tabLst>
                    <a:tab pos="2743200" algn="r"/>
                    <a:tab pos="2916238" algn="l"/>
                  </a:tabLst>
                </a:pPr>
                <a:r>
                  <a:rPr lang="en-US" baseline="-25000" dirty="0"/>
                  <a:t>	</a:t>
                </a:r>
                <a:r>
                  <a:rPr lang="en-US" dirty="0">
                    <a:solidFill>
                      <a:schemeClr val="tx1"/>
                    </a:solidFill>
                  </a:rPr>
                  <a:t>Example:</a:t>
                </a:r>
                <a:r>
                  <a:rPr lang="en-US" dirty="0"/>
                  <a:t>	</a:t>
                </a:r>
                <a:r>
                  <a:rPr lang="en-US" dirty="0">
                    <a:solidFill>
                      <a:srgbClr val="92D050"/>
                    </a:solidFill>
                  </a:rPr>
                  <a:t>3672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10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  <a:tabLst>
                    <a:tab pos="2743200" algn="r"/>
                    <a:tab pos="2916238" algn="l"/>
                  </a:tabLst>
                </a:pPr>
                <a:endParaRPr lang="en-US" baseline="-25000" dirty="0"/>
              </a:p>
              <a:p>
                <a:pPr marL="0" indent="0">
                  <a:buNone/>
                  <a:tabLst>
                    <a:tab pos="2743200" algn="r"/>
                    <a:tab pos="2916238" algn="l"/>
                  </a:tabLst>
                </a:pPr>
                <a:r>
                  <a:rPr lang="en-US" dirty="0"/>
                  <a:t>	</a:t>
                </a:r>
              </a:p>
              <a:p>
                <a:pPr marL="0" indent="0">
                  <a:buNone/>
                  <a:tabLst>
                    <a:tab pos="2743200" algn="r"/>
                    <a:tab pos="2916238" algn="l"/>
                  </a:tabLst>
                </a:pPr>
                <a:r>
                  <a:rPr lang="en-US" b="1" i="1" dirty="0"/>
                  <a:t>	 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b="1" dirty="0">
                    <a:solidFill>
                      <a:schemeClr val="tx1"/>
                    </a:solidFill>
                  </a:rPr>
                  <a:t>+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sSup>
                      <m:sSupPr>
                        <m:ctrlP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endParaRPr lang="en-US" b="1" dirty="0"/>
              </a:p>
              <a:p>
                <a:pPr marL="0" indent="0">
                  <a:buNone/>
                  <a:tabLst>
                    <a:tab pos="2743200" algn="r"/>
                    <a:tab pos="2916238" algn="l"/>
                  </a:tabLst>
                </a:pPr>
                <a:endParaRPr lang="en-US" b="1" dirty="0"/>
              </a:p>
              <a:p>
                <a:pPr marL="400050" lvl="1" indent="0">
                  <a:buNone/>
                  <a:tabLst>
                    <a:tab pos="2743200" algn="r"/>
                    <a:tab pos="2916238" algn="l"/>
                  </a:tabLst>
                </a:pPr>
                <a:r>
                  <a:rPr lang="en-US" baseline="-25000" dirty="0"/>
                  <a:t>	</a:t>
                </a:r>
                <a:r>
                  <a:rPr lang="en-US" dirty="0">
                    <a:solidFill>
                      <a:schemeClr val="tx1"/>
                    </a:solidFill>
                  </a:rPr>
                  <a:t>where: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b="1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are the corresponding digit </a:t>
                </a:r>
                <a:r>
                  <a:rPr lang="en-US" u="sng" dirty="0">
                    <a:solidFill>
                      <a:schemeClr val="tx1"/>
                    </a:solidFill>
                  </a:rPr>
                  <a:t>values</a:t>
                </a:r>
              </a:p>
              <a:p>
                <a:pPr marL="400050" lvl="1" indent="0">
                  <a:buNone/>
                  <a:tabLst>
                    <a:tab pos="2743200" algn="r"/>
                    <a:tab pos="2916238" algn="l"/>
                  </a:tabLst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400050" lvl="1" indent="0">
                  <a:buNone/>
                  <a:tabLst>
                    <a:tab pos="2743200" algn="r"/>
                    <a:tab pos="2916238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	and: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is the </a:t>
                </a:r>
                <a:r>
                  <a:rPr lang="en-US" u="sng" dirty="0">
                    <a:solidFill>
                      <a:schemeClr val="tx1"/>
                    </a:solidFill>
                  </a:rPr>
                  <a:t>radix</a:t>
                </a:r>
                <a:r>
                  <a:rPr lang="en-US" dirty="0">
                    <a:solidFill>
                      <a:schemeClr val="tx1"/>
                    </a:solidFill>
                  </a:rPr>
                  <a:t> (number base)</a:t>
                </a:r>
              </a:p>
              <a:p>
                <a:pPr marL="400050" lvl="1" indent="0">
                  <a:buNone/>
                  <a:tabLst>
                    <a:tab pos="2743200" algn="r"/>
                    <a:tab pos="2916238" algn="l"/>
                  </a:tabLst>
                </a:pPr>
                <a:endParaRPr lang="en-US" dirty="0">
                  <a:solidFill>
                    <a:schemeClr val="tx1"/>
                  </a:solidFill>
                </a:endParaRPr>
              </a:p>
              <a:p>
                <a:pPr marL="400050" lvl="1" indent="0">
                  <a:buNone/>
                  <a:tabLst>
                    <a:tab pos="2743200" algn="r"/>
                    <a:tab pos="2916238" algn="l"/>
                  </a:tabLst>
                </a:pPr>
                <a:r>
                  <a:rPr lang="en-US" sz="2400" dirty="0">
                    <a:solidFill>
                      <a:schemeClr val="tx1"/>
                    </a:solidFill>
                  </a:rPr>
                  <a:t>	Ex:</a:t>
                </a: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=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92D050"/>
                    </a:solidFill>
                  </a:rPr>
                  <a:t>3672</a:t>
                </a:r>
                <a:r>
                  <a:rPr lang="en-US" baseline="-25000" dirty="0">
                    <a:solidFill>
                      <a:srgbClr val="FF0000"/>
                    </a:solidFill>
                  </a:rPr>
                  <a:t>10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74557" y="1522335"/>
                <a:ext cx="10371221" cy="511909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/>
          <p:cNvCxnSpPr/>
          <p:nvPr/>
        </p:nvCxnSpPr>
        <p:spPr>
          <a:xfrm flipH="1" flipV="1">
            <a:off x="4742237" y="2344131"/>
            <a:ext cx="1140187" cy="7165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780366" y="2752886"/>
            <a:ext cx="3900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Subscript used to identify </a:t>
            </a:r>
            <a:r>
              <a:rPr lang="en-US" dirty="0">
                <a:solidFill>
                  <a:srgbClr val="FF0000"/>
                </a:solidFill>
              </a:rPr>
              <a:t>radix (</a:t>
            </a:r>
            <a:r>
              <a:rPr lang="en-US" b="1" dirty="0">
                <a:solidFill>
                  <a:srgbClr val="FF0000"/>
                </a:solidFill>
              </a:rPr>
              <a:t>R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7DFE6A4-C5A9-4AFD-965D-DF94762D4C57}"/>
              </a:ext>
            </a:extLst>
          </p:cNvPr>
          <p:cNvCxnSpPr>
            <a:cxnSpLocks/>
          </p:cNvCxnSpPr>
          <p:nvPr/>
        </p:nvCxnSpPr>
        <p:spPr>
          <a:xfrm flipV="1">
            <a:off x="3236495" y="2290011"/>
            <a:ext cx="749968" cy="64754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9F3C9A9-F147-4FC4-A194-F4BC3F374FBC}"/>
              </a:ext>
            </a:extLst>
          </p:cNvPr>
          <p:cNvSpPr txBox="1"/>
          <p:nvPr/>
        </p:nvSpPr>
        <p:spPr>
          <a:xfrm>
            <a:off x="283909" y="2752886"/>
            <a:ext cx="3234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These are the digit symbols</a:t>
            </a:r>
          </a:p>
        </p:txBody>
      </p:sp>
    </p:spTree>
    <p:extLst>
      <p:ext uri="{BB962C8B-B14F-4D97-AF65-F5344CB8AC3E}">
        <p14:creationId xmlns:p14="http://schemas.microsoft.com/office/powerpoint/2010/main" val="3557512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498" y="745796"/>
            <a:ext cx="506793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Polynomial</a:t>
            </a:r>
            <a:r>
              <a:rPr spc="-45" dirty="0"/>
              <a:t> </a:t>
            </a:r>
            <a:r>
              <a:rPr dirty="0"/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1497" y="1703057"/>
            <a:ext cx="10446419" cy="4784708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755015" lvl="0" indent="0" algn="l" defTabSz="914400" rtl="0" eaLnBrk="1" fontAlgn="auto" latinLnBrk="0" hangingPunct="1">
              <a:lnSpc>
                <a:spcPct val="1014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>
                <a:tab pos="3021965" algn="l"/>
                <a:tab pos="3490595" algn="l"/>
              </a:tabLst>
              <a:defRPr/>
            </a:pP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Polynomial Evaluation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can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be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convert</a:t>
            </a:r>
            <a:r>
              <a:rPr kumimoji="0" lang="en-US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755015" lvl="0" indent="-457200">
              <a:lnSpc>
                <a:spcPct val="101400"/>
              </a:lnSpc>
              <a:spcBef>
                <a:spcPts val="50"/>
              </a:spcBef>
              <a:buFont typeface="Arial" panose="020B0604020202020204" pitchFamily="34" charset="0"/>
              <a:buChar char="•"/>
              <a:tabLst>
                <a:tab pos="3021965" algn="l"/>
                <a:tab pos="3490595" algn="l"/>
              </a:tabLst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755015" lvl="0" indent="-457200">
              <a:lnSpc>
                <a:spcPct val="101400"/>
              </a:lnSpc>
              <a:spcBef>
                <a:spcPts val="50"/>
              </a:spcBef>
              <a:buFont typeface="Arial" panose="020B0604020202020204" pitchFamily="34" charset="0"/>
              <a:buChar char="•"/>
              <a:tabLst>
                <a:tab pos="3021965" algn="l"/>
                <a:tab pos="3490595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6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800" b="0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any</a:t>
            </a:r>
            <a:r>
              <a:rPr kumimoji="0" sz="2800" b="0" i="0" u="heavy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28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base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base</a:t>
            </a:r>
            <a:r>
              <a:rPr kumimoji="0" sz="2800" b="0" i="0" u="heavy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2800" b="0" i="0" u="heavy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10</a:t>
            </a:r>
            <a:r>
              <a:rPr lang="en-US" sz="2400" spc="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(Base aka Radix)</a:t>
            </a:r>
            <a:endParaRPr kumimoji="0" sz="375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71620" algn="l"/>
              </a:tabLst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5080" lvl="0" indent="0" algn="l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407162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***Important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927100" marR="5080" lvl="1" indent="-457200">
              <a:lnSpc>
                <a:spcPct val="99600"/>
              </a:lnSpc>
              <a:buFont typeface="Arial" panose="020B0604020202020204" pitchFamily="34" charset="0"/>
              <a:buChar char="•"/>
              <a:tabLst>
                <a:tab pos="4071620" algn="l"/>
              </a:tabLst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927100" marR="5080" lvl="1" indent="-457200">
              <a:lnSpc>
                <a:spcPct val="99600"/>
              </a:lnSpc>
              <a:buFont typeface="Arial" panose="020B0604020202020204" pitchFamily="34" charset="0"/>
              <a:buChar char="•"/>
              <a:tabLst>
                <a:tab pos="407162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Polynomial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evaluation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only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</a:t>
            </a:r>
            <a:r>
              <a:rPr kumimoji="0" sz="2800" b="1" i="0" u="none" strike="noStrike" kern="1200" cap="none" spc="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converting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base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endParaRPr kumimoji="0" lang="en-US" sz="2800" b="0" i="0" u="none" strike="noStrike" kern="1200" cap="none" spc="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927100" marR="5080" lvl="1" indent="-457200">
              <a:lnSpc>
                <a:spcPct val="99600"/>
              </a:lnSpc>
              <a:buFont typeface="Arial" panose="020B0604020202020204" pitchFamily="34" charset="0"/>
              <a:buChar char="•"/>
              <a:tabLst>
                <a:tab pos="4071620" algn="l"/>
              </a:tabLst>
              <a:defRPr/>
            </a:pPr>
            <a:endParaRPr kumimoji="0" lang="en-US" sz="2800" b="1" i="0" u="none" strike="noStrike" kern="1200" cap="none" spc="-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927100" marR="5080" lvl="1" indent="-457200">
              <a:lnSpc>
                <a:spcPct val="99600"/>
              </a:lnSpc>
              <a:buFont typeface="Arial" panose="020B0604020202020204" pitchFamily="34" charset="0"/>
              <a:buChar char="•"/>
              <a:tabLst>
                <a:tab pos="4071620" algn="l"/>
              </a:tabLst>
              <a:defRPr/>
            </a:pP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doesn’t</a:t>
            </a:r>
            <a:r>
              <a:rPr kumimoji="0" sz="2800" b="1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work</a:t>
            </a:r>
            <a:r>
              <a:rPr kumimoji="0" sz="2800" b="1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</a:t>
            </a:r>
            <a:r>
              <a:rPr kumimoji="0" sz="2800" b="0" i="0" u="none" strike="noStrike" kern="1200" cap="none" spc="-6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convert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direction</a:t>
            </a:r>
            <a:br>
              <a:rPr lang="en-US" sz="2800" b="1" spc="-10" dirty="0">
                <a:solidFill>
                  <a:srgbClr val="FF0000"/>
                </a:solidFill>
                <a:latin typeface="Calibri"/>
                <a:cs typeface="Calibri"/>
              </a:rPr>
            </a:b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I.e.,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decimal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something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else!	</a:t>
            </a:r>
            <a:br>
              <a:rPr lang="en-US" sz="2800" spc="-5" dirty="0">
                <a:solidFill>
                  <a:srgbClr val="000000"/>
                </a:solidFill>
                <a:latin typeface="Calibri"/>
                <a:cs typeface="Calibri"/>
              </a:rPr>
            </a:b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those 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cases,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we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other techniques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4390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68880"/>
            <a:ext cx="8229600" cy="533400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           </a:t>
            </a:r>
            <a:r>
              <a:rPr lang="en-US" dirty="0">
                <a:solidFill>
                  <a:srgbClr val="92D050"/>
                </a:solidFill>
              </a:rPr>
              <a:t>547</a:t>
            </a:r>
            <a:r>
              <a:rPr lang="en-US" dirty="0"/>
              <a:t> 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179" y="741028"/>
            <a:ext cx="6491316" cy="599999"/>
          </a:xfrm>
        </p:spPr>
        <p:txBody>
          <a:bodyPr/>
          <a:lstStyle/>
          <a:p>
            <a:r>
              <a:rPr lang="en-US" dirty="0"/>
              <a:t>POLYNOMIAL EVALUATION</a:t>
            </a:r>
          </a:p>
        </p:txBody>
      </p:sp>
      <p:sp>
        <p:nvSpPr>
          <p:cNvPr id="4" name="Line Callout 1 (No Border) 3"/>
          <p:cNvSpPr/>
          <p:nvPr/>
        </p:nvSpPr>
        <p:spPr>
          <a:xfrm>
            <a:off x="1975945" y="1209953"/>
            <a:ext cx="1828800" cy="1066800"/>
          </a:xfrm>
          <a:prstGeom prst="callout1">
            <a:avLst>
              <a:gd name="adj1" fmla="val 90372"/>
              <a:gd name="adj2" fmla="val 53904"/>
              <a:gd name="adj3" fmla="val 116199"/>
              <a:gd name="adj4" fmla="val 61079"/>
            </a:avLst>
          </a:prstGeom>
          <a:noFill/>
          <a:ln w="28575">
            <a:solidFill>
              <a:schemeClr val="tx1"/>
            </a:solidFill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Symbolic </a:t>
            </a:r>
            <a:r>
              <a:rPr lang="en-US" b="1" dirty="0">
                <a:solidFill>
                  <a:schemeClr val="tx1"/>
                </a:solidFill>
              </a:rPr>
              <a:t>representation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en-US" i="1" dirty="0">
                <a:solidFill>
                  <a:schemeClr val="tx1"/>
                </a:solidFill>
              </a:rPr>
              <a:t>What we write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Line Callout 1 (No Border) 4"/>
          <p:cNvSpPr/>
          <p:nvPr/>
        </p:nvSpPr>
        <p:spPr>
          <a:xfrm>
            <a:off x="1596189" y="5448300"/>
            <a:ext cx="2810161" cy="533400"/>
          </a:xfrm>
          <a:prstGeom prst="callout1">
            <a:avLst>
              <a:gd name="adj1" fmla="val 55930"/>
              <a:gd name="adj2" fmla="val 91851"/>
              <a:gd name="adj3" fmla="val -42232"/>
              <a:gd name="adj4" fmla="val 135596"/>
            </a:avLst>
          </a:prstGeom>
          <a:noFill/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Numeric </a:t>
            </a:r>
            <a:r>
              <a:rPr lang="en-US" b="1" dirty="0">
                <a:solidFill>
                  <a:schemeClr val="tx1"/>
                </a:solidFill>
              </a:rPr>
              <a:t>interpretation</a:t>
            </a:r>
          </a:p>
          <a:p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i="1" dirty="0">
                <a:solidFill>
                  <a:schemeClr val="tx1"/>
                </a:solidFill>
              </a:rPr>
              <a:t>What we understand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6" name="Line Callout 1 (No Border) 5"/>
          <p:cNvSpPr/>
          <p:nvPr/>
        </p:nvSpPr>
        <p:spPr>
          <a:xfrm>
            <a:off x="1967951" y="3413522"/>
            <a:ext cx="2460335" cy="792956"/>
          </a:xfrm>
          <a:prstGeom prst="callout1">
            <a:avLst>
              <a:gd name="adj1" fmla="val -12132"/>
              <a:gd name="adj2" fmla="val 63169"/>
              <a:gd name="adj3" fmla="val -51628"/>
              <a:gd name="adj4" fmla="val 69407"/>
            </a:avLst>
          </a:prstGeom>
          <a:noFill/>
          <a:ln w="28575">
            <a:solidFill>
              <a:schemeClr val="tx1"/>
            </a:solidFill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Subscript indicate the radix (number base)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15524" y="1575631"/>
            <a:ext cx="2745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Digit values (coefficients)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53001" y="3135868"/>
            <a:ext cx="4198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Positional weights (powers of the radix)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5255564" y="1954607"/>
            <a:ext cx="383236" cy="5022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6761747" y="1931746"/>
            <a:ext cx="20053" cy="5251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519737" y="1931746"/>
            <a:ext cx="701842" cy="5547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 flipV="1">
            <a:off x="5921666" y="2807733"/>
            <a:ext cx="242539" cy="37736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7427495" y="2845055"/>
            <a:ext cx="0" cy="40027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8199212" y="2859318"/>
            <a:ext cx="619936" cy="32578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495800" y="2365815"/>
            <a:ext cx="4863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</a:t>
            </a:r>
            <a:r>
              <a:rPr lang="en-US" sz="3200" dirty="0"/>
              <a:t> </a:t>
            </a:r>
            <a:r>
              <a:rPr lang="en-US" sz="3200" dirty="0">
                <a:solidFill>
                  <a:srgbClr val="92D050"/>
                </a:solidFill>
              </a:rPr>
              <a:t>5</a:t>
            </a:r>
            <a:r>
              <a:rPr lang="en-US" sz="3200" dirty="0"/>
              <a:t>×</a:t>
            </a:r>
            <a:r>
              <a:rPr lang="en-US" sz="3200" dirty="0">
                <a:solidFill>
                  <a:srgbClr val="FF0000"/>
                </a:solidFill>
              </a:rPr>
              <a:t>10</a:t>
            </a:r>
            <a:r>
              <a:rPr lang="en-US" sz="3200" baseline="30000" dirty="0"/>
              <a:t>2</a:t>
            </a:r>
            <a:r>
              <a:rPr lang="en-US" sz="3200" dirty="0"/>
              <a:t> + </a:t>
            </a:r>
            <a:r>
              <a:rPr lang="en-US" sz="3200" dirty="0">
                <a:solidFill>
                  <a:srgbClr val="92D050"/>
                </a:solidFill>
              </a:rPr>
              <a:t>4</a:t>
            </a:r>
            <a:r>
              <a:rPr lang="en-US" sz="3200" dirty="0"/>
              <a:t>×</a:t>
            </a:r>
            <a:r>
              <a:rPr lang="en-US" sz="3200" dirty="0">
                <a:solidFill>
                  <a:srgbClr val="FF0000"/>
                </a:solidFill>
              </a:rPr>
              <a:t>10</a:t>
            </a:r>
            <a:r>
              <a:rPr lang="en-US" sz="3200" baseline="30000" dirty="0"/>
              <a:t>1</a:t>
            </a:r>
            <a:r>
              <a:rPr lang="en-US" sz="3200" dirty="0"/>
              <a:t> + </a:t>
            </a:r>
            <a:r>
              <a:rPr lang="en-US" sz="3200" dirty="0">
                <a:solidFill>
                  <a:srgbClr val="92D050"/>
                </a:solidFill>
              </a:rPr>
              <a:t>7</a:t>
            </a:r>
            <a:r>
              <a:rPr lang="en-US" sz="3200" dirty="0"/>
              <a:t>×</a:t>
            </a:r>
            <a:r>
              <a:rPr lang="en-US" sz="3200" dirty="0">
                <a:solidFill>
                  <a:srgbClr val="FF0000"/>
                </a:solidFill>
              </a:rPr>
              <a:t>10</a:t>
            </a:r>
            <a:r>
              <a:rPr lang="en-US" sz="3200" baseline="30000" dirty="0"/>
              <a:t>0</a:t>
            </a:r>
            <a:endParaRPr lang="en-US" sz="3200" dirty="0"/>
          </a:p>
        </p:txBody>
      </p:sp>
      <p:sp>
        <p:nvSpPr>
          <p:cNvPr id="15" name="TextBox 14"/>
          <p:cNvSpPr txBox="1"/>
          <p:nvPr/>
        </p:nvSpPr>
        <p:spPr>
          <a:xfrm>
            <a:off x="4724400" y="4221540"/>
            <a:ext cx="284084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= 500 + 40 + 7</a:t>
            </a:r>
          </a:p>
          <a:p>
            <a:r>
              <a:rPr lang="en-US" sz="3200" dirty="0"/>
              <a:t>= 547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8837" y="2645082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0" y="5476055"/>
            <a:ext cx="5023060" cy="923330"/>
          </a:xfrm>
          <a:prstGeom prst="rect">
            <a:avLst/>
          </a:prstGeom>
          <a:solidFill>
            <a:srgbClr val="FF0000">
              <a:alpha val="25000"/>
            </a:srgb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result of polynomial evaluation </a:t>
            </a:r>
            <a:r>
              <a:rPr lang="en-US" b="1" dirty="0"/>
              <a:t>is always a decimal number</a:t>
            </a:r>
            <a:r>
              <a:rPr lang="en-US" dirty="0"/>
              <a:t>, regardless of the used </a:t>
            </a:r>
            <a:r>
              <a:rPr lang="en-US" b="1" dirty="0"/>
              <a:t>radix</a:t>
            </a:r>
            <a:r>
              <a:rPr lang="en-US" dirty="0"/>
              <a:t> used in the </a:t>
            </a:r>
            <a:r>
              <a:rPr lang="en-US" b="1" dirty="0"/>
              <a:t>original representation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9119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Examples</a:t>
            </a:r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3072078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59911"/>
            <a:ext cx="8771021" cy="699921"/>
          </a:xfrm>
        </p:spPr>
        <p:txBody>
          <a:bodyPr>
            <a:normAutofit/>
          </a:bodyPr>
          <a:lstStyle/>
          <a:p>
            <a:r>
              <a:rPr lang="en-US" dirty="0"/>
              <a:t>Converting from </a:t>
            </a:r>
            <a:r>
              <a:rPr lang="en-US" i="1" dirty="0"/>
              <a:t>ANY</a:t>
            </a:r>
            <a:r>
              <a:rPr lang="en-US" dirty="0"/>
              <a:t> Radix to Decimal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14399" y="1712496"/>
            <a:ext cx="10403305" cy="493294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Example: Converting from Radix 5 to Decimal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92D050"/>
                </a:solidFill>
              </a:rPr>
              <a:t>3124</a:t>
            </a:r>
            <a:r>
              <a:rPr lang="en-US" b="1" baseline="-25000" dirty="0">
                <a:solidFill>
                  <a:srgbClr val="FF0000"/>
                </a:solidFill>
              </a:rPr>
              <a:t>5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  <a:sym typeface="Wingdings"/>
              </a:rPr>
              <a:t></a:t>
            </a:r>
            <a:r>
              <a:rPr lang="en-US" dirty="0"/>
              <a:t>	= </a:t>
            </a:r>
            <a:r>
              <a:rPr lang="en-US" dirty="0">
                <a:solidFill>
                  <a:srgbClr val="92D050"/>
                </a:solidFill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baseline="30000" dirty="0">
                <a:solidFill>
                  <a:schemeClr val="tx1"/>
                </a:solidFill>
              </a:rPr>
              <a:t>3</a:t>
            </a:r>
            <a:r>
              <a:rPr lang="en-US" dirty="0"/>
              <a:t>   </a:t>
            </a:r>
            <a:r>
              <a:rPr lang="en-US" dirty="0">
                <a:solidFill>
                  <a:schemeClr val="tx1"/>
                </a:solidFill>
              </a:rPr>
              <a:t>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baseline="30000" dirty="0">
                <a:solidFill>
                  <a:schemeClr val="tx1"/>
                </a:solidFill>
              </a:rPr>
              <a:t>2</a:t>
            </a:r>
            <a:r>
              <a:rPr lang="en-US" dirty="0"/>
              <a:t>  </a:t>
            </a:r>
            <a:r>
              <a:rPr lang="en-US" dirty="0">
                <a:solidFill>
                  <a:schemeClr val="tx1"/>
                </a:solidFill>
              </a:rPr>
              <a:t>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baseline="30000" dirty="0">
                <a:solidFill>
                  <a:schemeClr val="tx1"/>
                </a:solidFill>
              </a:rPr>
              <a:t>1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b="1" dirty="0">
                <a:solidFill>
                  <a:srgbClr val="FF0000"/>
                </a:solidFill>
              </a:rPr>
              <a:t>5</a:t>
            </a:r>
            <a:r>
              <a:rPr lang="en-US" baseline="30000" dirty="0">
                <a:solidFill>
                  <a:schemeClr val="tx1"/>
                </a:solidFill>
              </a:rPr>
              <a:t>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= </a:t>
            </a:r>
            <a:r>
              <a:rPr lang="en-US" dirty="0">
                <a:solidFill>
                  <a:srgbClr val="92D050"/>
                </a:solidFill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×125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×25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×5 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×1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		= 375 + 25 + 10 + 4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		= 414</a:t>
            </a:r>
            <a:r>
              <a:rPr lang="en-US" baseline="-250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68905" y="5931679"/>
            <a:ext cx="8742947" cy="70788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NOTE: Polynomial evaluation to </a:t>
            </a:r>
            <a:r>
              <a:rPr lang="en-US" sz="2000" b="1" dirty="0"/>
              <a:t>convert from ANY radix to decimal</a:t>
            </a:r>
            <a:r>
              <a:rPr lang="en-US" sz="2000" dirty="0"/>
              <a:t>. </a:t>
            </a:r>
          </a:p>
          <a:p>
            <a:r>
              <a:rPr lang="en-US" sz="2000" dirty="0"/>
              <a:t>The positional weights simply become powers of the radix.</a:t>
            </a:r>
          </a:p>
        </p:txBody>
      </p:sp>
    </p:spTree>
    <p:extLst>
      <p:ext uri="{BB962C8B-B14F-4D97-AF65-F5344CB8AC3E}">
        <p14:creationId xmlns:p14="http://schemas.microsoft.com/office/powerpoint/2010/main" val="3001794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2156618"/>
            <a:ext cx="10417284" cy="383580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92D050"/>
                </a:solidFill>
              </a:rPr>
              <a:t>1011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  <a:sym typeface="Wingdings"/>
              </a:rPr>
              <a:t></a:t>
            </a:r>
            <a:r>
              <a:rPr lang="en-US" dirty="0">
                <a:solidFill>
                  <a:schemeClr val="tx1"/>
                </a:solidFill>
              </a:rPr>
              <a:t>	=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=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×8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×2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×1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		= 8 + 2 + 1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		= 11</a:t>
            </a:r>
            <a:r>
              <a:rPr lang="en-US" baseline="-250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36516" y="759911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CONVERT BINARY TO DECIMAL</a:t>
            </a:r>
            <a:br>
              <a:rPr lang="en-US" dirty="0"/>
            </a:br>
            <a:r>
              <a:rPr lang="en-US" i="1" dirty="0"/>
              <a:t>(Using Polynomial Evaluation)</a:t>
            </a:r>
          </a:p>
        </p:txBody>
      </p:sp>
    </p:spTree>
    <p:extLst>
      <p:ext uri="{BB962C8B-B14F-4D97-AF65-F5344CB8AC3E}">
        <p14:creationId xmlns:p14="http://schemas.microsoft.com/office/powerpoint/2010/main" val="3869573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527" y="2034259"/>
            <a:ext cx="10387262" cy="46111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10.010111</a:t>
            </a:r>
            <a:r>
              <a:rPr lang="en-US" baseline="-25000" dirty="0">
                <a:solidFill>
                  <a:srgbClr val="FF0000"/>
                </a:solidFill>
              </a:rPr>
              <a:t>2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  <a:sym typeface="Wingdings"/>
              </a:rPr>
              <a:t></a:t>
            </a: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-1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-2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-3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-4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-5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-6</a:t>
            </a:r>
          </a:p>
          <a:p>
            <a:pPr marL="0" indent="0">
              <a:buNone/>
              <a:tabLst>
                <a:tab pos="690563" algn="l"/>
              </a:tabLst>
            </a:pPr>
            <a:endParaRPr lang="en-US" dirty="0"/>
          </a:p>
          <a:p>
            <a:pPr marL="0" indent="0">
              <a:buNone/>
              <a:tabLst>
                <a:tab pos="690563" algn="l"/>
              </a:tabLst>
            </a:pPr>
            <a:r>
              <a:rPr lang="en-US" dirty="0"/>
              <a:t>			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-2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-4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-5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-6</a:t>
            </a:r>
          </a:p>
          <a:p>
            <a:pPr marL="0" indent="0">
              <a:buNone/>
              <a:tabLst>
                <a:tab pos="690563" algn="l"/>
              </a:tabLst>
            </a:pPr>
            <a:endParaRPr lang="en-US" dirty="0"/>
          </a:p>
          <a:p>
            <a:pPr marL="0" indent="0">
              <a:buNone/>
              <a:tabLst>
                <a:tab pos="690563" algn="l"/>
              </a:tabLst>
            </a:pPr>
            <a:r>
              <a:rPr lang="en-US" dirty="0"/>
              <a:t>			=   </a:t>
            </a:r>
            <a:r>
              <a:rPr lang="en-US" dirty="0">
                <a:solidFill>
                  <a:schemeClr val="tx1"/>
                </a:solidFill>
              </a:rPr>
              <a:t>2 + 1/4  + 1/16  + 1/32 + 1/64</a:t>
            </a:r>
          </a:p>
          <a:p>
            <a:pPr marL="0" indent="0">
              <a:buNone/>
              <a:tabLst>
                <a:tab pos="690563" algn="l"/>
              </a:tabLst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tabLst>
                <a:tab pos="690563" algn="l"/>
              </a:tabLst>
            </a:pPr>
            <a:r>
              <a:rPr lang="en-US" dirty="0">
                <a:solidFill>
                  <a:schemeClr val="tx1"/>
                </a:solidFill>
              </a:rPr>
              <a:t>			=   2 + 0.25 + 0.0625 + 0.03125 + 0.015625</a:t>
            </a:r>
          </a:p>
          <a:p>
            <a:pPr marL="0" indent="0">
              <a:buNone/>
              <a:tabLst>
                <a:tab pos="690563" algn="l"/>
              </a:tabLst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tabLst>
                <a:tab pos="690563" algn="l"/>
              </a:tabLst>
            </a:pPr>
            <a:r>
              <a:rPr lang="en-US" dirty="0">
                <a:solidFill>
                  <a:schemeClr val="tx1"/>
                </a:solidFill>
              </a:rPr>
              <a:t>			=   2.359375</a:t>
            </a:r>
            <a:r>
              <a:rPr lang="en-US" baseline="-250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62527" y="747880"/>
            <a:ext cx="9144000" cy="1028783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EXTENDING POLYNOMIAL EVALUATION</a:t>
            </a:r>
            <a:br>
              <a:rPr lang="en-US" dirty="0"/>
            </a:br>
            <a:r>
              <a:rPr lang="en-US" dirty="0"/>
              <a:t>TO NUMBERS WITH A FRACTIONAL PART</a:t>
            </a:r>
          </a:p>
        </p:txBody>
      </p:sp>
    </p:spTree>
    <p:extLst>
      <p:ext uri="{BB962C8B-B14F-4D97-AF65-F5344CB8AC3E}">
        <p14:creationId xmlns:p14="http://schemas.microsoft.com/office/powerpoint/2010/main" val="22507015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81474" y="1997593"/>
            <a:ext cx="8802568" cy="3409267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36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72</a:t>
            </a:r>
            <a:r>
              <a:rPr kumimoji="0" sz="2850" b="0" i="0" u="none" strike="noStrike" kern="1200" cap="none" spc="0" normalizeH="0" baseline="-14619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8</a:t>
            </a:r>
          </a:p>
          <a:p>
            <a:pPr marL="1102995" marR="0" lvl="0" indent="0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78964" algn="l"/>
              </a:tabLst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02995" marR="0" lvl="0" indent="0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78964" algn="l"/>
              </a:tabLst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	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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8</a:t>
            </a:r>
            <a:r>
              <a:rPr kumimoji="0" sz="2850" b="0" i="0" u="none" strike="noStrike" kern="1200" cap="none" spc="0" normalizeH="0" baseline="23391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850" b="0" i="0" u="none" strike="noStrike" kern="1200" cap="none" spc="284" normalizeH="0" baseline="23391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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8</a:t>
            </a:r>
            <a:r>
              <a:rPr kumimoji="0" sz="2850" b="0" i="0" u="none" strike="noStrike" kern="1200" cap="none" spc="0" normalizeH="0" baseline="23391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r>
              <a:rPr kumimoji="0" sz="2850" b="0" i="0" u="none" strike="noStrike" kern="1200" cap="none" spc="284" normalizeH="0" baseline="23391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7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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8</a:t>
            </a:r>
            <a:r>
              <a:rPr kumimoji="0" sz="2850" b="0" i="0" u="none" strike="noStrike" kern="1200" cap="none" spc="-7" normalizeH="0" baseline="2339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-1</a:t>
            </a:r>
            <a:r>
              <a:rPr kumimoji="0" sz="2850" b="0" i="0" u="none" strike="noStrike" kern="1200" cap="none" spc="292" normalizeH="0" baseline="2339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ymbol"/>
                <a:ea typeface="+mn-ea"/>
                <a:cs typeface="Symbol"/>
              </a:rPr>
              <a:t></a:t>
            </a:r>
            <a:r>
              <a:rPr kumimoji="0" sz="2800" b="0" i="0" u="none" strike="noStrike" kern="1200" cap="none" spc="-7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8</a:t>
            </a:r>
            <a:r>
              <a:rPr kumimoji="0" sz="2850" b="0" i="0" u="none" strike="noStrike" kern="1200" cap="none" spc="-7" normalizeH="0" baseline="2339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-2</a:t>
            </a:r>
            <a:br>
              <a:rPr kumimoji="0" lang="en-US" sz="2850" b="0" i="0" u="none" strike="noStrike" kern="1200" cap="none" spc="0" normalizeH="0" baseline="2339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</a:br>
            <a:endParaRPr kumimoji="0" lang="en-US" sz="2850" b="0" i="0" u="none" strike="noStrike" kern="1200" cap="none" spc="0" normalizeH="0" baseline="23391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102995" marR="0" lvl="0" indent="0" algn="l" defTabSz="914400" rtl="0" eaLnBrk="1" fontAlgn="auto" latinLnBrk="0" hangingPunct="1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78964" algn="l"/>
              </a:tabLst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	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24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</a:t>
            </a: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0.875</a:t>
            </a: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0.03125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045844" marR="0" lvl="0" indent="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78964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</a:p>
          <a:p>
            <a:pPr marL="1045844" marR="0" lvl="0" indent="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78964" algn="l"/>
              </a:tabLst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	30.90625</a:t>
            </a:r>
            <a:r>
              <a:rPr kumimoji="0" sz="2850" b="0" i="0" u="none" strike="noStrike" kern="1200" cap="none" spc="0" normalizeH="0" baseline="-14619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4452" y="737938"/>
            <a:ext cx="79967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Converting Radix</a:t>
            </a:r>
            <a:r>
              <a:rPr kumimoji="0" lang="en-US" sz="32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</a:t>
            </a:r>
            <a:r>
              <a:rPr kumimoji="0" lang="en-US" sz="32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 </a:t>
            </a:r>
            <a:r>
              <a:rPr kumimoji="0" lang="en-US" sz="32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Decimal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907506" y="2117557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Another fractional example</a:t>
            </a:r>
          </a:p>
        </p:txBody>
      </p:sp>
    </p:spTree>
    <p:extLst>
      <p:ext uri="{BB962C8B-B14F-4D97-AF65-F5344CB8AC3E}">
        <p14:creationId xmlns:p14="http://schemas.microsoft.com/office/powerpoint/2010/main" val="26854704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54493"/>
            <a:ext cx="4834631" cy="725391"/>
          </a:xfrm>
        </p:spPr>
        <p:txBody>
          <a:bodyPr>
            <a:normAutofit/>
          </a:bodyPr>
          <a:lstStyle/>
          <a:p>
            <a:r>
              <a:rPr lang="en-US" dirty="0"/>
              <a:t>AN EASIER METHOD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5" y="1777432"/>
            <a:ext cx="10437337" cy="4851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sz="2800" dirty="0"/>
              <a:t> </a:t>
            </a:r>
            <a:r>
              <a:rPr lang="en-US" sz="3200" dirty="0">
                <a:solidFill>
                  <a:srgbClr val="92D050"/>
                </a:solidFill>
              </a:rPr>
              <a:t>10.010111</a:t>
            </a:r>
            <a:r>
              <a:rPr lang="en-US" sz="3200" baseline="-25000" dirty="0">
                <a:solidFill>
                  <a:srgbClr val="FF0000"/>
                </a:solidFill>
              </a:rPr>
              <a:t>2</a:t>
            </a:r>
            <a:r>
              <a:rPr lang="en-US" sz="3200" dirty="0"/>
              <a:t> </a:t>
            </a:r>
            <a:r>
              <a:rPr lang="en-US" sz="2800" dirty="0"/>
              <a:t>	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chemeClr val="tx1"/>
                </a:solidFill>
              </a:rPr>
              <a:t>= (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6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5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)/</a:t>
            </a:r>
            <a:r>
              <a:rPr lang="en-US" dirty="0">
                <a:solidFill>
                  <a:srgbClr val="FF0000"/>
                </a:solidFill>
              </a:rPr>
              <a:t>2</a:t>
            </a:r>
            <a:r>
              <a:rPr lang="en-US" baseline="30000" dirty="0">
                <a:solidFill>
                  <a:schemeClr val="tx1"/>
                </a:solidFill>
              </a:rPr>
              <a:t>6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	= (128 + 16 + 4 + 2 + 1)/64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	= 151/64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	= 2.359375</a:t>
            </a:r>
            <a:r>
              <a:rPr lang="en-US" baseline="-25000" dirty="0">
                <a:solidFill>
                  <a:schemeClr val="tx1"/>
                </a:solidFill>
              </a:rPr>
              <a:t>10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550694" y="2332719"/>
            <a:ext cx="978569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096789" y="2362388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6 fractional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8517" y="4860758"/>
            <a:ext cx="2209800" cy="101566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lvl="1"/>
            <a:r>
              <a:rPr lang="en-US" dirty="0"/>
              <a:t>Only a single division!</a:t>
            </a:r>
          </a:p>
        </p:txBody>
      </p:sp>
      <p:pic>
        <p:nvPicPr>
          <p:cNvPr id="9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673490" y="4936957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96001" y="2070001"/>
            <a:ext cx="32284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ym typeface="Wingdings"/>
              </a:rPr>
              <a:t>= </a:t>
            </a:r>
            <a:r>
              <a:rPr lang="en-US" sz="3200" dirty="0">
                <a:solidFill>
                  <a:srgbClr val="92D050"/>
                </a:solidFill>
              </a:rPr>
              <a:t>10010111</a:t>
            </a:r>
            <a:r>
              <a:rPr lang="en-US" sz="3200" baseline="-25000" dirty="0">
                <a:solidFill>
                  <a:srgbClr val="FF0000"/>
                </a:solidFill>
              </a:rPr>
              <a:t>2</a:t>
            </a:r>
            <a:r>
              <a:rPr lang="en-US" sz="3200" dirty="0"/>
              <a:t> / </a:t>
            </a:r>
            <a:r>
              <a:rPr lang="en-US" sz="3200" b="1" dirty="0">
                <a:solidFill>
                  <a:srgbClr val="FF0000"/>
                </a:solidFill>
              </a:rPr>
              <a:t>2</a:t>
            </a:r>
            <a:r>
              <a:rPr lang="en-US" sz="3200" b="1" baseline="30000" dirty="0"/>
              <a:t>6</a:t>
            </a:r>
            <a:endParaRPr lang="en-US" sz="3200" b="1" dirty="0">
              <a:sym typeface="Wingdings" panose="05000000000000000000" pitchFamily="2" charset="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78517" y="4860758"/>
            <a:ext cx="2209800" cy="101566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lvl="1"/>
            <a:r>
              <a:rPr lang="en-US" dirty="0"/>
              <a:t>Only a single division!</a:t>
            </a:r>
          </a:p>
        </p:txBody>
      </p:sp>
      <p:pic>
        <p:nvPicPr>
          <p:cNvPr id="11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673490" y="4936957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7676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537" y="725128"/>
            <a:ext cx="4979010" cy="638451"/>
          </a:xfrm>
        </p:spPr>
        <p:txBody>
          <a:bodyPr/>
          <a:lstStyle/>
          <a:p>
            <a:r>
              <a:rPr lang="en-US" dirty="0"/>
              <a:t>Converting Fractions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44537" y="1491917"/>
                <a:ext cx="10393221" cy="5149515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>
                    <a:solidFill>
                      <a:schemeClr val="tx1"/>
                    </a:solidFill>
                  </a:rPr>
                  <a:t>Sometimes a fractional value has a </a:t>
                </a:r>
                <a:r>
                  <a:rPr lang="en-US" sz="2800" b="1" dirty="0">
                    <a:solidFill>
                      <a:srgbClr val="92D050"/>
                    </a:solidFill>
                  </a:rPr>
                  <a:t>finite representation </a:t>
                </a:r>
                <a:r>
                  <a:rPr lang="en-US" sz="2800" dirty="0">
                    <a:solidFill>
                      <a:schemeClr val="tx1"/>
                    </a:solidFill>
                  </a:rPr>
                  <a:t>in one number base, but not </a:t>
                </a:r>
                <a:r>
                  <a:rPr lang="en-US" sz="2800" dirty="0">
                    <a:solidFill>
                      <a:srgbClr val="FF0000"/>
                    </a:solidFill>
                  </a:rPr>
                  <a:t>in another</a:t>
                </a:r>
                <a:r>
                  <a:rPr lang="en-US" sz="2800" dirty="0"/>
                  <a:t>: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914400" indent="0">
                  <a:buNone/>
                  <a:tabLst>
                    <a:tab pos="2062163" algn="l"/>
                  </a:tabLst>
                </a:pPr>
                <a:r>
                  <a:rPr lang="en-US" sz="2800" dirty="0"/>
                  <a:t>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.1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.333333333333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pPr marL="914400" indent="0">
                  <a:buNone/>
                  <a:tabLst>
                    <a:tab pos="2062163" algn="l"/>
                  </a:tabLst>
                </a:pPr>
                <a:r>
                  <a:rPr lang="en-US" sz="2800" dirty="0">
                    <a:solidFill>
                      <a:schemeClr val="tx1"/>
                    </a:solidFill>
                  </a:rPr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.1</m:t>
                        </m:r>
                      </m:e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.0001100110011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⋯</m:t>
                        </m:r>
                      </m:e>
                      <m:sub>
                        <m:r>
                          <a:rPr 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4537" y="1491917"/>
                <a:ext cx="10393221" cy="5149515"/>
              </a:xfrm>
              <a:blipFill>
                <a:blip r:embed="rId2"/>
                <a:stretch>
                  <a:fillRect l="-1232" r="-1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324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234"/>
            <a:ext cx="4826610" cy="626419"/>
          </a:xfrm>
        </p:spPr>
        <p:txBody>
          <a:bodyPr/>
          <a:lstStyle/>
          <a:p>
            <a:r>
              <a:rPr lang="en-US" dirty="0"/>
              <a:t>Representation Error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36516" y="1747543"/>
                <a:ext cx="10409263" cy="4873835"/>
              </a:xfrm>
            </p:spPr>
            <p:txBody>
              <a:bodyPr>
                <a:normAutofit/>
              </a:bodyPr>
              <a:lstStyle/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Computers store numbers using a </a:t>
                </a:r>
                <a:r>
                  <a:rPr lang="en-US" b="1" dirty="0">
                    <a:solidFill>
                      <a:srgbClr val="92D050"/>
                    </a:solidFill>
                  </a:rPr>
                  <a:t>fixed number of digits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Some values </a:t>
                </a:r>
                <a:r>
                  <a:rPr lang="en-US" b="1" dirty="0">
                    <a:solidFill>
                      <a:srgbClr val="FF0000"/>
                    </a:solidFill>
                  </a:rPr>
                  <a:t>does not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have a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finite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representation in binary (e.g.,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Limiting the number of digits</a:t>
                </a:r>
                <a:r>
                  <a:rPr lang="en-US" dirty="0"/>
                  <a:t> </a:t>
                </a:r>
                <a:r>
                  <a:rPr lang="en-US" b="1" dirty="0">
                    <a:solidFill>
                      <a:srgbClr val="FF0000"/>
                    </a:solidFill>
                  </a:rPr>
                  <a:t>introduces a representation error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344488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.1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0001100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(8 bits) = .09765625</a:t>
                </a:r>
                <a:r>
                  <a:rPr lang="en-US" baseline="-25000" dirty="0">
                    <a:solidFill>
                      <a:schemeClr val="tx1"/>
                    </a:solidFill>
                  </a:rPr>
                  <a:t>10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16" y="1747543"/>
                <a:ext cx="10409263" cy="4873835"/>
              </a:xfrm>
              <a:blipFill>
                <a:blip r:embed="rId2"/>
                <a:stretch>
                  <a:fillRect l="-8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2075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234"/>
            <a:ext cx="4826610" cy="626419"/>
          </a:xfrm>
        </p:spPr>
        <p:txBody>
          <a:bodyPr/>
          <a:lstStyle/>
          <a:p>
            <a:r>
              <a:rPr lang="en-US" dirty="0"/>
              <a:t>Group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47543"/>
            <a:ext cx="10409263" cy="4873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Convert to decimal using polynomial evaluation: 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b="1" baseline="-250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92D05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92D050"/>
                </a:solidFill>
              </a:rPr>
              <a:t>7676</a:t>
            </a:r>
            <a:r>
              <a:rPr lang="en-US" b="1" baseline="-25000" dirty="0">
                <a:solidFill>
                  <a:srgbClr val="FF0000"/>
                </a:solidFill>
              </a:rPr>
              <a:t>8</a:t>
            </a:r>
          </a:p>
          <a:p>
            <a:pPr marL="457200" indent="-457200">
              <a:buFont typeface="+mj-lt"/>
              <a:buAutoNum type="arabicPeriod"/>
            </a:pPr>
            <a:endParaRPr lang="en-US" b="1" baseline="-250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b="1" baseline="-250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(unsigned) </a:t>
            </a:r>
            <a:r>
              <a:rPr lang="en-US" dirty="0">
                <a:solidFill>
                  <a:srgbClr val="92D050"/>
                </a:solidFill>
              </a:rPr>
              <a:t>1101 1111 1100 1011</a:t>
            </a:r>
            <a:r>
              <a:rPr lang="en-US" b="1" baseline="-25000" dirty="0">
                <a:solidFill>
                  <a:srgbClr val="FF0000"/>
                </a:solidFill>
              </a:rPr>
              <a:t>2 </a:t>
            </a:r>
          </a:p>
          <a:p>
            <a:pPr marL="457200" indent="-457200">
              <a:buFont typeface="+mj-lt"/>
              <a:buAutoNum type="arabicPeriod"/>
            </a:pPr>
            <a:endParaRPr lang="en-US" b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112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234"/>
            <a:ext cx="4826610" cy="626419"/>
          </a:xfrm>
        </p:spPr>
        <p:txBody>
          <a:bodyPr/>
          <a:lstStyle/>
          <a:p>
            <a:r>
              <a:rPr lang="en-US" dirty="0"/>
              <a:t>Group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7" y="1747543"/>
            <a:ext cx="5586996" cy="4873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Convert to decimal using polynomial evaluation: </a:t>
            </a:r>
          </a:p>
          <a:p>
            <a:pPr marL="0" indent="0">
              <a:buNone/>
            </a:pPr>
            <a:endParaRPr lang="en-US" b="1" baseline="-250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92D050"/>
                </a:solidFill>
              </a:rPr>
              <a:t>7676</a:t>
            </a:r>
            <a:r>
              <a:rPr lang="en-US" b="1" baseline="-25000" dirty="0">
                <a:solidFill>
                  <a:srgbClr val="FF0000"/>
                </a:solidFill>
              </a:rPr>
              <a:t>8 </a:t>
            </a:r>
            <a:r>
              <a:rPr lang="en-US" dirty="0">
                <a:solidFill>
                  <a:schemeClr val="tx1"/>
                </a:solidFill>
              </a:rPr>
              <a:t>= 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b="1" dirty="0">
                <a:solidFill>
                  <a:srgbClr val="FF0000"/>
                </a:solidFill>
              </a:rPr>
              <a:t>8</a:t>
            </a:r>
            <a:r>
              <a:rPr lang="en-US" baseline="30000" dirty="0">
                <a:solidFill>
                  <a:schemeClr val="tx1"/>
                </a:solidFill>
              </a:rPr>
              <a:t>3</a:t>
            </a:r>
            <a:r>
              <a:rPr lang="en-US" dirty="0">
                <a:solidFill>
                  <a:schemeClr val="tx1"/>
                </a:solidFill>
              </a:rPr>
              <a:t>   +</a:t>
            </a:r>
            <a:r>
              <a:rPr lang="en-US" dirty="0"/>
              <a:t>  </a:t>
            </a:r>
            <a:r>
              <a:rPr lang="en-US" dirty="0">
                <a:solidFill>
                  <a:srgbClr val="92D050"/>
                </a:solidFill>
              </a:rPr>
              <a:t>6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b="1" dirty="0">
                <a:solidFill>
                  <a:srgbClr val="FF0000"/>
                </a:solidFill>
              </a:rPr>
              <a:t>8</a:t>
            </a:r>
            <a:r>
              <a:rPr lang="en-US" baseline="30000" dirty="0">
                <a:solidFill>
                  <a:schemeClr val="tx1"/>
                </a:solidFill>
              </a:rPr>
              <a:t>2</a:t>
            </a:r>
            <a:r>
              <a:rPr lang="en-US" dirty="0">
                <a:solidFill>
                  <a:schemeClr val="tx1"/>
                </a:solidFill>
              </a:rPr>
              <a:t> 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b="1" dirty="0">
                <a:solidFill>
                  <a:srgbClr val="FF0000"/>
                </a:solidFill>
              </a:rPr>
              <a:t>8</a:t>
            </a:r>
            <a:r>
              <a:rPr lang="en-US" baseline="30000" dirty="0">
                <a:solidFill>
                  <a:schemeClr val="tx1"/>
                </a:solidFill>
              </a:rPr>
              <a:t>1</a:t>
            </a:r>
            <a:r>
              <a:rPr lang="en-US" dirty="0">
                <a:solidFill>
                  <a:schemeClr val="tx1"/>
                </a:solidFill>
              </a:rPr>
              <a:t>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6</a:t>
            </a:r>
            <a:r>
              <a:rPr lang="en-US" dirty="0">
                <a:solidFill>
                  <a:schemeClr val="tx1"/>
                </a:solidFill>
              </a:rPr>
              <a:t>×</a:t>
            </a:r>
            <a:r>
              <a:rPr lang="en-US" b="1" dirty="0">
                <a:solidFill>
                  <a:srgbClr val="FF0000"/>
                </a:solidFill>
              </a:rPr>
              <a:t>8</a:t>
            </a:r>
            <a:r>
              <a:rPr lang="en-US" baseline="30000" dirty="0">
                <a:solidFill>
                  <a:schemeClr val="tx1"/>
                </a:solidFill>
              </a:rPr>
              <a:t>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×512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6</a:t>
            </a:r>
            <a:r>
              <a:rPr lang="en-US" dirty="0">
                <a:solidFill>
                  <a:schemeClr val="tx1"/>
                </a:solidFill>
              </a:rPr>
              <a:t>×64 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7</a:t>
            </a:r>
            <a:r>
              <a:rPr lang="en-US" dirty="0">
                <a:solidFill>
                  <a:schemeClr val="tx1"/>
                </a:solidFill>
              </a:rPr>
              <a:t>×8  +</a:t>
            </a:r>
            <a:r>
              <a:rPr lang="en-US" dirty="0"/>
              <a:t> </a:t>
            </a:r>
            <a:r>
              <a:rPr lang="en-US" dirty="0">
                <a:solidFill>
                  <a:srgbClr val="92D050"/>
                </a:solidFill>
              </a:rPr>
              <a:t>6</a:t>
            </a:r>
            <a:r>
              <a:rPr lang="en-US" dirty="0">
                <a:solidFill>
                  <a:schemeClr val="tx1"/>
                </a:solidFill>
              </a:rPr>
              <a:t>×1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= 3,584 + 384     + 56    + 6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           = 4,030</a:t>
            </a:r>
            <a:r>
              <a:rPr lang="en-US" b="1" baseline="-25000" dirty="0">
                <a:solidFill>
                  <a:srgbClr val="FF0000"/>
                </a:solidFill>
              </a:rPr>
              <a:t>10</a:t>
            </a:r>
          </a:p>
          <a:p>
            <a:pPr marL="457200" indent="-457200">
              <a:buFont typeface="+mj-lt"/>
              <a:buAutoNum type="arabicPeriod"/>
            </a:pPr>
            <a:endParaRPr lang="en-US" b="1" baseline="-25000" dirty="0">
              <a:solidFill>
                <a:srgbClr val="FF0000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E295CD-0798-431F-5E43-EA4F780C1C5A}"/>
              </a:ext>
            </a:extLst>
          </p:cNvPr>
          <p:cNvSpPr txBox="1">
            <a:spLocks/>
          </p:cNvSpPr>
          <p:nvPr/>
        </p:nvSpPr>
        <p:spPr>
          <a:xfrm>
            <a:off x="6306143" y="2163179"/>
            <a:ext cx="5586996" cy="48738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b="1" baseline="-250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92D05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(unsigned) </a:t>
            </a:r>
            <a:r>
              <a:rPr lang="en-US" dirty="0">
                <a:solidFill>
                  <a:srgbClr val="92D050"/>
                </a:solidFill>
              </a:rPr>
              <a:t>1101 1111 1100 1011</a:t>
            </a:r>
            <a:r>
              <a:rPr lang="en-US" b="1" baseline="-25000" dirty="0">
                <a:solidFill>
                  <a:srgbClr val="FF0000"/>
                </a:solidFill>
              </a:rPr>
              <a:t>2 </a:t>
            </a:r>
          </a:p>
          <a:p>
            <a:pPr marL="0" indent="0">
              <a:buNone/>
            </a:pPr>
            <a:endParaRPr lang="en-US" b="1" baseline="-25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9383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997E17-A395-4204-8197-0458962DE7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2</a:t>
            </a:r>
            <a:br>
              <a:rPr lang="en-US" dirty="0"/>
            </a:br>
            <a:r>
              <a:rPr lang="en-US" dirty="0"/>
              <a:t>Binary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8402199-6E11-474E-9107-53D50ADDDD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2: Unsigned Decimal to Binary Conversion</a:t>
            </a:r>
          </a:p>
        </p:txBody>
      </p:sp>
    </p:spTree>
    <p:extLst>
      <p:ext uri="{BB962C8B-B14F-4D97-AF65-F5344CB8AC3E}">
        <p14:creationId xmlns:p14="http://schemas.microsoft.com/office/powerpoint/2010/main" val="35415712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2071" y="751090"/>
            <a:ext cx="6712584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Decimal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5" dirty="0"/>
              <a:t>Binary</a:t>
            </a:r>
            <a:r>
              <a:rPr spc="-25" dirty="0"/>
              <a:t> </a:t>
            </a:r>
            <a:r>
              <a:rPr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60107" y="2140197"/>
            <a:ext cx="25336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Example:</a:t>
            </a: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97.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25</a:t>
            </a:r>
            <a:r>
              <a:rPr kumimoji="0" sz="2850" b="0" i="0" u="none" strike="noStrike" kern="1200" cap="none" spc="-7" normalizeH="0" baseline="-17543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endParaRPr kumimoji="0" sz="2850" b="0" i="0" u="none" strike="noStrike" kern="1200" cap="none" spc="0" normalizeH="0" baseline="-17543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90320" y="3348223"/>
            <a:ext cx="2761615" cy="744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744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Repeated</a:t>
            </a:r>
            <a:r>
              <a:rPr kumimoji="0" sz="1400" b="0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multiplication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Repeated</a:t>
            </a:r>
            <a:r>
              <a:rPr kumimoji="0" sz="1400" b="0" i="0" u="none" strike="noStrike" kern="1200" cap="none" spc="-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Division</a:t>
            </a:r>
            <a:endParaRPr kumimoji="0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22033" y="4706614"/>
            <a:ext cx="19183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1100001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01</a:t>
            </a:r>
            <a:r>
              <a:rPr kumimoji="0" sz="2850" b="0" i="0" u="none" strike="noStrike" kern="1200" cap="none" spc="0" normalizeH="0" baseline="-14619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endParaRPr kumimoji="0" sz="2850" b="0" i="0" u="none" strike="noStrike" kern="1200" cap="none" spc="0" normalizeH="0" baseline="-14619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01876" y="2589241"/>
            <a:ext cx="786130" cy="2211705"/>
          </a:xfrm>
          <a:custGeom>
            <a:avLst/>
            <a:gdLst/>
            <a:ahLst/>
            <a:cxnLst/>
            <a:rect l="l" t="t" r="r" b="b"/>
            <a:pathLst>
              <a:path w="786130" h="2211704">
                <a:moveTo>
                  <a:pt x="6835" y="2110727"/>
                </a:moveTo>
                <a:lnTo>
                  <a:pt x="1676" y="2111752"/>
                </a:lnTo>
                <a:lnTo>
                  <a:pt x="0" y="2114259"/>
                </a:lnTo>
                <a:lnTo>
                  <a:pt x="19283" y="2211373"/>
                </a:lnTo>
                <a:lnTo>
                  <a:pt x="27903" y="2203954"/>
                </a:lnTo>
                <a:lnTo>
                  <a:pt x="26879" y="2203954"/>
                </a:lnTo>
                <a:lnTo>
                  <a:pt x="17874" y="2200849"/>
                </a:lnTo>
                <a:lnTo>
                  <a:pt x="23605" y="2184231"/>
                </a:lnTo>
                <a:lnTo>
                  <a:pt x="9342" y="2112403"/>
                </a:lnTo>
                <a:lnTo>
                  <a:pt x="6835" y="2110727"/>
                </a:lnTo>
                <a:close/>
              </a:path>
              <a:path w="786130" h="2211704">
                <a:moveTo>
                  <a:pt x="23605" y="2184231"/>
                </a:moveTo>
                <a:lnTo>
                  <a:pt x="17874" y="2200849"/>
                </a:lnTo>
                <a:lnTo>
                  <a:pt x="26879" y="2203954"/>
                </a:lnTo>
                <a:lnTo>
                  <a:pt x="27722" y="2201510"/>
                </a:lnTo>
                <a:lnTo>
                  <a:pt x="27036" y="2201510"/>
                </a:lnTo>
                <a:lnTo>
                  <a:pt x="19258" y="2198828"/>
                </a:lnTo>
                <a:lnTo>
                  <a:pt x="25446" y="2193502"/>
                </a:lnTo>
                <a:lnTo>
                  <a:pt x="23605" y="2184231"/>
                </a:lnTo>
                <a:close/>
              </a:path>
              <a:path w="786130" h="2211704">
                <a:moveTo>
                  <a:pt x="88113" y="2139566"/>
                </a:moveTo>
                <a:lnTo>
                  <a:pt x="32609" y="2187336"/>
                </a:lnTo>
                <a:lnTo>
                  <a:pt x="26879" y="2203954"/>
                </a:lnTo>
                <a:lnTo>
                  <a:pt x="27903" y="2203954"/>
                </a:lnTo>
                <a:lnTo>
                  <a:pt x="94327" y="2146785"/>
                </a:lnTo>
                <a:lnTo>
                  <a:pt x="94552" y="2143777"/>
                </a:lnTo>
                <a:lnTo>
                  <a:pt x="91120" y="2139791"/>
                </a:lnTo>
                <a:lnTo>
                  <a:pt x="88113" y="2139566"/>
                </a:lnTo>
                <a:close/>
              </a:path>
              <a:path w="786130" h="2211704">
                <a:moveTo>
                  <a:pt x="25446" y="2193502"/>
                </a:moveTo>
                <a:lnTo>
                  <a:pt x="19258" y="2198828"/>
                </a:lnTo>
                <a:lnTo>
                  <a:pt x="27036" y="2201510"/>
                </a:lnTo>
                <a:lnTo>
                  <a:pt x="25446" y="2193502"/>
                </a:lnTo>
                <a:close/>
              </a:path>
              <a:path w="786130" h="2211704">
                <a:moveTo>
                  <a:pt x="32609" y="2187336"/>
                </a:moveTo>
                <a:lnTo>
                  <a:pt x="25446" y="2193502"/>
                </a:lnTo>
                <a:lnTo>
                  <a:pt x="27036" y="2201510"/>
                </a:lnTo>
                <a:lnTo>
                  <a:pt x="27722" y="2201510"/>
                </a:lnTo>
                <a:lnTo>
                  <a:pt x="32609" y="2187336"/>
                </a:lnTo>
                <a:close/>
              </a:path>
              <a:path w="786130" h="2211704">
                <a:moveTo>
                  <a:pt x="776788" y="0"/>
                </a:moveTo>
                <a:lnTo>
                  <a:pt x="23605" y="2184231"/>
                </a:lnTo>
                <a:lnTo>
                  <a:pt x="25446" y="2193502"/>
                </a:lnTo>
                <a:lnTo>
                  <a:pt x="32609" y="2187336"/>
                </a:lnTo>
                <a:lnTo>
                  <a:pt x="785792" y="3105"/>
                </a:lnTo>
                <a:lnTo>
                  <a:pt x="7767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945913" y="2581677"/>
            <a:ext cx="347345" cy="2219325"/>
          </a:xfrm>
          <a:custGeom>
            <a:avLst/>
            <a:gdLst/>
            <a:ahLst/>
            <a:cxnLst/>
            <a:rect l="l" t="t" r="r" b="b"/>
            <a:pathLst>
              <a:path w="347344" h="2219325">
                <a:moveTo>
                  <a:pt x="6019" y="2122628"/>
                </a:moveTo>
                <a:lnTo>
                  <a:pt x="1158" y="2124635"/>
                </a:lnTo>
                <a:lnTo>
                  <a:pt x="0" y="2127420"/>
                </a:lnTo>
                <a:lnTo>
                  <a:pt x="37783" y="2218938"/>
                </a:lnTo>
                <a:lnTo>
                  <a:pt x="44620" y="2210212"/>
                </a:lnTo>
                <a:lnTo>
                  <a:pt x="43789" y="2210212"/>
                </a:lnTo>
                <a:lnTo>
                  <a:pt x="34353" y="2208916"/>
                </a:lnTo>
                <a:lnTo>
                  <a:pt x="36749" y="2191475"/>
                </a:lnTo>
                <a:lnTo>
                  <a:pt x="8804" y="2123785"/>
                </a:lnTo>
                <a:lnTo>
                  <a:pt x="6019" y="2122628"/>
                </a:lnTo>
                <a:close/>
              </a:path>
              <a:path w="347344" h="2219325">
                <a:moveTo>
                  <a:pt x="36749" y="2191475"/>
                </a:moveTo>
                <a:lnTo>
                  <a:pt x="34353" y="2208916"/>
                </a:lnTo>
                <a:lnTo>
                  <a:pt x="43789" y="2210212"/>
                </a:lnTo>
                <a:lnTo>
                  <a:pt x="44126" y="2207757"/>
                </a:lnTo>
                <a:lnTo>
                  <a:pt x="43472" y="2207757"/>
                </a:lnTo>
                <a:lnTo>
                  <a:pt x="35321" y="2206637"/>
                </a:lnTo>
                <a:lnTo>
                  <a:pt x="40356" y="2200211"/>
                </a:lnTo>
                <a:lnTo>
                  <a:pt x="36749" y="2191475"/>
                </a:lnTo>
                <a:close/>
              </a:path>
              <a:path w="347344" h="2219325">
                <a:moveTo>
                  <a:pt x="94345" y="2134764"/>
                </a:moveTo>
                <a:lnTo>
                  <a:pt x="91352" y="2135127"/>
                </a:lnTo>
                <a:lnTo>
                  <a:pt x="46186" y="2192771"/>
                </a:lnTo>
                <a:lnTo>
                  <a:pt x="43789" y="2210212"/>
                </a:lnTo>
                <a:lnTo>
                  <a:pt x="44620" y="2210212"/>
                </a:lnTo>
                <a:lnTo>
                  <a:pt x="98849" y="2141001"/>
                </a:lnTo>
                <a:lnTo>
                  <a:pt x="98485" y="2138008"/>
                </a:lnTo>
                <a:lnTo>
                  <a:pt x="94345" y="2134764"/>
                </a:lnTo>
                <a:close/>
              </a:path>
              <a:path w="347344" h="2219325">
                <a:moveTo>
                  <a:pt x="40356" y="2200211"/>
                </a:moveTo>
                <a:lnTo>
                  <a:pt x="35321" y="2206637"/>
                </a:lnTo>
                <a:lnTo>
                  <a:pt x="43472" y="2207757"/>
                </a:lnTo>
                <a:lnTo>
                  <a:pt x="40356" y="2200211"/>
                </a:lnTo>
                <a:close/>
              </a:path>
              <a:path w="347344" h="2219325">
                <a:moveTo>
                  <a:pt x="46186" y="2192771"/>
                </a:moveTo>
                <a:lnTo>
                  <a:pt x="40356" y="2200211"/>
                </a:lnTo>
                <a:lnTo>
                  <a:pt x="43472" y="2207757"/>
                </a:lnTo>
                <a:lnTo>
                  <a:pt x="44126" y="2207757"/>
                </a:lnTo>
                <a:lnTo>
                  <a:pt x="46186" y="2192771"/>
                </a:lnTo>
                <a:close/>
              </a:path>
              <a:path w="347344" h="2219325">
                <a:moveTo>
                  <a:pt x="337868" y="0"/>
                </a:moveTo>
                <a:lnTo>
                  <a:pt x="36749" y="2191475"/>
                </a:lnTo>
                <a:lnTo>
                  <a:pt x="40356" y="2200211"/>
                </a:lnTo>
                <a:lnTo>
                  <a:pt x="46186" y="2192771"/>
                </a:lnTo>
                <a:lnTo>
                  <a:pt x="347304" y="1296"/>
                </a:lnTo>
                <a:lnTo>
                  <a:pt x="337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00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49192"/>
            <a:ext cx="7461526" cy="1144151"/>
          </a:xfrm>
        </p:spPr>
        <p:txBody>
          <a:bodyPr>
            <a:normAutofit/>
          </a:bodyPr>
          <a:lstStyle/>
          <a:p>
            <a:r>
              <a:rPr lang="en-US" dirty="0"/>
              <a:t>UNSIGNED DECIMAL TO BINARY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527" y="2117559"/>
            <a:ext cx="10405252" cy="449980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>
                <a:solidFill>
                  <a:schemeClr val="tx1"/>
                </a:solidFill>
              </a:rPr>
              <a:t>Separate problem into </a:t>
            </a:r>
            <a:r>
              <a:rPr lang="en-US" b="1" i="1" dirty="0">
                <a:solidFill>
                  <a:srgbClr val="00B0F0"/>
                </a:solidFill>
              </a:rPr>
              <a:t>two parts</a:t>
            </a:r>
            <a:r>
              <a:rPr lang="en-US" b="1" i="1" dirty="0"/>
              <a:t>: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92D050"/>
                </a:solidFill>
              </a:rPr>
              <a:t>Integer Part</a:t>
            </a:r>
            <a:r>
              <a:rPr lang="en-US" b="1" dirty="0">
                <a:solidFill>
                  <a:schemeClr val="tx1"/>
                </a:solidFill>
              </a:rPr>
              <a:t>: 		</a:t>
            </a:r>
            <a:r>
              <a:rPr lang="en-US" dirty="0">
                <a:solidFill>
                  <a:schemeClr val="tx1"/>
                </a:solidFill>
              </a:rPr>
              <a:t>Use repeated division 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Fractional Part</a:t>
            </a:r>
            <a:r>
              <a:rPr lang="en-US" b="1" dirty="0">
                <a:solidFill>
                  <a:schemeClr val="tx1"/>
                </a:solidFill>
              </a:rPr>
              <a:t>: 	</a:t>
            </a:r>
            <a:r>
              <a:rPr lang="en-US" dirty="0">
                <a:solidFill>
                  <a:schemeClr val="tx1"/>
                </a:solidFill>
              </a:rPr>
              <a:t>Use repeated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37962742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546" y="1993233"/>
            <a:ext cx="10437337" cy="4648199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914400" algn="l"/>
                <a:tab pos="1887538" algn="l"/>
                <a:tab pos="3716338" algn="l"/>
                <a:tab pos="6119813" algn="l"/>
              </a:tabLst>
            </a:pPr>
            <a:endParaRPr lang="en-US" u="sng" dirty="0"/>
          </a:p>
          <a:p>
            <a:pPr marL="0" indent="0">
              <a:buNone/>
              <a:tabLst>
                <a:tab pos="460375" algn="l"/>
                <a:tab pos="1427163" algn="l"/>
                <a:tab pos="2289175" algn="l"/>
                <a:tab pos="4340225" algn="l"/>
                <a:tab pos="6119813" algn="l"/>
              </a:tabLst>
            </a:pPr>
            <a:r>
              <a:rPr lang="en-US" dirty="0"/>
              <a:t>	</a:t>
            </a:r>
            <a:r>
              <a:rPr lang="en-US" u="sng" dirty="0">
                <a:solidFill>
                  <a:schemeClr val="tx1"/>
                </a:solidFill>
              </a:rPr>
              <a:t>N</a:t>
            </a: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u="sng" dirty="0">
                <a:solidFill>
                  <a:schemeClr val="tx1"/>
                </a:solidFill>
              </a:rPr>
              <a:t>N÷</a:t>
            </a:r>
            <a:r>
              <a:rPr lang="en-US" u="sng" dirty="0">
                <a:solidFill>
                  <a:srgbClr val="00B0F0"/>
                </a:solidFill>
              </a:rPr>
              <a:t>2</a:t>
            </a:r>
            <a:r>
              <a:rPr lang="en-US" dirty="0"/>
              <a:t>	</a:t>
            </a:r>
            <a:r>
              <a:rPr lang="en-US" u="sng" dirty="0">
                <a:solidFill>
                  <a:schemeClr val="tx1"/>
                </a:solidFill>
              </a:rPr>
              <a:t>Remainder</a:t>
            </a: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u="sng" dirty="0">
                <a:solidFill>
                  <a:schemeClr val="tx1"/>
                </a:solidFill>
              </a:rPr>
              <a:t>Result</a:t>
            </a:r>
            <a:endParaRPr lang="en-US" dirty="0">
              <a:solidFill>
                <a:schemeClr val="tx1"/>
              </a:solidFill>
            </a:endParaRPr>
          </a:p>
          <a:p>
            <a:pPr marL="0" indent="0" defTabSz="1608138">
              <a:spcBef>
                <a:spcPts val="600"/>
              </a:spcBef>
              <a:buNone/>
              <a:tabLst>
                <a:tab pos="460375" algn="l"/>
                <a:tab pos="1597025" algn="l"/>
                <a:tab pos="2795588" algn="l"/>
                <a:tab pos="4572000" algn="l"/>
                <a:tab pos="6119813" algn="l"/>
              </a:tabLst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13	6	1</a:t>
            </a:r>
          </a:p>
          <a:p>
            <a:pPr marL="0" indent="0" defTabSz="1608138">
              <a:spcBef>
                <a:spcPts val="600"/>
              </a:spcBef>
              <a:buNone/>
              <a:tabLst>
                <a:tab pos="460375" algn="l"/>
                <a:tab pos="1597025" algn="l"/>
                <a:tab pos="2795588" algn="l"/>
                <a:tab pos="4572000" algn="l"/>
                <a:tab pos="6119813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	 6	3	0</a:t>
            </a:r>
          </a:p>
          <a:p>
            <a:pPr marL="0" indent="0" defTabSz="1608138">
              <a:spcBef>
                <a:spcPts val="600"/>
              </a:spcBef>
              <a:buNone/>
              <a:tabLst>
                <a:tab pos="460375" algn="l"/>
                <a:tab pos="1597025" algn="l"/>
                <a:tab pos="2795588" algn="l"/>
                <a:tab pos="4572000" algn="l"/>
                <a:tab pos="6119813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	 3	1	1</a:t>
            </a:r>
          </a:p>
          <a:p>
            <a:pPr marL="0" indent="0" defTabSz="1608138">
              <a:spcBef>
                <a:spcPts val="600"/>
              </a:spcBef>
              <a:buNone/>
              <a:tabLst>
                <a:tab pos="460375" algn="l"/>
                <a:tab pos="1597025" algn="l"/>
                <a:tab pos="2795588" algn="l"/>
                <a:tab pos="4572000" algn="l"/>
                <a:tab pos="6119813" algn="l"/>
              </a:tabLst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	 1	0	1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829300" y="2736060"/>
            <a:ext cx="1596483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60813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0375" algn="l"/>
                <a:tab pos="1717675" algn="l"/>
                <a:tab pos="3084513" algn="l"/>
                <a:tab pos="4572000" algn="l"/>
                <a:tab pos="611981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1.</a:t>
            </a:r>
          </a:p>
          <a:p>
            <a:pPr marL="0" marR="0" lvl="0" indent="0" algn="l" defTabSz="160813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0375" algn="l"/>
                <a:tab pos="1717675" algn="l"/>
                <a:tab pos="3084513" algn="l"/>
                <a:tab pos="4572000" algn="l"/>
                <a:tab pos="611981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01.</a:t>
            </a:r>
          </a:p>
          <a:p>
            <a:pPr marL="0" marR="0" lvl="0" indent="0" algn="l" defTabSz="160813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0375" algn="l"/>
                <a:tab pos="1717675" algn="l"/>
                <a:tab pos="3084513" algn="l"/>
                <a:tab pos="4572000" algn="l"/>
                <a:tab pos="611981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101.</a:t>
            </a:r>
          </a:p>
          <a:p>
            <a:pPr marL="0" marR="0" lvl="0" indent="0" algn="l" defTabSz="1608138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>
                <a:tab pos="460375" algn="l"/>
                <a:tab pos="1717675" algn="l"/>
                <a:tab pos="3084513" algn="l"/>
                <a:tab pos="4572000" algn="l"/>
                <a:tab pos="6119813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1101.</a:t>
            </a:r>
          </a:p>
        </p:txBody>
      </p:sp>
      <p:sp>
        <p:nvSpPr>
          <p:cNvPr id="16" name="Right Brace 15"/>
          <p:cNvSpPr/>
          <p:nvPr/>
        </p:nvSpPr>
        <p:spPr>
          <a:xfrm>
            <a:off x="6768966" y="2817156"/>
            <a:ext cx="433039" cy="1638300"/>
          </a:xfrm>
          <a:prstGeom prst="rightBrace">
            <a:avLst>
              <a:gd name="adj1" fmla="val 20602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28575">
                <a:solidFill>
                  <a:srgbClr val="FF0000"/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1920798" y="3080657"/>
            <a:ext cx="689517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639254" y="4270487"/>
            <a:ext cx="106680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37345" y="5110871"/>
            <a:ext cx="8642686" cy="101566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NOTE: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Repeated division may be used to convert from decimal to ANY radix.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Simply divide by the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radix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1560" y="3118388"/>
            <a:ext cx="3573377" cy="101566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Digits are produced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right-to-left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starting from the radix point.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639254" y="3031957"/>
            <a:ext cx="106680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639254" y="3424990"/>
            <a:ext cx="106680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640179" y="3846096"/>
            <a:ext cx="1066800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1920798" y="3471111"/>
            <a:ext cx="689517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920797" y="3861565"/>
            <a:ext cx="689517" cy="381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48547" y="755273"/>
            <a:ext cx="9515015" cy="1144151"/>
          </a:xfrm>
        </p:spPr>
        <p:txBody>
          <a:bodyPr>
            <a:normAutofit fontScale="90000"/>
          </a:bodyPr>
          <a:lstStyle/>
          <a:p>
            <a:r>
              <a:rPr lang="en-US" dirty="0"/>
              <a:t>UNSIGNED DECIMAL TO BINARY</a:t>
            </a:r>
            <a:br>
              <a:rPr lang="en-US" dirty="0"/>
            </a:br>
            <a:r>
              <a:rPr lang="en-US" sz="4000" dirty="0"/>
              <a:t>Method 1: </a:t>
            </a:r>
            <a:r>
              <a:rPr lang="en-US" sz="4000" dirty="0">
                <a:solidFill>
                  <a:srgbClr val="92D050"/>
                </a:solidFill>
              </a:rPr>
              <a:t>Integer Part </a:t>
            </a:r>
            <a:r>
              <a:rPr lang="en-US" sz="4000" dirty="0"/>
              <a:t>(Repeated Division)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815771" y="4072146"/>
            <a:ext cx="88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STOP</a:t>
            </a:r>
          </a:p>
        </p:txBody>
      </p:sp>
      <p:pic>
        <p:nvPicPr>
          <p:cNvPr id="22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478485" y="3213865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5008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2070" y="750972"/>
            <a:ext cx="10064793" cy="874598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Decimal</a:t>
            </a:r>
            <a:r>
              <a:rPr sz="2800" spc="-15" dirty="0"/>
              <a:t> </a:t>
            </a:r>
            <a:r>
              <a:rPr sz="2800" dirty="0"/>
              <a:t>to</a:t>
            </a:r>
            <a:r>
              <a:rPr sz="2800" spc="-20" dirty="0"/>
              <a:t> </a:t>
            </a:r>
            <a:r>
              <a:rPr sz="2800" spc="-5" dirty="0"/>
              <a:t>Binary</a:t>
            </a:r>
            <a:r>
              <a:rPr sz="2800" spc="-25" dirty="0"/>
              <a:t> </a:t>
            </a:r>
            <a:r>
              <a:rPr sz="2800" dirty="0"/>
              <a:t>Conversion</a:t>
            </a:r>
            <a:br>
              <a:rPr lang="en-US" sz="2800" dirty="0"/>
            </a:br>
            <a:r>
              <a:rPr lang="en-US" sz="2800" dirty="0">
                <a:solidFill>
                  <a:srgbClr val="0000CC"/>
                </a:solidFill>
                <a:latin typeface="Calibri"/>
                <a:cs typeface="Calibri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Calibri"/>
                <a:cs typeface="Calibri"/>
              </a:rPr>
              <a:t>Whole</a:t>
            </a:r>
            <a:r>
              <a:rPr lang="en-US" sz="2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spc="-5" dirty="0">
                <a:solidFill>
                  <a:srgbClr val="FF0000"/>
                </a:solidFill>
                <a:latin typeface="Calibri"/>
                <a:cs typeface="Calibri"/>
              </a:rPr>
              <a:t>Part:</a:t>
            </a:r>
            <a:r>
              <a:rPr lang="en-US" sz="2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spc="-5" dirty="0">
                <a:solidFill>
                  <a:srgbClr val="FF0000"/>
                </a:solidFill>
                <a:latin typeface="Calibri"/>
                <a:cs typeface="Calibri"/>
              </a:rPr>
              <a:t>Repeated</a:t>
            </a:r>
            <a:r>
              <a:rPr lang="en-US" sz="2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alibri"/>
                <a:cs typeface="Calibri"/>
              </a:rPr>
              <a:t>Division</a:t>
            </a:r>
            <a:r>
              <a:rPr lang="en-US" sz="2800" dirty="0">
                <a:solidFill>
                  <a:srgbClr val="0000CC"/>
                </a:solidFill>
                <a:latin typeface="Calibri"/>
                <a:cs typeface="Calibri"/>
              </a:rPr>
              <a:t>)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1446413" y="1625570"/>
            <a:ext cx="6943090" cy="705962"/>
          </a:xfrm>
          <a:prstGeom prst="rect">
            <a:avLst/>
          </a:prstGeom>
        </p:spPr>
        <p:txBody>
          <a:bodyPr vert="horz" wrap="square" lIns="0" tIns="272415" rIns="0" bIns="0" rtlCol="0">
            <a:spAutoFit/>
          </a:bodyPr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17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Convert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97</a:t>
            </a:r>
            <a:r>
              <a:rPr kumimoji="0" sz="2850" b="0" i="0" u="none" strike="noStrike" kern="1200" cap="none" spc="-7" normalizeH="0" baseline="-17543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r>
              <a:rPr kumimoji="0" sz="2850" b="0" i="0" u="none" strike="noStrike" kern="1200" cap="none" spc="277" normalizeH="0" baseline="-17543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36090" y="2647981"/>
          <a:ext cx="8538845" cy="32724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20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9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2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97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</a:t>
                      </a:r>
                      <a:r>
                        <a:rPr sz="2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Wingdings"/>
                          <a:cs typeface="Wingdings"/>
                        </a:rPr>
                        <a:t></a:t>
                      </a:r>
                      <a:endParaRPr sz="2800">
                        <a:latin typeface="Wingdings"/>
                        <a:cs typeface="Wingdings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quotient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48,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remainder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2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LSB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)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90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91">
                <a:tc>
                  <a:txBody>
                    <a:bodyPr/>
                    <a:lstStyle/>
                    <a:p>
                      <a:pPr marR="185420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48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</a:t>
                      </a:r>
                      <a:r>
                        <a:rPr sz="2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Wingdings"/>
                          <a:cs typeface="Wingdings"/>
                        </a:rPr>
                        <a:t></a:t>
                      </a:r>
                      <a:endParaRPr sz="2800">
                        <a:latin typeface="Wingdings"/>
                        <a:cs typeface="Wingdings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quotient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24,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remainder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0.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01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392">
                <a:tc>
                  <a:txBody>
                    <a:bodyPr/>
                    <a:lstStyle/>
                    <a:p>
                      <a:pPr marR="185420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24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</a:t>
                      </a:r>
                      <a:r>
                        <a:rPr sz="2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Wingdings"/>
                          <a:cs typeface="Wingdings"/>
                        </a:rPr>
                        <a:t></a:t>
                      </a:r>
                      <a:endParaRPr sz="2800">
                        <a:latin typeface="Wingdings"/>
                        <a:cs typeface="Wingdings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quotient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12,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remainder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0.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016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916">
                <a:tc>
                  <a:txBody>
                    <a:bodyPr/>
                    <a:lstStyle/>
                    <a:p>
                      <a:pPr marR="185420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</a:t>
                      </a:r>
                      <a:r>
                        <a:rPr sz="2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Wingdings"/>
                          <a:cs typeface="Wingdings"/>
                        </a:rPr>
                        <a:t></a:t>
                      </a:r>
                      <a:endParaRPr sz="2800">
                        <a:latin typeface="Wingdings"/>
                        <a:cs typeface="Wingdings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quotient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6,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remainder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0.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016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915"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6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</a:t>
                      </a:r>
                      <a:r>
                        <a:rPr sz="2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Wingdings"/>
                          <a:cs typeface="Wingdings"/>
                        </a:rPr>
                        <a:t></a:t>
                      </a:r>
                      <a:endParaRPr sz="2800">
                        <a:latin typeface="Wingdings"/>
                        <a:cs typeface="Wingdings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quotient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3,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remainder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0.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392"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3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</a:t>
                      </a:r>
                      <a:r>
                        <a:rPr sz="2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Wingdings"/>
                          <a:cs typeface="Wingdings"/>
                        </a:rPr>
                        <a:t></a:t>
                      </a:r>
                      <a:endParaRPr sz="2800">
                        <a:latin typeface="Wingdings"/>
                        <a:cs typeface="Wingdings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quotient</a:t>
                      </a:r>
                      <a:r>
                        <a:rPr sz="2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5" dirty="0">
                          <a:latin typeface="Calibri"/>
                          <a:cs typeface="Calibri"/>
                        </a:rPr>
                        <a:t>1,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remainder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1.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1016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1200">
                <a:tc>
                  <a:txBody>
                    <a:bodyPr/>
                    <a:lstStyle/>
                    <a:p>
                      <a:pPr marR="204470" algn="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Symbol"/>
                          <a:cs typeface="Symbol"/>
                        </a:rPr>
                        <a:t></a:t>
                      </a:r>
                      <a:r>
                        <a:rPr sz="2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Wingdings"/>
                          <a:cs typeface="Wingdings"/>
                        </a:rPr>
                        <a:t></a:t>
                      </a:r>
                      <a:endParaRPr sz="2800">
                        <a:latin typeface="Wingdings"/>
                        <a:cs typeface="Wingdings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quotient</a:t>
                      </a:r>
                      <a:r>
                        <a:rPr sz="28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2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2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Stop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)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46863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2800" spc="-5" dirty="0">
                          <a:latin typeface="Calibri"/>
                          <a:cs typeface="Calibri"/>
                        </a:rPr>
                        <a:t>remainder</a:t>
                      </a:r>
                      <a:r>
                        <a:rPr sz="2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sz="28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(</a:t>
                      </a:r>
                      <a:r>
                        <a:rPr sz="2800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MSB</a:t>
                      </a:r>
                      <a:r>
                        <a:rPr sz="2800" spc="-5" dirty="0">
                          <a:latin typeface="Calibri"/>
                          <a:cs typeface="Calibri"/>
                        </a:rPr>
                        <a:t>)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1016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238164" y="5873842"/>
            <a:ext cx="11804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649011" y="5903559"/>
            <a:ext cx="18034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0863" y="5903559"/>
            <a:ext cx="18034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72714" y="5903559"/>
            <a:ext cx="18034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34565" y="5903559"/>
            <a:ext cx="18034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96416" y="5903559"/>
            <a:ext cx="18034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58267" y="5903559"/>
            <a:ext cx="18034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20118" y="5903559"/>
            <a:ext cx="30480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850" b="0" i="0" u="none" strike="noStrike" kern="1200" cap="none" spc="0" normalizeH="0" baseline="-20467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endParaRPr kumimoji="0" sz="2850" b="0" i="0" u="none" strike="noStrike" kern="1200" cap="none" spc="0" normalizeH="0" baseline="-20467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88682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62" y="759958"/>
            <a:ext cx="10202779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UNSIGNED DECIMAL TO BINARY</a:t>
            </a:r>
            <a:br>
              <a:rPr lang="en-US" dirty="0"/>
            </a:br>
            <a:r>
              <a:rPr lang="en-US" dirty="0"/>
              <a:t>Method 1: </a:t>
            </a:r>
            <a:r>
              <a:rPr lang="en-US" dirty="0">
                <a:solidFill>
                  <a:srgbClr val="FF0000"/>
                </a:solidFill>
              </a:rPr>
              <a:t>Fractional Part </a:t>
            </a:r>
            <a:r>
              <a:rPr lang="en-US" dirty="0"/>
              <a:t>(Repeated Multiplication)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52600" y="212157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512763" algn="l"/>
                <a:tab pos="1828800" algn="l"/>
                <a:tab pos="2854325" algn="l"/>
              </a:tabLst>
            </a:pP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Product	</a:t>
            </a:r>
            <a:r>
              <a:rPr lang="en-US" b="1" dirty="0">
                <a:solidFill>
                  <a:schemeClr val="tx1"/>
                </a:solidFill>
              </a:rPr>
              <a:t>Whole</a:t>
            </a: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i="1" dirty="0">
                <a:solidFill>
                  <a:schemeClr val="tx1"/>
                </a:solidFill>
              </a:rPr>
              <a:t>Fractional</a:t>
            </a:r>
          </a:p>
          <a:p>
            <a:pPr marL="0" indent="0">
              <a:buNone/>
              <a:tabLst>
                <a:tab pos="631825" algn="l"/>
                <a:tab pos="2000250" algn="l"/>
                <a:tab pos="3203575" algn="l"/>
                <a:tab pos="4289425" algn="l"/>
              </a:tabLst>
            </a:pPr>
            <a:r>
              <a:rPr lang="en-US" u="sng" dirty="0">
                <a:solidFill>
                  <a:schemeClr val="tx1"/>
                </a:solidFill>
              </a:rPr>
              <a:t>N	(2×</a:t>
            </a:r>
            <a:r>
              <a:rPr lang="en-US" u="sng" dirty="0">
                <a:solidFill>
                  <a:srgbClr val="00B0F0"/>
                </a:solidFill>
              </a:rPr>
              <a:t>N</a:t>
            </a:r>
            <a:r>
              <a:rPr lang="en-US" u="sng" dirty="0">
                <a:solidFill>
                  <a:schemeClr val="tx1"/>
                </a:solidFill>
              </a:rPr>
              <a:t>)	</a:t>
            </a:r>
            <a:r>
              <a:rPr lang="en-US" b="1" u="sng" dirty="0">
                <a:solidFill>
                  <a:schemeClr val="tx1"/>
                </a:solidFill>
              </a:rPr>
              <a:t>Part</a:t>
            </a:r>
            <a:r>
              <a:rPr lang="en-US" u="sng" dirty="0">
                <a:solidFill>
                  <a:schemeClr val="tx1"/>
                </a:solidFill>
              </a:rPr>
              <a:t>	</a:t>
            </a:r>
            <a:r>
              <a:rPr lang="en-US" i="1" u="sng" dirty="0">
                <a:solidFill>
                  <a:schemeClr val="tx1"/>
                </a:solidFill>
              </a:rPr>
              <a:t>Part</a:t>
            </a:r>
            <a:r>
              <a:rPr lang="en-US" u="sng" dirty="0">
                <a:solidFill>
                  <a:schemeClr val="tx1"/>
                </a:solidFill>
              </a:rPr>
              <a:t>	Result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tabLst>
                <a:tab pos="803275" algn="l"/>
                <a:tab pos="2058988" algn="l"/>
                <a:tab pos="3255963" algn="l"/>
                <a:tab pos="4341813" algn="l"/>
                <a:tab pos="6400800" algn="l"/>
              </a:tabLst>
            </a:pPr>
            <a:r>
              <a:rPr lang="en-US" dirty="0">
                <a:solidFill>
                  <a:schemeClr val="tx1"/>
                </a:solidFill>
              </a:rPr>
              <a:t>.1	0.2	0	.2	.0</a:t>
            </a:r>
          </a:p>
          <a:p>
            <a:pPr marL="0" indent="0">
              <a:buNone/>
              <a:tabLst>
                <a:tab pos="803275" algn="l"/>
                <a:tab pos="2058988" algn="l"/>
                <a:tab pos="3255963" algn="l"/>
                <a:tab pos="4341813" algn="l"/>
                <a:tab pos="6400800" algn="l"/>
              </a:tabLst>
            </a:pPr>
            <a:r>
              <a:rPr lang="en-US" dirty="0">
                <a:solidFill>
                  <a:schemeClr val="tx1"/>
                </a:solidFill>
              </a:rPr>
              <a:t>.2	0.4	0	.4	.00</a:t>
            </a:r>
          </a:p>
          <a:p>
            <a:pPr marL="0" indent="0">
              <a:buNone/>
              <a:tabLst>
                <a:tab pos="803275" algn="l"/>
                <a:tab pos="2058988" algn="l"/>
                <a:tab pos="3255963" algn="l"/>
                <a:tab pos="4341813" algn="l"/>
                <a:tab pos="6400800" algn="l"/>
              </a:tabLst>
            </a:pPr>
            <a:r>
              <a:rPr lang="en-US" dirty="0">
                <a:solidFill>
                  <a:schemeClr val="tx1"/>
                </a:solidFill>
              </a:rPr>
              <a:t>.4	0.8	0	.8	.000</a:t>
            </a:r>
          </a:p>
          <a:p>
            <a:pPr marL="0" indent="0">
              <a:buNone/>
              <a:tabLst>
                <a:tab pos="803275" algn="l"/>
                <a:tab pos="2058988" algn="l"/>
                <a:tab pos="3255963" algn="l"/>
                <a:tab pos="4341813" algn="l"/>
                <a:tab pos="6400800" algn="l"/>
              </a:tabLst>
            </a:pPr>
            <a:r>
              <a:rPr lang="en-US" dirty="0">
                <a:solidFill>
                  <a:schemeClr val="tx1"/>
                </a:solidFill>
              </a:rPr>
              <a:t>.8	1.6	1	.6	.0001</a:t>
            </a:r>
          </a:p>
          <a:p>
            <a:pPr marL="0" indent="0">
              <a:buNone/>
              <a:tabLst>
                <a:tab pos="803275" algn="l"/>
                <a:tab pos="2058988" algn="l"/>
                <a:tab pos="3255963" algn="l"/>
                <a:tab pos="4341813" algn="l"/>
                <a:tab pos="6400800" algn="l"/>
              </a:tabLst>
            </a:pPr>
            <a:r>
              <a:rPr lang="en-US" dirty="0">
                <a:solidFill>
                  <a:schemeClr val="tx1"/>
                </a:solidFill>
              </a:rPr>
              <a:t>.6	1.2	1	.2	.00011</a:t>
            </a:r>
          </a:p>
          <a:p>
            <a:endParaRPr lang="en-US" dirty="0"/>
          </a:p>
        </p:txBody>
      </p:sp>
      <p:sp>
        <p:nvSpPr>
          <p:cNvPr id="15" name="Arc 14"/>
          <p:cNvSpPr/>
          <p:nvPr/>
        </p:nvSpPr>
        <p:spPr>
          <a:xfrm>
            <a:off x="3962400" y="2883576"/>
            <a:ext cx="2362200" cy="838200"/>
          </a:xfrm>
          <a:prstGeom prst="arc">
            <a:avLst>
              <a:gd name="adj1" fmla="val 11322425"/>
              <a:gd name="adj2" fmla="val 21094993"/>
            </a:avLst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Arc 15"/>
          <p:cNvSpPr/>
          <p:nvPr/>
        </p:nvSpPr>
        <p:spPr>
          <a:xfrm rot="10800000">
            <a:off x="1752600" y="2797394"/>
            <a:ext cx="3416708" cy="1143000"/>
          </a:xfrm>
          <a:prstGeom prst="arc">
            <a:avLst>
              <a:gd name="adj1" fmla="val 10849483"/>
              <a:gd name="adj2" fmla="val 20664556"/>
            </a:avLst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3526" y="5630077"/>
            <a:ext cx="10130589" cy="101566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NOTE: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Repeated multiplication may be used to convert from decimal to ANY radix.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Simply multiply by the.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7765" y="3620513"/>
            <a:ext cx="3946350" cy="101566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Digits are produced </a:t>
            </a:r>
            <a:r>
              <a:rPr kumimoji="0" lang="en-US" sz="1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left-to-right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starting from the radix point.</a:t>
            </a:r>
          </a:p>
        </p:txBody>
      </p:sp>
      <p:sp>
        <p:nvSpPr>
          <p:cNvPr id="13" name="Right Brace 12"/>
          <p:cNvSpPr/>
          <p:nvPr/>
        </p:nvSpPr>
        <p:spPr>
          <a:xfrm>
            <a:off x="6934201" y="3035976"/>
            <a:ext cx="433039" cy="2209800"/>
          </a:xfrm>
          <a:prstGeom prst="rightBrace">
            <a:avLst>
              <a:gd name="adj1" fmla="val 20602"/>
              <a:gd name="adj2" fmla="val 5000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28575">
                <a:solidFill>
                  <a:srgbClr val="FF0000"/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267200" y="5245776"/>
            <a:ext cx="220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Begins to repeat!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0B9B93-6561-43F9-BFBE-F1A6EC5D5A32}"/>
              </a:ext>
            </a:extLst>
          </p:cNvPr>
          <p:cNvCxnSpPr/>
          <p:nvPr/>
        </p:nvCxnSpPr>
        <p:spPr>
          <a:xfrm flipH="1" flipV="1">
            <a:off x="2300177" y="3940395"/>
            <a:ext cx="2551814" cy="105551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14091" y="3709244"/>
            <a:ext cx="971826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3505200" y="2095508"/>
            <a:ext cx="1112662" cy="8141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617861" y="2097719"/>
            <a:ext cx="1309697" cy="8141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301520" y="2097719"/>
            <a:ext cx="1203679" cy="8141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921282" y="2096485"/>
            <a:ext cx="1203679" cy="8141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543270" y="2095507"/>
            <a:ext cx="756907" cy="8141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301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6102" y="751335"/>
            <a:ext cx="8228003" cy="112082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Decimal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spc="-5" dirty="0"/>
              <a:t>Binary</a:t>
            </a:r>
            <a:r>
              <a:rPr spc="-25" dirty="0"/>
              <a:t> </a:t>
            </a:r>
            <a:r>
              <a:rPr dirty="0"/>
              <a:t>Conversion</a:t>
            </a:r>
            <a:br>
              <a:rPr lang="en-US" dirty="0"/>
            </a:br>
            <a:r>
              <a:rPr lang="en-US" spc="-5" dirty="0">
                <a:solidFill>
                  <a:srgbClr val="0000CC"/>
                </a:solidFill>
                <a:latin typeface="Calibri"/>
                <a:cs typeface="Calibri"/>
              </a:rPr>
              <a:t>(</a:t>
            </a:r>
            <a:r>
              <a:rPr lang="en-US" spc="-5" dirty="0">
                <a:solidFill>
                  <a:srgbClr val="FF0000"/>
                </a:solidFill>
                <a:latin typeface="Calibri"/>
                <a:cs typeface="Calibri"/>
              </a:rPr>
              <a:t>Fractional Part: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pc="-5" dirty="0">
                <a:solidFill>
                  <a:srgbClr val="FF0000"/>
                </a:solidFill>
                <a:latin typeface="Calibri"/>
                <a:cs typeface="Calibri"/>
              </a:rPr>
              <a:t>Repeated</a:t>
            </a:r>
            <a:r>
              <a:rPr lang="en-US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rgbClr val="FF0000"/>
                </a:solidFill>
                <a:latin typeface="Calibri"/>
                <a:cs typeface="Calibri"/>
              </a:rPr>
              <a:t>Multiplication</a:t>
            </a:r>
            <a:r>
              <a:rPr lang="en-US" dirty="0">
                <a:solidFill>
                  <a:srgbClr val="0000CC"/>
                </a:solidFill>
                <a:latin typeface="Calibri"/>
                <a:cs typeface="Calibri"/>
              </a:rPr>
              <a:t>)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2292985" y="2214493"/>
            <a:ext cx="1296035" cy="3354070"/>
          </a:xfrm>
          <a:prstGeom prst="rect">
            <a:avLst/>
          </a:prstGeom>
        </p:spPr>
        <p:txBody>
          <a:bodyPr vert="horz" wrap="square" lIns="0" tIns="24701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9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.1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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ingdings"/>
              <a:ea typeface="+mn-ea"/>
              <a:cs typeface="Wingdings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8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.2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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ingdings"/>
              <a:ea typeface="+mn-ea"/>
              <a:cs typeface="Wingdings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9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.4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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ingdings"/>
              <a:ea typeface="+mn-ea"/>
              <a:cs typeface="Wingdings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.8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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ingdings"/>
              <a:ea typeface="+mn-ea"/>
              <a:cs typeface="Wingdings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.6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</a:t>
            </a:r>
            <a:r>
              <a:rPr kumimoji="0" sz="2800" b="0" i="0" u="none" strike="noStrike" kern="1200" cap="none" spc="-9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Wingdings"/>
              <a:ea typeface="+mn-ea"/>
              <a:cs typeface="Wingding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7340" y="2214493"/>
            <a:ext cx="5702935" cy="3354070"/>
          </a:xfrm>
          <a:prstGeom prst="rect">
            <a:avLst/>
          </a:prstGeom>
        </p:spPr>
        <p:txBody>
          <a:bodyPr vert="horz" wrap="square" lIns="0" tIns="24701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9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0.2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(fractional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=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.2,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whole part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0)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8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0.4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(fractional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=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.4,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whole part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0)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9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0.8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(fractional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=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.8,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whole part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0)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8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1.6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(fractional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=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.6,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whole part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1)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9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1.2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(fractional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=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.2,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whole part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1)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81527" y="5569694"/>
            <a:ext cx="5027295" cy="103759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.00011001100110011</a:t>
            </a:r>
            <a:r>
              <a:rPr kumimoji="0" sz="2850" b="0" i="0" u="none" strike="noStrike" kern="1200" cap="none" spc="0" normalizeH="0" baseline="-14619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…..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(How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much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 we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keep?)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90778" y="2882914"/>
            <a:ext cx="1601470" cy="342900"/>
          </a:xfrm>
          <a:custGeom>
            <a:avLst/>
            <a:gdLst/>
            <a:ahLst/>
            <a:cxnLst/>
            <a:rect l="l" t="t" r="r" b="b"/>
            <a:pathLst>
              <a:path w="1601470" h="342900">
                <a:moveTo>
                  <a:pt x="74678" y="244472"/>
                </a:moveTo>
                <a:lnTo>
                  <a:pt x="0" y="309482"/>
                </a:lnTo>
                <a:lnTo>
                  <a:pt x="93348" y="342488"/>
                </a:lnTo>
                <a:lnTo>
                  <a:pt x="96069" y="341189"/>
                </a:lnTo>
                <a:lnTo>
                  <a:pt x="97822" y="336228"/>
                </a:lnTo>
                <a:lnTo>
                  <a:pt x="96523" y="333508"/>
                </a:lnTo>
                <a:lnTo>
                  <a:pt x="36827" y="312400"/>
                </a:lnTo>
                <a:lnTo>
                  <a:pt x="10132" y="312400"/>
                </a:lnTo>
                <a:lnTo>
                  <a:pt x="8350" y="303043"/>
                </a:lnTo>
                <a:lnTo>
                  <a:pt x="25699" y="299738"/>
                </a:lnTo>
                <a:lnTo>
                  <a:pt x="80932" y="251656"/>
                </a:lnTo>
                <a:lnTo>
                  <a:pt x="81141" y="248648"/>
                </a:lnTo>
                <a:lnTo>
                  <a:pt x="77687" y="244680"/>
                </a:lnTo>
                <a:lnTo>
                  <a:pt x="74678" y="244472"/>
                </a:lnTo>
                <a:close/>
              </a:path>
              <a:path w="1601470" h="342900">
                <a:moveTo>
                  <a:pt x="25699" y="299738"/>
                </a:moveTo>
                <a:lnTo>
                  <a:pt x="8350" y="303043"/>
                </a:lnTo>
                <a:lnTo>
                  <a:pt x="10132" y="312400"/>
                </a:lnTo>
                <a:lnTo>
                  <a:pt x="15879" y="311306"/>
                </a:lnTo>
                <a:lnTo>
                  <a:pt x="12411" y="311306"/>
                </a:lnTo>
                <a:lnTo>
                  <a:pt x="10872" y="303223"/>
                </a:lnTo>
                <a:lnTo>
                  <a:pt x="21696" y="303223"/>
                </a:lnTo>
                <a:lnTo>
                  <a:pt x="25699" y="299738"/>
                </a:lnTo>
                <a:close/>
              </a:path>
              <a:path w="1601470" h="342900">
                <a:moveTo>
                  <a:pt x="27481" y="309096"/>
                </a:moveTo>
                <a:lnTo>
                  <a:pt x="10132" y="312400"/>
                </a:lnTo>
                <a:lnTo>
                  <a:pt x="36827" y="312400"/>
                </a:lnTo>
                <a:lnTo>
                  <a:pt x="27481" y="309096"/>
                </a:lnTo>
                <a:close/>
              </a:path>
              <a:path w="1601470" h="342900">
                <a:moveTo>
                  <a:pt x="10872" y="303223"/>
                </a:moveTo>
                <a:lnTo>
                  <a:pt x="12411" y="311306"/>
                </a:lnTo>
                <a:lnTo>
                  <a:pt x="18569" y="305945"/>
                </a:lnTo>
                <a:lnTo>
                  <a:pt x="10872" y="303223"/>
                </a:lnTo>
                <a:close/>
              </a:path>
              <a:path w="1601470" h="342900">
                <a:moveTo>
                  <a:pt x="18569" y="305945"/>
                </a:moveTo>
                <a:lnTo>
                  <a:pt x="12411" y="311306"/>
                </a:lnTo>
                <a:lnTo>
                  <a:pt x="15879" y="311306"/>
                </a:lnTo>
                <a:lnTo>
                  <a:pt x="27481" y="309096"/>
                </a:lnTo>
                <a:lnTo>
                  <a:pt x="18569" y="305945"/>
                </a:lnTo>
                <a:close/>
              </a:path>
              <a:path w="1601470" h="342900">
                <a:moveTo>
                  <a:pt x="1599330" y="0"/>
                </a:moveTo>
                <a:lnTo>
                  <a:pt x="25699" y="299738"/>
                </a:lnTo>
                <a:lnTo>
                  <a:pt x="18569" y="305945"/>
                </a:lnTo>
                <a:lnTo>
                  <a:pt x="27481" y="309096"/>
                </a:lnTo>
                <a:lnTo>
                  <a:pt x="1601113" y="9357"/>
                </a:lnTo>
                <a:lnTo>
                  <a:pt x="1599330" y="0"/>
                </a:lnTo>
                <a:close/>
              </a:path>
              <a:path w="1601470" h="342900">
                <a:moveTo>
                  <a:pt x="21696" y="303223"/>
                </a:moveTo>
                <a:lnTo>
                  <a:pt x="10872" y="303223"/>
                </a:lnTo>
                <a:lnTo>
                  <a:pt x="18569" y="305945"/>
                </a:lnTo>
                <a:lnTo>
                  <a:pt x="21696" y="3032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90778" y="4864114"/>
            <a:ext cx="1601470" cy="342900"/>
          </a:xfrm>
          <a:custGeom>
            <a:avLst/>
            <a:gdLst/>
            <a:ahLst/>
            <a:cxnLst/>
            <a:rect l="l" t="t" r="r" b="b"/>
            <a:pathLst>
              <a:path w="1601470" h="342900">
                <a:moveTo>
                  <a:pt x="74678" y="244472"/>
                </a:moveTo>
                <a:lnTo>
                  <a:pt x="0" y="309482"/>
                </a:lnTo>
                <a:lnTo>
                  <a:pt x="93348" y="342488"/>
                </a:lnTo>
                <a:lnTo>
                  <a:pt x="96069" y="341189"/>
                </a:lnTo>
                <a:lnTo>
                  <a:pt x="97822" y="336228"/>
                </a:lnTo>
                <a:lnTo>
                  <a:pt x="96523" y="333508"/>
                </a:lnTo>
                <a:lnTo>
                  <a:pt x="36827" y="312400"/>
                </a:lnTo>
                <a:lnTo>
                  <a:pt x="10132" y="312400"/>
                </a:lnTo>
                <a:lnTo>
                  <a:pt x="8350" y="303043"/>
                </a:lnTo>
                <a:lnTo>
                  <a:pt x="25699" y="299738"/>
                </a:lnTo>
                <a:lnTo>
                  <a:pt x="80932" y="251656"/>
                </a:lnTo>
                <a:lnTo>
                  <a:pt x="81141" y="248648"/>
                </a:lnTo>
                <a:lnTo>
                  <a:pt x="77687" y="244680"/>
                </a:lnTo>
                <a:lnTo>
                  <a:pt x="74678" y="244472"/>
                </a:lnTo>
                <a:close/>
              </a:path>
              <a:path w="1601470" h="342900">
                <a:moveTo>
                  <a:pt x="25699" y="299738"/>
                </a:moveTo>
                <a:lnTo>
                  <a:pt x="8350" y="303043"/>
                </a:lnTo>
                <a:lnTo>
                  <a:pt x="10132" y="312400"/>
                </a:lnTo>
                <a:lnTo>
                  <a:pt x="15879" y="311306"/>
                </a:lnTo>
                <a:lnTo>
                  <a:pt x="12411" y="311306"/>
                </a:lnTo>
                <a:lnTo>
                  <a:pt x="10872" y="303223"/>
                </a:lnTo>
                <a:lnTo>
                  <a:pt x="21696" y="303223"/>
                </a:lnTo>
                <a:lnTo>
                  <a:pt x="25699" y="299738"/>
                </a:lnTo>
                <a:close/>
              </a:path>
              <a:path w="1601470" h="342900">
                <a:moveTo>
                  <a:pt x="27481" y="309096"/>
                </a:moveTo>
                <a:lnTo>
                  <a:pt x="10132" y="312400"/>
                </a:lnTo>
                <a:lnTo>
                  <a:pt x="36827" y="312400"/>
                </a:lnTo>
                <a:lnTo>
                  <a:pt x="27481" y="309096"/>
                </a:lnTo>
                <a:close/>
              </a:path>
              <a:path w="1601470" h="342900">
                <a:moveTo>
                  <a:pt x="10872" y="303223"/>
                </a:moveTo>
                <a:lnTo>
                  <a:pt x="12411" y="311306"/>
                </a:lnTo>
                <a:lnTo>
                  <a:pt x="18569" y="305945"/>
                </a:lnTo>
                <a:lnTo>
                  <a:pt x="10872" y="303223"/>
                </a:lnTo>
                <a:close/>
              </a:path>
              <a:path w="1601470" h="342900">
                <a:moveTo>
                  <a:pt x="18569" y="305945"/>
                </a:moveTo>
                <a:lnTo>
                  <a:pt x="12411" y="311306"/>
                </a:lnTo>
                <a:lnTo>
                  <a:pt x="15879" y="311306"/>
                </a:lnTo>
                <a:lnTo>
                  <a:pt x="27481" y="309096"/>
                </a:lnTo>
                <a:lnTo>
                  <a:pt x="18569" y="305945"/>
                </a:lnTo>
                <a:close/>
              </a:path>
              <a:path w="1601470" h="342900">
                <a:moveTo>
                  <a:pt x="1599330" y="0"/>
                </a:moveTo>
                <a:lnTo>
                  <a:pt x="25699" y="299738"/>
                </a:lnTo>
                <a:lnTo>
                  <a:pt x="18569" y="305945"/>
                </a:lnTo>
                <a:lnTo>
                  <a:pt x="27481" y="309096"/>
                </a:lnTo>
                <a:lnTo>
                  <a:pt x="1601113" y="9357"/>
                </a:lnTo>
                <a:lnTo>
                  <a:pt x="1599330" y="0"/>
                </a:lnTo>
                <a:close/>
              </a:path>
              <a:path w="1601470" h="342900">
                <a:moveTo>
                  <a:pt x="21696" y="303223"/>
                </a:moveTo>
                <a:lnTo>
                  <a:pt x="10872" y="303223"/>
                </a:lnTo>
                <a:lnTo>
                  <a:pt x="18569" y="305945"/>
                </a:lnTo>
                <a:lnTo>
                  <a:pt x="21696" y="3032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90778" y="3492514"/>
            <a:ext cx="1601470" cy="342900"/>
          </a:xfrm>
          <a:custGeom>
            <a:avLst/>
            <a:gdLst/>
            <a:ahLst/>
            <a:cxnLst/>
            <a:rect l="l" t="t" r="r" b="b"/>
            <a:pathLst>
              <a:path w="1601470" h="342900">
                <a:moveTo>
                  <a:pt x="74678" y="244472"/>
                </a:moveTo>
                <a:lnTo>
                  <a:pt x="0" y="309482"/>
                </a:lnTo>
                <a:lnTo>
                  <a:pt x="93348" y="342488"/>
                </a:lnTo>
                <a:lnTo>
                  <a:pt x="96069" y="341189"/>
                </a:lnTo>
                <a:lnTo>
                  <a:pt x="97822" y="336228"/>
                </a:lnTo>
                <a:lnTo>
                  <a:pt x="96523" y="333508"/>
                </a:lnTo>
                <a:lnTo>
                  <a:pt x="36827" y="312400"/>
                </a:lnTo>
                <a:lnTo>
                  <a:pt x="10132" y="312400"/>
                </a:lnTo>
                <a:lnTo>
                  <a:pt x="8350" y="303043"/>
                </a:lnTo>
                <a:lnTo>
                  <a:pt x="25699" y="299738"/>
                </a:lnTo>
                <a:lnTo>
                  <a:pt x="80932" y="251656"/>
                </a:lnTo>
                <a:lnTo>
                  <a:pt x="81141" y="248648"/>
                </a:lnTo>
                <a:lnTo>
                  <a:pt x="77687" y="244680"/>
                </a:lnTo>
                <a:lnTo>
                  <a:pt x="74678" y="244472"/>
                </a:lnTo>
                <a:close/>
              </a:path>
              <a:path w="1601470" h="342900">
                <a:moveTo>
                  <a:pt x="25699" y="299738"/>
                </a:moveTo>
                <a:lnTo>
                  <a:pt x="8350" y="303043"/>
                </a:lnTo>
                <a:lnTo>
                  <a:pt x="10132" y="312400"/>
                </a:lnTo>
                <a:lnTo>
                  <a:pt x="15879" y="311306"/>
                </a:lnTo>
                <a:lnTo>
                  <a:pt x="12411" y="311306"/>
                </a:lnTo>
                <a:lnTo>
                  <a:pt x="10872" y="303223"/>
                </a:lnTo>
                <a:lnTo>
                  <a:pt x="21696" y="303223"/>
                </a:lnTo>
                <a:lnTo>
                  <a:pt x="25699" y="299738"/>
                </a:lnTo>
                <a:close/>
              </a:path>
              <a:path w="1601470" h="342900">
                <a:moveTo>
                  <a:pt x="27481" y="309096"/>
                </a:moveTo>
                <a:lnTo>
                  <a:pt x="10132" y="312400"/>
                </a:lnTo>
                <a:lnTo>
                  <a:pt x="36827" y="312400"/>
                </a:lnTo>
                <a:lnTo>
                  <a:pt x="27481" y="309096"/>
                </a:lnTo>
                <a:close/>
              </a:path>
              <a:path w="1601470" h="342900">
                <a:moveTo>
                  <a:pt x="10872" y="303223"/>
                </a:moveTo>
                <a:lnTo>
                  <a:pt x="12411" y="311306"/>
                </a:lnTo>
                <a:lnTo>
                  <a:pt x="18569" y="305945"/>
                </a:lnTo>
                <a:lnTo>
                  <a:pt x="10872" y="303223"/>
                </a:lnTo>
                <a:close/>
              </a:path>
              <a:path w="1601470" h="342900">
                <a:moveTo>
                  <a:pt x="18569" y="305945"/>
                </a:moveTo>
                <a:lnTo>
                  <a:pt x="12411" y="311306"/>
                </a:lnTo>
                <a:lnTo>
                  <a:pt x="15879" y="311306"/>
                </a:lnTo>
                <a:lnTo>
                  <a:pt x="27481" y="309096"/>
                </a:lnTo>
                <a:lnTo>
                  <a:pt x="18569" y="305945"/>
                </a:lnTo>
                <a:close/>
              </a:path>
              <a:path w="1601470" h="342900">
                <a:moveTo>
                  <a:pt x="1599330" y="0"/>
                </a:moveTo>
                <a:lnTo>
                  <a:pt x="25699" y="299738"/>
                </a:lnTo>
                <a:lnTo>
                  <a:pt x="18569" y="305945"/>
                </a:lnTo>
                <a:lnTo>
                  <a:pt x="27481" y="309096"/>
                </a:lnTo>
                <a:lnTo>
                  <a:pt x="1601113" y="9357"/>
                </a:lnTo>
                <a:lnTo>
                  <a:pt x="1599330" y="0"/>
                </a:lnTo>
                <a:close/>
              </a:path>
              <a:path w="1601470" h="342900">
                <a:moveTo>
                  <a:pt x="21696" y="303223"/>
                </a:moveTo>
                <a:lnTo>
                  <a:pt x="10872" y="303223"/>
                </a:lnTo>
                <a:lnTo>
                  <a:pt x="18569" y="305945"/>
                </a:lnTo>
                <a:lnTo>
                  <a:pt x="21696" y="3032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590778" y="4178314"/>
            <a:ext cx="1601470" cy="342900"/>
          </a:xfrm>
          <a:custGeom>
            <a:avLst/>
            <a:gdLst/>
            <a:ahLst/>
            <a:cxnLst/>
            <a:rect l="l" t="t" r="r" b="b"/>
            <a:pathLst>
              <a:path w="1601470" h="342900">
                <a:moveTo>
                  <a:pt x="74678" y="244472"/>
                </a:moveTo>
                <a:lnTo>
                  <a:pt x="0" y="309482"/>
                </a:lnTo>
                <a:lnTo>
                  <a:pt x="93348" y="342488"/>
                </a:lnTo>
                <a:lnTo>
                  <a:pt x="96069" y="341189"/>
                </a:lnTo>
                <a:lnTo>
                  <a:pt x="97822" y="336228"/>
                </a:lnTo>
                <a:lnTo>
                  <a:pt x="96523" y="333508"/>
                </a:lnTo>
                <a:lnTo>
                  <a:pt x="36827" y="312400"/>
                </a:lnTo>
                <a:lnTo>
                  <a:pt x="10132" y="312400"/>
                </a:lnTo>
                <a:lnTo>
                  <a:pt x="8350" y="303043"/>
                </a:lnTo>
                <a:lnTo>
                  <a:pt x="25699" y="299738"/>
                </a:lnTo>
                <a:lnTo>
                  <a:pt x="80932" y="251656"/>
                </a:lnTo>
                <a:lnTo>
                  <a:pt x="81141" y="248648"/>
                </a:lnTo>
                <a:lnTo>
                  <a:pt x="77687" y="244680"/>
                </a:lnTo>
                <a:lnTo>
                  <a:pt x="74678" y="244472"/>
                </a:lnTo>
                <a:close/>
              </a:path>
              <a:path w="1601470" h="342900">
                <a:moveTo>
                  <a:pt x="25699" y="299738"/>
                </a:moveTo>
                <a:lnTo>
                  <a:pt x="8350" y="303043"/>
                </a:lnTo>
                <a:lnTo>
                  <a:pt x="10132" y="312400"/>
                </a:lnTo>
                <a:lnTo>
                  <a:pt x="15879" y="311306"/>
                </a:lnTo>
                <a:lnTo>
                  <a:pt x="12411" y="311306"/>
                </a:lnTo>
                <a:lnTo>
                  <a:pt x="10872" y="303223"/>
                </a:lnTo>
                <a:lnTo>
                  <a:pt x="21696" y="303223"/>
                </a:lnTo>
                <a:lnTo>
                  <a:pt x="25699" y="299738"/>
                </a:lnTo>
                <a:close/>
              </a:path>
              <a:path w="1601470" h="342900">
                <a:moveTo>
                  <a:pt x="27481" y="309096"/>
                </a:moveTo>
                <a:lnTo>
                  <a:pt x="10132" y="312400"/>
                </a:lnTo>
                <a:lnTo>
                  <a:pt x="36827" y="312400"/>
                </a:lnTo>
                <a:lnTo>
                  <a:pt x="27481" y="309096"/>
                </a:lnTo>
                <a:close/>
              </a:path>
              <a:path w="1601470" h="342900">
                <a:moveTo>
                  <a:pt x="10872" y="303223"/>
                </a:moveTo>
                <a:lnTo>
                  <a:pt x="12411" y="311306"/>
                </a:lnTo>
                <a:lnTo>
                  <a:pt x="18569" y="305945"/>
                </a:lnTo>
                <a:lnTo>
                  <a:pt x="10872" y="303223"/>
                </a:lnTo>
                <a:close/>
              </a:path>
              <a:path w="1601470" h="342900">
                <a:moveTo>
                  <a:pt x="18569" y="305945"/>
                </a:moveTo>
                <a:lnTo>
                  <a:pt x="12411" y="311306"/>
                </a:lnTo>
                <a:lnTo>
                  <a:pt x="15879" y="311306"/>
                </a:lnTo>
                <a:lnTo>
                  <a:pt x="27481" y="309096"/>
                </a:lnTo>
                <a:lnTo>
                  <a:pt x="18569" y="305945"/>
                </a:lnTo>
                <a:close/>
              </a:path>
              <a:path w="1601470" h="342900">
                <a:moveTo>
                  <a:pt x="1599330" y="0"/>
                </a:moveTo>
                <a:lnTo>
                  <a:pt x="25699" y="299738"/>
                </a:lnTo>
                <a:lnTo>
                  <a:pt x="18569" y="305945"/>
                </a:lnTo>
                <a:lnTo>
                  <a:pt x="27481" y="309096"/>
                </a:lnTo>
                <a:lnTo>
                  <a:pt x="1601113" y="9357"/>
                </a:lnTo>
                <a:lnTo>
                  <a:pt x="1599330" y="0"/>
                </a:lnTo>
                <a:close/>
              </a:path>
              <a:path w="1601470" h="342900">
                <a:moveTo>
                  <a:pt x="21696" y="303223"/>
                </a:moveTo>
                <a:lnTo>
                  <a:pt x="10872" y="303223"/>
                </a:lnTo>
                <a:lnTo>
                  <a:pt x="18569" y="305945"/>
                </a:lnTo>
                <a:lnTo>
                  <a:pt x="21696" y="3032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217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826789" y="1895455"/>
            <a:ext cx="8575675" cy="4676920"/>
          </a:xfrm>
          <a:prstGeom prst="rect">
            <a:avLst/>
          </a:prstGeom>
        </p:spPr>
        <p:txBody>
          <a:bodyPr vert="horz" wrap="square" lIns="0" tIns="227329" rIns="0" bIns="0" rtlCol="0">
            <a:spAutoFit/>
          </a:bodyPr>
          <a:lstStyle/>
          <a:p>
            <a:pPr marL="76200" marR="0" lvl="0" indent="0" algn="l" defTabSz="914400" rtl="0" eaLnBrk="1" fontAlgn="auto" latinLnBrk="0" hangingPunct="1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Example: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0.25</a:t>
            </a:r>
            <a:r>
              <a:rPr kumimoji="0" sz="2850" b="0" i="0" u="none" strike="noStrike" kern="1200" cap="none" spc="-7" normalizeH="0" baseline="-17543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endParaRPr kumimoji="0" sz="2850" b="0" i="0" u="none" strike="noStrike" kern="1200" cap="none" spc="0" normalizeH="0" baseline="-17543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6200" marR="0" lvl="0" indent="0" algn="l" defTabSz="914400" rtl="0" eaLnBrk="1" fontAlgn="auto" latinLnBrk="0" hangingPunct="1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2E2E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.25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2E2E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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.5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(fractional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=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.5,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whole part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7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62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.5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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75D175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.0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(fractional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= .0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stop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whole part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=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4226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6200" marR="0" lvl="0" indent="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Another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example: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0.5</a:t>
            </a:r>
            <a:r>
              <a:rPr kumimoji="0" sz="2850" b="0" i="0" u="none" strike="noStrike" kern="1200" cap="none" spc="-7" normalizeH="0" baseline="-17543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endParaRPr kumimoji="0" sz="2850" b="0" i="0" u="none" strike="noStrike" kern="1200" cap="none" spc="0" normalizeH="0" baseline="-17543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6200" marR="0" lvl="0" indent="0" algn="l" defTabSz="914400" rtl="0" eaLnBrk="1" fontAlgn="auto" latinLnBrk="0" hangingPunct="1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4364" algn="l"/>
              </a:tabLst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2E2E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.5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2E2E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/>
                <a:ea typeface="+mn-ea"/>
                <a:cs typeface="Symbol"/>
              </a:rPr>
              <a:t>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	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.0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(fractional part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=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.0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(stop),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whole part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=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</a:p>
          <a:p>
            <a:pPr marL="3512820" marR="0" lvl="0" indent="0" algn="l" defTabSz="914400" rtl="0" eaLnBrk="1" fontAlgn="auto" latinLnBrk="0" hangingPunct="1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6050" y="784710"/>
            <a:ext cx="10935108" cy="99770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Decimal</a:t>
            </a:r>
            <a:r>
              <a:rPr sz="3200" spc="-15" dirty="0"/>
              <a:t> </a:t>
            </a:r>
            <a:r>
              <a:rPr sz="3200" dirty="0"/>
              <a:t>to</a:t>
            </a:r>
            <a:r>
              <a:rPr sz="3200" spc="-20" dirty="0"/>
              <a:t> </a:t>
            </a:r>
            <a:r>
              <a:rPr sz="3200" spc="-5" dirty="0"/>
              <a:t>Binary</a:t>
            </a:r>
            <a:r>
              <a:rPr sz="3200" spc="-25" dirty="0"/>
              <a:t> </a:t>
            </a:r>
            <a:r>
              <a:rPr sz="3200" dirty="0"/>
              <a:t>Conversion</a:t>
            </a:r>
            <a:br>
              <a:rPr lang="en-US" sz="3200" dirty="0"/>
            </a:br>
            <a:r>
              <a:rPr lang="en-US" sz="3200" spc="-5" dirty="0">
                <a:solidFill>
                  <a:srgbClr val="0000CC"/>
                </a:solidFill>
                <a:latin typeface="Calibri"/>
                <a:cs typeface="Calibri"/>
              </a:rPr>
              <a:t>(</a:t>
            </a:r>
            <a:r>
              <a:rPr lang="en-US" sz="3200" spc="-5" dirty="0">
                <a:solidFill>
                  <a:srgbClr val="FF0000"/>
                </a:solidFill>
                <a:latin typeface="Calibri"/>
                <a:cs typeface="Calibri"/>
              </a:rPr>
              <a:t>Fractional Part:</a:t>
            </a:r>
            <a:r>
              <a:rPr lang="en-US" sz="3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3200" spc="-5" dirty="0">
                <a:solidFill>
                  <a:srgbClr val="FF0000"/>
                </a:solidFill>
                <a:latin typeface="Calibri"/>
                <a:cs typeface="Calibri"/>
              </a:rPr>
              <a:t>Repeated</a:t>
            </a:r>
            <a:r>
              <a:rPr lang="en-US" sz="3200" dirty="0">
                <a:solidFill>
                  <a:srgbClr val="FF0000"/>
                </a:solidFill>
                <a:latin typeface="Calibri"/>
                <a:cs typeface="Calibri"/>
              </a:rPr>
              <a:t> Multiplication</a:t>
            </a:r>
            <a:r>
              <a:rPr lang="en-US" sz="3200" dirty="0">
                <a:solidFill>
                  <a:srgbClr val="0000CC"/>
                </a:solidFill>
                <a:latin typeface="Calibri"/>
                <a:cs typeface="Calibri"/>
              </a:rPr>
              <a:t>)</a:t>
            </a:r>
            <a:endParaRPr sz="3200" dirty="0"/>
          </a:p>
        </p:txBody>
      </p:sp>
      <p:sp>
        <p:nvSpPr>
          <p:cNvPr id="3" name="object 3"/>
          <p:cNvSpPr txBox="1"/>
          <p:nvPr/>
        </p:nvSpPr>
        <p:spPr>
          <a:xfrm>
            <a:off x="6481731" y="6122297"/>
            <a:ext cx="180340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744354" y="6122296"/>
            <a:ext cx="413215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850" b="0" i="0" u="none" strike="noStrike" kern="1200" cap="none" spc="0" normalizeH="0" baseline="-14619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endParaRPr kumimoji="0" sz="2850" b="0" i="0" u="none" strike="noStrike" kern="1200" cap="none" spc="0" normalizeH="0" baseline="-14619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50961" y="4592184"/>
            <a:ext cx="564274" cy="410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2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850" b="0" i="0" u="none" strike="noStrike" kern="1200" cap="none" spc="0" normalizeH="0" baseline="-14619" noProof="0" dirty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endParaRPr kumimoji="0" sz="2850" b="0" i="0" u="none" strike="noStrike" kern="1200" cap="none" spc="0" normalizeH="0" baseline="-14619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11334" y="3003189"/>
            <a:ext cx="4192270" cy="651510"/>
          </a:xfrm>
          <a:custGeom>
            <a:avLst/>
            <a:gdLst/>
            <a:ahLst/>
            <a:cxnLst/>
            <a:rect l="l" t="t" r="r" b="b"/>
            <a:pathLst>
              <a:path w="4192270" h="651510">
                <a:moveTo>
                  <a:pt x="77452" y="552636"/>
                </a:moveTo>
                <a:lnTo>
                  <a:pt x="0" y="614315"/>
                </a:lnTo>
                <a:lnTo>
                  <a:pt x="91814" y="651375"/>
                </a:lnTo>
                <a:lnTo>
                  <a:pt x="94589" y="650195"/>
                </a:lnTo>
                <a:lnTo>
                  <a:pt x="96558" y="645317"/>
                </a:lnTo>
                <a:lnTo>
                  <a:pt x="95379" y="642542"/>
                </a:lnTo>
                <a:lnTo>
                  <a:pt x="33730" y="617659"/>
                </a:lnTo>
                <a:lnTo>
                  <a:pt x="10104" y="617659"/>
                </a:lnTo>
                <a:lnTo>
                  <a:pt x="8733" y="608233"/>
                </a:lnTo>
                <a:lnTo>
                  <a:pt x="26100" y="605707"/>
                </a:lnTo>
                <a:lnTo>
                  <a:pt x="83386" y="560087"/>
                </a:lnTo>
                <a:lnTo>
                  <a:pt x="83726" y="557090"/>
                </a:lnTo>
                <a:lnTo>
                  <a:pt x="80448" y="552975"/>
                </a:lnTo>
                <a:lnTo>
                  <a:pt x="77452" y="552636"/>
                </a:lnTo>
                <a:close/>
              </a:path>
              <a:path w="4192270" h="651510">
                <a:moveTo>
                  <a:pt x="26100" y="605707"/>
                </a:moveTo>
                <a:lnTo>
                  <a:pt x="8733" y="608233"/>
                </a:lnTo>
                <a:lnTo>
                  <a:pt x="10104" y="617659"/>
                </a:lnTo>
                <a:lnTo>
                  <a:pt x="16827" y="616681"/>
                </a:lnTo>
                <a:lnTo>
                  <a:pt x="12320" y="616681"/>
                </a:lnTo>
                <a:lnTo>
                  <a:pt x="11135" y="608539"/>
                </a:lnTo>
                <a:lnTo>
                  <a:pt x="22544" y="608539"/>
                </a:lnTo>
                <a:lnTo>
                  <a:pt x="26100" y="605707"/>
                </a:lnTo>
                <a:close/>
              </a:path>
              <a:path w="4192270" h="651510">
                <a:moveTo>
                  <a:pt x="27472" y="615133"/>
                </a:moveTo>
                <a:lnTo>
                  <a:pt x="10104" y="617659"/>
                </a:lnTo>
                <a:lnTo>
                  <a:pt x="33730" y="617659"/>
                </a:lnTo>
                <a:lnTo>
                  <a:pt x="27472" y="615133"/>
                </a:lnTo>
                <a:close/>
              </a:path>
              <a:path w="4192270" h="651510">
                <a:moveTo>
                  <a:pt x="11135" y="608539"/>
                </a:moveTo>
                <a:lnTo>
                  <a:pt x="12320" y="616681"/>
                </a:lnTo>
                <a:lnTo>
                  <a:pt x="18707" y="611595"/>
                </a:lnTo>
                <a:lnTo>
                  <a:pt x="11135" y="608539"/>
                </a:lnTo>
                <a:close/>
              </a:path>
              <a:path w="4192270" h="651510">
                <a:moveTo>
                  <a:pt x="18707" y="611595"/>
                </a:moveTo>
                <a:lnTo>
                  <a:pt x="12320" y="616681"/>
                </a:lnTo>
                <a:lnTo>
                  <a:pt x="16827" y="616681"/>
                </a:lnTo>
                <a:lnTo>
                  <a:pt x="27472" y="615133"/>
                </a:lnTo>
                <a:lnTo>
                  <a:pt x="18707" y="611595"/>
                </a:lnTo>
                <a:close/>
              </a:path>
              <a:path w="4192270" h="651510">
                <a:moveTo>
                  <a:pt x="4190336" y="0"/>
                </a:moveTo>
                <a:lnTo>
                  <a:pt x="26100" y="605707"/>
                </a:lnTo>
                <a:lnTo>
                  <a:pt x="18707" y="611595"/>
                </a:lnTo>
                <a:lnTo>
                  <a:pt x="27472" y="615133"/>
                </a:lnTo>
                <a:lnTo>
                  <a:pt x="4191707" y="9425"/>
                </a:lnTo>
                <a:lnTo>
                  <a:pt x="4190336" y="0"/>
                </a:lnTo>
                <a:close/>
              </a:path>
              <a:path w="4192270" h="651510">
                <a:moveTo>
                  <a:pt x="22544" y="608539"/>
                </a:moveTo>
                <a:lnTo>
                  <a:pt x="11135" y="608539"/>
                </a:lnTo>
                <a:lnTo>
                  <a:pt x="18707" y="611595"/>
                </a:lnTo>
                <a:lnTo>
                  <a:pt x="22544" y="6085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72264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234"/>
            <a:ext cx="4826610" cy="626419"/>
          </a:xfrm>
        </p:spPr>
        <p:txBody>
          <a:bodyPr/>
          <a:lstStyle/>
          <a:p>
            <a:r>
              <a:rPr lang="en-US" dirty="0"/>
              <a:t>Group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47543"/>
            <a:ext cx="10409263" cy="4873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Use repeated division &amp; repeated multiplication: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92D05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92D050"/>
                </a:solidFill>
              </a:rPr>
              <a:t>145 . 625</a:t>
            </a:r>
            <a:r>
              <a:rPr lang="en-US" b="1" baseline="-25000" dirty="0">
                <a:solidFill>
                  <a:srgbClr val="FF0000"/>
                </a:solidFill>
              </a:rPr>
              <a:t>10 </a:t>
            </a:r>
            <a:br>
              <a:rPr lang="en-US" b="1" baseline="-25000" dirty="0">
                <a:solidFill>
                  <a:srgbClr val="FF0000"/>
                </a:solidFill>
              </a:rPr>
            </a:br>
            <a:br>
              <a:rPr lang="en-US" b="1" baseline="-25000" dirty="0">
                <a:solidFill>
                  <a:srgbClr val="FF0000"/>
                </a:solidFill>
              </a:rPr>
            </a:br>
            <a:endParaRPr lang="en-US" b="1" baseline="-250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92D050"/>
                </a:solidFill>
              </a:rPr>
              <a:t>244 . 7534</a:t>
            </a:r>
            <a:r>
              <a:rPr lang="en-US" b="1" baseline="-25000" dirty="0">
                <a:solidFill>
                  <a:srgbClr val="FF0000"/>
                </a:solidFill>
              </a:rPr>
              <a:t>10 </a:t>
            </a:r>
          </a:p>
          <a:p>
            <a:pPr marL="457200" indent="-457200">
              <a:buFont typeface="+mj-lt"/>
              <a:buAutoNum type="arabicPeriod"/>
            </a:pPr>
            <a:endParaRPr lang="en-US" b="1" baseline="-250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b="1" baseline="-250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8115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65234"/>
            <a:ext cx="4826610" cy="626419"/>
          </a:xfrm>
        </p:spPr>
        <p:txBody>
          <a:bodyPr/>
          <a:lstStyle/>
          <a:p>
            <a:r>
              <a:rPr lang="en-US" dirty="0"/>
              <a:t>Group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47543"/>
            <a:ext cx="10409263" cy="48738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Use repeated division &amp; repeated multiplication: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92D05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92D050"/>
                </a:solidFill>
              </a:rPr>
              <a:t>145 . 625</a:t>
            </a:r>
            <a:r>
              <a:rPr lang="en-US" b="1" baseline="-25000" dirty="0">
                <a:solidFill>
                  <a:srgbClr val="FF0000"/>
                </a:solidFill>
              </a:rPr>
              <a:t>10  </a:t>
            </a:r>
            <a:r>
              <a:rPr lang="en-US" b="1" dirty="0">
                <a:solidFill>
                  <a:srgbClr val="FF0000"/>
                </a:solidFill>
              </a:rPr>
              <a:t> = </a:t>
            </a:r>
            <a:r>
              <a:rPr lang="en-US" b="1" dirty="0">
                <a:solidFill>
                  <a:srgbClr val="92D050"/>
                </a:solidFill>
              </a:rPr>
              <a:t>1001 0001 . 1010 0000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  <a:br>
              <a:rPr lang="en-US" b="1" baseline="-25000" dirty="0">
                <a:solidFill>
                  <a:srgbClr val="FF0000"/>
                </a:solidFill>
              </a:rPr>
            </a:br>
            <a:br>
              <a:rPr lang="en-US" b="1" baseline="-25000" dirty="0">
                <a:solidFill>
                  <a:srgbClr val="FF0000"/>
                </a:solidFill>
              </a:rPr>
            </a:br>
            <a:br>
              <a:rPr lang="en-US" b="1" baseline="-25000" dirty="0">
                <a:solidFill>
                  <a:srgbClr val="FF0000"/>
                </a:solidFill>
              </a:rPr>
            </a:br>
            <a:endParaRPr lang="en-US" b="1" baseline="-250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92D050"/>
                </a:solidFill>
              </a:rPr>
              <a:t>244 . 7534</a:t>
            </a:r>
            <a:r>
              <a:rPr lang="en-US" b="1" baseline="-25000" dirty="0">
                <a:solidFill>
                  <a:srgbClr val="FF0000"/>
                </a:solidFill>
              </a:rPr>
              <a:t>10 </a:t>
            </a:r>
            <a:r>
              <a:rPr lang="en-US" b="1" dirty="0">
                <a:solidFill>
                  <a:srgbClr val="FF0000"/>
                </a:solidFill>
              </a:rPr>
              <a:t>= </a:t>
            </a:r>
            <a:r>
              <a:rPr lang="en-US" b="1" dirty="0">
                <a:solidFill>
                  <a:srgbClr val="92D050"/>
                </a:solidFill>
              </a:rPr>
              <a:t>1111 0100 . 1100 0000</a:t>
            </a:r>
            <a:r>
              <a:rPr lang="en-US" b="1" baseline="-25000" dirty="0">
                <a:solidFill>
                  <a:srgbClr val="FF0000"/>
                </a:solidFill>
              </a:rPr>
              <a:t>2</a:t>
            </a:r>
          </a:p>
          <a:p>
            <a:pPr marL="0" indent="0">
              <a:buNone/>
            </a:pPr>
            <a:endParaRPr lang="en-US" b="1" baseline="-25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b="1" baseline="-250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b="1" baseline="-250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b="1" baseline="-250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41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5F32B2-0513-439A-BE13-A91AA69695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2</a:t>
            </a:r>
            <a:br>
              <a:rPr lang="en-US" dirty="0"/>
            </a:br>
            <a:r>
              <a:rPr lang="en-US" dirty="0"/>
              <a:t>Binary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D509549-6ABC-468B-8CD6-6EF5EF14AF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4: Signed Number Conversions</a:t>
            </a:r>
          </a:p>
        </p:txBody>
      </p:sp>
    </p:spTree>
    <p:extLst>
      <p:ext uri="{BB962C8B-B14F-4D97-AF65-F5344CB8AC3E}">
        <p14:creationId xmlns:p14="http://schemas.microsoft.com/office/powerpoint/2010/main" val="24268157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9163" y="760073"/>
            <a:ext cx="456247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Two</a:t>
            </a:r>
            <a:r>
              <a:rPr spc="-70" dirty="0"/>
              <a:t> </a:t>
            </a:r>
            <a:r>
              <a:rPr dirty="0"/>
              <a:t>Interpretations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02839" y="2195712"/>
            <a:ext cx="479605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2869565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167</a:t>
            </a:r>
            <a:r>
              <a:rPr kumimoji="0" sz="2850" b="0" i="0" u="none" strike="noStrike" kern="1200" cap="none" spc="-15" normalizeH="0" baseline="-14619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</a:t>
            </a:r>
            <a:r>
              <a:rPr kumimoji="0" lang="en-US" sz="2850" b="0" i="0" u="none" strike="noStrike" kern="1200" cap="none" spc="-15" normalizeH="0" baseline="-14619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1010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0111</a:t>
            </a:r>
            <a:r>
              <a:rPr kumimoji="0" sz="2850" b="0" i="0" u="none" strike="noStrike" kern="1200" cap="none" spc="-7" normalizeH="0" baseline="-14619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2</a:t>
            </a:r>
            <a:endParaRPr kumimoji="0" sz="2850" b="0" i="0" u="none" strike="noStrike" kern="1200" cap="none" spc="0" normalizeH="0" baseline="-14619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63941" y="2119512"/>
            <a:ext cx="8528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-89</a:t>
            </a:r>
            <a:r>
              <a:rPr kumimoji="0" sz="2850" b="0" i="0" u="none" strike="noStrike" kern="1200" cap="none" spc="-15" normalizeH="0" baseline="-14619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</a:t>
            </a:r>
            <a:endParaRPr kumimoji="0" sz="2850" b="0" i="0" u="none" strike="noStrike" kern="1200" cap="none" spc="0" normalizeH="0" baseline="-14619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05199" y="2333128"/>
            <a:ext cx="1696453" cy="114299"/>
          </a:xfrm>
          <a:custGeom>
            <a:avLst/>
            <a:gdLst/>
            <a:ahLst/>
            <a:cxnLst/>
            <a:rect l="l" t="t" r="r" b="b"/>
            <a:pathLst>
              <a:path w="144780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1447800" h="114300">
                <a:moveTo>
                  <a:pt x="114300" y="38099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1447800" h="114300">
                <a:moveTo>
                  <a:pt x="114300" y="76199"/>
                </a:moveTo>
                <a:lnTo>
                  <a:pt x="95250" y="76200"/>
                </a:lnTo>
                <a:lnTo>
                  <a:pt x="114300" y="76200"/>
                </a:lnTo>
                <a:close/>
              </a:path>
              <a:path w="1447800" h="114300">
                <a:moveTo>
                  <a:pt x="1447800" y="38098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1447800" y="76198"/>
                </a:lnTo>
                <a:lnTo>
                  <a:pt x="1447800" y="38098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086600" y="2333127"/>
            <a:ext cx="1447800" cy="114300"/>
          </a:xfrm>
          <a:custGeom>
            <a:avLst/>
            <a:gdLst/>
            <a:ahLst/>
            <a:cxnLst/>
            <a:rect l="l" t="t" r="r" b="b"/>
            <a:pathLst>
              <a:path w="1447800" h="114300">
                <a:moveTo>
                  <a:pt x="1409700" y="38100"/>
                </a:moveTo>
                <a:lnTo>
                  <a:pt x="1352550" y="38100"/>
                </a:lnTo>
                <a:lnTo>
                  <a:pt x="1352550" y="76200"/>
                </a:lnTo>
                <a:lnTo>
                  <a:pt x="1333500" y="76200"/>
                </a:lnTo>
                <a:lnTo>
                  <a:pt x="1333500" y="114300"/>
                </a:lnTo>
                <a:lnTo>
                  <a:pt x="1447800" y="57150"/>
                </a:lnTo>
                <a:lnTo>
                  <a:pt x="1409700" y="38100"/>
                </a:lnTo>
                <a:close/>
              </a:path>
              <a:path w="1447800" h="114300">
                <a:moveTo>
                  <a:pt x="1333500" y="38100"/>
                </a:moveTo>
                <a:lnTo>
                  <a:pt x="0" y="38101"/>
                </a:lnTo>
                <a:lnTo>
                  <a:pt x="0" y="76201"/>
                </a:lnTo>
                <a:lnTo>
                  <a:pt x="1333500" y="76200"/>
                </a:lnTo>
                <a:lnTo>
                  <a:pt x="1333500" y="38100"/>
                </a:lnTo>
                <a:close/>
              </a:path>
              <a:path w="1447800" h="114300">
                <a:moveTo>
                  <a:pt x="1352550" y="38100"/>
                </a:moveTo>
                <a:lnTo>
                  <a:pt x="1333500" y="38100"/>
                </a:lnTo>
                <a:lnTo>
                  <a:pt x="1333500" y="76200"/>
                </a:lnTo>
                <a:lnTo>
                  <a:pt x="1352550" y="76200"/>
                </a:lnTo>
                <a:lnTo>
                  <a:pt x="1352550" y="38100"/>
                </a:lnTo>
                <a:close/>
              </a:path>
              <a:path w="1447800" h="114300">
                <a:moveTo>
                  <a:pt x="1333500" y="0"/>
                </a:moveTo>
                <a:lnTo>
                  <a:pt x="1333500" y="38100"/>
                </a:lnTo>
                <a:lnTo>
                  <a:pt x="1409700" y="38100"/>
                </a:lnTo>
                <a:lnTo>
                  <a:pt x="1333500" y="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9163" y="3190321"/>
            <a:ext cx="10422605" cy="28097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474345" lvl="0" indent="0" algn="l" defTabSz="914400" rtl="0" eaLnBrk="1" fontAlgn="auto" latinLnBrk="0" hangingPunct="1">
              <a:lnSpc>
                <a:spcPct val="996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85750" algn="l"/>
              </a:tabLst>
              <a:defRPr/>
            </a:pP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Signed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vs.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unsigned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is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matter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of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interpretation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63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85750" algn="l"/>
              </a:tabLst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33CC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163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28575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Allowing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both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interpretations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useful: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why?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469900" marR="111125" lvl="0" indent="0" algn="l" defTabSz="914400" rtl="0" eaLnBrk="1" fontAlgn="auto" latinLnBrk="0" hangingPunct="1">
              <a:lnSpc>
                <a:spcPct val="99600"/>
              </a:lnSpc>
              <a:spcBef>
                <a:spcPts val="176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Some data 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(e.g.,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count,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age) can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never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be </a:t>
            </a:r>
            <a:r>
              <a:rPr kumimoji="0" sz="2800" b="0" i="0" u="none" strike="noStrike" kern="1200" cap="none" spc="-8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negative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, </a:t>
            </a:r>
            <a:b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</a:b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and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having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a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greater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range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is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useful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07740" y="1738512"/>
            <a:ext cx="47783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3745865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unsigned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signed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6420489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5943600" y="2133600"/>
            <a:ext cx="4419600" cy="3886200"/>
          </a:xfrm>
          <a:custGeom>
            <a:avLst/>
            <a:gdLst/>
            <a:ahLst/>
            <a:cxnLst/>
            <a:rect l="l" t="t" r="r" b="b"/>
            <a:pathLst>
              <a:path w="4419600" h="3886200">
                <a:moveTo>
                  <a:pt x="0" y="0"/>
                </a:moveTo>
                <a:lnTo>
                  <a:pt x="4419600" y="0"/>
                </a:lnTo>
                <a:lnTo>
                  <a:pt x="4419600" y="3886200"/>
                </a:lnTo>
                <a:lnTo>
                  <a:pt x="0" y="3886200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0547" y="2133600"/>
            <a:ext cx="4896218" cy="2524409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167640" marR="0" lvl="0" indent="0" algn="l" defTabSz="914400" rtl="0" eaLnBrk="1" fontAlgn="auto" latinLnBrk="0" hangingPunct="1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Sign+Magnitude:</a:t>
            </a:r>
          </a:p>
          <a:p>
            <a:pPr marL="853440" marR="0" lvl="0" indent="0" algn="l" defTabSz="914400" rtl="0" eaLnBrk="1" fontAlgn="auto" latinLnBrk="0" hangingPunct="1">
              <a:lnSpc>
                <a:spcPct val="100000"/>
              </a:lnSpc>
              <a:spcBef>
                <a:spcPts val="20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+5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=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101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2148205" marR="0" lvl="0" indent="0" algn="l" defTabSz="914400" rtl="0" eaLnBrk="1" fontAlgn="auto" latinLnBrk="0" hangingPunct="1">
              <a:lnSpc>
                <a:spcPct val="100000"/>
              </a:lnSpc>
              <a:spcBef>
                <a:spcPts val="13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Change</a:t>
            </a:r>
            <a:r>
              <a:rPr kumimoji="0" sz="2100" b="0" i="0" u="none" strike="noStrike" kern="120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100" b="0" i="0" u="none" strike="noStrike" kern="120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</a:t>
            </a:r>
            <a:r>
              <a:rPr kumimoji="0" sz="2100" b="0" i="0" u="none" strike="noStrike" kern="1200" cap="none" spc="-7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1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bit</a:t>
            </a:r>
            <a:r>
              <a:rPr kumimoji="0" lang="en-US" sz="21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(only)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85344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397635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-5	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=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101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0426" y="735271"/>
            <a:ext cx="9045784" cy="686085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/>
          <a:p>
            <a:pPr marL="1228725" marR="5080" indent="-1216025">
              <a:lnSpc>
                <a:spcPct val="100499"/>
              </a:lnSpc>
              <a:spcBef>
                <a:spcPts val="70"/>
              </a:spcBef>
            </a:pPr>
            <a:r>
              <a:rPr dirty="0"/>
              <a:t>Changing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Sign</a:t>
            </a:r>
            <a:r>
              <a:rPr lang="en-US" dirty="0"/>
              <a:t>s</a:t>
            </a:r>
            <a:endParaRPr spc="-5" dirty="0"/>
          </a:p>
        </p:txBody>
      </p:sp>
      <p:sp>
        <p:nvSpPr>
          <p:cNvPr id="3" name="object 3"/>
          <p:cNvSpPr/>
          <p:nvPr/>
        </p:nvSpPr>
        <p:spPr>
          <a:xfrm>
            <a:off x="2794584" y="3395804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28574" y="676275"/>
                </a:moveTo>
                <a:lnTo>
                  <a:pt x="0" y="676275"/>
                </a:lnTo>
                <a:lnTo>
                  <a:pt x="42862" y="762000"/>
                </a:lnTo>
                <a:lnTo>
                  <a:pt x="78581" y="690562"/>
                </a:lnTo>
                <a:lnTo>
                  <a:pt x="28575" y="690562"/>
                </a:lnTo>
                <a:lnTo>
                  <a:pt x="28574" y="676275"/>
                </a:lnTo>
                <a:close/>
              </a:path>
              <a:path w="85725" h="762000">
                <a:moveTo>
                  <a:pt x="57148" y="0"/>
                </a:moveTo>
                <a:lnTo>
                  <a:pt x="28573" y="0"/>
                </a:lnTo>
                <a:lnTo>
                  <a:pt x="28575" y="690562"/>
                </a:lnTo>
                <a:lnTo>
                  <a:pt x="57150" y="690562"/>
                </a:lnTo>
                <a:lnTo>
                  <a:pt x="57148" y="0"/>
                </a:lnTo>
                <a:close/>
              </a:path>
              <a:path w="85725" h="762000">
                <a:moveTo>
                  <a:pt x="85725" y="676275"/>
                </a:moveTo>
                <a:lnTo>
                  <a:pt x="57149" y="676275"/>
                </a:lnTo>
                <a:lnTo>
                  <a:pt x="57150" y="690562"/>
                </a:lnTo>
                <a:lnTo>
                  <a:pt x="78581" y="690562"/>
                </a:lnTo>
                <a:lnTo>
                  <a:pt x="85725" y="676275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82791" y="4209795"/>
            <a:ext cx="1603375" cy="151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90575" marR="0" lvl="0" indent="0" algn="l" defTabSz="914400" rtl="0" eaLnBrk="1" fontAlgn="auto" latinLnBrk="0" hangingPunct="1">
              <a:lnSpc>
                <a:spcPts val="333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1010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679450" marR="0" lvl="0" indent="0" algn="l" defTabSz="914400" rtl="0" eaLnBrk="1" fontAlgn="auto" latinLnBrk="0" hangingPunct="1">
              <a:lnSpc>
                <a:spcPts val="333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23315" algn="l"/>
              </a:tabLst>
              <a:defRPr/>
            </a:pPr>
            <a:r>
              <a:rPr kumimoji="0" sz="2800" b="0" i="0" u="heavy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ea typeface="+mn-ea"/>
                <a:cs typeface="Times New Roman"/>
              </a:rPr>
              <a:t> 	</a:t>
            </a:r>
            <a:r>
              <a:rPr kumimoji="0" sz="2800" b="0" i="0" u="heavy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ahoma"/>
                <a:ea typeface="+mn-ea"/>
                <a:cs typeface="Tahoma"/>
              </a:rPr>
              <a:t>+1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-5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=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101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4740" y="2243836"/>
            <a:ext cx="3513454" cy="1654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2’s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Complement: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698500" marR="0" lvl="0" indent="0" algn="l" defTabSz="914400" rtl="0" eaLnBrk="1" fontAlgn="auto" latinLnBrk="0" hangingPunct="1">
              <a:lnSpc>
                <a:spcPct val="100000"/>
              </a:lnSpc>
              <a:spcBef>
                <a:spcPts val="203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+5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=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0101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0" marR="5080" lvl="0" indent="0" algn="r" defTabSz="914400" rtl="0" eaLnBrk="1" fontAlgn="auto" latinLnBrk="0" hangingPunct="1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Invert</a:t>
            </a:r>
            <a:endParaRPr kumimoji="0" sz="2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4141" y="4617169"/>
            <a:ext cx="1175385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0" i="0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</a:t>
            </a:r>
            <a:r>
              <a:rPr kumimoji="0" sz="2100" b="0" i="0" u="none" strike="noStrike" kern="120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n</a:t>
            </a:r>
            <a:r>
              <a:rPr kumimoji="0" sz="2100" b="0" i="0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</a:t>
            </a:r>
            <a:r>
              <a:rPr kumimoji="0" sz="2100" b="0" i="0" u="none" strike="noStrike" kern="120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remen</a:t>
            </a:r>
            <a:r>
              <a:rPr kumimoji="0" sz="21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</a:t>
            </a:r>
            <a:endParaRPr kumimoji="0" sz="2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12" name="object 3"/>
          <p:cNvSpPr/>
          <p:nvPr/>
        </p:nvSpPr>
        <p:spPr>
          <a:xfrm>
            <a:off x="8464133" y="3395804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28574" y="676275"/>
                </a:moveTo>
                <a:lnTo>
                  <a:pt x="0" y="676275"/>
                </a:lnTo>
                <a:lnTo>
                  <a:pt x="42862" y="762000"/>
                </a:lnTo>
                <a:lnTo>
                  <a:pt x="78581" y="690562"/>
                </a:lnTo>
                <a:lnTo>
                  <a:pt x="28575" y="690562"/>
                </a:lnTo>
                <a:lnTo>
                  <a:pt x="28574" y="676275"/>
                </a:lnTo>
                <a:close/>
              </a:path>
              <a:path w="85725" h="762000">
                <a:moveTo>
                  <a:pt x="57148" y="0"/>
                </a:moveTo>
                <a:lnTo>
                  <a:pt x="28573" y="0"/>
                </a:lnTo>
                <a:lnTo>
                  <a:pt x="28575" y="690562"/>
                </a:lnTo>
                <a:lnTo>
                  <a:pt x="57150" y="690562"/>
                </a:lnTo>
                <a:lnTo>
                  <a:pt x="57148" y="0"/>
                </a:lnTo>
                <a:close/>
              </a:path>
              <a:path w="85725" h="762000">
                <a:moveTo>
                  <a:pt x="85725" y="676275"/>
                </a:moveTo>
                <a:lnTo>
                  <a:pt x="57149" y="676275"/>
                </a:lnTo>
                <a:lnTo>
                  <a:pt x="57150" y="690562"/>
                </a:lnTo>
                <a:lnTo>
                  <a:pt x="78581" y="690562"/>
                </a:lnTo>
                <a:lnTo>
                  <a:pt x="85725" y="676275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object 3"/>
          <p:cNvSpPr/>
          <p:nvPr/>
        </p:nvSpPr>
        <p:spPr>
          <a:xfrm>
            <a:off x="8262838" y="3395804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28574" y="676275"/>
                </a:moveTo>
                <a:lnTo>
                  <a:pt x="0" y="676275"/>
                </a:lnTo>
                <a:lnTo>
                  <a:pt x="42862" y="762000"/>
                </a:lnTo>
                <a:lnTo>
                  <a:pt x="78581" y="690562"/>
                </a:lnTo>
                <a:lnTo>
                  <a:pt x="28575" y="690562"/>
                </a:lnTo>
                <a:lnTo>
                  <a:pt x="28574" y="676275"/>
                </a:lnTo>
                <a:close/>
              </a:path>
              <a:path w="85725" h="762000">
                <a:moveTo>
                  <a:pt x="57148" y="0"/>
                </a:moveTo>
                <a:lnTo>
                  <a:pt x="28573" y="0"/>
                </a:lnTo>
                <a:lnTo>
                  <a:pt x="28575" y="690562"/>
                </a:lnTo>
                <a:lnTo>
                  <a:pt x="57150" y="690562"/>
                </a:lnTo>
                <a:lnTo>
                  <a:pt x="57148" y="0"/>
                </a:lnTo>
                <a:close/>
              </a:path>
              <a:path w="85725" h="762000">
                <a:moveTo>
                  <a:pt x="85725" y="676275"/>
                </a:moveTo>
                <a:lnTo>
                  <a:pt x="57149" y="676275"/>
                </a:lnTo>
                <a:lnTo>
                  <a:pt x="57150" y="690562"/>
                </a:lnTo>
                <a:lnTo>
                  <a:pt x="78581" y="690562"/>
                </a:lnTo>
                <a:lnTo>
                  <a:pt x="85725" y="676275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8072053" y="3395804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28574" y="676275"/>
                </a:moveTo>
                <a:lnTo>
                  <a:pt x="0" y="676275"/>
                </a:lnTo>
                <a:lnTo>
                  <a:pt x="42862" y="762000"/>
                </a:lnTo>
                <a:lnTo>
                  <a:pt x="78581" y="690562"/>
                </a:lnTo>
                <a:lnTo>
                  <a:pt x="28575" y="690562"/>
                </a:lnTo>
                <a:lnTo>
                  <a:pt x="28574" y="676275"/>
                </a:lnTo>
                <a:close/>
              </a:path>
              <a:path w="85725" h="762000">
                <a:moveTo>
                  <a:pt x="57148" y="0"/>
                </a:moveTo>
                <a:lnTo>
                  <a:pt x="28573" y="0"/>
                </a:lnTo>
                <a:lnTo>
                  <a:pt x="28575" y="690562"/>
                </a:lnTo>
                <a:lnTo>
                  <a:pt x="57150" y="690562"/>
                </a:lnTo>
                <a:lnTo>
                  <a:pt x="57148" y="0"/>
                </a:lnTo>
                <a:close/>
              </a:path>
              <a:path w="85725" h="762000">
                <a:moveTo>
                  <a:pt x="85725" y="676275"/>
                </a:moveTo>
                <a:lnTo>
                  <a:pt x="57149" y="676275"/>
                </a:lnTo>
                <a:lnTo>
                  <a:pt x="57150" y="690562"/>
                </a:lnTo>
                <a:lnTo>
                  <a:pt x="78581" y="690562"/>
                </a:lnTo>
                <a:lnTo>
                  <a:pt x="85725" y="676275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object 3"/>
          <p:cNvSpPr/>
          <p:nvPr/>
        </p:nvSpPr>
        <p:spPr>
          <a:xfrm>
            <a:off x="7896190" y="3395804"/>
            <a:ext cx="85725" cy="762000"/>
          </a:xfrm>
          <a:custGeom>
            <a:avLst/>
            <a:gdLst/>
            <a:ahLst/>
            <a:cxnLst/>
            <a:rect l="l" t="t" r="r" b="b"/>
            <a:pathLst>
              <a:path w="85725" h="762000">
                <a:moveTo>
                  <a:pt x="28574" y="676275"/>
                </a:moveTo>
                <a:lnTo>
                  <a:pt x="0" y="676275"/>
                </a:lnTo>
                <a:lnTo>
                  <a:pt x="42862" y="762000"/>
                </a:lnTo>
                <a:lnTo>
                  <a:pt x="78581" y="690562"/>
                </a:lnTo>
                <a:lnTo>
                  <a:pt x="28575" y="690562"/>
                </a:lnTo>
                <a:lnTo>
                  <a:pt x="28574" y="676275"/>
                </a:lnTo>
                <a:close/>
              </a:path>
              <a:path w="85725" h="762000">
                <a:moveTo>
                  <a:pt x="57148" y="0"/>
                </a:moveTo>
                <a:lnTo>
                  <a:pt x="28573" y="0"/>
                </a:lnTo>
                <a:lnTo>
                  <a:pt x="28575" y="690562"/>
                </a:lnTo>
                <a:lnTo>
                  <a:pt x="57150" y="690562"/>
                </a:lnTo>
                <a:lnTo>
                  <a:pt x="57148" y="0"/>
                </a:lnTo>
                <a:close/>
              </a:path>
              <a:path w="85725" h="762000">
                <a:moveTo>
                  <a:pt x="85725" y="676275"/>
                </a:moveTo>
                <a:lnTo>
                  <a:pt x="57149" y="676275"/>
                </a:lnTo>
                <a:lnTo>
                  <a:pt x="57150" y="690562"/>
                </a:lnTo>
                <a:lnTo>
                  <a:pt x="78581" y="690562"/>
                </a:lnTo>
                <a:lnTo>
                  <a:pt x="85725" y="676275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9490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0135" y="734246"/>
            <a:ext cx="748284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92D050"/>
                </a:solidFill>
              </a:rPr>
              <a:t>Easier</a:t>
            </a:r>
            <a:r>
              <a:rPr spc="-5" dirty="0"/>
              <a:t> Hand </a:t>
            </a:r>
            <a:r>
              <a:rPr dirty="0"/>
              <a:t>Method</a:t>
            </a:r>
            <a:r>
              <a:rPr spc="-5" dirty="0"/>
              <a:t> (example 1)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31740" y="2472435"/>
            <a:ext cx="17335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+4</a:t>
            </a:r>
            <a:r>
              <a:rPr kumimoji="0" sz="2800" b="0" i="0" u="none" strike="noStrike" kern="120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=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100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248400" y="2967037"/>
            <a:ext cx="457200" cy="1376680"/>
            <a:chOff x="4724400" y="2967037"/>
            <a:chExt cx="457200" cy="1376680"/>
          </a:xfrm>
        </p:grpSpPr>
        <p:sp>
          <p:nvSpPr>
            <p:cNvPr id="5" name="object 5"/>
            <p:cNvSpPr/>
            <p:nvPr/>
          </p:nvSpPr>
          <p:spPr>
            <a:xfrm>
              <a:off x="4724400" y="2971800"/>
              <a:ext cx="457200" cy="0"/>
            </a:xfrm>
            <a:custGeom>
              <a:avLst/>
              <a:gdLst/>
              <a:ahLst/>
              <a:cxnLst/>
              <a:rect l="l" t="t" r="r" b="b"/>
              <a:pathLst>
                <a:path w="457200">
                  <a:moveTo>
                    <a:pt x="0" y="0"/>
                  </a:moveTo>
                  <a:lnTo>
                    <a:pt x="457200" y="1"/>
                  </a:lnTo>
                </a:path>
              </a:pathLst>
            </a:custGeom>
            <a:ln w="9525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910138" y="2971800"/>
              <a:ext cx="85725" cy="1371600"/>
            </a:xfrm>
            <a:custGeom>
              <a:avLst/>
              <a:gdLst/>
              <a:ahLst/>
              <a:cxnLst/>
              <a:rect l="l" t="t" r="r" b="b"/>
              <a:pathLst>
                <a:path w="85725" h="1371600">
                  <a:moveTo>
                    <a:pt x="28574" y="1285875"/>
                  </a:moveTo>
                  <a:lnTo>
                    <a:pt x="0" y="1285875"/>
                  </a:lnTo>
                  <a:lnTo>
                    <a:pt x="42862" y="1371600"/>
                  </a:lnTo>
                  <a:lnTo>
                    <a:pt x="78580" y="1300163"/>
                  </a:lnTo>
                  <a:lnTo>
                    <a:pt x="28575" y="1300163"/>
                  </a:lnTo>
                  <a:lnTo>
                    <a:pt x="28574" y="1285875"/>
                  </a:lnTo>
                  <a:close/>
                </a:path>
                <a:path w="85725" h="1371600">
                  <a:moveTo>
                    <a:pt x="57148" y="0"/>
                  </a:moveTo>
                  <a:lnTo>
                    <a:pt x="28573" y="0"/>
                  </a:lnTo>
                  <a:lnTo>
                    <a:pt x="28575" y="1300163"/>
                  </a:lnTo>
                  <a:lnTo>
                    <a:pt x="57150" y="1300163"/>
                  </a:lnTo>
                  <a:lnTo>
                    <a:pt x="57148" y="0"/>
                  </a:lnTo>
                  <a:close/>
                </a:path>
                <a:path w="85725" h="1371600">
                  <a:moveTo>
                    <a:pt x="85725" y="1285875"/>
                  </a:moveTo>
                  <a:lnTo>
                    <a:pt x="57149" y="1285875"/>
                  </a:lnTo>
                  <a:lnTo>
                    <a:pt x="57150" y="1300163"/>
                  </a:lnTo>
                  <a:lnTo>
                    <a:pt x="78580" y="1300163"/>
                  </a:lnTo>
                  <a:lnTo>
                    <a:pt x="85725" y="128587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7" name="object 7"/>
          <p:cNvSpPr/>
          <p:nvPr/>
        </p:nvSpPr>
        <p:spPr>
          <a:xfrm>
            <a:off x="6053139" y="2971800"/>
            <a:ext cx="85725" cy="1371600"/>
          </a:xfrm>
          <a:custGeom>
            <a:avLst/>
            <a:gdLst/>
            <a:ahLst/>
            <a:cxnLst/>
            <a:rect l="l" t="t" r="r" b="b"/>
            <a:pathLst>
              <a:path w="85725" h="1371600">
                <a:moveTo>
                  <a:pt x="28574" y="1285875"/>
                </a:moveTo>
                <a:lnTo>
                  <a:pt x="0" y="1285875"/>
                </a:lnTo>
                <a:lnTo>
                  <a:pt x="42862" y="1371600"/>
                </a:lnTo>
                <a:lnTo>
                  <a:pt x="78580" y="1300163"/>
                </a:lnTo>
                <a:lnTo>
                  <a:pt x="28575" y="1300163"/>
                </a:lnTo>
                <a:lnTo>
                  <a:pt x="28574" y="1285875"/>
                </a:lnTo>
                <a:close/>
              </a:path>
              <a:path w="85725" h="1371600">
                <a:moveTo>
                  <a:pt x="57148" y="0"/>
                </a:moveTo>
                <a:lnTo>
                  <a:pt x="28573" y="0"/>
                </a:lnTo>
                <a:lnTo>
                  <a:pt x="28575" y="1300163"/>
                </a:lnTo>
                <a:lnTo>
                  <a:pt x="57150" y="1300163"/>
                </a:lnTo>
                <a:lnTo>
                  <a:pt x="57148" y="0"/>
                </a:lnTo>
                <a:close/>
              </a:path>
              <a:path w="85725" h="1371600">
                <a:moveTo>
                  <a:pt x="85725" y="1285875"/>
                </a:moveTo>
                <a:lnTo>
                  <a:pt x="57149" y="1285875"/>
                </a:lnTo>
                <a:lnTo>
                  <a:pt x="57150" y="1300163"/>
                </a:lnTo>
                <a:lnTo>
                  <a:pt x="78580" y="1300163"/>
                </a:lnTo>
                <a:lnTo>
                  <a:pt x="85725" y="1285875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42866" y="3542284"/>
            <a:ext cx="1603375" cy="1299845"/>
          </a:xfrm>
          <a:prstGeom prst="rect">
            <a:avLst/>
          </a:prstGeom>
        </p:spPr>
        <p:txBody>
          <a:bodyPr vert="horz" wrap="square" lIns="0" tIns="222885" rIns="0" bIns="0" rtlCol="0">
            <a:spAutoFit/>
          </a:bodyPr>
          <a:lstStyle/>
          <a:p>
            <a:pPr marL="0" marR="32384" lvl="0" indent="0" algn="r" defTabSz="914400" rtl="0" eaLnBrk="1" fontAlgn="auto" latinLnBrk="0" hangingPunct="1">
              <a:lnSpc>
                <a:spcPct val="100000"/>
              </a:lnSpc>
              <a:spcBef>
                <a:spcPts val="1755"/>
              </a:spcBef>
              <a:spcAft>
                <a:spcPts val="0"/>
              </a:spcAft>
              <a:buClrTx/>
              <a:buSzTx/>
              <a:buFontTx/>
              <a:buNone/>
              <a:tabLst>
                <a:tab pos="456565" algn="l"/>
              </a:tabLst>
              <a:defRPr/>
            </a:pPr>
            <a:r>
              <a:rPr kumimoji="0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800000"/>
                  </a:solidFill>
                </a:uFill>
                <a:latin typeface="Times New Roman"/>
                <a:ea typeface="+mn-ea"/>
                <a:cs typeface="Times New Roman"/>
              </a:rPr>
              <a:t> 	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6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-4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=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100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75563" y="2360140"/>
            <a:ext cx="3871627" cy="219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996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ahoma"/>
                <a:ea typeface="+mn-ea"/>
                <a:cs typeface="Tahoma"/>
              </a:rPr>
              <a:t>Step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ahoma"/>
                <a:ea typeface="+mn-ea"/>
                <a:cs typeface="Tahoma"/>
              </a:rPr>
              <a:t>1: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12700" marR="5080" lvl="0" indent="0" algn="l" defTabSz="914400" rtl="0" eaLnBrk="1" fontAlgn="auto" latinLnBrk="0" hangingPunct="1">
              <a:lnSpc>
                <a:spcPct val="996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12700" marR="5080" lvl="0" indent="0" algn="l" defTabSz="914400" rtl="0" eaLnBrk="1" fontAlgn="auto" latinLnBrk="0" hangingPunct="1">
              <a:lnSpc>
                <a:spcPct val="996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Copy the </a:t>
            </a:r>
            <a:r>
              <a:rPr kumimoji="0" sz="2800" b="0" i="0" u="none" strike="noStrike" kern="1200" cap="none" spc="-8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bits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from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right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to </a:t>
            </a:r>
            <a:r>
              <a:rPr kumimoji="0" sz="2800" b="0" i="0" u="none" strike="noStrike" kern="1200" cap="none" spc="-8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left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and </a:t>
            </a:r>
            <a:r>
              <a:rPr kumimoji="0" sz="2800" b="0" i="0" u="none" strike="noStrike" kern="1200" cap="none" spc="-8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including</a:t>
            </a:r>
            <a:r>
              <a:rPr kumimoji="0" sz="2800" b="0" i="0" u="none" strike="noStrike" kern="1200" cap="none" spc="86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first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64929" y="2440927"/>
            <a:ext cx="3065805" cy="1761251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1099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Step</a:t>
            </a:r>
            <a:r>
              <a:rPr kumimoji="0" lang="en-US" sz="2800" b="0" i="0" u="none" strike="noStrike" kern="1200" cap="none" spc="-4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2:</a:t>
            </a:r>
            <a:r>
              <a:rPr kumimoji="0" lang="en-US" sz="2800" b="0" i="0" u="none" strike="noStrike" kern="1200" cap="none" spc="-4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br>
              <a:rPr kumimoji="0" lang="en-US" sz="2800" b="0" i="0" u="none" strike="noStrike" kern="1200" cap="none" spc="-4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</a:br>
            <a:endParaRPr kumimoji="0" lang="en-US" sz="2800" b="0" i="0" u="none" strike="noStrike" kern="1200" cap="none" spc="-45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12700" marR="5080" lvl="0" indent="0" algn="l" defTabSz="914400" rtl="0" eaLnBrk="1" fontAlgn="auto" latinLnBrk="0" hangingPunct="1">
              <a:lnSpc>
                <a:spcPct val="101099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Copy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inverse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of </a:t>
            </a:r>
            <a:r>
              <a:rPr kumimoji="0" sz="2800" b="0" i="0" u="none" strike="noStrike" kern="1200" cap="none" spc="-86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remaining </a:t>
            </a:r>
            <a:r>
              <a:rPr kumimoji="0" sz="2800" b="0" i="0" u="none" strike="noStrike" kern="1200" cap="none" spc="-86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bits.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269931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6124" y="770178"/>
            <a:ext cx="748284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92D050"/>
                </a:solidFill>
              </a:rPr>
              <a:t>Easier</a:t>
            </a:r>
            <a:r>
              <a:rPr spc="-5" dirty="0"/>
              <a:t> Hand </a:t>
            </a:r>
            <a:r>
              <a:rPr dirty="0"/>
              <a:t>Method</a:t>
            </a:r>
            <a:r>
              <a:rPr spc="-5" dirty="0"/>
              <a:t> (example 2)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31741" y="2472435"/>
            <a:ext cx="17341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+5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=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010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42865" y="4389627"/>
            <a:ext cx="16040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-5</a:t>
            </a:r>
            <a:r>
              <a:rPr kumimoji="0" sz="2800" b="0" i="0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=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101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553200" y="2967038"/>
            <a:ext cx="228600" cy="1381125"/>
            <a:chOff x="5029200" y="2967037"/>
            <a:chExt cx="228600" cy="1381125"/>
          </a:xfrm>
        </p:grpSpPr>
        <p:sp>
          <p:nvSpPr>
            <p:cNvPr id="6" name="object 6"/>
            <p:cNvSpPr/>
            <p:nvPr/>
          </p:nvSpPr>
          <p:spPr>
            <a:xfrm>
              <a:off x="5029200" y="297180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>
                  <a:moveTo>
                    <a:pt x="0" y="0"/>
                  </a:moveTo>
                  <a:lnTo>
                    <a:pt x="228600" y="1"/>
                  </a:lnTo>
                </a:path>
              </a:pathLst>
            </a:custGeom>
            <a:ln w="9525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029200" y="4343400"/>
              <a:ext cx="152400" cy="0"/>
            </a:xfrm>
            <a:custGeom>
              <a:avLst/>
              <a:gdLst/>
              <a:ahLst/>
              <a:cxnLst/>
              <a:rect l="l" t="t" r="r" b="b"/>
              <a:pathLst>
                <a:path w="152400">
                  <a:moveTo>
                    <a:pt x="0" y="0"/>
                  </a:moveTo>
                  <a:lnTo>
                    <a:pt x="152400" y="1"/>
                  </a:lnTo>
                </a:path>
              </a:pathLst>
            </a:custGeom>
            <a:ln w="9525">
              <a:solidFill>
                <a:srgbClr val="8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062538" y="2971800"/>
              <a:ext cx="85725" cy="1371600"/>
            </a:xfrm>
            <a:custGeom>
              <a:avLst/>
              <a:gdLst/>
              <a:ahLst/>
              <a:cxnLst/>
              <a:rect l="l" t="t" r="r" b="b"/>
              <a:pathLst>
                <a:path w="85725" h="1371600">
                  <a:moveTo>
                    <a:pt x="28574" y="1285875"/>
                  </a:moveTo>
                  <a:lnTo>
                    <a:pt x="0" y="1285875"/>
                  </a:lnTo>
                  <a:lnTo>
                    <a:pt x="42862" y="1371600"/>
                  </a:lnTo>
                  <a:lnTo>
                    <a:pt x="78580" y="1300163"/>
                  </a:lnTo>
                  <a:lnTo>
                    <a:pt x="28575" y="1300163"/>
                  </a:lnTo>
                  <a:lnTo>
                    <a:pt x="28574" y="1285875"/>
                  </a:lnTo>
                  <a:close/>
                </a:path>
                <a:path w="85725" h="1371600">
                  <a:moveTo>
                    <a:pt x="57148" y="0"/>
                  </a:moveTo>
                  <a:lnTo>
                    <a:pt x="28573" y="0"/>
                  </a:lnTo>
                  <a:lnTo>
                    <a:pt x="28575" y="1300163"/>
                  </a:lnTo>
                  <a:lnTo>
                    <a:pt x="57150" y="1300163"/>
                  </a:lnTo>
                  <a:lnTo>
                    <a:pt x="57148" y="0"/>
                  </a:lnTo>
                  <a:close/>
                </a:path>
                <a:path w="85725" h="1371600">
                  <a:moveTo>
                    <a:pt x="85725" y="1285875"/>
                  </a:moveTo>
                  <a:lnTo>
                    <a:pt x="57149" y="1285875"/>
                  </a:lnTo>
                  <a:lnTo>
                    <a:pt x="57150" y="1300163"/>
                  </a:lnTo>
                  <a:lnTo>
                    <a:pt x="78580" y="1300163"/>
                  </a:lnTo>
                  <a:lnTo>
                    <a:pt x="85725" y="128587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9" name="object 9"/>
          <p:cNvSpPr/>
          <p:nvPr/>
        </p:nvSpPr>
        <p:spPr>
          <a:xfrm>
            <a:off x="6205539" y="2971800"/>
            <a:ext cx="85725" cy="1371600"/>
          </a:xfrm>
          <a:custGeom>
            <a:avLst/>
            <a:gdLst/>
            <a:ahLst/>
            <a:cxnLst/>
            <a:rect l="l" t="t" r="r" b="b"/>
            <a:pathLst>
              <a:path w="85725" h="1371600">
                <a:moveTo>
                  <a:pt x="28574" y="1285875"/>
                </a:moveTo>
                <a:lnTo>
                  <a:pt x="0" y="1285875"/>
                </a:lnTo>
                <a:lnTo>
                  <a:pt x="42862" y="1371600"/>
                </a:lnTo>
                <a:lnTo>
                  <a:pt x="78580" y="1300163"/>
                </a:lnTo>
                <a:lnTo>
                  <a:pt x="28575" y="1300163"/>
                </a:lnTo>
                <a:lnTo>
                  <a:pt x="28574" y="1285875"/>
                </a:lnTo>
                <a:close/>
              </a:path>
              <a:path w="85725" h="1371600">
                <a:moveTo>
                  <a:pt x="57148" y="0"/>
                </a:moveTo>
                <a:lnTo>
                  <a:pt x="28573" y="0"/>
                </a:lnTo>
                <a:lnTo>
                  <a:pt x="28575" y="1300163"/>
                </a:lnTo>
                <a:lnTo>
                  <a:pt x="57150" y="1300163"/>
                </a:lnTo>
                <a:lnTo>
                  <a:pt x="57148" y="0"/>
                </a:lnTo>
                <a:close/>
              </a:path>
              <a:path w="85725" h="1371600">
                <a:moveTo>
                  <a:pt x="85725" y="1285875"/>
                </a:moveTo>
                <a:lnTo>
                  <a:pt x="57149" y="1285875"/>
                </a:lnTo>
                <a:lnTo>
                  <a:pt x="57150" y="1300163"/>
                </a:lnTo>
                <a:lnTo>
                  <a:pt x="78580" y="1300163"/>
                </a:lnTo>
                <a:lnTo>
                  <a:pt x="85725" y="1285875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object 9"/>
          <p:cNvSpPr txBox="1"/>
          <p:nvPr/>
        </p:nvSpPr>
        <p:spPr>
          <a:xfrm>
            <a:off x="7675563" y="2360140"/>
            <a:ext cx="3871627" cy="219419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996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ahoma"/>
                <a:ea typeface="+mn-ea"/>
                <a:cs typeface="Tahoma"/>
              </a:rPr>
              <a:t>Step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>
                  <a:solidFill>
                    <a:srgbClr val="C00000"/>
                  </a:solidFill>
                </a:uFill>
                <a:latin typeface="Tahoma"/>
                <a:ea typeface="+mn-ea"/>
                <a:cs typeface="Tahoma"/>
              </a:rPr>
              <a:t>1: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12700" marR="5080" lvl="0" indent="0" algn="l" defTabSz="914400" rtl="0" eaLnBrk="1" fontAlgn="auto" latinLnBrk="0" hangingPunct="1">
              <a:lnSpc>
                <a:spcPct val="996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12700" marR="5080" lvl="0" indent="0" algn="l" defTabSz="914400" rtl="0" eaLnBrk="1" fontAlgn="auto" latinLnBrk="0" hangingPunct="1">
              <a:lnSpc>
                <a:spcPct val="996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Copy the </a:t>
            </a:r>
            <a:r>
              <a:rPr kumimoji="0" sz="2800" b="0" i="0" u="none" strike="noStrike" kern="1200" cap="none" spc="-8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bits</a:t>
            </a:r>
            <a:r>
              <a:rPr kumimoji="0" sz="2800" b="0" i="0" u="none" strike="noStrike" kern="1200" cap="none" spc="-2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from</a:t>
            </a:r>
            <a:r>
              <a:rPr kumimoji="0" sz="2800" b="0" i="0" u="none" strike="noStrike" kern="1200" cap="none" spc="-3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right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to </a:t>
            </a:r>
            <a:r>
              <a:rPr kumimoji="0" sz="2800" b="0" i="0" u="none" strike="noStrike" kern="1200" cap="none" spc="-8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left, through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and </a:t>
            </a:r>
            <a:r>
              <a:rPr kumimoji="0" sz="2800" b="0" i="0" u="none" strike="noStrike" kern="1200" cap="none" spc="-86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including</a:t>
            </a:r>
            <a:r>
              <a:rPr kumimoji="0" lang="en-US" sz="2800" b="0" i="0" u="none" strike="noStrike" kern="1200" cap="none" spc="86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 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first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16" name="object 12"/>
          <p:cNvSpPr txBox="1"/>
          <p:nvPr/>
        </p:nvSpPr>
        <p:spPr>
          <a:xfrm>
            <a:off x="1264929" y="2440927"/>
            <a:ext cx="3065805" cy="1761251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lvl="0" indent="0" algn="l" defTabSz="914400" rtl="0" eaLnBrk="1" fontAlgn="auto" latinLnBrk="0" hangingPunct="1">
              <a:lnSpc>
                <a:spcPct val="101099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Step</a:t>
            </a:r>
            <a:r>
              <a:rPr kumimoji="0" lang="en-US" sz="2800" b="0" i="0" u="none" strike="noStrike" kern="1200" cap="none" spc="-4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2:</a:t>
            </a:r>
            <a:r>
              <a:rPr kumimoji="0" lang="en-US" sz="2800" b="0" i="0" u="none" strike="noStrike" kern="1200" cap="none" spc="-4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br>
              <a:rPr kumimoji="0" lang="en-US" sz="2800" b="0" i="0" u="none" strike="noStrike" kern="1200" cap="none" spc="-4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</a:br>
            <a:endParaRPr kumimoji="0" lang="en-US" sz="2800" b="0" i="0" u="none" strike="noStrike" kern="1200" cap="none" spc="-45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12700" marR="5080" lvl="0" indent="0" algn="l" defTabSz="914400" rtl="0" eaLnBrk="1" fontAlgn="auto" latinLnBrk="0" hangingPunct="1">
              <a:lnSpc>
                <a:spcPct val="101099"/>
              </a:lnSpc>
              <a:spcBef>
                <a:spcPts val="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Copy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inverse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of </a:t>
            </a:r>
            <a:r>
              <a:rPr kumimoji="0" sz="2800" b="0" i="0" u="none" strike="noStrike" kern="1200" cap="none" spc="-86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</a:t>
            </a:r>
            <a:r>
              <a:rPr kumimoji="0" sz="2800" b="0" i="0" u="none" strike="noStrike" kern="1200" cap="none" spc="-7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remaining </a:t>
            </a:r>
            <a:r>
              <a:rPr kumimoji="0" sz="2800" b="0" i="0" u="none" strike="noStrike" kern="1200" cap="none" spc="-86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bits.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6055895" y="2201778"/>
            <a:ext cx="2602832" cy="802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1076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4538" y="745369"/>
            <a:ext cx="11062978" cy="630428"/>
          </a:xfrm>
          <a:prstGeom prst="rect">
            <a:avLst/>
          </a:prstGeom>
        </p:spPr>
        <p:txBody>
          <a:bodyPr vert="horz" wrap="square" lIns="0" tIns="75691" rIns="0" bIns="0" rtlCol="0" anchor="ctr">
            <a:spAutoFit/>
          </a:bodyPr>
          <a:lstStyle/>
          <a:p>
            <a:pPr marL="3397250" marR="5080" indent="-268224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Finding </a:t>
            </a:r>
            <a:r>
              <a:rPr spc="-5" dirty="0"/>
              <a:t>2’s complement </a:t>
            </a:r>
            <a:r>
              <a:rPr dirty="0"/>
              <a:t>of </a:t>
            </a:r>
            <a:r>
              <a:rPr spc="-5" dirty="0"/>
              <a:t>fraction </a:t>
            </a:r>
            <a:r>
              <a:rPr spc="-890" dirty="0"/>
              <a:t> </a:t>
            </a:r>
            <a:r>
              <a:rPr spc="-5" dirty="0"/>
              <a:t>numbers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702335" y="1797063"/>
            <a:ext cx="8612739" cy="4422364"/>
          </a:xfrm>
          <a:prstGeom prst="rect">
            <a:avLst/>
          </a:prstGeom>
        </p:spPr>
        <p:txBody>
          <a:bodyPr vert="horz" wrap="square" lIns="0" tIns="107315" rIns="0" bIns="0" rtlCol="0">
            <a:spAutoFit/>
          </a:bodyPr>
          <a:lstStyle/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Example: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+5.75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0101.1100</a:t>
            </a:r>
            <a:r>
              <a:rPr kumimoji="0" sz="2850" b="0" i="0" u="none" strike="noStrike" kern="1200" cap="none" spc="0" normalizeH="0" baseline="-17543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lang="en-US" sz="28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-5.75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 binary.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5400" marR="0" lvl="0" indent="0" algn="l" defTabSz="914400" rtl="0" eaLnBrk="1" fontAlgn="auto" latinLnBrk="0" hangingPunct="1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Solution: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35000" marR="0" lvl="0" indent="0" algn="l" defTabSz="914400" rtl="0" eaLnBrk="1" fontAlgn="auto" latinLnBrk="0" hangingPunct="1">
              <a:lnSpc>
                <a:spcPct val="100000"/>
              </a:lnSpc>
              <a:spcBef>
                <a:spcPts val="15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Step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1: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Remove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binary point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0101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1100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854200" marR="17780" lvl="0" indent="-1219200" algn="l" defTabSz="914400" rtl="0" eaLnBrk="1" fontAlgn="auto" latinLnBrk="0" hangingPunct="1">
              <a:lnSpc>
                <a:spcPts val="35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854200" marR="17780" lvl="0" indent="-1219200" algn="l" defTabSz="914400" rtl="0" eaLnBrk="1" fontAlgn="auto" latinLnBrk="0" hangingPunct="1">
              <a:lnSpc>
                <a:spcPts val="35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Step 2: Find the 2’s complement of 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0" u="none" strike="noStrike" kern="1200" cap="none" spc="-5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1010</a:t>
            </a:r>
            <a:r>
              <a:rPr kumimoji="0" lang="en-US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0100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35000" marR="0" lvl="0" indent="0" algn="l" defTabSz="914400" rtl="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35000" marR="0" lvl="0" indent="0" algn="l" defTabSz="914400" rtl="0" eaLnBrk="1" fontAlgn="auto" latinLnBrk="0" hangingPunct="1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Step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3: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Replace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binary point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1010.0100</a:t>
            </a:r>
            <a:r>
              <a:rPr kumimoji="0" sz="24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4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-5.75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392017" y="4443531"/>
            <a:ext cx="7557" cy="506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8255991" y="4443531"/>
            <a:ext cx="7557" cy="513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8112408" y="4443531"/>
            <a:ext cx="7557" cy="513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968825" y="4443531"/>
            <a:ext cx="7557" cy="51387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7761066" y="4435974"/>
            <a:ext cx="7557" cy="51387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7617483" y="4443531"/>
            <a:ext cx="7557" cy="51387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7437373" y="4435973"/>
            <a:ext cx="7557" cy="51387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257263" y="4435972"/>
            <a:ext cx="7557" cy="51387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30567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954505" y="74788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CONVERTING SIGNED DECIMAL TO TWO’S COMPLEMENT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386" y="3144714"/>
            <a:ext cx="1159015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28750" marR="0" lvl="0" indent="-1428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Exercise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: Find the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8-bit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2’s complement (minus) representation of:</a:t>
            </a:r>
          </a:p>
          <a:p>
            <a:pPr marL="1428750" marR="0" lvl="0" indent="-14287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25</a:t>
            </a:r>
            <a:r>
              <a:rPr kumimoji="0" lang="en-US" sz="40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68860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954505" y="74788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CONVERTING SIGNED DECIMAL TO TWO’S COMPLEMENT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4504" y="2013283"/>
            <a:ext cx="10399295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Convert the magnitude to unsigned binary: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25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16 + 8 + 1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1 1001</a:t>
            </a:r>
            <a:r>
              <a:rPr kumimoji="0" lang="en-US" sz="24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Zero extend to 8 bits: 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1 1001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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000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1 1001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Find the 2’s complement: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1371600" marR="0" lvl="3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0001 1001   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1110 0111</a:t>
            </a:r>
            <a:r>
              <a:rPr kumimoji="0" lang="en-US" sz="2400" b="1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19871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4495" y="2948862"/>
            <a:ext cx="5209032" cy="124967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481609" y="2032938"/>
            <a:ext cx="7037705" cy="3433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Example: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10110010</a:t>
            </a:r>
            <a:r>
              <a:rPr kumimoji="0" sz="3150" b="0" i="0" u="none" strike="noStrike" kern="1200" cap="none" spc="-7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3150" b="0" i="0" u="none" strike="noStrike" kern="1200" cap="none" spc="382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?</a:t>
            </a:r>
            <a:r>
              <a:rPr kumimoji="0" sz="3150" b="0" i="0" u="none" strike="noStrike" kern="1200" cap="none" spc="15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endParaRPr kumimoji="0" sz="3150" b="0" i="0" u="none" strike="noStrike" kern="1200" cap="none" spc="0" normalizeH="0" baseline="-18518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9781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Apply algorithm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&amp;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add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negative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sign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>
                <a:tab pos="659765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1.	10110010</a:t>
            </a:r>
            <a:r>
              <a:rPr kumimoji="0" sz="3150" b="0" i="0" u="none" strike="noStrike" kern="1200" cap="none" spc="0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3150" b="0" i="0" u="none" strike="noStrike" kern="1200" cap="none" spc="375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</a:t>
            </a:r>
            <a:r>
              <a:rPr kumimoji="0" sz="3200" b="0" i="0" u="none" strike="noStrike" kern="1200" cap="none" spc="-9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-01001110</a:t>
            </a:r>
            <a:r>
              <a:rPr kumimoji="0" sz="3150" b="0" i="0" u="none" strike="noStrike" kern="1200" cap="none" spc="-7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endParaRPr kumimoji="0" sz="3150" b="0" i="0" u="none" strike="noStrike" kern="1200" cap="none" spc="0" normalizeH="0" baseline="-18518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Tx/>
              <a:buSzTx/>
              <a:buFontTx/>
              <a:buNone/>
              <a:tabLst>
                <a:tab pos="659765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2.	-(01001110</a:t>
            </a:r>
            <a:r>
              <a:rPr kumimoji="0" sz="3150" b="0" i="0" u="none" strike="noStrike" kern="1200" cap="none" spc="0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-(64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+ 8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+ 4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+ 2) =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-78</a:t>
            </a:r>
            <a:r>
              <a:rPr kumimoji="0" sz="3150" b="0" i="0" u="none" strike="noStrike" kern="1200" cap="none" spc="7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endParaRPr kumimoji="0" sz="3150" b="0" i="0" u="none" strike="noStrike" kern="1200" cap="none" spc="0" normalizeH="0" baseline="-18518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Tx/>
              <a:buNone/>
              <a:tabLst>
                <a:tab pos="659765" algn="l"/>
                <a:tab pos="228727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3.	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Answer:	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-78</a:t>
            </a:r>
            <a:r>
              <a:rPr kumimoji="0" sz="3150" b="0" i="0" u="none" strike="noStrike" kern="1200" cap="none" spc="7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endParaRPr kumimoji="0" sz="3150" b="0" i="0" u="none" strike="noStrike" kern="1200" cap="none" spc="0" normalizeH="0" baseline="-18518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8305" y="766011"/>
            <a:ext cx="94323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Converting 2’s complement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numbers</a:t>
            </a:r>
            <a:r>
              <a:rPr kumimoji="0" lang="en-US" sz="2400" b="1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</a:t>
            </a:r>
            <a:r>
              <a:rPr kumimoji="0" lang="en-US" sz="2400" b="1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decimal</a:t>
            </a:r>
            <a:r>
              <a:rPr kumimoji="0" lang="en-US" sz="2400" b="1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–</a:t>
            </a:r>
            <a:r>
              <a:rPr kumimoji="0" lang="en-US" sz="2400" b="1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1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CC"/>
                  </a:solidFill>
                </a:uFill>
                <a:latin typeface="Arial" panose="020B0604020202020204"/>
                <a:ea typeface="+mn-ea"/>
                <a:cs typeface="+mn-cs"/>
              </a:rPr>
              <a:t>Approach</a:t>
            </a:r>
            <a:r>
              <a:rPr kumimoji="0" lang="en-US" sz="2400" b="1" i="0" u="heavy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CC"/>
                  </a:solidFill>
                </a:uFill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400" b="1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CC"/>
                  </a:solidFill>
                </a:uFill>
                <a:latin typeface="Arial" panose="020B0604020202020204"/>
                <a:ea typeface="+mn-ea"/>
                <a:cs typeface="+mn-cs"/>
              </a:rPr>
              <a:t>#1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443411" y="2406316"/>
            <a:ext cx="119366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pc="-5" dirty="0">
                <a:solidFill>
                  <a:srgbClr val="000000"/>
                </a:solidFill>
                <a:latin typeface="Calibri"/>
                <a:cs typeface="Calibri"/>
              </a:rPr>
              <a:t>10110010</a:t>
            </a:r>
            <a:r>
              <a:rPr lang="en-US" spc="-7" baseline="-18518" dirty="0">
                <a:solidFill>
                  <a:srgbClr val="000000"/>
                </a:solidFill>
                <a:latin typeface="Calibri"/>
                <a:cs typeface="Calibri"/>
              </a:rPr>
              <a:t>2</a:t>
            </a:r>
          </a:p>
          <a:p>
            <a:endParaRPr lang="en-US" spc="-7" baseline="-18518" dirty="0">
              <a:solidFill>
                <a:srgbClr val="000000"/>
              </a:solidFill>
              <a:latin typeface="Calibri"/>
              <a:cs typeface="Calibri"/>
            </a:endParaRPr>
          </a:p>
          <a:p>
            <a:pPr lvl="0"/>
            <a:endParaRPr lang="en-US" spc="-5" dirty="0">
              <a:solidFill>
                <a:srgbClr val="000000"/>
              </a:solidFill>
              <a:latin typeface="Calibri"/>
              <a:cs typeface="Calibri"/>
            </a:endParaRPr>
          </a:p>
          <a:p>
            <a:pPr lvl="0"/>
            <a:r>
              <a:rPr lang="en-US" spc="-5" dirty="0">
                <a:solidFill>
                  <a:srgbClr val="000000"/>
                </a:solidFill>
                <a:latin typeface="Calibri"/>
                <a:cs typeface="Calibri"/>
              </a:rPr>
              <a:t>01001110</a:t>
            </a:r>
            <a:r>
              <a:rPr lang="en-US" spc="-7" baseline="-18518" dirty="0">
                <a:solidFill>
                  <a:srgbClr val="000000"/>
                </a:solidFill>
                <a:latin typeface="Calibri"/>
                <a:cs typeface="Calibri"/>
              </a:rPr>
              <a:t>2</a:t>
            </a:r>
            <a:endParaRPr lang="en-US" baseline="-18518" dirty="0">
              <a:solidFill>
                <a:srgbClr val="000000"/>
              </a:solidFill>
              <a:latin typeface="Calibri"/>
              <a:cs typeface="Calibri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1417968" y="2727158"/>
            <a:ext cx="0" cy="457200"/>
          </a:xfrm>
          <a:prstGeom prst="straightConnector1">
            <a:avLst/>
          </a:prstGeom>
          <a:ln w="127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1297653" y="2727158"/>
            <a:ext cx="0" cy="457200"/>
          </a:xfrm>
          <a:prstGeom prst="straightConnector1">
            <a:avLst/>
          </a:prstGeom>
          <a:ln w="127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1161295" y="2727158"/>
            <a:ext cx="0" cy="4572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1044990" y="2727158"/>
            <a:ext cx="0" cy="4572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0940716" y="2720262"/>
            <a:ext cx="0" cy="4572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0832432" y="2727158"/>
            <a:ext cx="0" cy="4572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0708106" y="2727158"/>
            <a:ext cx="0" cy="4572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0583779" y="2727158"/>
            <a:ext cx="0" cy="4572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 rot="5400000">
            <a:off x="10519166" y="2811496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inverse</a:t>
            </a:r>
          </a:p>
        </p:txBody>
      </p:sp>
      <p:sp>
        <p:nvSpPr>
          <p:cNvPr id="18" name="TextBox 17"/>
          <p:cNvSpPr txBox="1"/>
          <p:nvPr/>
        </p:nvSpPr>
        <p:spPr>
          <a:xfrm rot="5400000">
            <a:off x="10855487" y="2818392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inverse</a:t>
            </a:r>
          </a:p>
        </p:txBody>
      </p:sp>
      <p:sp>
        <p:nvSpPr>
          <p:cNvPr id="19" name="TextBox 18"/>
          <p:cNvSpPr txBox="1"/>
          <p:nvPr/>
        </p:nvSpPr>
        <p:spPr>
          <a:xfrm rot="5400000">
            <a:off x="10735172" y="2818392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inverse</a:t>
            </a:r>
          </a:p>
        </p:txBody>
      </p:sp>
      <p:sp>
        <p:nvSpPr>
          <p:cNvPr id="20" name="TextBox 19"/>
          <p:cNvSpPr txBox="1"/>
          <p:nvPr/>
        </p:nvSpPr>
        <p:spPr>
          <a:xfrm rot="5400000">
            <a:off x="10648417" y="2811496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inverse</a:t>
            </a:r>
          </a:p>
        </p:txBody>
      </p:sp>
      <p:sp>
        <p:nvSpPr>
          <p:cNvPr id="21" name="TextBox 20"/>
          <p:cNvSpPr txBox="1"/>
          <p:nvPr/>
        </p:nvSpPr>
        <p:spPr>
          <a:xfrm rot="5400000">
            <a:off x="10394873" y="2818392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inverse</a:t>
            </a:r>
          </a:p>
        </p:txBody>
      </p:sp>
      <p:sp>
        <p:nvSpPr>
          <p:cNvPr id="22" name="TextBox 21"/>
          <p:cNvSpPr txBox="1"/>
          <p:nvPr/>
        </p:nvSpPr>
        <p:spPr>
          <a:xfrm rot="5400000">
            <a:off x="10265622" y="2825288"/>
            <a:ext cx="5164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inverse</a:t>
            </a:r>
          </a:p>
        </p:txBody>
      </p:sp>
    </p:spTree>
    <p:extLst>
      <p:ext uri="{BB962C8B-B14F-4D97-AF65-F5344CB8AC3E}">
        <p14:creationId xmlns:p14="http://schemas.microsoft.com/office/powerpoint/2010/main" val="24910122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589" y="715097"/>
            <a:ext cx="10417284" cy="1144151"/>
          </a:xfrm>
        </p:spPr>
        <p:txBody>
          <a:bodyPr>
            <a:normAutofit/>
          </a:bodyPr>
          <a:lstStyle/>
          <a:p>
            <a:r>
              <a:rPr lang="en-US" dirty="0"/>
              <a:t>Changing the Sign of a Two’s Complement Number </a:t>
            </a:r>
            <a:r>
              <a:rPr lang="en-US" dirty="0">
                <a:solidFill>
                  <a:srgbClr val="FF0000"/>
                </a:solidFill>
              </a:rPr>
              <a:t>(Method 1)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39551" y="2169730"/>
            <a:ext cx="5609638" cy="44315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if   +1.25</a:t>
            </a:r>
            <a:r>
              <a:rPr lang="en-US" sz="28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 = 0001.0100</a:t>
            </a:r>
            <a:r>
              <a:rPr lang="en-US" sz="28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en-US" sz="2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then -1.25</a:t>
            </a:r>
            <a:r>
              <a:rPr lang="en-US" sz="28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r>
              <a:rPr 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 = ????.????</a:t>
            </a:r>
            <a:r>
              <a:rPr lang="en-US" sz="2800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en-US" sz="28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461963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Change every bit:	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0001.0100</a:t>
            </a:r>
          </a:p>
          <a:p>
            <a:pPr marL="914400" lvl="1" indent="-514350">
              <a:buAutoNum type="arabicPeriod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			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1110.1011</a:t>
            </a:r>
          </a:p>
          <a:p>
            <a:pPr marL="400050" lvl="1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461963" lvl="1" indent="-457200">
              <a:buFont typeface="+mj-lt"/>
              <a:buAutoNum type="arabicPeriod" startAt="2"/>
            </a:pPr>
            <a:r>
              <a:rPr lang="en-US" sz="2400" dirty="0">
                <a:solidFill>
                  <a:schemeClr val="tx1"/>
                </a:solidFill>
              </a:rPr>
              <a:t>Then add 1 to the		    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+1</a:t>
            </a:r>
            <a:r>
              <a:rPr lang="en-US" sz="2400" dirty="0">
                <a:solidFill>
                  <a:schemeClr val="tx1"/>
                </a:solidFill>
              </a:rPr>
              <a:t>	 </a:t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least-significant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1110.1100</a:t>
            </a:r>
            <a:b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</a:rPr>
            </a:b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 position.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206802" y="3785941"/>
            <a:ext cx="0" cy="457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863275" y="3785941"/>
            <a:ext cx="0" cy="457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027707" y="3785941"/>
            <a:ext cx="0" cy="45720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09823" y="3743376"/>
            <a:ext cx="609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. . .</a:t>
            </a:r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3744370" y="4933013"/>
            <a:ext cx="1546746" cy="796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13624" y="3437033"/>
            <a:ext cx="4150895" cy="101566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tIns="91440" bIns="91440" rtlCol="0">
            <a:spAutoFit/>
          </a:bodyPr>
          <a:lstStyle/>
          <a:p>
            <a:pPr marL="1027113" lvl="1"/>
            <a:r>
              <a:rPr lang="en-US" dirty="0"/>
              <a:t>Simply changing the most-significant bit is NOT the same and doesn’t work!</a:t>
            </a:r>
          </a:p>
        </p:txBody>
      </p:sp>
      <p:pic>
        <p:nvPicPr>
          <p:cNvPr id="14" name="Picture 4" descr="http://www.aamu.edu/campuslife/living-on-campus/residentialLife/SiteAssets/pages/default/Warning_sig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822632" y="3513233"/>
            <a:ext cx="911802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78806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92241" y="525115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25762" y="5273630"/>
            <a:ext cx="1473814" cy="457200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20473" y="1880938"/>
            <a:ext cx="10469422" cy="4792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If   +1.25</a:t>
            </a:r>
            <a:r>
              <a:rPr lang="en-US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= 0001.0100</a:t>
            </a:r>
            <a:r>
              <a:rPr lang="en-US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Then -1.25</a:t>
            </a:r>
            <a:r>
              <a:rPr lang="en-US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= ????.????</a:t>
            </a:r>
            <a:r>
              <a:rPr lang="en-US" baseline="-25000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Copy right-to-left</a:t>
            </a:r>
            <a:r>
              <a:rPr lang="en-US" dirty="0"/>
              <a:t>   </a:t>
            </a:r>
            <a:r>
              <a:rPr lang="en-US" dirty="0">
                <a:solidFill>
                  <a:schemeClr val="tx1"/>
                </a:solidFill>
              </a:rPr>
              <a:t>  </a:t>
            </a:r>
            <a:r>
              <a:rPr lang="en-US" sz="3200" dirty="0">
                <a:solidFill>
                  <a:schemeClr val="tx1"/>
                </a:solidFill>
                <a:latin typeface="Consolas" panose="020B0609020204030204" pitchFamily="49" charset="0"/>
              </a:rPr>
              <a:t>0001.0100</a:t>
            </a:r>
          </a:p>
          <a:p>
            <a:pPr marL="0" indent="0">
              <a:buNone/>
            </a:pPr>
            <a:r>
              <a:rPr lang="en-US" dirty="0">
                <a:solidFill>
                  <a:srgbClr val="7030A0"/>
                </a:solidFill>
              </a:rPr>
              <a:t>through first 1:</a:t>
            </a:r>
            <a:r>
              <a:rPr lang="en-US" dirty="0"/>
              <a:t>		</a:t>
            </a:r>
            <a:endParaRPr lang="en-US" sz="2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>
                <a:latin typeface="Consolas" panose="020B0609020204030204" pitchFamily="49" charset="0"/>
              </a:rPr>
              <a:t>	</a:t>
            </a:r>
            <a:br>
              <a:rPr lang="en-US" sz="2800" dirty="0">
                <a:latin typeface="Consolas" panose="020B0609020204030204" pitchFamily="49" charset="0"/>
              </a:rPr>
            </a:br>
            <a:r>
              <a:rPr lang="en-US" sz="2800" dirty="0">
                <a:latin typeface="Consolas" panose="020B0609020204030204" pitchFamily="49" charset="0"/>
              </a:rPr>
              <a:t>			</a:t>
            </a:r>
            <a:r>
              <a:rPr lang="en-US" dirty="0">
                <a:latin typeface="Consolas" panose="020B0609020204030204" pitchFamily="49" charset="0"/>
              </a:rPr>
              <a:t>     </a:t>
            </a:r>
            <a:endParaRPr lang="en-US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Copy opposite of</a:t>
            </a:r>
            <a:br>
              <a:rPr lang="en-US" dirty="0">
                <a:solidFill>
                  <a:srgbClr val="00B050"/>
                </a:solidFill>
              </a:rPr>
            </a:br>
            <a:r>
              <a:rPr lang="en-US" dirty="0">
                <a:solidFill>
                  <a:srgbClr val="00B050"/>
                </a:solidFill>
              </a:rPr>
              <a:t>all remaining bits:</a:t>
            </a:r>
            <a:r>
              <a:rPr lang="en-US" dirty="0"/>
              <a:t>	</a:t>
            </a:r>
            <a:endParaRPr lang="en-US" dirty="0">
              <a:solidFill>
                <a:srgbClr val="7030A0"/>
              </a:solidFill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203323" y="5251153"/>
            <a:ext cx="14942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nsolas" panose="020B0609020204030204" pitchFamily="49" charset="0"/>
              </a:rPr>
              <a:t>1110.1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7643" y="5272490"/>
            <a:ext cx="641138" cy="457200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473" y="745190"/>
            <a:ext cx="10076390" cy="951263"/>
          </a:xfrm>
        </p:spPr>
        <p:txBody>
          <a:bodyPr>
            <a:normAutofit fontScale="90000"/>
          </a:bodyPr>
          <a:lstStyle/>
          <a:p>
            <a:r>
              <a:rPr lang="en-US" dirty="0"/>
              <a:t>Changing the Sign of a Two’s Complement Number </a:t>
            </a:r>
            <a:r>
              <a:rPr lang="en-US" dirty="0">
                <a:solidFill>
                  <a:srgbClr val="FF0000"/>
                </a:solidFill>
              </a:rPr>
              <a:t>(Method 2)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5140164" y="3705910"/>
            <a:ext cx="8003" cy="152400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4674961" y="3705910"/>
            <a:ext cx="8003" cy="1524000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74961" y="423931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. . 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3332751" y="3734078"/>
            <a:ext cx="0" cy="153976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395997" y="3734078"/>
            <a:ext cx="0" cy="1539766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46567" y="427891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. . 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43053" y="3261290"/>
            <a:ext cx="762873" cy="457200"/>
          </a:xfrm>
          <a:prstGeom prst="rect">
            <a:avLst/>
          </a:prstGeom>
          <a:solidFill>
            <a:srgbClr val="7030A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03323" y="3261290"/>
            <a:ext cx="1339730" cy="457200"/>
          </a:xfrm>
          <a:prstGeom prst="rect">
            <a:avLst/>
          </a:prstGeom>
          <a:solidFill>
            <a:srgbClr val="00B05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2388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CBF680B-ADE2-45D3-AAF0-628F148C1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2</a:t>
            </a:r>
            <a:br>
              <a:rPr lang="en-US" dirty="0"/>
            </a:br>
            <a:r>
              <a:rPr lang="en-US" dirty="0"/>
              <a:t>Binary Number Systems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2630C35-C1C5-40C0-B3E8-F7F5E49BA7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 6: Power Relationships</a:t>
            </a:r>
          </a:p>
        </p:txBody>
      </p:sp>
    </p:spTree>
    <p:extLst>
      <p:ext uri="{BB962C8B-B14F-4D97-AF65-F5344CB8AC3E}">
        <p14:creationId xmlns:p14="http://schemas.microsoft.com/office/powerpoint/2010/main" val="12481071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CBF680B-ADE2-45D3-AAF0-628F148C1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Hex</a:t>
            </a:r>
          </a:p>
        </p:txBody>
      </p:sp>
    </p:spTree>
    <p:extLst>
      <p:ext uri="{BB962C8B-B14F-4D97-AF65-F5344CB8AC3E}">
        <p14:creationId xmlns:p14="http://schemas.microsoft.com/office/powerpoint/2010/main" val="307278656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3149"/>
            <a:ext cx="3138179" cy="626419"/>
          </a:xfrm>
        </p:spPr>
        <p:txBody>
          <a:bodyPr>
            <a:normAutofit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07175"/>
            <a:ext cx="10433326" cy="50262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Hexadecimal is a convenient short-hand for binary: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Hex (radix 16) numbers require 1/4</a:t>
            </a:r>
            <a:r>
              <a:rPr lang="en-US" baseline="30000" dirty="0">
                <a:solidFill>
                  <a:schemeClr val="tx1"/>
                </a:solidFill>
              </a:rPr>
              <a:t>th</a:t>
            </a:r>
            <a:r>
              <a:rPr lang="en-US" dirty="0">
                <a:solidFill>
                  <a:schemeClr val="tx1"/>
                </a:solidFill>
              </a:rPr>
              <a:t> as many digits than their equivalent binary (radix 2) representation</a:t>
            </a:r>
            <a:endParaRPr lang="en-US" sz="700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Easier for humans </a:t>
            </a: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tx1"/>
                </a:solidFill>
              </a:rPr>
              <a:t>reduces transcription errors</a:t>
            </a:r>
          </a:p>
        </p:txBody>
      </p:sp>
    </p:spTree>
    <p:extLst>
      <p:ext uri="{BB962C8B-B14F-4D97-AF65-F5344CB8AC3E}">
        <p14:creationId xmlns:p14="http://schemas.microsoft.com/office/powerpoint/2010/main" val="12751931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3149"/>
            <a:ext cx="3138179" cy="626419"/>
          </a:xfrm>
        </p:spPr>
        <p:txBody>
          <a:bodyPr>
            <a:normAutofit/>
          </a:bodyPr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07175"/>
            <a:ext cx="10433326" cy="502623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Conversion is trivial due to power relationship (16 = 2</a:t>
            </a:r>
            <a:r>
              <a:rPr lang="en-US" baseline="30000" dirty="0">
                <a:solidFill>
                  <a:srgbClr val="0070C0"/>
                </a:solidFill>
              </a:rPr>
              <a:t>4</a:t>
            </a:r>
            <a:r>
              <a:rPr lang="en-US" dirty="0">
                <a:solidFill>
                  <a:srgbClr val="0070C0"/>
                </a:solidFill>
              </a:rPr>
              <a:t>):</a:t>
            </a:r>
          </a:p>
          <a:p>
            <a:endParaRPr lang="en-US" dirty="0"/>
          </a:p>
          <a:p>
            <a:r>
              <a:rPr lang="en-US" dirty="0">
                <a:solidFill>
                  <a:schemeClr val="tx1"/>
                </a:solidFill>
              </a:rPr>
              <a:t>Each hex digit corresponds to a group of </a:t>
            </a:r>
            <a:r>
              <a:rPr lang="en-US" b="1" dirty="0">
                <a:solidFill>
                  <a:schemeClr val="tx1"/>
                </a:solidFill>
              </a:rPr>
              <a:t>4 binary digits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Easy to convert: Groups are</a:t>
            </a:r>
            <a:r>
              <a:rPr lang="en-US" dirty="0"/>
              <a:t> </a:t>
            </a:r>
            <a:r>
              <a:rPr lang="en-US" b="1" dirty="0">
                <a:solidFill>
                  <a:srgbClr val="92D050"/>
                </a:solidFill>
              </a:rPr>
              <a:t>independent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of each other.</a:t>
            </a:r>
          </a:p>
        </p:txBody>
      </p:sp>
    </p:spTree>
    <p:extLst>
      <p:ext uri="{BB962C8B-B14F-4D97-AF65-F5344CB8AC3E}">
        <p14:creationId xmlns:p14="http://schemas.microsoft.com/office/powerpoint/2010/main" val="9095828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0667" y="745777"/>
            <a:ext cx="8961270" cy="562975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/>
          <a:p>
            <a:pPr marL="1240155" marR="5080" indent="-1228090">
              <a:lnSpc>
                <a:spcPct val="100499"/>
              </a:lnSpc>
              <a:spcBef>
                <a:spcPts val="70"/>
              </a:spcBef>
            </a:pPr>
            <a:r>
              <a:rPr spc="-5" dirty="0"/>
              <a:t>Hexadecimal Numbers </a:t>
            </a:r>
            <a:r>
              <a:rPr spc="-980" dirty="0"/>
              <a:t> </a:t>
            </a:r>
            <a:r>
              <a:rPr spc="-5" dirty="0"/>
              <a:t>(Radix</a:t>
            </a:r>
            <a:r>
              <a:rPr spc="-15" dirty="0"/>
              <a:t> </a:t>
            </a:r>
            <a:r>
              <a:rPr dirty="0"/>
              <a:t>=</a:t>
            </a:r>
            <a:r>
              <a:rPr spc="-10" dirty="0"/>
              <a:t> </a:t>
            </a:r>
            <a:r>
              <a:rPr spc="-5" dirty="0"/>
              <a:t>16)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0667" y="1523856"/>
            <a:ext cx="10425112" cy="515294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5600" marR="364490" lvl="0" indent="-342900" algn="l" defTabSz="914400" rtl="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500" b="0" i="0" u="none" strike="noStrike" kern="120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number</a:t>
            </a:r>
            <a:r>
              <a:rPr kumimoji="0" sz="25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of digit symbols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determined by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 </a:t>
            </a:r>
            <a:r>
              <a:rPr kumimoji="0" sz="2400" b="0" i="0" u="none" strike="noStrike" kern="1200" cap="none" spc="-7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radix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(e.g.,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16)</a:t>
            </a:r>
          </a:p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355600" marR="5080" lvl="0" indent="-342900" algn="l" defTabSz="914400" rtl="0" eaLnBrk="1" fontAlgn="auto" latinLnBrk="0" hangingPunct="1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500" b="0" i="0" u="none" strike="noStrike" kern="1200" cap="none" spc="-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value</a:t>
            </a:r>
            <a:r>
              <a:rPr kumimoji="0" sz="25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of the digit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symbols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range from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to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15 (0 </a:t>
            </a:r>
            <a:r>
              <a:rPr kumimoji="0" sz="2400" b="0" i="0" u="none" strike="noStrike" kern="1200" cap="none" spc="-7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to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R-1).</a:t>
            </a: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The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500" b="0" i="0" u="none" strike="noStrike" kern="1200" cap="none" spc="-5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symbols</a:t>
            </a:r>
            <a:r>
              <a:rPr kumimoji="0" sz="2500" b="0" i="0" u="none" strike="noStrike" kern="1200" cap="none" spc="-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are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0-9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followed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by A-F.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4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39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Conversion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between binary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and hex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is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trivial!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355600" marR="453390" lvl="0" indent="-342900" algn="l" defTabSz="914400" rtl="0" eaLnBrk="1" fontAlgn="auto" latinLnBrk="0" hangingPunct="1">
              <a:lnSpc>
                <a:spcPct val="100800"/>
              </a:lnSpc>
              <a:spcBef>
                <a:spcPts val="13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355600" marR="453390" lvl="0" indent="-342900" algn="l" defTabSz="914400" rtl="0" eaLnBrk="1" fontAlgn="auto" latinLnBrk="0" hangingPunct="1">
              <a:lnSpc>
                <a:spcPct val="100800"/>
              </a:lnSpc>
              <a:spcBef>
                <a:spcPts val="139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Use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as a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shorthand for binary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b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</a:b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(significantly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fewer </a:t>
            </a:r>
            <a:r>
              <a:rPr kumimoji="0" sz="2400" b="0" i="0" u="none" strike="noStrike" kern="1200" cap="none" spc="-73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digits are required for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same magnitude).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5624613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48547" y="718622"/>
            <a:ext cx="4072632" cy="725168"/>
          </a:xfrm>
        </p:spPr>
        <p:txBody>
          <a:bodyPr/>
          <a:lstStyle/>
          <a:p>
            <a:r>
              <a:rPr lang="en-US" dirty="0"/>
              <a:t>Hex/Binary Table</a:t>
            </a:r>
          </a:p>
        </p:txBody>
      </p: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1" y="1862772"/>
            <a:ext cx="6476999" cy="4690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5181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413" y="750225"/>
            <a:ext cx="596900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Binary</a:t>
            </a:r>
            <a:r>
              <a:rPr spc="-30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5" dirty="0"/>
              <a:t>Hex</a:t>
            </a:r>
            <a:r>
              <a:rPr spc="-30" dirty="0"/>
              <a:t> </a:t>
            </a:r>
            <a:r>
              <a:rPr dirty="0"/>
              <a:t>Conversions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641841" y="2629346"/>
            <a:ext cx="581025" cy="429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000</a:t>
            </a:r>
            <a:endParaRPr kumimoji="0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1412" y="1428311"/>
            <a:ext cx="10434471" cy="477803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63500" marR="250190" lvl="0" indent="0" algn="l" defTabSz="914400" rtl="0" eaLnBrk="1" fontAlgn="auto" latinLnBrk="0" hangingPunct="1">
              <a:lnSpc>
                <a:spcPts val="329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63500" marR="250190" lvl="0" indent="0" algn="l" defTabSz="914400" rtl="0" eaLnBrk="1" fontAlgn="auto" latinLnBrk="0" hangingPunct="1">
              <a:lnSpc>
                <a:spcPts val="329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Hex</a:t>
            </a:r>
            <a:r>
              <a:rPr kumimoji="0" sz="2800" b="1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digits</a:t>
            </a:r>
            <a:r>
              <a:rPr kumimoji="0" sz="2800" b="1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are</a:t>
            </a:r>
            <a:r>
              <a:rPr kumimoji="0" sz="2800" b="1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in</a:t>
            </a:r>
            <a:r>
              <a:rPr kumimoji="0" sz="2800" b="1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one-to-one</a:t>
            </a:r>
            <a:r>
              <a:rPr kumimoji="0" lang="en-US" sz="2800" b="1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1" i="0" u="none" strike="noStrike" kern="1200" cap="none" spc="-8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groups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of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four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: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450850" marR="0" lvl="0" indent="0" algn="l" defTabSz="914400" rtl="0" eaLnBrk="1" fontAlgn="auto" latinLnBrk="0" hangingPunct="1">
              <a:lnSpc>
                <a:spcPct val="100000"/>
              </a:lnSpc>
              <a:spcBef>
                <a:spcPts val="1655"/>
              </a:spcBef>
              <a:spcAft>
                <a:spcPts val="0"/>
              </a:spcAft>
              <a:buClrTx/>
              <a:buSzTx/>
              <a:buFontTx/>
              <a:buNone/>
              <a:tabLst>
                <a:tab pos="1060450" algn="l"/>
                <a:tab pos="2057400" algn="l"/>
                <a:tab pos="3054350" algn="l"/>
                <a:tab pos="4050665" algn="l"/>
                <a:tab pos="4371340" algn="l"/>
                <a:tab pos="5368925" algn="l"/>
                <a:tab pos="6365875" algn="l"/>
                <a:tab pos="7362825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11	1010	0101	0110	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.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1110	0010	1111	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</a:t>
            </a:r>
          </a:p>
          <a:p>
            <a:pPr marL="303530" marR="0" lvl="0" indent="0" algn="l" defTabSz="914400" rtl="0" eaLnBrk="1" fontAlgn="auto" latinLnBrk="0" hangingPunct="1">
              <a:lnSpc>
                <a:spcPct val="100000"/>
              </a:lnSpc>
              <a:spcBef>
                <a:spcPts val="1630"/>
              </a:spcBef>
              <a:spcAft>
                <a:spcPts val="0"/>
              </a:spcAft>
              <a:buClrTx/>
              <a:buSzTx/>
              <a:buFontTx/>
              <a:buNone/>
              <a:tabLst>
                <a:tab pos="1275715" algn="l"/>
                <a:tab pos="2266315" algn="l"/>
                <a:tab pos="3238500" algn="l"/>
                <a:tab pos="4097654" algn="l"/>
                <a:tab pos="4837430" algn="l"/>
                <a:tab pos="5815330" algn="l"/>
                <a:tab pos="6786880" algn="l"/>
                <a:tab pos="7750175" algn="l"/>
              </a:tabLst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3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5	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6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   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.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 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     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    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  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8</a:t>
            </a:r>
          </a:p>
          <a:p>
            <a:pPr marL="336550" marR="0" lvl="0" indent="-273050" algn="l" defTabSz="914400" rtl="0" eaLnBrk="1" fontAlgn="auto" latinLnBrk="0" hangingPunct="1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36550" algn="l"/>
              </a:tabLst>
              <a:defRPr/>
            </a:pP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Start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at binary</a:t>
            </a:r>
            <a:r>
              <a:rPr kumimoji="0" sz="2800" b="1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point</a:t>
            </a:r>
            <a:r>
              <a:rPr kumimoji="0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and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identify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groups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of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4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bits</a:t>
            </a:r>
          </a:p>
          <a:p>
            <a:pPr marL="63500" marR="478790" lvl="0" indent="0" algn="l" defTabSz="914400" rtl="0" eaLnBrk="1" fontAlgn="auto" latinLnBrk="0" hangingPunct="1">
              <a:lnSpc>
                <a:spcPct val="100699"/>
              </a:lnSpc>
              <a:spcBef>
                <a:spcPts val="163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Char char="•"/>
              <a:tabLst>
                <a:tab pos="336550" algn="l"/>
              </a:tabLst>
              <a:defRPr/>
            </a:pPr>
            <a:r>
              <a:rPr kumimoji="0" lang="en-US" sz="2800" b="0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Zero-fill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on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left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and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right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ends to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complete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the </a:t>
            </a:r>
            <a:r>
              <a:rPr kumimoji="0" sz="2800" b="0" i="0" u="none" strike="noStrike" kern="1200" cap="none" spc="-8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groups!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336550" marR="0" lvl="0" indent="-273050" algn="l" defTabSz="914400" rtl="0" eaLnBrk="1" fontAlgn="auto" latinLnBrk="0" hangingPunct="1">
              <a:lnSpc>
                <a:spcPct val="100000"/>
              </a:lnSpc>
              <a:spcBef>
                <a:spcPts val="165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3655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Conversion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is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a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simple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table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lookup!</a:t>
            </a:r>
          </a:p>
          <a:p>
            <a:pPr marL="336550" marR="0" lvl="0" indent="-273050" algn="l" defTabSz="914400" rtl="0" eaLnBrk="1" fontAlgn="auto" latinLnBrk="0" hangingPunct="1">
              <a:lnSpc>
                <a:spcPct val="100000"/>
              </a:lnSpc>
              <a:spcBef>
                <a:spcPts val="163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36550" algn="l"/>
              </a:tabLst>
              <a:defRPr/>
            </a:pP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Works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because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16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=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2</a:t>
            </a:r>
            <a:r>
              <a:rPr kumimoji="0" sz="2850" b="0" i="0" u="none" strike="noStrike" kern="1200" cap="none" spc="-7" normalizeH="0" baseline="2339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4</a:t>
            </a:r>
            <a:r>
              <a:rPr kumimoji="0" sz="2850" b="0" i="0" u="none" strike="noStrike" kern="1200" cap="none" spc="-30" normalizeH="0" baseline="2339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(power relationship)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616440" y="2610491"/>
            <a:ext cx="822960" cy="457200"/>
          </a:xfrm>
          <a:custGeom>
            <a:avLst/>
            <a:gdLst/>
            <a:ahLst/>
            <a:cxnLst/>
            <a:rect l="l" t="t" r="r" b="b"/>
            <a:pathLst>
              <a:path w="822959" h="457200">
                <a:moveTo>
                  <a:pt x="822959" y="0"/>
                </a:moveTo>
                <a:lnTo>
                  <a:pt x="0" y="0"/>
                </a:lnTo>
                <a:lnTo>
                  <a:pt x="0" y="457200"/>
                </a:lnTo>
                <a:lnTo>
                  <a:pt x="822959" y="457200"/>
                </a:lnTo>
                <a:lnTo>
                  <a:pt x="82295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4740442" y="3585411"/>
            <a:ext cx="296779" cy="276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8906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95" y="745182"/>
            <a:ext cx="5460273" cy="678556"/>
          </a:xfrm>
        </p:spPr>
        <p:txBody>
          <a:bodyPr/>
          <a:lstStyle/>
          <a:p>
            <a:r>
              <a:rPr lang="en-US" dirty="0"/>
              <a:t>Example: Binary to Hex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472439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514350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  <a:sym typeface="Wingdings"/>
              </a:rPr>
              <a:t>Split into groups of 4, starting at radix point:</a:t>
            </a:r>
            <a:endParaRPr lang="en-US" sz="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	  101	1010  .  1001  011</a:t>
            </a:r>
          </a:p>
          <a:p>
            <a:pPr marL="800100" lvl="2" indent="0">
              <a:buNone/>
            </a:pPr>
            <a:r>
              <a:rPr lang="en-US" sz="2200" b="1" dirty="0">
                <a:solidFill>
                  <a:srgbClr val="FF0000"/>
                </a:solidFill>
              </a:rPr>
              <a:t>Form groups working outward from the radix point!</a:t>
            </a:r>
          </a:p>
          <a:p>
            <a:pPr marL="800100" lvl="2" indent="0">
              <a:buNone/>
            </a:pPr>
            <a:endParaRPr lang="en-US" sz="1600" dirty="0"/>
          </a:p>
          <a:p>
            <a:pPr marL="514350" indent="-514350">
              <a:buAutoNum type="arabicPeriod" startAt="2"/>
            </a:pPr>
            <a:r>
              <a:rPr lang="en-US" sz="2800" dirty="0">
                <a:solidFill>
                  <a:schemeClr val="tx1"/>
                </a:solidFill>
              </a:rPr>
              <a:t>Pad with 0’s to complete the groups: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b="1" dirty="0">
                <a:solidFill>
                  <a:srgbClr val="FF0000"/>
                </a:solidFill>
              </a:rPr>
              <a:t>0</a:t>
            </a:r>
            <a:r>
              <a:rPr lang="en-US" sz="2800" dirty="0">
                <a:solidFill>
                  <a:schemeClr val="tx1"/>
                </a:solidFill>
              </a:rPr>
              <a:t>101	1010	.  1001  011</a:t>
            </a:r>
            <a:r>
              <a:rPr lang="en-US" sz="2800" b="1" dirty="0">
                <a:solidFill>
                  <a:srgbClr val="FF0000"/>
                </a:solidFill>
              </a:rPr>
              <a:t>0</a:t>
            </a:r>
          </a:p>
          <a:p>
            <a:pPr marL="0" indent="0">
              <a:buNone/>
            </a:pPr>
            <a:endParaRPr lang="en-US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800" dirty="0"/>
              <a:t>3.  </a:t>
            </a:r>
            <a:r>
              <a:rPr lang="en-US" sz="2800" dirty="0">
                <a:solidFill>
                  <a:schemeClr val="tx1"/>
                </a:solidFill>
              </a:rPr>
              <a:t>Replace each group by equivalent hex digit: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	    5	   A	.     9	      6</a:t>
            </a:r>
            <a:r>
              <a:rPr lang="en-US" sz="2800" baseline="-25000" dirty="0">
                <a:solidFill>
                  <a:schemeClr val="tx1"/>
                </a:solidFill>
              </a:rPr>
              <a:t>16</a:t>
            </a:r>
            <a:endParaRPr lang="en-US" sz="28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16484" y="1276995"/>
          <a:ext cx="1405811" cy="5370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25">
                  <a:extLst>
                    <a:ext uri="{9D8B030D-6E8A-4147-A177-3AD203B41FA5}">
                      <a16:colId xmlns:a16="http://schemas.microsoft.com/office/drawing/2014/main" val="3136641699"/>
                    </a:ext>
                  </a:extLst>
                </a:gridCol>
                <a:gridCol w="843486">
                  <a:extLst>
                    <a:ext uri="{9D8B030D-6E8A-4147-A177-3AD203B41FA5}">
                      <a16:colId xmlns:a16="http://schemas.microsoft.com/office/drawing/2014/main" val="1383339620"/>
                    </a:ext>
                  </a:extLst>
                </a:gridCol>
              </a:tblGrid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661412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99050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59171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22702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68378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34514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2162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20626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71748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656400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15300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697318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075394160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663952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116849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306194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400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59530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36200"/>
            <a:ext cx="5472305" cy="715611"/>
          </a:xfrm>
        </p:spPr>
        <p:txBody>
          <a:bodyPr/>
          <a:lstStyle/>
          <a:p>
            <a:r>
              <a:rPr lang="en-US" dirty="0"/>
              <a:t>Example: Hex to Binary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5" y="1835775"/>
            <a:ext cx="10425305" cy="481203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Convert F1.2C</a:t>
            </a:r>
            <a:r>
              <a:rPr lang="en-US" baseline="-25000" dirty="0">
                <a:solidFill>
                  <a:schemeClr val="tx1"/>
                </a:solidFill>
              </a:rPr>
              <a:t>16</a:t>
            </a:r>
            <a:r>
              <a:rPr lang="en-US" dirty="0">
                <a:solidFill>
                  <a:schemeClr val="tx1"/>
                </a:solidFill>
              </a:rPr>
              <a:t> to Binary: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sym typeface="Wingdings"/>
            </a:endParaRPr>
          </a:p>
          <a:p>
            <a:pPr marL="0" indent="0">
              <a:buNone/>
              <a:tabLst>
                <a:tab pos="914400" algn="ctr"/>
                <a:tab pos="2286000" algn="ctr"/>
                <a:tab pos="3141663" algn="ctr"/>
                <a:tab pos="4114800" algn="ctr"/>
                <a:tab pos="5486400" algn="ctr"/>
              </a:tabLst>
            </a:pPr>
            <a:r>
              <a:rPr lang="en-US" dirty="0">
                <a:solidFill>
                  <a:schemeClr val="tx1"/>
                </a:solidFill>
              </a:rPr>
              <a:t>	F	1	.	2	C</a:t>
            </a:r>
          </a:p>
          <a:p>
            <a:pPr marL="0" indent="0">
              <a:buNone/>
              <a:tabLst>
                <a:tab pos="914400" algn="ctr"/>
                <a:tab pos="2286000" algn="ctr"/>
                <a:tab pos="3141663" algn="ctr"/>
                <a:tab pos="4114800" algn="ctr"/>
                <a:tab pos="5486400" algn="ctr"/>
              </a:tabLst>
            </a:pPr>
            <a:endParaRPr lang="en-US" dirty="0">
              <a:solidFill>
                <a:schemeClr val="tx1"/>
              </a:solidFill>
            </a:endParaRPr>
          </a:p>
          <a:p>
            <a:pPr marL="0" indent="0" defTabSz="1031875">
              <a:buNone/>
              <a:tabLst>
                <a:tab pos="914400" algn="ctr"/>
                <a:tab pos="2286000" algn="ctr"/>
                <a:tab pos="3200400" algn="ctr"/>
                <a:tab pos="4114800" algn="ctr"/>
                <a:tab pos="5486400" algn="ctr"/>
              </a:tabLst>
            </a:pPr>
            <a:r>
              <a:rPr lang="en-US" dirty="0">
                <a:solidFill>
                  <a:schemeClr val="tx1"/>
                </a:solidFill>
              </a:rPr>
              <a:t>	1111	0001	.	0010	1100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900989" y="3557337"/>
            <a:ext cx="0" cy="609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3324726" y="3557337"/>
            <a:ext cx="0" cy="609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5133474" y="3557337"/>
            <a:ext cx="0" cy="609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6537157" y="3557337"/>
            <a:ext cx="0" cy="6096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118246" y="1094005"/>
          <a:ext cx="1405811" cy="5370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25">
                  <a:extLst>
                    <a:ext uri="{9D8B030D-6E8A-4147-A177-3AD203B41FA5}">
                      <a16:colId xmlns:a16="http://schemas.microsoft.com/office/drawing/2014/main" val="3136641699"/>
                    </a:ext>
                  </a:extLst>
                </a:gridCol>
                <a:gridCol w="843486">
                  <a:extLst>
                    <a:ext uri="{9D8B030D-6E8A-4147-A177-3AD203B41FA5}">
                      <a16:colId xmlns:a16="http://schemas.microsoft.com/office/drawing/2014/main" val="1383339620"/>
                    </a:ext>
                  </a:extLst>
                </a:gridCol>
              </a:tblGrid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661412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99050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59171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22702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68378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34514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2162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20626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71748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656400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15300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697318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075394160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663952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116849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306194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400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1239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189" y="3080031"/>
            <a:ext cx="7265010" cy="697938"/>
          </a:xfrm>
        </p:spPr>
        <p:txBody>
          <a:bodyPr>
            <a:normAutofit/>
          </a:bodyPr>
          <a:lstStyle/>
          <a:p>
            <a:r>
              <a:rPr lang="en-US" dirty="0"/>
              <a:t>Example: 110101.010101</a:t>
            </a:r>
            <a:r>
              <a:rPr lang="en-US" baseline="-25000" dirty="0"/>
              <a:t>2</a:t>
            </a:r>
            <a:r>
              <a:rPr lang="en-US" dirty="0"/>
              <a:t> to Hex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02D9BF-3C85-C57A-0078-945C34DDE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889562"/>
              </p:ext>
            </p:extLst>
          </p:nvPr>
        </p:nvGraphicFramePr>
        <p:xfrm>
          <a:off x="10128806" y="936569"/>
          <a:ext cx="1405811" cy="5370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25">
                  <a:extLst>
                    <a:ext uri="{9D8B030D-6E8A-4147-A177-3AD203B41FA5}">
                      <a16:colId xmlns:a16="http://schemas.microsoft.com/office/drawing/2014/main" val="3136641699"/>
                    </a:ext>
                  </a:extLst>
                </a:gridCol>
                <a:gridCol w="843486">
                  <a:extLst>
                    <a:ext uri="{9D8B030D-6E8A-4147-A177-3AD203B41FA5}">
                      <a16:colId xmlns:a16="http://schemas.microsoft.com/office/drawing/2014/main" val="1383339620"/>
                    </a:ext>
                  </a:extLst>
                </a:gridCol>
              </a:tblGrid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661412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99050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59171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22702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68378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34514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2162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20626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71748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656400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15300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697318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075394160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663952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116849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306194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400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47146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49864"/>
            <a:ext cx="7265010" cy="697938"/>
          </a:xfrm>
        </p:spPr>
        <p:txBody>
          <a:bodyPr>
            <a:normAutofit/>
          </a:bodyPr>
          <a:lstStyle/>
          <a:p>
            <a:r>
              <a:rPr lang="en-US" dirty="0"/>
              <a:t>Example: 110101.010101</a:t>
            </a:r>
            <a:r>
              <a:rPr lang="en-US" baseline="-25000" dirty="0"/>
              <a:t>2</a:t>
            </a:r>
            <a:r>
              <a:rPr lang="en-US" dirty="0"/>
              <a:t> to Hex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936516" y="1791660"/>
            <a:ext cx="10405252" cy="48537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Use power relationship (16 = 2</a:t>
            </a:r>
            <a:r>
              <a:rPr lang="en-US" b="1" baseline="30000" dirty="0">
                <a:solidFill>
                  <a:srgbClr val="FF0000"/>
                </a:solidFill>
              </a:rPr>
              <a:t>4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endParaRPr lang="en-US" sz="13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3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Form groups of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4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bits, starting at radix point: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    11  0101  .  0101  01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</a:t>
            </a:r>
            <a:r>
              <a:rPr lang="en-US" b="1" dirty="0">
                <a:solidFill>
                  <a:srgbClr val="0070C0"/>
                </a:solidFill>
              </a:rPr>
              <a:t>00</a:t>
            </a:r>
            <a:r>
              <a:rPr lang="en-US" dirty="0">
                <a:solidFill>
                  <a:schemeClr val="tx1"/>
                </a:solidFill>
              </a:rPr>
              <a:t>11  0101  .  0101  01</a:t>
            </a:r>
            <a:r>
              <a:rPr lang="en-US" b="1" dirty="0">
                <a:solidFill>
                  <a:srgbClr val="0070C0"/>
                </a:solidFill>
              </a:rPr>
              <a:t>00</a:t>
            </a:r>
          </a:p>
          <a:p>
            <a:pPr marL="0" indent="0">
              <a:buNone/>
            </a:pPr>
            <a:endParaRPr lang="en-US" sz="13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Use Table to convert each group:</a:t>
            </a: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0011  0101  .   0101   0100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	   3       5     .      5         4</a:t>
            </a:r>
            <a:r>
              <a:rPr lang="en-US" baseline="-25000" dirty="0">
                <a:solidFill>
                  <a:schemeClr val="tx1"/>
                </a:solidFill>
              </a:rPr>
              <a:t>16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0" y="2971800"/>
          <a:ext cx="3048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174633205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25769222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50784738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3133147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289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053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532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9465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899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764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9041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4577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36737"/>
                  </a:ext>
                </a:extLst>
              </a:tr>
            </a:tbl>
          </a:graphicData>
        </a:graphic>
      </p:graphicFrame>
      <p:grpSp>
        <p:nvGrpSpPr>
          <p:cNvPr id="14" name="Group 13"/>
          <p:cNvGrpSpPr/>
          <p:nvPr/>
        </p:nvGrpSpPr>
        <p:grpSpPr>
          <a:xfrm>
            <a:off x="1922074" y="5374105"/>
            <a:ext cx="552422" cy="533400"/>
            <a:chOff x="1524000" y="4572000"/>
            <a:chExt cx="762000" cy="533400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1905000" y="4572000"/>
              <a:ext cx="0" cy="5334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1524000" y="4572000"/>
              <a:ext cx="7620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/>
          <p:cNvGrpSpPr/>
          <p:nvPr/>
        </p:nvGrpSpPr>
        <p:grpSpPr>
          <a:xfrm>
            <a:off x="2614863" y="5374105"/>
            <a:ext cx="545432" cy="533400"/>
            <a:chOff x="1524000" y="4572000"/>
            <a:chExt cx="762000" cy="533400"/>
          </a:xfrm>
        </p:grpSpPr>
        <p:cxnSp>
          <p:nvCxnSpPr>
            <p:cNvPr id="16" name="Straight Arrow Connector 15"/>
            <p:cNvCxnSpPr/>
            <p:nvPr/>
          </p:nvCxnSpPr>
          <p:spPr>
            <a:xfrm>
              <a:off x="1905000" y="4572000"/>
              <a:ext cx="0" cy="5334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1524000" y="4572000"/>
              <a:ext cx="7620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3551838" y="5374105"/>
            <a:ext cx="591036" cy="533400"/>
            <a:chOff x="1524000" y="4572000"/>
            <a:chExt cx="762000" cy="533400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1905000" y="4572000"/>
              <a:ext cx="0" cy="5334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1524000" y="4572000"/>
              <a:ext cx="7620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4360703" y="5374105"/>
            <a:ext cx="592297" cy="533400"/>
            <a:chOff x="1524000" y="4572000"/>
            <a:chExt cx="762000" cy="533400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1905000" y="4572000"/>
              <a:ext cx="0" cy="5334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524000" y="4572000"/>
              <a:ext cx="762000" cy="0"/>
            </a:xfrm>
            <a:prstGeom prst="line">
              <a:avLst/>
            </a:prstGeom>
            <a:ln w="317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Straight Arrow Connector 24"/>
          <p:cNvCxnSpPr/>
          <p:nvPr/>
        </p:nvCxnSpPr>
        <p:spPr>
          <a:xfrm flipH="1">
            <a:off x="2943726" y="2133600"/>
            <a:ext cx="1199148" cy="766011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2514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CBF680B-ADE2-45D3-AAF0-628F148C1D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Octal</a:t>
            </a:r>
          </a:p>
        </p:txBody>
      </p:sp>
    </p:spTree>
    <p:extLst>
      <p:ext uri="{BB962C8B-B14F-4D97-AF65-F5344CB8AC3E}">
        <p14:creationId xmlns:p14="http://schemas.microsoft.com/office/powerpoint/2010/main" val="30718739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948547" y="718622"/>
            <a:ext cx="4072632" cy="725168"/>
          </a:xfrm>
        </p:spPr>
        <p:txBody>
          <a:bodyPr>
            <a:normAutofit fontScale="90000"/>
          </a:bodyPr>
          <a:lstStyle/>
          <a:p>
            <a:r>
              <a:rPr lang="en-US" dirty="0"/>
              <a:t>Octal/Binary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48134" y="2199578"/>
          <a:ext cx="16657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94">
                  <a:extLst>
                    <a:ext uri="{9D8B030D-6E8A-4147-A177-3AD203B41FA5}">
                      <a16:colId xmlns:a16="http://schemas.microsoft.com/office/drawing/2014/main" val="3136641699"/>
                    </a:ext>
                  </a:extLst>
                </a:gridCol>
                <a:gridCol w="999439">
                  <a:extLst>
                    <a:ext uri="{9D8B030D-6E8A-4147-A177-3AD203B41FA5}">
                      <a16:colId xmlns:a16="http://schemas.microsoft.com/office/drawing/2014/main" val="1383339620"/>
                    </a:ext>
                  </a:extLst>
                </a:gridCol>
              </a:tblGrid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Octal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66141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9905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59171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2270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68378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34514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216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20626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71748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783263" y="2288986"/>
            <a:ext cx="750077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Octal and hexadecimal is a compromise between binary and decimal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Easier to read for humans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Was more important in the early days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Octal is not really used a lot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One the rights of a Unix/Linux file it is used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7638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95" y="753109"/>
            <a:ext cx="7417410" cy="634534"/>
          </a:xfrm>
        </p:spPr>
        <p:txBody>
          <a:bodyPr>
            <a:normAutofit/>
          </a:bodyPr>
          <a:lstStyle/>
          <a:p>
            <a:r>
              <a:rPr lang="en-US" dirty="0"/>
              <a:t>Converting Octal (Base 8) to Hex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495" y="1541753"/>
            <a:ext cx="104052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Hard way: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Convert octal to decimal (polynomial evaluation)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Convert decimal to hex (repeated division/multiplication)</a:t>
            </a:r>
          </a:p>
        </p:txBody>
      </p:sp>
    </p:spTree>
    <p:extLst>
      <p:ext uri="{BB962C8B-B14F-4D97-AF65-F5344CB8AC3E}">
        <p14:creationId xmlns:p14="http://schemas.microsoft.com/office/powerpoint/2010/main" val="25564336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95" y="753109"/>
            <a:ext cx="7417410" cy="634534"/>
          </a:xfrm>
        </p:spPr>
        <p:txBody>
          <a:bodyPr>
            <a:normAutofit/>
          </a:bodyPr>
          <a:lstStyle/>
          <a:p>
            <a:r>
              <a:rPr lang="en-US" dirty="0"/>
              <a:t>Converting Octal (Base 8) to Hex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495" y="1541753"/>
            <a:ext cx="1040525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Easy way: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Convert octal to binary using short-cut (8 = 2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3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Convert binary to hex using short-cut (16 = 2</a:t>
            </a:r>
            <a:r>
              <a:rPr kumimoji="0" lang="en-US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4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394249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95" y="753109"/>
            <a:ext cx="7417410" cy="634534"/>
          </a:xfrm>
        </p:spPr>
        <p:txBody>
          <a:bodyPr>
            <a:normAutofit/>
          </a:bodyPr>
          <a:lstStyle/>
          <a:p>
            <a:r>
              <a:rPr lang="en-US" dirty="0"/>
              <a:t>Converting Octal (Base 8) to Hex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495" y="1541753"/>
            <a:ext cx="1040525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596641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96641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Example: 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12.65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8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 ?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16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12.65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8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 = 001 010 . 110 101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 = 001010.110101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  <a:sym typeface="Wingdings" panose="05000000000000000000" pitchFamily="2" charset="2"/>
              </a:rPr>
              <a:t>2</a:t>
            </a: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514350" marR="0" lvl="0" indent="-5143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001010.110101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0000 1010 . 1101 0100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2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= 0A.D4</a:t>
            </a:r>
            <a:r>
              <a: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0119332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8495" y="753109"/>
            <a:ext cx="7417410" cy="634534"/>
          </a:xfrm>
        </p:spPr>
        <p:txBody>
          <a:bodyPr>
            <a:normAutofit/>
          </a:bodyPr>
          <a:lstStyle/>
          <a:p>
            <a:r>
              <a:rPr lang="en-US" dirty="0"/>
              <a:t>Converting Octal (Base 8) to Hex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8495" y="2345057"/>
            <a:ext cx="104052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Convert octal to binary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Convert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binary to hex </a:t>
            </a:r>
          </a:p>
        </p:txBody>
      </p:sp>
    </p:spTree>
    <p:extLst>
      <p:ext uri="{BB962C8B-B14F-4D97-AF65-F5344CB8AC3E}">
        <p14:creationId xmlns:p14="http://schemas.microsoft.com/office/powerpoint/2010/main" val="15554322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071" y="729660"/>
            <a:ext cx="5868813" cy="634421"/>
          </a:xfrm>
        </p:spPr>
        <p:txBody>
          <a:bodyPr>
            <a:normAutofit/>
          </a:bodyPr>
          <a:lstStyle/>
          <a:p>
            <a:r>
              <a:rPr lang="en-US" dirty="0"/>
              <a:t>Convert 21.34</a:t>
            </a:r>
            <a:r>
              <a:rPr lang="en-US" baseline="-25000" dirty="0"/>
              <a:t>8</a:t>
            </a:r>
            <a:r>
              <a:rPr lang="en-US" dirty="0"/>
              <a:t> to Binary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55267" y="2291264"/>
            <a:ext cx="3962401" cy="2220279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1941513" algn="ctr"/>
              </a:tabLst>
            </a:pPr>
            <a:r>
              <a:rPr lang="en-US" dirty="0"/>
              <a:t>               </a:t>
            </a:r>
            <a:r>
              <a:rPr lang="en-US" dirty="0">
                <a:solidFill>
                  <a:schemeClr val="tx1"/>
                </a:solidFill>
              </a:rPr>
              <a:t>2     1     .    3     4</a:t>
            </a:r>
            <a:r>
              <a:rPr lang="en-US" baseline="-250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tabLst>
                <a:tab pos="1941513" algn="ctr"/>
              </a:tabLst>
            </a:pPr>
            <a:r>
              <a:rPr lang="en-US" dirty="0">
                <a:solidFill>
                  <a:schemeClr val="tx1"/>
                </a:solidFill>
              </a:rPr>
              <a:t>	</a:t>
            </a:r>
          </a:p>
          <a:p>
            <a:pPr marL="0" indent="0">
              <a:buNone/>
              <a:tabLst>
                <a:tab pos="1941513" algn="ctr"/>
              </a:tabLst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tabLst>
                <a:tab pos="1941513" algn="ctr"/>
              </a:tabLst>
            </a:pPr>
            <a:r>
              <a:rPr lang="en-US" dirty="0">
                <a:solidFill>
                  <a:schemeClr val="tx1"/>
                </a:solidFill>
              </a:rPr>
              <a:t>             010 001   .  011 100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6" name="Straight Connector 35"/>
          <p:cNvCxnSpPr/>
          <p:nvPr/>
        </p:nvCxnSpPr>
        <p:spPr>
          <a:xfrm>
            <a:off x="8360916" y="2902211"/>
            <a:ext cx="0" cy="685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8804528" y="2902211"/>
            <a:ext cx="0" cy="685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467831" y="2902211"/>
            <a:ext cx="0" cy="685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6990402" y="2902211"/>
            <a:ext cx="0" cy="685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2684442" y="1960243"/>
          <a:ext cx="16657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94">
                  <a:extLst>
                    <a:ext uri="{9D8B030D-6E8A-4147-A177-3AD203B41FA5}">
                      <a16:colId xmlns:a16="http://schemas.microsoft.com/office/drawing/2014/main" val="3136641699"/>
                    </a:ext>
                  </a:extLst>
                </a:gridCol>
                <a:gridCol w="999439">
                  <a:extLst>
                    <a:ext uri="{9D8B030D-6E8A-4147-A177-3AD203B41FA5}">
                      <a16:colId xmlns:a16="http://schemas.microsoft.com/office/drawing/2014/main" val="1383339620"/>
                    </a:ext>
                  </a:extLst>
                </a:gridCol>
              </a:tblGrid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Octal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66141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9905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59171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2270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68378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34514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216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20626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71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7245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1640305" y="1527091"/>
            <a:ext cx="4275221" cy="639762"/>
          </a:xfrm>
          <a:solidFill>
            <a:schemeClr val="tx1"/>
          </a:solidFill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  <a:r>
              <a:rPr lang="en-US" baseline="30000" dirty="0">
                <a:solidFill>
                  <a:schemeClr val="bg1"/>
                </a:solidFill>
              </a:rPr>
              <a:t>st</a:t>
            </a:r>
            <a:r>
              <a:rPr lang="en-US" dirty="0">
                <a:solidFill>
                  <a:schemeClr val="bg1"/>
                </a:solidFill>
              </a:rPr>
              <a:t>: Base 16 to base 2 (16=2</a:t>
            </a:r>
            <a:r>
              <a:rPr lang="en-US" baseline="30000" dirty="0">
                <a:solidFill>
                  <a:schemeClr val="bg1"/>
                </a:solidFill>
              </a:rPr>
              <a:t>4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5314445" y="2947737"/>
            <a:ext cx="1486023" cy="760961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5071" y="729660"/>
            <a:ext cx="5868813" cy="634421"/>
          </a:xfrm>
        </p:spPr>
        <p:txBody>
          <a:bodyPr>
            <a:normAutofit fontScale="90000"/>
          </a:bodyPr>
          <a:lstStyle/>
          <a:p>
            <a:r>
              <a:rPr lang="en-US" dirty="0"/>
              <a:t>Convert AB.CD</a:t>
            </a:r>
            <a:r>
              <a:rPr lang="en-US" baseline="-25000" dirty="0"/>
              <a:t>16</a:t>
            </a:r>
            <a:r>
              <a:rPr lang="en-US" dirty="0"/>
              <a:t> to base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1699954" y="2166853"/>
            <a:ext cx="3836214" cy="395128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  <a:tabLst>
                <a:tab pos="457200" algn="ctr"/>
                <a:tab pos="1371600" algn="ctr"/>
                <a:tab pos="1828800" algn="ctr"/>
                <a:tab pos="2286000" algn="ctr"/>
                <a:tab pos="3200400" algn="ctr"/>
              </a:tabLst>
            </a:pP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A	B	.	C	D</a:t>
            </a:r>
            <a:r>
              <a:rPr lang="en-US" baseline="-25000" dirty="0">
                <a:solidFill>
                  <a:schemeClr val="tx1"/>
                </a:solidFill>
              </a:rPr>
              <a:t>16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tabLst>
                <a:tab pos="457200" algn="ctr"/>
                <a:tab pos="1371600" algn="ctr"/>
                <a:tab pos="1828800" algn="ctr"/>
                <a:tab pos="2286000" algn="ctr"/>
                <a:tab pos="3200400" algn="ctr"/>
              </a:tabLst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tabLst>
                <a:tab pos="457200" algn="ctr"/>
                <a:tab pos="1371600" algn="ctr"/>
                <a:tab pos="1828800" algn="ctr"/>
                <a:tab pos="2286000" algn="ctr"/>
                <a:tab pos="3200400" algn="ctr"/>
              </a:tabLst>
            </a:pPr>
            <a:r>
              <a:rPr lang="en-US" dirty="0">
                <a:solidFill>
                  <a:schemeClr val="tx1"/>
                </a:solidFill>
              </a:rPr>
              <a:t>	1010	1011	.	1100	1101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69302" y="1526686"/>
            <a:ext cx="5529278" cy="639762"/>
          </a:xfrm>
          <a:solidFill>
            <a:schemeClr val="tx1"/>
          </a:solidFill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  <a:r>
              <a:rPr lang="en-US" baseline="30000" dirty="0">
                <a:solidFill>
                  <a:schemeClr val="bg1"/>
                </a:solidFill>
              </a:rPr>
              <a:t>nd</a:t>
            </a:r>
            <a:r>
              <a:rPr lang="en-US" dirty="0">
                <a:solidFill>
                  <a:schemeClr val="bg1"/>
                </a:solidFill>
              </a:rPr>
              <a:t>: Base 2 to base 8 (8=2</a:t>
            </a:r>
            <a:r>
              <a:rPr lang="en-US" baseline="30000" dirty="0">
                <a:solidFill>
                  <a:schemeClr val="bg1"/>
                </a:solidFill>
              </a:rPr>
              <a:t>3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3702" y="2303796"/>
            <a:ext cx="3962401" cy="395128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  <a:tabLst>
                <a:tab pos="1941513" algn="ctr"/>
              </a:tabLst>
            </a:pP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10101011.11001101</a:t>
            </a:r>
            <a:r>
              <a:rPr lang="en-US" baseline="-25000" dirty="0">
                <a:solidFill>
                  <a:schemeClr val="tx1"/>
                </a:solidFill>
              </a:rPr>
              <a:t>2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tabLst>
                <a:tab pos="1828800" algn="ctr"/>
              </a:tabLst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tabLst>
                <a:tab pos="284163" algn="ctr"/>
                <a:tab pos="914400" algn="ctr"/>
                <a:tab pos="1544638" algn="ctr"/>
                <a:tab pos="2225675" algn="ctr"/>
                <a:tab pos="2855913" algn="ctr"/>
                <a:tab pos="3484563" algn="ctr"/>
              </a:tabLst>
            </a:pPr>
            <a:r>
              <a:rPr lang="en-US" dirty="0">
                <a:solidFill>
                  <a:schemeClr val="tx1"/>
                </a:solidFill>
              </a:rPr>
              <a:t>	010	101	011	110	011	010</a:t>
            </a:r>
          </a:p>
          <a:p>
            <a:pPr marL="0" indent="0">
              <a:buNone/>
              <a:tabLst>
                <a:tab pos="1828800" algn="ctr"/>
              </a:tabLst>
            </a:pPr>
            <a:endParaRPr lang="en-US" sz="3200" dirty="0"/>
          </a:p>
          <a:p>
            <a:pPr marL="0" indent="0">
              <a:buNone/>
              <a:tabLst>
                <a:tab pos="284163" algn="ctr"/>
                <a:tab pos="914400" algn="ctr"/>
                <a:tab pos="1544638" algn="ctr"/>
                <a:tab pos="2225675" algn="ctr"/>
                <a:tab pos="2855913" algn="ctr"/>
                <a:tab pos="3484563" algn="ctr"/>
              </a:tabLst>
            </a:pPr>
            <a:r>
              <a:rPr lang="en-US" dirty="0"/>
              <a:t>	</a:t>
            </a:r>
            <a:r>
              <a:rPr lang="en-US" dirty="0">
                <a:solidFill>
                  <a:srgbClr val="00B0F0"/>
                </a:solidFill>
              </a:rPr>
              <a:t>0</a:t>
            </a:r>
            <a:r>
              <a:rPr lang="en-US" dirty="0">
                <a:solidFill>
                  <a:schemeClr val="tx1"/>
                </a:solidFill>
              </a:rPr>
              <a:t>10	101	011	110	011	01</a:t>
            </a:r>
            <a:r>
              <a:rPr lang="en-US" dirty="0">
                <a:solidFill>
                  <a:srgbClr val="00B0F0"/>
                </a:solidFill>
              </a:rPr>
              <a:t>0</a:t>
            </a:r>
          </a:p>
          <a:p>
            <a:pPr marL="0" indent="0">
              <a:buNone/>
              <a:tabLst>
                <a:tab pos="284163" algn="ctr"/>
                <a:tab pos="914400" algn="ctr"/>
                <a:tab pos="1544638" algn="ctr"/>
                <a:tab pos="2225675" algn="ctr"/>
                <a:tab pos="2855913" algn="ctr"/>
                <a:tab pos="3484563" algn="ctr"/>
              </a:tabLst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  <a:tabLst>
                <a:tab pos="284163" algn="ctr"/>
                <a:tab pos="914400" algn="ctr"/>
                <a:tab pos="1544638" algn="ctr"/>
                <a:tab pos="2225675" algn="ctr"/>
                <a:tab pos="2855913" algn="ctr"/>
                <a:tab pos="3484563" algn="ctr"/>
              </a:tabLst>
            </a:pP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2	5	3	6	3	2</a:t>
            </a:r>
            <a:r>
              <a:rPr lang="en-US" baseline="-25000" dirty="0">
                <a:solidFill>
                  <a:schemeClr val="tx1"/>
                </a:solidFill>
              </a:rPr>
              <a:t>8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217837" y="3033963"/>
            <a:ext cx="0" cy="5334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3156300" y="3006027"/>
            <a:ext cx="0" cy="5334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4062679" y="3006027"/>
            <a:ext cx="0" cy="5334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936974" y="3006027"/>
            <a:ext cx="0" cy="53340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6133329" y="5067477"/>
            <a:ext cx="457200" cy="457200"/>
            <a:chOff x="4800600" y="4800600"/>
            <a:chExt cx="457200" cy="457200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5029200" y="4800600"/>
              <a:ext cx="0" cy="45720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800600" y="4800600"/>
              <a:ext cx="457200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6768806" y="5071488"/>
            <a:ext cx="457200" cy="457200"/>
            <a:chOff x="4800600" y="4800600"/>
            <a:chExt cx="457200" cy="457200"/>
          </a:xfrm>
        </p:grpSpPr>
        <p:cxnSp>
          <p:nvCxnSpPr>
            <p:cNvPr id="19" name="Straight Arrow Connector 18"/>
            <p:cNvCxnSpPr/>
            <p:nvPr/>
          </p:nvCxnSpPr>
          <p:spPr>
            <a:xfrm>
              <a:off x="5029200" y="4800600"/>
              <a:ext cx="0" cy="45720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4800600" y="4800600"/>
              <a:ext cx="457200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7404283" y="5067477"/>
            <a:ext cx="457200" cy="457200"/>
            <a:chOff x="4800600" y="4800600"/>
            <a:chExt cx="457200" cy="457200"/>
          </a:xfrm>
        </p:grpSpPr>
        <p:cxnSp>
          <p:nvCxnSpPr>
            <p:cNvPr id="22" name="Straight Arrow Connector 21"/>
            <p:cNvCxnSpPr/>
            <p:nvPr/>
          </p:nvCxnSpPr>
          <p:spPr>
            <a:xfrm>
              <a:off x="5029200" y="4800600"/>
              <a:ext cx="0" cy="45720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4800600" y="4800600"/>
              <a:ext cx="457200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8092278" y="5067477"/>
            <a:ext cx="457200" cy="457200"/>
            <a:chOff x="4800600" y="4800600"/>
            <a:chExt cx="457200" cy="457200"/>
          </a:xfrm>
        </p:grpSpPr>
        <p:cxnSp>
          <p:nvCxnSpPr>
            <p:cNvPr id="25" name="Straight Arrow Connector 24"/>
            <p:cNvCxnSpPr/>
            <p:nvPr/>
          </p:nvCxnSpPr>
          <p:spPr>
            <a:xfrm>
              <a:off x="5029200" y="4800600"/>
              <a:ext cx="0" cy="45720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4800600" y="4800600"/>
              <a:ext cx="457200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8727756" y="5067477"/>
            <a:ext cx="457200" cy="457200"/>
            <a:chOff x="4800600" y="4800600"/>
            <a:chExt cx="457200" cy="457200"/>
          </a:xfrm>
        </p:grpSpPr>
        <p:cxnSp>
          <p:nvCxnSpPr>
            <p:cNvPr id="28" name="Straight Arrow Connector 27"/>
            <p:cNvCxnSpPr/>
            <p:nvPr/>
          </p:nvCxnSpPr>
          <p:spPr>
            <a:xfrm>
              <a:off x="5029200" y="4800600"/>
              <a:ext cx="0" cy="45720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4800600" y="4800600"/>
              <a:ext cx="457200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>
          <a:xfrm>
            <a:off x="9368016" y="5067477"/>
            <a:ext cx="417665" cy="457200"/>
            <a:chOff x="4800600" y="4800600"/>
            <a:chExt cx="457200" cy="457200"/>
          </a:xfrm>
        </p:grpSpPr>
        <p:cxnSp>
          <p:nvCxnSpPr>
            <p:cNvPr id="31" name="Straight Arrow Connector 30"/>
            <p:cNvCxnSpPr/>
            <p:nvPr/>
          </p:nvCxnSpPr>
          <p:spPr>
            <a:xfrm>
              <a:off x="5029200" y="4800600"/>
              <a:ext cx="0" cy="457200"/>
            </a:xfrm>
            <a:prstGeom prst="straightConnector1">
              <a:avLst/>
            </a:prstGeom>
            <a:ln w="222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4800600" y="4800600"/>
              <a:ext cx="457200" cy="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7790841" y="5647039"/>
            <a:ext cx="4572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6302" y="3687696"/>
            <a:ext cx="457200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.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8021051" y="2634916"/>
            <a:ext cx="0" cy="685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8413097" y="2638926"/>
            <a:ext cx="0" cy="685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8789256" y="2590800"/>
            <a:ext cx="0" cy="685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524955" y="2614863"/>
            <a:ext cx="0" cy="685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7136537" y="2638926"/>
            <a:ext cx="0" cy="6858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own Arrow 40"/>
          <p:cNvSpPr/>
          <p:nvPr/>
        </p:nvSpPr>
        <p:spPr>
          <a:xfrm>
            <a:off x="7790841" y="4085662"/>
            <a:ext cx="381000" cy="533400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315534" y="1527091"/>
          <a:ext cx="132477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909">
                  <a:extLst>
                    <a:ext uri="{9D8B030D-6E8A-4147-A177-3AD203B41FA5}">
                      <a16:colId xmlns:a16="http://schemas.microsoft.com/office/drawing/2014/main" val="3136641699"/>
                    </a:ext>
                  </a:extLst>
                </a:gridCol>
                <a:gridCol w="794861">
                  <a:extLst>
                    <a:ext uri="{9D8B030D-6E8A-4147-A177-3AD203B41FA5}">
                      <a16:colId xmlns:a16="http://schemas.microsoft.com/office/drawing/2014/main" val="1383339620"/>
                    </a:ext>
                  </a:extLst>
                </a:gridCol>
              </a:tblGrid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66141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9905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59171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2270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68378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34514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216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20626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71748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65640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1530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697318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07539416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66395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116849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306194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400677"/>
                  </a:ext>
                </a:extLst>
              </a:tr>
            </a:tbl>
          </a:graphicData>
        </a:graphic>
      </p:graphicFrame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10105157" y="2624053"/>
          <a:ext cx="16657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94">
                  <a:extLst>
                    <a:ext uri="{9D8B030D-6E8A-4147-A177-3AD203B41FA5}">
                      <a16:colId xmlns:a16="http://schemas.microsoft.com/office/drawing/2014/main" val="3136641699"/>
                    </a:ext>
                  </a:extLst>
                </a:gridCol>
                <a:gridCol w="999439">
                  <a:extLst>
                    <a:ext uri="{9D8B030D-6E8A-4147-A177-3AD203B41FA5}">
                      <a16:colId xmlns:a16="http://schemas.microsoft.com/office/drawing/2014/main" val="1383339620"/>
                    </a:ext>
                  </a:extLst>
                </a:gridCol>
              </a:tblGrid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Octal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66141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9905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59171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2270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68378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34514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216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20626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71748"/>
                  </a:ext>
                </a:extLst>
              </a:tr>
            </a:tbl>
          </a:graphicData>
        </a:graphic>
      </p:graphicFrame>
      <p:cxnSp>
        <p:nvCxnSpPr>
          <p:cNvPr id="52" name="Straight Arrow Connector 51"/>
          <p:cNvCxnSpPr/>
          <p:nvPr/>
        </p:nvCxnSpPr>
        <p:spPr>
          <a:xfrm flipV="1">
            <a:off x="1640304" y="3900582"/>
            <a:ext cx="570009" cy="1118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1640304" y="3887751"/>
            <a:ext cx="1466130" cy="14302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V="1">
            <a:off x="1640304" y="3887751"/>
            <a:ext cx="2459735" cy="1759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1640304" y="3900582"/>
            <a:ext cx="3320252" cy="2055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730983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1262" y="747482"/>
            <a:ext cx="5880735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763645" algn="l"/>
              </a:tabLst>
            </a:pPr>
            <a:r>
              <a:rPr spc="-5" dirty="0"/>
              <a:t>Convert</a:t>
            </a:r>
            <a:r>
              <a:rPr spc="25" dirty="0"/>
              <a:t> </a:t>
            </a:r>
            <a:r>
              <a:rPr dirty="0"/>
              <a:t>FA.CE</a:t>
            </a:r>
            <a:r>
              <a:rPr sz="4350" baseline="-19157" dirty="0"/>
              <a:t>16	</a:t>
            </a:r>
            <a:r>
              <a:rPr dirty="0"/>
              <a:t>to</a:t>
            </a:r>
            <a:r>
              <a:rPr spc="-25" dirty="0"/>
              <a:t> </a:t>
            </a:r>
            <a:r>
              <a:rPr spc="-5" dirty="0"/>
              <a:t>base</a:t>
            </a:r>
            <a:r>
              <a:rPr spc="-40" dirty="0"/>
              <a:t> </a:t>
            </a:r>
            <a:r>
              <a:rPr dirty="0"/>
              <a:t>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1200" y="2349245"/>
            <a:ext cx="4040504" cy="4809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10489" rIns="0" bIns="0" rtlCol="0">
            <a:spAutoFit/>
          </a:bodyPr>
          <a:lstStyle/>
          <a:p>
            <a:pPr marL="206375" marR="0" lvl="0" indent="0" algn="l" defTabSz="914400" rtl="0" eaLnBrk="1" fontAlgn="auto" latinLnBrk="0" hangingPunct="1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400" b="1" i="0" u="none" strike="noStrike" kern="1200" cap="none" spc="-7" normalizeH="0" baseline="24305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Base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16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400" b="1" i="0" u="none" strike="noStrike" kern="1200" cap="none" spc="-2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base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(16=2</a:t>
            </a:r>
            <a:r>
              <a:rPr kumimoji="0" sz="2400" b="1" i="0" u="none" strike="noStrike" kern="1200" cap="none" spc="-7" normalizeH="0" baseline="24305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57140" y="3505009"/>
            <a:ext cx="431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0" i="0" u="none" strike="noStrike" kern="1200" cap="none" spc="0" normalizeH="0" baseline="11574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16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83766" y="3441001"/>
            <a:ext cx="3499485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622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72210" algn="l"/>
                <a:tab pos="1678939" algn="l"/>
                <a:tab pos="2093595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	A	.	C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951865" algn="l"/>
                <a:tab pos="2729230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1111	1010</a:t>
            </a:r>
            <a:r>
              <a:rPr kumimoji="0" sz="2400" b="0" i="0" u="none" strike="noStrike" kern="1200" cap="none" spc="3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r>
              <a:rPr kumimoji="0" sz="2400" b="0" i="0" u="none" strike="noStrike" kern="1200" cap="none" spc="3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1100	1110</a:t>
            </a:r>
            <a:r>
              <a:rPr kumimoji="0" sz="2400" b="0" i="0" u="none" strike="noStrike" kern="1200" cap="none" spc="-7" normalizeH="0" baseline="-1736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endParaRPr kumimoji="0" sz="2400" b="0" i="0" u="none" strike="noStrike" kern="1200" cap="none" spc="0" normalizeH="0" baseline="-17361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1778" y="5562409"/>
            <a:ext cx="2719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11111010.11001110</a:t>
            </a:r>
            <a:r>
              <a:rPr kumimoji="0" sz="2400" b="0" i="0" u="none" strike="noStrike" kern="1200" cap="none" spc="-7" normalizeH="0" baseline="-1736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endParaRPr kumimoji="0" sz="2400" b="0" i="0" u="none" strike="noStrike" kern="1200" cap="none" spc="0" normalizeH="0" baseline="-17361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69026" y="2349245"/>
            <a:ext cx="4041775" cy="4809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10489" rIns="0" bIns="0" rtlCol="0">
            <a:spAutoFit/>
          </a:bodyPr>
          <a:lstStyle/>
          <a:p>
            <a:pPr marL="327025" marR="0" lvl="0" indent="0" algn="l" defTabSz="914400" rtl="0" eaLnBrk="1" fontAlgn="auto" latinLnBrk="0" hangingPunct="1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400" b="1" i="0" u="none" strike="noStrike" kern="1200" cap="none" spc="-7" normalizeH="0" baseline="24305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nd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Base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400" b="1" i="0" u="none" strike="noStrike" kern="1200" cap="none" spc="-2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base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8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(8=2</a:t>
            </a:r>
            <a:r>
              <a:rPr kumimoji="0" sz="2400" b="1" i="0" u="none" strike="noStrike" kern="1200" cap="none" spc="-7" normalizeH="0" baseline="24305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76500" y="3862133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26987" y="457200"/>
                </a:moveTo>
                <a:lnTo>
                  <a:pt x="0" y="457200"/>
                </a:lnTo>
                <a:lnTo>
                  <a:pt x="38100" y="533400"/>
                </a:lnTo>
                <a:lnTo>
                  <a:pt x="69850" y="469900"/>
                </a:lnTo>
                <a:lnTo>
                  <a:pt x="26987" y="469900"/>
                </a:lnTo>
                <a:lnTo>
                  <a:pt x="26987" y="457200"/>
                </a:lnTo>
                <a:close/>
              </a:path>
              <a:path w="76200" h="533400">
                <a:moveTo>
                  <a:pt x="49211" y="0"/>
                </a:moveTo>
                <a:lnTo>
                  <a:pt x="26986" y="0"/>
                </a:lnTo>
                <a:lnTo>
                  <a:pt x="26987" y="469900"/>
                </a:lnTo>
                <a:lnTo>
                  <a:pt x="49212" y="469900"/>
                </a:lnTo>
                <a:lnTo>
                  <a:pt x="49211" y="0"/>
                </a:lnTo>
                <a:close/>
              </a:path>
              <a:path w="76200" h="533400">
                <a:moveTo>
                  <a:pt x="76200" y="457200"/>
                </a:moveTo>
                <a:lnTo>
                  <a:pt x="49212" y="457200"/>
                </a:lnTo>
                <a:lnTo>
                  <a:pt x="49212" y="469900"/>
                </a:lnTo>
                <a:lnTo>
                  <a:pt x="69850" y="469900"/>
                </a:lnTo>
                <a:lnTo>
                  <a:pt x="76200" y="4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90901" y="3862133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26987" y="457200"/>
                </a:moveTo>
                <a:lnTo>
                  <a:pt x="0" y="457200"/>
                </a:lnTo>
                <a:lnTo>
                  <a:pt x="38100" y="533400"/>
                </a:lnTo>
                <a:lnTo>
                  <a:pt x="69850" y="469900"/>
                </a:lnTo>
                <a:lnTo>
                  <a:pt x="26987" y="469900"/>
                </a:lnTo>
                <a:lnTo>
                  <a:pt x="26987" y="457200"/>
                </a:lnTo>
                <a:close/>
              </a:path>
              <a:path w="76200" h="533400">
                <a:moveTo>
                  <a:pt x="49211" y="0"/>
                </a:moveTo>
                <a:lnTo>
                  <a:pt x="26986" y="0"/>
                </a:lnTo>
                <a:lnTo>
                  <a:pt x="26987" y="469900"/>
                </a:lnTo>
                <a:lnTo>
                  <a:pt x="49212" y="469900"/>
                </a:lnTo>
                <a:lnTo>
                  <a:pt x="49211" y="0"/>
                </a:lnTo>
                <a:close/>
              </a:path>
              <a:path w="76200" h="533400">
                <a:moveTo>
                  <a:pt x="76200" y="457200"/>
                </a:moveTo>
                <a:lnTo>
                  <a:pt x="49212" y="457200"/>
                </a:lnTo>
                <a:lnTo>
                  <a:pt x="49212" y="469900"/>
                </a:lnTo>
                <a:lnTo>
                  <a:pt x="69850" y="469900"/>
                </a:lnTo>
                <a:lnTo>
                  <a:pt x="76200" y="4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05301" y="3862133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26987" y="457200"/>
                </a:moveTo>
                <a:lnTo>
                  <a:pt x="0" y="457200"/>
                </a:lnTo>
                <a:lnTo>
                  <a:pt x="38100" y="533400"/>
                </a:lnTo>
                <a:lnTo>
                  <a:pt x="69850" y="469900"/>
                </a:lnTo>
                <a:lnTo>
                  <a:pt x="26987" y="469900"/>
                </a:lnTo>
                <a:lnTo>
                  <a:pt x="26987" y="457200"/>
                </a:lnTo>
                <a:close/>
              </a:path>
              <a:path w="76200" h="533400">
                <a:moveTo>
                  <a:pt x="49211" y="0"/>
                </a:moveTo>
                <a:lnTo>
                  <a:pt x="26986" y="0"/>
                </a:lnTo>
                <a:lnTo>
                  <a:pt x="26987" y="469900"/>
                </a:lnTo>
                <a:lnTo>
                  <a:pt x="49212" y="469900"/>
                </a:lnTo>
                <a:lnTo>
                  <a:pt x="49211" y="0"/>
                </a:lnTo>
                <a:close/>
              </a:path>
              <a:path w="76200" h="533400">
                <a:moveTo>
                  <a:pt x="76200" y="457200"/>
                </a:moveTo>
                <a:lnTo>
                  <a:pt x="49212" y="457200"/>
                </a:lnTo>
                <a:lnTo>
                  <a:pt x="49212" y="469900"/>
                </a:lnTo>
                <a:lnTo>
                  <a:pt x="69850" y="469900"/>
                </a:lnTo>
                <a:lnTo>
                  <a:pt x="76200" y="4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19701" y="3862133"/>
            <a:ext cx="76200" cy="533400"/>
          </a:xfrm>
          <a:custGeom>
            <a:avLst/>
            <a:gdLst/>
            <a:ahLst/>
            <a:cxnLst/>
            <a:rect l="l" t="t" r="r" b="b"/>
            <a:pathLst>
              <a:path w="76200" h="533400">
                <a:moveTo>
                  <a:pt x="26987" y="457200"/>
                </a:moveTo>
                <a:lnTo>
                  <a:pt x="0" y="457200"/>
                </a:lnTo>
                <a:lnTo>
                  <a:pt x="38100" y="533400"/>
                </a:lnTo>
                <a:lnTo>
                  <a:pt x="69850" y="469900"/>
                </a:lnTo>
                <a:lnTo>
                  <a:pt x="26987" y="469900"/>
                </a:lnTo>
                <a:lnTo>
                  <a:pt x="26987" y="457200"/>
                </a:lnTo>
                <a:close/>
              </a:path>
              <a:path w="76200" h="533400">
                <a:moveTo>
                  <a:pt x="49211" y="0"/>
                </a:moveTo>
                <a:lnTo>
                  <a:pt x="26986" y="0"/>
                </a:lnTo>
                <a:lnTo>
                  <a:pt x="26987" y="469900"/>
                </a:lnTo>
                <a:lnTo>
                  <a:pt x="49212" y="469900"/>
                </a:lnTo>
                <a:lnTo>
                  <a:pt x="49211" y="0"/>
                </a:lnTo>
                <a:close/>
              </a:path>
              <a:path w="76200" h="533400">
                <a:moveTo>
                  <a:pt x="76200" y="457200"/>
                </a:moveTo>
                <a:lnTo>
                  <a:pt x="49212" y="457200"/>
                </a:lnTo>
                <a:lnTo>
                  <a:pt x="49212" y="469900"/>
                </a:lnTo>
                <a:lnTo>
                  <a:pt x="69850" y="469900"/>
                </a:lnTo>
                <a:lnTo>
                  <a:pt x="76200" y="4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721100" y="4916233"/>
            <a:ext cx="406400" cy="558800"/>
            <a:chOff x="2197100" y="4102100"/>
            <a:chExt cx="406400" cy="558800"/>
          </a:xfrm>
        </p:grpSpPr>
        <p:sp>
          <p:nvSpPr>
            <p:cNvPr id="13" name="object 13"/>
            <p:cNvSpPr/>
            <p:nvPr/>
          </p:nvSpPr>
          <p:spPr>
            <a:xfrm>
              <a:off x="2209800" y="4114800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285750" y="0"/>
                  </a:moveTo>
                  <a:lnTo>
                    <a:pt x="95250" y="0"/>
                  </a:lnTo>
                  <a:lnTo>
                    <a:pt x="95250" y="342900"/>
                  </a:lnTo>
                  <a:lnTo>
                    <a:pt x="0" y="342900"/>
                  </a:lnTo>
                  <a:lnTo>
                    <a:pt x="190500" y="533400"/>
                  </a:lnTo>
                  <a:lnTo>
                    <a:pt x="381000" y="342900"/>
                  </a:lnTo>
                  <a:lnTo>
                    <a:pt x="285750" y="34290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209800" y="4114800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0" y="342900"/>
                  </a:moveTo>
                  <a:lnTo>
                    <a:pt x="95250" y="342900"/>
                  </a:lnTo>
                  <a:lnTo>
                    <a:pt x="95250" y="0"/>
                  </a:lnTo>
                  <a:lnTo>
                    <a:pt x="285750" y="0"/>
                  </a:lnTo>
                  <a:lnTo>
                    <a:pt x="285750" y="342900"/>
                  </a:lnTo>
                  <a:lnTo>
                    <a:pt x="381000" y="342900"/>
                  </a:lnTo>
                  <a:lnTo>
                    <a:pt x="190500" y="533400"/>
                  </a:lnTo>
                  <a:lnTo>
                    <a:pt x="0" y="342900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5" name="object 15"/>
          <p:cNvSpPr/>
          <p:nvPr/>
        </p:nvSpPr>
        <p:spPr>
          <a:xfrm>
            <a:off x="6515101" y="5709618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26987" y="380999"/>
                </a:moveTo>
                <a:lnTo>
                  <a:pt x="0" y="380999"/>
                </a:lnTo>
                <a:lnTo>
                  <a:pt x="38100" y="457199"/>
                </a:lnTo>
                <a:lnTo>
                  <a:pt x="69849" y="393701"/>
                </a:lnTo>
                <a:lnTo>
                  <a:pt x="26987" y="393701"/>
                </a:lnTo>
                <a:lnTo>
                  <a:pt x="26987" y="380999"/>
                </a:lnTo>
                <a:close/>
              </a:path>
              <a:path w="76200" h="457200">
                <a:moveTo>
                  <a:pt x="49211" y="0"/>
                </a:moveTo>
                <a:lnTo>
                  <a:pt x="26986" y="0"/>
                </a:lnTo>
                <a:lnTo>
                  <a:pt x="26987" y="393701"/>
                </a:lnTo>
                <a:lnTo>
                  <a:pt x="49212" y="393699"/>
                </a:lnTo>
                <a:lnTo>
                  <a:pt x="49211" y="0"/>
                </a:lnTo>
                <a:close/>
              </a:path>
              <a:path w="76200" h="457200">
                <a:moveTo>
                  <a:pt x="76200" y="380999"/>
                </a:moveTo>
                <a:lnTo>
                  <a:pt x="49212" y="380999"/>
                </a:lnTo>
                <a:lnTo>
                  <a:pt x="49212" y="393699"/>
                </a:lnTo>
                <a:lnTo>
                  <a:pt x="26987" y="393701"/>
                </a:lnTo>
                <a:lnTo>
                  <a:pt x="69850" y="393699"/>
                </a:lnTo>
                <a:lnTo>
                  <a:pt x="76200" y="3809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124701" y="5709618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26987" y="380999"/>
                </a:moveTo>
                <a:lnTo>
                  <a:pt x="0" y="380999"/>
                </a:lnTo>
                <a:lnTo>
                  <a:pt x="38100" y="457199"/>
                </a:lnTo>
                <a:lnTo>
                  <a:pt x="69849" y="393701"/>
                </a:lnTo>
                <a:lnTo>
                  <a:pt x="26987" y="393701"/>
                </a:lnTo>
                <a:lnTo>
                  <a:pt x="26987" y="380999"/>
                </a:lnTo>
                <a:close/>
              </a:path>
              <a:path w="76200" h="457200">
                <a:moveTo>
                  <a:pt x="49211" y="0"/>
                </a:moveTo>
                <a:lnTo>
                  <a:pt x="26986" y="0"/>
                </a:lnTo>
                <a:lnTo>
                  <a:pt x="26987" y="393701"/>
                </a:lnTo>
                <a:lnTo>
                  <a:pt x="49212" y="393699"/>
                </a:lnTo>
                <a:lnTo>
                  <a:pt x="49211" y="0"/>
                </a:lnTo>
                <a:close/>
              </a:path>
              <a:path w="76200" h="457200">
                <a:moveTo>
                  <a:pt x="76200" y="380999"/>
                </a:moveTo>
                <a:lnTo>
                  <a:pt x="49212" y="380999"/>
                </a:lnTo>
                <a:lnTo>
                  <a:pt x="49212" y="393699"/>
                </a:lnTo>
                <a:lnTo>
                  <a:pt x="26987" y="393701"/>
                </a:lnTo>
                <a:lnTo>
                  <a:pt x="69850" y="393699"/>
                </a:lnTo>
                <a:lnTo>
                  <a:pt x="76200" y="3809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760178" y="5709618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26987" y="380999"/>
                </a:moveTo>
                <a:lnTo>
                  <a:pt x="0" y="380999"/>
                </a:lnTo>
                <a:lnTo>
                  <a:pt x="38100" y="457199"/>
                </a:lnTo>
                <a:lnTo>
                  <a:pt x="69849" y="393701"/>
                </a:lnTo>
                <a:lnTo>
                  <a:pt x="26987" y="393701"/>
                </a:lnTo>
                <a:lnTo>
                  <a:pt x="26987" y="380999"/>
                </a:lnTo>
                <a:close/>
              </a:path>
              <a:path w="76200" h="457200">
                <a:moveTo>
                  <a:pt x="49211" y="0"/>
                </a:moveTo>
                <a:lnTo>
                  <a:pt x="26986" y="0"/>
                </a:lnTo>
                <a:lnTo>
                  <a:pt x="26987" y="393701"/>
                </a:lnTo>
                <a:lnTo>
                  <a:pt x="49212" y="393699"/>
                </a:lnTo>
                <a:lnTo>
                  <a:pt x="49211" y="0"/>
                </a:lnTo>
                <a:close/>
              </a:path>
              <a:path w="76200" h="457200">
                <a:moveTo>
                  <a:pt x="76200" y="380999"/>
                </a:moveTo>
                <a:lnTo>
                  <a:pt x="49212" y="380999"/>
                </a:lnTo>
                <a:lnTo>
                  <a:pt x="49212" y="393699"/>
                </a:lnTo>
                <a:lnTo>
                  <a:pt x="26987" y="393701"/>
                </a:lnTo>
                <a:lnTo>
                  <a:pt x="69850" y="393699"/>
                </a:lnTo>
                <a:lnTo>
                  <a:pt x="76200" y="3809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420101" y="5709618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26987" y="380999"/>
                </a:moveTo>
                <a:lnTo>
                  <a:pt x="0" y="380999"/>
                </a:lnTo>
                <a:lnTo>
                  <a:pt x="38100" y="457199"/>
                </a:lnTo>
                <a:lnTo>
                  <a:pt x="69849" y="393701"/>
                </a:lnTo>
                <a:lnTo>
                  <a:pt x="26987" y="393701"/>
                </a:lnTo>
                <a:lnTo>
                  <a:pt x="26987" y="380999"/>
                </a:lnTo>
                <a:close/>
              </a:path>
              <a:path w="76200" h="457200">
                <a:moveTo>
                  <a:pt x="49211" y="0"/>
                </a:moveTo>
                <a:lnTo>
                  <a:pt x="26986" y="0"/>
                </a:lnTo>
                <a:lnTo>
                  <a:pt x="26987" y="393701"/>
                </a:lnTo>
                <a:lnTo>
                  <a:pt x="49212" y="393699"/>
                </a:lnTo>
                <a:lnTo>
                  <a:pt x="49211" y="0"/>
                </a:lnTo>
                <a:close/>
              </a:path>
              <a:path w="76200" h="457200">
                <a:moveTo>
                  <a:pt x="76200" y="380999"/>
                </a:moveTo>
                <a:lnTo>
                  <a:pt x="49212" y="380999"/>
                </a:lnTo>
                <a:lnTo>
                  <a:pt x="49212" y="393699"/>
                </a:lnTo>
                <a:lnTo>
                  <a:pt x="26987" y="393701"/>
                </a:lnTo>
                <a:lnTo>
                  <a:pt x="69850" y="393699"/>
                </a:lnTo>
                <a:lnTo>
                  <a:pt x="76200" y="3809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071396" y="5709618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26987" y="380999"/>
                </a:moveTo>
                <a:lnTo>
                  <a:pt x="0" y="380999"/>
                </a:lnTo>
                <a:lnTo>
                  <a:pt x="38100" y="457199"/>
                </a:lnTo>
                <a:lnTo>
                  <a:pt x="69849" y="393701"/>
                </a:lnTo>
                <a:lnTo>
                  <a:pt x="26987" y="393701"/>
                </a:lnTo>
                <a:lnTo>
                  <a:pt x="26987" y="380999"/>
                </a:lnTo>
                <a:close/>
              </a:path>
              <a:path w="76200" h="457200">
                <a:moveTo>
                  <a:pt x="49211" y="0"/>
                </a:moveTo>
                <a:lnTo>
                  <a:pt x="26986" y="0"/>
                </a:lnTo>
                <a:lnTo>
                  <a:pt x="26987" y="393701"/>
                </a:lnTo>
                <a:lnTo>
                  <a:pt x="49212" y="393699"/>
                </a:lnTo>
                <a:lnTo>
                  <a:pt x="49211" y="0"/>
                </a:lnTo>
                <a:close/>
              </a:path>
              <a:path w="76200" h="457200">
                <a:moveTo>
                  <a:pt x="76200" y="380999"/>
                </a:moveTo>
                <a:lnTo>
                  <a:pt x="49212" y="380999"/>
                </a:lnTo>
                <a:lnTo>
                  <a:pt x="49212" y="393699"/>
                </a:lnTo>
                <a:lnTo>
                  <a:pt x="26987" y="393701"/>
                </a:lnTo>
                <a:lnTo>
                  <a:pt x="69850" y="393699"/>
                </a:lnTo>
                <a:lnTo>
                  <a:pt x="76200" y="3809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716934" y="5709618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26987" y="380999"/>
                </a:moveTo>
                <a:lnTo>
                  <a:pt x="0" y="380999"/>
                </a:lnTo>
                <a:lnTo>
                  <a:pt x="38100" y="457199"/>
                </a:lnTo>
                <a:lnTo>
                  <a:pt x="69849" y="393701"/>
                </a:lnTo>
                <a:lnTo>
                  <a:pt x="26987" y="393701"/>
                </a:lnTo>
                <a:lnTo>
                  <a:pt x="26987" y="380999"/>
                </a:lnTo>
                <a:close/>
              </a:path>
              <a:path w="76200" h="457200">
                <a:moveTo>
                  <a:pt x="49211" y="0"/>
                </a:moveTo>
                <a:lnTo>
                  <a:pt x="26986" y="0"/>
                </a:lnTo>
                <a:lnTo>
                  <a:pt x="26987" y="393701"/>
                </a:lnTo>
                <a:lnTo>
                  <a:pt x="49212" y="393699"/>
                </a:lnTo>
                <a:lnTo>
                  <a:pt x="49211" y="0"/>
                </a:lnTo>
                <a:close/>
              </a:path>
              <a:path w="76200" h="457200">
                <a:moveTo>
                  <a:pt x="76200" y="380999"/>
                </a:moveTo>
                <a:lnTo>
                  <a:pt x="49212" y="380999"/>
                </a:lnTo>
                <a:lnTo>
                  <a:pt x="49212" y="393699"/>
                </a:lnTo>
                <a:lnTo>
                  <a:pt x="26987" y="393701"/>
                </a:lnTo>
                <a:lnTo>
                  <a:pt x="69850" y="393699"/>
                </a:lnTo>
                <a:lnTo>
                  <a:pt x="76200" y="38099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170651" y="3328733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80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653729" y="3328733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80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18120" y="3328733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80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637251" y="3328733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80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188677" y="3328733"/>
            <a:ext cx="0" cy="685800"/>
          </a:xfrm>
          <a:custGeom>
            <a:avLst/>
            <a:gdLst/>
            <a:ahLst/>
            <a:cxnLst/>
            <a:rect l="l" t="t" r="r" b="b"/>
            <a:pathLst>
              <a:path h="685800">
                <a:moveTo>
                  <a:pt x="0" y="0"/>
                </a:moveTo>
                <a:lnTo>
                  <a:pt x="1" y="685800"/>
                </a:lnTo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950200" y="4723113"/>
            <a:ext cx="406400" cy="558800"/>
            <a:chOff x="6426200" y="3908980"/>
            <a:chExt cx="406400" cy="558800"/>
          </a:xfrm>
        </p:grpSpPr>
        <p:sp>
          <p:nvSpPr>
            <p:cNvPr id="27" name="object 27"/>
            <p:cNvSpPr/>
            <p:nvPr/>
          </p:nvSpPr>
          <p:spPr>
            <a:xfrm>
              <a:off x="6438900" y="3921680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285750" y="0"/>
                  </a:moveTo>
                  <a:lnTo>
                    <a:pt x="95250" y="0"/>
                  </a:lnTo>
                  <a:lnTo>
                    <a:pt x="95250" y="342900"/>
                  </a:lnTo>
                  <a:lnTo>
                    <a:pt x="0" y="342900"/>
                  </a:lnTo>
                  <a:lnTo>
                    <a:pt x="190500" y="533400"/>
                  </a:lnTo>
                  <a:lnTo>
                    <a:pt x="381000" y="342900"/>
                  </a:lnTo>
                  <a:lnTo>
                    <a:pt x="285750" y="34290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438900" y="3921680"/>
              <a:ext cx="381000" cy="533400"/>
            </a:xfrm>
            <a:custGeom>
              <a:avLst/>
              <a:gdLst/>
              <a:ahLst/>
              <a:cxnLst/>
              <a:rect l="l" t="t" r="r" b="b"/>
              <a:pathLst>
                <a:path w="381000" h="533400">
                  <a:moveTo>
                    <a:pt x="0" y="342900"/>
                  </a:moveTo>
                  <a:lnTo>
                    <a:pt x="95250" y="342900"/>
                  </a:lnTo>
                  <a:lnTo>
                    <a:pt x="95250" y="0"/>
                  </a:lnTo>
                  <a:lnTo>
                    <a:pt x="285750" y="0"/>
                  </a:lnTo>
                  <a:lnTo>
                    <a:pt x="285750" y="342900"/>
                  </a:lnTo>
                  <a:lnTo>
                    <a:pt x="381000" y="342900"/>
                  </a:lnTo>
                  <a:lnTo>
                    <a:pt x="190500" y="533400"/>
                  </a:lnTo>
                  <a:lnTo>
                    <a:pt x="0" y="342900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250496" y="3441001"/>
            <a:ext cx="3790315" cy="3174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 marR="0" lvl="0" indent="0" algn="ctr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11111010.11001110</a:t>
            </a:r>
            <a:r>
              <a:rPr kumimoji="0" sz="2400" b="0" i="0" u="none" strike="noStrike" kern="1200" cap="none" spc="-7" normalizeH="0" baseline="-1736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endParaRPr kumimoji="0" sz="2400" b="0" i="0" u="none" strike="noStrike" kern="1200" cap="none" spc="0" normalizeH="0" baseline="-1736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35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92785" algn="l"/>
                <a:tab pos="1323340" algn="l"/>
                <a:tab pos="2634615" algn="l"/>
                <a:tab pos="3263265" algn="l"/>
              </a:tabLst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	111	010</a:t>
            </a:r>
            <a:r>
              <a:rPr kumimoji="0" sz="2400" b="0" i="0" u="none" strike="noStrike" kern="1200" cap="none" spc="1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000" b="1" i="0" u="none" strike="noStrike" kern="1200" cap="none" spc="0" normalizeH="0" baseline="-2777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r>
              <a:rPr kumimoji="0" sz="3000" b="1" i="0" u="none" strike="noStrike" kern="1200" cap="none" spc="75" normalizeH="0" baseline="-2777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110	011	10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635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692785" algn="l"/>
                <a:tab pos="1323340" algn="l"/>
                <a:tab pos="2634615" algn="l"/>
                <a:tab pos="3263265" algn="l"/>
              </a:tabLst>
              <a:defRPr/>
            </a:pPr>
            <a:r>
              <a:rPr kumimoji="0" sz="2400" b="0" i="0" u="heavy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0</a:t>
            </a:r>
            <a:r>
              <a:rPr kumimoji="0" sz="24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11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111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010</a:t>
            </a:r>
            <a:r>
              <a:rPr kumimoji="0" sz="2400" b="0" i="0" u="none" strike="noStrike" kern="1200" cap="none" spc="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000" b="1" i="0" u="none" strike="noStrike" kern="1200" cap="none" spc="0" normalizeH="0" baseline="-125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r>
              <a:rPr kumimoji="0" sz="3000" b="1" i="0" u="none" strike="noStrike" kern="1200" cap="none" spc="225" normalizeH="0" baseline="-125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110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011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</a:t>
            </a:r>
            <a:r>
              <a:rPr kumimoji="0" sz="24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10</a:t>
            </a:r>
            <a:r>
              <a:rPr kumimoji="0" sz="2400" b="0" i="0" u="heavy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>
                  <a:solidFill>
                    <a:srgbClr val="FF0000"/>
                  </a:solidFill>
                </a:uFill>
                <a:latin typeface="Calibri"/>
                <a:ea typeface="+mn-ea"/>
                <a:cs typeface="Calibri"/>
              </a:rPr>
              <a:t>0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1717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847090" algn="l"/>
                <a:tab pos="1477645" algn="l"/>
                <a:tab pos="1870710" algn="l"/>
                <a:tab pos="2158365" algn="l"/>
                <a:tab pos="2788920" algn="l"/>
                <a:tab pos="3366135" algn="l"/>
              </a:tabLst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	7	2	</a:t>
            </a: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	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	3	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</a:t>
            </a:r>
            <a:r>
              <a:rPr kumimoji="0" sz="2400" b="0" i="0" u="none" strike="noStrike" kern="1200" cap="none" spc="-7" normalizeH="0" baseline="-1736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8</a:t>
            </a:r>
            <a:endParaRPr kumimoji="0" sz="2400" b="0" i="0" u="none" strike="noStrike" kern="1200" cap="none" spc="0" normalizeH="0" baseline="-1736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30" name="object 2"/>
          <p:cNvSpPr txBox="1">
            <a:spLocks/>
          </p:cNvSpPr>
          <p:nvPr/>
        </p:nvSpPr>
        <p:spPr>
          <a:xfrm>
            <a:off x="0" y="0"/>
            <a:ext cx="1209216" cy="686085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rgbClr val="0000C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28725" marR="5080" lvl="0" indent="-1216025" algn="l" defTabSz="914400" rtl="0" eaLnBrk="1" fontAlgn="auto" latinLnBrk="0" hangingPunct="1">
              <a:lnSpc>
                <a:spcPct val="100499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MOE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22428" y="1484883"/>
          <a:ext cx="1324770" cy="518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909">
                  <a:extLst>
                    <a:ext uri="{9D8B030D-6E8A-4147-A177-3AD203B41FA5}">
                      <a16:colId xmlns:a16="http://schemas.microsoft.com/office/drawing/2014/main" val="3136641699"/>
                    </a:ext>
                  </a:extLst>
                </a:gridCol>
                <a:gridCol w="794861">
                  <a:extLst>
                    <a:ext uri="{9D8B030D-6E8A-4147-A177-3AD203B41FA5}">
                      <a16:colId xmlns:a16="http://schemas.microsoft.com/office/drawing/2014/main" val="1383339620"/>
                    </a:ext>
                  </a:extLst>
                </a:gridCol>
              </a:tblGrid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66141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9905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59171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2270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68378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34514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216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20626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71748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65640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1530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697318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07539416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66395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116849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306194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400677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10105157" y="2624053"/>
          <a:ext cx="16657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94">
                  <a:extLst>
                    <a:ext uri="{9D8B030D-6E8A-4147-A177-3AD203B41FA5}">
                      <a16:colId xmlns:a16="http://schemas.microsoft.com/office/drawing/2014/main" val="3136641699"/>
                    </a:ext>
                  </a:extLst>
                </a:gridCol>
                <a:gridCol w="999439">
                  <a:extLst>
                    <a:ext uri="{9D8B030D-6E8A-4147-A177-3AD203B41FA5}">
                      <a16:colId xmlns:a16="http://schemas.microsoft.com/office/drawing/2014/main" val="1383339620"/>
                    </a:ext>
                  </a:extLst>
                </a:gridCol>
              </a:tblGrid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Octal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66141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9905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59171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2270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68378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34514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216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20626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71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3857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B1EDC84-3F9E-4FFC-8709-F3819A5D9D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2</a:t>
            </a:r>
            <a:br>
              <a:rPr lang="en-US" dirty="0"/>
            </a:br>
            <a:r>
              <a:rPr lang="en-US" dirty="0"/>
              <a:t>Binary Number Systems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0B13FFC-EB4C-4CA6-A3BB-084038728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5: Worked Examples</a:t>
            </a:r>
          </a:p>
        </p:txBody>
      </p:sp>
    </p:spTree>
    <p:extLst>
      <p:ext uri="{BB962C8B-B14F-4D97-AF65-F5344CB8AC3E}">
        <p14:creationId xmlns:p14="http://schemas.microsoft.com/office/powerpoint/2010/main" val="427480086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13097"/>
            <a:ext cx="7441473" cy="762777"/>
          </a:xfrm>
        </p:spPr>
        <p:txBody>
          <a:bodyPr/>
          <a:lstStyle/>
          <a:p>
            <a:pPr marL="514350" indent="-514350"/>
            <a:r>
              <a:rPr lang="en-US" dirty="0"/>
              <a:t>Convert unsigned 25</a:t>
            </a:r>
            <a:r>
              <a:rPr lang="en-US" baseline="-25000" dirty="0"/>
              <a:t>6</a:t>
            </a:r>
            <a:r>
              <a:rPr lang="en-US" dirty="0"/>
              <a:t> to 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2449386"/>
            <a:ext cx="10409263" cy="419204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Base R to Decimal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0070C0"/>
                </a:solidFill>
              </a:rPr>
              <a:t> polynomial evaluation:</a:t>
            </a:r>
          </a:p>
          <a:p>
            <a:pPr marL="0" indent="0">
              <a:buNone/>
            </a:pPr>
            <a:endParaRPr lang="en-US" dirty="0"/>
          </a:p>
          <a:p>
            <a:pPr marL="914400" indent="0">
              <a:buNone/>
            </a:pPr>
            <a:r>
              <a:rPr lang="en-US" dirty="0"/>
              <a:t>25</a:t>
            </a:r>
            <a:r>
              <a:rPr lang="en-US" baseline="-25000" dirty="0"/>
              <a:t>6</a:t>
            </a:r>
            <a:r>
              <a:rPr lang="en-US" dirty="0"/>
              <a:t> 	=  2x6</a:t>
            </a:r>
            <a:r>
              <a:rPr lang="en-US" baseline="30000" dirty="0"/>
              <a:t>1</a:t>
            </a:r>
            <a:r>
              <a:rPr lang="en-US" dirty="0"/>
              <a:t> + 5x6</a:t>
            </a:r>
            <a:r>
              <a:rPr lang="en-US" baseline="30000" dirty="0"/>
              <a:t>0</a:t>
            </a:r>
            <a:r>
              <a:rPr lang="en-US" dirty="0"/>
              <a:t>  </a:t>
            </a:r>
          </a:p>
          <a:p>
            <a:pPr marL="914400" indent="0">
              <a:buNone/>
            </a:pPr>
            <a:r>
              <a:rPr lang="en-US" dirty="0"/>
              <a:t>	=  2x6   + 5x1</a:t>
            </a:r>
          </a:p>
          <a:p>
            <a:pPr marL="914400" indent="0">
              <a:buNone/>
            </a:pPr>
            <a:r>
              <a:rPr lang="en-US" dirty="0"/>
              <a:t>	=   12    +   5</a:t>
            </a:r>
          </a:p>
          <a:p>
            <a:pPr marL="914400" indent="0">
              <a:buNone/>
            </a:pPr>
            <a:r>
              <a:rPr lang="en-US" dirty="0"/>
              <a:t>	=   17</a:t>
            </a:r>
            <a:r>
              <a:rPr lang="en-US" baseline="-25000" dirty="0"/>
              <a:t>10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82366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46829"/>
            <a:ext cx="7261000" cy="648851"/>
          </a:xfrm>
        </p:spPr>
        <p:txBody>
          <a:bodyPr>
            <a:normAutofit/>
          </a:bodyPr>
          <a:lstStyle/>
          <a:p>
            <a:r>
              <a:rPr lang="en-US" dirty="0"/>
              <a:t>Convert unsigned 25</a:t>
            </a:r>
            <a:r>
              <a:rPr lang="en-US" baseline="-25000" dirty="0"/>
              <a:t>10</a:t>
            </a:r>
            <a:r>
              <a:rPr lang="en-US" dirty="0"/>
              <a:t> to base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525" y="1744580"/>
            <a:ext cx="10417285" cy="4924926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Whole #</a:t>
            </a:r>
            <a:r>
              <a:rPr lang="en-US" baseline="-25000" dirty="0">
                <a:solidFill>
                  <a:srgbClr val="0070C0"/>
                </a:solidFill>
              </a:rPr>
              <a:t>10</a:t>
            </a:r>
            <a:r>
              <a:rPr lang="en-US" dirty="0">
                <a:solidFill>
                  <a:srgbClr val="0070C0"/>
                </a:solidFill>
              </a:rPr>
              <a:t> to Base R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0070C0"/>
                </a:solidFill>
              </a:rPr>
              <a:t> repeated division (by 7):</a:t>
            </a:r>
          </a:p>
          <a:p>
            <a:pPr marL="0" indent="0">
              <a:buNone/>
            </a:pPr>
            <a:endParaRPr lang="en-US" dirty="0"/>
          </a:p>
          <a:p>
            <a:pPr marL="914400" indent="0">
              <a:buNone/>
            </a:pPr>
            <a:r>
              <a:rPr lang="en-US" dirty="0"/>
              <a:t>25÷7 </a:t>
            </a:r>
            <a:r>
              <a:rPr lang="en-US" dirty="0">
                <a:sym typeface="Wingdings" panose="05000000000000000000" pitchFamily="2" charset="2"/>
              </a:rPr>
              <a:t> Q=3, R=4		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3</a:t>
            </a:r>
            <a:endParaRPr lang="en-US" dirty="0">
              <a:sym typeface="Wingdings" panose="05000000000000000000" pitchFamily="2" charset="2"/>
            </a:endParaRPr>
          </a:p>
          <a:p>
            <a:pPr marL="91440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914400" indent="0">
              <a:buNone/>
            </a:pPr>
            <a:r>
              <a:rPr lang="en-US" dirty="0">
                <a:solidFill>
                  <a:schemeClr val="bg1"/>
                </a:solidFill>
              </a:rPr>
              <a:t>2</a:t>
            </a:r>
            <a:r>
              <a:rPr lang="en-US" dirty="0"/>
              <a:t>        </a:t>
            </a:r>
            <a:r>
              <a:rPr lang="en-US" dirty="0">
                <a:sym typeface="Wingdings" panose="05000000000000000000" pitchFamily="2" charset="2"/>
              </a:rPr>
              <a:t> Q=0, R=3		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185737" y="3023904"/>
            <a:ext cx="1199147" cy="58155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4572000" y="2843463"/>
            <a:ext cx="1447800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4571026" y="3752001"/>
            <a:ext cx="1447800" cy="0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420978" y="4078705"/>
            <a:ext cx="0" cy="6096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19925" y="4852539"/>
            <a:ext cx="918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50311" y="2527028"/>
            <a:ext cx="893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4</a:t>
            </a:r>
            <a:r>
              <a:rPr lang="en-US" sz="3200" baseline="-25000" dirty="0"/>
              <a:t>7</a:t>
            </a:r>
            <a:endParaRPr lang="en-US" sz="3200" dirty="0"/>
          </a:p>
        </p:txBody>
      </p:sp>
      <p:sp>
        <p:nvSpPr>
          <p:cNvPr id="10" name="TextBox 9"/>
          <p:cNvSpPr txBox="1"/>
          <p:nvPr/>
        </p:nvSpPr>
        <p:spPr>
          <a:xfrm>
            <a:off x="6295974" y="3460703"/>
            <a:ext cx="8933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34</a:t>
            </a:r>
            <a:r>
              <a:rPr lang="en-US" sz="3200" baseline="-25000" dirty="0"/>
              <a:t>7</a:t>
            </a:r>
            <a:endParaRPr lang="en-US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1924979" y="3513148"/>
            <a:ext cx="893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3÷7</a:t>
            </a:r>
          </a:p>
        </p:txBody>
      </p:sp>
    </p:spTree>
    <p:extLst>
      <p:ext uri="{BB962C8B-B14F-4D97-AF65-F5344CB8AC3E}">
        <p14:creationId xmlns:p14="http://schemas.microsoft.com/office/powerpoint/2010/main" val="377812081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6" y="715786"/>
            <a:ext cx="7277042" cy="692629"/>
          </a:xfrm>
        </p:spPr>
        <p:txBody>
          <a:bodyPr/>
          <a:lstStyle/>
          <a:p>
            <a:r>
              <a:rPr lang="en-US" dirty="0"/>
              <a:t>Convert unsigned .3</a:t>
            </a:r>
            <a:r>
              <a:rPr lang="en-US" baseline="-25000" dirty="0"/>
              <a:t>10</a:t>
            </a:r>
            <a:r>
              <a:rPr lang="en-US" dirty="0"/>
              <a:t> to base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0526" y="1680412"/>
            <a:ext cx="10413274" cy="4948988"/>
          </a:xfrm>
        </p:spPr>
        <p:txBody>
          <a:bodyPr>
            <a:normAutofit lnSpcReduction="10000"/>
          </a:bodyPr>
          <a:lstStyle/>
          <a:p>
            <a:pPr marL="231775" indent="0">
              <a:buNone/>
            </a:pPr>
            <a:r>
              <a:rPr lang="en-US" dirty="0">
                <a:solidFill>
                  <a:srgbClr val="0070C0"/>
                </a:solidFill>
              </a:rPr>
              <a:t>Fractional #</a:t>
            </a:r>
            <a:r>
              <a:rPr lang="en-US" baseline="-25000" dirty="0">
                <a:solidFill>
                  <a:srgbClr val="0070C0"/>
                </a:solidFill>
              </a:rPr>
              <a:t>10</a:t>
            </a:r>
            <a:r>
              <a:rPr lang="en-US" dirty="0">
                <a:solidFill>
                  <a:srgbClr val="0070C0"/>
                </a:solidFill>
              </a:rPr>
              <a:t> to Base R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0070C0"/>
                </a:solidFill>
              </a:rPr>
              <a:t> repeated multiplication:</a:t>
            </a:r>
          </a:p>
          <a:p>
            <a:pPr marL="0" indent="0">
              <a:buNone/>
            </a:pPr>
            <a:endParaRPr lang="en-US" dirty="0"/>
          </a:p>
          <a:p>
            <a:pPr marL="914400" indent="0">
              <a:buNone/>
            </a:pPr>
            <a:r>
              <a:rPr lang="en-US" dirty="0"/>
              <a:t>7 x .3 =</a:t>
            </a:r>
            <a:r>
              <a:rPr lang="en-US" dirty="0">
                <a:sym typeface="Wingdings" panose="05000000000000000000" pitchFamily="2" charset="2"/>
              </a:rPr>
              <a:t> 2.1				.2</a:t>
            </a:r>
          </a:p>
          <a:p>
            <a:pPr marL="914400" indent="0">
              <a:buNone/>
            </a:pPr>
            <a:endParaRPr lang="en-US" dirty="0"/>
          </a:p>
          <a:p>
            <a:pPr marL="914400" indent="0">
              <a:buNone/>
            </a:pPr>
            <a:r>
              <a:rPr lang="en-US" dirty="0"/>
              <a:t>7 x .1 </a:t>
            </a:r>
            <a:r>
              <a:rPr lang="en-US" dirty="0">
                <a:sym typeface="Wingdings" panose="05000000000000000000" pitchFamily="2" charset="2"/>
              </a:rPr>
              <a:t>= 0.7				.20</a:t>
            </a:r>
          </a:p>
          <a:p>
            <a:pPr marL="91440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914400" indent="0">
              <a:buNone/>
            </a:pPr>
            <a:r>
              <a:rPr lang="en-US" dirty="0">
                <a:sym typeface="Wingdings" panose="05000000000000000000" pitchFamily="2" charset="2"/>
              </a:rPr>
              <a:t>7 x .7 = 4.9				.204</a:t>
            </a:r>
          </a:p>
          <a:p>
            <a:pPr marL="91440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914400" indent="0">
              <a:buNone/>
            </a:pPr>
            <a:r>
              <a:rPr lang="en-US" dirty="0">
                <a:sym typeface="Wingdings" panose="05000000000000000000" pitchFamily="2" charset="2"/>
              </a:rPr>
              <a:t>7 x .9 = 6.3				.2046</a:t>
            </a:r>
          </a:p>
          <a:p>
            <a:pPr marL="91440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914400" indent="0">
              <a:buNone/>
            </a:pPr>
            <a:r>
              <a:rPr lang="en-US" dirty="0">
                <a:sym typeface="Wingdings" panose="05000000000000000000" pitchFamily="2" charset="2"/>
              </a:rPr>
              <a:t>		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Repeats!</a:t>
            </a:r>
            <a:r>
              <a:rPr lang="en-US" dirty="0">
                <a:sym typeface="Wingdings" panose="05000000000000000000" pitchFamily="2" charset="2"/>
              </a:rPr>
              <a:t>		.20462046···</a:t>
            </a:r>
            <a:endParaRPr lang="en-US" dirty="0"/>
          </a:p>
          <a:p>
            <a:pPr marL="463550" indent="0">
              <a:buNone/>
            </a:pP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3778634" y="2682926"/>
            <a:ext cx="2524835" cy="1364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3742540" y="3539784"/>
            <a:ext cx="2524835" cy="1364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3742539" y="4361200"/>
            <a:ext cx="2524835" cy="1364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3742539" y="5202826"/>
            <a:ext cx="2524835" cy="13648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969525" y="5028067"/>
            <a:ext cx="319107" cy="346040"/>
          </a:xfrm>
          <a:prstGeom prst="ellipse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316589" y="2525377"/>
            <a:ext cx="314317" cy="322096"/>
          </a:xfrm>
          <a:prstGeom prst="ellipse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2506579" y="2874901"/>
            <a:ext cx="532055" cy="2086517"/>
          </a:xfrm>
          <a:prstGeom prst="straightConnector1">
            <a:avLst/>
          </a:prstGeom>
          <a:ln w="28575">
            <a:tailEnd type="triangle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37446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40526" y="736239"/>
            <a:ext cx="7349232" cy="668353"/>
          </a:xfrm>
        </p:spPr>
        <p:txBody>
          <a:bodyPr/>
          <a:lstStyle/>
          <a:p>
            <a:r>
              <a:rPr lang="en-US" dirty="0"/>
              <a:t>Converting -25.75</a:t>
            </a:r>
            <a:r>
              <a:rPr lang="en-US" baseline="-25000" dirty="0"/>
              <a:t>10</a:t>
            </a:r>
            <a:r>
              <a:rPr lang="en-US" dirty="0"/>
              <a:t> to 2’s Comp.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1892966" y="1918110"/>
            <a:ext cx="4040188" cy="437832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tabLst>
                <a:tab pos="627063" algn="l"/>
                <a:tab pos="1092200" algn="l"/>
              </a:tabLst>
            </a:pPr>
            <a:r>
              <a:rPr lang="en-US" dirty="0"/>
              <a:t>-25:	25 	= 16 + 8 + 1</a:t>
            </a:r>
          </a:p>
          <a:p>
            <a:pPr marL="457200" lvl="1" indent="0">
              <a:buNone/>
              <a:tabLst>
                <a:tab pos="627063" algn="l"/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		 011001</a:t>
            </a:r>
          </a:p>
          <a:p>
            <a:pPr marL="0" indent="0">
              <a:buNone/>
              <a:tabLst>
                <a:tab pos="627063" algn="l"/>
                <a:tab pos="1092200" algn="l"/>
              </a:tabLst>
            </a:pPr>
            <a:r>
              <a:rPr lang="en-US" dirty="0"/>
              <a:t>	-25	= 100111</a:t>
            </a:r>
          </a:p>
          <a:p>
            <a:pPr>
              <a:tabLst>
                <a:tab pos="1092200" algn="l"/>
              </a:tabLst>
            </a:pPr>
            <a:endParaRPr lang="en-US" sz="1200" dirty="0"/>
          </a:p>
          <a:p>
            <a:pPr marL="0" indent="0">
              <a:buNone/>
              <a:tabLst>
                <a:tab pos="627063" algn="l"/>
                <a:tab pos="1092200" algn="l"/>
              </a:tabLst>
            </a:pPr>
            <a:r>
              <a:rPr lang="en-US" dirty="0"/>
              <a:t>.75:	.75	= .5 + .25</a:t>
            </a:r>
          </a:p>
          <a:p>
            <a:pPr marL="0" indent="0">
              <a:buNone/>
              <a:tabLst>
                <a:tab pos="1092200" algn="l"/>
              </a:tabLst>
            </a:pPr>
            <a:r>
              <a:rPr lang="en-US" dirty="0"/>
              <a:t>	</a:t>
            </a:r>
            <a:r>
              <a:rPr lang="en-US" dirty="0">
                <a:sym typeface="Wingdings" panose="05000000000000000000" pitchFamily="2" charset="2"/>
              </a:rPr>
              <a:t> .11</a:t>
            </a:r>
          </a:p>
          <a:p>
            <a:pPr marL="0" indent="0">
              <a:buNone/>
              <a:tabLst>
                <a:tab pos="1092200" algn="l"/>
              </a:tabLst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Combining results:</a:t>
            </a:r>
          </a:p>
          <a:p>
            <a:pPr marL="0" indent="0">
              <a:buNone/>
              <a:tabLst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	 100111.11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1092200" algn="l"/>
              </a:tabLst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Checking (poly </a:t>
            </a:r>
            <a:r>
              <a:rPr lang="en-US" dirty="0" err="1">
                <a:sym typeface="Wingdings" panose="05000000000000000000" pitchFamily="2" charset="2"/>
              </a:rPr>
              <a:t>eval</a:t>
            </a:r>
            <a:r>
              <a:rPr lang="en-US" dirty="0">
                <a:sym typeface="Wingdings" panose="05000000000000000000" pitchFamily="2" charset="2"/>
              </a:rPr>
              <a:t>):</a:t>
            </a:r>
          </a:p>
          <a:p>
            <a:pPr marL="0" indent="0">
              <a:buNone/>
              <a:tabLst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	= -24.25</a:t>
            </a:r>
            <a:r>
              <a:rPr lang="en-US" baseline="-25000" dirty="0">
                <a:sym typeface="Wingdings" panose="05000000000000000000" pitchFamily="2" charset="2"/>
              </a:rPr>
              <a:t>10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>
          <a:xfrm>
            <a:off x="5169567" y="1835906"/>
            <a:ext cx="4953000" cy="639762"/>
          </a:xfrm>
        </p:spPr>
        <p:txBody>
          <a:bodyPr anchor="ctr"/>
          <a:lstStyle/>
          <a:p>
            <a:r>
              <a:rPr lang="en-US"/>
              <a:t>Correct Method: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>
          <a:xfrm>
            <a:off x="5093367" y="2475668"/>
            <a:ext cx="5486399" cy="395128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627063" algn="l"/>
                <a:tab pos="1092200" algn="l"/>
              </a:tabLst>
            </a:pPr>
            <a:r>
              <a:rPr lang="en-US" dirty="0"/>
              <a:t>+25.75	= 16 + 8 + 1 + .5 + .25</a:t>
            </a:r>
          </a:p>
          <a:p>
            <a:pPr marL="57150" indent="0">
              <a:buNone/>
              <a:tabLst>
                <a:tab pos="627063" algn="l"/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		= 011001.11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627063" algn="l"/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Find the negative representation:</a:t>
            </a:r>
          </a:p>
          <a:p>
            <a:pPr marL="0" indent="0">
              <a:buNone/>
              <a:tabLst>
                <a:tab pos="627063" algn="l"/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		 100110.01  </a:t>
            </a:r>
          </a:p>
          <a:p>
            <a:pPr marL="0" indent="0">
              <a:buNone/>
              <a:tabLst>
                <a:tab pos="627063" algn="l"/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Check:</a:t>
            </a:r>
          </a:p>
          <a:p>
            <a:pPr marL="0" indent="0">
              <a:buNone/>
              <a:tabLst>
                <a:tab pos="627063" algn="l"/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		100110.01	= 10011001/2</a:t>
            </a:r>
            <a:r>
              <a:rPr lang="en-US" baseline="30000" dirty="0">
                <a:sym typeface="Wingdings" panose="05000000000000000000" pitchFamily="2" charset="2"/>
              </a:rPr>
              <a:t>2</a:t>
            </a: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627063" algn="l"/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				= (-128+16+8+1)/4</a:t>
            </a:r>
          </a:p>
          <a:p>
            <a:pPr marL="0" indent="0">
              <a:buNone/>
              <a:tabLst>
                <a:tab pos="627063" algn="l"/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				= -103/4</a:t>
            </a:r>
          </a:p>
          <a:p>
            <a:pPr marL="0" indent="0">
              <a:buNone/>
              <a:tabLst>
                <a:tab pos="627063" algn="l"/>
                <a:tab pos="1092200" algn="l"/>
              </a:tabLst>
            </a:pPr>
            <a:r>
              <a:rPr lang="en-US" dirty="0">
                <a:sym typeface="Wingdings" panose="05000000000000000000" pitchFamily="2" charset="2"/>
              </a:rPr>
              <a:t>				= -25.75</a:t>
            </a:r>
            <a:r>
              <a:rPr lang="en-US" baseline="-25000" dirty="0">
                <a:sym typeface="Wingdings" panose="05000000000000000000" pitchFamily="2" charset="2"/>
              </a:rPr>
              <a:t>10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86167" y="4548720"/>
            <a:ext cx="1213907" cy="390605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580060" y="3660737"/>
            <a:ext cx="1447800" cy="457200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Related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1671" y="2399443"/>
            <a:ext cx="408392" cy="40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Related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3958" y="3397401"/>
            <a:ext cx="408392" cy="40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x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6011" y="5452843"/>
            <a:ext cx="687957" cy="68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Related imag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6915" y="5801510"/>
            <a:ext cx="408392" cy="40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014099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26541"/>
            <a:ext cx="7974873" cy="677144"/>
          </a:xfrm>
        </p:spPr>
        <p:txBody>
          <a:bodyPr>
            <a:normAutofit/>
          </a:bodyPr>
          <a:lstStyle/>
          <a:p>
            <a:pPr marL="514350" indent="-514350"/>
            <a:r>
              <a:rPr lang="en-US" dirty="0"/>
              <a:t>Convert -75.75</a:t>
            </a:r>
            <a:r>
              <a:rPr lang="en-US" baseline="-25000" dirty="0"/>
              <a:t>10</a:t>
            </a:r>
            <a:r>
              <a:rPr lang="en-US" dirty="0"/>
              <a:t> to 2’s complement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3216435" y="1695539"/>
            <a:ext cx="5386917" cy="639762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r>
              <a:rPr lang="en-US" baseline="30000" dirty="0">
                <a:solidFill>
                  <a:schemeClr val="bg1"/>
                </a:solidFill>
              </a:rPr>
              <a:t>st</a:t>
            </a:r>
            <a:r>
              <a:rPr lang="en-US" dirty="0">
                <a:solidFill>
                  <a:schemeClr val="bg1"/>
                </a:solidFill>
              </a:rPr>
              <a:t>: Get Binary Magnitude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>
          <a:xfrm>
            <a:off x="3216435" y="2335301"/>
            <a:ext cx="5386917" cy="3951288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1198563" algn="l"/>
              </a:tabLst>
            </a:pPr>
            <a:endParaRPr lang="en-US" sz="1200" dirty="0"/>
          </a:p>
          <a:p>
            <a:pPr marL="0" indent="0">
              <a:buNone/>
              <a:tabLst>
                <a:tab pos="1198563" algn="l"/>
              </a:tabLst>
            </a:pPr>
            <a:r>
              <a:rPr lang="en-US" dirty="0"/>
              <a:t>75</a:t>
            </a:r>
            <a:r>
              <a:rPr lang="en-US" baseline="-25000" dirty="0"/>
              <a:t>10</a:t>
            </a:r>
            <a:r>
              <a:rPr lang="en-US" dirty="0"/>
              <a:t>	= 64 + 8 + 2 + 1</a:t>
            </a:r>
          </a:p>
          <a:p>
            <a:pPr marL="0" indent="0">
              <a:buNone/>
              <a:tabLst>
                <a:tab pos="1198563" algn="l"/>
              </a:tabLst>
            </a:pPr>
            <a:r>
              <a:rPr lang="en-US" dirty="0"/>
              <a:t>	= 2</a:t>
            </a:r>
            <a:r>
              <a:rPr lang="en-US" baseline="30000" dirty="0"/>
              <a:t>6</a:t>
            </a:r>
            <a:r>
              <a:rPr lang="en-US" dirty="0"/>
              <a:t> + 2</a:t>
            </a:r>
            <a:r>
              <a:rPr lang="en-US" baseline="30000" dirty="0"/>
              <a:t>3</a:t>
            </a:r>
            <a:r>
              <a:rPr lang="en-US" dirty="0"/>
              <a:t> + 2</a:t>
            </a:r>
            <a:r>
              <a:rPr lang="en-US" baseline="30000" dirty="0"/>
              <a:t>1</a:t>
            </a:r>
            <a:r>
              <a:rPr lang="en-US" dirty="0"/>
              <a:t> + 2</a:t>
            </a:r>
            <a:r>
              <a:rPr lang="en-US" baseline="30000" dirty="0"/>
              <a:t>0</a:t>
            </a:r>
            <a:r>
              <a:rPr lang="en-US" dirty="0"/>
              <a:t> </a:t>
            </a:r>
          </a:p>
          <a:p>
            <a:pPr marL="0" indent="0">
              <a:buNone/>
              <a:tabLst>
                <a:tab pos="1198563" algn="l"/>
              </a:tabLst>
            </a:pPr>
            <a:r>
              <a:rPr lang="en-US" dirty="0">
                <a:sym typeface="Wingdings" panose="05000000000000000000" pitchFamily="2" charset="2"/>
              </a:rPr>
              <a:t>	= 1001011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/>
              <a:t> </a:t>
            </a:r>
          </a:p>
          <a:p>
            <a:pPr marL="0" indent="0">
              <a:buNone/>
              <a:tabLst>
                <a:tab pos="1198563" algn="l"/>
              </a:tabLst>
            </a:pPr>
            <a:endParaRPr lang="en-US" sz="1200" dirty="0"/>
          </a:p>
          <a:p>
            <a:pPr marL="0" indent="0">
              <a:buNone/>
              <a:tabLst>
                <a:tab pos="1198563" algn="l"/>
              </a:tabLst>
            </a:pPr>
            <a:r>
              <a:rPr lang="en-US" dirty="0"/>
              <a:t>.75</a:t>
            </a:r>
            <a:r>
              <a:rPr lang="en-US" baseline="-25000" dirty="0"/>
              <a:t>10</a:t>
            </a:r>
            <a:r>
              <a:rPr lang="en-US" dirty="0"/>
              <a:t>	= .5 + .25</a:t>
            </a:r>
          </a:p>
          <a:p>
            <a:pPr marL="0" indent="0">
              <a:buNone/>
              <a:tabLst>
                <a:tab pos="1198563" algn="l"/>
              </a:tabLst>
            </a:pPr>
            <a:r>
              <a:rPr lang="en-US" dirty="0"/>
              <a:t>	= 2</a:t>
            </a:r>
            <a:r>
              <a:rPr lang="en-US" baseline="30000" dirty="0"/>
              <a:t>-1</a:t>
            </a:r>
            <a:r>
              <a:rPr lang="en-US" dirty="0"/>
              <a:t> + 2</a:t>
            </a:r>
            <a:r>
              <a:rPr lang="en-US" baseline="30000" dirty="0"/>
              <a:t>-2</a:t>
            </a:r>
            <a:endParaRPr lang="en-US" dirty="0"/>
          </a:p>
          <a:p>
            <a:pPr marL="0" indent="0">
              <a:buNone/>
              <a:tabLst>
                <a:tab pos="1198563" algn="l"/>
              </a:tabLst>
            </a:pPr>
            <a:r>
              <a:rPr lang="en-US" dirty="0">
                <a:sym typeface="Wingdings" panose="05000000000000000000" pitchFamily="2" charset="2"/>
              </a:rPr>
              <a:t>	= .11</a:t>
            </a:r>
            <a:r>
              <a:rPr lang="en-US" baseline="-25000" dirty="0">
                <a:sym typeface="Wingdings" panose="05000000000000000000" pitchFamily="2" charset="2"/>
              </a:rPr>
              <a:t>2</a:t>
            </a:r>
            <a:r>
              <a:rPr lang="en-US" dirty="0"/>
              <a:t> </a:t>
            </a:r>
          </a:p>
          <a:p>
            <a:pPr marL="0" indent="0">
              <a:buNone/>
              <a:tabLst>
                <a:tab pos="1198563" algn="l"/>
              </a:tabLst>
            </a:pPr>
            <a:endParaRPr lang="en-US" sz="1200" dirty="0"/>
          </a:p>
          <a:p>
            <a:pPr marL="0" indent="0">
              <a:buNone/>
              <a:tabLst>
                <a:tab pos="1198563" algn="l"/>
              </a:tabLst>
            </a:pPr>
            <a:r>
              <a:rPr lang="en-US" dirty="0"/>
              <a:t>75.75</a:t>
            </a:r>
            <a:r>
              <a:rPr lang="en-US" baseline="-25000" dirty="0"/>
              <a:t>10</a:t>
            </a:r>
            <a:r>
              <a:rPr lang="en-US" dirty="0"/>
              <a:t>	= 1001011.11</a:t>
            </a:r>
            <a:r>
              <a:rPr lang="en-US" baseline="-25000" dirty="0"/>
              <a:t>2</a:t>
            </a:r>
            <a:endParaRPr lang="en-US" sz="1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81926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27" y="726541"/>
            <a:ext cx="7974873" cy="677144"/>
          </a:xfrm>
        </p:spPr>
        <p:txBody>
          <a:bodyPr>
            <a:normAutofit/>
          </a:bodyPr>
          <a:lstStyle/>
          <a:p>
            <a:pPr marL="514350" indent="-514350"/>
            <a:r>
              <a:rPr lang="en-US" dirty="0"/>
              <a:t>Convert -75.75</a:t>
            </a:r>
            <a:r>
              <a:rPr lang="en-US" baseline="-25000" dirty="0"/>
              <a:t>10</a:t>
            </a:r>
            <a:r>
              <a:rPr lang="en-US" dirty="0"/>
              <a:t> to 2’s complement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3361947" y="1535113"/>
            <a:ext cx="5389033" cy="639762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  <a:r>
              <a:rPr lang="en-US" baseline="30000" dirty="0">
                <a:solidFill>
                  <a:schemeClr val="bg1"/>
                </a:solidFill>
              </a:rPr>
              <a:t>nd</a:t>
            </a:r>
            <a:r>
              <a:rPr lang="en-US" dirty="0">
                <a:solidFill>
                  <a:schemeClr val="bg1"/>
                </a:solidFill>
              </a:rPr>
              <a:t>: Convert to 2’s Complement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>
          <a:xfrm>
            <a:off x="3361947" y="2174875"/>
            <a:ext cx="5389033" cy="3951288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1371600" algn="l"/>
              </a:tabLst>
            </a:pPr>
            <a:endParaRPr lang="en-US" sz="1200" dirty="0">
              <a:solidFill>
                <a:srgbClr val="FF0000"/>
              </a:solidFill>
            </a:endParaRPr>
          </a:p>
          <a:p>
            <a:pPr marL="0" indent="0">
              <a:buNone/>
              <a:tabLst>
                <a:tab pos="1371600" algn="l"/>
              </a:tabLst>
            </a:pPr>
            <a:r>
              <a:rPr lang="en-US" b="1" dirty="0">
                <a:solidFill>
                  <a:srgbClr val="FF0000"/>
                </a:solidFill>
              </a:rPr>
              <a:t>+</a:t>
            </a:r>
            <a:r>
              <a:rPr lang="en-US" dirty="0"/>
              <a:t>75.75</a:t>
            </a:r>
            <a:r>
              <a:rPr lang="en-US" baseline="-25000" dirty="0"/>
              <a:t>10</a:t>
            </a:r>
            <a:r>
              <a:rPr lang="en-US" dirty="0"/>
              <a:t>	= </a:t>
            </a:r>
            <a:r>
              <a:rPr lang="en-US" b="1" dirty="0">
                <a:solidFill>
                  <a:srgbClr val="FF0000"/>
                </a:solidFill>
              </a:rPr>
              <a:t>0</a:t>
            </a:r>
            <a:r>
              <a:rPr lang="en-US" dirty="0"/>
              <a:t>1001011.11</a:t>
            </a:r>
            <a:r>
              <a:rPr lang="en-US" baseline="-25000" dirty="0"/>
              <a:t>2</a:t>
            </a:r>
            <a:endParaRPr lang="en-US" dirty="0"/>
          </a:p>
          <a:p>
            <a:pPr marL="0" indent="0">
              <a:buNone/>
              <a:tabLst>
                <a:tab pos="1371600" algn="l"/>
              </a:tabLst>
            </a:pPr>
            <a:endParaRPr lang="en-US" sz="1200" dirty="0"/>
          </a:p>
          <a:p>
            <a:pPr marL="0" indent="0">
              <a:buNone/>
              <a:tabLst>
                <a:tab pos="1371600" algn="l"/>
              </a:tabLst>
            </a:pPr>
            <a:r>
              <a:rPr lang="en-US" b="1" i="1" dirty="0"/>
              <a:t>Find </a:t>
            </a:r>
            <a:r>
              <a:rPr lang="en-US" b="1" i="1" dirty="0">
                <a:solidFill>
                  <a:srgbClr val="FF0000"/>
                </a:solidFill>
              </a:rPr>
              <a:t>─</a:t>
            </a:r>
            <a:r>
              <a:rPr lang="en-US" b="1" i="1" dirty="0"/>
              <a:t>75.75</a:t>
            </a:r>
            <a:r>
              <a:rPr lang="en-US" b="1" i="1" baseline="-25000" dirty="0"/>
              <a:t>10</a:t>
            </a:r>
            <a:r>
              <a:rPr lang="en-US" b="1" i="1" dirty="0"/>
              <a:t>:</a:t>
            </a:r>
          </a:p>
          <a:p>
            <a:pPr marL="0" indent="0">
              <a:buNone/>
              <a:tabLst>
                <a:tab pos="1371600" algn="l"/>
              </a:tabLst>
            </a:pPr>
            <a:endParaRPr lang="en-US" sz="1200" dirty="0"/>
          </a:p>
          <a:p>
            <a:pPr marL="0" indent="0">
              <a:buNone/>
              <a:tabLst>
                <a:tab pos="1604963" algn="l"/>
              </a:tabLst>
            </a:pPr>
            <a:r>
              <a:rPr lang="en-US" dirty="0"/>
              <a:t>2’s Comp:	10110100.01</a:t>
            </a:r>
          </a:p>
          <a:p>
            <a:pPr marL="0" indent="0">
              <a:buNone/>
              <a:tabLst>
                <a:tab pos="1604963" algn="l"/>
              </a:tabLst>
            </a:pPr>
            <a:endParaRPr lang="en-US" sz="1200" dirty="0"/>
          </a:p>
          <a:p>
            <a:pPr marL="0" indent="0">
              <a:buNone/>
              <a:tabLst>
                <a:tab pos="1371600" algn="l"/>
              </a:tabLst>
            </a:pPr>
            <a:endParaRPr lang="en-US" dirty="0"/>
          </a:p>
          <a:p>
            <a:pPr marL="0" indent="0">
              <a:buNone/>
              <a:tabLst>
                <a:tab pos="1371600" algn="l"/>
              </a:tabLst>
            </a:pPr>
            <a:endParaRPr lang="en-US" dirty="0"/>
          </a:p>
          <a:p>
            <a:pPr marL="0" indent="0">
              <a:buNone/>
              <a:tabLst>
                <a:tab pos="1371600" algn="l"/>
              </a:tabLst>
            </a:pPr>
            <a:endParaRPr lang="en-US" dirty="0"/>
          </a:p>
          <a:p>
            <a:pPr marL="0" indent="0">
              <a:buNone/>
              <a:tabLst>
                <a:tab pos="1371600" algn="l"/>
              </a:tabLst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988478" y="4972051"/>
            <a:ext cx="3430995" cy="1154112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The most-significant bit must be “1” (negative), so the </a:t>
            </a:r>
            <a:r>
              <a:rPr lang="en-US" i="1" u="sng" dirty="0">
                <a:solidFill>
                  <a:schemeClr val="tx1"/>
                </a:solidFill>
              </a:rPr>
              <a:t>minimum</a:t>
            </a:r>
            <a:r>
              <a:rPr lang="en-US" dirty="0">
                <a:solidFill>
                  <a:schemeClr val="tx1"/>
                </a:solidFill>
              </a:rPr>
              <a:t> number of bits is 10.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129473" y="4295274"/>
            <a:ext cx="4001" cy="67677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26754" y="3071020"/>
            <a:ext cx="2678520" cy="644524"/>
          </a:xfrm>
          <a:prstGeom prst="rect">
            <a:avLst/>
          </a:prstGeom>
          <a:solidFill>
            <a:srgbClr val="FF0000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Make sure the most-significant bit is 0.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5188630" y="2814638"/>
            <a:ext cx="238125" cy="25638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89279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63" y="711994"/>
            <a:ext cx="9144000" cy="611480"/>
          </a:xfrm>
        </p:spPr>
        <p:txBody>
          <a:bodyPr>
            <a:normAutofit/>
          </a:bodyPr>
          <a:lstStyle/>
          <a:p>
            <a:r>
              <a:rPr lang="en-US" dirty="0"/>
              <a:t>Convert 2’s Comp. 1001.0110</a:t>
            </a:r>
            <a:r>
              <a:rPr lang="en-US" baseline="-25000" dirty="0"/>
              <a:t>2</a:t>
            </a:r>
            <a:r>
              <a:rPr lang="en-US" dirty="0"/>
              <a:t> to decimal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3721756" y="1555168"/>
            <a:ext cx="5386917" cy="639762"/>
          </a:xfrm>
          <a:solidFill>
            <a:schemeClr val="tx1"/>
          </a:solidFill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Method #1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3721756" y="2194930"/>
            <a:ext cx="5386917" cy="39512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2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001.0110 (&lt; 0) - Find pos. </a:t>
            </a:r>
            <a:r>
              <a:rPr lang="en-US" dirty="0" err="1"/>
              <a:t>equiv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  <a:tabLst>
                <a:tab pos="2173288" algn="l"/>
              </a:tabLst>
            </a:pPr>
            <a:r>
              <a:rPr lang="en-US" dirty="0">
                <a:sym typeface="Wingdings" panose="05000000000000000000" pitchFamily="2" charset="2"/>
              </a:rPr>
              <a:t>2’s Comp:	0110.1010</a:t>
            </a:r>
          </a:p>
          <a:p>
            <a:pPr marL="0" indent="0">
              <a:buNone/>
              <a:tabLst>
                <a:tab pos="2173288" algn="l"/>
              </a:tabLst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2173288" algn="l"/>
              </a:tabLst>
            </a:pPr>
            <a:r>
              <a:rPr lang="en-US" dirty="0">
                <a:sym typeface="Wingdings" panose="05000000000000000000" pitchFamily="2" charset="2"/>
              </a:rPr>
              <a:t>Get decimal	= 4+2+.5+.125</a:t>
            </a:r>
          </a:p>
          <a:p>
            <a:pPr marL="0" indent="0">
              <a:buNone/>
              <a:tabLst>
                <a:tab pos="2173288" algn="l"/>
              </a:tabLst>
            </a:pPr>
            <a:r>
              <a:rPr lang="en-US" dirty="0">
                <a:sym typeface="Wingdings" panose="05000000000000000000" pitchFamily="2" charset="2"/>
              </a:rPr>
              <a:t>	= 6.625</a:t>
            </a:r>
            <a:r>
              <a:rPr lang="en-US" baseline="-25000" dirty="0">
                <a:sym typeface="Wingdings" panose="05000000000000000000" pitchFamily="2" charset="2"/>
              </a:rPr>
              <a:t>10</a:t>
            </a:r>
          </a:p>
          <a:p>
            <a:pPr marL="0" indent="0">
              <a:buNone/>
              <a:tabLst>
                <a:tab pos="2173288" algn="l"/>
              </a:tabLst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  <a:tabLst>
                <a:tab pos="2173288" algn="l"/>
              </a:tabLst>
            </a:pPr>
            <a:r>
              <a:rPr lang="en-US" dirty="0">
                <a:sym typeface="Wingdings" panose="05000000000000000000" pitchFamily="2" charset="2"/>
              </a:rPr>
              <a:t>Add minus sign	-6.625</a:t>
            </a:r>
            <a:r>
              <a:rPr lang="en-US" baseline="-25000" dirty="0">
                <a:sym typeface="Wingdings" panose="05000000000000000000" pitchFamily="2" charset="2"/>
              </a:rPr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2971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463" y="711994"/>
            <a:ext cx="9144000" cy="611480"/>
          </a:xfrm>
        </p:spPr>
        <p:txBody>
          <a:bodyPr>
            <a:normAutofit/>
          </a:bodyPr>
          <a:lstStyle/>
          <a:p>
            <a:r>
              <a:rPr lang="en-US" dirty="0"/>
              <a:t>Convert 2’s Comp. 1001.0110</a:t>
            </a:r>
            <a:r>
              <a:rPr lang="en-US" baseline="-25000" dirty="0"/>
              <a:t>2</a:t>
            </a:r>
            <a:r>
              <a:rPr lang="en-US" dirty="0"/>
              <a:t> to decimal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>
          <a:xfrm>
            <a:off x="3361947" y="1535113"/>
            <a:ext cx="5389033" cy="639762"/>
          </a:xfrm>
          <a:solidFill>
            <a:schemeClr val="tx1"/>
          </a:solidFill>
        </p:spPr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Method #2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3361947" y="2174875"/>
            <a:ext cx="5389033" cy="3951288"/>
          </a:xfrm>
        </p:spPr>
        <p:txBody>
          <a:bodyPr/>
          <a:lstStyle/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dirty="0"/>
              <a:t>Use poly. </a:t>
            </a:r>
            <a:r>
              <a:rPr lang="en-US" dirty="0" err="1"/>
              <a:t>eval</a:t>
            </a:r>
            <a:r>
              <a:rPr lang="en-US" dirty="0"/>
              <a:t>. w/neg. 1</a:t>
            </a:r>
            <a:r>
              <a:rPr lang="en-US" baseline="30000" dirty="0"/>
              <a:t>st</a:t>
            </a:r>
            <a:r>
              <a:rPr lang="en-US" dirty="0"/>
              <a:t> term: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1</a:t>
            </a:r>
            <a:r>
              <a:rPr lang="en-US" dirty="0"/>
              <a:t>001.0110: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= </a:t>
            </a:r>
            <a:r>
              <a:rPr lang="en-US" b="1" dirty="0">
                <a:solidFill>
                  <a:srgbClr val="FF0000"/>
                </a:solidFill>
              </a:rPr>
              <a:t>-</a:t>
            </a:r>
            <a:r>
              <a:rPr lang="en-US" dirty="0">
                <a:solidFill>
                  <a:srgbClr val="FF0000"/>
                </a:solidFill>
              </a:rPr>
              <a:t>8</a:t>
            </a:r>
            <a:r>
              <a:rPr lang="en-US" dirty="0"/>
              <a:t> + 1 + .25 + .125 </a:t>
            </a:r>
          </a:p>
          <a:p>
            <a:pPr marL="0" indent="0">
              <a:buNone/>
            </a:pPr>
            <a:r>
              <a:rPr lang="en-US" dirty="0"/>
              <a:t>	= -7 + .375</a:t>
            </a:r>
          </a:p>
          <a:p>
            <a:pPr marL="0" indent="0">
              <a:buNone/>
            </a:pPr>
            <a:r>
              <a:rPr lang="en-US" dirty="0"/>
              <a:t>	= -6.625</a:t>
            </a:r>
            <a:r>
              <a:rPr lang="en-US" baseline="-25000" dirty="0"/>
              <a:t>10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32292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879" y="770341"/>
            <a:ext cx="3996054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1" spc="-5" dirty="0">
                <a:latin typeface="Calibri"/>
                <a:cs typeface="Calibri"/>
              </a:rPr>
              <a:t>Review</a:t>
            </a:r>
            <a:r>
              <a:rPr i="1" spc="-60" dirty="0">
                <a:latin typeface="Calibri"/>
                <a:cs typeface="Calibri"/>
              </a:rPr>
              <a:t> </a:t>
            </a:r>
            <a:r>
              <a:rPr i="1" spc="-5" dirty="0">
                <a:latin typeface="Calibri"/>
                <a:cs typeface="Calibri"/>
              </a:rPr>
              <a:t>Problems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879" y="1781209"/>
            <a:ext cx="10399921" cy="25032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sz="26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Signed: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81000" marR="0" lvl="0" indent="-342900" algn="l" defTabSz="914400" rtl="0" eaLnBrk="1" fontAlgn="auto" latinLnBrk="0" hangingPunct="1">
              <a:lnSpc>
                <a:spcPts val="3215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0365" algn="l"/>
                <a:tab pos="381000" algn="l"/>
              </a:tabLst>
              <a:defRPr/>
            </a:pPr>
            <a:endParaRPr kumimoji="0" lang="en-US" sz="27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81000" marR="0" lvl="0" indent="-342900" algn="l" defTabSz="914400" rtl="0" eaLnBrk="1" fontAlgn="auto" latinLnBrk="0" hangingPunct="1">
              <a:lnSpc>
                <a:spcPts val="3215"/>
              </a:lnSpc>
              <a:spcBef>
                <a:spcPts val="7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0365" algn="l"/>
                <a:tab pos="381000" algn="l"/>
              </a:tabLst>
              <a:defRPr/>
            </a:pP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Convert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-75.75</a:t>
            </a:r>
            <a:r>
              <a:rPr kumimoji="0" sz="2700" b="0" i="0" u="none" strike="noStrike" kern="1200" cap="none" spc="-7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r>
              <a:rPr kumimoji="0" sz="2700" b="0" i="0" u="none" strike="noStrike" kern="1200" cap="none" spc="284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signed</a:t>
            </a:r>
            <a:r>
              <a:rPr kumimoji="0" sz="27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2’s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complement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81000" marR="0" lvl="0" indent="-342900" algn="l" defTabSz="914400" rtl="0" eaLnBrk="1" fontAlgn="auto" latinLnBrk="0" hangingPunct="1">
              <a:lnSpc>
                <a:spcPts val="32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0365" algn="l"/>
                <a:tab pos="381000" algn="l"/>
              </a:tabLst>
              <a:defRPr/>
            </a:pPr>
            <a:endParaRPr kumimoji="0" lang="en-US" sz="27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81000" marR="0" lvl="0" indent="-342900" algn="l" defTabSz="914400" rtl="0" eaLnBrk="1" fontAlgn="auto" latinLnBrk="0" hangingPunct="1">
              <a:lnSpc>
                <a:spcPts val="321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80365" algn="l"/>
                <a:tab pos="381000" algn="l"/>
              </a:tabLst>
              <a:defRPr/>
            </a:pP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Convert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1001.0110</a:t>
            </a:r>
            <a:r>
              <a:rPr kumimoji="0" sz="2700" b="0" i="0" u="none" strike="noStrike" kern="1200" cap="none" spc="-15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700" b="0" i="0" u="none" strike="noStrike" kern="1200" cap="none" spc="300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from</a:t>
            </a:r>
            <a:r>
              <a:rPr kumimoji="0" sz="27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2’s</a:t>
            </a:r>
            <a:r>
              <a:rPr kumimoji="0" sz="27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comp.</a:t>
            </a:r>
            <a:r>
              <a:rPr kumimoji="0" sz="27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7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decimal</a:t>
            </a:r>
            <a:endParaRPr kumimoji="0" sz="2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0" y="0"/>
            <a:ext cx="1209216" cy="686085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rgbClr val="0000C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28725" marR="5080" lvl="0" indent="-1216025" algn="l" defTabSz="914400" rtl="0" eaLnBrk="1" fontAlgn="auto" latinLnBrk="0" hangingPunct="1">
              <a:lnSpc>
                <a:spcPct val="100499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MOE</a:t>
            </a:r>
          </a:p>
        </p:txBody>
      </p:sp>
    </p:spTree>
    <p:extLst>
      <p:ext uri="{BB962C8B-B14F-4D97-AF65-F5344CB8AC3E}">
        <p14:creationId xmlns:p14="http://schemas.microsoft.com/office/powerpoint/2010/main" val="17059339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3320" y="745753"/>
            <a:ext cx="7466965" cy="63500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Convert</a:t>
            </a:r>
            <a:r>
              <a:rPr sz="4000" spc="-20" dirty="0"/>
              <a:t> </a:t>
            </a:r>
            <a:r>
              <a:rPr sz="4000" spc="-5" dirty="0"/>
              <a:t>-75.75</a:t>
            </a:r>
            <a:r>
              <a:rPr sz="4050" spc="-7" baseline="-18518" dirty="0"/>
              <a:t>10</a:t>
            </a:r>
            <a:r>
              <a:rPr sz="4050" spc="390" baseline="-18518" dirty="0"/>
              <a:t> </a:t>
            </a:r>
            <a:r>
              <a:rPr sz="4000" spc="-5" dirty="0"/>
              <a:t>to</a:t>
            </a:r>
            <a:r>
              <a:rPr sz="4000" spc="-15" dirty="0"/>
              <a:t> </a:t>
            </a:r>
            <a:r>
              <a:rPr sz="4000" spc="-5" dirty="0"/>
              <a:t>2’s</a:t>
            </a:r>
            <a:r>
              <a:rPr sz="4000" spc="-15" dirty="0"/>
              <a:t> </a:t>
            </a:r>
            <a:r>
              <a:rPr sz="4000" spc="-5" dirty="0"/>
              <a:t>complement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034716" y="1578997"/>
            <a:ext cx="4495800" cy="4809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10489" rIns="0" bIns="0" rtlCol="0">
            <a:spAutoFit/>
          </a:bodyPr>
          <a:lstStyle/>
          <a:p>
            <a:pPr marL="91440" marR="0" lvl="0" indent="0" algn="l" defTabSz="914400" rtl="0" eaLnBrk="1" fontAlgn="auto" latinLnBrk="0" hangingPunct="1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400" b="1" i="0" u="none" strike="noStrike" kern="1200" cap="none" spc="-7" normalizeH="0" baseline="24305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Get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Binary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Magnitude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1038702" y="2373059"/>
            <a:ext cx="4623647" cy="3341941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1274445" algn="l"/>
              </a:tabLst>
            </a:pPr>
            <a:r>
              <a:rPr spc="-5" dirty="0"/>
              <a:t>75</a:t>
            </a:r>
            <a:r>
              <a:rPr spc="-7" baseline="-17361" dirty="0"/>
              <a:t>10	</a:t>
            </a:r>
            <a:r>
              <a:rPr dirty="0"/>
              <a:t>=</a:t>
            </a:r>
            <a:r>
              <a:rPr spc="-20" dirty="0"/>
              <a:t> </a:t>
            </a:r>
            <a:r>
              <a:rPr spc="-5" dirty="0"/>
              <a:t>64</a:t>
            </a:r>
            <a:r>
              <a:rPr spc="-20" dirty="0"/>
              <a:t> </a:t>
            </a:r>
            <a:r>
              <a:rPr dirty="0"/>
              <a:t>+</a:t>
            </a:r>
            <a:r>
              <a:rPr spc="-15" dirty="0"/>
              <a:t> </a:t>
            </a:r>
            <a:r>
              <a:rPr dirty="0"/>
              <a:t>8</a:t>
            </a:r>
            <a:r>
              <a:rPr spc="-20" dirty="0"/>
              <a:t> </a:t>
            </a:r>
            <a:r>
              <a:rPr dirty="0"/>
              <a:t>+</a:t>
            </a:r>
            <a:r>
              <a:rPr spc="-20" dirty="0"/>
              <a:t> </a:t>
            </a:r>
            <a:r>
              <a:rPr dirty="0"/>
              <a:t>2</a:t>
            </a:r>
            <a:r>
              <a:rPr spc="-20" dirty="0"/>
              <a:t> </a:t>
            </a:r>
            <a:r>
              <a:rPr dirty="0"/>
              <a:t>+</a:t>
            </a:r>
            <a:r>
              <a:rPr spc="-15" dirty="0"/>
              <a:t> </a:t>
            </a:r>
            <a:r>
              <a:rPr dirty="0"/>
              <a:t>1</a:t>
            </a:r>
            <a:endParaRPr lang="en-US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1274445" algn="l"/>
              </a:tabLst>
            </a:pPr>
            <a:r>
              <a:rPr lang="en-US" dirty="0"/>
              <a:t>	=</a:t>
            </a:r>
            <a:r>
              <a:rPr lang="en-US" spc="-15" dirty="0"/>
              <a:t> </a:t>
            </a:r>
            <a:r>
              <a:rPr lang="en-US" spc="-5" dirty="0"/>
              <a:t>2</a:t>
            </a:r>
            <a:r>
              <a:rPr lang="en-US" spc="-7" baseline="24305" dirty="0"/>
              <a:t>6</a:t>
            </a:r>
            <a:r>
              <a:rPr lang="en-US" spc="247" baseline="24305" dirty="0"/>
              <a:t> </a:t>
            </a:r>
            <a:r>
              <a:rPr lang="en-US" dirty="0"/>
              <a:t>+</a:t>
            </a:r>
            <a:r>
              <a:rPr lang="en-US" spc="-15" dirty="0"/>
              <a:t> </a:t>
            </a:r>
            <a:r>
              <a:rPr lang="en-US" spc="-5" dirty="0"/>
              <a:t>2</a:t>
            </a:r>
            <a:r>
              <a:rPr lang="en-US" spc="-7" baseline="24305" dirty="0"/>
              <a:t>3</a:t>
            </a:r>
            <a:r>
              <a:rPr lang="en-US" spc="247" baseline="24305" dirty="0"/>
              <a:t> </a:t>
            </a:r>
            <a:r>
              <a:rPr lang="en-US" dirty="0"/>
              <a:t>+</a:t>
            </a:r>
            <a:r>
              <a:rPr lang="en-US" spc="-15" dirty="0"/>
              <a:t> </a:t>
            </a:r>
            <a:r>
              <a:rPr lang="en-US" spc="-5" dirty="0"/>
              <a:t>2</a:t>
            </a:r>
            <a:r>
              <a:rPr lang="en-US" spc="-7" baseline="24305" dirty="0"/>
              <a:t>1</a:t>
            </a:r>
            <a:r>
              <a:rPr lang="en-US" spc="247" baseline="24305" dirty="0"/>
              <a:t> </a:t>
            </a:r>
            <a:r>
              <a:rPr lang="en-US" dirty="0"/>
              <a:t>+</a:t>
            </a:r>
            <a:r>
              <a:rPr lang="en-US" spc="-15" dirty="0"/>
              <a:t> </a:t>
            </a:r>
            <a:r>
              <a:rPr lang="en-US" spc="-5" dirty="0"/>
              <a:t>2</a:t>
            </a:r>
            <a:r>
              <a:rPr lang="en-US" spc="-7" baseline="24305" dirty="0"/>
              <a:t>0</a:t>
            </a:r>
            <a:endParaRPr lang="en-US" baseline="24305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1274445" algn="l"/>
              </a:tabLst>
            </a:pPr>
            <a:r>
              <a:rPr lang="en-US" dirty="0"/>
              <a:t>	=</a:t>
            </a:r>
            <a:r>
              <a:rPr lang="en-US" spc="-45" dirty="0"/>
              <a:t> </a:t>
            </a:r>
            <a:r>
              <a:rPr lang="en-US" spc="-5" dirty="0"/>
              <a:t>1001011</a:t>
            </a:r>
            <a:r>
              <a:rPr lang="en-US" spc="-7" baseline="-17361" dirty="0"/>
              <a:t>2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1274445" algn="l"/>
              </a:tabLst>
            </a:pPr>
            <a:r>
              <a:rPr lang="en-US" spc="-5" dirty="0"/>
              <a:t>75</a:t>
            </a:r>
            <a:r>
              <a:rPr lang="en-US" spc="-7" baseline="-17361" dirty="0"/>
              <a:t>10	</a:t>
            </a:r>
            <a:r>
              <a:rPr lang="en-US" dirty="0"/>
              <a:t>=</a:t>
            </a:r>
            <a:r>
              <a:rPr lang="en-US" spc="-40" dirty="0"/>
              <a:t> </a:t>
            </a:r>
            <a:r>
              <a:rPr lang="en-US" spc="-5" dirty="0"/>
              <a:t>.5</a:t>
            </a:r>
            <a:r>
              <a:rPr lang="en-US" spc="-45" dirty="0"/>
              <a:t> </a:t>
            </a:r>
            <a:r>
              <a:rPr lang="en-US" dirty="0"/>
              <a:t>+</a:t>
            </a:r>
            <a:r>
              <a:rPr lang="en-US" spc="-35" dirty="0"/>
              <a:t> </a:t>
            </a:r>
            <a:r>
              <a:rPr lang="en-US" spc="-5" dirty="0"/>
              <a:t>.25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1274445" algn="l"/>
              </a:tabLst>
            </a:pPr>
            <a:r>
              <a:rPr lang="en-US" baseline="-16203" dirty="0"/>
              <a:t>	=</a:t>
            </a:r>
            <a:r>
              <a:rPr lang="en-US" spc="-52" baseline="-16203" dirty="0"/>
              <a:t> </a:t>
            </a:r>
            <a:r>
              <a:rPr lang="en-US" spc="-7" baseline="-16203" dirty="0"/>
              <a:t>2</a:t>
            </a:r>
            <a:r>
              <a:rPr lang="en-US" spc="-5" dirty="0"/>
              <a:t>-1</a:t>
            </a:r>
            <a:r>
              <a:rPr lang="en-US" spc="145" dirty="0"/>
              <a:t> </a:t>
            </a:r>
            <a:r>
              <a:rPr lang="en-US" baseline="-16203" dirty="0"/>
              <a:t>+</a:t>
            </a:r>
            <a:r>
              <a:rPr lang="en-US" spc="-52" baseline="-16203" dirty="0"/>
              <a:t> </a:t>
            </a:r>
            <a:r>
              <a:rPr lang="en-US" spc="-7" baseline="-16203" dirty="0"/>
              <a:t>2</a:t>
            </a:r>
            <a:r>
              <a:rPr lang="en-US" spc="-5" dirty="0"/>
              <a:t>-2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  <a:tabLst>
                <a:tab pos="1274445" algn="l"/>
              </a:tabLst>
            </a:pPr>
            <a:r>
              <a:rPr lang="en-US" dirty="0"/>
              <a:t>	=</a:t>
            </a:r>
            <a:r>
              <a:rPr lang="en-US" spc="-50" dirty="0"/>
              <a:t> </a:t>
            </a:r>
            <a:r>
              <a:rPr lang="en-US" spc="-5" dirty="0"/>
              <a:t>.11</a:t>
            </a:r>
            <a:r>
              <a:rPr lang="en-US" spc="-7" baseline="-17361" dirty="0"/>
              <a:t>2</a:t>
            </a:r>
            <a:endParaRPr baseline="-17361" dirty="0"/>
          </a:p>
          <a:p>
            <a:pPr marL="0" indent="0">
              <a:lnSpc>
                <a:spcPct val="100000"/>
              </a:lnSpc>
              <a:spcBef>
                <a:spcPts val="2325"/>
              </a:spcBef>
              <a:buNone/>
              <a:tabLst>
                <a:tab pos="1274445" algn="l"/>
              </a:tabLst>
            </a:pPr>
            <a:r>
              <a:rPr spc="-5" dirty="0"/>
              <a:t>75.75</a:t>
            </a:r>
            <a:r>
              <a:rPr spc="-7" baseline="-17361" dirty="0"/>
              <a:t>10	</a:t>
            </a:r>
            <a:r>
              <a:rPr dirty="0"/>
              <a:t>=</a:t>
            </a:r>
            <a:r>
              <a:rPr spc="-45" dirty="0"/>
              <a:t> </a:t>
            </a:r>
            <a:r>
              <a:rPr spc="-5" dirty="0"/>
              <a:t>1001011.11</a:t>
            </a:r>
            <a:r>
              <a:rPr spc="-7" baseline="-17361" dirty="0"/>
              <a:t>2</a:t>
            </a:r>
            <a:endParaRPr baseline="-17361" dirty="0"/>
          </a:p>
        </p:txBody>
      </p:sp>
      <p:sp>
        <p:nvSpPr>
          <p:cNvPr id="5" name="object 5"/>
          <p:cNvSpPr txBox="1"/>
          <p:nvPr/>
        </p:nvSpPr>
        <p:spPr>
          <a:xfrm>
            <a:off x="5995353" y="1578997"/>
            <a:ext cx="4291647" cy="478977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39065" rIns="0" bIns="0" rtlCol="0">
            <a:spAutoFit/>
          </a:bodyPr>
          <a:lstStyle/>
          <a:p>
            <a:pPr marL="90805" marR="0" lvl="0" indent="0" algn="l" defTabSz="914400" rtl="0" eaLnBrk="1" fontAlgn="auto" latinLnBrk="0" hangingPunct="1">
              <a:lnSpc>
                <a:spcPct val="100000"/>
              </a:lnSpc>
              <a:spcBef>
                <a:spcPts val="10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r>
              <a:rPr kumimoji="0" sz="2250" b="1" i="0" u="none" strike="noStrike" kern="1200" cap="none" spc="-22" normalizeH="0" baseline="25925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nd</a:t>
            </a:r>
            <a:r>
              <a:rPr kumimoji="0" sz="2200" b="1" i="0" u="none" strike="noStrike" kern="1200" cap="none" spc="-1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r>
              <a:rPr kumimoji="0" sz="22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Convert to 2’s</a:t>
            </a:r>
            <a:r>
              <a:rPr kumimoji="0" sz="2200" b="1" i="0" u="none" strike="noStrike" kern="1200" cap="none" spc="-1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Complement</a:t>
            </a:r>
            <a:endParaRPr kumimoji="0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09666" y="2450084"/>
            <a:ext cx="3413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421765" algn="l"/>
              </a:tabLst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75.75</a:t>
            </a:r>
            <a:r>
              <a:rPr kumimoji="0" sz="2400" b="0" i="0" u="none" strike="noStrike" kern="1200" cap="none" spc="-7" normalizeH="0" baseline="-1736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	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400" b="0" i="0" u="none" strike="noStrike" kern="120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1001011.11</a:t>
            </a:r>
            <a:r>
              <a:rPr kumimoji="0" sz="2400" b="0" i="0" u="none" strike="noStrike" kern="1200" cap="none" spc="-7" normalizeH="0" baseline="-1736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</a:t>
            </a:r>
            <a:endParaRPr kumimoji="0" sz="2400" b="0" i="0" u="none" strike="noStrike" kern="1200" cap="none" spc="0" normalizeH="0" baseline="-1736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700328" y="3261867"/>
            <a:ext cx="23177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47766" y="3096259"/>
            <a:ext cx="1768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671320" algn="l"/>
              </a:tabLst>
              <a:defRPr/>
            </a:pPr>
            <a:r>
              <a:rPr kumimoji="0" sz="2400" b="1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</a:t>
            </a:r>
            <a:r>
              <a:rPr kumimoji="0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</a:t>
            </a:r>
            <a:r>
              <a:rPr kumimoji="0" sz="2400" b="1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─</a:t>
            </a:r>
            <a:r>
              <a:rPr kumimoji="0" sz="2400" b="1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75.7</a:t>
            </a:r>
            <a:r>
              <a:rPr kumimoji="0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5	: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228715" y="3784962"/>
          <a:ext cx="3285489" cy="169185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6743">
                <a:tc>
                  <a:txBody>
                    <a:bodyPr/>
                    <a:lstStyle/>
                    <a:p>
                      <a:pPr marL="31750">
                        <a:lnSpc>
                          <a:spcPts val="2765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Ignore</a:t>
                      </a:r>
                      <a:r>
                        <a:rPr sz="24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“.”: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765"/>
                        </a:lnSpc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0100101111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892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2’s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Comp: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30175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1011010001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30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521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Restore</a:t>
                      </a:r>
                      <a:r>
                        <a:rPr sz="24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400" spc="-5" dirty="0">
                          <a:latin typeface="Calibri"/>
                          <a:cs typeface="Calibri"/>
                        </a:rPr>
                        <a:t>“.”: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12827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r>
                        <a:rPr sz="2400" spc="-5" dirty="0">
                          <a:latin typeface="Calibri"/>
                          <a:cs typeface="Calibri"/>
                        </a:rPr>
                        <a:t>10110100.01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1282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467600" y="5715000"/>
            <a:ext cx="2743200" cy="914400"/>
          </a:xfrm>
          <a:prstGeom prst="rect">
            <a:avLst/>
          </a:prstGeom>
          <a:solidFill>
            <a:srgbClr val="FF0000">
              <a:alpha val="25099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 marL="112395" marR="0" lvl="0" indent="0" algn="l" defTabSz="914400" rtl="0" eaLnBrk="1" fontAlgn="auto" latinLnBrk="0" hangingPunct="1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1" u="sng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ea typeface="+mn-ea"/>
                <a:cs typeface="Times New Roman"/>
              </a:rPr>
              <a:t>minimum</a:t>
            </a:r>
            <a:r>
              <a:rPr kumimoji="0" sz="2000" b="0" i="1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number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of</a:t>
            </a:r>
          </a:p>
          <a:p>
            <a:pPr marL="610870" marR="195580" lvl="0" indent="-40830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bits</a:t>
            </a: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</a:t>
            </a: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represent</a:t>
            </a:r>
            <a:r>
              <a:rPr kumimoji="0" sz="20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-75.75 </a:t>
            </a:r>
            <a:r>
              <a:rPr kumimoji="0" sz="2000" b="0" i="0" u="none" strike="noStrike" kern="1200" cap="none" spc="-48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binary</a:t>
            </a: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sz="20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10.</a:t>
            </a:r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0" y="0"/>
            <a:ext cx="1209216" cy="686085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rgbClr val="0000C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28725" marR="5080" lvl="0" indent="-1216025" algn="l" defTabSz="914400" rtl="0" eaLnBrk="1" fontAlgn="auto" latinLnBrk="0" hangingPunct="1">
              <a:lnSpc>
                <a:spcPct val="100499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MOE</a:t>
            </a:r>
          </a:p>
        </p:txBody>
      </p:sp>
    </p:spTree>
    <p:extLst>
      <p:ext uri="{BB962C8B-B14F-4D97-AF65-F5344CB8AC3E}">
        <p14:creationId xmlns:p14="http://schemas.microsoft.com/office/powerpoint/2010/main" val="127770452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0459" y="730123"/>
            <a:ext cx="8618855" cy="63500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4000" spc="-5" dirty="0"/>
              <a:t>Convert</a:t>
            </a:r>
            <a:r>
              <a:rPr sz="4000" spc="-15" dirty="0"/>
              <a:t> </a:t>
            </a:r>
            <a:r>
              <a:rPr sz="4000" spc="-5" dirty="0"/>
              <a:t>2’s</a:t>
            </a:r>
            <a:r>
              <a:rPr sz="4000" spc="-10" dirty="0"/>
              <a:t> </a:t>
            </a:r>
            <a:r>
              <a:rPr sz="4000" spc="-5" dirty="0"/>
              <a:t>Comp.</a:t>
            </a:r>
            <a:r>
              <a:rPr sz="4000" spc="-10" dirty="0"/>
              <a:t> </a:t>
            </a:r>
            <a:r>
              <a:rPr sz="4000" spc="-5" dirty="0"/>
              <a:t>1001.0110</a:t>
            </a:r>
            <a:r>
              <a:rPr sz="4050" spc="-7" baseline="-18518" dirty="0"/>
              <a:t>2</a:t>
            </a:r>
            <a:r>
              <a:rPr sz="4050" spc="397" baseline="-18518" dirty="0"/>
              <a:t> </a:t>
            </a:r>
            <a:r>
              <a:rPr sz="4000" spc="-5" dirty="0"/>
              <a:t>to</a:t>
            </a:r>
            <a:r>
              <a:rPr sz="4000" spc="-10" dirty="0"/>
              <a:t> </a:t>
            </a:r>
            <a:r>
              <a:rPr sz="4000" spc="-5" dirty="0"/>
              <a:t>decimal</a:t>
            </a:r>
            <a:endParaRPr sz="4000" dirty="0"/>
          </a:p>
        </p:txBody>
      </p:sp>
      <p:sp>
        <p:nvSpPr>
          <p:cNvPr id="3" name="object 3"/>
          <p:cNvSpPr txBox="1"/>
          <p:nvPr/>
        </p:nvSpPr>
        <p:spPr>
          <a:xfrm>
            <a:off x="1981200" y="1535112"/>
            <a:ext cx="4040504" cy="4809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1048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Method</a:t>
            </a:r>
            <a:r>
              <a:rPr kumimoji="0" sz="2400" b="1" i="0" u="none" strike="noStrike" kern="1200" cap="none" spc="-4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#1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59940" y="2371852"/>
            <a:ext cx="379476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001.0110</a:t>
            </a: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(&lt; 0)</a:t>
            </a:r>
            <a:r>
              <a:rPr kumimoji="0" sz="22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Find</a:t>
            </a: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pos.</a:t>
            </a: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equiv: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59940" y="3075940"/>
            <a:ext cx="1272540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1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Ignore “.”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2’s Comp: </a:t>
            </a: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Restore</a:t>
            </a:r>
            <a:r>
              <a:rPr kumimoji="0" sz="2200" b="0" i="0" u="none" strike="noStrike" kern="1200" cap="none" spc="-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“.”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33546" y="3075940"/>
            <a:ext cx="1226185" cy="113220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10010110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01101010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0110.1010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59940" y="4581652"/>
            <a:ext cx="138684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Get</a:t>
            </a:r>
            <a:r>
              <a:rPr kumimoji="0" sz="2200" b="0" i="0" u="none" strike="noStrike" kern="1200" cap="none" spc="-6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decimal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08146" y="4548123"/>
            <a:ext cx="1687195" cy="76327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200" b="0" i="0" u="none" strike="noStrike" kern="120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4+2+.5+.125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2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6.625</a:t>
            </a:r>
            <a:r>
              <a:rPr kumimoji="0" sz="2250" b="0" i="0" u="none" strike="noStrike" kern="1200" cap="none" spc="-22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endParaRPr kumimoji="0" sz="2250" b="0" i="0" u="none" strike="noStrike" kern="1200" cap="none" spc="0" normalizeH="0" baseline="-18518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59941" y="5688076"/>
            <a:ext cx="17481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Add</a:t>
            </a:r>
            <a:r>
              <a:rPr kumimoji="0" sz="22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minus</a:t>
            </a:r>
            <a:r>
              <a:rPr kumimoji="0" sz="22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sign</a:t>
            </a:r>
            <a:endParaRPr kumimoji="0" sz="2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08146" y="5688076"/>
            <a:ext cx="9848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-6.625</a:t>
            </a:r>
            <a:r>
              <a:rPr kumimoji="0" sz="2250" b="0" i="0" u="none" strike="noStrike" kern="1200" cap="none" spc="-15" normalizeH="0" baseline="-18518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endParaRPr kumimoji="0" sz="2250" b="0" i="0" u="none" strike="noStrike" kern="1200" cap="none" spc="0" normalizeH="0" baseline="-18518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69026" y="1535112"/>
            <a:ext cx="4041775" cy="480900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10489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86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Method</a:t>
            </a:r>
            <a:r>
              <a:rPr kumimoji="0" sz="2400" b="1" i="0" u="none" strike="noStrike" kern="1200" cap="none" spc="-4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FF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#2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209665" y="2450085"/>
            <a:ext cx="3950970" cy="280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poly.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eval.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w/neg.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400" b="0" i="0" u="none" strike="noStrike" kern="1200" cap="none" spc="-7" normalizeH="0" baseline="2430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</a:t>
            </a:r>
            <a:r>
              <a:rPr kumimoji="0" sz="2400" b="0" i="0" u="none" strike="noStrike" kern="1200" cap="none" spc="254" normalizeH="0" baseline="24305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term: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22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001.0110: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9652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8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.25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.125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965200" marR="0" lvl="0" indent="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-7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  <a:r>
              <a:rPr kumimoji="0" sz="2400" b="0" i="0" u="none" strike="noStrike" kern="1200" cap="none" spc="-2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.375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96520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=</a:t>
            </a:r>
            <a:r>
              <a:rPr kumimoji="0" sz="2400" b="0" i="0" u="none" strike="noStrike" kern="120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-6.625</a:t>
            </a:r>
            <a:r>
              <a:rPr kumimoji="0" sz="2400" b="0" i="0" u="none" strike="noStrike" kern="1200" cap="none" spc="-7" normalizeH="0" baseline="-1736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endParaRPr kumimoji="0" sz="2400" b="0" i="0" u="none" strike="noStrike" kern="1200" cap="none" spc="0" normalizeH="0" baseline="-17361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object 2"/>
          <p:cNvSpPr txBox="1">
            <a:spLocks/>
          </p:cNvSpPr>
          <p:nvPr/>
        </p:nvSpPr>
        <p:spPr>
          <a:xfrm>
            <a:off x="0" y="0"/>
            <a:ext cx="1209216" cy="686085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rgbClr val="0000C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28725" marR="5080" lvl="0" indent="-1216025" algn="l" defTabSz="914400" rtl="0" eaLnBrk="1" fontAlgn="auto" latinLnBrk="0" hangingPunct="1">
              <a:lnSpc>
                <a:spcPct val="100499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MOE</a:t>
            </a:r>
          </a:p>
        </p:txBody>
      </p:sp>
    </p:spTree>
    <p:extLst>
      <p:ext uri="{BB962C8B-B14F-4D97-AF65-F5344CB8AC3E}">
        <p14:creationId xmlns:p14="http://schemas.microsoft.com/office/powerpoint/2010/main" val="164234931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7638" y="733676"/>
            <a:ext cx="5320030" cy="57404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600" spc="-5" dirty="0"/>
              <a:t>Practice</a:t>
            </a:r>
            <a:r>
              <a:rPr sz="3600" spc="-35" dirty="0"/>
              <a:t> </a:t>
            </a:r>
            <a:r>
              <a:rPr sz="3600" spc="-5" dirty="0"/>
              <a:t>Problems:</a:t>
            </a:r>
            <a:r>
              <a:rPr sz="3600" spc="-25" dirty="0"/>
              <a:t> </a:t>
            </a:r>
            <a:r>
              <a:rPr sz="3600" spc="-5" dirty="0"/>
              <a:t>N</a:t>
            </a:r>
            <a:r>
              <a:rPr sz="3600" spc="-7" baseline="-18518" dirty="0"/>
              <a:t>R1</a:t>
            </a:r>
            <a:r>
              <a:rPr sz="3600" spc="-5" dirty="0">
                <a:latin typeface="Wingdings"/>
                <a:cs typeface="Wingdings"/>
              </a:rPr>
              <a:t></a:t>
            </a:r>
            <a:r>
              <a:rPr sz="3600" spc="-5" dirty="0"/>
              <a:t>N</a:t>
            </a:r>
            <a:r>
              <a:rPr sz="3600" spc="-7" baseline="-18518" dirty="0"/>
              <a:t>R2</a:t>
            </a:r>
            <a:endParaRPr sz="3600" baseline="-18518" dirty="0">
              <a:latin typeface="Wingdings"/>
              <a:cs typeface="Wingdings"/>
            </a:endParaRPr>
          </a:p>
        </p:txBody>
      </p:sp>
      <p:sp>
        <p:nvSpPr>
          <p:cNvPr id="4" name="object 2"/>
          <p:cNvSpPr txBox="1">
            <a:spLocks/>
          </p:cNvSpPr>
          <p:nvPr/>
        </p:nvSpPr>
        <p:spPr>
          <a:xfrm>
            <a:off x="0" y="0"/>
            <a:ext cx="1209216" cy="686085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rgbClr val="0000CC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28725" marR="5080" lvl="0" indent="-1216025" algn="l" defTabSz="914400" rtl="0" eaLnBrk="1" fontAlgn="auto" latinLnBrk="0" hangingPunct="1">
              <a:lnSpc>
                <a:spcPct val="100499"/>
              </a:lnSpc>
              <a:spcBef>
                <a:spcPts val="7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MOE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6242" y="2013570"/>
            <a:ext cx="995901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1101011</a:t>
            </a:r>
            <a:r>
              <a:rPr lang="en-US" baseline="-25000" dirty="0"/>
              <a:t>2  	</a:t>
            </a:r>
            <a:r>
              <a:rPr lang="en-US" dirty="0"/>
              <a:t>→ ?</a:t>
            </a:r>
            <a:r>
              <a:rPr lang="en-US" baseline="-25000" dirty="0"/>
              <a:t>16 	</a:t>
            </a:r>
            <a:r>
              <a:rPr lang="en-US" dirty="0"/>
              <a:t>110 1011 	→ 0110 1011		→6B</a:t>
            </a:r>
            <a:r>
              <a:rPr lang="en-US" baseline="-25000" dirty="0"/>
              <a:t>16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11.01011</a:t>
            </a:r>
            <a:r>
              <a:rPr lang="en-US" baseline="-25000" dirty="0"/>
              <a:t>2	</a:t>
            </a:r>
            <a:r>
              <a:rPr lang="en-US" dirty="0"/>
              <a:t>→ ?</a:t>
            </a:r>
            <a:r>
              <a:rPr lang="en-US" baseline="-25000" dirty="0"/>
              <a:t>16</a:t>
            </a:r>
            <a:r>
              <a:rPr lang="en-US" dirty="0"/>
              <a:t> 	11 . 0101 1 	→ 0011 .  0101 1000	→ 3.58</a:t>
            </a:r>
            <a:r>
              <a:rPr lang="en-US" baseline="-25000" dirty="0"/>
              <a:t>16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1101011</a:t>
            </a:r>
            <a:r>
              <a:rPr lang="en-US" baseline="-25000" dirty="0"/>
              <a:t>2	</a:t>
            </a:r>
            <a:r>
              <a:rPr lang="en-US" dirty="0"/>
              <a:t>→ ?</a:t>
            </a:r>
            <a:r>
              <a:rPr lang="en-US" baseline="-25000" dirty="0"/>
              <a:t>8</a:t>
            </a:r>
            <a:r>
              <a:rPr lang="en-US" dirty="0"/>
              <a:t> 	1 101 011	→ 001 101 011		→153</a:t>
            </a:r>
            <a:r>
              <a:rPr lang="en-US" baseline="-25000" dirty="0"/>
              <a:t>8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11010.11</a:t>
            </a:r>
            <a:r>
              <a:rPr lang="en-US" baseline="-25000" dirty="0"/>
              <a:t>2	</a:t>
            </a:r>
            <a:r>
              <a:rPr lang="en-US" dirty="0"/>
              <a:t>→ ?</a:t>
            </a:r>
            <a:r>
              <a:rPr lang="en-US" baseline="-25000" dirty="0"/>
              <a:t>8</a:t>
            </a:r>
            <a:r>
              <a:rPr lang="en-US" dirty="0"/>
              <a:t> 	11 010 . 11 	→ 011 010 . 110		→32.6</a:t>
            </a:r>
            <a:r>
              <a:rPr lang="en-US" baseline="-25000" dirty="0"/>
              <a:t>8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FACE</a:t>
            </a:r>
            <a:r>
              <a:rPr lang="en-US" baseline="-25000" dirty="0"/>
              <a:t>16</a:t>
            </a:r>
            <a:r>
              <a:rPr lang="en-US" dirty="0"/>
              <a:t> 		→ ?</a:t>
            </a:r>
            <a:r>
              <a:rPr lang="en-US" baseline="-25000" dirty="0"/>
              <a:t>2</a:t>
            </a:r>
            <a:r>
              <a:rPr lang="en-US" dirty="0"/>
              <a:t> 	F A C E 		→ 1111 1010 1100 1110</a:t>
            </a:r>
            <a:r>
              <a:rPr lang="en-US" baseline="-25000" dirty="0"/>
              <a:t>2</a:t>
            </a:r>
            <a:r>
              <a:rPr lang="en-US" dirty="0"/>
              <a:t>	→ 1111101011001110</a:t>
            </a:r>
            <a:r>
              <a:rPr lang="en-US" baseline="-25000" dirty="0"/>
              <a:t>2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4427625" y="2013570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6681541" y="2013570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4331372" y="2859791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4985088" y="2859790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6681541" y="2859789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7439530" y="2844032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4616120" y="3637833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178973" y="3637833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6982330" y="3687776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6541173" y="3687775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4769729" y="4497901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4283246" y="4497901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6509088" y="4497900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6995571" y="4497900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6618567" y="5302202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7210931" y="5286445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7752351" y="5302202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10335130" y="5302201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9833815" y="5302201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>
            <a:off x="9333708" y="5302201"/>
            <a:ext cx="1208" cy="34490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2685" y="1269427"/>
          <a:ext cx="973241" cy="477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297">
                  <a:extLst>
                    <a:ext uri="{9D8B030D-6E8A-4147-A177-3AD203B41FA5}">
                      <a16:colId xmlns:a16="http://schemas.microsoft.com/office/drawing/2014/main" val="3136641699"/>
                    </a:ext>
                  </a:extLst>
                </a:gridCol>
                <a:gridCol w="583944">
                  <a:extLst>
                    <a:ext uri="{9D8B030D-6E8A-4147-A177-3AD203B41FA5}">
                      <a16:colId xmlns:a16="http://schemas.microsoft.com/office/drawing/2014/main" val="1383339620"/>
                    </a:ext>
                  </a:extLst>
                </a:gridCol>
              </a:tblGrid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Hex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661412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99050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59171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22702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68378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34514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2162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20626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0111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71748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656400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15300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697318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1011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4075394160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663952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116849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5306194"/>
                  </a:ext>
                </a:extLst>
              </a:tr>
              <a:tr h="271884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1111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4400677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10413416" y="986875"/>
          <a:ext cx="16657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94">
                  <a:extLst>
                    <a:ext uri="{9D8B030D-6E8A-4147-A177-3AD203B41FA5}">
                      <a16:colId xmlns:a16="http://schemas.microsoft.com/office/drawing/2014/main" val="3136641699"/>
                    </a:ext>
                  </a:extLst>
                </a:gridCol>
                <a:gridCol w="999439">
                  <a:extLst>
                    <a:ext uri="{9D8B030D-6E8A-4147-A177-3AD203B41FA5}">
                      <a16:colId xmlns:a16="http://schemas.microsoft.com/office/drawing/2014/main" val="1383339620"/>
                    </a:ext>
                  </a:extLst>
                </a:gridCol>
              </a:tblGrid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Octal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Binary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66141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799050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5559171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602270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968378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934514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092162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7120626"/>
                  </a:ext>
                </a:extLst>
              </a:tr>
              <a:tr h="299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6571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94725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4A7D050-31EC-4F85-A190-6DD15437A5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2</a:t>
            </a:r>
            <a:br>
              <a:rPr lang="en-US" dirty="0"/>
            </a:br>
            <a:r>
              <a:rPr lang="en-US" dirty="0"/>
              <a:t>Binary Number Systems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6972D72-615C-49BA-BD34-82C715E444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Part 3: Number Representations that use a Fixed Number of Digits</a:t>
            </a:r>
          </a:p>
        </p:txBody>
      </p:sp>
    </p:spTree>
    <p:extLst>
      <p:ext uri="{BB962C8B-B14F-4D97-AF65-F5344CB8AC3E}">
        <p14:creationId xmlns:p14="http://schemas.microsoft.com/office/powerpoint/2010/main" val="10484329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2212" y="738256"/>
            <a:ext cx="224726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Question: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22212" y="1828397"/>
            <a:ext cx="10431588" cy="2521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lvl="0" indent="-342900" algn="l" defTabSz="914400" rtl="0" eaLnBrk="1" fontAlgn="auto" latinLnBrk="0" hangingPunct="1">
              <a:lnSpc>
                <a:spcPct val="998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Do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you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trust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car salesman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that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tells you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the 1966 Mustang has only 13,000 miles that 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its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odometer shows?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alibri"/>
              <a:buChar char="•"/>
              <a:tabLst/>
              <a:defRPr/>
            </a:pPr>
            <a:endParaRPr kumimoji="0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If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not,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what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happened?</a:t>
            </a:r>
          </a:p>
        </p:txBody>
      </p:sp>
    </p:spTree>
    <p:extLst>
      <p:ext uri="{BB962C8B-B14F-4D97-AF65-F5344CB8AC3E}">
        <p14:creationId xmlns:p14="http://schemas.microsoft.com/office/powerpoint/2010/main" val="123643599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0022" y="746277"/>
            <a:ext cx="190246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Rollover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0023" y="1738923"/>
            <a:ext cx="6219825" cy="170370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85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3200" b="0" i="0" u="heavy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Consequence</a:t>
            </a:r>
            <a:r>
              <a:rPr kumimoji="0" sz="3200" b="0" i="0" u="heavy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32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of </a:t>
            </a:r>
            <a:r>
              <a:rPr kumimoji="0" sz="3200" b="0" i="1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fixed</a:t>
            </a:r>
            <a:r>
              <a:rPr kumimoji="0" sz="3200" b="0" i="1" u="heavy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3200" b="0" i="1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precision</a:t>
            </a:r>
            <a:r>
              <a:rPr kumimoji="0" sz="32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0" lvl="0" indent="0" algn="l" defTabSz="914400" rtl="0" eaLnBrk="1" fontAlgn="auto" latinLnBrk="0" hangingPunct="1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–</a:t>
            </a:r>
            <a:r>
              <a:rPr kumimoji="0" sz="2800" b="0" i="0" u="none" strike="noStrike" kern="1200" cap="none" spc="204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Computers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fixed precision!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Digits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lost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on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left-hand</a:t>
            </a:r>
            <a:r>
              <a:rPr kumimoji="0" sz="3200" b="0" i="0" u="heavy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3200" b="0" i="0" u="heavy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end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667892" y="3925008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67892" y="4709868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30022" y="4526173"/>
            <a:ext cx="5772150" cy="126682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231775" marR="0" lvl="0" indent="0" algn="l" defTabSz="914400" rtl="0" eaLnBrk="1" fontAlgn="auto" latinLnBrk="0" hangingPunct="1">
              <a:lnSpc>
                <a:spcPct val="100000"/>
              </a:lnSpc>
              <a:spcBef>
                <a:spcPts val="14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74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Remaining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digits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are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still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correct.</a:t>
            </a: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201199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49" y="738256"/>
            <a:ext cx="627697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Rollover</a:t>
            </a:r>
            <a:r>
              <a:rPr dirty="0"/>
              <a:t> in </a:t>
            </a:r>
            <a:r>
              <a:rPr spc="-5" dirty="0"/>
              <a:t>Unsigned</a:t>
            </a:r>
            <a:r>
              <a:rPr dirty="0"/>
              <a:t> </a:t>
            </a:r>
            <a:r>
              <a:rPr spc="-5" dirty="0"/>
              <a:t>Binary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49" y="1780273"/>
            <a:ext cx="10412788" cy="4499373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68300" marR="17780" lvl="0" indent="-342900" algn="l" defTabSz="914400" rtl="0" eaLnBrk="1" fontAlgn="auto" latinLnBrk="0" hangingPunct="1">
              <a:lnSpc>
                <a:spcPts val="3790"/>
              </a:lnSpc>
              <a:spcBef>
                <a:spcPts val="26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67665" algn="l"/>
                <a:tab pos="36830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Consider an 8-bit byte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used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to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represent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 </a:t>
            </a:r>
            <a:r>
              <a:rPr kumimoji="0" sz="3200" b="0" i="0" u="none" strike="noStrike" kern="1200" cap="none" spc="-7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unsigned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integer: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82600" marR="0" lvl="0" indent="0" algn="l" defTabSz="914400" rtl="0" eaLnBrk="1" fontAlgn="auto" latinLnBrk="0" hangingPunct="1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82600" marR="0" lvl="0" indent="0" algn="l" defTabSz="914400" rtl="0" eaLnBrk="1" fontAlgn="auto" latinLnBrk="0" hangingPunct="1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–</a:t>
            </a:r>
            <a:r>
              <a:rPr kumimoji="0" sz="2800" b="0" i="0" u="none" strike="noStrike" kern="1200" cap="none" spc="2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Range: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0000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0000</a:t>
            </a:r>
            <a:r>
              <a:rPr kumimoji="0" sz="2800" b="0" i="0" u="none" strike="noStrike" kern="1200" cap="none" spc="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1111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1111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(0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  <a:r>
              <a:rPr kumimoji="0" sz="2800" b="0" i="0" u="none" strike="noStrike" kern="1200" cap="none" spc="-6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255</a:t>
            </a:r>
            <a:r>
              <a:rPr kumimoji="0" sz="2850" b="0" i="0" u="none" strike="noStrike" kern="1200" cap="none" spc="-7" normalizeH="0" baseline="-14619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10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)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68350" marR="231140" lvl="1" indent="-285750" algn="l" defTabSz="914400" rtl="0" eaLnBrk="1" fontAlgn="auto" latinLnBrk="0" hangingPunct="1">
              <a:lnSpc>
                <a:spcPct val="101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68350" algn="l"/>
              </a:tabLst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68350" marR="231140" lvl="1" indent="-285750" algn="l" defTabSz="914400" rtl="0" eaLnBrk="1" fontAlgn="auto" latinLnBrk="0" hangingPunct="1">
              <a:lnSpc>
                <a:spcPct val="1014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6835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Incrementing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value of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255</a:t>
            </a:r>
            <a:r>
              <a:rPr kumimoji="0" sz="28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should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yield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256, </a:t>
            </a:r>
            <a:r>
              <a:rPr kumimoji="0" sz="2800" b="0" i="0" u="none" strike="noStrike" kern="1200" cap="none" spc="-6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but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this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exceeds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 range.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683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68350" algn="l"/>
              </a:tabLst>
              <a:defRPr/>
            </a:pPr>
            <a:endParaRPr kumimoji="0" lang="en-US" sz="2800" b="0" i="0" u="heavy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>
                <a:solidFill>
                  <a:srgbClr val="000000"/>
                </a:solidFill>
              </a:uFill>
              <a:latin typeface="Calibri"/>
              <a:ea typeface="+mn-ea"/>
              <a:cs typeface="Calibri"/>
            </a:endParaRPr>
          </a:p>
          <a:p>
            <a:pPr marL="7683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68350" algn="l"/>
              </a:tabLst>
              <a:defRPr/>
            </a:pPr>
            <a:r>
              <a:rPr kumimoji="0" sz="28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Exceeding</a:t>
            </a:r>
            <a:r>
              <a:rPr kumimoji="0" sz="2800" b="0" i="0" u="heavy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28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the</a:t>
            </a:r>
            <a:r>
              <a:rPr kumimoji="0" sz="2800" b="0" i="0" u="heavy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28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range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is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known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as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2800" b="0" i="1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rollover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4373336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31360" y="2304035"/>
            <a:ext cx="885031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signed two’s complement with 8 bits adding 1 to -1  should result in 0 and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does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1111 1111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		0000 0001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Carry = 1	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0000 0000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is a rollover with an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accidental correct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result.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1360" y="726225"/>
            <a:ext cx="5665470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Rollover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Signed </a:t>
            </a:r>
            <a:r>
              <a:rPr spc="-5" dirty="0"/>
              <a:t>Binary</a:t>
            </a:r>
          </a:p>
        </p:txBody>
      </p:sp>
      <p:sp>
        <p:nvSpPr>
          <p:cNvPr id="3" name="object 3"/>
          <p:cNvSpPr/>
          <p:nvPr/>
        </p:nvSpPr>
        <p:spPr>
          <a:xfrm>
            <a:off x="2822326" y="3720434"/>
            <a:ext cx="1271133" cy="0"/>
          </a:xfrm>
          <a:custGeom>
            <a:avLst/>
            <a:gdLst/>
            <a:ahLst/>
            <a:cxnLst/>
            <a:rect l="l" t="t" r="r" b="b"/>
            <a:pathLst>
              <a:path w="1499235">
                <a:moveTo>
                  <a:pt x="0" y="0"/>
                </a:moveTo>
                <a:lnTo>
                  <a:pt x="1498640" y="0"/>
                </a:lnTo>
              </a:path>
            </a:pathLst>
          </a:custGeom>
          <a:ln w="2042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57093" y="3660866"/>
            <a:ext cx="646604" cy="205104"/>
          </a:xfrm>
          <a:custGeom>
            <a:avLst/>
            <a:gdLst/>
            <a:ahLst/>
            <a:cxnLst/>
            <a:rect l="l" t="t" r="r" b="b"/>
            <a:pathLst>
              <a:path w="762635" h="205104">
                <a:moveTo>
                  <a:pt x="84298" y="105228"/>
                </a:moveTo>
                <a:lnTo>
                  <a:pt x="0" y="157161"/>
                </a:lnTo>
                <a:lnTo>
                  <a:pt x="86700" y="204976"/>
                </a:lnTo>
                <a:lnTo>
                  <a:pt x="89597" y="204139"/>
                </a:lnTo>
                <a:lnTo>
                  <a:pt x="92137" y="199533"/>
                </a:lnTo>
                <a:lnTo>
                  <a:pt x="91300" y="196636"/>
                </a:lnTo>
                <a:lnTo>
                  <a:pt x="27944" y="161695"/>
                </a:lnTo>
                <a:lnTo>
                  <a:pt x="9563" y="161695"/>
                </a:lnTo>
                <a:lnTo>
                  <a:pt x="9334" y="152172"/>
                </a:lnTo>
                <a:lnTo>
                  <a:pt x="26943" y="151750"/>
                </a:lnTo>
                <a:lnTo>
                  <a:pt x="89294" y="113337"/>
                </a:lnTo>
                <a:lnTo>
                  <a:pt x="89991" y="110403"/>
                </a:lnTo>
                <a:lnTo>
                  <a:pt x="87231" y="105924"/>
                </a:lnTo>
                <a:lnTo>
                  <a:pt x="84298" y="105228"/>
                </a:lnTo>
                <a:close/>
              </a:path>
              <a:path w="762635" h="205104">
                <a:moveTo>
                  <a:pt x="26943" y="151750"/>
                </a:moveTo>
                <a:lnTo>
                  <a:pt x="9334" y="152172"/>
                </a:lnTo>
                <a:lnTo>
                  <a:pt x="9563" y="161695"/>
                </a:lnTo>
                <a:lnTo>
                  <a:pt x="27172" y="161269"/>
                </a:lnTo>
                <a:lnTo>
                  <a:pt x="26664" y="160989"/>
                </a:lnTo>
                <a:lnTo>
                  <a:pt x="11947" y="160989"/>
                </a:lnTo>
                <a:lnTo>
                  <a:pt x="11749" y="152763"/>
                </a:lnTo>
                <a:lnTo>
                  <a:pt x="25299" y="152763"/>
                </a:lnTo>
                <a:lnTo>
                  <a:pt x="26943" y="151750"/>
                </a:lnTo>
                <a:close/>
              </a:path>
              <a:path w="762635" h="205104">
                <a:moveTo>
                  <a:pt x="27172" y="161269"/>
                </a:moveTo>
                <a:lnTo>
                  <a:pt x="9563" y="161695"/>
                </a:lnTo>
                <a:lnTo>
                  <a:pt x="27944" y="161695"/>
                </a:lnTo>
                <a:lnTo>
                  <a:pt x="27172" y="161269"/>
                </a:lnTo>
                <a:close/>
              </a:path>
              <a:path w="762635" h="205104">
                <a:moveTo>
                  <a:pt x="369314" y="91555"/>
                </a:moveTo>
                <a:lnTo>
                  <a:pt x="329329" y="111066"/>
                </a:lnTo>
                <a:lnTo>
                  <a:pt x="286396" y="123165"/>
                </a:lnTo>
                <a:lnTo>
                  <a:pt x="233239" y="133789"/>
                </a:lnTo>
                <a:lnTo>
                  <a:pt x="172192" y="142438"/>
                </a:lnTo>
                <a:lnTo>
                  <a:pt x="70753" y="150699"/>
                </a:lnTo>
                <a:lnTo>
                  <a:pt x="26943" y="151750"/>
                </a:lnTo>
                <a:lnTo>
                  <a:pt x="18898" y="156706"/>
                </a:lnTo>
                <a:lnTo>
                  <a:pt x="27172" y="161269"/>
                </a:lnTo>
                <a:lnTo>
                  <a:pt x="71421" y="160200"/>
                </a:lnTo>
                <a:lnTo>
                  <a:pt x="140417" y="155348"/>
                </a:lnTo>
                <a:lnTo>
                  <a:pt x="205018" y="147802"/>
                </a:lnTo>
                <a:lnTo>
                  <a:pt x="262971" y="138002"/>
                </a:lnTo>
                <a:lnTo>
                  <a:pt x="312110" y="126363"/>
                </a:lnTo>
                <a:lnTo>
                  <a:pt x="350371" y="113219"/>
                </a:lnTo>
                <a:lnTo>
                  <a:pt x="381739" y="91988"/>
                </a:lnTo>
                <a:lnTo>
                  <a:pt x="368924" y="91988"/>
                </a:lnTo>
                <a:lnTo>
                  <a:pt x="369314" y="91555"/>
                </a:lnTo>
                <a:close/>
              </a:path>
              <a:path w="762635" h="205104">
                <a:moveTo>
                  <a:pt x="11749" y="152763"/>
                </a:moveTo>
                <a:lnTo>
                  <a:pt x="11947" y="160989"/>
                </a:lnTo>
                <a:lnTo>
                  <a:pt x="18898" y="156706"/>
                </a:lnTo>
                <a:lnTo>
                  <a:pt x="11749" y="152763"/>
                </a:lnTo>
                <a:close/>
              </a:path>
              <a:path w="762635" h="205104">
                <a:moveTo>
                  <a:pt x="18898" y="156706"/>
                </a:moveTo>
                <a:lnTo>
                  <a:pt x="11947" y="160989"/>
                </a:lnTo>
                <a:lnTo>
                  <a:pt x="26664" y="160989"/>
                </a:lnTo>
                <a:lnTo>
                  <a:pt x="18898" y="156706"/>
                </a:lnTo>
                <a:close/>
              </a:path>
              <a:path w="762635" h="205104">
                <a:moveTo>
                  <a:pt x="25299" y="152763"/>
                </a:moveTo>
                <a:lnTo>
                  <a:pt x="11749" y="152763"/>
                </a:lnTo>
                <a:lnTo>
                  <a:pt x="18898" y="156706"/>
                </a:lnTo>
                <a:lnTo>
                  <a:pt x="25299" y="152763"/>
                </a:lnTo>
                <a:close/>
              </a:path>
              <a:path w="762635" h="205104">
                <a:moveTo>
                  <a:pt x="369792" y="91231"/>
                </a:moveTo>
                <a:lnTo>
                  <a:pt x="369314" y="91555"/>
                </a:lnTo>
                <a:lnTo>
                  <a:pt x="368924" y="91988"/>
                </a:lnTo>
                <a:lnTo>
                  <a:pt x="369792" y="91231"/>
                </a:lnTo>
                <a:close/>
              </a:path>
              <a:path w="762635" h="205104">
                <a:moveTo>
                  <a:pt x="382420" y="91231"/>
                </a:moveTo>
                <a:lnTo>
                  <a:pt x="369792" y="91231"/>
                </a:lnTo>
                <a:lnTo>
                  <a:pt x="368924" y="91988"/>
                </a:lnTo>
                <a:lnTo>
                  <a:pt x="381739" y="91988"/>
                </a:lnTo>
                <a:lnTo>
                  <a:pt x="382420" y="91231"/>
                </a:lnTo>
                <a:close/>
              </a:path>
              <a:path w="762635" h="205104">
                <a:moveTo>
                  <a:pt x="374591" y="85693"/>
                </a:moveTo>
                <a:lnTo>
                  <a:pt x="369314" y="91555"/>
                </a:lnTo>
                <a:lnTo>
                  <a:pt x="369792" y="91231"/>
                </a:lnTo>
                <a:lnTo>
                  <a:pt x="382420" y="91231"/>
                </a:lnTo>
                <a:lnTo>
                  <a:pt x="382840" y="90765"/>
                </a:lnTo>
                <a:lnTo>
                  <a:pt x="383186" y="90154"/>
                </a:lnTo>
                <a:lnTo>
                  <a:pt x="384244" y="86700"/>
                </a:lnTo>
                <a:lnTo>
                  <a:pt x="374282" y="86700"/>
                </a:lnTo>
                <a:lnTo>
                  <a:pt x="374591" y="85693"/>
                </a:lnTo>
                <a:close/>
              </a:path>
              <a:path w="762635" h="205104">
                <a:moveTo>
                  <a:pt x="375296" y="84909"/>
                </a:moveTo>
                <a:lnTo>
                  <a:pt x="374591" y="85693"/>
                </a:lnTo>
                <a:lnTo>
                  <a:pt x="374282" y="86700"/>
                </a:lnTo>
                <a:lnTo>
                  <a:pt x="375296" y="84909"/>
                </a:lnTo>
                <a:close/>
              </a:path>
              <a:path w="762635" h="205104">
                <a:moveTo>
                  <a:pt x="384793" y="84909"/>
                </a:moveTo>
                <a:lnTo>
                  <a:pt x="375296" y="84909"/>
                </a:lnTo>
                <a:lnTo>
                  <a:pt x="374282" y="86700"/>
                </a:lnTo>
                <a:lnTo>
                  <a:pt x="384244" y="86700"/>
                </a:lnTo>
                <a:lnTo>
                  <a:pt x="384793" y="84909"/>
                </a:lnTo>
                <a:close/>
              </a:path>
              <a:path w="762635" h="205104">
                <a:moveTo>
                  <a:pt x="761907" y="0"/>
                </a:moveTo>
                <a:lnTo>
                  <a:pt x="690842" y="1711"/>
                </a:lnTo>
                <a:lnTo>
                  <a:pt x="621789" y="6558"/>
                </a:lnTo>
                <a:lnTo>
                  <a:pt x="557145" y="14102"/>
                </a:lnTo>
                <a:lnTo>
                  <a:pt x="499222" y="23889"/>
                </a:lnTo>
                <a:lnTo>
                  <a:pt x="450153" y="35496"/>
                </a:lnTo>
                <a:lnTo>
                  <a:pt x="412068" y="48531"/>
                </a:lnTo>
                <a:lnTo>
                  <a:pt x="379203" y="71156"/>
                </a:lnTo>
                <a:lnTo>
                  <a:pt x="374591" y="85693"/>
                </a:lnTo>
                <a:lnTo>
                  <a:pt x="375296" y="84909"/>
                </a:lnTo>
                <a:lnTo>
                  <a:pt x="384793" y="84909"/>
                </a:lnTo>
                <a:lnTo>
                  <a:pt x="387212" y="77012"/>
                </a:lnTo>
                <a:lnTo>
                  <a:pt x="386747" y="77012"/>
                </a:lnTo>
                <a:lnTo>
                  <a:pt x="387761" y="75222"/>
                </a:lnTo>
                <a:lnTo>
                  <a:pt x="388359" y="75222"/>
                </a:lnTo>
                <a:lnTo>
                  <a:pt x="392438" y="70690"/>
                </a:lnTo>
                <a:lnTo>
                  <a:pt x="392251" y="70690"/>
                </a:lnTo>
                <a:lnTo>
                  <a:pt x="393119" y="69933"/>
                </a:lnTo>
                <a:lnTo>
                  <a:pt x="393358" y="69933"/>
                </a:lnTo>
                <a:lnTo>
                  <a:pt x="401950" y="64060"/>
                </a:lnTo>
                <a:lnTo>
                  <a:pt x="415460" y="57431"/>
                </a:lnTo>
                <a:lnTo>
                  <a:pt x="452533" y="44719"/>
                </a:lnTo>
                <a:lnTo>
                  <a:pt x="500945" y="33257"/>
                </a:lnTo>
                <a:lnTo>
                  <a:pt x="558364" y="23548"/>
                </a:lnTo>
                <a:lnTo>
                  <a:pt x="622457" y="16060"/>
                </a:lnTo>
                <a:lnTo>
                  <a:pt x="691071" y="11234"/>
                </a:lnTo>
                <a:lnTo>
                  <a:pt x="762136" y="9522"/>
                </a:lnTo>
                <a:lnTo>
                  <a:pt x="761907" y="0"/>
                </a:lnTo>
                <a:close/>
              </a:path>
              <a:path w="762635" h="205104">
                <a:moveTo>
                  <a:pt x="387761" y="75222"/>
                </a:moveTo>
                <a:lnTo>
                  <a:pt x="386747" y="77012"/>
                </a:lnTo>
                <a:lnTo>
                  <a:pt x="387452" y="76229"/>
                </a:lnTo>
                <a:lnTo>
                  <a:pt x="387761" y="75222"/>
                </a:lnTo>
                <a:close/>
              </a:path>
              <a:path w="762635" h="205104">
                <a:moveTo>
                  <a:pt x="387452" y="76229"/>
                </a:moveTo>
                <a:lnTo>
                  <a:pt x="386747" y="77012"/>
                </a:lnTo>
                <a:lnTo>
                  <a:pt x="387212" y="77012"/>
                </a:lnTo>
                <a:lnTo>
                  <a:pt x="387452" y="76229"/>
                </a:lnTo>
                <a:close/>
              </a:path>
              <a:path w="762635" h="205104">
                <a:moveTo>
                  <a:pt x="388359" y="75222"/>
                </a:moveTo>
                <a:lnTo>
                  <a:pt x="387761" y="75222"/>
                </a:lnTo>
                <a:lnTo>
                  <a:pt x="387452" y="76229"/>
                </a:lnTo>
                <a:lnTo>
                  <a:pt x="388359" y="75222"/>
                </a:lnTo>
                <a:close/>
              </a:path>
              <a:path w="762635" h="205104">
                <a:moveTo>
                  <a:pt x="393119" y="69933"/>
                </a:moveTo>
                <a:lnTo>
                  <a:pt x="392251" y="70690"/>
                </a:lnTo>
                <a:lnTo>
                  <a:pt x="392736" y="70359"/>
                </a:lnTo>
                <a:lnTo>
                  <a:pt x="393119" y="69933"/>
                </a:lnTo>
                <a:close/>
              </a:path>
              <a:path w="762635" h="205104">
                <a:moveTo>
                  <a:pt x="392736" y="70359"/>
                </a:moveTo>
                <a:lnTo>
                  <a:pt x="392251" y="70690"/>
                </a:lnTo>
                <a:lnTo>
                  <a:pt x="392438" y="70690"/>
                </a:lnTo>
                <a:lnTo>
                  <a:pt x="392736" y="70359"/>
                </a:lnTo>
                <a:close/>
              </a:path>
              <a:path w="762635" h="205104">
                <a:moveTo>
                  <a:pt x="393358" y="69933"/>
                </a:moveTo>
                <a:lnTo>
                  <a:pt x="393119" y="69933"/>
                </a:lnTo>
                <a:lnTo>
                  <a:pt x="392736" y="70359"/>
                </a:lnTo>
                <a:lnTo>
                  <a:pt x="393358" y="699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object 3"/>
          <p:cNvSpPr/>
          <p:nvPr/>
        </p:nvSpPr>
        <p:spPr>
          <a:xfrm>
            <a:off x="2768754" y="3993151"/>
            <a:ext cx="1271133" cy="0"/>
          </a:xfrm>
          <a:custGeom>
            <a:avLst/>
            <a:gdLst/>
            <a:ahLst/>
            <a:cxnLst/>
            <a:rect l="l" t="t" r="r" b="b"/>
            <a:pathLst>
              <a:path w="1499235">
                <a:moveTo>
                  <a:pt x="0" y="0"/>
                </a:moveTo>
                <a:lnTo>
                  <a:pt x="1498640" y="0"/>
                </a:lnTo>
              </a:path>
            </a:pathLst>
          </a:custGeom>
          <a:ln w="2042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object 3"/>
          <p:cNvSpPr/>
          <p:nvPr/>
        </p:nvSpPr>
        <p:spPr>
          <a:xfrm>
            <a:off x="2768753" y="4053309"/>
            <a:ext cx="1271133" cy="0"/>
          </a:xfrm>
          <a:custGeom>
            <a:avLst/>
            <a:gdLst/>
            <a:ahLst/>
            <a:cxnLst/>
            <a:rect l="l" t="t" r="r" b="b"/>
            <a:pathLst>
              <a:path w="1499235">
                <a:moveTo>
                  <a:pt x="0" y="0"/>
                </a:moveTo>
                <a:lnTo>
                  <a:pt x="1498640" y="0"/>
                </a:lnTo>
              </a:path>
            </a:pathLst>
          </a:custGeom>
          <a:ln w="20421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079756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68601" y="2201700"/>
            <a:ext cx="10417284" cy="658590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355600" marR="823594" lvl="0" indent="-342900" algn="l" defTabSz="914400" rtl="0" eaLnBrk="1" fontAlgn="auto" latinLnBrk="0" hangingPunct="1">
              <a:lnSpc>
                <a:spcPts val="35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Rollover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describes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</a:t>
            </a:r>
            <a:r>
              <a:rPr kumimoji="0" sz="32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pattern</a:t>
            </a:r>
            <a:r>
              <a:rPr kumimoji="0" sz="32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sequence </a:t>
            </a:r>
            <a:r>
              <a:rPr kumimoji="0" sz="3200" b="0" i="0" u="none" strike="noStrike" kern="1200" cap="none" spc="-70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behavior.</a:t>
            </a:r>
            <a:endParaRPr kumimoji="0" lang="en-US" sz="32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2700" marR="823594" lvl="0" algn="l" defTabSz="914400" rtl="0" eaLnBrk="1" fontAlgn="auto" latinLnBrk="0" hangingPunct="1">
              <a:lnSpc>
                <a:spcPts val="35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>
                <a:tab pos="354965" algn="l"/>
                <a:tab pos="355600" algn="l"/>
              </a:tabLst>
              <a:defRPr/>
            </a:pP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5600" lvl="0" indent="-342900">
              <a:spcBef>
                <a:spcPts val="305"/>
              </a:spcBef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lang="en-US" sz="3200" spc="-5" dirty="0">
                <a:solidFill>
                  <a:srgbClr val="000000"/>
                </a:solidFill>
                <a:latin typeface="Calibri"/>
                <a:cs typeface="Calibri"/>
              </a:rPr>
              <a:t>Overflow</a:t>
            </a:r>
            <a:r>
              <a:rPr lang="en-US" sz="32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200" spc="-5" dirty="0">
                <a:solidFill>
                  <a:srgbClr val="000000"/>
                </a:solidFill>
                <a:latin typeface="Calibri"/>
                <a:cs typeface="Calibri"/>
              </a:rPr>
              <a:t>describes</a:t>
            </a:r>
            <a:r>
              <a:rPr lang="en-US" sz="3200" dirty="0">
                <a:solidFill>
                  <a:srgbClr val="000000"/>
                </a:solidFill>
                <a:latin typeface="Calibri"/>
                <a:cs typeface="Calibri"/>
              </a:rPr>
              <a:t> an</a:t>
            </a:r>
            <a:r>
              <a:rPr lang="en-US" sz="3200" spc="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200" spc="-5" dirty="0">
                <a:solidFill>
                  <a:srgbClr val="000000"/>
                </a:solidFill>
                <a:latin typeface="Calibri"/>
                <a:cs typeface="Calibri"/>
              </a:rPr>
              <a:t>arithmetic</a:t>
            </a:r>
            <a:r>
              <a:rPr lang="en-US" sz="32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3200" spc="-5" dirty="0">
                <a:solidFill>
                  <a:srgbClr val="000000"/>
                </a:solidFill>
                <a:latin typeface="Calibri"/>
                <a:cs typeface="Calibri"/>
              </a:rPr>
              <a:t>behavior.</a:t>
            </a:r>
            <a:endParaRPr lang="en-US" sz="3200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469900" lvl="0">
              <a:spcBef>
                <a:spcPts val="350"/>
              </a:spcBef>
              <a:defRPr/>
            </a:pP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–</a:t>
            </a:r>
            <a:r>
              <a:rPr lang="en-US" sz="2800" spc="2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2800" spc="-5" dirty="0">
                <a:solidFill>
                  <a:srgbClr val="000000"/>
                </a:solidFill>
                <a:latin typeface="Calibri"/>
                <a:cs typeface="Calibri"/>
              </a:rPr>
              <a:t>Resulted</a:t>
            </a: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2800" spc="-5" dirty="0">
                <a:solidFill>
                  <a:srgbClr val="000000"/>
                </a:solidFill>
                <a:latin typeface="Calibri"/>
                <a:cs typeface="Calibri"/>
              </a:rPr>
              <a:t>from an</a:t>
            </a: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2800" spc="-10" dirty="0">
                <a:solidFill>
                  <a:srgbClr val="000000"/>
                </a:solidFill>
                <a:latin typeface="Calibri"/>
                <a:cs typeface="Calibri"/>
              </a:rPr>
              <a:t>arithmetic</a:t>
            </a:r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sz="2800" spc="-5" dirty="0">
                <a:solidFill>
                  <a:srgbClr val="000000"/>
                </a:solidFill>
                <a:latin typeface="Calibri"/>
                <a:cs typeface="Calibri"/>
              </a:rPr>
              <a:t>operation</a:t>
            </a:r>
          </a:p>
          <a:p>
            <a:pPr marL="12700" marR="0" lvl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tabLst>
                <a:tab pos="354965" algn="l"/>
                <a:tab pos="355600" algn="l"/>
              </a:tabLst>
              <a:defRPr/>
            </a:pPr>
            <a:endParaRPr kumimoji="0" lang="en-US" sz="32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lang="en-US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Whether or not rollover causes overflow  depends on how the patterns are  interpreted as numeric values!</a:t>
            </a:r>
          </a:p>
          <a:p>
            <a:pPr marL="12700" marR="0" lvl="0" algn="l" defTabSz="914400" rtl="0" eaLnBrk="1" fontAlgn="auto" latinLnBrk="0" hangingPunct="1">
              <a:lnSpc>
                <a:spcPct val="100000"/>
              </a:lnSpc>
              <a:spcBef>
                <a:spcPts val="305"/>
              </a:spcBef>
              <a:spcAft>
                <a:spcPts val="0"/>
              </a:spcAft>
              <a:buClrTx/>
              <a:buSzTx/>
              <a:tabLst>
                <a:tab pos="354965" algn="l"/>
                <a:tab pos="355600" algn="l"/>
              </a:tabLst>
              <a:defRPr/>
            </a:pPr>
            <a:endParaRPr kumimoji="0" lang="en-US" sz="32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0" lvl="0" indent="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0" lvl="0" indent="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spc="-5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9271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69900" marR="0" lvl="0" indent="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spc="-5" dirty="0">
              <a:solidFill>
                <a:srgbClr val="000000"/>
              </a:solidFill>
              <a:latin typeface="Calibri"/>
              <a:cs typeface="Calibri"/>
            </a:endParaRPr>
          </a:p>
          <a:p>
            <a:pPr marL="12700" marR="424815" lvl="0" indent="0" algn="l" defTabSz="914400" rtl="0" eaLnBrk="1" fontAlgn="auto" latinLnBrk="0" hangingPunct="1">
              <a:lnSpc>
                <a:spcPct val="90000"/>
              </a:lnSpc>
              <a:spcBef>
                <a:spcPts val="730"/>
              </a:spcBef>
              <a:spcAft>
                <a:spcPts val="0"/>
              </a:spcAft>
              <a:buClrTx/>
              <a:buSzTx/>
              <a:buFontTx/>
              <a:buNone/>
              <a:tabLst>
                <a:tab pos="354965" algn="l"/>
                <a:tab pos="355600" algn="l"/>
              </a:tabLst>
              <a:defRPr/>
            </a:pPr>
            <a:endParaRPr kumimoji="0" lang="en-US" sz="32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8358" y="761999"/>
            <a:ext cx="70195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Rollover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is</a:t>
            </a:r>
            <a:r>
              <a:rPr kumimoji="0" lang="en-US" sz="2800" b="1" i="0" u="none" strike="noStrike" kern="1200" cap="none" spc="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CC"/>
                  </a:solidFill>
                </a:uFill>
                <a:latin typeface="Arial" panose="020B0604020202020204"/>
                <a:ea typeface="+mn-ea"/>
                <a:cs typeface="+mn-cs"/>
              </a:rPr>
              <a:t>not </a:t>
            </a:r>
            <a:r>
              <a:rPr kumimoji="0" lang="en-US" sz="2800" b="1" i="0" u="none" strike="noStrike" kern="1200" cap="none" spc="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 </a:t>
            </a:r>
            <a:r>
              <a:rPr kumimoji="0" lang="en-US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synonym for</a:t>
            </a:r>
            <a:r>
              <a:rPr kumimoji="0" lang="en-US" sz="2800" b="1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overflow!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6281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7210" y="765929"/>
            <a:ext cx="6011545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Rollover</a:t>
            </a:r>
            <a:r>
              <a:rPr spc="-10" dirty="0"/>
              <a:t> </a:t>
            </a:r>
            <a:r>
              <a:rPr dirty="0"/>
              <a:t>Causing</a:t>
            </a:r>
            <a:r>
              <a:rPr spc="-5" dirty="0"/>
              <a:t> Overflow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1981200"/>
            <a:ext cx="6419850" cy="17081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4488" y="4419601"/>
            <a:ext cx="8653046" cy="157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9854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1822" y="744512"/>
            <a:ext cx="6205855" cy="56682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Rollovers</a:t>
            </a:r>
            <a:r>
              <a:rPr spc="-10" dirty="0"/>
              <a:t> </a:t>
            </a:r>
            <a:r>
              <a:rPr dirty="0"/>
              <a:t>Versus</a:t>
            </a:r>
            <a:r>
              <a:rPr spc="-10" dirty="0"/>
              <a:t> </a:t>
            </a:r>
            <a:r>
              <a:rPr spc="-5" dirty="0"/>
              <a:t>Overflows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1822" y="1582154"/>
            <a:ext cx="10421978" cy="48397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just" defTabSz="914400" rtl="0" eaLnBrk="1" fontAlgn="auto" latinLnBrk="0" hangingPunct="1">
              <a:lnSpc>
                <a:spcPts val="3815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sz="3200" b="1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ummary: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469900" marR="605790" lvl="0" indent="-457200" algn="just" defTabSz="914400" rtl="0" eaLnBrk="1" fontAlgn="auto" latinLnBrk="0" hangingPunct="1">
              <a:lnSpc>
                <a:spcPts val="3910"/>
              </a:lnSpc>
              <a:spcBef>
                <a:spcPts val="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469900" algn="l"/>
              </a:tabLst>
              <a:defRPr/>
            </a:pPr>
            <a:endParaRPr kumimoji="0" lang="en-US" sz="32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469900" marR="605790" lvl="0" indent="-457200" algn="just" defTabSz="914400" rtl="0" eaLnBrk="1" fontAlgn="auto" latinLnBrk="0" hangingPunct="1">
              <a:lnSpc>
                <a:spcPts val="3910"/>
              </a:lnSpc>
              <a:spcBef>
                <a:spcPts val="4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46990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Rollovers, that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do not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result in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overflow </a:t>
            </a:r>
            <a:r>
              <a:rPr kumimoji="0" sz="3200" b="0" i="0" u="none" strike="noStrike" kern="1200" cap="none" spc="-7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are </a:t>
            </a:r>
            <a:r>
              <a:rPr kumimoji="0" lang="en-US" sz="32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ok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</a:p>
          <a:p>
            <a:pPr marL="927100" marR="0" lvl="1" indent="-457200" algn="just" defTabSz="914400" rtl="0" eaLnBrk="1" fontAlgn="auto" latinLnBrk="0" hangingPunct="1">
              <a:lnSpc>
                <a:spcPts val="36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927100" algn="l"/>
              </a:tabLst>
              <a:defRPr/>
            </a:pPr>
            <a:r>
              <a:rPr kumimoji="0" sz="3200" b="1" i="0" u="none" strike="noStrike" kern="1200" cap="none" spc="-5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signed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1111</a:t>
            </a:r>
            <a:r>
              <a:rPr kumimoji="0" lang="en-US" sz="3200" b="0" i="0" u="none" strike="noStrike" kern="1200" cap="none" spc="-10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1111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+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0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	(-1 + 1 = 0)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469900" marR="5080" lvl="0" indent="-457200" algn="just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469900" algn="l"/>
              </a:tabLst>
              <a:defRPr/>
            </a:pPr>
            <a:endParaRPr kumimoji="0" lang="en-US" sz="3200" b="0" i="0" u="none" strike="noStrike" kern="1200" cap="none" spc="-5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469900" marR="5080" lvl="0" indent="-4572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46990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Overflows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occur when you do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some operation, </a:t>
            </a:r>
            <a:br>
              <a:rPr kumimoji="0" lang="en-US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</a:b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and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result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not be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represented with that many bits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because </a:t>
            </a:r>
            <a:r>
              <a:rPr kumimoji="0" sz="3200" b="0" i="0" u="none" strike="noStrike" kern="1200" cap="none" spc="-78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 value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too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large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927100" marR="0" lvl="1" indent="-457200" algn="l" defTabSz="914400" rtl="0" eaLnBrk="1" fontAlgn="auto" latinLnBrk="0" hangingPunct="1">
              <a:lnSpc>
                <a:spcPts val="379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927100" algn="l"/>
              </a:tabLst>
              <a:defRPr/>
            </a:pPr>
            <a:r>
              <a:rPr kumimoji="0" sz="3200" b="1" i="0" u="none" strike="noStrike" kern="1200" cap="none" spc="-5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unsigned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1111</a:t>
            </a:r>
            <a:r>
              <a:rPr kumimoji="0" lang="en-US" sz="3200" b="0" i="0" u="none" strike="noStrike" kern="1200" cap="none" spc="-10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-10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1111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+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1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0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	(256 + 1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= 0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384300" marR="0" lvl="2" indent="-45720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 typeface="Arial MT"/>
              <a:buChar char="•"/>
              <a:tabLst>
                <a:tab pos="1383665" algn="l"/>
                <a:tab pos="1384300" algn="l"/>
              </a:tabLst>
              <a:defRPr/>
            </a:pP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Overflows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must</a:t>
            </a:r>
            <a:r>
              <a:rPr kumimoji="0" sz="2400" b="1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</a:t>
            </a:r>
            <a:r>
              <a:rPr kumimoji="0" sz="24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sz="24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handled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168761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4495" y="726504"/>
            <a:ext cx="7656052" cy="439864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/>
          <a:p>
            <a:pPr marL="468630" marR="5080" indent="-456565">
              <a:lnSpc>
                <a:spcPct val="100499"/>
              </a:lnSpc>
              <a:spcBef>
                <a:spcPts val="70"/>
              </a:spcBef>
            </a:pPr>
            <a:r>
              <a:rPr sz="2800" spc="-5" dirty="0"/>
              <a:t>Example </a:t>
            </a:r>
            <a:r>
              <a:rPr sz="2800" dirty="0"/>
              <a:t>of </a:t>
            </a:r>
            <a:r>
              <a:rPr sz="2800" spc="-5" dirty="0">
                <a:solidFill>
                  <a:srgbClr val="92D050"/>
                </a:solidFill>
              </a:rPr>
              <a:t>Unsigned</a:t>
            </a:r>
            <a:r>
              <a:rPr sz="2800" spc="-5" dirty="0"/>
              <a:t> </a:t>
            </a:r>
            <a:r>
              <a:rPr sz="2800" spc="-5" dirty="0">
                <a:solidFill>
                  <a:srgbClr val="FF0000"/>
                </a:solidFill>
              </a:rPr>
              <a:t>Overflow</a:t>
            </a:r>
            <a:r>
              <a:rPr sz="2800" spc="-5" dirty="0"/>
              <a:t> </a:t>
            </a:r>
            <a:r>
              <a:rPr sz="2800" spc="-980" dirty="0"/>
              <a:t> </a:t>
            </a:r>
            <a:r>
              <a:rPr sz="2800" dirty="0"/>
              <a:t>Using</a:t>
            </a:r>
            <a:r>
              <a:rPr sz="2800" spc="-10" dirty="0"/>
              <a:t> </a:t>
            </a:r>
            <a:r>
              <a:rPr sz="2800" spc="-5" dirty="0"/>
              <a:t>4-bit</a:t>
            </a:r>
            <a:endParaRPr sz="2800" dirty="0"/>
          </a:p>
        </p:txBody>
      </p:sp>
      <p:sp>
        <p:nvSpPr>
          <p:cNvPr id="3" name="object 3"/>
          <p:cNvSpPr txBox="1"/>
          <p:nvPr/>
        </p:nvSpPr>
        <p:spPr>
          <a:xfrm>
            <a:off x="3202940" y="1891284"/>
            <a:ext cx="2513965" cy="1778000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96850" marR="0" lvl="0" indent="0" algn="l" defTabSz="914400" rtl="0" eaLnBrk="1" fontAlgn="auto" latinLnBrk="0" hangingPunct="1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ClrTx/>
              <a:buSzTx/>
              <a:buFontTx/>
              <a:buNone/>
              <a:tabLst>
                <a:tab pos="1840864" algn="l"/>
              </a:tabLst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1100	(12)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40864" algn="l"/>
                <a:tab pos="2148840" algn="l"/>
              </a:tabLst>
              <a:defRPr/>
            </a:pPr>
            <a:r>
              <a:rPr kumimoji="0" sz="3200" b="0" i="0" u="heavy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+</a:t>
            </a:r>
            <a:r>
              <a:rPr kumimoji="0" lang="en-US" sz="3200" b="0" i="0" u="heavy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 </a:t>
            </a:r>
            <a:r>
              <a:rPr kumimoji="0" sz="3200" b="0" i="0" u="heavy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Calibri"/>
                <a:ea typeface="+mn-ea"/>
                <a:cs typeface="Calibri"/>
              </a:rPr>
              <a:t>0111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	(	7)</a:t>
            </a:r>
          </a:p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0011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8541" y="3532124"/>
            <a:ext cx="5352415" cy="2182495"/>
          </a:xfrm>
          <a:prstGeom prst="rect">
            <a:avLst/>
          </a:prstGeom>
        </p:spPr>
        <p:txBody>
          <a:bodyPr vert="horz" wrap="square" lIns="0" tIns="207645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6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Lost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1841500" marR="0" lvl="0" indent="0" algn="l" defTabSz="914400" rtl="0" eaLnBrk="1" fontAlgn="auto" latinLnBrk="0" hangingPunct="1">
              <a:lnSpc>
                <a:spcPct val="100000"/>
              </a:lnSpc>
              <a:spcBef>
                <a:spcPts val="15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(Result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limited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by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word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size)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22987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874520" algn="l"/>
              </a:tabLst>
              <a:defRPr/>
            </a:pP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0011	(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3)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wrong</a:t>
            </a:r>
            <a:r>
              <a:rPr kumimoji="0" lang="en-US" sz="32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!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71800" y="3733801"/>
            <a:ext cx="347980" cy="319405"/>
          </a:xfrm>
          <a:custGeom>
            <a:avLst/>
            <a:gdLst/>
            <a:ahLst/>
            <a:cxnLst/>
            <a:rect l="l" t="t" r="r" b="b"/>
            <a:pathLst>
              <a:path w="347980" h="319404">
                <a:moveTo>
                  <a:pt x="290512" y="290512"/>
                </a:moveTo>
                <a:lnTo>
                  <a:pt x="0" y="290512"/>
                </a:lnTo>
                <a:lnTo>
                  <a:pt x="0" y="319087"/>
                </a:lnTo>
                <a:lnTo>
                  <a:pt x="312690" y="319087"/>
                </a:lnTo>
                <a:lnTo>
                  <a:pt x="319087" y="312690"/>
                </a:lnTo>
                <a:lnTo>
                  <a:pt x="319087" y="304800"/>
                </a:lnTo>
                <a:lnTo>
                  <a:pt x="290512" y="304800"/>
                </a:lnTo>
                <a:lnTo>
                  <a:pt x="290512" y="290512"/>
                </a:lnTo>
                <a:close/>
              </a:path>
              <a:path w="347980" h="319404">
                <a:moveTo>
                  <a:pt x="319087" y="71437"/>
                </a:moveTo>
                <a:lnTo>
                  <a:pt x="290512" y="71437"/>
                </a:lnTo>
                <a:lnTo>
                  <a:pt x="290512" y="304800"/>
                </a:lnTo>
                <a:lnTo>
                  <a:pt x="304800" y="290512"/>
                </a:lnTo>
                <a:lnTo>
                  <a:pt x="319087" y="290512"/>
                </a:lnTo>
                <a:lnTo>
                  <a:pt x="319087" y="71437"/>
                </a:lnTo>
                <a:close/>
              </a:path>
              <a:path w="347980" h="319404">
                <a:moveTo>
                  <a:pt x="319087" y="290512"/>
                </a:moveTo>
                <a:lnTo>
                  <a:pt x="304800" y="290512"/>
                </a:lnTo>
                <a:lnTo>
                  <a:pt x="290512" y="304800"/>
                </a:lnTo>
                <a:lnTo>
                  <a:pt x="319087" y="304800"/>
                </a:lnTo>
                <a:lnTo>
                  <a:pt x="319087" y="290512"/>
                </a:lnTo>
                <a:close/>
              </a:path>
              <a:path w="347980" h="319404">
                <a:moveTo>
                  <a:pt x="304800" y="0"/>
                </a:moveTo>
                <a:lnTo>
                  <a:pt x="261937" y="85725"/>
                </a:lnTo>
                <a:lnTo>
                  <a:pt x="290512" y="85725"/>
                </a:lnTo>
                <a:lnTo>
                  <a:pt x="290512" y="71437"/>
                </a:lnTo>
                <a:lnTo>
                  <a:pt x="340518" y="71437"/>
                </a:lnTo>
                <a:lnTo>
                  <a:pt x="304800" y="0"/>
                </a:lnTo>
                <a:close/>
              </a:path>
              <a:path w="347980" h="319404">
                <a:moveTo>
                  <a:pt x="340518" y="71437"/>
                </a:moveTo>
                <a:lnTo>
                  <a:pt x="319087" y="71437"/>
                </a:lnTo>
                <a:lnTo>
                  <a:pt x="319087" y="85725"/>
                </a:lnTo>
                <a:lnTo>
                  <a:pt x="347662" y="85725"/>
                </a:lnTo>
                <a:lnTo>
                  <a:pt x="340518" y="7143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429000" y="3729037"/>
            <a:ext cx="762000" cy="1529080"/>
            <a:chOff x="1905000" y="3729037"/>
            <a:chExt cx="762000" cy="1529080"/>
          </a:xfrm>
        </p:grpSpPr>
        <p:sp>
          <p:nvSpPr>
            <p:cNvPr id="7" name="object 7"/>
            <p:cNvSpPr/>
            <p:nvPr/>
          </p:nvSpPr>
          <p:spPr>
            <a:xfrm>
              <a:off x="1905000" y="3733800"/>
              <a:ext cx="762000" cy="0"/>
            </a:xfrm>
            <a:custGeom>
              <a:avLst/>
              <a:gdLst/>
              <a:ahLst/>
              <a:cxnLst/>
              <a:rect l="l" t="t" r="r" b="b"/>
              <a:pathLst>
                <a:path w="762000">
                  <a:moveTo>
                    <a:pt x="0" y="0"/>
                  </a:moveTo>
                  <a:lnTo>
                    <a:pt x="762000" y="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243138" y="3733800"/>
              <a:ext cx="85725" cy="1524000"/>
            </a:xfrm>
            <a:custGeom>
              <a:avLst/>
              <a:gdLst/>
              <a:ahLst/>
              <a:cxnLst/>
              <a:rect l="l" t="t" r="r" b="b"/>
              <a:pathLst>
                <a:path w="85725" h="1524000">
                  <a:moveTo>
                    <a:pt x="28574" y="1438275"/>
                  </a:moveTo>
                  <a:lnTo>
                    <a:pt x="0" y="1438275"/>
                  </a:lnTo>
                  <a:lnTo>
                    <a:pt x="42862" y="1524000"/>
                  </a:lnTo>
                  <a:lnTo>
                    <a:pt x="78581" y="1452562"/>
                  </a:lnTo>
                  <a:lnTo>
                    <a:pt x="28575" y="1452562"/>
                  </a:lnTo>
                  <a:lnTo>
                    <a:pt x="28574" y="1438275"/>
                  </a:lnTo>
                  <a:close/>
                </a:path>
                <a:path w="85725" h="1524000">
                  <a:moveTo>
                    <a:pt x="57148" y="0"/>
                  </a:moveTo>
                  <a:lnTo>
                    <a:pt x="28573" y="0"/>
                  </a:lnTo>
                  <a:lnTo>
                    <a:pt x="28575" y="1452562"/>
                  </a:lnTo>
                  <a:lnTo>
                    <a:pt x="57150" y="1452562"/>
                  </a:lnTo>
                  <a:lnTo>
                    <a:pt x="57148" y="0"/>
                  </a:lnTo>
                  <a:close/>
                </a:path>
                <a:path w="85725" h="1524000">
                  <a:moveTo>
                    <a:pt x="85725" y="1438275"/>
                  </a:moveTo>
                  <a:lnTo>
                    <a:pt x="57149" y="1438275"/>
                  </a:lnTo>
                  <a:lnTo>
                    <a:pt x="57150" y="1452562"/>
                  </a:lnTo>
                  <a:lnTo>
                    <a:pt x="78581" y="1452562"/>
                  </a:lnTo>
                  <a:lnTo>
                    <a:pt x="85725" y="14382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05728" y="2051304"/>
            <a:ext cx="4447032" cy="14808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506528" y="1986788"/>
            <a:ext cx="3522345" cy="1112484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5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Range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for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4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bits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is</a:t>
            </a:r>
            <a:r>
              <a:rPr kumimoji="0" sz="2400" b="0" i="0" u="none" strike="noStrike" kern="1200" cap="none" spc="-1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</a:t>
            </a:r>
            <a:r>
              <a:rPr kumimoji="0" sz="2400" b="0" i="0" u="none" strike="noStrike" kern="1200" cap="none" spc="-5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to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15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635" marR="0" lvl="0" indent="0" algn="ctr" defTabSz="914400" rtl="0" eaLnBrk="1" fontAlgn="auto" latinLnBrk="0" hangingPunct="1">
              <a:lnSpc>
                <a:spcPct val="100000"/>
              </a:lnSpc>
              <a:spcBef>
                <a:spcPts val="141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16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+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3</a:t>
            </a:r>
            <a:r>
              <a:rPr kumimoji="0" sz="2400" b="0" i="0" u="none" strike="noStrike" kern="1200" cap="none" spc="-2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=</a:t>
            </a:r>
            <a:r>
              <a:rPr kumimoji="0" sz="2400" b="0" i="0" u="none" strike="noStrike" kern="1200" cap="none" spc="-15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19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41719113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32866" y="767634"/>
            <a:ext cx="8006597" cy="501419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/>
          <a:p>
            <a:pPr marL="161925" marR="5080" indent="-149225">
              <a:lnSpc>
                <a:spcPct val="100499"/>
              </a:lnSpc>
              <a:spcBef>
                <a:spcPts val="70"/>
              </a:spcBef>
            </a:pPr>
            <a:r>
              <a:rPr sz="3200" spc="-5" dirty="0"/>
              <a:t>Example </a:t>
            </a:r>
            <a:r>
              <a:rPr sz="3200" dirty="0"/>
              <a:t>of </a:t>
            </a:r>
            <a:r>
              <a:rPr sz="3200" dirty="0">
                <a:solidFill>
                  <a:srgbClr val="FF0000"/>
                </a:solidFill>
              </a:rPr>
              <a:t>Signed</a:t>
            </a:r>
            <a:r>
              <a:rPr sz="3200" dirty="0"/>
              <a:t> </a:t>
            </a:r>
            <a:r>
              <a:rPr sz="3200" spc="-5" dirty="0"/>
              <a:t>Overflow </a:t>
            </a:r>
            <a:r>
              <a:rPr sz="3200" spc="-980" dirty="0"/>
              <a:t> </a:t>
            </a:r>
            <a:r>
              <a:rPr sz="3200" dirty="0"/>
              <a:t>Using</a:t>
            </a:r>
            <a:r>
              <a:rPr sz="3200" spc="-20" dirty="0"/>
              <a:t> </a:t>
            </a:r>
            <a:r>
              <a:rPr sz="3200" spc="-5" dirty="0"/>
              <a:t>8-bit</a:t>
            </a:r>
            <a:endParaRPr sz="3200" dirty="0"/>
          </a:p>
        </p:txBody>
      </p:sp>
      <p:sp>
        <p:nvSpPr>
          <p:cNvPr id="3" name="object 3"/>
          <p:cNvSpPr/>
          <p:nvPr/>
        </p:nvSpPr>
        <p:spPr>
          <a:xfrm>
            <a:off x="4019009" y="5861719"/>
            <a:ext cx="2519680" cy="0"/>
          </a:xfrm>
          <a:custGeom>
            <a:avLst/>
            <a:gdLst/>
            <a:ahLst/>
            <a:cxnLst/>
            <a:rect l="l" t="t" r="r" b="b"/>
            <a:pathLst>
              <a:path w="2519679">
                <a:moveTo>
                  <a:pt x="0" y="0"/>
                </a:moveTo>
                <a:lnTo>
                  <a:pt x="2519071" y="0"/>
                </a:lnTo>
              </a:path>
            </a:pathLst>
          </a:custGeom>
          <a:ln w="23825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1373" y="1601694"/>
            <a:ext cx="7578725" cy="485457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556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53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Overflow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is</a:t>
            </a:r>
            <a:r>
              <a:rPr kumimoji="0" sz="32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impossible</a:t>
            </a:r>
            <a:r>
              <a:rPr kumimoji="0" sz="32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</a:t>
            </a:r>
            <a:r>
              <a:rPr kumimoji="0" lang="en-US" sz="32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: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556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5565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adding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numbers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 have different signs.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7556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Char char="–"/>
              <a:tabLst>
                <a:tab pos="755650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subtracting numbers</a:t>
            </a:r>
            <a:r>
              <a:rPr kumimoji="0" sz="2800" b="0" i="0" u="none" strike="noStrike" kern="1200" cap="none" spc="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that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have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same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signs.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55600" marR="5080" lvl="0" indent="-342900" algn="l" defTabSz="914400" rtl="0" eaLnBrk="1" fontAlgn="auto" latinLnBrk="0" hangingPunct="1">
              <a:lnSpc>
                <a:spcPts val="3479"/>
              </a:lnSpc>
              <a:spcBef>
                <a:spcPts val="760"/>
              </a:spcBef>
              <a:spcAft>
                <a:spcPts val="0"/>
              </a:spcAft>
              <a:buClrTx/>
              <a:buSzTx/>
              <a:buFontTx/>
              <a:buChar char="•"/>
              <a:tabLst>
                <a:tab pos="354965" algn="l"/>
                <a:tab pos="355600" algn="l"/>
              </a:tabLst>
              <a:defRPr/>
            </a:pP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Overflow</a:t>
            </a:r>
            <a:r>
              <a:rPr kumimoji="0" sz="3200" b="0" i="0" u="none" strike="noStrike" kern="1200" cap="none" spc="4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occurs</a:t>
            </a:r>
            <a:r>
              <a:rPr kumimoji="0" sz="3200" b="0" i="0" u="none" strike="noStrike" kern="1200" cap="none" spc="4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when</a:t>
            </a:r>
            <a:r>
              <a:rPr kumimoji="0" sz="3200" b="0" i="0" u="none" strike="noStrike" kern="1200" cap="none" spc="5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3200" b="0" i="0" u="none" strike="noStrike" kern="1200" cap="none" spc="5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magnitude</a:t>
            </a:r>
            <a:r>
              <a:rPr kumimoji="0" sz="3200" b="0" i="0" u="none" strike="noStrike" kern="1200" cap="none" spc="4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of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the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result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extends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into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the</a:t>
            </a:r>
            <a:r>
              <a:rPr kumimoji="0" sz="3200" b="0" i="0" u="none" strike="noStrike" kern="1200" cap="none" spc="-1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sign</a:t>
            </a:r>
            <a:r>
              <a:rPr kumimoji="0" sz="3200" b="0" i="0" u="none" strike="noStrike" kern="1200" cap="none" spc="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bit </a:t>
            </a:r>
            <a:r>
              <a:rPr kumimoji="0" sz="32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position:</a:t>
            </a:r>
            <a:endParaRPr kumimoji="0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7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312610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0111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1111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(127)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+</a:t>
            </a:r>
          </a:p>
          <a:p>
            <a:pPr marL="3112770" marR="0" lvl="0" indent="0" algn="l" defTabSz="914400" rtl="0" eaLnBrk="1" fontAlgn="auto" latinLnBrk="0" hangingPunct="1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0000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0001</a:t>
            </a:r>
            <a:r>
              <a:rPr kumimoji="0" sz="2800" b="0" i="0" u="none" strike="noStrike" kern="1200" cap="none" spc="-1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(1)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  <a:p>
            <a:pPr marL="49149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(0)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1000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0000</a:t>
            </a:r>
            <a:r>
              <a:rPr kumimoji="0" sz="2400" b="0" i="0" u="none" strike="noStrike" kern="1200" cap="none" spc="-3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(-128)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79211" y="4058112"/>
            <a:ext cx="1983105" cy="636905"/>
          </a:xfrm>
          <a:custGeom>
            <a:avLst/>
            <a:gdLst/>
            <a:ahLst/>
            <a:cxnLst/>
            <a:rect l="l" t="t" r="r" b="b"/>
            <a:pathLst>
              <a:path w="1983104" h="636904">
                <a:moveTo>
                  <a:pt x="70083" y="541199"/>
                </a:moveTo>
                <a:lnTo>
                  <a:pt x="67071" y="541323"/>
                </a:lnTo>
                <a:lnTo>
                  <a:pt x="0" y="614158"/>
                </a:lnTo>
                <a:lnTo>
                  <a:pt x="96414" y="636689"/>
                </a:lnTo>
                <a:lnTo>
                  <a:pt x="98976" y="635097"/>
                </a:lnTo>
                <a:lnTo>
                  <a:pt x="100172" y="629975"/>
                </a:lnTo>
                <a:lnTo>
                  <a:pt x="98581" y="627414"/>
                </a:lnTo>
                <a:lnTo>
                  <a:pt x="49442" y="615930"/>
                </a:lnTo>
                <a:lnTo>
                  <a:pt x="10431" y="615930"/>
                </a:lnTo>
                <a:lnTo>
                  <a:pt x="7631" y="606827"/>
                </a:lnTo>
                <a:lnTo>
                  <a:pt x="24470" y="601646"/>
                </a:lnTo>
                <a:lnTo>
                  <a:pt x="74077" y="547776"/>
                </a:lnTo>
                <a:lnTo>
                  <a:pt x="73953" y="544762"/>
                </a:lnTo>
                <a:lnTo>
                  <a:pt x="70083" y="541199"/>
                </a:lnTo>
                <a:close/>
              </a:path>
              <a:path w="1983104" h="636904">
                <a:moveTo>
                  <a:pt x="24470" y="601646"/>
                </a:moveTo>
                <a:lnTo>
                  <a:pt x="7631" y="606827"/>
                </a:lnTo>
                <a:lnTo>
                  <a:pt x="10431" y="615930"/>
                </a:lnTo>
                <a:lnTo>
                  <a:pt x="14740" y="614605"/>
                </a:lnTo>
                <a:lnTo>
                  <a:pt x="12537" y="614605"/>
                </a:lnTo>
                <a:lnTo>
                  <a:pt x="10118" y="606741"/>
                </a:lnTo>
                <a:lnTo>
                  <a:pt x="19778" y="606741"/>
                </a:lnTo>
                <a:lnTo>
                  <a:pt x="24470" y="601646"/>
                </a:lnTo>
                <a:close/>
              </a:path>
              <a:path w="1983104" h="636904">
                <a:moveTo>
                  <a:pt x="27270" y="610749"/>
                </a:moveTo>
                <a:lnTo>
                  <a:pt x="10431" y="615930"/>
                </a:lnTo>
                <a:lnTo>
                  <a:pt x="49442" y="615930"/>
                </a:lnTo>
                <a:lnTo>
                  <a:pt x="27270" y="610749"/>
                </a:lnTo>
                <a:close/>
              </a:path>
              <a:path w="1983104" h="636904">
                <a:moveTo>
                  <a:pt x="10118" y="606741"/>
                </a:moveTo>
                <a:lnTo>
                  <a:pt x="12537" y="614605"/>
                </a:lnTo>
                <a:lnTo>
                  <a:pt x="18068" y="608599"/>
                </a:lnTo>
                <a:lnTo>
                  <a:pt x="10118" y="606741"/>
                </a:lnTo>
                <a:close/>
              </a:path>
              <a:path w="1983104" h="636904">
                <a:moveTo>
                  <a:pt x="18068" y="608599"/>
                </a:moveTo>
                <a:lnTo>
                  <a:pt x="12537" y="614605"/>
                </a:lnTo>
                <a:lnTo>
                  <a:pt x="14740" y="614605"/>
                </a:lnTo>
                <a:lnTo>
                  <a:pt x="27270" y="610749"/>
                </a:lnTo>
                <a:lnTo>
                  <a:pt x="18068" y="608599"/>
                </a:lnTo>
                <a:close/>
              </a:path>
              <a:path w="1983104" h="636904">
                <a:moveTo>
                  <a:pt x="1979820" y="0"/>
                </a:moveTo>
                <a:lnTo>
                  <a:pt x="24470" y="601646"/>
                </a:lnTo>
                <a:lnTo>
                  <a:pt x="18068" y="608599"/>
                </a:lnTo>
                <a:lnTo>
                  <a:pt x="27270" y="610749"/>
                </a:lnTo>
                <a:lnTo>
                  <a:pt x="1982622" y="9103"/>
                </a:lnTo>
                <a:lnTo>
                  <a:pt x="1979820" y="0"/>
                </a:lnTo>
                <a:close/>
              </a:path>
              <a:path w="1983104" h="636904">
                <a:moveTo>
                  <a:pt x="19778" y="606741"/>
                </a:moveTo>
                <a:lnTo>
                  <a:pt x="10118" y="606741"/>
                </a:lnTo>
                <a:lnTo>
                  <a:pt x="18068" y="608599"/>
                </a:lnTo>
                <a:lnTo>
                  <a:pt x="19778" y="60674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45384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0527" y="729909"/>
            <a:ext cx="10417284" cy="378309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/>
          <a:p>
            <a:pPr marL="1389380" marR="5080" indent="-1146175">
              <a:lnSpc>
                <a:spcPct val="100499"/>
              </a:lnSpc>
              <a:spcBef>
                <a:spcPts val="70"/>
              </a:spcBef>
            </a:pPr>
            <a:r>
              <a:rPr sz="2400" dirty="0"/>
              <a:t>Another</a:t>
            </a:r>
            <a:r>
              <a:rPr sz="2400" spc="5" dirty="0"/>
              <a:t> </a:t>
            </a:r>
            <a:r>
              <a:rPr sz="2400" spc="-5" dirty="0"/>
              <a:t>Example</a:t>
            </a:r>
            <a:r>
              <a:rPr sz="2400" dirty="0"/>
              <a:t> of</a:t>
            </a:r>
            <a:r>
              <a:rPr sz="2400" spc="-10" dirty="0"/>
              <a:t> </a:t>
            </a:r>
            <a:r>
              <a:rPr sz="2400" spc="-5" dirty="0">
                <a:solidFill>
                  <a:srgbClr val="FF0000"/>
                </a:solidFill>
              </a:rPr>
              <a:t>Signed</a:t>
            </a:r>
            <a:r>
              <a:rPr sz="2400" dirty="0"/>
              <a:t> </a:t>
            </a:r>
            <a:r>
              <a:rPr sz="2400" spc="-5" dirty="0">
                <a:solidFill>
                  <a:srgbClr val="FF0000"/>
                </a:solidFill>
              </a:rPr>
              <a:t>Overflow</a:t>
            </a:r>
            <a:r>
              <a:rPr sz="2400" spc="-5" dirty="0"/>
              <a:t> </a:t>
            </a:r>
            <a:r>
              <a:rPr sz="2400" spc="-980" dirty="0"/>
              <a:t> </a:t>
            </a:r>
            <a:r>
              <a:rPr sz="2400" dirty="0"/>
              <a:t>Using</a:t>
            </a:r>
            <a:r>
              <a:rPr sz="2400" spc="-5" dirty="0"/>
              <a:t> 8-bit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2150182" y="1909840"/>
            <a:ext cx="3611879" cy="1970405"/>
          </a:xfrm>
          <a:prstGeom prst="rect">
            <a:avLst/>
          </a:prstGeom>
        </p:spPr>
        <p:txBody>
          <a:bodyPr vert="horz" wrap="square" lIns="0" tIns="234950" rIns="0" bIns="0" rtlCol="0">
            <a:spAutoFit/>
          </a:bodyPr>
          <a:lstStyle/>
          <a:p>
            <a:pPr marL="926465" marR="0" lvl="0" indent="0" algn="ctr" defTabSz="914400" rtl="0" eaLnBrk="1" fontAlgn="auto" latinLnBrk="0" hangingPunct="1">
              <a:lnSpc>
                <a:spcPct val="100000"/>
              </a:lnSpc>
              <a:spcBef>
                <a:spcPts val="1850"/>
              </a:spcBef>
              <a:spcAft>
                <a:spcPts val="0"/>
              </a:spcAft>
              <a:buClrTx/>
              <a:buSzTx/>
              <a:buFontTx/>
              <a:buNone/>
              <a:tabLst>
                <a:tab pos="2230120" algn="l"/>
                <a:tab pos="3155315" algn="l"/>
              </a:tabLst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-120</a:t>
            </a:r>
            <a:r>
              <a:rPr kumimoji="0" sz="2850" b="0" i="0" u="none" strike="noStrike" kern="1200" cap="none" spc="-15" normalizeH="0" baseline="-14619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	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+	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Wingdings"/>
                <a:ea typeface="+mn-ea"/>
                <a:cs typeface="Wingdings"/>
              </a:rPr>
              <a:t></a:t>
            </a:r>
          </a:p>
          <a:p>
            <a:pPr marL="0" marR="1640205" lvl="0" indent="0" algn="r" defTabSz="914400" rtl="0" eaLnBrk="1" fontAlgn="auto" latinLnBrk="0" hangingPunct="1">
              <a:lnSpc>
                <a:spcPct val="100000"/>
              </a:lnSpc>
              <a:spcBef>
                <a:spcPts val="17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heavy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ahoma"/>
                <a:ea typeface="+mn-ea"/>
                <a:cs typeface="Tahoma"/>
              </a:rPr>
              <a:t>-17</a:t>
            </a:r>
            <a:r>
              <a:rPr kumimoji="0" sz="2850" b="0" i="0" u="none" strike="noStrike" kern="1200" cap="none" spc="-15" normalizeH="0" baseline="-20467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</a:t>
            </a:r>
            <a:endParaRPr kumimoji="0" sz="2850" b="0" i="0" u="none" strike="noStrike" kern="1200" cap="none" spc="0" normalizeH="0" baseline="-20467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0" marR="1691005" lvl="0" indent="0" algn="r" defTabSz="914400" rtl="0" eaLnBrk="1" fontAlgn="auto" latinLnBrk="0" hangingPunct="1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sum:</a:t>
            </a:r>
            <a:r>
              <a:rPr kumimoji="0" sz="2800" b="0" i="0" u="none" strike="noStrike" kern="1200" cap="none" spc="-8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-137</a:t>
            </a:r>
            <a:r>
              <a:rPr kumimoji="0" sz="2850" b="0" i="0" u="none" strike="noStrike" kern="1200" cap="none" spc="-15" normalizeH="0" baseline="-20467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</a:t>
            </a:r>
            <a:endParaRPr kumimoji="0" sz="2850" b="0" i="0" u="none" strike="noStrike" kern="1200" cap="none" spc="0" normalizeH="0" baseline="-20467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12581" y="1940320"/>
            <a:ext cx="2805430" cy="1939925"/>
          </a:xfrm>
          <a:prstGeom prst="rect">
            <a:avLst/>
          </a:prstGeom>
        </p:spPr>
        <p:txBody>
          <a:bodyPr vert="horz" wrap="square" lIns="0" tIns="219710" rIns="0" bIns="0" rtlCol="0">
            <a:spAutoFit/>
          </a:bodyPr>
          <a:lstStyle/>
          <a:p>
            <a:pPr marL="606425" marR="0" lvl="0" indent="0" algn="l" defTabSz="914400" rtl="0" eaLnBrk="1" fontAlgn="auto" latinLnBrk="0" hangingPunct="1">
              <a:lnSpc>
                <a:spcPct val="100000"/>
              </a:lnSpc>
              <a:spcBef>
                <a:spcPts val="173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7615" algn="l"/>
              </a:tabLst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1000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1000</a:t>
            </a:r>
            <a:r>
              <a:rPr kumimoji="0" sz="2850" b="0" i="0" u="none" strike="noStrike" kern="1200" cap="none" spc="-7" normalizeH="0" baseline="-20467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2	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+</a:t>
            </a:r>
          </a:p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1635"/>
              </a:spcBef>
              <a:spcAft>
                <a:spcPts val="0"/>
              </a:spcAft>
              <a:buClrTx/>
              <a:buSzTx/>
              <a:buFontTx/>
              <a:buNone/>
              <a:tabLst>
                <a:tab pos="605790" algn="l"/>
              </a:tabLst>
              <a:defRPr/>
            </a:pPr>
            <a:r>
              <a:rPr kumimoji="0" sz="2800" b="0" i="0" u="heavy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imes New Roman"/>
                <a:ea typeface="+mn-ea"/>
                <a:cs typeface="Times New Roman"/>
              </a:rPr>
              <a:t> 	</a:t>
            </a:r>
            <a:r>
              <a:rPr kumimoji="0" sz="28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ahoma"/>
                <a:ea typeface="+mn-ea"/>
                <a:cs typeface="Tahoma"/>
              </a:rPr>
              <a:t>1110</a:t>
            </a:r>
            <a:r>
              <a:rPr kumimoji="0" lang="en-US" sz="28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ahoma"/>
                <a:ea typeface="+mn-ea"/>
                <a:cs typeface="Tahoma"/>
              </a:rPr>
              <a:t> </a:t>
            </a:r>
            <a:r>
              <a:rPr kumimoji="0" sz="2800" b="0" i="0" u="heavy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Tahoma"/>
                <a:ea typeface="+mn-ea"/>
                <a:cs typeface="Tahoma"/>
              </a:rPr>
              <a:t>1111</a:t>
            </a:r>
            <a:r>
              <a:rPr kumimoji="0" sz="2850" b="0" i="0" u="none" strike="noStrike" kern="1200" cap="none" spc="-7" normalizeH="0" baseline="-20467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2</a:t>
            </a:r>
            <a:endParaRPr kumimoji="0" sz="2850" b="0" i="0" u="none" strike="noStrike" kern="1200" cap="none" spc="0" normalizeH="0" baseline="-20467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50800" marR="0" lvl="0" indent="0" algn="l" defTabSz="914400" rtl="0" eaLnBrk="1" fontAlgn="auto" latinLnBrk="0" hangingPunct="1">
              <a:lnSpc>
                <a:spcPct val="100000"/>
              </a:lnSpc>
              <a:spcBef>
                <a:spcPts val="17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1)</a:t>
            </a:r>
            <a:r>
              <a:rPr kumimoji="0" sz="2800" b="0" i="0" u="none" strike="noStrike" kern="1200" cap="none" spc="-85" normalizeH="0" baseline="0" noProof="0" dirty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111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0111</a:t>
            </a:r>
            <a:r>
              <a:rPr kumimoji="0" sz="2850" b="0" i="0" u="none" strike="noStrike" kern="1200" cap="none" spc="-7" normalizeH="0" baseline="-20467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2</a:t>
            </a:r>
            <a:endParaRPr kumimoji="0" sz="2850" b="0" i="0" u="none" strike="noStrike" kern="1200" cap="none" spc="0" normalizeH="0" baseline="-20467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99881" y="4494543"/>
            <a:ext cx="4008120" cy="1518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64689" algn="l"/>
              </a:tabLst>
              <a:defRPr/>
            </a:pP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111</a:t>
            </a:r>
            <a:r>
              <a:rPr kumimoji="0" lang="en-US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0111</a:t>
            </a:r>
            <a:r>
              <a:rPr kumimoji="0" sz="2850" b="0" i="0" u="none" strike="noStrike" kern="1200" cap="none" spc="-7" normalizeH="0" baseline="-20467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2	</a:t>
            </a:r>
            <a:r>
              <a:rPr kumimoji="0" sz="2800" b="0" i="0" u="none" strike="noStrike" kern="1200" cap="none" spc="-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(keep</a:t>
            </a:r>
            <a:r>
              <a:rPr kumimoji="0" sz="2800" b="0" i="0" u="none" strike="noStrike" kern="1200" cap="none" spc="-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8</a:t>
            </a:r>
            <a:r>
              <a:rPr kumimoji="0" sz="2800" b="0" i="0" u="none" strike="noStrike" kern="1200" cap="none" spc="-45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bits)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41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  <a:p>
            <a:pPr marL="635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(+119</a:t>
            </a:r>
            <a:r>
              <a:rPr kumimoji="0" sz="2850" b="0" i="0" u="none" strike="noStrike" kern="1200" cap="none" spc="-15" normalizeH="0" baseline="-20467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10</a:t>
            </a:r>
            <a:r>
              <a:rPr kumimoji="0" sz="2800" b="0" i="0" u="none" strike="noStrike" kern="1200" cap="none" spc="-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)</a:t>
            </a:r>
            <a:r>
              <a:rPr kumimoji="0" sz="2800" b="0" i="0" u="none" strike="noStrike" kern="1200" cap="none" spc="-2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wrong</a:t>
            </a:r>
            <a:r>
              <a:rPr kumimoji="0" sz="2800" b="1" i="0" u="none" strike="noStrike" kern="1200" cap="none" spc="-1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 </a:t>
            </a:r>
            <a:r>
              <a:rPr kumimoji="0" sz="2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result</a:t>
            </a:r>
            <a:r>
              <a:rPr kumimoji="0" lang="en-US" sz="2800" b="1" i="0" u="none" strike="noStrike" kern="120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Tahoma"/>
              </a:rPr>
              <a:t>!</a:t>
            </a:r>
            <a:endParaRPr kumimoji="0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6763023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8DA8F-0B66-1C3D-2214-F8501C929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A5C6D2-05EE-7C39-B521-C8D37E6422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0527" y="729909"/>
            <a:ext cx="10417284" cy="378309"/>
          </a:xfrm>
          <a:prstGeom prst="rect">
            <a:avLst/>
          </a:prstGeom>
        </p:spPr>
        <p:txBody>
          <a:bodyPr vert="horz" wrap="square" lIns="0" tIns="8890" rIns="0" bIns="0" rtlCol="0" anchor="ctr">
            <a:spAutoFit/>
          </a:bodyPr>
          <a:lstStyle/>
          <a:p>
            <a:pPr marL="1389380" marR="5080" indent="-1146175">
              <a:lnSpc>
                <a:spcPct val="100499"/>
              </a:lnSpc>
              <a:spcBef>
                <a:spcPts val="70"/>
              </a:spcBef>
            </a:pPr>
            <a:r>
              <a:rPr lang="en-US" sz="2400" dirty="0"/>
              <a:t>Summary</a:t>
            </a:r>
            <a:endParaRPr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49045AC-016B-53FC-EE44-93D785792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656165"/>
              </p:ext>
            </p:extLst>
          </p:nvPr>
        </p:nvGraphicFramePr>
        <p:xfrm>
          <a:off x="940527" y="1297072"/>
          <a:ext cx="10417284" cy="24122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4321">
                  <a:extLst>
                    <a:ext uri="{9D8B030D-6E8A-4147-A177-3AD203B41FA5}">
                      <a16:colId xmlns:a16="http://schemas.microsoft.com/office/drawing/2014/main" val="1038356411"/>
                    </a:ext>
                  </a:extLst>
                </a:gridCol>
                <a:gridCol w="2604321">
                  <a:extLst>
                    <a:ext uri="{9D8B030D-6E8A-4147-A177-3AD203B41FA5}">
                      <a16:colId xmlns:a16="http://schemas.microsoft.com/office/drawing/2014/main" val="2122443980"/>
                    </a:ext>
                  </a:extLst>
                </a:gridCol>
                <a:gridCol w="2604321">
                  <a:extLst>
                    <a:ext uri="{9D8B030D-6E8A-4147-A177-3AD203B41FA5}">
                      <a16:colId xmlns:a16="http://schemas.microsoft.com/office/drawing/2014/main" val="2674457846"/>
                    </a:ext>
                  </a:extLst>
                </a:gridCol>
                <a:gridCol w="2604321">
                  <a:extLst>
                    <a:ext uri="{9D8B030D-6E8A-4147-A177-3AD203B41FA5}">
                      <a16:colId xmlns:a16="http://schemas.microsoft.com/office/drawing/2014/main" val="3729601209"/>
                    </a:ext>
                  </a:extLst>
                </a:gridCol>
              </a:tblGrid>
              <a:tr h="419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Situation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Flag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426798"/>
                  </a:ext>
                </a:extLst>
              </a:tr>
              <a:tr h="419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Unsigned rollover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255 + 1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Carry =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165108"/>
                  </a:ext>
                </a:extLst>
              </a:tr>
              <a:tr h="419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Signed overflow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+127 + 1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−128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Overflow = </a:t>
                      </a:r>
                      <a:r>
                        <a:rPr lang="en-US" sz="18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726132"/>
                  </a:ext>
                </a:extLst>
              </a:tr>
              <a:tr h="734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Unsigned underflow/rollover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0 − 1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Carry/borrow indication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0437437"/>
                  </a:ext>
                </a:extLst>
              </a:tr>
              <a:tr h="419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Signed underflow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−128 − 1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+127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Overflow =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873089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F47D501-A56E-AA0A-BEFF-D798690BDFDE}"/>
              </a:ext>
            </a:extLst>
          </p:cNvPr>
          <p:cNvSpPr txBox="1"/>
          <p:nvPr/>
        </p:nvSpPr>
        <p:spPr>
          <a:xfrm>
            <a:off x="940527" y="4001799"/>
            <a:ext cx="104172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Rollover is what the bits do. Overflow is what the signed interpretation tells you happened.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same binary operation:</a:t>
            </a:r>
          </a:p>
          <a:p>
            <a:r>
              <a:rPr lang="en-US" dirty="0"/>
              <a:t>01111111 + 00000001 = 10000000</a:t>
            </a:r>
          </a:p>
          <a:p>
            <a:endParaRPr lang="en-US" dirty="0"/>
          </a:p>
          <a:p>
            <a:r>
              <a:rPr lang="en-US" dirty="0"/>
              <a:t>Can be interpreted as: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Unsigned:</a:t>
            </a:r>
            <a:r>
              <a:rPr lang="en-US" dirty="0"/>
              <a:t> 127 + 1 = 128 → perfectly valid, </a:t>
            </a:r>
            <a:r>
              <a:rPr lang="en-US" b="1" dirty="0">
                <a:solidFill>
                  <a:srgbClr val="FF0000"/>
                </a:solidFill>
              </a:rPr>
              <a:t>no</a:t>
            </a:r>
            <a:r>
              <a:rPr lang="en-US" b="1" dirty="0"/>
              <a:t> unsigned overflow</a:t>
            </a:r>
            <a:r>
              <a:rPr lang="en-US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Signed:</a:t>
            </a:r>
            <a:r>
              <a:rPr lang="en-US" dirty="0"/>
              <a:t>     127 + 1 = 128 → would be </a:t>
            </a:r>
            <a:r>
              <a:rPr lang="en-US" b="1" dirty="0">
                <a:solidFill>
                  <a:srgbClr val="FF0000"/>
                </a:solidFill>
              </a:rPr>
              <a:t>-1</a:t>
            </a:r>
            <a:r>
              <a:rPr lang="en-US" dirty="0"/>
              <a:t> (in 8-bit signed → </a:t>
            </a:r>
            <a:r>
              <a:rPr lang="en-US" b="1" dirty="0"/>
              <a:t>overflow)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383427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C41D-BF70-812D-3832-1DC06CDEA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FD3F-A590-7EDB-A656-2E5A672D8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Done</a:t>
            </a:r>
          </a:p>
        </p:txBody>
      </p:sp>
      <p:sp>
        <p:nvSpPr>
          <p:cNvPr id="5123" name="Slide Number Placeholder 3">
            <a:extLst>
              <a:ext uri="{FF2B5EF4-FFF2-40B4-BE49-F238E27FC236}">
                <a16:creationId xmlns:a16="http://schemas.microsoft.com/office/drawing/2014/main" id="{50745026-6E69-CC26-A1C9-571986FBFB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1739957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… to here …</a:t>
            </a:r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50172162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1_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1352</TotalTime>
  <Words>4882</Words>
  <Application>Microsoft Office PowerPoint</Application>
  <PresentationFormat>Widescreen</PresentationFormat>
  <Paragraphs>1333</Paragraphs>
  <Slides>96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96</vt:i4>
      </vt:variant>
    </vt:vector>
  </HeadingPairs>
  <TitlesOfParts>
    <vt:vector size="110" baseType="lpstr">
      <vt:lpstr>Arial</vt:lpstr>
      <vt:lpstr>Arial MT</vt:lpstr>
      <vt:lpstr>Arial Narrow</vt:lpstr>
      <vt:lpstr>Calibri</vt:lpstr>
      <vt:lpstr>Cambria Math</vt:lpstr>
      <vt:lpstr>Consolas</vt:lpstr>
      <vt:lpstr>Garamond</vt:lpstr>
      <vt:lpstr>Symbol</vt:lpstr>
      <vt:lpstr>Tahoma</vt:lpstr>
      <vt:lpstr>Times New Roman</vt:lpstr>
      <vt:lpstr>Wingdings</vt:lpstr>
      <vt:lpstr>SCUTemplate</vt:lpstr>
      <vt:lpstr>Custom Design</vt:lpstr>
      <vt:lpstr>1_SCUTemplate</vt:lpstr>
      <vt:lpstr>CSEN20</vt:lpstr>
      <vt:lpstr>Chapter 2 Binary Number Systems</vt:lpstr>
      <vt:lpstr>Kinds Of Data</vt:lpstr>
      <vt:lpstr>Number Representation</vt:lpstr>
      <vt:lpstr>Number Representation</vt:lpstr>
      <vt:lpstr>Number Representation</vt:lpstr>
      <vt:lpstr>Sign-and-Magnitude  vs 2’s Complement</vt:lpstr>
      <vt:lpstr>Sign-and-Magnitude  Representation</vt:lpstr>
      <vt:lpstr>2’s Complement Representation</vt:lpstr>
      <vt:lpstr>Why Not Sign + Magnitude?</vt:lpstr>
      <vt:lpstr>Why 2’s Complement?</vt:lpstr>
      <vt:lpstr>Why Not Sign+Magnitude?</vt:lpstr>
      <vt:lpstr>Chapter 2 Binary Number Systems</vt:lpstr>
      <vt:lpstr>Symbols and their values used in positional number systems</vt:lpstr>
      <vt:lpstr>Positional Number Systems</vt:lpstr>
      <vt:lpstr>POLYNOMIAL EVALUATION</vt:lpstr>
      <vt:lpstr>Polynomial Evaluation</vt:lpstr>
      <vt:lpstr>POLYNOMIAL EVALUATION</vt:lpstr>
      <vt:lpstr>Examples</vt:lpstr>
      <vt:lpstr>Converting from ANY Radix to Decimal</vt:lpstr>
      <vt:lpstr>CONVERT BINARY TO DECIMAL (Using Polynomial Evaluation)</vt:lpstr>
      <vt:lpstr>EXTENDING POLYNOMIAL EVALUATION TO NUMBERS WITH A FRACTIONAL PART</vt:lpstr>
      <vt:lpstr>PowerPoint Presentation</vt:lpstr>
      <vt:lpstr>AN EASIER METHOD</vt:lpstr>
      <vt:lpstr>Converting Fractions</vt:lpstr>
      <vt:lpstr>Representation Error</vt:lpstr>
      <vt:lpstr>Group Work</vt:lpstr>
      <vt:lpstr>Group Work</vt:lpstr>
      <vt:lpstr>Chapter 2 Binary Number Systems</vt:lpstr>
      <vt:lpstr>Decimal to Binary Conversion</vt:lpstr>
      <vt:lpstr>UNSIGNED DECIMAL TO BINARY CONVERSION</vt:lpstr>
      <vt:lpstr>UNSIGNED DECIMAL TO BINARY Method 1: Integer Part (Repeated Division)</vt:lpstr>
      <vt:lpstr>Decimal to Binary Conversion (Whole Part: Repeated Division)</vt:lpstr>
      <vt:lpstr>UNSIGNED DECIMAL TO BINARY Method 1: Fractional Part (Repeated Multiplication)</vt:lpstr>
      <vt:lpstr>Decimal to Binary Conversion (Fractional Part: Repeated Multiplication)</vt:lpstr>
      <vt:lpstr>Decimal to Binary Conversion (Fractional Part: Repeated Multiplication)</vt:lpstr>
      <vt:lpstr>Group Work</vt:lpstr>
      <vt:lpstr>Group Work</vt:lpstr>
      <vt:lpstr>Chapter 2 Binary Number Systems</vt:lpstr>
      <vt:lpstr>Two Interpretations</vt:lpstr>
      <vt:lpstr>Changing the Signs</vt:lpstr>
      <vt:lpstr>Easier Hand Method (example 1)</vt:lpstr>
      <vt:lpstr>Easier Hand Method (example 2)</vt:lpstr>
      <vt:lpstr>Finding 2’s complement of fraction  numbers</vt:lpstr>
      <vt:lpstr>CONVERTING SIGNED DECIMAL TO TWO’S COMPLEMENT</vt:lpstr>
      <vt:lpstr>CONVERTING SIGNED DECIMAL TO TWO’S COMPLEMENT</vt:lpstr>
      <vt:lpstr>PowerPoint Presentation</vt:lpstr>
      <vt:lpstr>Changing the Sign of a Two’s Complement Number (Method 1)</vt:lpstr>
      <vt:lpstr>Changing the Sign of a Two’s Complement Number (Method 2)</vt:lpstr>
      <vt:lpstr>Chapter 2 Binary Number Systems</vt:lpstr>
      <vt:lpstr>Hex</vt:lpstr>
      <vt:lpstr>MOTIVATION</vt:lpstr>
      <vt:lpstr>MOTIVATION</vt:lpstr>
      <vt:lpstr>Hexadecimal Numbers  (Radix = 16)</vt:lpstr>
      <vt:lpstr>Hex/Binary Table</vt:lpstr>
      <vt:lpstr>Binary to Hex Conversions</vt:lpstr>
      <vt:lpstr>Example: Binary to Hex</vt:lpstr>
      <vt:lpstr>Example: Hex to Binary</vt:lpstr>
      <vt:lpstr>Example: 110101.0101012 to Hex</vt:lpstr>
      <vt:lpstr>Example: 110101.0101012 to Hex</vt:lpstr>
      <vt:lpstr>Octal</vt:lpstr>
      <vt:lpstr>Octal/Binary Table</vt:lpstr>
      <vt:lpstr>Converting Octal (Base 8) to Hex</vt:lpstr>
      <vt:lpstr>Converting Octal (Base 8) to Hex</vt:lpstr>
      <vt:lpstr>Converting Octal (Base 8) to Hex</vt:lpstr>
      <vt:lpstr>Converting Octal (Base 8) to Hex</vt:lpstr>
      <vt:lpstr>Convert 21.348 to Binary</vt:lpstr>
      <vt:lpstr>Convert AB.CD16 to base 8</vt:lpstr>
      <vt:lpstr>Convert FA.CE16 to base 8</vt:lpstr>
      <vt:lpstr>Chapter 2 Binary Number Systems</vt:lpstr>
      <vt:lpstr>Convert unsigned 256 to decimal</vt:lpstr>
      <vt:lpstr>Convert unsigned 2510 to base 7</vt:lpstr>
      <vt:lpstr>Convert unsigned .310 to base 7</vt:lpstr>
      <vt:lpstr>Converting -25.7510 to 2’s Comp.</vt:lpstr>
      <vt:lpstr>Convert -75.7510 to 2’s complement</vt:lpstr>
      <vt:lpstr>Convert -75.7510 to 2’s complement</vt:lpstr>
      <vt:lpstr>Convert 2’s Comp. 1001.01102 to decimal</vt:lpstr>
      <vt:lpstr>Convert 2’s Comp. 1001.01102 to decimal</vt:lpstr>
      <vt:lpstr>Review Problems</vt:lpstr>
      <vt:lpstr>Convert -75.7510 to 2’s complement</vt:lpstr>
      <vt:lpstr>Convert 2’s Comp. 1001.01102 to decimal</vt:lpstr>
      <vt:lpstr>Practice Problems: NR1NR2</vt:lpstr>
      <vt:lpstr>Chapter 2 Binary Number Systems</vt:lpstr>
      <vt:lpstr>Question:</vt:lpstr>
      <vt:lpstr>Rollover</vt:lpstr>
      <vt:lpstr>Rollover in Unsigned Binary</vt:lpstr>
      <vt:lpstr>Rollover in Signed Binary</vt:lpstr>
      <vt:lpstr>PowerPoint Presentation</vt:lpstr>
      <vt:lpstr>Rollover Causing Overflow</vt:lpstr>
      <vt:lpstr>Rollovers Versus Overflows</vt:lpstr>
      <vt:lpstr>Example of Unsigned Overflow  Using 4-bit</vt:lpstr>
      <vt:lpstr>Example of Signed Overflow  Using 8-bit</vt:lpstr>
      <vt:lpstr>Another Example of Signed Overflow  Using 8-bit</vt:lpstr>
      <vt:lpstr>Summary</vt:lpstr>
      <vt:lpstr>Done</vt:lpstr>
      <vt:lpstr>… to here 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225</cp:revision>
  <cp:lastPrinted>2024-01-05T18:52:18Z</cp:lastPrinted>
  <dcterms:created xsi:type="dcterms:W3CDTF">2023-09-09T19:51:41Z</dcterms:created>
  <dcterms:modified xsi:type="dcterms:W3CDTF">2026-10-14T21:56:52Z</dcterms:modified>
</cp:coreProperties>
</file>