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10" r:id="rId4"/>
  </p:sldMasterIdLst>
  <p:notesMasterIdLst>
    <p:notesMasterId r:id="rId38"/>
  </p:notesMasterIdLst>
  <p:handoutMasterIdLst>
    <p:handoutMasterId r:id="rId39"/>
  </p:handoutMasterIdLst>
  <p:sldIdLst>
    <p:sldId id="333" r:id="rId5"/>
    <p:sldId id="410" r:id="rId6"/>
    <p:sldId id="365" r:id="rId7"/>
    <p:sldId id="367" r:id="rId8"/>
    <p:sldId id="368" r:id="rId9"/>
    <p:sldId id="371" r:id="rId10"/>
    <p:sldId id="372" r:id="rId11"/>
    <p:sldId id="374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97" r:id="rId33"/>
    <p:sldId id="398" r:id="rId34"/>
    <p:sldId id="399" r:id="rId35"/>
    <p:sldId id="336" r:id="rId36"/>
    <p:sldId id="509" r:id="rId3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2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60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864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29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7914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65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93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167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2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606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9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280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941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887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50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406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330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92903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381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321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32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2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8" r:id="rId20"/>
    <p:sldLayoutId id="214748370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63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076378"/>
            <a:ext cx="10439401" cy="45770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73103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1DCF-4AEA-1964-D28A-FC12315D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149D-7C64-92FF-EFF8-D9CE827C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5" y="741170"/>
            <a:ext cx="3779067" cy="578293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3B1E-BACD-3BEC-8868-757D8C8D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451262"/>
            <a:ext cx="10433326" cy="4982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 Rules for Writing Assembler Functions:</a:t>
            </a:r>
          </a:p>
          <a:p>
            <a:pPr lvl="1"/>
            <a:endParaRPr lang="en-US" b="1" dirty="0">
              <a:solidFill>
                <a:srgbClr val="92D050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You can use any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CPU registers from R0 to R12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But If you use register R4-R11 you need to preserve them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Example your function uses registers R4 and R5 then you need to </a:t>
            </a:r>
            <a:r>
              <a:rPr lang="en-US" b="1" dirty="0">
                <a:solidFill>
                  <a:srgbClr val="0066FF"/>
                </a:solidFill>
              </a:rPr>
              <a:t>PUSH {R4,R5} … POP {R4,R5}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Call a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function:</a:t>
            </a:r>
            <a:r>
              <a:rPr lang="en-US" dirty="0"/>
              <a:t> 		</a:t>
            </a:r>
            <a:r>
              <a:rPr lang="en-US" b="1" dirty="0">
                <a:solidFill>
                  <a:srgbClr val="0066FF"/>
                </a:solidFill>
              </a:rPr>
              <a:t>BL </a:t>
            </a:r>
            <a:r>
              <a:rPr lang="en-US" b="1" dirty="0" err="1">
                <a:solidFill>
                  <a:srgbClr val="0066FF"/>
                </a:solidFill>
              </a:rPr>
              <a:t>funcName</a:t>
            </a:r>
            <a:endParaRPr lang="en-US" b="1" dirty="0">
              <a:solidFill>
                <a:srgbClr val="0066FF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Passing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parameters in:	R0,R1,R2,R3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from a function: 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BX LR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If you call a function inside your function: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Preserve LR on the stack: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PUSH {LR}</a:t>
            </a:r>
            <a:r>
              <a:rPr lang="en-US" dirty="0">
                <a:solidFill>
                  <a:srgbClr val="0066FF"/>
                </a:solidFill>
              </a:rPr>
              <a:t> … </a:t>
            </a:r>
            <a:r>
              <a:rPr lang="en-US" b="1" dirty="0">
                <a:solidFill>
                  <a:srgbClr val="0066FF"/>
                </a:solidFill>
              </a:rPr>
              <a:t>POP {LR}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Assume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registers R0-R3 will be </a:t>
            </a:r>
            <a:r>
              <a:rPr lang="en-US" b="1" dirty="0">
                <a:solidFill>
                  <a:srgbClr val="FF0000"/>
                </a:solidFill>
              </a:rPr>
              <a:t>overwritten</a:t>
            </a:r>
            <a:r>
              <a:rPr lang="en-US" dirty="0">
                <a:solidFill>
                  <a:schemeClr val="tx1"/>
                </a:solidFill>
              </a:rPr>
              <a:t>, no matter what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For example, If you have something important in </a:t>
            </a:r>
            <a:r>
              <a:rPr lang="en-US" b="1" dirty="0">
                <a:solidFill>
                  <a:srgbClr val="FF0000"/>
                </a:solidFill>
              </a:rPr>
              <a:t>R3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and you need it later,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you call another function; you need to move it to a save register i.e. </a:t>
            </a:r>
            <a:r>
              <a:rPr lang="en-US" b="1" dirty="0">
                <a:solidFill>
                  <a:srgbClr val="92D050"/>
                </a:solidFill>
              </a:rPr>
              <a:t>R4</a:t>
            </a:r>
          </a:p>
          <a:p>
            <a:pPr lvl="2"/>
            <a:r>
              <a:rPr lang="en-US" b="1" dirty="0">
                <a:solidFill>
                  <a:srgbClr val="92D050"/>
                </a:solidFill>
              </a:rPr>
              <a:t>Return values </a:t>
            </a:r>
            <a:r>
              <a:rPr lang="en-US" dirty="0">
                <a:solidFill>
                  <a:schemeClr val="tx1"/>
                </a:solidFill>
              </a:rPr>
              <a:t>are in	R0 (32 bit)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R0 and R1 (64 bit)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3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20240"/>
            <a:ext cx="6474936" cy="1032361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ADDRESSING MODES</a:t>
            </a:r>
            <a:br>
              <a:rPr lang="en-US" dirty="0"/>
            </a:br>
            <a:r>
              <a:rPr lang="en-US" i="1" dirty="0"/>
              <a:t>(Calculating a Memory Address)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5215"/>
            <a:ext cx="4419600" cy="4525963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Immediate Offset Mode:</a:t>
            </a:r>
          </a:p>
          <a:p>
            <a:pPr marL="119063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	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</a:t>
            </a:r>
          </a:p>
          <a:p>
            <a:pPr marL="119063" lvl="1" indent="0">
              <a:buNone/>
              <a:tabLst>
                <a:tab pos="182880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R0+4</a:t>
            </a:r>
          </a:p>
          <a:p>
            <a:pPr>
              <a:tabLst>
                <a:tab pos="2114550" algn="l"/>
              </a:tabLst>
            </a:pPr>
            <a:endParaRPr lang="en-US" sz="3200" dirty="0"/>
          </a:p>
          <a:p>
            <a:pPr marL="0" indent="0">
              <a:buNone/>
              <a:tabLst>
                <a:tab pos="2114550" algn="l"/>
              </a:tabLst>
            </a:pPr>
            <a:r>
              <a:rPr lang="en-US" sz="3200" b="1" i="1" dirty="0">
                <a:solidFill>
                  <a:schemeClr val="tx1"/>
                </a:solidFill>
              </a:rPr>
              <a:t>Register Offset Mode: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R0+R1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R1,LSL 2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R0+4xR1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29399" y="1973785"/>
            <a:ext cx="4625412" cy="4525963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Pre</a:t>
            </a:r>
            <a:r>
              <a:rPr lang="en-US" sz="3200" b="1" dirty="0">
                <a:solidFill>
                  <a:schemeClr val="tx1"/>
                </a:solidFill>
              </a:rPr>
              <a:t>-Indexed Mode (++</a:t>
            </a:r>
            <a:r>
              <a:rPr lang="en-US" sz="3200" b="1" dirty="0" err="1">
                <a:solidFill>
                  <a:schemeClr val="tx1"/>
                </a:solidFill>
              </a:rPr>
              <a:t>var</a:t>
            </a:r>
            <a:r>
              <a:rPr lang="en-US" sz="3200" b="1" dirty="0">
                <a:solidFill>
                  <a:schemeClr val="tx1"/>
                </a:solidFill>
              </a:rPr>
              <a:t>)</a:t>
            </a:r>
            <a:r>
              <a:rPr lang="en-US" sz="3200" b="1" i="1" dirty="0">
                <a:solidFill>
                  <a:schemeClr val="tx1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FF000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Post</a:t>
            </a:r>
            <a:r>
              <a:rPr lang="en-US" sz="3200" b="1" dirty="0">
                <a:solidFill>
                  <a:schemeClr val="tx1"/>
                </a:solidFill>
              </a:rPr>
              <a:t>-Indexed Mode (</a:t>
            </a:r>
            <a:r>
              <a:rPr lang="en-US" sz="3200" b="1" dirty="0" err="1">
                <a:solidFill>
                  <a:schemeClr val="tx1"/>
                </a:solidFill>
              </a:rPr>
              <a:t>var</a:t>
            </a:r>
            <a:r>
              <a:rPr lang="en-US" sz="3200" b="1" dirty="0">
                <a:solidFill>
                  <a:schemeClr val="tx1"/>
                </a:solidFill>
              </a:rPr>
              <a:t>++):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[R0],</a:t>
            </a:r>
            <a:r>
              <a:rPr lang="en-US" sz="28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5261815"/>
            <a:ext cx="322847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these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”loops”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reduce the number of instructions.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3024" y="2594815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23676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</p:txBody>
      </p:sp>
    </p:spTree>
    <p:extLst>
      <p:ext uri="{BB962C8B-B14F-4D97-AF65-F5344CB8AC3E}">
        <p14:creationId xmlns:p14="http://schemas.microsoft.com/office/powerpoint/2010/main" val="346172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9296400" y="2438401"/>
            <a:ext cx="685800" cy="874197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842248" y="2409484"/>
            <a:ext cx="301752" cy="874196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60321" y="3790631"/>
            <a:ext cx="220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*p16;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&amp;a16[0];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p16 + 1;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89" y="740033"/>
            <a:ext cx="6057843" cy="643613"/>
          </a:xfrm>
        </p:spPr>
        <p:txBody>
          <a:bodyPr/>
          <a:lstStyle/>
          <a:p>
            <a:r>
              <a:rPr lang="en-US" dirty="0"/>
              <a:t>Review: Pointer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729" y="182210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a16[5];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7200" y="135781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431367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29263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09785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105676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7909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254667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a16[4]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a16[3]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a16[2]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a16[1]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a16[0]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1007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1006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1005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4800" y="2958524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7667" y="2590800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Each element of  the array is an object of 2 bytes.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047" y="3384793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pointer holds an address.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always 32-bits.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667" y="4281747"/>
            <a:ext cx="4988988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int16_t indicates the size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667" y="5110708"/>
            <a:ext cx="4977839" cy="1200329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Plus 1 to a pointer, points to the next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Since each object is 2 bytes, the address  must increase by 2.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0321" y="4361021"/>
            <a:ext cx="1838927" cy="363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63850" y="4885225"/>
            <a:ext cx="1835398" cy="382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52629" y="2100287"/>
            <a:ext cx="0" cy="476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7942006" y="4122437"/>
            <a:ext cx="2438400" cy="276485"/>
            <a:chOff x="6397752" y="4286874"/>
            <a:chExt cx="2438400" cy="27648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397752" y="4425117"/>
              <a:ext cx="24384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7227349" y="4286874"/>
              <a:ext cx="838200" cy="2764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 bits</a:t>
              </a:r>
            </a:p>
          </p:txBody>
        </p:sp>
      </p:grpSp>
      <p:cxnSp>
        <p:nvCxnSpPr>
          <p:cNvPr id="25" name="Elbow Connector 24"/>
          <p:cNvCxnSpPr>
            <a:stCxn id="20" idx="3"/>
            <a:endCxn id="18" idx="0"/>
          </p:cNvCxnSpPr>
          <p:nvPr/>
        </p:nvCxnSpPr>
        <p:spPr>
          <a:xfrm>
            <a:off x="5755506" y="3707959"/>
            <a:ext cx="1209715" cy="8267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0"/>
          </p:cNvCxnSpPr>
          <p:nvPr/>
        </p:nvCxnSpPr>
        <p:spPr>
          <a:xfrm flipV="1">
            <a:off x="3272161" y="4122439"/>
            <a:ext cx="3060460" cy="159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2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743200" y="4545002"/>
            <a:ext cx="6553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&amp;p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R0 = 2000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1000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	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*p		(R2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  720)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LDR R3,[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,4]	// R3 = *(p + 1)	(R3 = -3185)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R4,[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,8]	// R4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*(p + 2)	(R4 =  1340)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3063"/>
            <a:ext cx="5203600" cy="692705"/>
          </a:xfrm>
        </p:spPr>
        <p:txBody>
          <a:bodyPr>
            <a:normAutofit/>
          </a:bodyPr>
          <a:lstStyle/>
          <a:p>
            <a:r>
              <a:rPr lang="en-US" dirty="0"/>
              <a:t>Pointer Dereferencing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10989" y="2788940"/>
          <a:ext cx="1993277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828">
                  <a:extLst>
                    <a:ext uri="{9D8B030D-6E8A-4147-A177-3AD203B41FA5}">
                      <a16:colId xmlns:a16="http://schemas.microsoft.com/office/drawing/2014/main" val="414649720"/>
                    </a:ext>
                  </a:extLst>
                </a:gridCol>
                <a:gridCol w="1080449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-3185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FF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720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cxnSp>
        <p:nvCxnSpPr>
          <p:cNvPr id="25" name="Elbow Connector 24"/>
          <p:cNvCxnSpPr>
            <a:cxnSpLocks/>
            <a:stCxn id="16" idx="2"/>
          </p:cNvCxnSpPr>
          <p:nvPr/>
        </p:nvCxnSpPr>
        <p:spPr>
          <a:xfrm rot="16200000" flipH="1">
            <a:off x="4314996" y="2530437"/>
            <a:ext cx="474336" cy="18684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78058" y="2012996"/>
            <a:ext cx="625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pointer to a 32-bit integer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A9809B93-676A-4D90-8F7E-82161B2E7C6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30459" y="2856664"/>
              <a:ext cx="29749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30">
                      <a:extLst>
                        <a:ext uri="{9D8B030D-6E8A-4147-A177-3AD203B41FA5}">
                          <a16:colId xmlns:a16="http://schemas.microsoft.com/office/drawing/2014/main" val="209657917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843345468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371312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2000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66FF"/>
                              </a:solidFill>
                            </a:rPr>
                            <a:t>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90429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A9809B93-676A-4D90-8F7E-82161B2E7C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0966734"/>
                  </p:ext>
                </p:extLst>
              </p:nvPr>
            </p:nvGraphicFramePr>
            <p:xfrm>
              <a:off x="2130459" y="2856664"/>
              <a:ext cx="29749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3930">
                      <a:extLst>
                        <a:ext uri="{9D8B030D-6E8A-4147-A177-3AD203B41FA5}">
                          <a16:colId xmlns:a16="http://schemas.microsoft.com/office/drawing/2014/main" val="209657917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843345468"/>
                        </a:ext>
                      </a:extLst>
                    </a:gridCol>
                    <a:gridCol w="1135505">
                      <a:extLst>
                        <a:ext uri="{9D8B030D-6E8A-4147-A177-3AD203B41FA5}">
                          <a16:colId xmlns:a16="http://schemas.microsoft.com/office/drawing/2014/main" val="2371312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2000</a:t>
                          </a: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66FF"/>
                              </a:solidFill>
                            </a:rPr>
                            <a:t>1000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2032" t="-8065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90429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91566" y="2783048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071257"/>
                  </p:ext>
                </p:extLst>
              </p:nvPr>
            </p:nvGraphicFramePr>
            <p:xfrm>
              <a:off x="7691566" y="2783048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8387" b="-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639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5599755" y="24348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34852" y="2427219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459" y="24348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2194" y="2429147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array</a:t>
            </a:r>
          </a:p>
        </p:txBody>
      </p:sp>
    </p:spTree>
    <p:extLst>
      <p:ext uri="{BB962C8B-B14F-4D97-AF65-F5344CB8AC3E}">
        <p14:creationId xmlns:p14="http://schemas.microsoft.com/office/powerpoint/2010/main" val="123667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967" y="743007"/>
            <a:ext cx="6583780" cy="706802"/>
          </a:xfrm>
        </p:spPr>
        <p:txBody>
          <a:bodyPr>
            <a:normAutofit/>
          </a:bodyPr>
          <a:lstStyle/>
          <a:p>
            <a:r>
              <a:rPr lang="en-US" dirty="0"/>
              <a:t>Subscripted Array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8158" y="1785012"/>
            <a:ext cx="584870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int32_t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[4];	//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is an array of four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32-bit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integers.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// Each 32-bit integer 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47752" y="1785011"/>
          <a:ext cx="2438400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0777972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dirty="0"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4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2476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018158" y="2684272"/>
            <a:ext cx="537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must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computed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at run-time: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5110" y="3024818"/>
            <a:ext cx="4916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R0,=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R0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[0]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[R0,R1,LSL 2]	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689540" y="162840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980109" y="1500329"/>
            <a:ext cx="877444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 bits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1C90A-7E16-45B7-992B-F8A80A117DA6}"/>
              </a:ext>
            </a:extLst>
          </p:cNvPr>
          <p:cNvSpPr txBox="1"/>
          <p:nvPr/>
        </p:nvSpPr>
        <p:spPr>
          <a:xfrm>
            <a:off x="2133600" y="6043021"/>
            <a:ext cx="4916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+8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R2,[R1]           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D89D0D-9CC9-4F4C-9DBA-20A9C31F02C2}"/>
              </a:ext>
            </a:extLst>
          </p:cNvPr>
          <p:cNvCxnSpPr/>
          <p:nvPr/>
        </p:nvCxnSpPr>
        <p:spPr>
          <a:xfrm>
            <a:off x="9689540" y="3441889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C35A637-9EA4-4836-8137-774E69347BE2}"/>
              </a:ext>
            </a:extLst>
          </p:cNvPr>
          <p:cNvSpPr/>
          <p:nvPr/>
        </p:nvSpPr>
        <p:spPr>
          <a:xfrm>
            <a:off x="9903910" y="3313811"/>
            <a:ext cx="953643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bytes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F27CE-FEDD-403C-8FB8-D5AA046FCC08}"/>
              </a:ext>
            </a:extLst>
          </p:cNvPr>
          <p:cNvSpPr/>
          <p:nvPr/>
        </p:nvSpPr>
        <p:spPr>
          <a:xfrm>
            <a:off x="2133600" y="5100399"/>
            <a:ext cx="56350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it’s simpler when the subscript is a constant: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symbol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[0], thus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/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address =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+ 4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Suppose k = 2: address = 2476 + 4x2 = 2484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34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374065" y="5496465"/>
            <a:ext cx="1524167" cy="266661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4065" y="5240622"/>
            <a:ext cx="1553095" cy="25584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4065" y="3100401"/>
            <a:ext cx="1828800" cy="223649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4065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26264" y="721655"/>
            <a:ext cx="5049420" cy="653956"/>
          </a:xfrm>
        </p:spPr>
        <p:txBody>
          <a:bodyPr>
            <a:normAutofit/>
          </a:bodyPr>
          <a:lstStyle/>
          <a:p>
            <a:r>
              <a:rPr lang="en-US" dirty="0"/>
              <a:t>POINTERS &amp; ARRAYS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701946"/>
              </p:ext>
            </p:extLst>
          </p:nvPr>
        </p:nvGraphicFramePr>
        <p:xfrm>
          <a:off x="1981200" y="2005267"/>
          <a:ext cx="8229600" cy="2112962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95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void f1(int8_t *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){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41313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f1:	LDR	R3,=0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STRB	R3,[R0,R2]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1143000" algn="l"/>
                          <a:tab pos="2000250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]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0" y="4443667"/>
          <a:ext cx="8229600" cy="1751521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void f2(int8_t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){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 = 0;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Times New Roman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f2:	LDR	R3,=0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STRB	R3,[R0,R2]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1470" algn="l"/>
                          <a:tab pos="788670" algn="l"/>
                          <a:tab pos="868680" algn="l"/>
                          <a:tab pos="1645920" algn="l"/>
                          <a:tab pos="2286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91400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91400" y="3104574"/>
            <a:ext cx="2514600" cy="219476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17724" y="5240622"/>
            <a:ext cx="1828800" cy="24176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14260" y="5486909"/>
            <a:ext cx="2415540" cy="248484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E26D54BB-1D43-499B-8369-5141D62E9561}"/>
              </a:ext>
            </a:extLst>
          </p:cNvPr>
          <p:cNvSpPr/>
          <p:nvPr/>
        </p:nvSpPr>
        <p:spPr>
          <a:xfrm>
            <a:off x="9258716" y="3565738"/>
            <a:ext cx="533400" cy="1258879"/>
          </a:xfrm>
          <a:prstGeom prst="upDownArrow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5962F-A5D1-4806-932A-70F93E8C8929}"/>
              </a:ext>
            </a:extLst>
          </p:cNvPr>
          <p:cNvSpPr txBox="1"/>
          <p:nvPr/>
        </p:nvSpPr>
        <p:spPr>
          <a:xfrm>
            <a:off x="7414260" y="3902791"/>
            <a:ext cx="1832264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Identical code!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4768181" y="3061749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pointers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A157D-3238-4DF7-9BF1-02EE80108A63}"/>
              </a:ext>
            </a:extLst>
          </p:cNvPr>
          <p:cNvSpPr txBox="1"/>
          <p:nvPr/>
        </p:nvSpPr>
        <p:spPr>
          <a:xfrm>
            <a:off x="4777741" y="5400194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arrays</a:t>
            </a:r>
          </a:p>
        </p:txBody>
      </p:sp>
    </p:spTree>
    <p:extLst>
      <p:ext uri="{BB962C8B-B14F-4D97-AF65-F5344CB8AC3E}">
        <p14:creationId xmlns:p14="http://schemas.microsoft.com/office/powerpoint/2010/main" val="287509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6429" y="1251284"/>
            <a:ext cx="6093992" cy="14670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Return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*ps16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716383" y="4764507"/>
            <a:ext cx="6701585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to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LDR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H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]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2193" y="5288603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06BAC-2D69-4E5E-9208-343B757F8CB9}"/>
              </a:ext>
            </a:extLst>
          </p:cNvPr>
          <p:cNvSpPr/>
          <p:nvPr/>
        </p:nvSpPr>
        <p:spPr>
          <a:xfrm>
            <a:off x="3060034" y="3105236"/>
            <a:ext cx="5416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354053" y="5045242"/>
            <a:ext cx="1576136" cy="49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8943139" y="1661627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06_one</a:t>
            </a:r>
          </a:p>
        </p:txBody>
      </p:sp>
    </p:spTree>
    <p:extLst>
      <p:ext uri="{BB962C8B-B14F-4D97-AF65-F5344CB8AC3E}">
        <p14:creationId xmlns:p14="http://schemas.microsoft.com/office/powerpoint/2010/main" val="47768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98906" y="1008777"/>
            <a:ext cx="6639506" cy="1726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343401" y="4792589"/>
            <a:ext cx="5148943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 R0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#2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 + 1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59214" y="5265841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5D2A9-0FD3-41B9-AA0E-1C969FEDCC67}"/>
              </a:ext>
            </a:extLst>
          </p:cNvPr>
          <p:cNvSpPr/>
          <p:nvPr/>
        </p:nvSpPr>
        <p:spPr>
          <a:xfrm>
            <a:off x="2743200" y="3014927"/>
            <a:ext cx="6858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8123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702228" y="854250"/>
            <a:ext cx="7237235" cy="12432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Get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 and add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+ 1 ;	// parsed as (*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 + 1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76800" y="4724405"/>
            <a:ext cx="5486400" cy="191244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,#1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4853" y="5209679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F48FF-B06B-4842-B2C4-DBF97879C7A0}"/>
              </a:ext>
            </a:extLst>
          </p:cNvPr>
          <p:cNvSpPr/>
          <p:nvPr/>
        </p:nvSpPr>
        <p:spPr>
          <a:xfrm>
            <a:off x="2895600" y="2542355"/>
            <a:ext cx="63080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regular integer arithmetic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518484" y="5017168"/>
            <a:ext cx="1648327" cy="489285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1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0414" y="1044378"/>
            <a:ext cx="6825912" cy="1228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*(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+ 1);	// pointer arithmetic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143264" y="3871982"/>
            <a:ext cx="5181599" cy="1905001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 = ps16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  <a:tab pos="2514600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,#2	// R0 = ps16 + 1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*(ps16 + 1)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7198" y="4437970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4406862" y="5946795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3264" y="5963940"/>
            <a:ext cx="5181599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LDRSH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E94255-4593-4F80-BBE2-0219EB61E96E}"/>
              </a:ext>
            </a:extLst>
          </p:cNvPr>
          <p:cNvSpPr/>
          <p:nvPr/>
        </p:nvSpPr>
        <p:spPr>
          <a:xfrm>
            <a:off x="2783309" y="2465174"/>
            <a:ext cx="7162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835316" y="4122821"/>
            <a:ext cx="1548063" cy="533400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958263" y="4907060"/>
            <a:ext cx="537411" cy="150214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3195" y="516367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12679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28800" y="972310"/>
            <a:ext cx="4038600" cy="1197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[1];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00600" y="4032616"/>
            <a:ext cx="5067300" cy="17526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 = a32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,#4	// R0 = a32 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a32[1]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8100" y="4737466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865245" y="5859016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0600" y="6001625"/>
            <a:ext cx="50673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,#4]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A02C6-2522-40E7-BAC6-01C92FEAD4D0}"/>
              </a:ext>
            </a:extLst>
          </p:cNvPr>
          <p:cNvSpPr/>
          <p:nvPr/>
        </p:nvSpPr>
        <p:spPr>
          <a:xfrm>
            <a:off x="2895600" y="2354874"/>
            <a:ext cx="754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[1]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 is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386137" y="4311316"/>
            <a:ext cx="1584158" cy="52537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585284" y="5048266"/>
            <a:ext cx="557463" cy="17343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8100" y="529359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9613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994610" y="755238"/>
            <a:ext cx="5967664" cy="118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267200" y="3549160"/>
            <a:ext cx="6019800" cy="23486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 = k32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foo:	LSL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R1,R1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,#2</a:t>
            </a:r>
            <a:r>
              <a:rPr lang="en-US" sz="1600" dirty="0">
                <a:latin typeface="Consolas" panose="020B0609020204030204" pitchFamily="49" charset="0"/>
              </a:rPr>
              <a:t>	//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+ 4*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LDR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,[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]	//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1600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16845" y="4494055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433990" y="5880700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67200" y="5963301"/>
            <a:ext cx="60198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,LSL 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FB117-60AD-4EAB-A8CB-13F96379D3AE}"/>
              </a:ext>
            </a:extLst>
          </p:cNvPr>
          <p:cNvSpPr/>
          <p:nvPr/>
        </p:nvSpPr>
        <p:spPr>
          <a:xfrm>
            <a:off x="1989221" y="1801950"/>
            <a:ext cx="7772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is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148137" y="4836955"/>
            <a:ext cx="609600" cy="140108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148137" y="5209674"/>
            <a:ext cx="385010" cy="13234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2842" y="518273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9705475" y="828644"/>
            <a:ext cx="236621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08_loopByteArray.s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09_loopWordArray.s</a:t>
            </a:r>
          </a:p>
        </p:txBody>
      </p:sp>
    </p:spTree>
    <p:extLst>
      <p:ext uri="{BB962C8B-B14F-4D97-AF65-F5344CB8AC3E}">
        <p14:creationId xmlns:p14="http://schemas.microsoft.com/office/powerpoint/2010/main" val="391737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66A8-6D8E-4C5C-9D82-C13D4977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0C7A-2718-2EDB-650D-CFE075AC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1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FC33ECB9-E387-3FB4-284C-CF315BC91E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339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FACB-7A3E-6A19-1802-491C5E79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1F80A-E20C-6BD0-9C71-9BE23776EBE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049004" y="2358190"/>
            <a:ext cx="6244768" cy="19615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https://cpulator.01xz.net/?sys=arm</a:t>
            </a: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return R0           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bar(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AE17D-D47B-AF02-6978-5B298A4FEA52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E054E-6481-7DFC-BA8F-1B407C615B6F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Assignment1.s</a:t>
            </a:r>
          </a:p>
        </p:txBody>
      </p:sp>
    </p:spTree>
    <p:extLst>
      <p:ext uri="{BB962C8B-B14F-4D97-AF65-F5344CB8AC3E}">
        <p14:creationId xmlns:p14="http://schemas.microsoft.com/office/powerpoint/2010/main" val="257549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BA60-75CA-D7CD-4D83-E02B3D4F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666C8F-F3D3-309F-DE0B-C6384FD24D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286004" y="4688307"/>
            <a:ext cx="6701585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bar:	LDRH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 </a:t>
            </a:r>
            <a:b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F0D080E-C9FA-BDE3-06CE-35974AA5FE9B}"/>
              </a:ext>
            </a:extLst>
          </p:cNvPr>
          <p:cNvSpPr txBox="1">
            <a:spLocks/>
          </p:cNvSpPr>
          <p:nvPr/>
        </p:nvSpPr>
        <p:spPr>
          <a:xfrm>
            <a:off x="3049004" y="2358190"/>
            <a:ext cx="6093992" cy="131545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return R0           </a:t>
            </a:r>
            <a:r>
              <a:rPr lang="en-US" sz="28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800" b="1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bar(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	return *</a:t>
            </a:r>
            <a:r>
              <a:rPr lang="en-US" sz="2800" b="1" dirty="0">
                <a:solidFill>
                  <a:srgbClr val="0066FF"/>
                </a:solidFill>
                <a:latin typeface="Consolas" panose="020B0609020204030204" pitchFamily="49" charset="0"/>
              </a:rPr>
              <a:t>pu16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2C9DE9-874E-D13A-FD4B-692C1E10E57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5E63-41BB-3501-DC67-4D95060C5C93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Assignment1.s</a:t>
            </a:r>
          </a:p>
        </p:txBody>
      </p:sp>
    </p:spTree>
    <p:extLst>
      <p:ext uri="{BB962C8B-B14F-4D97-AF65-F5344CB8AC3E}">
        <p14:creationId xmlns:p14="http://schemas.microsoft.com/office/powerpoint/2010/main" val="213680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3299-5978-01C4-297A-BE9B5BE33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6AF9-2500-422E-27E0-0F11DDB2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2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F2526DAC-FD23-EFA3-CD18-C0AFB6466F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089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DAF41-B303-9B35-3B95-06944152F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E9535-6181-04FD-AA58-92D90D06201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35527" y="2252039"/>
            <a:ext cx="6974606" cy="26078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https://cpulator.01xz.net/?sys=arm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     </a:t>
            </a:r>
            <a:r>
              <a:rPr lang="en-US" sz="20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000" b="1" dirty="0">
              <a:solidFill>
                <a:srgbClr val="0066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lopp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AD57D-B32B-3212-A781-C93ADFDF6E98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3ECCC-FC00-590A-7E34-359B4CD07234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Assignment2.s</a:t>
            </a:r>
          </a:p>
        </p:txBody>
      </p:sp>
    </p:spTree>
    <p:extLst>
      <p:ext uri="{BB962C8B-B14F-4D97-AF65-F5344CB8AC3E}">
        <p14:creationId xmlns:p14="http://schemas.microsoft.com/office/powerpoint/2010/main" val="57483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85A5-27F0-2CD3-2A76-277CCD99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68119-6037-332A-582C-C5273E8BD4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135527" y="2252040"/>
            <a:ext cx="6639506" cy="17264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     </a:t>
            </a:r>
            <a:r>
              <a:rPr lang="en-US" sz="20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endParaRPr lang="en-US" sz="20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lopp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087F7-A6B3-FB6A-FE10-1FDEEB246C8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253917" y="4517767"/>
            <a:ext cx="5148943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 R0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pu32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 err="1">
                <a:solidFill>
                  <a:srgbClr val="92D050"/>
                </a:solidFill>
                <a:latin typeface="Consolas" panose="020B0609020204030204" pitchFamily="49" charset="0"/>
              </a:rPr>
              <a:t>lopp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:	ADD	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#4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	//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pu16 + 1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rgbClr val="92D050"/>
                </a:solidFill>
                <a:latin typeface="Consolas" panose="020B0609020204030204" pitchFamily="49" charset="0"/>
              </a:rPr>
              <a:t>	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27D173-760C-DF11-A0D7-0D60AC676CA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1AEA4-1B15-B606-06CE-02E47DA6BD05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Assignment2.s</a:t>
            </a:r>
          </a:p>
        </p:txBody>
      </p:sp>
    </p:spTree>
    <p:extLst>
      <p:ext uri="{BB962C8B-B14F-4D97-AF65-F5344CB8AC3E}">
        <p14:creationId xmlns:p14="http://schemas.microsoft.com/office/powerpoint/2010/main" val="86688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4FAB0-C10D-ADB5-B66F-28B39C32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5015-A347-8C49-851F-2C35A6C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3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ED6E884-8EB9-196E-952C-BC5C1D8456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1932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19DAB-130E-1957-13FA-17D11A9E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CECD4-2692-F0BE-914B-35621EC07A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959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ret R0           </a:t>
            </a:r>
            <a:r>
              <a:rPr lang="en-US" sz="2400" b="1" dirty="0" err="1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R1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A75EC6-9DAD-A4D4-AEB0-98F39590F8E5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3F95A-243C-4E4A-1628-34DE25D9C963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Assignment3.s</a:t>
            </a:r>
          </a:p>
        </p:txBody>
      </p:sp>
    </p:spTree>
    <p:extLst>
      <p:ext uri="{BB962C8B-B14F-4D97-AF65-F5344CB8AC3E}">
        <p14:creationId xmlns:p14="http://schemas.microsoft.com/office/powerpoint/2010/main" val="44383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2FAA-5030-7386-CB6D-8327A70F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49AF5-BDC4-52DD-69A2-CAF33913EFD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426368" y="1548063"/>
            <a:ext cx="5967664" cy="1595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R0               </a:t>
            </a:r>
            <a:r>
              <a:rPr lang="en-US" sz="2000" b="1" dirty="0" err="1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uint8_t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54940E-5365-0016-52C1-BB7EFBAD8442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582780" y="3549160"/>
            <a:ext cx="6019800" cy="23486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uint16_t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 = k8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(an 8-bit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index)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LDRB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,[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]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a8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k8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120FBCB-5BEB-9219-9B9A-FC6F5502C234}"/>
              </a:ext>
            </a:extLst>
          </p:cNvPr>
          <p:cNvSpPr/>
          <p:nvPr/>
        </p:nvSpPr>
        <p:spPr>
          <a:xfrm>
            <a:off x="1732425" y="4494055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0105407B-26D1-EAA4-2A38-64544F0A8A57}"/>
              </a:ext>
            </a:extLst>
          </p:cNvPr>
          <p:cNvSpPr/>
          <p:nvPr/>
        </p:nvSpPr>
        <p:spPr>
          <a:xfrm rot="16200000">
            <a:off x="1749570" y="5880700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2B0D7-46A0-E8F2-5541-96AB27360F95}"/>
              </a:ext>
            </a:extLst>
          </p:cNvPr>
          <p:cNvSpPr/>
          <p:nvPr/>
        </p:nvSpPr>
        <p:spPr>
          <a:xfrm>
            <a:off x="2582780" y="5963301"/>
            <a:ext cx="60198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6EF9E9-60B6-2FA9-672A-9413AD949222}"/>
              </a:ext>
            </a:extLst>
          </p:cNvPr>
          <p:cNvCxnSpPr/>
          <p:nvPr/>
        </p:nvCxnSpPr>
        <p:spPr>
          <a:xfrm>
            <a:off x="4447675" y="4836955"/>
            <a:ext cx="385010" cy="13234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00221E-267F-4F9B-2884-620858045D93}"/>
              </a:ext>
            </a:extLst>
          </p:cNvPr>
          <p:cNvSpPr txBox="1"/>
          <p:nvPr/>
        </p:nvSpPr>
        <p:spPr>
          <a:xfrm>
            <a:off x="1678422" y="518273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FAD7CD-895D-EE67-EC7B-1510B1784833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3A0D2-3BFB-252B-09E8-F84E1404DA0A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Assignment3.s</a:t>
            </a:r>
          </a:p>
        </p:txBody>
      </p:sp>
    </p:spTree>
    <p:extLst>
      <p:ext uri="{BB962C8B-B14F-4D97-AF65-F5344CB8AC3E}">
        <p14:creationId xmlns:p14="http://schemas.microsoft.com/office/powerpoint/2010/main" val="3103449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B4B0-BBB8-CA9B-0D4E-FDB1208D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1509-62ED-97EF-536C-4F19BC95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4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9D9798B7-46C7-36D1-8E79-DC86CE5857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7084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A5FF-2B05-536F-E90A-545F21A9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EEB5F-B32F-08C8-FE47-21B2593265E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2108279"/>
          </a:xfrm>
        </p:spPr>
        <p:txBody>
          <a:bodyPr>
            <a:normAutofit fontScale="85000" lnSpcReduction="10000"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//</a:t>
            </a:r>
            <a:r>
              <a:rPr lang="en-US" sz="2400" baseline="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 Set </a:t>
            </a:r>
            <a:r>
              <a:rPr lang="en-US" sz="2400" b="1" baseline="0" dirty="0">
                <a:solidFill>
                  <a:srgbClr val="FF0000"/>
                </a:solidFill>
                <a:effectLst/>
                <a:latin typeface="Consolas"/>
                <a:ea typeface="Arial"/>
                <a:cs typeface="Calibri"/>
              </a:rPr>
              <a:t>two elements of an arrays index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 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to 0xff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341313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                  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R1          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R2</a:t>
            </a:r>
            <a:endParaRPr lang="en-US" sz="2400" dirty="0">
              <a:solidFill>
                <a:srgbClr val="0066FF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void form(uint32_t *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uint16_t 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*pu16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){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alibri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341313" algn="l"/>
              </a:tabLst>
              <a:defRPr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F7F354-D557-F095-2C6E-15C75E786D83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108D43-8A2D-D09C-8E72-396949C68498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Assignment4.s</a:t>
            </a:r>
          </a:p>
        </p:txBody>
      </p:sp>
    </p:spTree>
    <p:extLst>
      <p:ext uri="{BB962C8B-B14F-4D97-AF65-F5344CB8AC3E}">
        <p14:creationId xmlns:p14="http://schemas.microsoft.com/office/powerpoint/2010/main" val="3457227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CBC9-AEA1-E28F-797A-D1BA1FBE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80362-6F11-FE7B-1F02-6764952366D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26894" y="1549321"/>
            <a:ext cx="8133347" cy="1959889"/>
          </a:xfrm>
        </p:spPr>
        <p:txBody>
          <a:bodyPr>
            <a:normAutofit fontScale="85000" lnSpcReduction="20000"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//</a:t>
            </a:r>
            <a:r>
              <a:rPr lang="en-US" sz="2400" baseline="0" dirty="0">
                <a:solidFill>
                  <a:schemeClr val="tx1"/>
                </a:solidFill>
                <a:effectLst/>
                <a:latin typeface="Consolas"/>
                <a:ea typeface="Arial"/>
                <a:cs typeface="Calibri"/>
              </a:rPr>
              <a:t> Init </a:t>
            </a:r>
            <a:r>
              <a:rPr lang="en-US" sz="2400" b="1" baseline="0" dirty="0">
                <a:solidFill>
                  <a:srgbClr val="FF0000"/>
                </a:solidFill>
                <a:effectLst/>
                <a:latin typeface="Consolas"/>
                <a:ea typeface="Arial"/>
                <a:cs typeface="Calibri"/>
              </a:rPr>
              <a:t>two arrays</a:t>
            </a:r>
            <a:endParaRPr lang="en-US" sz="2400" b="1" dirty="0">
              <a:solidFill>
                <a:srgbClr val="FF0000"/>
              </a:solidFill>
              <a:effectLst/>
              <a:latin typeface="Arial"/>
              <a:ea typeface="Arial"/>
              <a:cs typeface="Calibri"/>
            </a:endParaRP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None/>
              <a:tabLst>
                <a:tab pos="341313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//                   R0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 		 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R1           </a:t>
            </a:r>
            <a:r>
              <a:rPr lang="en-US" sz="2400" b="1" dirty="0">
                <a:solidFill>
                  <a:srgbClr val="0066FF"/>
                </a:solidFill>
                <a:latin typeface="Consolas" panose="020B0609020204030204" pitchFamily="49" charset="0"/>
              </a:rPr>
              <a:t>R2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void form(uint32_t *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*pu8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, uint8_t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){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alibri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pu32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</a:p>
          <a:p>
            <a:pPr marL="0" indent="0" algn="just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341313" algn="l"/>
              </a:tabLst>
              <a:defRPr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ea typeface="Times New Roman"/>
                <a:cs typeface="Times New Roman"/>
              </a:rPr>
              <a:t>	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*(</a:t>
            </a:r>
            <a:r>
              <a:rPr lang="en-US" sz="2400" b="1" dirty="0">
                <a:solidFill>
                  <a:srgbClr val="FF0000"/>
                </a:solidFill>
                <a:effectLst/>
                <a:latin typeface="Consolas"/>
                <a:ea typeface="Times New Roman"/>
                <a:cs typeface="Calibri"/>
              </a:rPr>
              <a:t>pu8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  + </a:t>
            </a:r>
            <a:r>
              <a:rPr lang="en-US" sz="2400" b="1" dirty="0">
                <a:solidFill>
                  <a:srgbClr val="0066FF"/>
                </a:solidFill>
                <a:effectLst/>
                <a:latin typeface="Consolas"/>
                <a:ea typeface="Times New Roman"/>
                <a:cs typeface="Calibri"/>
              </a:rPr>
              <a:t>ku8</a:t>
            </a: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) = 0xff;</a:t>
            </a:r>
            <a:endParaRPr lang="en-US" sz="24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341313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4626A1-C330-9E8D-AAF4-3EC72920A3DE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D9F75532-663A-3A95-C184-52B24A073A9F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form:	LDR	R3,=0xff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STR	R3,[R0,R2,</a:t>
            </a:r>
            <a:r>
              <a:rPr lang="en-US" sz="1600" b="1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LSL #2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]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ClrTx/>
              <a:buNone/>
              <a:tabLst>
                <a:tab pos="457200" algn="l"/>
                <a:tab pos="1143000" algn="l"/>
                <a:tab pos="2000250" algn="l"/>
              </a:tabLst>
              <a:defRPr/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STRB	R3,[R1,R2]</a:t>
            </a:r>
            <a:endParaRPr lang="en-US" sz="1600" b="1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en-US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	BX	LR</a:t>
            </a:r>
            <a:endParaRPr lang="en-US" sz="1600" dirty="0">
              <a:solidFill>
                <a:schemeClr val="tx1"/>
              </a:solidFill>
              <a:effectLst/>
              <a:latin typeface="Arial"/>
              <a:ea typeface="Arial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A3246-EF9B-8305-1D14-D5DDE7E6D1CB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Assignment4.s</a:t>
            </a:r>
          </a:p>
        </p:txBody>
      </p:sp>
    </p:spTree>
    <p:extLst>
      <p:ext uri="{BB962C8B-B14F-4D97-AF65-F5344CB8AC3E}">
        <p14:creationId xmlns:p14="http://schemas.microsoft.com/office/powerpoint/2010/main" val="3665097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B9AC-4565-0883-457D-E7A893AA6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6139-664D-35CC-8253-F299FC91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5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D46056D6-9B18-15C0-61B4-10F9FEFCC2F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904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F68B-881D-B64C-C47B-8214429A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A5FBB-8D28-C92D-26C4-690FADED93E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959889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                   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        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funcIII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(int32_t 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 int32_t </a:t>
            </a:r>
            <a:r>
              <a:rPr lang="en-US" sz="1800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funcIV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461D1A-D700-1C56-B9E0-37BE4CE82506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B9EB2-0254-1119-9C87-ABFD4BF60262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Assignment5.s</a:t>
            </a:r>
          </a:p>
        </p:txBody>
      </p:sp>
    </p:spTree>
    <p:extLst>
      <p:ext uri="{BB962C8B-B14F-4D97-AF65-F5344CB8AC3E}">
        <p14:creationId xmlns:p14="http://schemas.microsoft.com/office/powerpoint/2010/main" val="713333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81A3-DD39-7E66-B0F2-F4AED4D4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E6D-D68B-F014-80B3-A8D48F2008A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8" y="2419605"/>
            <a:ext cx="8133347" cy="143451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                   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        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R1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funcIII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(int32_t 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 int32_t </a:t>
            </a:r>
            <a:r>
              <a:rPr lang="en-US" sz="1800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return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en-US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funcIV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b="1" dirty="0" err="1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yi</a:t>
            </a:r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2B725A-0003-AA7F-E7D6-C789EBC1501F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E409BB4F-7A2C-E85B-5F56-B4DED6E387DB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funcIV: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PUSH	{LR}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ADD	R0,R1,R0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BL 	funcIV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POP	{PC}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6260B-2325-8971-7FBD-5D6C654B0312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Assignment5.s</a:t>
            </a:r>
          </a:p>
        </p:txBody>
      </p:sp>
    </p:spTree>
    <p:extLst>
      <p:ext uri="{BB962C8B-B14F-4D97-AF65-F5344CB8AC3E}">
        <p14:creationId xmlns:p14="http://schemas.microsoft.com/office/powerpoint/2010/main" val="4157216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B3AF-5804-0F47-4B79-1B4B7EA54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F2CF-6613-05F0-CBEC-BECBEBAC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Assignment 6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3434C60-C98E-ED71-4F8D-5B6393FEDC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511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2942-5DF3-C8DA-EEE5-137A65BB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0E14A-911B-2EEC-78E0-6ACFD2658DE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9" y="2419605"/>
            <a:ext cx="5735054" cy="1510711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</a:t>
            </a:r>
            <a:r>
              <a:rPr lang="en-US" sz="1800" b="1" dirty="0" err="1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return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funcVI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5ACEBA-F363-1559-9D36-7663214B2824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2046D-5194-D007-1EEE-9B1226057660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Assignment6.s</a:t>
            </a:r>
          </a:p>
        </p:txBody>
      </p:sp>
    </p:spTree>
    <p:extLst>
      <p:ext uri="{BB962C8B-B14F-4D97-AF65-F5344CB8AC3E}">
        <p14:creationId xmlns:p14="http://schemas.microsoft.com/office/powerpoint/2010/main" val="28444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DC76-804F-849F-C199-40D5D3E1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55C54-D1FF-35E2-4F0F-16A1DF6584C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658979" y="2419606"/>
            <a:ext cx="6019800" cy="1414458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// </a:t>
            </a: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ret R0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               </a:t>
            </a:r>
            <a:r>
              <a:rPr lang="en-US" sz="1800" b="1" dirty="0" err="1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R0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int32_t 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){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  return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+ </a:t>
            </a:r>
            <a:r>
              <a:rPr lang="en-US" sz="18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funcVI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92D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66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kirk</a:t>
            </a: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);</a:t>
            </a:r>
            <a:b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}</a:t>
            </a:r>
            <a:endParaRPr lang="en-US" sz="24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14BFF3-FE0D-E352-DD9C-5F3934A97308}"/>
              </a:ext>
            </a:extLst>
          </p:cNvPr>
          <p:cNvSpPr txBox="1">
            <a:spLocks/>
          </p:cNvSpPr>
          <p:nvPr/>
        </p:nvSpPr>
        <p:spPr>
          <a:xfrm>
            <a:off x="964589" y="740033"/>
            <a:ext cx="8793022" cy="6436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Implement in Assembler: </a:t>
            </a:r>
            <a:r>
              <a:rPr lang="en-US" dirty="0" err="1"/>
              <a:t>CPULator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9528043B-8727-B3B4-1C01-DF278D40D013}"/>
              </a:ext>
            </a:extLst>
          </p:cNvPr>
          <p:cNvSpPr txBox="1">
            <a:spLocks/>
          </p:cNvSpPr>
          <p:nvPr/>
        </p:nvSpPr>
        <p:spPr>
          <a:xfrm>
            <a:off x="2658978" y="3942191"/>
            <a:ext cx="6019800" cy="2348684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funcV:</a:t>
            </a:r>
            <a:endParaRPr lang="pt-BR" sz="1600" dirty="0">
              <a:solidFill>
                <a:schemeClr val="tx1"/>
              </a:solidFill>
              <a:effectLst/>
              <a:latin typeface="Consolas"/>
              <a:ea typeface="Times New Roman"/>
              <a:cs typeface="Calibri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PUSH	{R4,LR}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MOV 	R4,R0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LDR	R0,=3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MOV	R1,R4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BL 	funcVI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ADD	R0,R0,R4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1143000" algn="l"/>
                <a:tab pos="2000250" algn="l"/>
              </a:tabLst>
            </a:pPr>
            <a:r>
              <a:rPr lang="pt-BR" sz="1600" dirty="0">
                <a:solidFill>
                  <a:schemeClr val="tx1"/>
                </a:solidFill>
                <a:effectLst/>
                <a:latin typeface="Consolas"/>
                <a:ea typeface="Times New Roman"/>
                <a:cs typeface="Calibri"/>
              </a:rPr>
              <a:t>	POP	{R4,PC}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02AEE-0561-7F06-07C9-40B49AC0D027}"/>
              </a:ext>
            </a:extLst>
          </p:cNvPr>
          <p:cNvSpPr txBox="1"/>
          <p:nvPr/>
        </p:nvSpPr>
        <p:spPr>
          <a:xfrm>
            <a:off x="9705475" y="828644"/>
            <a:ext cx="236621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week3_Assignments: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Assignment6.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18742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1643</TotalTime>
  <Words>2551</Words>
  <Application>Microsoft Office PowerPoint</Application>
  <PresentationFormat>Widescreen</PresentationFormat>
  <Paragraphs>371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SCUTemplate</vt:lpstr>
      <vt:lpstr>Custom Design</vt:lpstr>
      <vt:lpstr>1_SCUTemplate</vt:lpstr>
      <vt:lpstr>2_SCUTemplate</vt:lpstr>
      <vt:lpstr>CSEN20</vt:lpstr>
      <vt:lpstr>Writing Functions</vt:lpstr>
      <vt:lpstr>ADDRESSING MODES (Calculating a Memory Address)</vt:lpstr>
      <vt:lpstr>Review: Pointer Arithmetic</vt:lpstr>
      <vt:lpstr>Pointer Dereferencing</vt:lpstr>
      <vt:lpstr>Subscripted Array Reference</vt:lpstr>
      <vt:lpstr>POINTERS &amp; 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1</vt:lpstr>
      <vt:lpstr>PowerPoint Presentation</vt:lpstr>
      <vt:lpstr>PowerPoint Presentation</vt:lpstr>
      <vt:lpstr>Assignment 2</vt:lpstr>
      <vt:lpstr>PowerPoint Presentation</vt:lpstr>
      <vt:lpstr>PowerPoint Presentation</vt:lpstr>
      <vt:lpstr>Assignment 3</vt:lpstr>
      <vt:lpstr>PowerPoint Presentation</vt:lpstr>
      <vt:lpstr>PowerPoint Presentation</vt:lpstr>
      <vt:lpstr>Assignment 4</vt:lpstr>
      <vt:lpstr>PowerPoint Presentation</vt:lpstr>
      <vt:lpstr>PowerPoint Presentation</vt:lpstr>
      <vt:lpstr>Assignment 5</vt:lpstr>
      <vt:lpstr>PowerPoint Presentation</vt:lpstr>
      <vt:lpstr>PowerPoint Presentation</vt:lpstr>
      <vt:lpstr>Assignment 6</vt:lpstr>
      <vt:lpstr>PowerPoint Presentation</vt:lpstr>
      <vt:lpstr>PowerPoint Presentation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219</cp:revision>
  <cp:lastPrinted>2023-09-11T21:46:56Z</cp:lastPrinted>
  <dcterms:created xsi:type="dcterms:W3CDTF">2023-09-09T19:51:41Z</dcterms:created>
  <dcterms:modified xsi:type="dcterms:W3CDTF">2026-09-22T20:34:13Z</dcterms:modified>
</cp:coreProperties>
</file>