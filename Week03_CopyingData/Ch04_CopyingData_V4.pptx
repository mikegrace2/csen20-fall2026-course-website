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10" r:id="rId4"/>
  </p:sldMasterIdLst>
  <p:notesMasterIdLst>
    <p:notesMasterId r:id="rId68"/>
  </p:notesMasterIdLst>
  <p:handoutMasterIdLst>
    <p:handoutMasterId r:id="rId69"/>
  </p:handoutMasterIdLst>
  <p:sldIdLst>
    <p:sldId id="333" r:id="rId5"/>
    <p:sldId id="410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509" r:id="rId23"/>
    <p:sldId id="420" r:id="rId24"/>
    <p:sldId id="421" r:id="rId25"/>
    <p:sldId id="422" r:id="rId26"/>
    <p:sldId id="353" r:id="rId27"/>
    <p:sldId id="354" r:id="rId28"/>
    <p:sldId id="355" r:id="rId29"/>
    <p:sldId id="356" r:id="rId30"/>
    <p:sldId id="357" r:id="rId31"/>
    <p:sldId id="358" r:id="rId32"/>
    <p:sldId id="359" r:id="rId33"/>
    <p:sldId id="360" r:id="rId34"/>
    <p:sldId id="361" r:id="rId35"/>
    <p:sldId id="362" r:id="rId36"/>
    <p:sldId id="363" r:id="rId37"/>
    <p:sldId id="364" r:id="rId38"/>
    <p:sldId id="369" r:id="rId39"/>
    <p:sldId id="365" r:id="rId40"/>
    <p:sldId id="366" r:id="rId41"/>
    <p:sldId id="367" r:id="rId42"/>
    <p:sldId id="368" r:id="rId43"/>
    <p:sldId id="370" r:id="rId44"/>
    <p:sldId id="371" r:id="rId45"/>
    <p:sldId id="372" r:id="rId46"/>
    <p:sldId id="396" r:id="rId47"/>
    <p:sldId id="374" r:id="rId48"/>
    <p:sldId id="375" r:id="rId49"/>
    <p:sldId id="376" r:id="rId50"/>
    <p:sldId id="377" r:id="rId51"/>
    <p:sldId id="378" r:id="rId52"/>
    <p:sldId id="379" r:id="rId53"/>
    <p:sldId id="380" r:id="rId54"/>
    <p:sldId id="411" r:id="rId55"/>
    <p:sldId id="382" r:id="rId56"/>
    <p:sldId id="383" r:id="rId57"/>
    <p:sldId id="384" r:id="rId58"/>
    <p:sldId id="385" r:id="rId59"/>
    <p:sldId id="386" r:id="rId60"/>
    <p:sldId id="387" r:id="rId61"/>
    <p:sldId id="388" r:id="rId62"/>
    <p:sldId id="389" r:id="rId63"/>
    <p:sldId id="390" r:id="rId64"/>
    <p:sldId id="391" r:id="rId65"/>
    <p:sldId id="392" r:id="rId66"/>
    <p:sldId id="336" r:id="rId6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66F1F-940D-4FA5-97D9-3F0B138994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14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15D5B25D-EC3A-435A-AE77-2849BE39E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383C82A4-EE32-4278-B9FC-274C1690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RISC = Reduced Instruction Set Computing</a:t>
            </a:r>
          </a:p>
          <a:p>
            <a:r>
              <a:rPr lang="en-US" altLang="en-US"/>
              <a:t>You can not directly read a content of a memory location or write directly to it. </a:t>
            </a:r>
          </a:p>
          <a:p>
            <a:r>
              <a:rPr lang="en-US" altLang="en-US"/>
              <a:t>Load the content memory location whose address is stored in R1 into R5.</a:t>
            </a:r>
          </a:p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41C89ADC-75DD-462B-8195-0ECA751A6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24A5CF-1F90-4BFF-B8C8-DE263801ABE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261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718F1DC8-41B6-4AB9-8E96-AE6C40D5BE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9AA2F1EA-2E3C-4B3B-90A4-9DA5F7CE0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RISC = Reduced Instruction Set Computing</a:t>
            </a:r>
          </a:p>
          <a:p>
            <a:r>
              <a:rPr lang="en-US" altLang="en-US"/>
              <a:t>Store the content of R3 into a memory location whose address is in R1.</a:t>
            </a:r>
          </a:p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68DC36FF-02CA-4743-86A3-EAD2DDE5D3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90E22-F8A5-4526-91B2-269F14429DB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082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0D58637E-1C8B-4C2E-ACEE-05B040FFD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BAA772B0-228C-42A3-8DEE-74D84E436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RISC = Reduced Instruction Set Computing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/>
              <a:t>Load the content of memory location whose address is stored in (R1 plus 4 bytes) into R6.</a:t>
            </a:r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A4F3A547-1F93-4FBC-9BBC-3C79C05E6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134875-404E-475D-8DF5-107D2E77A83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26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864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89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929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7914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46507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93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1672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627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56065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997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280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9412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887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75035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406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6330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92903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43818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3214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3290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2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63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3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2" y="2076378"/>
            <a:ext cx="10439401" cy="457708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873103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1DCF-4AEA-1964-D28A-FC12315D9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149D-7C64-92FF-EFF8-D9CE827C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5" y="741170"/>
            <a:ext cx="6307433" cy="578293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Functions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E3B1E-BACD-3BEC-8868-757D8C8D3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5" y="1451262"/>
            <a:ext cx="10433326" cy="498212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General Rules for Writing Assembler Functions:</a:t>
            </a:r>
          </a:p>
          <a:p>
            <a:pPr lvl="1"/>
            <a:endParaRPr lang="en-US" b="1" dirty="0">
              <a:solidFill>
                <a:srgbClr val="92D050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You can use any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CPU registers from R0 to R12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But If you use register R4-R11 you need to preserve them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Example your function uses registers R4 and R5 then you need to </a:t>
            </a:r>
            <a:r>
              <a:rPr lang="en-US" b="1" dirty="0">
                <a:solidFill>
                  <a:srgbClr val="0066FF"/>
                </a:solidFill>
              </a:rPr>
              <a:t>PUSH {R4,R5} … POP {R4,R5}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Call a </a:t>
            </a:r>
            <a:r>
              <a:rPr lang="en-US" b="1" dirty="0">
                <a:solidFill>
                  <a:srgbClr val="92D050"/>
                </a:solidFill>
              </a:rPr>
              <a:t>function:</a:t>
            </a:r>
            <a:r>
              <a:rPr lang="en-US" dirty="0"/>
              <a:t> 		</a:t>
            </a:r>
            <a:r>
              <a:rPr lang="en-US" b="1" dirty="0">
                <a:solidFill>
                  <a:srgbClr val="0066FF"/>
                </a:solidFill>
              </a:rPr>
              <a:t>BL </a:t>
            </a:r>
            <a:r>
              <a:rPr lang="en-US" b="1" dirty="0" err="1">
                <a:solidFill>
                  <a:srgbClr val="0066FF"/>
                </a:solidFill>
              </a:rPr>
              <a:t>funcName</a:t>
            </a:r>
            <a:endParaRPr lang="en-US" b="1" dirty="0">
              <a:solidFill>
                <a:srgbClr val="0066FF"/>
              </a:solidFill>
            </a:endParaRP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Passing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parameters in:	R0,R1,R2,R3</a:t>
            </a:r>
          </a:p>
          <a:p>
            <a:pPr lvl="1"/>
            <a:r>
              <a:rPr lang="en-US" b="1" dirty="0">
                <a:solidFill>
                  <a:srgbClr val="92D05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from a function: 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BX LR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If you call a function inside your function: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Preserve LR on the stack:</a:t>
            </a:r>
            <a:r>
              <a:rPr lang="en-US" dirty="0"/>
              <a:t>	</a:t>
            </a:r>
            <a:r>
              <a:rPr lang="en-US" b="1" dirty="0">
                <a:solidFill>
                  <a:srgbClr val="0066FF"/>
                </a:solidFill>
              </a:rPr>
              <a:t>PUSH {LR}</a:t>
            </a:r>
            <a:r>
              <a:rPr lang="en-US" dirty="0">
                <a:solidFill>
                  <a:srgbClr val="0066FF"/>
                </a:solidFill>
              </a:rPr>
              <a:t> … </a:t>
            </a:r>
            <a:r>
              <a:rPr lang="en-US" b="1" dirty="0">
                <a:solidFill>
                  <a:srgbClr val="0066FF"/>
                </a:solidFill>
              </a:rPr>
              <a:t>POP {LR}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Assume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registers R0-R3 will be </a:t>
            </a:r>
            <a:r>
              <a:rPr lang="en-US" b="1" dirty="0">
                <a:solidFill>
                  <a:srgbClr val="FF0000"/>
                </a:solidFill>
              </a:rPr>
              <a:t>overwritten</a:t>
            </a:r>
            <a:r>
              <a:rPr lang="en-US" dirty="0">
                <a:solidFill>
                  <a:schemeClr val="tx1"/>
                </a:solidFill>
              </a:rPr>
              <a:t>, no matter what</a:t>
            </a:r>
          </a:p>
          <a:p>
            <a:pPr lvl="3"/>
            <a:r>
              <a:rPr lang="en-US" dirty="0">
                <a:solidFill>
                  <a:schemeClr val="tx1"/>
                </a:solidFill>
              </a:rPr>
              <a:t>For example, If you have something important in </a:t>
            </a:r>
            <a:r>
              <a:rPr lang="en-US" b="1" dirty="0">
                <a:solidFill>
                  <a:srgbClr val="FF0000"/>
                </a:solidFill>
              </a:rPr>
              <a:t>R3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and you need it later,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and you call another function; you need to move it to a save register i.e. </a:t>
            </a:r>
            <a:r>
              <a:rPr lang="en-US" b="1" dirty="0">
                <a:solidFill>
                  <a:srgbClr val="92D050"/>
                </a:solidFill>
              </a:rPr>
              <a:t>R4</a:t>
            </a:r>
          </a:p>
          <a:p>
            <a:pPr lvl="2"/>
            <a:r>
              <a:rPr lang="en-US" b="1" dirty="0">
                <a:solidFill>
                  <a:srgbClr val="92D050"/>
                </a:solidFill>
              </a:rPr>
              <a:t>Return values </a:t>
            </a:r>
            <a:r>
              <a:rPr lang="en-US" dirty="0">
                <a:solidFill>
                  <a:schemeClr val="tx1"/>
                </a:solidFill>
              </a:rPr>
              <a:t>are in	R0 (32 bit)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			R0 and R1 (64 bit)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53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E440677-C9FD-4C91-9AAC-DE727ED97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495219-7C6D-43C4-8152-113E986D86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Loading Registers</a:t>
            </a:r>
          </a:p>
        </p:txBody>
      </p:sp>
    </p:spTree>
    <p:extLst>
      <p:ext uri="{BB962C8B-B14F-4D97-AF65-F5344CB8AC3E}">
        <p14:creationId xmlns:p14="http://schemas.microsoft.com/office/powerpoint/2010/main" val="20676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579" y="732275"/>
            <a:ext cx="7024379" cy="744476"/>
          </a:xfrm>
        </p:spPr>
        <p:txBody>
          <a:bodyPr/>
          <a:lstStyle/>
          <a:p>
            <a:r>
              <a:rPr lang="en-US" dirty="0"/>
              <a:t>LOAD/STORE ARCHITECTURE</a:t>
            </a:r>
          </a:p>
        </p:txBody>
      </p:sp>
      <p:sp>
        <p:nvSpPr>
          <p:cNvPr id="26" name="Up Arrow 25"/>
          <p:cNvSpPr/>
          <p:nvPr/>
        </p:nvSpPr>
        <p:spPr>
          <a:xfrm>
            <a:off x="5714991" y="2666682"/>
            <a:ext cx="228609" cy="255149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7314581" y="2699339"/>
            <a:ext cx="305419" cy="2518835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94553" y="5257482"/>
            <a:ext cx="2362200" cy="13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6244" y="16764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Registers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81801" y="16764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Arithmetic &amp; Logic Unit (ALU)</a:t>
            </a:r>
          </a:p>
        </p:txBody>
      </p:sp>
      <p:sp>
        <p:nvSpPr>
          <p:cNvPr id="20" name="Down Arrow 19"/>
          <p:cNvSpPr/>
          <p:nvPr/>
        </p:nvSpPr>
        <p:spPr>
          <a:xfrm rot="5400000">
            <a:off x="4746852" y="1495267"/>
            <a:ext cx="266542" cy="102885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16200000">
            <a:off x="4759019" y="1915117"/>
            <a:ext cx="266542" cy="1028859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964872" y="2695966"/>
            <a:ext cx="2583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computations </a:t>
            </a:r>
            <a:br>
              <a:rPr lang="en-US" dirty="0"/>
            </a:br>
            <a:r>
              <a:rPr lang="en-US" dirty="0"/>
              <a:t>(+, -, /, *, etc.) are done in the ALU.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156" y="1695641"/>
            <a:ext cx="2318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operands &amp; results are in registers.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650" y="5505397"/>
            <a:ext cx="17314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Variables</a:t>
            </a:r>
            <a:r>
              <a:rPr lang="en-US" dirty="0"/>
              <a:t> reside in main memory.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1938" y="3991854"/>
            <a:ext cx="2362209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“Load”: </a:t>
            </a:r>
            <a:r>
              <a:rPr lang="en-US" dirty="0"/>
              <a:t>Copy the contents of a variable from memory into a register.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3905" y="3560314"/>
            <a:ext cx="419099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“Store”: </a:t>
            </a:r>
            <a:r>
              <a:rPr lang="en-US" dirty="0"/>
              <a:t>Copy the contents of a register back into a variable in memory.</a:t>
            </a:r>
          </a:p>
        </p:txBody>
      </p:sp>
    </p:spTree>
    <p:extLst>
      <p:ext uri="{BB962C8B-B14F-4D97-AF65-F5344CB8AC3E}">
        <p14:creationId xmlns:p14="http://schemas.microsoft.com/office/powerpoint/2010/main" val="1056519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485" y="748709"/>
            <a:ext cx="8448115" cy="699706"/>
          </a:xfrm>
        </p:spPr>
        <p:txBody>
          <a:bodyPr/>
          <a:lstStyle/>
          <a:p>
            <a:r>
              <a:rPr lang="en-US" dirty="0"/>
              <a:t>INSTRUCTIONS FOR COPYING DATA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106927" y="1373310"/>
            <a:ext cx="5011185" cy="1246670"/>
            <a:chOff x="594958" y="1953411"/>
            <a:chExt cx="5011185" cy="1246670"/>
          </a:xfrm>
        </p:grpSpPr>
        <p:sp>
          <p:nvSpPr>
            <p:cNvPr id="27" name="Down Arrow 26"/>
            <p:cNvSpPr/>
            <p:nvPr/>
          </p:nvSpPr>
          <p:spPr>
            <a:xfrm>
              <a:off x="4343400" y="2537106"/>
              <a:ext cx="228600" cy="66297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43943" y="1953411"/>
              <a:ext cx="2362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94958" y="2531751"/>
              <a:ext cx="3550972" cy="55399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marL="0" lvl="1"/>
              <a:r>
                <a:rPr lang="en-US" sz="1600" b="1" i="1" dirty="0">
                  <a:solidFill>
                    <a:srgbClr val="0070C0"/>
                  </a:solidFill>
                </a:rPr>
                <a:t>“Immediate” Constant to Register:</a:t>
              </a:r>
            </a:p>
            <a:p>
              <a:pPr marL="0" lvl="1"/>
              <a:r>
                <a:rPr lang="en-US" sz="1400" b="1" dirty="0"/>
                <a:t>MOV, MVN, MOVW, MOVT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401384" y="3657282"/>
            <a:ext cx="5173211" cy="1600518"/>
            <a:chOff x="4877383" y="3657282"/>
            <a:chExt cx="5173211" cy="1600518"/>
          </a:xfrm>
        </p:grpSpPr>
        <p:sp>
          <p:nvSpPr>
            <p:cNvPr id="26" name="Up Arrow 25"/>
            <p:cNvSpPr/>
            <p:nvPr/>
          </p:nvSpPr>
          <p:spPr>
            <a:xfrm>
              <a:off x="5105400" y="3657282"/>
              <a:ext cx="228600" cy="1600518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77383" y="4061413"/>
              <a:ext cx="517321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sz="2000" i="1" dirty="0">
                  <a:solidFill>
                    <a:srgbClr val="0070C0"/>
                  </a:solidFill>
                </a:rPr>
                <a:t>“Load Register” Instructions:</a:t>
              </a:r>
            </a:p>
            <a:p>
              <a:pPr lvl="1"/>
              <a:r>
                <a:rPr lang="en-US" dirty="0"/>
                <a:t>LDR, LDRD, LDRB, LDRH, LDRSB, LDRSH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315201" y="2489738"/>
            <a:ext cx="3116559" cy="857310"/>
            <a:chOff x="5580887" y="2799972"/>
            <a:chExt cx="3116559" cy="857310"/>
          </a:xfrm>
        </p:grpSpPr>
        <p:sp>
          <p:nvSpPr>
            <p:cNvPr id="24" name="Curved Left Arrow 23"/>
            <p:cNvSpPr/>
            <p:nvPr/>
          </p:nvSpPr>
          <p:spPr>
            <a:xfrm>
              <a:off x="5657087" y="3200082"/>
              <a:ext cx="533400" cy="457200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80887" y="2799972"/>
              <a:ext cx="311655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</a:rPr>
                <a:t>Register to Register: </a:t>
              </a:r>
              <a:r>
                <a:rPr lang="en-US" dirty="0"/>
                <a:t>MOV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062789" y="3657282"/>
            <a:ext cx="4271211" cy="1600518"/>
            <a:chOff x="-461211" y="3657282"/>
            <a:chExt cx="4271211" cy="1600518"/>
          </a:xfrm>
        </p:grpSpPr>
        <p:sp>
          <p:nvSpPr>
            <p:cNvPr id="25" name="Down Arrow 24"/>
            <p:cNvSpPr/>
            <p:nvPr/>
          </p:nvSpPr>
          <p:spPr>
            <a:xfrm>
              <a:off x="3581400" y="3657282"/>
              <a:ext cx="228600" cy="160051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-461211" y="4122993"/>
              <a:ext cx="4010527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00050" lvl="1"/>
              <a:r>
                <a:rPr lang="en-US" sz="2000" i="1" dirty="0">
                  <a:solidFill>
                    <a:srgbClr val="0070C0"/>
                  </a:solidFill>
                </a:rPr>
                <a:t>“Store Register” Instructions:</a:t>
              </a:r>
            </a:p>
            <a:p>
              <a:pPr marL="400050" lvl="1"/>
              <a:r>
                <a:rPr lang="en-US" dirty="0"/>
                <a:t>STR, STRD, STRB, STRH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4800600" y="5257800"/>
            <a:ext cx="2362200" cy="13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6670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36504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3382"/>
            <a:ext cx="8544368" cy="700356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IMMEDIATE CONSTANT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6516" y="1682865"/>
                <a:ext cx="10385200" cy="495455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  <a:tabLst>
                    <a:tab pos="1376363" algn="l"/>
                    <a:tab pos="274320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MOV	R0,100	// R0 = 100</a:t>
                </a:r>
              </a:p>
              <a:p>
                <a:pPr marL="0" indent="0">
                  <a:buNone/>
                  <a:tabLst>
                    <a:tab pos="1376363" algn="l"/>
                    <a:tab pos="274320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MVN	R0,100	// R0 = ~100 (-101)</a:t>
                </a:r>
              </a:p>
              <a:p>
                <a:pPr marL="0" indent="0">
                  <a:buNone/>
                  <a:tabLst>
                    <a:tab pos="1376363" algn="l"/>
                    <a:tab pos="274320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MOVW	R0,0xFEAB	// R0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 1000</a:t>
                </a:r>
              </a:p>
              <a:p>
                <a:pPr marL="0" indent="0">
                  <a:buNone/>
                  <a:tabLst>
                    <a:tab pos="1376363" algn="l"/>
                    <a:tab pos="2743200" algn="l"/>
                  </a:tabLst>
                </a:pP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MOV	R4,R1</a:t>
                </a:r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endParaRPr lang="en-US" dirty="0"/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chemeClr val="tx1"/>
                    </a:solidFill>
                  </a:rPr>
                  <a:t>MOV	R0,-100	// R0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=</a:t>
                </a:r>
                <a:r>
                  <a:rPr lang="en-US" dirty="0">
                    <a:solidFill>
                      <a:schemeClr val="tx1"/>
                    </a:solidFill>
                  </a:rPr>
                  <a:t> -100</a:t>
                </a:r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		// Assembler replaces this by MVN R0,99</a:t>
                </a:r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  <a:tabLst>
                    <a:tab pos="1376363" algn="l"/>
                    <a:tab pos="33147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−100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⋯100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11101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0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⋯0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1100011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  <a:tabLst>
                    <a:tab pos="1376363" algn="l"/>
                    <a:tab pos="3314700" algn="l"/>
                  </a:tabLs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16" y="1682865"/>
                <a:ext cx="10385200" cy="4954555"/>
              </a:xfrm>
              <a:blipFill>
                <a:blip r:embed="rId2"/>
                <a:stretch>
                  <a:fillRect l="-940" t="-1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129116" y="2570841"/>
            <a:ext cx="5453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32-bit instruction: 16-bit constant 0-65535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9116" y="1682865"/>
            <a:ext cx="5216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16-bit instruction: 8-bit constant 0-255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9116" y="2126853"/>
            <a:ext cx="4811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16-bit instruction: 8-bit constant 0-255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56709-A830-4988-ACC7-5B5A82EF2BC7}"/>
              </a:ext>
            </a:extLst>
          </p:cNvPr>
          <p:cNvSpPr txBox="1"/>
          <p:nvPr/>
        </p:nvSpPr>
        <p:spPr>
          <a:xfrm>
            <a:off x="5959644" y="516154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invert</a:t>
            </a:r>
          </a:p>
        </p:txBody>
      </p:sp>
    </p:spTree>
    <p:extLst>
      <p:ext uri="{BB962C8B-B14F-4D97-AF65-F5344CB8AC3E}">
        <p14:creationId xmlns:p14="http://schemas.microsoft.com/office/powerpoint/2010/main" val="123310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875" y="757821"/>
            <a:ext cx="6512693" cy="641853"/>
          </a:xfrm>
        </p:spPr>
        <p:txBody>
          <a:bodyPr>
            <a:normAutofit/>
          </a:bodyPr>
          <a:lstStyle/>
          <a:p>
            <a:r>
              <a:rPr lang="en-US" dirty="0"/>
              <a:t>The LDR Pseudo-Instruction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4280" y="2246841"/>
            <a:ext cx="3996088" cy="405159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1376363" algn="l"/>
                <a:tab pos="3314700" algn="l"/>
              </a:tabLst>
            </a:pPr>
            <a:r>
              <a:rPr lang="en-US" b="1" dirty="0">
                <a:solidFill>
                  <a:schemeClr val="tx1"/>
                </a:solidFill>
              </a:rPr>
              <a:t>Format:      LDR  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dirty="0">
                <a:solidFill>
                  <a:schemeClr val="tx1"/>
                </a:solidFill>
              </a:rPr>
              <a:t>,=</a:t>
            </a:r>
            <a:r>
              <a:rPr lang="en-US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203940"/>
              </p:ext>
            </p:extLst>
          </p:nvPr>
        </p:nvGraphicFramePr>
        <p:xfrm>
          <a:off x="907258" y="4838168"/>
          <a:ext cx="4936499" cy="173813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16117">
                  <a:extLst>
                    <a:ext uri="{9D8B030D-6E8A-4147-A177-3AD203B41FA5}">
                      <a16:colId xmlns:a16="http://schemas.microsoft.com/office/drawing/2014/main" val="351895124"/>
                    </a:ext>
                  </a:extLst>
                </a:gridCol>
                <a:gridCol w="1570094">
                  <a:extLst>
                    <a:ext uri="{9D8B030D-6E8A-4147-A177-3AD203B41FA5}">
                      <a16:colId xmlns:a16="http://schemas.microsoft.com/office/drawing/2014/main" val="2303502560"/>
                    </a:ext>
                  </a:extLst>
                </a:gridCol>
                <a:gridCol w="1125144">
                  <a:extLst>
                    <a:ext uri="{9D8B030D-6E8A-4147-A177-3AD203B41FA5}">
                      <a16:colId xmlns:a16="http://schemas.microsoft.com/office/drawing/2014/main" val="3408304637"/>
                    </a:ext>
                  </a:extLst>
                </a:gridCol>
                <a:gridCol w="1125144">
                  <a:extLst>
                    <a:ext uri="{9D8B030D-6E8A-4147-A177-3AD203B41FA5}">
                      <a16:colId xmlns:a16="http://schemas.microsoft.com/office/drawing/2014/main" val="445473687"/>
                    </a:ext>
                  </a:extLst>
                </a:gridCol>
              </a:tblGrid>
              <a:tr h="369961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Instruction Format and Width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Range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7489650"/>
                  </a:ext>
                </a:extLst>
              </a:tr>
              <a:tr h="40817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MOV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Rd,imm8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0-255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3570694"/>
                  </a:ext>
                </a:extLst>
              </a:tr>
              <a:tr h="551821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MOVW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Rd,imm16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0-65535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9314155"/>
                  </a:ext>
                </a:extLst>
              </a:tr>
              <a:tr h="40817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MVN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Rd,imm8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16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0-255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9018420"/>
                  </a:ext>
                </a:extLst>
              </a:tr>
            </a:tbl>
          </a:graphicData>
        </a:graphic>
      </p:graphicFrame>
      <p:sp>
        <p:nvSpPr>
          <p:cNvPr id="12" name="Up Arrow 11"/>
          <p:cNvSpPr/>
          <p:nvPr/>
        </p:nvSpPr>
        <p:spPr>
          <a:xfrm>
            <a:off x="6305868" y="2652000"/>
            <a:ext cx="285278" cy="339410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97579" y="2991410"/>
            <a:ext cx="5273441" cy="70788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equals sign distinguishes this pseudo-instruction from a real LDR instruction.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596" y="4438058"/>
            <a:ext cx="4791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pseudo-instruction is replaced by 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1378" y="1317206"/>
            <a:ext cx="9370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“</a:t>
            </a:r>
            <a:r>
              <a:rPr lang="en-US" sz="2000" i="1" dirty="0"/>
              <a:t>pseudo-instruction</a:t>
            </a:r>
            <a:r>
              <a:rPr lang="en-US" sz="2000" dirty="0"/>
              <a:t>” is not a </a:t>
            </a:r>
            <a:r>
              <a:rPr lang="en-US" sz="2000" u="sng" dirty="0"/>
              <a:t>real</a:t>
            </a:r>
            <a:r>
              <a:rPr lang="en-US" sz="2000" dirty="0"/>
              <a:t> ARM instruction. </a:t>
            </a:r>
            <a:br>
              <a:rPr lang="en-US" sz="2000" dirty="0"/>
            </a:br>
            <a:r>
              <a:rPr lang="en-US" sz="2000" dirty="0"/>
              <a:t>The assembler replaces it with an equivalent operations.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917419" y="3957728"/>
                <a:ext cx="575818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Or it is replaced by a real LDR that loads the constant from memory:</a:t>
                </a:r>
              </a:p>
              <a:p>
                <a:endParaRPr lang="en-US" dirty="0"/>
              </a:p>
              <a:p>
                <a:r>
                  <a:rPr lang="en-US" dirty="0"/>
                  <a:t>		LDR	R0,=100000</a:t>
                </a:r>
              </a:p>
              <a:p>
                <a:endParaRPr lang="en-US" dirty="0"/>
              </a:p>
              <a:p>
                <a:r>
                  <a:rPr lang="en-US" dirty="0"/>
                  <a:t>		LDR	R0,=</a:t>
                </a:r>
                <a:r>
                  <a:rPr lang="en-US" dirty="0" err="1"/>
                  <a:t>myWord</a:t>
                </a:r>
                <a:r>
                  <a:rPr lang="en-US" dirty="0"/>
                  <a:t> // load </a:t>
                </a:r>
                <a:r>
                  <a:rPr lang="en-US" dirty="0" err="1"/>
                  <a:t>addr</a:t>
                </a:r>
                <a:endParaRPr lang="en-US" dirty="0"/>
              </a:p>
              <a:p>
                <a:r>
                  <a:rPr lang="en-US" dirty="0"/>
                  <a:t>		LDR	R0,[R0]</a:t>
                </a:r>
              </a:p>
              <a:p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myWord</a:t>
                </a:r>
                <a:r>
                  <a:rPr lang="en-US" dirty="0"/>
                  <a:t>:		.word	100000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419" y="3957728"/>
                <a:ext cx="5758184" cy="2862322"/>
              </a:xfrm>
              <a:prstGeom prst="rect">
                <a:avLst/>
              </a:prstGeom>
              <a:blipFill>
                <a:blip r:embed="rId3"/>
                <a:stretch>
                  <a:fillRect l="-953" t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own Arrow 6"/>
          <p:cNvSpPr/>
          <p:nvPr/>
        </p:nvSpPr>
        <p:spPr>
          <a:xfrm>
            <a:off x="9659389" y="5152875"/>
            <a:ext cx="152400" cy="2615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59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1171"/>
            <a:ext cx="6599263" cy="566261"/>
          </a:xfrm>
        </p:spPr>
        <p:txBody>
          <a:bodyPr>
            <a:normAutofit fontScale="90000"/>
          </a:bodyPr>
          <a:lstStyle/>
          <a:p>
            <a:r>
              <a:rPr lang="en-US" dirty="0"/>
              <a:t>WRITING INTEGER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608222"/>
            <a:ext cx="10397231" cy="5037220"/>
          </a:xfrm>
        </p:spPr>
        <p:txBody>
          <a:bodyPr>
            <a:normAutofit/>
          </a:bodyPr>
          <a:lstStyle/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Decimal:		123</a:t>
            </a:r>
          </a:p>
          <a:p>
            <a:pPr>
              <a:tabLst>
                <a:tab pos="3657600" algn="l"/>
              </a:tabLst>
            </a:pPr>
            <a:endParaRPr lang="en-US" dirty="0"/>
          </a:p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Binary:</a:t>
            </a: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0b</a:t>
            </a:r>
            <a:r>
              <a:rPr lang="en-US" dirty="0">
                <a:solidFill>
                  <a:schemeClr val="tx1"/>
                </a:solidFill>
              </a:rPr>
              <a:t>10110111</a:t>
            </a:r>
          </a:p>
          <a:p>
            <a:pPr>
              <a:tabLst>
                <a:tab pos="3657600" algn="l"/>
              </a:tabLst>
            </a:pPr>
            <a:endParaRPr lang="en-US" dirty="0"/>
          </a:p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Octal:</a:t>
            </a: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123</a:t>
            </a:r>
          </a:p>
          <a:p>
            <a:pPr>
              <a:tabLst>
                <a:tab pos="3657600" algn="l"/>
              </a:tabLst>
            </a:pPr>
            <a:endParaRPr lang="en-US" dirty="0"/>
          </a:p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Hexadecimal:</a:t>
            </a: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0x</a:t>
            </a:r>
            <a:r>
              <a:rPr lang="en-US" dirty="0">
                <a:solidFill>
                  <a:schemeClr val="tx1"/>
                </a:solidFill>
              </a:rPr>
              <a:t>FACE</a:t>
            </a:r>
          </a:p>
          <a:p>
            <a:pPr>
              <a:tabLst>
                <a:tab pos="3657600" algn="l"/>
              </a:tabLst>
            </a:pPr>
            <a:endParaRPr lang="en-US" dirty="0"/>
          </a:p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ASCII Character</a:t>
            </a:r>
            <a:r>
              <a:rPr lang="en-US" dirty="0"/>
              <a:t>		</a:t>
            </a:r>
            <a:r>
              <a:rPr lang="en-US" b="1" dirty="0">
                <a:solidFill>
                  <a:srgbClr val="FF0000"/>
                </a:solidFill>
              </a:rPr>
              <a:t>‘</a:t>
            </a:r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</a:rPr>
              <a:t>‘</a:t>
            </a:r>
            <a:endParaRPr lang="en-US" dirty="0"/>
          </a:p>
          <a:p>
            <a:pPr>
              <a:tabLst>
                <a:tab pos="3657600" algn="l"/>
              </a:tabLst>
            </a:pPr>
            <a:endParaRPr lang="en-US" dirty="0"/>
          </a:p>
          <a:p>
            <a:pPr>
              <a:tabLst>
                <a:tab pos="3657600" algn="l"/>
              </a:tabLst>
            </a:pPr>
            <a:r>
              <a:rPr lang="en-US" dirty="0">
                <a:solidFill>
                  <a:schemeClr val="tx1"/>
                </a:solidFill>
              </a:rPr>
              <a:t>Constant-Valued Expressions	</a:t>
            </a: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5*6-3</a:t>
            </a:r>
          </a:p>
        </p:txBody>
      </p:sp>
    </p:spTree>
    <p:extLst>
      <p:ext uri="{BB962C8B-B14F-4D97-AF65-F5344CB8AC3E}">
        <p14:creationId xmlns:p14="http://schemas.microsoft.com/office/powerpoint/2010/main" val="3215306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69" y="748709"/>
            <a:ext cx="8367042" cy="635290"/>
          </a:xfrm>
        </p:spPr>
        <p:txBody>
          <a:bodyPr/>
          <a:lstStyle/>
          <a:p>
            <a:r>
              <a:rPr lang="en-US" dirty="0"/>
              <a:t>INSTRUCTIONS FOR COPYING DATA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921979" y="1383998"/>
            <a:ext cx="5208164" cy="1246670"/>
            <a:chOff x="397979" y="1953411"/>
            <a:chExt cx="5208164" cy="1246670"/>
          </a:xfrm>
        </p:grpSpPr>
        <p:sp>
          <p:nvSpPr>
            <p:cNvPr id="27" name="Down Arrow 26"/>
            <p:cNvSpPr/>
            <p:nvPr/>
          </p:nvSpPr>
          <p:spPr>
            <a:xfrm>
              <a:off x="4343400" y="2537106"/>
              <a:ext cx="228600" cy="66297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43943" y="1953411"/>
              <a:ext cx="2362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97979" y="2519351"/>
              <a:ext cx="4027064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/>
              <a:r>
                <a:rPr lang="en-US" sz="2000" i="1" dirty="0">
                  <a:solidFill>
                    <a:srgbClr val="0070C0"/>
                  </a:solidFill>
                </a:rPr>
                <a:t>“Immediate” Constant to Register:</a:t>
              </a:r>
            </a:p>
            <a:p>
              <a:pPr marL="0" lvl="1"/>
              <a:r>
                <a:rPr lang="en-US" dirty="0"/>
                <a:t>MOV, MVN, MOVW, MOVT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401384" y="3657282"/>
            <a:ext cx="5173211" cy="1600518"/>
            <a:chOff x="4877383" y="3657282"/>
            <a:chExt cx="5173211" cy="1600518"/>
          </a:xfrm>
        </p:grpSpPr>
        <p:sp>
          <p:nvSpPr>
            <p:cNvPr id="30" name="Rectangle 29"/>
            <p:cNvSpPr/>
            <p:nvPr/>
          </p:nvSpPr>
          <p:spPr>
            <a:xfrm>
              <a:off x="4877383" y="4061413"/>
              <a:ext cx="5173211" cy="67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lvl="1"/>
              <a:r>
                <a:rPr lang="en-US" sz="2000" i="1" dirty="0">
                  <a:solidFill>
                    <a:srgbClr val="0070C0"/>
                  </a:solidFill>
                </a:rPr>
                <a:t>“Load Register” Instructions:</a:t>
              </a:r>
            </a:p>
            <a:p>
              <a:pPr lvl="1"/>
              <a:r>
                <a:rPr lang="en-US" dirty="0"/>
                <a:t>LDR, LDRD, LDRB, LDRH, LDRSB, LDRSH</a:t>
              </a:r>
            </a:p>
          </p:txBody>
        </p:sp>
        <p:sp>
          <p:nvSpPr>
            <p:cNvPr id="26" name="Up Arrow 25"/>
            <p:cNvSpPr/>
            <p:nvPr/>
          </p:nvSpPr>
          <p:spPr>
            <a:xfrm>
              <a:off x="5105400" y="3657282"/>
              <a:ext cx="228600" cy="1600518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315201" y="2489738"/>
            <a:ext cx="3116559" cy="857310"/>
            <a:chOff x="5580887" y="2799972"/>
            <a:chExt cx="3116559" cy="857310"/>
          </a:xfrm>
        </p:grpSpPr>
        <p:sp>
          <p:nvSpPr>
            <p:cNvPr id="24" name="Curved Left Arrow 23"/>
            <p:cNvSpPr/>
            <p:nvPr/>
          </p:nvSpPr>
          <p:spPr>
            <a:xfrm>
              <a:off x="5657087" y="3200082"/>
              <a:ext cx="533400" cy="457200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80887" y="2799972"/>
              <a:ext cx="311655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</a:rPr>
                <a:t>Register to Register: </a:t>
              </a:r>
              <a:r>
                <a:rPr lang="en-US" dirty="0"/>
                <a:t>MOV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306898" y="3657282"/>
            <a:ext cx="4038029" cy="1600518"/>
            <a:chOff x="99734" y="3657282"/>
            <a:chExt cx="4038029" cy="1600518"/>
          </a:xfrm>
        </p:grpSpPr>
        <p:sp>
          <p:nvSpPr>
            <p:cNvPr id="25" name="Down Arrow 24"/>
            <p:cNvSpPr/>
            <p:nvPr/>
          </p:nvSpPr>
          <p:spPr>
            <a:xfrm>
              <a:off x="3909163" y="3657282"/>
              <a:ext cx="228600" cy="160051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734" y="4118987"/>
              <a:ext cx="3847528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lvl="1"/>
              <a:r>
                <a:rPr lang="en-US" sz="2000" i="1" dirty="0">
                  <a:solidFill>
                    <a:srgbClr val="0070C0"/>
                  </a:solidFill>
                </a:rPr>
                <a:t>“Store Register” Instructions:</a:t>
              </a:r>
            </a:p>
            <a:p>
              <a:pPr marL="400050" lvl="1"/>
              <a:r>
                <a:rPr lang="en-US" dirty="0"/>
                <a:t>STR, STRD, STRB, STRH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4800600" y="5257800"/>
            <a:ext cx="2362200" cy="13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6670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Registers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236" y="4057392"/>
            <a:ext cx="5174360" cy="6811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03518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679129"/>
            <a:ext cx="7393347" cy="114415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REGISTER </a:t>
            </a:r>
            <a:r>
              <a:rPr lang="en-US" sz="4000" dirty="0">
                <a:sym typeface="Wingdings" panose="05000000000000000000" pitchFamily="2" charset="2"/>
              </a:rPr>
              <a:t> MEMORY (</a:t>
            </a:r>
            <a:r>
              <a:rPr lang="en-US" sz="4000" dirty="0">
                <a:solidFill>
                  <a:srgbClr val="0070C0"/>
                </a:solidFill>
              </a:rPr>
              <a:t>32-BITS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dirty="0"/>
              <a:t>Load Register from Word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046360"/>
              </p:ext>
            </p:extLst>
          </p:nvPr>
        </p:nvGraphicFramePr>
        <p:xfrm>
          <a:off x="2422355" y="2410561"/>
          <a:ext cx="8001000" cy="2286635"/>
        </p:xfrm>
        <a:graphic>
          <a:graphicData uri="http://schemas.openxmlformats.org/drawingml/2006/table">
            <a:tbl>
              <a:tblPr firstRow="1" firstCol="1" bandRow="1"/>
              <a:tblGrid>
                <a:gridCol w="600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2865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	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2865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a 32-bit word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from the memory location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 whose address is in R1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 into register R0.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62865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358986" y="2410562"/>
            <a:ext cx="3159594" cy="2565253"/>
            <a:chOff x="0" y="0"/>
            <a:chExt cx="1532939" cy="1069096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1526344" cy="281353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32-bit word</a:t>
              </a:r>
              <a:endParaRPr lang="en-US" sz="24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7034" y="787791"/>
              <a:ext cx="1525905" cy="281305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4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" name="Down Arrow 7"/>
            <p:cNvSpPr/>
            <p:nvPr/>
          </p:nvSpPr>
          <p:spPr>
            <a:xfrm>
              <a:off x="611945" y="358726"/>
              <a:ext cx="330200" cy="358140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329386" y="5371209"/>
            <a:ext cx="3566085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int32_t, uint32_t, </a:t>
            </a:r>
            <a:r>
              <a:rPr lang="en-US" dirty="0"/>
              <a:t>and</a:t>
            </a:r>
            <a:r>
              <a:rPr lang="en-US" b="1" dirty="0"/>
              <a:t> all pointers</a:t>
            </a:r>
          </a:p>
        </p:txBody>
      </p:sp>
    </p:spTree>
    <p:extLst>
      <p:ext uri="{BB962C8B-B14F-4D97-AF65-F5344CB8AC3E}">
        <p14:creationId xmlns:p14="http://schemas.microsoft.com/office/powerpoint/2010/main" val="1520397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84" y="747602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REGISTER PAIR </a:t>
            </a:r>
            <a:r>
              <a:rPr lang="en-US" sz="4000" dirty="0">
                <a:sym typeface="Wingdings" panose="05000000000000000000" pitchFamily="2" charset="2"/>
              </a:rPr>
              <a:t> MEMORY (</a:t>
            </a:r>
            <a:r>
              <a:rPr lang="en-US" sz="4000" dirty="0">
                <a:solidFill>
                  <a:srgbClr val="0070C0"/>
                </a:solidFill>
              </a:rPr>
              <a:t>64-BITS</a:t>
            </a:r>
            <a:r>
              <a:rPr lang="en-US" sz="4000" dirty="0"/>
              <a:t>)</a:t>
            </a:r>
            <a:br>
              <a:rPr lang="en-US" sz="4000" dirty="0"/>
            </a:br>
            <a:r>
              <a:rPr lang="en-US" sz="4000" dirty="0"/>
              <a:t>Load Register Pair from </a:t>
            </a:r>
            <a:r>
              <a:rPr lang="en-US" sz="4000" dirty="0" err="1"/>
              <a:t>DoubleWord</a:t>
            </a:r>
            <a:endParaRPr lang="en-US" sz="4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593493"/>
              </p:ext>
            </p:extLst>
          </p:nvPr>
        </p:nvGraphicFramePr>
        <p:xfrm>
          <a:off x="2253574" y="2136658"/>
          <a:ext cx="7500027" cy="3555238"/>
        </p:xfrm>
        <a:graphic>
          <a:graphicData uri="http://schemas.openxmlformats.org/drawingml/2006/table">
            <a:tbl>
              <a:tblPr firstRow="1" firstCol="1" bandRow="1"/>
              <a:tblGrid>
                <a:gridCol w="4726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LDRD	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</a:t>
                      </a:r>
                      <a:r>
                        <a:rPr lang="en-US" sz="24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,[R2]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the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lower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half of the value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held in the 64-bit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memory location whose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address is in R2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register R0,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and the </a:t>
                      </a: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upper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half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R1.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5695674" y="2272441"/>
            <a:ext cx="3505200" cy="2757371"/>
            <a:chOff x="0" y="0"/>
            <a:chExt cx="1743954" cy="150455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525905" cy="280670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dirty="0">
                  <a:solidFill>
                    <a:srgbClr val="000000"/>
                  </a:solidFill>
                  <a:latin typeface="Arial"/>
                  <a:ea typeface="Arial"/>
                </a:rPr>
                <a:t>Bits 32-63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4067" y="984738"/>
              <a:ext cx="1525270" cy="280670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>
                  <a:solidFill>
                    <a:srgbClr val="000000"/>
                  </a:solidFill>
                  <a:ea typeface="Arial"/>
                </a:rPr>
                <a:t>register R1</a:t>
              </a:r>
              <a:endParaRPr lang="en-US" sz="200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752621" y="569741"/>
              <a:ext cx="329565" cy="357505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6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8049" y="232117"/>
              <a:ext cx="1525905" cy="2806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ea typeface="Arial"/>
                </a:rPr>
                <a:t>Bits 0-31</a:t>
              </a:r>
              <a:endParaRPr lang="en-US" sz="20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1015" y="1223889"/>
              <a:ext cx="1525270" cy="2806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00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514600" y="5638800"/>
            <a:ext cx="3181074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int64_t </a:t>
            </a:r>
            <a:r>
              <a:rPr lang="en-US" dirty="0"/>
              <a:t>and</a:t>
            </a:r>
            <a:r>
              <a:rPr lang="en-US" b="1" dirty="0"/>
              <a:t> uint64_t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875492" y="5613737"/>
            <a:ext cx="4648129" cy="1015663"/>
            <a:chOff x="4495800" y="5442284"/>
            <a:chExt cx="4648129" cy="1015663"/>
          </a:xfrm>
        </p:grpSpPr>
        <p:sp>
          <p:nvSpPr>
            <p:cNvPr id="22" name="TextBox 21"/>
            <p:cNvSpPr txBox="1"/>
            <p:nvPr/>
          </p:nvSpPr>
          <p:spPr>
            <a:xfrm>
              <a:off x="4495800" y="5442284"/>
              <a:ext cx="464812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The 64-bit operand must be word aligned (located at a mod 4 </a:t>
              </a:r>
              <a:r>
                <a:rPr lang="en-US" dirty="0" err="1"/>
                <a:t>adrs</a:t>
              </a:r>
              <a:r>
                <a:rPr lang="en-US" dirty="0"/>
                <a:t>) or an address fault will occur. </a:t>
              </a:r>
            </a:p>
          </p:txBody>
        </p:sp>
        <p:pic>
          <p:nvPicPr>
            <p:cNvPr id="23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52674" y="555607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9381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60383" y="714236"/>
            <a:ext cx="10417284" cy="1144151"/>
          </a:xfrm>
        </p:spPr>
        <p:txBody>
          <a:bodyPr>
            <a:normAutofit/>
          </a:bodyPr>
          <a:lstStyle/>
          <a:p>
            <a:r>
              <a:rPr lang="en-US" dirty="0"/>
              <a:t>Copying variables &lt; 32 bits wide</a:t>
            </a:r>
            <a:br>
              <a:rPr lang="en-US" dirty="0"/>
            </a:br>
            <a:r>
              <a:rPr lang="en-US" sz="3100" i="1" dirty="0"/>
              <a:t>(32-bit register copy must have same value)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1981200" y="1999329"/>
            <a:ext cx="4040188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Unsigned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sz="half" idx="2"/>
              </p:nvPr>
            </p:nvSpPr>
            <p:spPr>
              <a:xfrm>
                <a:off x="1981200" y="2665077"/>
                <a:ext cx="4040188" cy="39512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Zero-Extend:  Add leading 0’s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dirty="0"/>
                  <a:t>4-bit example:</a:t>
                </a:r>
              </a:p>
              <a:p>
                <a:pPr marL="68580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00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00</a:t>
                </a:r>
                <a:r>
                  <a:rPr lang="en-US" dirty="0"/>
                  <a:t>1101</a:t>
                </a:r>
                <a:r>
                  <a:rPr lang="en-US" baseline="-25000" dirty="0"/>
                  <a:t>2</a:t>
                </a:r>
                <a:r>
                  <a:rPr lang="en-US" dirty="0"/>
                  <a:t> = 13</a:t>
                </a:r>
                <a:r>
                  <a:rPr lang="en-US" baseline="-25000" dirty="0"/>
                  <a:t>10</a:t>
                </a:r>
              </a:p>
              <a:p>
                <a:pPr marL="685800" indent="0">
                  <a:buNone/>
                </a:pPr>
                <a:endParaRPr lang="en-US" dirty="0"/>
              </a:p>
              <a:p>
                <a:pPr marL="685800" indent="0">
                  <a:buNone/>
                </a:pPr>
                <a:endParaRPr lang="en-US" dirty="0"/>
              </a:p>
              <a:p>
                <a:pPr marL="68580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00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00</a:t>
                </a:r>
                <a:r>
                  <a:rPr lang="en-US" dirty="0"/>
                  <a:t>1101</a:t>
                </a:r>
                <a:r>
                  <a:rPr lang="en-US" baseline="-25000" dirty="0"/>
                  <a:t>2</a:t>
                </a:r>
                <a:r>
                  <a:rPr lang="en-US" dirty="0"/>
                  <a:t> = 13</a:t>
                </a:r>
                <a:r>
                  <a:rPr lang="en-US" baseline="-25000" dirty="0"/>
                  <a:t>10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981200" y="2665077"/>
                <a:ext cx="4040188" cy="3951288"/>
              </a:xfrm>
              <a:blipFill>
                <a:blip r:embed="rId2"/>
                <a:stretch>
                  <a:fillRect l="-2262" t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167020" y="1999329"/>
            <a:ext cx="4041775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Signed (2’s complement)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69025" y="2665077"/>
                <a:ext cx="4041775" cy="39512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Sign-Extend: Replicate sign bit</a:t>
                </a:r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dirty="0"/>
                  <a:t>4-bit example:</a:t>
                </a:r>
              </a:p>
              <a:p>
                <a:pPr marL="68580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11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11</a:t>
                </a:r>
                <a:r>
                  <a:rPr lang="en-US" b="1" dirty="0">
                    <a:solidFill>
                      <a:srgbClr val="FF0000"/>
                    </a:solidFill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101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2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/>
                  <a:t>= -3</a:t>
                </a:r>
                <a:r>
                  <a:rPr lang="en-US" baseline="-25000" dirty="0"/>
                  <a:t>10</a:t>
                </a:r>
              </a:p>
              <a:p>
                <a:pPr marL="685800" indent="0">
                  <a:buNone/>
                </a:pPr>
                <a:endParaRPr lang="en-US" dirty="0"/>
              </a:p>
              <a:p>
                <a:pPr marL="685800" indent="0">
                  <a:buNone/>
                </a:pPr>
                <a:endParaRPr lang="en-US" dirty="0"/>
              </a:p>
              <a:p>
                <a:pPr marL="68580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11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𝟏𝟏</m:t>
                    </m:r>
                  </m:oMath>
                </a14:m>
                <a:r>
                  <a:rPr lang="en-US" dirty="0"/>
                  <a:t>1101</a:t>
                </a:r>
                <a:r>
                  <a:rPr lang="en-US" baseline="-25000" dirty="0"/>
                  <a:t>2</a:t>
                </a:r>
                <a:r>
                  <a:rPr lang="en-US" dirty="0"/>
                  <a:t> = -3</a:t>
                </a:r>
                <a:r>
                  <a:rPr lang="en-US" baseline="-25000" dirty="0"/>
                  <a:t>10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69025" y="2665077"/>
                <a:ext cx="4041775" cy="3951288"/>
              </a:xfrm>
              <a:blipFill>
                <a:blip r:embed="rId3"/>
                <a:stretch>
                  <a:fillRect l="-2413" t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3637663" y="4263190"/>
            <a:ext cx="433134" cy="914400"/>
            <a:chOff x="2209800" y="4191000"/>
            <a:chExt cx="433134" cy="91440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22098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23622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25146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2642934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7810312" y="4263189"/>
            <a:ext cx="457200" cy="1002631"/>
            <a:chOff x="2209800" y="4191000"/>
            <a:chExt cx="457200" cy="914400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22098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23622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5146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2667000" y="4191000"/>
              <a:ext cx="0" cy="91440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Arrow Connector 20"/>
          <p:cNvCxnSpPr/>
          <p:nvPr/>
        </p:nvCxnSpPr>
        <p:spPr>
          <a:xfrm flipH="1">
            <a:off x="7583905" y="4263190"/>
            <a:ext cx="207412" cy="100263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122867" y="4263189"/>
            <a:ext cx="687445" cy="10026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6990347" y="4295274"/>
            <a:ext cx="800970" cy="9705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977188" y="5902409"/>
            <a:ext cx="3887788" cy="71395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Instructions that zero-extend:</a:t>
            </a:r>
          </a:p>
          <a:p>
            <a:pPr algn="ctr"/>
            <a:r>
              <a:rPr lang="en-US" sz="2000" b="1" dirty="0">
                <a:solidFill>
                  <a:srgbClr val="92D050"/>
                </a:solidFill>
              </a:rPr>
              <a:t>U</a:t>
            </a:r>
            <a:r>
              <a:rPr lang="en-US" sz="2000" dirty="0">
                <a:solidFill>
                  <a:schemeClr val="tx1"/>
                </a:solidFill>
              </a:rPr>
              <a:t>XTB, </a:t>
            </a:r>
            <a:r>
              <a:rPr lang="en-US" sz="2000" b="1" dirty="0">
                <a:solidFill>
                  <a:srgbClr val="92D050"/>
                </a:solidFill>
              </a:rPr>
              <a:t>U</a:t>
            </a:r>
            <a:r>
              <a:rPr lang="en-US" sz="2000" dirty="0">
                <a:solidFill>
                  <a:schemeClr val="tx1"/>
                </a:solidFill>
              </a:rPr>
              <a:t>XTH, LDRB, LDRH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7020" y="5902409"/>
            <a:ext cx="4041775" cy="71395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Instructions that sign-extend:</a:t>
            </a:r>
          </a:p>
          <a:p>
            <a:pPr algn="ctr"/>
            <a:r>
              <a:rPr lang="en-US" sz="2000" b="1" dirty="0">
                <a:solidFill>
                  <a:srgbClr val="FF0000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XTB, </a:t>
            </a:r>
            <a:r>
              <a:rPr lang="en-US" sz="2000" b="1" dirty="0">
                <a:solidFill>
                  <a:srgbClr val="FF0000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XTH, LDR</a:t>
            </a:r>
            <a:r>
              <a:rPr lang="en-US" sz="2000" b="1" dirty="0">
                <a:solidFill>
                  <a:srgbClr val="FF0000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B, LDR</a:t>
            </a:r>
            <a:r>
              <a:rPr lang="en-US" sz="2000" b="1" dirty="0">
                <a:solidFill>
                  <a:srgbClr val="FF0000"/>
                </a:solidFill>
              </a:rPr>
              <a:t>S</a:t>
            </a:r>
            <a:r>
              <a:rPr lang="en-US" sz="2000" dirty="0">
                <a:solidFill>
                  <a:schemeClr val="tx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3585635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474" y="765303"/>
            <a:ext cx="869081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MEMORY (</a:t>
            </a:r>
            <a:r>
              <a:rPr lang="en-US" dirty="0">
                <a:solidFill>
                  <a:srgbClr val="0070C0"/>
                </a:solidFill>
              </a:rPr>
              <a:t>8-BITS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UNSIGNED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Load Register from (Unsigned) Byte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821243"/>
              </p:ext>
            </p:extLst>
          </p:nvPr>
        </p:nvGraphicFramePr>
        <p:xfrm>
          <a:off x="2133600" y="2576601"/>
          <a:ext cx="5715000" cy="2924302"/>
        </p:xfrm>
        <a:graphic>
          <a:graphicData uri="http://schemas.openxmlformats.org/drawingml/2006/table">
            <a:tbl>
              <a:tblPr firstRow="1" firstCol="1" bandRow="1"/>
              <a:tblGrid>
                <a:gridCol w="3914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6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B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R0,[</a:t>
                      </a:r>
                      <a:r>
                        <a:rPr lang="en-US" sz="24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the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value held in the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8-bit memory location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whose address is in </a:t>
                      </a: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bits 0-7 of register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R0 and 0’s into bits 8-31.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6324601" y="2576602"/>
            <a:ext cx="2940395" cy="2110163"/>
            <a:chOff x="0" y="0"/>
            <a:chExt cx="1532939" cy="1061959"/>
          </a:xfrm>
        </p:grpSpPr>
        <p:sp>
          <p:nvSpPr>
            <p:cNvPr id="16" name="Rectangle 15"/>
            <p:cNvSpPr/>
            <p:nvPr/>
          </p:nvSpPr>
          <p:spPr>
            <a:xfrm>
              <a:off x="1033975" y="0"/>
              <a:ext cx="485286" cy="281250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ea typeface="Arial"/>
                </a:rPr>
                <a:t>uint8_t</a:t>
              </a:r>
              <a:endParaRPr lang="en-US" sz="32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0" y="780757"/>
              <a:ext cx="1525905" cy="28120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4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0"/>
              <a:ext cx="998220" cy="28130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24 zeroes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633046" y="393903"/>
              <a:ext cx="330200" cy="357505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80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7034" y="365760"/>
              <a:ext cx="1525905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2209799" y="5366766"/>
            <a:ext cx="3412959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uint8_t</a:t>
            </a:r>
          </a:p>
        </p:txBody>
      </p:sp>
    </p:spTree>
    <p:extLst>
      <p:ext uri="{BB962C8B-B14F-4D97-AF65-F5344CB8AC3E}">
        <p14:creationId xmlns:p14="http://schemas.microsoft.com/office/powerpoint/2010/main" val="45863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63" y="733037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MEMORY (</a:t>
            </a:r>
            <a:r>
              <a:rPr lang="en-US" dirty="0">
                <a:solidFill>
                  <a:srgbClr val="0070C0"/>
                </a:solidFill>
              </a:rPr>
              <a:t>16-BITS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UNSIGNED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Load Register from (Unsigned) </a:t>
            </a:r>
            <a:r>
              <a:rPr lang="en-US" dirty="0" err="1"/>
              <a:t>HalfWord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128846"/>
              </p:ext>
            </p:extLst>
          </p:nvPr>
        </p:nvGraphicFramePr>
        <p:xfrm>
          <a:off x="2286000" y="2209800"/>
          <a:ext cx="8001000" cy="2924302"/>
        </p:xfrm>
        <a:graphic>
          <a:graphicData uri="http://schemas.openxmlformats.org/drawingml/2006/table">
            <a:tbl>
              <a:tblPr firstRow="1" firstCol="1" bandRow="1"/>
              <a:tblGrid>
                <a:gridCol w="548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H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R0,[</a:t>
                      </a:r>
                      <a:r>
                        <a:rPr lang="en-US" sz="24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the </a:t>
                      </a: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unsigned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value held in the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16-bit memory location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whose address is in </a:t>
                      </a:r>
                      <a:r>
                        <a:rPr lang="en-US" sz="1800" b="1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bits 0-15 of register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R0 and 0’s into bits 16-31. 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477000" y="2250540"/>
            <a:ext cx="3352800" cy="2356920"/>
            <a:chOff x="0" y="0"/>
            <a:chExt cx="1532939" cy="1068993"/>
          </a:xfrm>
        </p:grpSpPr>
        <p:sp>
          <p:nvSpPr>
            <p:cNvPr id="11" name="Rectangle 10"/>
            <p:cNvSpPr/>
            <p:nvPr/>
          </p:nvSpPr>
          <p:spPr>
            <a:xfrm>
              <a:off x="808892" y="0"/>
              <a:ext cx="710370" cy="281250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uint16_t</a:t>
              </a:r>
              <a:endParaRPr lang="en-US" sz="40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787791"/>
              <a:ext cx="1525905" cy="28120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0" y="0"/>
              <a:ext cx="766689" cy="28130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16 zeroes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633046" y="386862"/>
              <a:ext cx="330200" cy="357505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6000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7034" y="358726"/>
              <a:ext cx="1525905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TextBox 14"/>
          <p:cNvSpPr txBox="1"/>
          <p:nvPr/>
        </p:nvSpPr>
        <p:spPr>
          <a:xfrm>
            <a:off x="2381526" y="5405735"/>
            <a:ext cx="3509938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uint16_t</a:t>
            </a:r>
          </a:p>
        </p:txBody>
      </p:sp>
    </p:spTree>
    <p:extLst>
      <p:ext uri="{BB962C8B-B14F-4D97-AF65-F5344CB8AC3E}">
        <p14:creationId xmlns:p14="http://schemas.microsoft.com/office/powerpoint/2010/main" val="4059651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29139"/>
            <a:ext cx="9141937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MEMORY (</a:t>
            </a:r>
            <a:r>
              <a:rPr lang="en-US" dirty="0">
                <a:solidFill>
                  <a:srgbClr val="0070C0"/>
                </a:solidFill>
              </a:rPr>
              <a:t>8-BITS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SIGNED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Load Register from </a:t>
            </a:r>
            <a:r>
              <a:rPr lang="en-US" dirty="0">
                <a:solidFill>
                  <a:srgbClr val="FF0000"/>
                </a:solidFill>
              </a:rPr>
              <a:t>Signed Byte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195925"/>
              </p:ext>
            </p:extLst>
          </p:nvPr>
        </p:nvGraphicFramePr>
        <p:xfrm>
          <a:off x="2286000" y="2063496"/>
          <a:ext cx="8077200" cy="3555238"/>
        </p:xfrm>
        <a:graphic>
          <a:graphicData uri="http://schemas.openxmlformats.org/drawingml/2006/table">
            <a:tbl>
              <a:tblPr firstRow="1" firstCol="1" bandRow="1"/>
              <a:tblGrid>
                <a:gridCol w="553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B	R0,[R1]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the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signed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value held in the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8-bit memory location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whose address is in R1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bits 0-7 of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register R0 and 24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of bit 7 of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sbyte8 into bits 8-31.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6400800" y="2897832"/>
            <a:ext cx="3429000" cy="2971800"/>
            <a:chOff x="0" y="0"/>
            <a:chExt cx="1539973" cy="1054925"/>
          </a:xfrm>
        </p:grpSpPr>
        <p:sp>
          <p:nvSpPr>
            <p:cNvPr id="11" name="Rectangle 10"/>
            <p:cNvSpPr/>
            <p:nvPr/>
          </p:nvSpPr>
          <p:spPr>
            <a:xfrm>
              <a:off x="1041010" y="0"/>
              <a:ext cx="485286" cy="281250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int8_t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773723"/>
              <a:ext cx="1525905" cy="28120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4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0" y="0"/>
              <a:ext cx="998220" cy="28130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24 copies of </a:t>
              </a:r>
              <a:br>
                <a:rPr lang="en-US" sz="2400" dirty="0">
                  <a:solidFill>
                    <a:srgbClr val="000000"/>
                  </a:solidFill>
                  <a:ea typeface="Arial"/>
                </a:rPr>
              </a:b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bit 7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640080" y="393895"/>
              <a:ext cx="330200" cy="357505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/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14068" y="365760"/>
              <a:ext cx="1525905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Left Arrow 21"/>
            <p:cNvSpPr/>
            <p:nvPr/>
          </p:nvSpPr>
          <p:spPr>
            <a:xfrm>
              <a:off x="928468" y="70338"/>
              <a:ext cx="175260" cy="126365"/>
            </a:xfrm>
            <a:prstGeom prst="left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362200" y="5638801"/>
            <a:ext cx="3333474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int8_t</a:t>
            </a:r>
          </a:p>
        </p:txBody>
      </p:sp>
    </p:spTree>
    <p:extLst>
      <p:ext uri="{BB962C8B-B14F-4D97-AF65-F5344CB8AC3E}">
        <p14:creationId xmlns:p14="http://schemas.microsoft.com/office/powerpoint/2010/main" val="2824715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58" y="739465"/>
            <a:ext cx="9406631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MEMORY (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16</a:t>
            </a:r>
            <a:r>
              <a:rPr lang="en-US" dirty="0">
                <a:solidFill>
                  <a:srgbClr val="0070C0"/>
                </a:solidFill>
              </a:rPr>
              <a:t>-BITS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SIGNED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Load Register from </a:t>
            </a:r>
            <a:r>
              <a:rPr lang="en-US" dirty="0">
                <a:solidFill>
                  <a:srgbClr val="FF0000"/>
                </a:solidFill>
              </a:rPr>
              <a:t>Signed</a:t>
            </a:r>
            <a:r>
              <a:rPr lang="en-US" dirty="0"/>
              <a:t> </a:t>
            </a:r>
            <a:r>
              <a:rPr lang="en-US" dirty="0" err="1"/>
              <a:t>HalfWord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541187"/>
              </p:ext>
            </p:extLst>
          </p:nvPr>
        </p:nvGraphicFramePr>
        <p:xfrm>
          <a:off x="2209800" y="1905000"/>
          <a:ext cx="8229600" cy="3239770"/>
        </p:xfrm>
        <a:graphic>
          <a:graphicData uri="http://schemas.openxmlformats.org/drawingml/2006/table">
            <a:tbl>
              <a:tblPr firstRow="1" firstCol="1" bandRow="1"/>
              <a:tblGrid>
                <a:gridCol w="5636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02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LDR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</a:t>
                      </a:r>
                      <a:r>
                        <a:rPr lang="en-US" sz="2400" b="1" dirty="0">
                          <a:solidFill>
                            <a:srgbClr val="0070C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H	R0,[R1]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Copies the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signed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value held in the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16-bit memory location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whose address is in R1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into bits 0-15 of R0 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16 copies of bit 15 of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shalf16 into bits 16-31.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914400" algn="l"/>
                        </a:tabLst>
                      </a:pP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2900" algn="l"/>
                          <a:tab pos="1600200" algn="l"/>
                        </a:tabLst>
                      </a:pP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Consolas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oup 14"/>
          <p:cNvGrpSpPr/>
          <p:nvPr/>
        </p:nvGrpSpPr>
        <p:grpSpPr>
          <a:xfrm>
            <a:off x="6096000" y="2667000"/>
            <a:ext cx="4038600" cy="2895494"/>
            <a:chOff x="0" y="0"/>
            <a:chExt cx="1532890" cy="1061883"/>
          </a:xfrm>
        </p:grpSpPr>
        <p:sp>
          <p:nvSpPr>
            <p:cNvPr id="16" name="Rectangle 15"/>
            <p:cNvSpPr/>
            <p:nvPr/>
          </p:nvSpPr>
          <p:spPr>
            <a:xfrm>
              <a:off x="801858" y="0"/>
              <a:ext cx="710347" cy="281174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int16_t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0" y="780757"/>
              <a:ext cx="1525856" cy="281126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4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0"/>
              <a:ext cx="766664" cy="28122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400" dirty="0">
                  <a:solidFill>
                    <a:srgbClr val="000000"/>
                  </a:solidFill>
                  <a:ea typeface="Arial"/>
                </a:rPr>
                <a:t>16 copies of bit 15</a:t>
              </a:r>
              <a:endParaRPr lang="en-US" sz="36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" name="Down Arrow 18"/>
            <p:cNvSpPr/>
            <p:nvPr/>
          </p:nvSpPr>
          <p:spPr>
            <a:xfrm>
              <a:off x="633046" y="393895"/>
              <a:ext cx="330189" cy="357409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/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7034" y="358726"/>
              <a:ext cx="1525856" cy="0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Left Arrow 22"/>
            <p:cNvSpPr/>
            <p:nvPr/>
          </p:nvSpPr>
          <p:spPr>
            <a:xfrm>
              <a:off x="689317" y="77372"/>
              <a:ext cx="175260" cy="126365"/>
            </a:xfrm>
            <a:prstGeom prst="left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540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362200" y="5710536"/>
            <a:ext cx="3333474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int16_t</a:t>
            </a:r>
          </a:p>
        </p:txBody>
      </p:sp>
    </p:spTree>
    <p:extLst>
      <p:ext uri="{BB962C8B-B14F-4D97-AF65-F5344CB8AC3E}">
        <p14:creationId xmlns:p14="http://schemas.microsoft.com/office/powerpoint/2010/main" val="1005982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69" y="746097"/>
            <a:ext cx="8383084" cy="759891"/>
          </a:xfrm>
        </p:spPr>
        <p:txBody>
          <a:bodyPr/>
          <a:lstStyle/>
          <a:p>
            <a:r>
              <a:rPr lang="en-US" dirty="0"/>
              <a:t>INSTRUCTIONS FOR COPYING DATA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2054789" y="1391149"/>
            <a:ext cx="5015196" cy="1246670"/>
            <a:chOff x="590947" y="1953411"/>
            <a:chExt cx="5015196" cy="1246670"/>
          </a:xfrm>
        </p:grpSpPr>
        <p:sp>
          <p:nvSpPr>
            <p:cNvPr id="27" name="Down Arrow 26"/>
            <p:cNvSpPr/>
            <p:nvPr/>
          </p:nvSpPr>
          <p:spPr>
            <a:xfrm>
              <a:off x="4343400" y="2537106"/>
              <a:ext cx="228600" cy="66297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43943" y="1953411"/>
              <a:ext cx="2362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90947" y="2522973"/>
              <a:ext cx="3647152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/>
              <a:r>
                <a:rPr lang="en-US" i="1" dirty="0">
                  <a:solidFill>
                    <a:srgbClr val="0070C0"/>
                  </a:solidFill>
                </a:rPr>
                <a:t>“Immediate” Constant to Register:</a:t>
              </a:r>
            </a:p>
            <a:p>
              <a:pPr marL="0" lvl="1"/>
              <a:r>
                <a:rPr lang="en-US" sz="1600" dirty="0"/>
                <a:t>MOV, MVN, MOVW, MOVT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401384" y="3657282"/>
            <a:ext cx="5173211" cy="1600518"/>
            <a:chOff x="4877383" y="3657282"/>
            <a:chExt cx="5173211" cy="1600518"/>
          </a:xfrm>
        </p:grpSpPr>
        <p:sp>
          <p:nvSpPr>
            <p:cNvPr id="26" name="Up Arrow 25"/>
            <p:cNvSpPr/>
            <p:nvPr/>
          </p:nvSpPr>
          <p:spPr>
            <a:xfrm>
              <a:off x="5105400" y="3657282"/>
              <a:ext cx="228600" cy="1600518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77383" y="4061413"/>
              <a:ext cx="517321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sz="2000" i="1" dirty="0">
                  <a:solidFill>
                    <a:srgbClr val="0070C0"/>
                  </a:solidFill>
                </a:rPr>
                <a:t>“Load Register” Instructions:</a:t>
              </a:r>
            </a:p>
            <a:p>
              <a:pPr lvl="1"/>
              <a:r>
                <a:rPr lang="en-US" dirty="0"/>
                <a:t>LDR, LDRD, LDRB, LDRH, LDRSB, LDRSH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315201" y="2489738"/>
            <a:ext cx="3116559" cy="970665"/>
            <a:chOff x="5580887" y="2799972"/>
            <a:chExt cx="3116559" cy="970665"/>
          </a:xfrm>
        </p:grpSpPr>
        <p:sp>
          <p:nvSpPr>
            <p:cNvPr id="24" name="Curved Left Arrow 23"/>
            <p:cNvSpPr/>
            <p:nvPr/>
          </p:nvSpPr>
          <p:spPr>
            <a:xfrm>
              <a:off x="5589074" y="3313437"/>
              <a:ext cx="533400" cy="457200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80887" y="2799972"/>
              <a:ext cx="3116559" cy="40011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</a:rPr>
                <a:t>Register to Register: </a:t>
              </a:r>
              <a:r>
                <a:rPr lang="en-US" dirty="0"/>
                <a:t>MOV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359028" y="3657282"/>
            <a:ext cx="3974972" cy="1600518"/>
            <a:chOff x="-164972" y="3657282"/>
            <a:chExt cx="3974972" cy="1600518"/>
          </a:xfrm>
        </p:grpSpPr>
        <p:sp>
          <p:nvSpPr>
            <p:cNvPr id="25" name="Down Arrow 24"/>
            <p:cNvSpPr/>
            <p:nvPr/>
          </p:nvSpPr>
          <p:spPr>
            <a:xfrm>
              <a:off x="3581400" y="3657282"/>
              <a:ext cx="228600" cy="160051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-164972" y="4118987"/>
              <a:ext cx="3847528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lvl="1"/>
              <a:r>
                <a:rPr lang="en-US" sz="2000" i="1" dirty="0">
                  <a:solidFill>
                    <a:srgbClr val="0070C0"/>
                  </a:solidFill>
                </a:rPr>
                <a:t>“Store Register” Instructions:</a:t>
              </a:r>
            </a:p>
            <a:p>
              <a:pPr marL="400050" lvl="1"/>
              <a:r>
                <a:rPr lang="en-US" dirty="0"/>
                <a:t>STR, STRD, STRB, STRH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4800600" y="5257800"/>
            <a:ext cx="2362200" cy="13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6670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Registers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1" y="2489737"/>
            <a:ext cx="3116559" cy="4001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8718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16750"/>
            <a:ext cx="5732989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 REGISTER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Move Instruction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0" y="2438401"/>
            <a:ext cx="3352800" cy="256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MOV	R0,R1</a:t>
            </a:r>
            <a:endParaRPr lang="en-US" sz="2400" b="1" dirty="0">
              <a:solidFill>
                <a:srgbClr val="0070C0"/>
              </a:solidFill>
              <a:latin typeface="Arial"/>
              <a:ea typeface="Arial"/>
              <a:cs typeface="Calibri"/>
            </a:endParaRPr>
          </a:p>
          <a:p>
            <a:endParaRPr lang="en-US" dirty="0"/>
          </a:p>
          <a:p>
            <a:endParaRPr lang="en-US" dirty="0"/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Copies all 32 bits 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of the value held 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in register R1 into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the register R0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  <a:p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6096000" y="2438400"/>
            <a:ext cx="3185716" cy="2392678"/>
            <a:chOff x="4571444" y="2209800"/>
            <a:chExt cx="3185716" cy="2392678"/>
          </a:xfrm>
        </p:grpSpPr>
        <p:sp>
          <p:nvSpPr>
            <p:cNvPr id="6" name="Rectangle 5"/>
            <p:cNvSpPr/>
            <p:nvPr/>
          </p:nvSpPr>
          <p:spPr>
            <a:xfrm>
              <a:off x="4571445" y="3980926"/>
              <a:ext cx="3185715" cy="62155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" name="Down Arrow 6"/>
            <p:cNvSpPr/>
            <p:nvPr/>
          </p:nvSpPr>
          <p:spPr>
            <a:xfrm>
              <a:off x="5834351" y="3032895"/>
              <a:ext cx="689377" cy="791321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571444" y="2209800"/>
              <a:ext cx="3185715" cy="62155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R1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0893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05E725FF-5835-4986-AD90-0E7C50738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7016" y="749301"/>
            <a:ext cx="3874366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20483" name="Rectangle 1224">
            <a:extLst>
              <a:ext uri="{FF2B5EF4-FFF2-40B4-BE49-F238E27FC236}">
                <a16:creationId xmlns:a16="http://schemas.microsoft.com/office/drawing/2014/main" id="{2B84FC58-A8E8-4F75-B30A-7CB97C4DC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015" y="1517651"/>
            <a:ext cx="10433863" cy="5102303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2500" dirty="0">
                <a:solidFill>
                  <a:schemeClr val="tx1"/>
                </a:solidFill>
              </a:rPr>
              <a:t>“</a:t>
            </a:r>
            <a:r>
              <a:rPr lang="en-US" altLang="ja-JP" sz="2500" dirty="0">
                <a:solidFill>
                  <a:schemeClr val="tx1"/>
                </a:solidFill>
              </a:rPr>
              <a:t>Load/Store</a:t>
            </a:r>
            <a:r>
              <a:rPr lang="en-US" altLang="en-US" sz="2500" dirty="0">
                <a:solidFill>
                  <a:schemeClr val="tx1"/>
                </a:solidFill>
              </a:rPr>
              <a:t>”</a:t>
            </a:r>
            <a:r>
              <a:rPr lang="en-US" altLang="ja-JP" sz="2500" dirty="0">
                <a:solidFill>
                  <a:schemeClr val="tx1"/>
                </a:solidFill>
              </a:rPr>
              <a:t> Architecture</a:t>
            </a:r>
          </a:p>
          <a:p>
            <a:pPr lvl="2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ARM processor must first load data into one of the general-purpose registers before processing it </a:t>
            </a:r>
          </a:p>
          <a:p>
            <a:pPr lvl="2">
              <a:lnSpc>
                <a:spcPct val="80000"/>
              </a:lnSpc>
            </a:pPr>
            <a:endParaRPr lang="en-US" altLang="en-US" sz="2100" dirty="0"/>
          </a:p>
        </p:txBody>
      </p:sp>
      <p:pic>
        <p:nvPicPr>
          <p:cNvPr id="20484" name="Picture 1" descr="Screen Shot 2015-10-17 at 1.37.50 PM.png">
            <a:extLst>
              <a:ext uri="{FF2B5EF4-FFF2-40B4-BE49-F238E27FC236}">
                <a16:creationId xmlns:a16="http://schemas.microsoft.com/office/drawing/2014/main" id="{A3F55008-D24C-43A5-A172-6CF8DA726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676" y="2767681"/>
            <a:ext cx="7819277" cy="3585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4988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968E273-0B9D-47E5-904F-38C62BCFA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4117" y="729864"/>
            <a:ext cx="3942379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22531" name="Rectangle 1224">
            <a:extLst>
              <a:ext uri="{FF2B5EF4-FFF2-40B4-BE49-F238E27FC236}">
                <a16:creationId xmlns:a16="http://schemas.microsoft.com/office/drawing/2014/main" id="{AE3534EF-A6E0-420C-BB47-E5D41168A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1337" y="1615092"/>
            <a:ext cx="10384428" cy="5042647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2500" dirty="0">
                <a:solidFill>
                  <a:schemeClr val="tx1"/>
                </a:solidFill>
              </a:rPr>
              <a:t>“</a:t>
            </a:r>
            <a:r>
              <a:rPr lang="en-US" altLang="ja-JP" sz="2500" dirty="0">
                <a:solidFill>
                  <a:schemeClr val="tx1"/>
                </a:solidFill>
              </a:rPr>
              <a:t>Load/Store</a:t>
            </a:r>
            <a:r>
              <a:rPr lang="en-US" altLang="en-US" sz="2500" dirty="0">
                <a:solidFill>
                  <a:schemeClr val="tx1"/>
                </a:solidFill>
              </a:rPr>
              <a:t>”</a:t>
            </a:r>
            <a:r>
              <a:rPr lang="en-US" altLang="ja-JP" sz="2500" dirty="0">
                <a:solidFill>
                  <a:schemeClr val="tx1"/>
                </a:solidFill>
              </a:rPr>
              <a:t> Architecture</a:t>
            </a:r>
          </a:p>
          <a:p>
            <a:pPr lvl="2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ARM processor must first load data into one of the general-purpose registers before processing it </a:t>
            </a:r>
          </a:p>
          <a:p>
            <a:pPr lvl="2">
              <a:lnSpc>
                <a:spcPct val="80000"/>
              </a:lnSpc>
            </a:pPr>
            <a:endParaRPr lang="en-US" altLang="en-US" sz="2100" dirty="0"/>
          </a:p>
        </p:txBody>
      </p:sp>
      <p:pic>
        <p:nvPicPr>
          <p:cNvPr id="22532" name="Picture 2" descr="Screen Shot 2015-10-17 at 1.44.29 PM.png">
            <a:extLst>
              <a:ext uri="{FF2B5EF4-FFF2-40B4-BE49-F238E27FC236}">
                <a16:creationId xmlns:a16="http://schemas.microsoft.com/office/drawing/2014/main" id="{C7D74DAE-5300-4475-B512-9D78C124AB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584" y="2938950"/>
            <a:ext cx="8442325" cy="3592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104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2FDD418-0323-4248-B590-91AE3FBF3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7016" y="785932"/>
            <a:ext cx="3904594" cy="758825"/>
          </a:xfrm>
        </p:spPr>
        <p:txBody>
          <a:bodyPr/>
          <a:lstStyle/>
          <a:p>
            <a:r>
              <a:rPr lang="en-US" altLang="en-US" dirty="0"/>
              <a:t>Instruction Sets</a:t>
            </a:r>
          </a:p>
        </p:txBody>
      </p:sp>
      <p:sp>
        <p:nvSpPr>
          <p:cNvPr id="24579" name="Rectangle 1224">
            <a:extLst>
              <a:ext uri="{FF2B5EF4-FFF2-40B4-BE49-F238E27FC236}">
                <a16:creationId xmlns:a16="http://schemas.microsoft.com/office/drawing/2014/main" id="{94184DCC-ED38-4E25-B7A4-70687FF3D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016" y="1692315"/>
            <a:ext cx="10358293" cy="4905178"/>
          </a:xfrm>
        </p:spPr>
        <p:txBody>
          <a:bodyPr/>
          <a:lstStyle/>
          <a:p>
            <a:pPr lvl="1">
              <a:lnSpc>
                <a:spcPct val="80000"/>
              </a:lnSpc>
            </a:pPr>
            <a:r>
              <a:rPr lang="en-US" altLang="en-US" sz="2500" dirty="0">
                <a:solidFill>
                  <a:schemeClr val="tx1"/>
                </a:solidFill>
              </a:rPr>
              <a:t>“</a:t>
            </a:r>
            <a:r>
              <a:rPr lang="en-US" altLang="ja-JP" sz="2500" dirty="0">
                <a:solidFill>
                  <a:schemeClr val="tx1"/>
                </a:solidFill>
              </a:rPr>
              <a:t>Load/Store</a:t>
            </a:r>
            <a:r>
              <a:rPr lang="en-US" altLang="en-US" sz="2500" dirty="0">
                <a:solidFill>
                  <a:schemeClr val="tx1"/>
                </a:solidFill>
              </a:rPr>
              <a:t>”</a:t>
            </a:r>
            <a:r>
              <a:rPr lang="en-US" altLang="ja-JP" sz="2500" dirty="0">
                <a:solidFill>
                  <a:schemeClr val="tx1"/>
                </a:solidFill>
              </a:rPr>
              <a:t> Architecture</a:t>
            </a:r>
          </a:p>
          <a:p>
            <a:pPr lvl="2">
              <a:lnSpc>
                <a:spcPct val="80000"/>
              </a:lnSpc>
            </a:pPr>
            <a:r>
              <a:rPr lang="en-US" altLang="en-US" dirty="0">
                <a:solidFill>
                  <a:schemeClr val="tx1"/>
                </a:solidFill>
              </a:rPr>
              <a:t>ARM processor must first load data into one of the general-purpose registers before processing it </a:t>
            </a:r>
          </a:p>
          <a:p>
            <a:pPr lvl="2">
              <a:lnSpc>
                <a:spcPct val="80000"/>
              </a:lnSpc>
            </a:pPr>
            <a:endParaRPr lang="en-US" altLang="en-US" sz="2100" dirty="0"/>
          </a:p>
        </p:txBody>
      </p:sp>
      <p:pic>
        <p:nvPicPr>
          <p:cNvPr id="24580" name="Picture 1" descr="Screen Shot 2015-10-17 at 1.48.58 PM.png">
            <a:extLst>
              <a:ext uri="{FF2B5EF4-FFF2-40B4-BE49-F238E27FC236}">
                <a16:creationId xmlns:a16="http://schemas.microsoft.com/office/drawing/2014/main" id="{A1734CA2-E19D-4F68-B9D7-542228DF6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49" y="3409793"/>
            <a:ext cx="78613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9305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2CB5B5-C562-4A8F-B33D-52C27B0A5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0328AD-1FBA-4882-9663-37501D0543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Storing Registers</a:t>
            </a:r>
          </a:p>
        </p:txBody>
      </p:sp>
    </p:spTree>
    <p:extLst>
      <p:ext uri="{BB962C8B-B14F-4D97-AF65-F5344CB8AC3E}">
        <p14:creationId xmlns:p14="http://schemas.microsoft.com/office/powerpoint/2010/main" val="505238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369" y="753228"/>
            <a:ext cx="8423189" cy="796201"/>
          </a:xfrm>
        </p:spPr>
        <p:txBody>
          <a:bodyPr/>
          <a:lstStyle/>
          <a:p>
            <a:r>
              <a:rPr lang="en-US" dirty="0"/>
              <a:t>INSTRUCTIONS FOR COPYING DATA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835338" y="1383998"/>
            <a:ext cx="5294805" cy="1246670"/>
            <a:chOff x="311338" y="1953411"/>
            <a:chExt cx="5294805" cy="1246670"/>
          </a:xfrm>
        </p:grpSpPr>
        <p:sp>
          <p:nvSpPr>
            <p:cNvPr id="27" name="Down Arrow 26"/>
            <p:cNvSpPr/>
            <p:nvPr/>
          </p:nvSpPr>
          <p:spPr>
            <a:xfrm>
              <a:off x="4343400" y="2537106"/>
              <a:ext cx="228600" cy="66297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243943" y="1953411"/>
              <a:ext cx="2362200" cy="4572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constant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11338" y="2522973"/>
              <a:ext cx="4027064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/>
              <a:r>
                <a:rPr lang="en-US" sz="2000" i="1" dirty="0">
                  <a:solidFill>
                    <a:srgbClr val="0070C0"/>
                  </a:solidFill>
                </a:rPr>
                <a:t>“Immediate” Constant to Register:</a:t>
              </a:r>
            </a:p>
            <a:p>
              <a:pPr marL="0" lvl="1"/>
              <a:r>
                <a:rPr lang="en-US" dirty="0"/>
                <a:t>MOV, MVN, MOVW, MOVT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401384" y="3657282"/>
            <a:ext cx="5173211" cy="1600518"/>
            <a:chOff x="4877383" y="3657282"/>
            <a:chExt cx="5173211" cy="1600518"/>
          </a:xfrm>
        </p:grpSpPr>
        <p:sp>
          <p:nvSpPr>
            <p:cNvPr id="26" name="Up Arrow 25"/>
            <p:cNvSpPr/>
            <p:nvPr/>
          </p:nvSpPr>
          <p:spPr>
            <a:xfrm>
              <a:off x="5105400" y="3657282"/>
              <a:ext cx="228600" cy="1600518"/>
            </a:xfrm>
            <a:prstGeom prst="up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877383" y="4061413"/>
              <a:ext cx="5173211" cy="6771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1"/>
              <a:r>
                <a:rPr lang="en-US" sz="2000" i="1" dirty="0">
                  <a:solidFill>
                    <a:srgbClr val="0070C0"/>
                  </a:solidFill>
                </a:rPr>
                <a:t>“Load Register” Instructions:</a:t>
              </a:r>
            </a:p>
            <a:p>
              <a:pPr lvl="1"/>
              <a:r>
                <a:rPr lang="en-US" dirty="0"/>
                <a:t>LDR, LDRD, LDRB, LDRH, LDRSB, LDRSH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315201" y="2489738"/>
            <a:ext cx="3116559" cy="857310"/>
            <a:chOff x="5580887" y="2799972"/>
            <a:chExt cx="3116559" cy="857310"/>
          </a:xfrm>
        </p:grpSpPr>
        <p:sp>
          <p:nvSpPr>
            <p:cNvPr id="24" name="Curved Left Arrow 23"/>
            <p:cNvSpPr/>
            <p:nvPr/>
          </p:nvSpPr>
          <p:spPr>
            <a:xfrm>
              <a:off x="5657087" y="3200082"/>
              <a:ext cx="533400" cy="457200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580887" y="2799972"/>
              <a:ext cx="311655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i="1" dirty="0">
                  <a:solidFill>
                    <a:srgbClr val="0070C0"/>
                  </a:solidFill>
                </a:rPr>
                <a:t>Register to Register: </a:t>
              </a:r>
              <a:r>
                <a:rPr lang="en-US" dirty="0"/>
                <a:t>MOV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623734" y="3657282"/>
            <a:ext cx="3710266" cy="1600518"/>
            <a:chOff x="99734" y="3657282"/>
            <a:chExt cx="3710266" cy="1600518"/>
          </a:xfrm>
        </p:grpSpPr>
        <p:sp>
          <p:nvSpPr>
            <p:cNvPr id="25" name="Down Arrow 24"/>
            <p:cNvSpPr/>
            <p:nvPr/>
          </p:nvSpPr>
          <p:spPr>
            <a:xfrm>
              <a:off x="3581400" y="3657282"/>
              <a:ext cx="228600" cy="1600518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9734" y="4118987"/>
              <a:ext cx="3443571" cy="67710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none">
              <a:spAutoFit/>
            </a:bodyPr>
            <a:lstStyle/>
            <a:p>
              <a:pPr indent="-57150"/>
              <a:r>
                <a:rPr lang="en-US" sz="2000" i="1" dirty="0">
                  <a:solidFill>
                    <a:srgbClr val="0070C0"/>
                  </a:solidFill>
                </a:rPr>
                <a:t>“Store Register” Instructions:</a:t>
              </a:r>
            </a:p>
            <a:p>
              <a:pPr indent="-57150"/>
              <a:r>
                <a:rPr lang="en-US" dirty="0"/>
                <a:t>STR, STRD, STRB, STRH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4800600" y="5257800"/>
            <a:ext cx="2362200" cy="13987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Main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2667000"/>
            <a:ext cx="2362200" cy="9902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Registers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3734" y="4118256"/>
            <a:ext cx="3443571" cy="6811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2231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1171"/>
            <a:ext cx="7485589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 MEMORY (</a:t>
            </a:r>
            <a:r>
              <a:rPr lang="en-US" dirty="0">
                <a:solidFill>
                  <a:srgbClr val="0070C0"/>
                </a:solidFill>
              </a:rPr>
              <a:t>32-BITS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Store Register to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52537" y="2590179"/>
            <a:ext cx="3733800" cy="2629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STR	R0,[R1]</a:t>
            </a:r>
            <a:endParaRPr lang="en-US" dirty="0"/>
          </a:p>
          <a:p>
            <a:endParaRPr lang="en-US" dirty="0"/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Copies all 32 bits 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of the value held 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in register R0 into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the 32-bit memory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location whose address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is in register R1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6553200" y="2615846"/>
            <a:ext cx="3185716" cy="2392678"/>
            <a:chOff x="4571444" y="2209800"/>
            <a:chExt cx="3185716" cy="2392678"/>
          </a:xfrm>
        </p:grpSpPr>
        <p:sp>
          <p:nvSpPr>
            <p:cNvPr id="7" name="Rectangle 6"/>
            <p:cNvSpPr/>
            <p:nvPr/>
          </p:nvSpPr>
          <p:spPr>
            <a:xfrm>
              <a:off x="4571445" y="3980926"/>
              <a:ext cx="3185715" cy="62155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32-bit word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834351" y="3032895"/>
              <a:ext cx="689377" cy="791321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1444" y="2209800"/>
              <a:ext cx="3185715" cy="621552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38399" y="5357337"/>
            <a:ext cx="3424989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int32_t, uint32_t, </a:t>
            </a:r>
            <a:r>
              <a:rPr lang="en-US" dirty="0"/>
              <a:t>and</a:t>
            </a:r>
            <a:r>
              <a:rPr lang="en-US" b="1" dirty="0"/>
              <a:t> all pointers</a:t>
            </a:r>
          </a:p>
        </p:txBody>
      </p:sp>
    </p:spTree>
    <p:extLst>
      <p:ext uri="{BB962C8B-B14F-4D97-AF65-F5344CB8AC3E}">
        <p14:creationId xmlns:p14="http://schemas.microsoft.com/office/powerpoint/2010/main" val="2152144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4" y="742897"/>
            <a:ext cx="8556400" cy="1144151"/>
          </a:xfrm>
        </p:spPr>
        <p:txBody>
          <a:bodyPr>
            <a:normAutofit/>
          </a:bodyPr>
          <a:lstStyle/>
          <a:p>
            <a:r>
              <a:rPr lang="en-US" dirty="0"/>
              <a:t>REGISTER PAIR</a:t>
            </a:r>
            <a:r>
              <a:rPr lang="en-US" dirty="0">
                <a:sym typeface="Wingdings" panose="05000000000000000000" pitchFamily="2" charset="2"/>
              </a:rPr>
              <a:t> MEMORY (</a:t>
            </a:r>
            <a:r>
              <a:rPr lang="en-US" dirty="0">
                <a:solidFill>
                  <a:srgbClr val="0070C0"/>
                </a:solidFill>
              </a:rPr>
              <a:t>64-BITS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Store Register Pair to </a:t>
            </a:r>
            <a:r>
              <a:rPr lang="en-US" dirty="0" err="1">
                <a:solidFill>
                  <a:srgbClr val="FF0000"/>
                </a:solidFill>
              </a:rPr>
              <a:t>DoubleWord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0" y="1844775"/>
            <a:ext cx="7772400" cy="3841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STR</a:t>
            </a:r>
            <a:r>
              <a:rPr lang="en-US" sz="2400" b="1" dirty="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D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	</a:t>
            </a:r>
            <a:r>
              <a:rPr lang="en-US" sz="2400" b="1" dirty="0">
                <a:solidFill>
                  <a:srgbClr val="92D050"/>
                </a:solidFill>
                <a:latin typeface="Consolas"/>
                <a:ea typeface="Calibri"/>
                <a:cs typeface="Calibri"/>
              </a:rPr>
              <a:t>R0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,</a:t>
            </a:r>
            <a:r>
              <a:rPr lang="en-US" sz="2400" b="1" dirty="0">
                <a:solidFill>
                  <a:srgbClr val="00B0F0"/>
                </a:solidFill>
                <a:latin typeface="Consolas"/>
                <a:ea typeface="Calibri"/>
                <a:cs typeface="Calibri"/>
              </a:rPr>
              <a:t>R1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,[R2]</a:t>
            </a:r>
          </a:p>
          <a:p>
            <a:endParaRPr lang="en-US" dirty="0"/>
          </a:p>
          <a:p>
            <a:endParaRPr lang="en-US" dirty="0"/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Copies the contents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of register R0 into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the </a:t>
            </a:r>
            <a:r>
              <a:rPr lang="en-US" b="1" dirty="0">
                <a:solidFill>
                  <a:srgbClr val="92D050"/>
                </a:solidFill>
                <a:latin typeface="Consolas"/>
                <a:ea typeface="Calibri"/>
                <a:cs typeface="Calibri"/>
              </a:rPr>
              <a:t>lower half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, and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register </a:t>
            </a:r>
            <a:r>
              <a:rPr lang="en-US" b="1" dirty="0">
                <a:solidFill>
                  <a:srgbClr val="00B0F0"/>
                </a:solidFill>
                <a:latin typeface="Consolas"/>
                <a:ea typeface="Calibri"/>
                <a:cs typeface="Calibri"/>
              </a:rPr>
              <a:t>R1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 into the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upper half, of the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</a:t>
            </a:r>
            <a:r>
              <a:rPr lang="en-US" b="1" dirty="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64-bit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 memory location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whose address is in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register R2.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514600" y="5638800"/>
            <a:ext cx="2598821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int64_t </a:t>
            </a:r>
            <a:r>
              <a:rPr lang="en-US" dirty="0"/>
              <a:t>and</a:t>
            </a:r>
            <a:r>
              <a:rPr lang="en-US" b="1" dirty="0"/>
              <a:t> uint64_t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418278" y="1982646"/>
            <a:ext cx="2971800" cy="2825346"/>
            <a:chOff x="0" y="0"/>
            <a:chExt cx="1743954" cy="1504559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525905" cy="280670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18288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Calibri"/>
                  <a:ea typeface="Arial"/>
                </a:rPr>
                <a:t>register R1</a:t>
              </a:r>
              <a:endParaRPr lang="en-US" sz="2000" dirty="0">
                <a:solidFill>
                  <a:srgbClr val="000000"/>
                </a:solidFill>
                <a:latin typeface="Arial"/>
                <a:ea typeface="Arial"/>
              </a:endParaRPr>
            </a:p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Calibri"/>
                  <a:ea typeface="Arial"/>
                </a:rPr>
                <a:t> </a:t>
              </a:r>
              <a:endParaRPr lang="en-US" sz="20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4067" y="984738"/>
              <a:ext cx="1525270" cy="280670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18288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Calibri"/>
                  <a:ea typeface="Arial"/>
                </a:rPr>
                <a:t>Bits 32-63 </a:t>
              </a:r>
              <a:endParaRPr lang="en-US" sz="20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" name="Down Arrow 10"/>
            <p:cNvSpPr/>
            <p:nvPr/>
          </p:nvSpPr>
          <p:spPr>
            <a:xfrm>
              <a:off x="752621" y="569741"/>
              <a:ext cx="329565" cy="357505"/>
            </a:xfrm>
            <a:prstGeom prst="downArrow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36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8049" y="232117"/>
              <a:ext cx="1525905" cy="2806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Arial"/>
                </a:rPr>
                <a:t>register R0</a:t>
              </a:r>
              <a:endParaRPr lang="en-US" sz="200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6027" y="1223889"/>
              <a:ext cx="1525270" cy="28067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3175" cap="flat" cmpd="sng" algn="ctr">
              <a:solidFill>
                <a:sysClr val="windowText" lastClr="000000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18288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Calibri"/>
                  <a:ea typeface="Arial"/>
                </a:rPr>
                <a:t>Bits 0-31 </a:t>
              </a:r>
              <a:endParaRPr lang="en-US" sz="20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875492" y="5613737"/>
            <a:ext cx="4792508" cy="1015663"/>
            <a:chOff x="4495800" y="5442284"/>
            <a:chExt cx="4792508" cy="1015663"/>
          </a:xfrm>
        </p:grpSpPr>
        <p:sp>
          <p:nvSpPr>
            <p:cNvPr id="18" name="TextBox 17"/>
            <p:cNvSpPr txBox="1"/>
            <p:nvPr/>
          </p:nvSpPr>
          <p:spPr>
            <a:xfrm>
              <a:off x="4495800" y="5442284"/>
              <a:ext cx="4792508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lvl="1"/>
              <a:r>
                <a:rPr lang="en-US" dirty="0"/>
                <a:t>The 64-bit operand must be word aligned (located at a mod 4 </a:t>
              </a:r>
              <a:r>
                <a:rPr lang="en-US" dirty="0" err="1"/>
                <a:t>adrs</a:t>
              </a:r>
              <a:r>
                <a:rPr lang="en-US" dirty="0"/>
                <a:t>) or an address fault will occur. </a:t>
              </a:r>
            </a:p>
          </p:txBody>
        </p:sp>
        <p:pic>
          <p:nvPicPr>
            <p:cNvPr id="1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52674" y="555607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13930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45575"/>
            <a:ext cx="7256989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 MEMORY (</a:t>
            </a:r>
            <a:r>
              <a:rPr lang="en-US" dirty="0">
                <a:solidFill>
                  <a:srgbClr val="FF0000"/>
                </a:solidFill>
              </a:rPr>
              <a:t>8-BITS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Store Register to Byte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209800"/>
            <a:ext cx="6858000" cy="26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STR</a:t>
            </a:r>
            <a:r>
              <a:rPr lang="en-US" sz="2400" b="1" dirty="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B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	</a:t>
            </a:r>
            <a:r>
              <a:rPr lang="en-US" sz="2400" b="1" dirty="0">
                <a:solidFill>
                  <a:srgbClr val="00B050"/>
                </a:solidFill>
                <a:latin typeface="Consolas"/>
                <a:ea typeface="Calibri"/>
                <a:cs typeface="Calibri"/>
              </a:rPr>
              <a:t>R0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,[R1]</a:t>
            </a:r>
            <a:endParaRPr lang="en-US" dirty="0"/>
          </a:p>
          <a:p>
            <a:endParaRPr lang="en-US" dirty="0"/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Copies bits 0-7 of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the value held in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register </a:t>
            </a:r>
            <a:r>
              <a:rPr lang="en-US" b="1" dirty="0">
                <a:solidFill>
                  <a:srgbClr val="00B050"/>
                </a:solidFill>
                <a:latin typeface="Consolas"/>
                <a:ea typeface="Calibri"/>
                <a:cs typeface="Calibri"/>
              </a:rPr>
              <a:t>R0</a:t>
            </a: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 into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the 8-bit memory</a:t>
            </a:r>
            <a:endParaRPr lang="en-US" dirty="0">
              <a:solidFill>
                <a:srgbClr val="000000"/>
              </a:solidFill>
              <a:latin typeface="Arial"/>
              <a:ea typeface="Arial"/>
              <a:cs typeface="Calibri"/>
            </a:endParaRP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location whose address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is in register R1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400800" y="2232831"/>
            <a:ext cx="2971800" cy="2392338"/>
            <a:chOff x="0" y="0"/>
            <a:chExt cx="1532255" cy="1062062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1526344" cy="281353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18288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146517" y="780757"/>
              <a:ext cx="385738" cy="281305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ea typeface="Arial"/>
                </a:rPr>
                <a:t>byte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" name="Down Arrow 6"/>
            <p:cNvSpPr/>
            <p:nvPr/>
          </p:nvSpPr>
          <p:spPr>
            <a:xfrm>
              <a:off x="1167618" y="386862"/>
              <a:ext cx="330200" cy="358140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1146517" y="344659"/>
              <a:ext cx="3797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Left Brace 8"/>
            <p:cNvSpPr/>
            <p:nvPr/>
          </p:nvSpPr>
          <p:spPr>
            <a:xfrm rot="16200000">
              <a:off x="464234" y="-112542"/>
              <a:ext cx="161290" cy="1075690"/>
            </a:xfrm>
            <a:prstGeom prst="leftBrace">
              <a:avLst>
                <a:gd name="adj1" fmla="val 8333"/>
                <a:gd name="adj2" fmla="val 49009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517128"/>
              <a:ext cx="1082724" cy="3868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dirty="0">
                  <a:solidFill>
                    <a:srgbClr val="FF0000"/>
                  </a:solidFill>
                  <a:latin typeface="Arial"/>
                  <a:ea typeface="Arial"/>
                </a:rPr>
                <a:t>Register bits 8-31 are not copied. </a:t>
              </a:r>
              <a:endParaRPr lang="en-US" sz="2800" dirty="0">
                <a:solidFill>
                  <a:srgbClr val="FF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438400" y="5410200"/>
            <a:ext cx="3181074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int8_t </a:t>
            </a:r>
            <a:r>
              <a:rPr lang="en-US" dirty="0"/>
              <a:t>and</a:t>
            </a:r>
            <a:r>
              <a:rPr lang="en-US" b="1" dirty="0"/>
              <a:t> uint8_t</a:t>
            </a:r>
          </a:p>
        </p:txBody>
      </p:sp>
    </p:spTree>
    <p:extLst>
      <p:ext uri="{BB962C8B-B14F-4D97-AF65-F5344CB8AC3E}">
        <p14:creationId xmlns:p14="http://schemas.microsoft.com/office/powerpoint/2010/main" val="2476981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7" y="745911"/>
            <a:ext cx="7519632" cy="1144151"/>
          </a:xfrm>
        </p:spPr>
        <p:txBody>
          <a:bodyPr>
            <a:normAutofit/>
          </a:bodyPr>
          <a:lstStyle/>
          <a:p>
            <a:r>
              <a:rPr lang="en-US" dirty="0"/>
              <a:t>REGISTER </a:t>
            </a:r>
            <a:r>
              <a:rPr lang="en-US" dirty="0">
                <a:sym typeface="Wingdings" panose="05000000000000000000" pitchFamily="2" charset="2"/>
              </a:rPr>
              <a:t> MEMORY (</a:t>
            </a:r>
            <a:r>
              <a:rPr lang="en-US" dirty="0">
                <a:solidFill>
                  <a:srgbClr val="FF0000"/>
                </a:solidFill>
              </a:rPr>
              <a:t>16-BITS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Store Register to </a:t>
            </a:r>
            <a:r>
              <a:rPr lang="en-US" dirty="0" err="1"/>
              <a:t>HalfWord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286000" y="2209800"/>
            <a:ext cx="6705600" cy="3245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STR</a:t>
            </a:r>
            <a:r>
              <a:rPr lang="en-US" sz="2400" b="1" dirty="0">
                <a:solidFill>
                  <a:srgbClr val="FF0000"/>
                </a:solidFill>
                <a:latin typeface="Consolas"/>
                <a:ea typeface="Calibri"/>
                <a:cs typeface="Calibri"/>
              </a:rPr>
              <a:t>H</a:t>
            </a:r>
            <a:r>
              <a:rPr lang="en-US" sz="2400" b="1" dirty="0">
                <a:solidFill>
                  <a:srgbClr val="0070C0"/>
                </a:solidFill>
                <a:latin typeface="Consolas"/>
                <a:ea typeface="Calibri"/>
                <a:cs typeface="Calibri"/>
              </a:rPr>
              <a:t>	R0,[R1]</a:t>
            </a:r>
            <a:endParaRPr lang="en-US" dirty="0"/>
          </a:p>
          <a:p>
            <a:endParaRPr lang="en-US" dirty="0"/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Copies bits 0-15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of the value held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in register R0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into the 16-bit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memory location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whose address is</a:t>
            </a:r>
          </a:p>
          <a:p>
            <a:pPr>
              <a:lnSpc>
                <a:spcPct val="115000"/>
              </a:lnSpc>
              <a:tabLst>
                <a:tab pos="342900" algn="l"/>
                <a:tab pos="1600200" algn="l"/>
              </a:tabLst>
            </a:pPr>
            <a:r>
              <a:rPr lang="en-US" dirty="0">
                <a:solidFill>
                  <a:srgbClr val="000000"/>
                </a:solidFill>
                <a:latin typeface="Consolas"/>
                <a:ea typeface="Calibri"/>
                <a:cs typeface="Calibri"/>
              </a:rPr>
              <a:t>// in register R1.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00800" y="2362200"/>
            <a:ext cx="3276600" cy="2620966"/>
            <a:chOff x="0" y="0"/>
            <a:chExt cx="1716015" cy="1067117"/>
          </a:xfrm>
        </p:grpSpPr>
        <p:sp>
          <p:nvSpPr>
            <p:cNvPr id="5" name="Rectangle 4"/>
            <p:cNvSpPr/>
            <p:nvPr/>
          </p:nvSpPr>
          <p:spPr>
            <a:xfrm>
              <a:off x="185737" y="0"/>
              <a:ext cx="1526344" cy="281353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2743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800" dirty="0">
                  <a:solidFill>
                    <a:srgbClr val="000000"/>
                  </a:solidFill>
                  <a:ea typeface="Arial"/>
                </a:rPr>
                <a:t>register R0</a:t>
              </a:r>
              <a:endParaRPr lang="en-US" sz="2800" dirty="0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" name="Down Arrow 5"/>
            <p:cNvSpPr/>
            <p:nvPr/>
          </p:nvSpPr>
          <p:spPr>
            <a:xfrm>
              <a:off x="1209675" y="400050"/>
              <a:ext cx="330200" cy="358140"/>
            </a:xfrm>
            <a:prstGeom prst="downArrow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sp>
          <p:nvSpPr>
            <p:cNvPr id="7" name="Left Brace 6"/>
            <p:cNvSpPr/>
            <p:nvPr/>
          </p:nvSpPr>
          <p:spPr>
            <a:xfrm rot="16200000">
              <a:off x="481012" y="52387"/>
              <a:ext cx="161290" cy="751840"/>
            </a:xfrm>
            <a:prstGeom prst="leftBrace">
              <a:avLst>
                <a:gd name="adj1" fmla="val 8333"/>
                <a:gd name="adj2" fmla="val 49009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4400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971550" y="347662"/>
              <a:ext cx="7378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0" y="495300"/>
              <a:ext cx="1082724" cy="3867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dirty="0">
                  <a:solidFill>
                    <a:srgbClr val="FF0000"/>
                  </a:solidFill>
                  <a:latin typeface="Arial"/>
                  <a:ea typeface="Arial"/>
                </a:rPr>
                <a:t>Register bits 16-31 are not copied. </a:t>
              </a:r>
              <a:endParaRPr lang="en-US" sz="2800" dirty="0">
                <a:solidFill>
                  <a:srgbClr val="FF0000"/>
                </a:solidFill>
                <a:latin typeface="Arial"/>
                <a:ea typeface="Arial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971550" y="785812"/>
              <a:ext cx="744465" cy="281305"/>
            </a:xfrm>
            <a:prstGeom prst="rect">
              <a:avLst/>
            </a:prstGeom>
            <a:solidFill>
              <a:schemeClr val="bg2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solidFill>
                    <a:srgbClr val="000000"/>
                  </a:solidFill>
                  <a:latin typeface="Arial"/>
                  <a:ea typeface="Arial"/>
                </a:rPr>
                <a:t>Half word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438400" y="5486400"/>
            <a:ext cx="3181074" cy="73866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0" lvl="1"/>
            <a:r>
              <a:rPr lang="en-US" dirty="0"/>
              <a:t>Used with data of type </a:t>
            </a:r>
            <a:r>
              <a:rPr lang="en-US" b="1" dirty="0"/>
              <a:t>int16_t </a:t>
            </a:r>
            <a:r>
              <a:rPr lang="en-US" dirty="0"/>
              <a:t>and</a:t>
            </a:r>
            <a:r>
              <a:rPr lang="en-US" b="1" dirty="0"/>
              <a:t> uint16_t</a:t>
            </a:r>
          </a:p>
        </p:txBody>
      </p:sp>
    </p:spTree>
    <p:extLst>
      <p:ext uri="{BB962C8B-B14F-4D97-AF65-F5344CB8AC3E}">
        <p14:creationId xmlns:p14="http://schemas.microsoft.com/office/powerpoint/2010/main" val="3948094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2506" y="739554"/>
            <a:ext cx="9936020" cy="1144151"/>
          </a:xfrm>
        </p:spPr>
        <p:txBody>
          <a:bodyPr>
            <a:normAutofit/>
          </a:bodyPr>
          <a:lstStyle/>
          <a:p>
            <a:r>
              <a:rPr lang="en-US" dirty="0"/>
              <a:t>Y </a:t>
            </a:r>
            <a:r>
              <a:rPr lang="en-US" dirty="0">
                <a:sym typeface="Wingdings" panose="05000000000000000000" pitchFamily="2" charset="2"/>
              </a:rPr>
              <a:t>= X; (32 bits)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Common Coding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Mistake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9313" y="2205618"/>
            <a:ext cx="2770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73088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// Assume R2=&amp;x, R3=&amp;y</a:t>
            </a:r>
          </a:p>
        </p:txBody>
      </p:sp>
      <p:cxnSp>
        <p:nvCxnSpPr>
          <p:cNvPr id="54" name="Curved Connector 53"/>
          <p:cNvCxnSpPr>
            <a:stCxn id="65" idx="2"/>
            <a:endCxn id="59" idx="0"/>
          </p:cNvCxnSpPr>
          <p:nvPr/>
        </p:nvCxnSpPr>
        <p:spPr>
          <a:xfrm rot="5400000" flipH="1" flipV="1">
            <a:off x="5845060" y="4384988"/>
            <a:ext cx="37393" cy="1521683"/>
          </a:xfrm>
          <a:prstGeom prst="curvedConnector5">
            <a:avLst>
              <a:gd name="adj1" fmla="val 95997"/>
              <a:gd name="adj2" fmla="val -655"/>
              <a:gd name="adj3" fmla="val 1499524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69"/>
          <p:cNvCxnSpPr>
            <a:stCxn id="23" idx="2"/>
            <a:endCxn id="55" idx="0"/>
          </p:cNvCxnSpPr>
          <p:nvPr/>
        </p:nvCxnSpPr>
        <p:spPr>
          <a:xfrm rot="5400000">
            <a:off x="7801595" y="2280087"/>
            <a:ext cx="687658" cy="3041650"/>
          </a:xfrm>
          <a:prstGeom prst="curvedConnector3">
            <a:avLst/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359196" y="5613048"/>
            <a:ext cx="6581519" cy="1015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The second LDR instruction doesn’t </a:t>
            </a:r>
            <a:r>
              <a:rPr lang="en-US" b="1" dirty="0"/>
              <a:t>move</a:t>
            </a:r>
            <a:r>
              <a:rPr lang="en-US" dirty="0"/>
              <a:t> Y into R1, it merely makes a </a:t>
            </a:r>
            <a:r>
              <a:rPr lang="en-US" b="1" dirty="0">
                <a:solidFill>
                  <a:srgbClr val="FF0000"/>
                </a:solidFill>
              </a:rPr>
              <a:t>copy</a:t>
            </a:r>
            <a:r>
              <a:rPr lang="en-US" dirty="0"/>
              <a:t> of its value. Thus, the MOV doesn’t change Y, it only changes the copy in R1.</a:t>
            </a:r>
          </a:p>
        </p:txBody>
      </p:sp>
      <p:pic>
        <p:nvPicPr>
          <p:cNvPr id="72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6071" y="5701779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1CA1D88-975E-4CB1-82B5-6BFB75A7094F}"/>
              </a:ext>
            </a:extLst>
          </p:cNvPr>
          <p:cNvGrpSpPr/>
          <p:nvPr/>
        </p:nvGrpSpPr>
        <p:grpSpPr>
          <a:xfrm>
            <a:off x="2095401" y="4078349"/>
            <a:ext cx="1828800" cy="338554"/>
            <a:chOff x="609600" y="3429000"/>
            <a:chExt cx="1828800" cy="338554"/>
          </a:xfrm>
        </p:grpSpPr>
        <p:sp>
          <p:nvSpPr>
            <p:cNvPr id="42" name="TextBox 41"/>
            <p:cNvSpPr txBox="1"/>
            <p:nvPr/>
          </p:nvSpPr>
          <p:spPr>
            <a:xfrm>
              <a:off x="609600" y="3429000"/>
              <a:ext cx="1474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573088" algn="l"/>
                </a:tabLst>
              </a:pPr>
              <a:r>
                <a:rPr lang="en-US" sz="1600" b="1" dirty="0">
                  <a:solidFill>
                    <a:srgbClr val="FF0000"/>
                  </a:solidFill>
                </a:rPr>
                <a:t>LDR	R1,[R3]</a:t>
              </a:r>
            </a:p>
          </p:txBody>
        </p:sp>
        <p:sp>
          <p:nvSpPr>
            <p:cNvPr id="74" name="Right Arrow 73"/>
            <p:cNvSpPr/>
            <p:nvPr/>
          </p:nvSpPr>
          <p:spPr>
            <a:xfrm>
              <a:off x="2057400" y="3518726"/>
              <a:ext cx="381000" cy="21507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585A55F-ECDC-4A3C-A32B-2DAADB1DA1D2}"/>
              </a:ext>
            </a:extLst>
          </p:cNvPr>
          <p:cNvGrpSpPr/>
          <p:nvPr/>
        </p:nvGrpSpPr>
        <p:grpSpPr>
          <a:xfrm>
            <a:off x="2083972" y="5062600"/>
            <a:ext cx="1828799" cy="369332"/>
            <a:chOff x="609601" y="4419600"/>
            <a:chExt cx="1828799" cy="369332"/>
          </a:xfrm>
        </p:grpSpPr>
        <p:sp>
          <p:nvSpPr>
            <p:cNvPr id="43" name="TextBox 42"/>
            <p:cNvSpPr txBox="1"/>
            <p:nvPr/>
          </p:nvSpPr>
          <p:spPr>
            <a:xfrm>
              <a:off x="609601" y="4419600"/>
              <a:ext cx="1474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573088" algn="l"/>
                </a:tabLst>
              </a:pPr>
              <a:r>
                <a:rPr lang="en-US" b="1" dirty="0">
                  <a:solidFill>
                    <a:srgbClr val="FF0000"/>
                  </a:solidFill>
                </a:rPr>
                <a:t>MOV	R1,R0</a:t>
              </a:r>
            </a:p>
          </p:txBody>
        </p:sp>
        <p:sp>
          <p:nvSpPr>
            <p:cNvPr id="75" name="Right Arrow 74"/>
            <p:cNvSpPr/>
            <p:nvPr/>
          </p:nvSpPr>
          <p:spPr>
            <a:xfrm>
              <a:off x="2057400" y="4509326"/>
              <a:ext cx="381000" cy="21507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359197" y="1889588"/>
            <a:ext cx="2989302" cy="669822"/>
            <a:chOff x="2835197" y="1709105"/>
            <a:chExt cx="2989302" cy="669822"/>
          </a:xfrm>
        </p:grpSpPr>
        <p:sp>
          <p:nvSpPr>
            <p:cNvPr id="36" name="TextBox 35"/>
            <p:cNvSpPr txBox="1"/>
            <p:nvPr/>
          </p:nvSpPr>
          <p:spPr>
            <a:xfrm>
              <a:off x="4370349" y="1709105"/>
              <a:ext cx="1447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Register R1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846349" y="1721745"/>
              <a:ext cx="1447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Register R0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35197" y="2074127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376699" y="2074127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?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7418350" y="1888099"/>
            <a:ext cx="2977377" cy="682460"/>
            <a:chOff x="5894349" y="1707616"/>
            <a:chExt cx="2977377" cy="682460"/>
          </a:xfrm>
        </p:grpSpPr>
        <p:sp>
          <p:nvSpPr>
            <p:cNvPr id="37" name="TextBox 36"/>
            <p:cNvSpPr txBox="1"/>
            <p:nvPr/>
          </p:nvSpPr>
          <p:spPr>
            <a:xfrm>
              <a:off x="5894349" y="1707616"/>
              <a:ext cx="1447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x (in memory)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418349" y="1730659"/>
              <a:ext cx="1447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y (in memory)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894349" y="2085276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423926" y="2074127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2000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4372053" y="3144847"/>
            <a:ext cx="6018097" cy="312237"/>
            <a:chOff x="2848052" y="2964363"/>
            <a:chExt cx="6018097" cy="312237"/>
          </a:xfrm>
        </p:grpSpPr>
        <p:sp>
          <p:nvSpPr>
            <p:cNvPr id="23" name="Rectangle 22"/>
            <p:cNvSpPr/>
            <p:nvPr/>
          </p:nvSpPr>
          <p:spPr>
            <a:xfrm>
              <a:off x="7418349" y="2971800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2000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70349" y="2971800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5897524" y="2971800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848052" y="2964363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</p:grpSp>
      <p:cxnSp>
        <p:nvCxnSpPr>
          <p:cNvPr id="90" name="Curved Connector 89"/>
          <p:cNvCxnSpPr>
            <a:stCxn id="17" idx="2"/>
            <a:endCxn id="86" idx="0"/>
          </p:cNvCxnSpPr>
          <p:nvPr/>
        </p:nvCxnSpPr>
        <p:spPr>
          <a:xfrm rot="5400000">
            <a:off x="6331959" y="1334555"/>
            <a:ext cx="574287" cy="3046297"/>
          </a:xfrm>
          <a:prstGeom prst="curvedConnector3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/>
          <p:cNvGrpSpPr/>
          <p:nvPr/>
        </p:nvGrpSpPr>
        <p:grpSpPr>
          <a:xfrm>
            <a:off x="4381886" y="4142884"/>
            <a:ext cx="6008264" cy="308517"/>
            <a:chOff x="2857886" y="3962400"/>
            <a:chExt cx="6008264" cy="308517"/>
          </a:xfrm>
        </p:grpSpPr>
        <p:sp>
          <p:nvSpPr>
            <p:cNvPr id="55" name="Rectangle 54"/>
            <p:cNvSpPr/>
            <p:nvPr/>
          </p:nvSpPr>
          <p:spPr>
            <a:xfrm>
              <a:off x="4376699" y="3964258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2000</a:t>
              </a: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7418350" y="3962400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2000</a:t>
              </a: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857886" y="3962400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5902713" y="3966117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</p:grpSp>
      <p:grpSp>
        <p:nvGrpSpPr>
          <p:cNvPr id="97" name="Group 96"/>
          <p:cNvGrpSpPr/>
          <p:nvPr/>
        </p:nvGrpSpPr>
        <p:grpSpPr>
          <a:xfrm>
            <a:off x="4370348" y="5127133"/>
            <a:ext cx="6019802" cy="311151"/>
            <a:chOff x="2846348" y="4946649"/>
            <a:chExt cx="6019802" cy="311151"/>
          </a:xfrm>
        </p:grpSpPr>
        <p:sp>
          <p:nvSpPr>
            <p:cNvPr id="59" name="Rectangle 58"/>
            <p:cNvSpPr/>
            <p:nvPr/>
          </p:nvSpPr>
          <p:spPr>
            <a:xfrm>
              <a:off x="4376699" y="4946649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846348" y="4953000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418350" y="4946649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2000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5902713" y="4946649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</p:grpSp>
      <p:sp>
        <p:nvSpPr>
          <p:cNvPr id="7" name="Curved Down Arrow 6"/>
          <p:cNvSpPr/>
          <p:nvPr/>
        </p:nvSpPr>
        <p:spPr>
          <a:xfrm>
            <a:off x="8305800" y="1628283"/>
            <a:ext cx="1219200" cy="28285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545AE6-EE17-483E-89F0-37D804930788}"/>
              </a:ext>
            </a:extLst>
          </p:cNvPr>
          <p:cNvGrpSpPr/>
          <p:nvPr/>
        </p:nvGrpSpPr>
        <p:grpSpPr>
          <a:xfrm>
            <a:off x="2095402" y="3112580"/>
            <a:ext cx="1866999" cy="338554"/>
            <a:chOff x="571401" y="2492553"/>
            <a:chExt cx="1866999" cy="338554"/>
          </a:xfrm>
        </p:grpSpPr>
        <p:sp>
          <p:nvSpPr>
            <p:cNvPr id="73" name="Right Arrow 72"/>
            <p:cNvSpPr/>
            <p:nvPr/>
          </p:nvSpPr>
          <p:spPr>
            <a:xfrm>
              <a:off x="2057400" y="2590800"/>
              <a:ext cx="381000" cy="21507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A167FCE-B188-4287-9FFF-3AA6E8EFAB03}"/>
                </a:ext>
              </a:extLst>
            </p:cNvPr>
            <p:cNvSpPr txBox="1"/>
            <p:nvPr/>
          </p:nvSpPr>
          <p:spPr>
            <a:xfrm>
              <a:off x="571401" y="2492553"/>
              <a:ext cx="14747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573088" algn="l"/>
                </a:tabLst>
              </a:pPr>
              <a:r>
                <a:rPr lang="en-US" sz="1600" b="1" dirty="0">
                  <a:solidFill>
                    <a:srgbClr val="FF0000"/>
                  </a:solidFill>
                </a:rPr>
                <a:t>LDR	R0,[R2]</a:t>
              </a:r>
            </a:p>
          </p:txBody>
        </p:sp>
      </p:grpSp>
      <p:cxnSp>
        <p:nvCxnSpPr>
          <p:cNvPr id="10" name="Straight Connector 9"/>
          <p:cNvCxnSpPr/>
          <p:nvPr/>
        </p:nvCxnSpPr>
        <p:spPr>
          <a:xfrm>
            <a:off x="7386284" y="1685217"/>
            <a:ext cx="0" cy="3927831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78695" y="474865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changed here!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4349" y="5125562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8" name="Rectangle 47"/>
          <p:cNvSpPr/>
          <p:nvPr/>
        </p:nvSpPr>
        <p:spPr>
          <a:xfrm>
            <a:off x="4381886" y="4154239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49" name="Rectangle 48"/>
          <p:cNvSpPr/>
          <p:nvPr/>
        </p:nvSpPr>
        <p:spPr>
          <a:xfrm>
            <a:off x="7444065" y="2254755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0" name="Rectangle 49"/>
          <p:cNvSpPr/>
          <p:nvPr/>
        </p:nvSpPr>
        <p:spPr>
          <a:xfrm>
            <a:off x="4402216" y="3129602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1" name="Rectangle 50"/>
          <p:cNvSpPr/>
          <p:nvPr/>
        </p:nvSpPr>
        <p:spPr>
          <a:xfrm>
            <a:off x="8949540" y="2254755"/>
            <a:ext cx="1454150" cy="3045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2" name="Rectangle 51"/>
          <p:cNvSpPr/>
          <p:nvPr/>
        </p:nvSpPr>
        <p:spPr>
          <a:xfrm>
            <a:off x="8936000" y="3144992"/>
            <a:ext cx="1454150" cy="3045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3" name="Rectangle 52"/>
          <p:cNvSpPr/>
          <p:nvPr/>
        </p:nvSpPr>
        <p:spPr>
          <a:xfrm>
            <a:off x="5920697" y="4143171"/>
            <a:ext cx="1454150" cy="3045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6" name="Rectangle 55"/>
          <p:cNvSpPr/>
          <p:nvPr/>
        </p:nvSpPr>
        <p:spPr>
          <a:xfrm>
            <a:off x="8959223" y="4152322"/>
            <a:ext cx="1454150" cy="3045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7" name="Rectangle 56"/>
          <p:cNvSpPr/>
          <p:nvPr/>
        </p:nvSpPr>
        <p:spPr>
          <a:xfrm>
            <a:off x="8942350" y="5127278"/>
            <a:ext cx="1454150" cy="30451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60" name="TextBox 59"/>
          <p:cNvSpPr txBox="1"/>
          <p:nvPr/>
        </p:nvSpPr>
        <p:spPr>
          <a:xfrm>
            <a:off x="4379016" y="2817366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64113" y="3853619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9016" y="4856749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19592" y="2817366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11076" y="3833533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80704" y="4815059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R1</a:t>
            </a:r>
          </a:p>
        </p:txBody>
      </p:sp>
    </p:spTree>
    <p:extLst>
      <p:ext uri="{BB962C8B-B14F-4D97-AF65-F5344CB8AC3E}">
        <p14:creationId xmlns:p14="http://schemas.microsoft.com/office/powerpoint/2010/main" val="22091306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3" y="729139"/>
            <a:ext cx="10109167" cy="1144151"/>
          </a:xfrm>
        </p:spPr>
        <p:txBody>
          <a:bodyPr>
            <a:normAutofit/>
          </a:bodyPr>
          <a:lstStyle/>
          <a:p>
            <a:r>
              <a:rPr lang="en-US" dirty="0"/>
              <a:t>Y </a:t>
            </a:r>
            <a:r>
              <a:rPr lang="en-US" dirty="0">
                <a:sym typeface="Wingdings" panose="05000000000000000000" pitchFamily="2" charset="2"/>
              </a:rPr>
              <a:t>= X; (32 bits)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Correct Coding 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4066" y="2773559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Register R0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7762" y="2778773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x (in memory)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19279" y="2767794"/>
            <a:ext cx="144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y (in memory)</a:t>
            </a:r>
          </a:p>
        </p:txBody>
      </p:sp>
      <p:grpSp>
        <p:nvGrpSpPr>
          <p:cNvPr id="65" name="Group 64"/>
          <p:cNvGrpSpPr/>
          <p:nvPr/>
        </p:nvGrpSpPr>
        <p:grpSpPr>
          <a:xfrm>
            <a:off x="4370349" y="3072593"/>
            <a:ext cx="4584080" cy="313542"/>
            <a:chOff x="2846349" y="2057399"/>
            <a:chExt cx="4584080" cy="313542"/>
          </a:xfrm>
        </p:grpSpPr>
        <p:sp>
          <p:nvSpPr>
            <p:cNvPr id="14" name="Rectangle 13"/>
            <p:cNvSpPr/>
            <p:nvPr/>
          </p:nvSpPr>
          <p:spPr>
            <a:xfrm>
              <a:off x="2846349" y="2057400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0815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41903" y="2057399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982629" y="2066141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2000</a:t>
              </a:r>
            </a:p>
          </p:txBody>
        </p:sp>
      </p:grpSp>
      <p:cxnSp>
        <p:nvCxnSpPr>
          <p:cNvPr id="50" name="Curved Connector 49"/>
          <p:cNvCxnSpPr>
            <a:stCxn id="17" idx="2"/>
            <a:endCxn id="44" idx="0"/>
          </p:cNvCxnSpPr>
          <p:nvPr/>
        </p:nvCxnSpPr>
        <p:spPr>
          <a:xfrm rot="5400000">
            <a:off x="5587226" y="2884416"/>
            <a:ext cx="609600" cy="1595554"/>
          </a:xfrm>
          <a:prstGeom prst="curvedConnector3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3AC65422-BB25-410C-989A-03D396BA6C77}"/>
              </a:ext>
            </a:extLst>
          </p:cNvPr>
          <p:cNvGrpSpPr/>
          <p:nvPr/>
        </p:nvGrpSpPr>
        <p:grpSpPr>
          <a:xfrm>
            <a:off x="2133602" y="3927612"/>
            <a:ext cx="1828799" cy="338554"/>
            <a:chOff x="609601" y="2766536"/>
            <a:chExt cx="1828799" cy="338554"/>
          </a:xfrm>
        </p:grpSpPr>
        <p:sp>
          <p:nvSpPr>
            <p:cNvPr id="41" name="TextBox 40"/>
            <p:cNvSpPr txBox="1"/>
            <p:nvPr/>
          </p:nvSpPr>
          <p:spPr>
            <a:xfrm>
              <a:off x="609601" y="2766536"/>
              <a:ext cx="14747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573088" algn="l"/>
                </a:tabLst>
              </a:pPr>
              <a:r>
                <a:rPr lang="en-US" sz="1600" b="1" dirty="0">
                  <a:solidFill>
                    <a:srgbClr val="FF0000"/>
                  </a:solidFill>
                </a:rPr>
                <a:t>LDR	R0,[R2]</a:t>
              </a:r>
            </a:p>
          </p:txBody>
        </p:sp>
        <p:sp>
          <p:nvSpPr>
            <p:cNvPr id="73" name="Right Arrow 72"/>
            <p:cNvSpPr/>
            <p:nvPr/>
          </p:nvSpPr>
          <p:spPr>
            <a:xfrm>
              <a:off x="2057400" y="2842736"/>
              <a:ext cx="381000" cy="21507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02B55D2-82B0-4B3B-89DF-4F898EEDD0F9}"/>
              </a:ext>
            </a:extLst>
          </p:cNvPr>
          <p:cNvGrpSpPr/>
          <p:nvPr/>
        </p:nvGrpSpPr>
        <p:grpSpPr>
          <a:xfrm>
            <a:off x="2133600" y="4913061"/>
            <a:ext cx="1828800" cy="338554"/>
            <a:chOff x="609600" y="3680936"/>
            <a:chExt cx="1828800" cy="338554"/>
          </a:xfrm>
        </p:grpSpPr>
        <p:sp>
          <p:nvSpPr>
            <p:cNvPr id="42" name="TextBox 41"/>
            <p:cNvSpPr txBox="1"/>
            <p:nvPr/>
          </p:nvSpPr>
          <p:spPr>
            <a:xfrm>
              <a:off x="609600" y="3680936"/>
              <a:ext cx="14747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573088" algn="l"/>
                </a:tabLst>
              </a:pPr>
              <a:r>
                <a:rPr lang="en-US" sz="1600" b="1" dirty="0">
                  <a:solidFill>
                    <a:srgbClr val="FF0000"/>
                  </a:solidFill>
                </a:rPr>
                <a:t>STR	R0,[R3]</a:t>
              </a:r>
            </a:p>
          </p:txBody>
        </p:sp>
        <p:sp>
          <p:nvSpPr>
            <p:cNvPr id="74" name="Right Arrow 73"/>
            <p:cNvSpPr/>
            <p:nvPr/>
          </p:nvSpPr>
          <p:spPr>
            <a:xfrm>
              <a:off x="2057400" y="3770662"/>
              <a:ext cx="381000" cy="21507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Curved Connector 8"/>
          <p:cNvCxnSpPr>
            <a:stCxn id="44" idx="2"/>
            <a:endCxn id="63" idx="0"/>
          </p:cNvCxnSpPr>
          <p:nvPr/>
        </p:nvCxnSpPr>
        <p:spPr>
          <a:xfrm rot="16200000" flipH="1">
            <a:off x="6319489" y="3066553"/>
            <a:ext cx="685800" cy="3136281"/>
          </a:xfrm>
          <a:prstGeom prst="curvedConnector3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4370350" y="3986994"/>
            <a:ext cx="4584081" cy="310375"/>
            <a:chOff x="2846349" y="2971800"/>
            <a:chExt cx="4584081" cy="310375"/>
          </a:xfrm>
        </p:grpSpPr>
        <p:sp>
          <p:nvSpPr>
            <p:cNvPr id="44" name="Rectangle 43"/>
            <p:cNvSpPr/>
            <p:nvPr/>
          </p:nvSpPr>
          <p:spPr>
            <a:xfrm>
              <a:off x="2846349" y="2971800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4419601" y="2977375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5982630" y="2977375"/>
              <a:ext cx="1447800" cy="304800"/>
            </a:xfrm>
            <a:prstGeom prst="rect">
              <a:avLst/>
            </a:prstGeom>
            <a:pattFill prst="wdUpDiag">
              <a:fgClr>
                <a:schemeClr val="bg2">
                  <a:lumMod val="75000"/>
                </a:schemeClr>
              </a:fgClr>
              <a:bgClr>
                <a:schemeClr val="bg2"/>
              </a:bgClr>
            </a:patt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2000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370348" y="4977593"/>
            <a:ext cx="4584082" cy="310376"/>
            <a:chOff x="2846348" y="3962400"/>
            <a:chExt cx="4584082" cy="310376"/>
          </a:xfrm>
        </p:grpSpPr>
        <p:sp>
          <p:nvSpPr>
            <p:cNvPr id="63" name="Rectangle 62"/>
            <p:cNvSpPr/>
            <p:nvPr/>
          </p:nvSpPr>
          <p:spPr>
            <a:xfrm>
              <a:off x="5982630" y="3962400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419601" y="3967976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2846348" y="3966117"/>
              <a:ext cx="1447800" cy="304800"/>
            </a:xfrm>
            <a:prstGeom prst="rect">
              <a:avLst/>
            </a:prstGeom>
            <a:solidFill>
              <a:schemeClr val="bg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1000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CE10E53-D51B-4A25-A1FA-C15D94FAE2E5}"/>
              </a:ext>
            </a:extLst>
          </p:cNvPr>
          <p:cNvSpPr txBox="1"/>
          <p:nvPr/>
        </p:nvSpPr>
        <p:spPr>
          <a:xfrm>
            <a:off x="1559313" y="2788392"/>
            <a:ext cx="2770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73088" algn="l"/>
              </a:tabLst>
            </a:pPr>
            <a:r>
              <a:rPr lang="en-US" sz="1600" b="1" dirty="0">
                <a:solidFill>
                  <a:srgbClr val="FF0000"/>
                </a:solidFill>
              </a:rPr>
              <a:t>// Assume R2=&amp;x, R3=&amp;y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6629" y="5328925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Overwritten properly </a:t>
            </a:r>
            <a:r>
              <a:rPr lang="en-US" b="1" dirty="0">
                <a:solidFill>
                  <a:srgbClr val="92D050"/>
                </a:solidFill>
                <a:sym typeface="Wingdings" panose="05000000000000000000" pitchFamily="2" charset="2"/>
              </a:rPr>
              <a:t></a:t>
            </a:r>
            <a:endParaRPr lang="en-US" b="1" dirty="0">
              <a:solidFill>
                <a:srgbClr val="92D05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5871808" y="2745265"/>
            <a:ext cx="11337" cy="289983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992956" y="3061904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0" name="Rectangle 29"/>
          <p:cNvSpPr/>
          <p:nvPr/>
        </p:nvSpPr>
        <p:spPr>
          <a:xfrm>
            <a:off x="4390265" y="3992714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7506629" y="4981749"/>
            <a:ext cx="1454150" cy="30451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72751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 bwMode="auto">
          <a:xfrm>
            <a:off x="4573373" y="3877744"/>
            <a:ext cx="2540688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10000"/>
                  </a:schemeClr>
                </a:solidFill>
                <a:latin typeface="Calibri" pitchFamily="34" charset="0"/>
                <a:cs typeface="Calibri" pitchFamily="34" charset="0"/>
              </a:rPr>
              <a:t>32-bit register(s)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4561780" y="2194776"/>
            <a:ext cx="2540688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int32_t, uint32_t, </a:t>
            </a:r>
            <a:r>
              <a:rPr lang="en-US" i="1" dirty="0">
                <a:latin typeface="Calibri" pitchFamily="34" charset="0"/>
                <a:cs typeface="Calibri" pitchFamily="34" charset="0"/>
              </a:rPr>
              <a:t>pointer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300626" y="6103435"/>
            <a:ext cx="5081375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int64_t, uint64_t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2187538" y="2880914"/>
            <a:ext cx="989099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uint8_t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2187535" y="4953277"/>
            <a:ext cx="989099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int8_t</a:t>
            </a:r>
          </a:p>
        </p:txBody>
      </p:sp>
      <p:cxnSp>
        <p:nvCxnSpPr>
          <p:cNvPr id="13" name="Straight Arrow Connector 12"/>
          <p:cNvCxnSpPr>
            <a:endCxn id="9" idx="3"/>
          </p:cNvCxnSpPr>
          <p:nvPr/>
        </p:nvCxnSpPr>
        <p:spPr bwMode="auto">
          <a:xfrm flipH="1">
            <a:off x="3176634" y="4400456"/>
            <a:ext cx="1385147" cy="8141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7" name="Straight Arrow Connector 16"/>
          <p:cNvCxnSpPr>
            <a:endCxn id="8" idx="3"/>
          </p:cNvCxnSpPr>
          <p:nvPr/>
        </p:nvCxnSpPr>
        <p:spPr bwMode="auto">
          <a:xfrm flipH="1" flipV="1">
            <a:off x="3176637" y="3142272"/>
            <a:ext cx="1398323" cy="73547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7050983" y="3080941"/>
            <a:ext cx="1376737" cy="79680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2" name="Straight Arrow Connector 21"/>
          <p:cNvCxnSpPr>
            <a:endCxn id="10" idx="1"/>
          </p:cNvCxnSpPr>
          <p:nvPr/>
        </p:nvCxnSpPr>
        <p:spPr bwMode="auto">
          <a:xfrm>
            <a:off x="7050982" y="4313574"/>
            <a:ext cx="1376734" cy="90106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33" name="Straight Arrow Connector 32"/>
          <p:cNvCxnSpPr>
            <a:stCxn id="4" idx="2"/>
            <a:endCxn id="3" idx="0"/>
          </p:cNvCxnSpPr>
          <p:nvPr/>
        </p:nvCxnSpPr>
        <p:spPr bwMode="auto">
          <a:xfrm>
            <a:off x="5832125" y="2717489"/>
            <a:ext cx="11592" cy="11602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36" name="Straight Arrow Connector 35"/>
          <p:cNvCxnSpPr>
            <a:stCxn id="3" idx="2"/>
            <a:endCxn id="5" idx="0"/>
          </p:cNvCxnSpPr>
          <p:nvPr/>
        </p:nvCxnSpPr>
        <p:spPr bwMode="auto">
          <a:xfrm flipH="1">
            <a:off x="5841313" y="4400457"/>
            <a:ext cx="2404" cy="17029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>
                <a:lumMod val="10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3358988" y="3354520"/>
            <a:ext cx="136935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LDRB/STRB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54967" y="4611958"/>
            <a:ext cx="147338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LDRSB/STRB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7855" y="3376930"/>
            <a:ext cx="14236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LDRH/STRH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8373" y="4612343"/>
            <a:ext cx="157554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LDRSH/STRH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7893" y="3145212"/>
            <a:ext cx="1148683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LDR/STR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99120" y="5065650"/>
            <a:ext cx="138832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LDRD/STRD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8427718" y="4953277"/>
            <a:ext cx="1270343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i</a:t>
            </a:r>
            <a:r>
              <a:rPr lang="en-US">
                <a:latin typeface="Calibri" pitchFamily="34" charset="0"/>
                <a:cs typeface="Calibri" pitchFamily="34" charset="0"/>
              </a:rPr>
              <a:t>nt16</a:t>
            </a:r>
            <a:r>
              <a:rPr lang="en-US" dirty="0">
                <a:latin typeface="Calibri" pitchFamily="34" charset="0"/>
                <a:cs typeface="Calibri" pitchFamily="34" charset="0"/>
              </a:rPr>
              <a:t>_t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8427720" y="2880914"/>
            <a:ext cx="1270343" cy="522712"/>
          </a:xfrm>
          <a:prstGeom prst="rect">
            <a:avLst/>
          </a:prstGeom>
          <a:solidFill>
            <a:schemeClr val="bg2"/>
          </a:solidFill>
          <a:ln w="3175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itchFamily="34" charset="0"/>
                <a:cs typeface="Calibri" pitchFamily="34" charset="0"/>
              </a:rPr>
              <a:t>uint16_t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40527" y="747186"/>
            <a:ext cx="7682105" cy="710780"/>
          </a:xfrm>
        </p:spPr>
        <p:txBody>
          <a:bodyPr/>
          <a:lstStyle/>
          <a:p>
            <a:r>
              <a:rPr lang="en-US" dirty="0"/>
              <a:t>DATA COPYING INSTRUCTIONS</a:t>
            </a:r>
          </a:p>
        </p:txBody>
      </p:sp>
      <p:sp>
        <p:nvSpPr>
          <p:cNvPr id="23" name="Line Callout 1 (No Border) 22"/>
          <p:cNvSpPr/>
          <p:nvPr/>
        </p:nvSpPr>
        <p:spPr>
          <a:xfrm>
            <a:off x="7406752" y="1528127"/>
            <a:ext cx="3517922" cy="1057696"/>
          </a:xfrm>
          <a:prstGeom prst="callout1">
            <a:avLst>
              <a:gd name="adj1" fmla="val 46847"/>
              <a:gd name="adj2" fmla="val 74"/>
              <a:gd name="adj3" fmla="val 75758"/>
              <a:gd name="adj4" fmla="val -18844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tailEnd type="triangle" w="lg" len="lg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1027113" lvl="1"/>
            <a:r>
              <a:rPr lang="en-US" dirty="0"/>
              <a:t>Pointers are </a:t>
            </a:r>
            <a:r>
              <a:rPr lang="en-US" b="1" dirty="0">
                <a:solidFill>
                  <a:srgbClr val="00B050"/>
                </a:solidFill>
              </a:rPr>
              <a:t>always</a:t>
            </a:r>
            <a:r>
              <a:rPr lang="en-US" b="1" dirty="0"/>
              <a:t> </a:t>
            </a:r>
            <a:r>
              <a:rPr lang="en-US" dirty="0"/>
              <a:t>32 bits wide. Copy with LDR and STR.</a:t>
            </a:r>
          </a:p>
        </p:txBody>
      </p:sp>
      <p:pic>
        <p:nvPicPr>
          <p:cNvPr id="24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75059" y="1626329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47581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7213"/>
            <a:ext cx="7212873" cy="660681"/>
          </a:xfrm>
        </p:spPr>
        <p:txBody>
          <a:bodyPr>
            <a:normAutofit/>
          </a:bodyPr>
          <a:lstStyle/>
          <a:p>
            <a:r>
              <a:rPr lang="en-US" dirty="0"/>
              <a:t>EXAMPLES OF COPYING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151407"/>
                  </p:ext>
                </p:extLst>
              </p:nvPr>
            </p:nvGraphicFramePr>
            <p:xfrm>
              <a:off x="2133600" y="1524001"/>
              <a:ext cx="7848600" cy="40971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6729">
                      <a:extLst>
                        <a:ext uri="{9D8B030D-6E8A-4147-A177-3AD203B41FA5}">
                          <a16:colId xmlns:a16="http://schemas.microsoft.com/office/drawing/2014/main" val="2863539298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val="2127690771"/>
                        </a:ext>
                      </a:extLst>
                    </a:gridCol>
                    <a:gridCol w="1690468">
                      <a:extLst>
                        <a:ext uri="{9D8B030D-6E8A-4147-A177-3AD203B41FA5}">
                          <a16:colId xmlns:a16="http://schemas.microsoft.com/office/drawing/2014/main" val="2618450696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val="2002298742"/>
                        </a:ext>
                      </a:extLst>
                    </a:gridCol>
                    <a:gridCol w="1931963">
                      <a:extLst>
                        <a:ext uri="{9D8B030D-6E8A-4147-A177-3AD203B41FA5}">
                          <a16:colId xmlns:a16="http://schemas.microsoft.com/office/drawing/2014/main" val="1430575216"/>
                        </a:ext>
                      </a:extLst>
                    </a:gridCol>
                  </a:tblGrid>
                  <a:tr h="54684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Source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8-bit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16-bit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32-bit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64-bit 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5893840"/>
                      </a:ext>
                    </a:extLst>
                  </a:tr>
                  <a:tr h="6835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Constant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R0,=5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STRB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0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R0,=5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R0,=5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R0,=5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R1,=0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85244646"/>
                      </a:ext>
                    </a:extLst>
                  </a:tr>
                  <a:tr h="6835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8-bit</a:t>
                          </a:r>
                          <a:b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</a:b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	R0,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STRB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422275" algn="l"/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STRH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R1,=0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2661703"/>
                      </a:ext>
                    </a:extLst>
                  </a:tr>
                  <a:tr h="6835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16-bit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	R0,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STRB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LDRH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LDRH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R1,=0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734957"/>
                      </a:ext>
                    </a:extLst>
                  </a:tr>
                  <a:tr h="68355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32-bit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	R0,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STRB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</a:t>
                          </a:r>
                          <a:r>
                            <a:rPr lang="en-US" sz="14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	R1,=0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016564"/>
                      </a:ext>
                    </a:extLst>
                  </a:tr>
                  <a:tr h="60512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64-bit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LDRB	R0,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Times New Roman" panose="02020603050405020304" pitchFamily="18" charset="0"/>
                            <a:ea typeface="Arial"/>
                            <a:cs typeface="Times New Roman" panose="02020603050405020304" pitchFamily="18" charset="0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STRB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i="1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31825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631825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STRH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	R0,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LDRD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>
                              <a:tab pos="576263" algn="l"/>
                              <a:tab pos="1130300" algn="l"/>
                            </a:tabLst>
                          </a:pPr>
                          <a:r>
                            <a:rPr lang="en-US" sz="14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STRD	R0,R1,</a:t>
                          </a:r>
                          <a:r>
                            <a:rPr lang="en-US" sz="1400" i="1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400" i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Calibri"/>
                              <a:cs typeface="Times New Roman" panose="02020603050405020304" pitchFamily="18" charset="0"/>
                            </a:rPr>
                            <a:t>[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  <m:r>
                                <a:rPr lang="en-US" sz="14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699960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151407"/>
                  </p:ext>
                </p:extLst>
              </p:nvPr>
            </p:nvGraphicFramePr>
            <p:xfrm>
              <a:off x="2133600" y="1524001"/>
              <a:ext cx="7848600" cy="418043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6729">
                      <a:extLst>
                        <a:ext uri="{9D8B030D-6E8A-4147-A177-3AD203B41FA5}">
                          <a16:colId xmlns:a16="http://schemas.microsoft.com/office/drawing/2014/main" val="2863539298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val="2127690771"/>
                        </a:ext>
                      </a:extLst>
                    </a:gridCol>
                    <a:gridCol w="1690468">
                      <a:extLst>
                        <a:ext uri="{9D8B030D-6E8A-4147-A177-3AD203B41FA5}">
                          <a16:colId xmlns:a16="http://schemas.microsoft.com/office/drawing/2014/main" val="2618450696"/>
                        </a:ext>
                      </a:extLst>
                    </a:gridCol>
                    <a:gridCol w="1569720">
                      <a:extLst>
                        <a:ext uri="{9D8B030D-6E8A-4147-A177-3AD203B41FA5}">
                          <a16:colId xmlns:a16="http://schemas.microsoft.com/office/drawing/2014/main" val="2002298742"/>
                        </a:ext>
                      </a:extLst>
                    </a:gridCol>
                    <a:gridCol w="1931963">
                      <a:extLst>
                        <a:ext uri="{9D8B030D-6E8A-4147-A177-3AD203B41FA5}">
                          <a16:colId xmlns:a16="http://schemas.microsoft.com/office/drawing/2014/main" val="1430575216"/>
                        </a:ext>
                      </a:extLst>
                    </a:gridCol>
                  </a:tblGrid>
                  <a:tr h="63093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Source</a:t>
                          </a:r>
                          <a:endParaRPr lang="en-US" sz="20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8-bit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16-bit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32-bit 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64-bit </a:t>
                          </a:r>
                        </a:p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destination</a:t>
                          </a:r>
                          <a:endParaRPr lang="en-US" sz="2400" dirty="0">
                            <a:solidFill>
                              <a:schemeClr val="bg1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5893840"/>
                      </a:ext>
                    </a:extLst>
                  </a:tr>
                  <a:tr h="73609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Constant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67" t="-94167" r="-331008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123" t="-94167" r="-20830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132" t="-94167" r="-123643" b="-3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40" t="-94167" r="-631" b="-3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5244646"/>
                      </a:ext>
                    </a:extLst>
                  </a:tr>
                  <a:tr h="73609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8-bit</a:t>
                          </a:r>
                          <a:b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</a:b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67" t="-192562" r="-331008" b="-2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123" t="-192562" r="-208303" b="-2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132" t="-192562" r="-123643" b="-2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40" t="-192562" r="-631" b="-2867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62661703"/>
                      </a:ext>
                    </a:extLst>
                  </a:tr>
                  <a:tr h="73609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16-bit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67" t="-292562" r="-331008" b="-1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123" t="-292562" r="-208303" b="-1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132" t="-292562" r="-123643" b="-1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40" t="-292562" r="-631" b="-1867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6734957"/>
                      </a:ext>
                    </a:extLst>
                  </a:tr>
                  <a:tr h="73609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32-bit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67" t="-392562" r="-331008" b="-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123" t="-392562" r="-208303" b="-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132" t="-392562" r="-123643" b="-867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40" t="-392562" r="-631" b="-867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5016564"/>
                      </a:ext>
                    </a:extLst>
                  </a:tr>
                  <a:tr h="60512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64-bit Variable</a:t>
                          </a:r>
                          <a:endParaRPr lang="en-US" sz="1800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Calibri"/>
                          </a:endParaRPr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D9D9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767" t="-602020" r="-331008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8123" t="-602020" r="-208303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77132" t="-602020" r="-123643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6940" t="-602020" r="-631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99960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3276600" y="5727231"/>
            <a:ext cx="4953000" cy="91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388620" algn="l"/>
                <a:tab pos="423545" algn="l"/>
                <a:tab pos="1131570" algn="l"/>
              </a:tabLst>
            </a:pPr>
            <a:r>
              <a:rPr lang="en-US" sz="1200" baseline="30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1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Replace with LDR R1,=-1 if source operand is a negative constant.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Arial"/>
            </a:endParaRPr>
          </a:p>
          <a:p>
            <a:pPr>
              <a:lnSpc>
                <a:spcPct val="115000"/>
              </a:lnSpc>
              <a:tabLst>
                <a:tab pos="388620" algn="l"/>
                <a:tab pos="423545" algn="l"/>
                <a:tab pos="1131570" algn="l"/>
              </a:tabLst>
            </a:pPr>
            <a:r>
              <a:rPr lang="en-US" sz="1200" baseline="30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2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Replace with LDRSB if source operand is signed.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Arial"/>
            </a:endParaRPr>
          </a:p>
          <a:p>
            <a:pPr>
              <a:lnSpc>
                <a:spcPct val="115000"/>
              </a:lnSpc>
              <a:tabLst>
                <a:tab pos="388620" algn="l"/>
                <a:tab pos="423545" algn="l"/>
                <a:tab pos="1131570" algn="l"/>
              </a:tabLst>
            </a:pPr>
            <a:r>
              <a:rPr lang="en-US" sz="1200" baseline="300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3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/>
              </a:rPr>
              <a:t>Replace with ASR R1,R0,31 if source operand is signed.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Arial"/>
            </a:endParaRPr>
          </a:p>
          <a:p>
            <a:r>
              <a:rPr lang="en-US" sz="1200" baseline="30000" dirty="0">
                <a:latin typeface="Calibri" panose="020F0502020204030204" pitchFamily="34" charset="0"/>
                <a:ea typeface="Arial"/>
                <a:cs typeface="Arial"/>
              </a:rPr>
              <a:t>4 </a:t>
            </a:r>
            <a:r>
              <a:rPr lang="en-US" sz="1200" dirty="0">
                <a:latin typeface="Calibri" panose="020F0502020204030204" pitchFamily="34" charset="0"/>
                <a:ea typeface="Arial"/>
                <a:cs typeface="Arial"/>
              </a:rPr>
              <a:t>Replace with LDRSH if source operand is signed.</a:t>
            </a:r>
            <a:endParaRPr lang="en-US" sz="1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33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A4C47-20D8-49E9-A19D-13DC68E35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12A53C-85F6-4236-8EF1-BCBF077FC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Addressing</a:t>
            </a:r>
          </a:p>
        </p:txBody>
      </p:sp>
    </p:spTree>
    <p:extLst>
      <p:ext uri="{BB962C8B-B14F-4D97-AF65-F5344CB8AC3E}">
        <p14:creationId xmlns:p14="http://schemas.microsoft.com/office/powerpoint/2010/main" val="3224921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62076" y="3460708"/>
          <a:ext cx="6456340" cy="2697925"/>
        </p:xfrm>
        <a:graphic>
          <a:graphicData uri="http://schemas.openxmlformats.org/drawingml/2006/table">
            <a:tbl>
              <a:tblPr firstRow="1" firstCol="1" bandRow="1"/>
              <a:tblGrid>
                <a:gridCol w="2483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3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call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Code produced by the compiler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void f1(int8_t *);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int8_t s8;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286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f1(</a:t>
                      </a:r>
                      <a:r>
                        <a:rPr lang="en-US" sz="1400" dirty="0">
                          <a:solidFill>
                            <a:srgbClr val="92D05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&amp;s8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); 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28321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1143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28650" algn="l"/>
                          <a:tab pos="1428750" algn="l"/>
                        </a:tabLst>
                      </a:pPr>
                      <a:r>
                        <a:rPr lang="en-US" sz="1400" b="1" dirty="0">
                          <a:solidFill>
                            <a:srgbClr val="00B0F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LDR	R0,=s8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// load R0 with &amp;s8</a:t>
                      </a:r>
                      <a:b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</a:b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BL	f1	// call function f1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2286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685800" algn="l"/>
                        </a:tabLst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onsolas"/>
                          <a:cs typeface="Calibri"/>
                        </a:rPr>
                        <a:t>●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320" y="741665"/>
            <a:ext cx="5196796" cy="569777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Contents versus Address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06889" y="2682179"/>
                <a:ext cx="8190342" cy="646331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</a:tabLst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  R0,x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// Copies the </a:t>
                </a:r>
                <a:r>
                  <a:rPr kumimoji="0" lang="en-US" sz="18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contents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of constant ‘x’ from memory into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// register, but x must be within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±4095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bytes of the instruction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889" y="2682179"/>
                <a:ext cx="8190342" cy="646331"/>
              </a:xfrm>
              <a:prstGeom prst="rect">
                <a:avLst/>
              </a:prstGeom>
              <a:blipFill>
                <a:blip r:embed="rId2"/>
                <a:stretch>
                  <a:fillRect l="-595" t="-4630" b="-12963"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606889" y="1829125"/>
            <a:ext cx="8190342" cy="64633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716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  R3,=x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Copies the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of a variable ‘x’ into a register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  R0,[R3]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// Copies what R0 is pointing to R0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1368" y="2850016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Seldom works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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6" name="Straight Arrow Connector 5"/>
          <p:cNvCxnSpPr>
            <a:stCxn id="3" idx="3"/>
          </p:cNvCxnSpPr>
          <p:nvPr/>
        </p:nvCxnSpPr>
        <p:spPr>
          <a:xfrm flipV="1">
            <a:off x="2190251" y="3029964"/>
            <a:ext cx="436232" cy="4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1368" y="1829125"/>
            <a:ext cx="203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Works  always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Arrow Connector 8"/>
          <p:cNvCxnSpPr>
            <a:stCxn id="10" idx="3"/>
            <a:endCxn id="7" idx="1"/>
          </p:cNvCxnSpPr>
          <p:nvPr/>
        </p:nvCxnSpPr>
        <p:spPr>
          <a:xfrm>
            <a:off x="2211732" y="2013791"/>
            <a:ext cx="395157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246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3149"/>
            <a:ext cx="7152716" cy="1144151"/>
          </a:xfrm>
        </p:spPr>
        <p:txBody>
          <a:bodyPr>
            <a:normAutofit/>
          </a:bodyPr>
          <a:lstStyle/>
          <a:p>
            <a:r>
              <a:rPr lang="en-US" dirty="0"/>
              <a:t>PC-Relative Addressing</a:t>
            </a:r>
            <a:br>
              <a:rPr lang="en-US" dirty="0"/>
            </a:br>
            <a:r>
              <a:rPr lang="en-US" sz="3100" i="1" dirty="0"/>
              <a:t>(A Special Case of Immediate Offset)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C381B4-0E71-4CAC-8ABE-894876C79A4A}"/>
                  </a:ext>
                </a:extLst>
              </p:cNvPr>
              <p:cNvSpPr txBox="1"/>
              <p:nvPr/>
            </p:nvSpPr>
            <p:spPr>
              <a:xfrm>
                <a:off x="944536" y="2157672"/>
                <a:ext cx="8809063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Example: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	LDR	R0,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x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	// R0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  <a:sym typeface="Wingdings" panose="05000000000000000000" pitchFamily="2" charset="2"/>
                  </a:rPr>
                  <a:t>=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  <a:sym typeface="Wingdings" panose="05000000000000000000" pitchFamily="2" charset="2"/>
                  </a:rPr>
                  <a:t>content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  <a:sym typeface="Wingdings" panose="05000000000000000000" pitchFamily="2" charset="2"/>
                  </a:rPr>
                  <a:t> 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  <a:sym typeface="Wingdings" panose="05000000000000000000" pitchFamily="2" charset="2"/>
                  </a:rPr>
                  <a:t>of x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  <a:sym typeface="Wingdings" panose="05000000000000000000" pitchFamily="2" charset="2"/>
                  </a:rPr>
                  <a:t>(1000)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		  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⋮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66FF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x:		.word	1000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  <a:tab pos="2001838" algn="l"/>
                  </a:tabLst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Equivalent to:	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LDR	R0,[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PC,</a:t>
                </a:r>
                <a:r>
                  <a:rPr kumimoji="0" lang="en-US" sz="18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displacement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]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// </a:t>
                </a:r>
                <a:r>
                  <a:rPr kumimoji="0" lang="en-US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Adrs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 PC +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displacement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CC381B4-0E71-4CAC-8ABE-894876C79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36" y="2157672"/>
                <a:ext cx="8809063" cy="2031325"/>
              </a:xfrm>
              <a:prstGeom prst="rect">
                <a:avLst/>
              </a:prstGeom>
              <a:blipFill>
                <a:blip r:embed="rId2"/>
                <a:stretch>
                  <a:fillRect l="-623" t="-1802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A02F59-51C5-49BB-9411-4F04E58F1A3E}"/>
                  </a:ext>
                </a:extLst>
              </p:cNvPr>
              <p:cNvSpPr txBox="1"/>
              <p:nvPr/>
            </p:nvSpPr>
            <p:spPr>
              <a:xfrm>
                <a:off x="944535" y="4192370"/>
                <a:ext cx="956705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displacement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a constant equal to the difference 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between the address of the instruction and the address of data.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Only works when data is near the instruction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so that the displacement is small enough (</a:t>
                </a: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𝟒𝟎𝟗𝟓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𝒕𝒐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𝟒𝟎𝟗𝟓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) to fit within the instruction representation.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instruction and the data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must both be located in read-only memory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 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Thus, the data must be a constant.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A02F59-51C5-49BB-9411-4F04E58F1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35" y="4192370"/>
                <a:ext cx="9567053" cy="2308324"/>
              </a:xfrm>
              <a:prstGeom prst="rect">
                <a:avLst/>
              </a:prstGeom>
              <a:blipFill>
                <a:blip r:embed="rId3"/>
                <a:stretch>
                  <a:fillRect l="-574" t="-1587" b="-3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6872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20240"/>
            <a:ext cx="6474936" cy="1032361"/>
          </a:xfrm>
        </p:spPr>
        <p:txBody>
          <a:bodyPr>
            <a:normAutofit fontScale="90000"/>
          </a:bodyPr>
          <a:lstStyle/>
          <a:p>
            <a:r>
              <a:rPr lang="en-US" dirty="0"/>
              <a:t>ADDRESSING MODES</a:t>
            </a:r>
            <a:br>
              <a:rPr lang="en-US" dirty="0"/>
            </a:br>
            <a:r>
              <a:rPr lang="en-US" i="1" dirty="0"/>
              <a:t>(Calculating a Memory Address)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985215"/>
            <a:ext cx="4419600" cy="4525963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chemeClr val="tx1"/>
                </a:solidFill>
              </a:rPr>
              <a:t>Immediate Offset Mode:</a:t>
            </a:r>
          </a:p>
          <a:p>
            <a:pPr marL="119063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</a:t>
            </a:r>
            <a:r>
              <a:rPr lang="en-US" sz="2800" dirty="0"/>
              <a:t>	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</a:t>
            </a:r>
          </a:p>
          <a:p>
            <a:pPr marL="119063" lvl="1" indent="0">
              <a:buNone/>
              <a:tabLst>
                <a:tab pos="182880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R0+4</a:t>
            </a:r>
          </a:p>
          <a:p>
            <a:pPr>
              <a:tabLst>
                <a:tab pos="2114550" algn="l"/>
              </a:tabLst>
            </a:pPr>
            <a:endParaRPr lang="en-US" sz="3200" dirty="0"/>
          </a:p>
          <a:p>
            <a:pPr marL="0" indent="0">
              <a:buNone/>
              <a:tabLst>
                <a:tab pos="2114550" algn="l"/>
              </a:tabLst>
            </a:pPr>
            <a:r>
              <a:rPr lang="en-US" sz="3200" b="1" i="1" dirty="0">
                <a:solidFill>
                  <a:schemeClr val="tx1"/>
                </a:solidFill>
              </a:rPr>
              <a:t>Register Offset Mode: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</a:t>
            </a:r>
            <a:r>
              <a:rPr lang="en-US" sz="2800" dirty="0">
                <a:solidFill>
                  <a:schemeClr val="tx1"/>
                </a:solidFill>
              </a:rPr>
              <a:t>]	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R0+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R1</a:t>
            </a:r>
          </a:p>
          <a:p>
            <a:pPr marL="119063" lvl="1" indent="0">
              <a:buNone/>
              <a:tabLst>
                <a:tab pos="2114550" algn="l"/>
              </a:tabLst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00B050"/>
                </a:solidFill>
              </a:rPr>
              <a:t>R1</a:t>
            </a:r>
            <a:r>
              <a:rPr lang="en-US" sz="2800" dirty="0">
                <a:solidFill>
                  <a:schemeClr val="tx1"/>
                </a:solidFill>
              </a:rPr>
              <a:t>,</a:t>
            </a:r>
            <a:r>
              <a:rPr lang="en-US" sz="2800" b="1" dirty="0">
                <a:solidFill>
                  <a:srgbClr val="00B050"/>
                </a:solidFill>
              </a:rPr>
              <a:t>LSL 2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dirty="0"/>
              <a:t>	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Adrs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R0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4xR1</a:t>
            </a:r>
            <a:endParaRPr lang="en-US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29399" y="1973785"/>
            <a:ext cx="4625412" cy="4525963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Pre</a:t>
            </a:r>
            <a:r>
              <a:rPr lang="en-US" sz="3200" b="1" dirty="0">
                <a:solidFill>
                  <a:schemeClr val="tx1"/>
                </a:solidFill>
              </a:rPr>
              <a:t>-Indexed Mode (++var)</a:t>
            </a:r>
            <a:r>
              <a:rPr lang="en-US" sz="3200" b="1" i="1" dirty="0">
                <a:solidFill>
                  <a:schemeClr val="tx1"/>
                </a:solidFill>
              </a:rPr>
              <a:t>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[R0,</a:t>
            </a:r>
            <a:r>
              <a:rPr lang="en-US" sz="2800" b="1" dirty="0">
                <a:solidFill>
                  <a:srgbClr val="FF0000"/>
                </a:solidFill>
              </a:rPr>
              <a:t>4</a:t>
            </a:r>
            <a:r>
              <a:rPr lang="en-US" sz="2800" dirty="0">
                <a:solidFill>
                  <a:schemeClr val="tx1"/>
                </a:solidFill>
              </a:rPr>
              <a:t>]</a:t>
            </a:r>
            <a:r>
              <a:rPr lang="en-US" sz="2800" b="1" dirty="0">
                <a:solidFill>
                  <a:srgbClr val="FF0000"/>
                </a:solidFill>
              </a:rPr>
              <a:t>!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00B0F0"/>
                </a:solidFill>
              </a:rPr>
              <a:t>Post</a:t>
            </a:r>
            <a:r>
              <a:rPr lang="en-US" sz="3200" b="1" dirty="0">
                <a:solidFill>
                  <a:schemeClr val="tx1"/>
                </a:solidFill>
              </a:rPr>
              <a:t>-Indexed Mode (</a:t>
            </a:r>
            <a:r>
              <a:rPr lang="en-US" sz="3200" b="1" dirty="0" err="1">
                <a:solidFill>
                  <a:schemeClr val="tx1"/>
                </a:solidFill>
              </a:rPr>
              <a:t>var</a:t>
            </a:r>
            <a:r>
              <a:rPr lang="en-US" sz="3200" b="1" dirty="0">
                <a:solidFill>
                  <a:schemeClr val="tx1"/>
                </a:solidFill>
              </a:rPr>
              <a:t>++):</a:t>
            </a:r>
          </a:p>
          <a:p>
            <a:pPr marL="400050" lvl="1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[R0],</a:t>
            </a:r>
            <a:r>
              <a:rPr lang="en-US" sz="28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86600" y="5261815"/>
            <a:ext cx="322847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Use these in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”loops”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to reduce the number of instructions.</a:t>
            </a:r>
            <a:endParaRPr kumimoji="0" lang="en-US" sz="2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3024" y="2594815"/>
            <a:ext cx="167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3024" y="4236766"/>
            <a:ext cx="190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</a:t>
            </a:r>
            <a:r>
              <a:rPr kumimoji="0" lang="en-US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Adrs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R0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R0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Wingdings" panose="05000000000000000000" pitchFamily="2" charset="2"/>
              </a:rPr>
              <a:t>= R0 + 4</a:t>
            </a:r>
          </a:p>
        </p:txBody>
      </p:sp>
    </p:spTree>
    <p:extLst>
      <p:ext uri="{BB962C8B-B14F-4D97-AF65-F5344CB8AC3E}">
        <p14:creationId xmlns:p14="http://schemas.microsoft.com/office/powerpoint/2010/main" val="3461726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45443"/>
            <a:ext cx="5504389" cy="572076"/>
          </a:xfrm>
        </p:spPr>
        <p:txBody>
          <a:bodyPr>
            <a:normAutofit fontScale="90000"/>
          </a:bodyPr>
          <a:lstStyle/>
          <a:p>
            <a:r>
              <a:rPr lang="en-US" dirty="0"/>
              <a:t>IMMEDIATE OFFSET MODE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1907335"/>
          <a:ext cx="8229600" cy="1403702"/>
        </p:xfrm>
        <a:graphic>
          <a:graphicData uri="http://schemas.openxmlformats.org/drawingml/2006/table">
            <a:tbl>
              <a:tblPr/>
              <a:tblGrid>
                <a:gridCol w="3023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1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5845"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Address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Examples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355"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[R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{,constant}]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 + constant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[R5</a:t>
                      </a:r>
                      <a:r>
                        <a:rPr lang="en-US" sz="2400" b="1" kern="12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,100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]</a:t>
                      </a:r>
                      <a:r>
                        <a:rPr lang="en-US" sz="2400" kern="1200" baseline="30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 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  <a:p>
                      <a:pPr marL="171450" marR="0" lvl="0" indent="-171450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[R5]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9" name="Group 38"/>
          <p:cNvGrpSpPr/>
          <p:nvPr/>
        </p:nvGrpSpPr>
        <p:grpSpPr>
          <a:xfrm>
            <a:off x="3200400" y="3970420"/>
            <a:ext cx="5278350" cy="2110263"/>
            <a:chOff x="2012679" y="3048001"/>
            <a:chExt cx="5278350" cy="2110263"/>
          </a:xfrm>
        </p:grpSpPr>
        <p:sp>
          <p:nvSpPr>
            <p:cNvPr id="8" name="Rectangle 7"/>
            <p:cNvSpPr/>
            <p:nvPr/>
          </p:nvSpPr>
          <p:spPr>
            <a:xfrm>
              <a:off x="4401912" y="3393196"/>
              <a:ext cx="1553497" cy="345195"/>
            </a:xfrm>
            <a:prstGeom prst="rect">
              <a:avLst/>
            </a:prstGeom>
            <a:solidFill>
              <a:srgbClr val="FFFF00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919904" y="4456985"/>
              <a:ext cx="490578" cy="517793"/>
            </a:xfrm>
            <a:prstGeom prst="ellipse">
              <a:avLst/>
            </a:prstGeom>
            <a:solidFill>
              <a:srgbClr val="FFFF00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</a:t>
              </a:r>
            </a:p>
          </p:txBody>
        </p:sp>
        <p:cxnSp>
          <p:nvCxnSpPr>
            <p:cNvPr id="12" name="Straight Arrow Connector 11"/>
            <p:cNvCxnSpPr>
              <a:stCxn id="8" idx="2"/>
              <a:endCxn id="9" idx="0"/>
            </p:cNvCxnSpPr>
            <p:nvPr/>
          </p:nvCxnSpPr>
          <p:spPr>
            <a:xfrm flipH="1">
              <a:off x="5165192" y="3738391"/>
              <a:ext cx="13469" cy="718594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/>
            <p:cNvGrpSpPr/>
            <p:nvPr/>
          </p:nvGrpSpPr>
          <p:grpSpPr>
            <a:xfrm>
              <a:off x="2012679" y="3048001"/>
              <a:ext cx="1857774" cy="663837"/>
              <a:chOff x="2612025" y="1219200"/>
              <a:chExt cx="1731375" cy="586154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2684875" y="1500554"/>
                <a:ext cx="1524000" cy="304800"/>
              </a:xfrm>
              <a:prstGeom prst="rect">
                <a:avLst/>
              </a:prstGeom>
              <a:solidFill>
                <a:schemeClr val="bg2"/>
              </a:solidFill>
              <a:ln w="31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3375563" y="1560621"/>
                <a:ext cx="762000" cy="16305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constant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612025" y="1219200"/>
                <a:ext cx="1731375" cy="27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Instruction Register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5410480" y="4419601"/>
              <a:ext cx="1880549" cy="738663"/>
              <a:chOff x="5778647" y="2430293"/>
              <a:chExt cx="1752600" cy="652224"/>
            </a:xfrm>
          </p:grpSpPr>
          <p:cxnSp>
            <p:nvCxnSpPr>
              <p:cNvPr id="26" name="Straight Arrow Connector 25"/>
              <p:cNvCxnSpPr>
                <a:stCxn id="9" idx="6"/>
              </p:cNvCxnSpPr>
              <p:nvPr/>
            </p:nvCxnSpPr>
            <p:spPr>
              <a:xfrm>
                <a:off x="5778647" y="2691903"/>
                <a:ext cx="685800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/>
              <p:cNvSpPr txBox="1"/>
              <p:nvPr/>
            </p:nvSpPr>
            <p:spPr>
              <a:xfrm>
                <a:off x="6488540" y="2430293"/>
                <a:ext cx="1042707" cy="652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Immediate Offset Address</a:t>
                </a:r>
              </a:p>
            </p:txBody>
          </p:sp>
        </p:grpSp>
        <p:cxnSp>
          <p:nvCxnSpPr>
            <p:cNvPr id="4" name="Elbow Connector 3"/>
            <p:cNvCxnSpPr>
              <a:stCxn id="29" idx="2"/>
              <a:endCxn id="9" idx="2"/>
            </p:cNvCxnSpPr>
            <p:nvPr/>
          </p:nvCxnSpPr>
          <p:spPr>
            <a:xfrm rot="16200000" flipH="1">
              <a:off x="3544303" y="3340280"/>
              <a:ext cx="1072071" cy="1679129"/>
            </a:xfrm>
            <a:prstGeom prst="bentConnector2">
              <a:avLst/>
            </a:prstGeom>
            <a:ln w="127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34163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/>
          <p:cNvCxnSpPr/>
          <p:nvPr/>
        </p:nvCxnSpPr>
        <p:spPr>
          <a:xfrm flipV="1">
            <a:off x="9296400" y="2438401"/>
            <a:ext cx="685800" cy="874197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8842248" y="2409484"/>
            <a:ext cx="301752" cy="874196"/>
          </a:xfrm>
          <a:prstGeom prst="straightConnector1">
            <a:avLst/>
          </a:prstGeom>
          <a:ln w="317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60321" y="3790631"/>
            <a:ext cx="2209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*p16;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&amp;a16[0];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p16 = (p16 + 1);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89" y="740033"/>
            <a:ext cx="6057843" cy="643613"/>
          </a:xfrm>
        </p:spPr>
        <p:txBody>
          <a:bodyPr/>
          <a:lstStyle/>
          <a:p>
            <a:r>
              <a:rPr lang="en-US" dirty="0"/>
              <a:t>Review: Pointer Arithmetic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7729" y="1822108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 a16[5] 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7200" y="1357816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5431367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292636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709785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105676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67909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254667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a16[4]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a16[3]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a16[2]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a16[1]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a16[0]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1007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1006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1005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924800" y="2958922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4800" y="2958524"/>
          <a:ext cx="2438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27383432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51676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1882451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7334501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p16</a:t>
                      </a: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594869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134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2000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510872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7667" y="2590800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Each element of  the array is an object of 2 bytes.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047" y="3384793"/>
            <a:ext cx="4985459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pointer holds an address.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always 32-bits.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667" y="4281747"/>
            <a:ext cx="4988988" cy="646331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int16_t indicates the size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signees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of the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667" y="5110708"/>
            <a:ext cx="4977839" cy="1200329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Plus 1 to a pointer, points to the next </a:t>
            </a:r>
            <a:r>
              <a:rPr kumimoji="0" lang="en-US" sz="1800" b="1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Since each object is 2 bytes, the address  must increase by 2.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60321" y="4361021"/>
            <a:ext cx="1838927" cy="363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63850" y="4885225"/>
            <a:ext cx="2060950" cy="382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052629" y="2100287"/>
            <a:ext cx="0" cy="47626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7942006" y="4122437"/>
            <a:ext cx="2438400" cy="276485"/>
            <a:chOff x="6397752" y="4286874"/>
            <a:chExt cx="2438400" cy="27648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6397752" y="4425117"/>
              <a:ext cx="24384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7227349" y="4286874"/>
              <a:ext cx="838200" cy="2764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32 bits</a:t>
              </a:r>
            </a:p>
          </p:txBody>
        </p:sp>
      </p:grpSp>
      <p:cxnSp>
        <p:nvCxnSpPr>
          <p:cNvPr id="25" name="Elbow Connector 24"/>
          <p:cNvCxnSpPr>
            <a:stCxn id="20" idx="3"/>
            <a:endCxn id="18" idx="0"/>
          </p:cNvCxnSpPr>
          <p:nvPr/>
        </p:nvCxnSpPr>
        <p:spPr>
          <a:xfrm>
            <a:off x="5755506" y="3707959"/>
            <a:ext cx="1209715" cy="8267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1" idx="0"/>
          </p:cNvCxnSpPr>
          <p:nvPr/>
        </p:nvCxnSpPr>
        <p:spPr>
          <a:xfrm flipV="1">
            <a:off x="3272161" y="4122439"/>
            <a:ext cx="3060460" cy="1593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925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398291" y="4697272"/>
            <a:ext cx="74655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&amp;p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R0 = 2000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	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1000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,#0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+ 0)	(R2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  720)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LDR R3,[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,#4]	// R3 = *(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 + 1)	(R3 = -3185)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R4,[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,#8]	// R4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*(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 + 2)	(R4 =  1340)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3063"/>
            <a:ext cx="5203600" cy="692705"/>
          </a:xfrm>
        </p:spPr>
        <p:txBody>
          <a:bodyPr>
            <a:normAutofit/>
          </a:bodyPr>
          <a:lstStyle/>
          <a:p>
            <a:r>
              <a:rPr lang="en-US" dirty="0"/>
              <a:t>Pointer Dereferencing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734954"/>
              </p:ext>
            </p:extLst>
          </p:nvPr>
        </p:nvGraphicFramePr>
        <p:xfrm>
          <a:off x="4745238" y="3141864"/>
          <a:ext cx="1993277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2828">
                  <a:extLst>
                    <a:ext uri="{9D8B030D-6E8A-4147-A177-3AD203B41FA5}">
                      <a16:colId xmlns:a16="http://schemas.microsoft.com/office/drawing/2014/main" val="414649720"/>
                    </a:ext>
                  </a:extLst>
                </a:gridCol>
                <a:gridCol w="1080449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1008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-3185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FF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720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cxnSp>
        <p:nvCxnSpPr>
          <p:cNvPr id="25" name="Elbow Connector 24"/>
          <p:cNvCxnSpPr>
            <a:cxnSpLocks/>
          </p:cNvCxnSpPr>
          <p:nvPr/>
        </p:nvCxnSpPr>
        <p:spPr>
          <a:xfrm>
            <a:off x="2687052" y="3580430"/>
            <a:ext cx="2193754" cy="478216"/>
          </a:xfrm>
          <a:prstGeom prst="bentConnector3">
            <a:avLst>
              <a:gd name="adj1" fmla="val 27697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87945" y="1527583"/>
            <a:ext cx="839931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nt32_t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[3];	// integer 32-bit array, 3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*p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numbers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 // pointer to a he 32-bit integer array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A9809B93-676A-4D90-8F7E-82161B2E7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440684"/>
              </p:ext>
            </p:extLst>
          </p:nvPr>
        </p:nvGraphicFramePr>
        <p:xfrm>
          <a:off x="1464708" y="3209588"/>
          <a:ext cx="29749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34">
                  <a:extLst>
                    <a:ext uri="{9D8B030D-6E8A-4147-A177-3AD203B41FA5}">
                      <a16:colId xmlns:a16="http://schemas.microsoft.com/office/drawing/2014/main" val="2096579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43345468"/>
                    </a:ext>
                  </a:extLst>
                </a:gridCol>
                <a:gridCol w="537406">
                  <a:extLst>
                    <a:ext uri="{9D8B030D-6E8A-4147-A177-3AD203B41FA5}">
                      <a16:colId xmlns:a16="http://schemas.microsoft.com/office/drawing/2014/main" val="2371312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p (2000)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66FF"/>
                          </a:solidFill>
                        </a:rPr>
                        <a:t>1000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0429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76400"/>
                  </p:ext>
                </p:extLst>
              </p:nvPr>
            </p:nvGraphicFramePr>
            <p:xfrm>
              <a:off x="7025815" y="3135972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+0)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E85216CD-E17A-4FD2-889C-50F14DD6C4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576400"/>
                  </p:ext>
                </p:extLst>
              </p:nvPr>
            </p:nvGraphicFramePr>
            <p:xfrm>
              <a:off x="7025815" y="3135972"/>
              <a:ext cx="1357952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357952">
                      <a:extLst>
                        <a:ext uri="{9D8B030D-6E8A-4147-A177-3AD203B41FA5}">
                          <a16:colId xmlns:a16="http://schemas.microsoft.com/office/drawing/2014/main" val="285111893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b="-2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6621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000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15119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000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5803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/>
          <p:cNvSpPr txBox="1"/>
          <p:nvPr/>
        </p:nvSpPr>
        <p:spPr>
          <a:xfrm>
            <a:off x="4655955" y="2780584"/>
            <a:ext cx="1113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</a:t>
            </a:r>
            <a:r>
              <a:rPr lang="en-US" dirty="0">
                <a:solidFill>
                  <a:srgbClr val="000000"/>
                </a:solidFill>
                <a:latin typeface="Arial" panose="020B0604020202020204"/>
              </a:rPr>
              <a:t>ess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9101" y="278014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0701" y="2857398"/>
            <a:ext cx="772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pointer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4377" y="2488066"/>
            <a:ext cx="126989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to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0066FF"/>
                </a:solidFill>
                <a:latin typeface="Arial" panose="020B0604020202020204"/>
              </a:rPr>
              <a:t>the numbers</a:t>
            </a:r>
            <a:br>
              <a:rPr lang="en-US" sz="1400" b="1" dirty="0">
                <a:solidFill>
                  <a:srgbClr val="0066FF"/>
                </a:solidFill>
                <a:latin typeface="Arial" panose="020B0604020202020204"/>
              </a:rPr>
            </a:br>
            <a:r>
              <a:rPr lang="en-US" sz="1400" b="1" dirty="0">
                <a:solidFill>
                  <a:srgbClr val="0066FF"/>
                </a:solidFill>
                <a:latin typeface="Arial" panose="020B0604020202020204"/>
              </a:rPr>
              <a:t>integer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array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E3845D-16C9-C8DA-C424-39A51D7E519F}"/>
              </a:ext>
            </a:extLst>
          </p:cNvPr>
          <p:cNvSpPr txBox="1"/>
          <p:nvPr/>
        </p:nvSpPr>
        <p:spPr>
          <a:xfrm>
            <a:off x="9003764" y="2807216"/>
            <a:ext cx="3091806" cy="13849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(int i = 0; i &lt; 3; i++) {</a:t>
            </a:r>
          </a:p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*(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i) = 0;</a:t>
            </a:r>
          </a:p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+ 0) =   720;</a:t>
            </a:r>
          </a:p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+ 1) = -3185;</a:t>
            </a:r>
          </a:p>
          <a:p>
            <a:pPr>
              <a:defRPr/>
            </a:pP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*(</a:t>
            </a:r>
            <a:r>
              <a:rPr kumimoji="0" lang="nn-NO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nn-NO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+ 2) =  1340;</a:t>
            </a:r>
          </a:p>
        </p:txBody>
      </p:sp>
    </p:spTree>
    <p:extLst>
      <p:ext uri="{BB962C8B-B14F-4D97-AF65-F5344CB8AC3E}">
        <p14:creationId xmlns:p14="http://schemas.microsoft.com/office/powerpoint/2010/main" val="1236676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44414"/>
            <a:ext cx="6097947" cy="682889"/>
          </a:xfrm>
        </p:spPr>
        <p:txBody>
          <a:bodyPr>
            <a:normAutofit/>
          </a:bodyPr>
          <a:lstStyle/>
          <a:p>
            <a:r>
              <a:rPr lang="en-US" dirty="0"/>
              <a:t>REGISTER OFFSET MODE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03688" y="1677892"/>
          <a:ext cx="9209892" cy="1585426"/>
        </p:xfrm>
        <a:graphic>
          <a:graphicData uri="http://schemas.openxmlformats.org/drawingml/2006/table">
            <a:tbl>
              <a:tblPr/>
              <a:tblGrid>
                <a:gridCol w="3383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2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13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326"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Address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kern="1200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Calibri"/>
                        </a:rPr>
                        <a:t>Example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004"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[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2400" kern="12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,R</a:t>
                      </a:r>
                      <a:r>
                        <a:rPr lang="en-US" sz="2400" kern="1200" baseline="-25000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m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 + 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m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Times New Roman"/>
                          <a:cs typeface="Consolas"/>
                        </a:rPr>
                        <a:t>[R4,R5]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004">
                <a:tc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[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2400" kern="120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,R</a:t>
                      </a:r>
                      <a:r>
                        <a:rPr lang="en-US" sz="2400" kern="1200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m</a:t>
                      </a:r>
                      <a:r>
                        <a:rPr lang="en-US" sz="2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,LSL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 constant]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n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 + (R</a:t>
                      </a:r>
                      <a:r>
                        <a:rPr lang="en-US" sz="2400" kern="12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m</a:t>
                      </a: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 &lt;&lt; constant)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eaLnBrk="0" fontAlgn="base" hangingPunct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2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/>
                          <a:cs typeface="Consolas"/>
                        </a:rPr>
                        <a:t>[R4,R5,LSL 2]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</a:endParaRPr>
                    </a:p>
                  </a:txBody>
                  <a:tcPr marL="45720" marR="4572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1026128"/>
                  </a:ext>
                </a:extLst>
              </a:tr>
            </a:tbl>
          </a:graphicData>
        </a:graphic>
      </p:graphicFrame>
      <p:grpSp>
        <p:nvGrpSpPr>
          <p:cNvPr id="40" name="Group 39"/>
          <p:cNvGrpSpPr/>
          <p:nvPr/>
        </p:nvGrpSpPr>
        <p:grpSpPr>
          <a:xfrm>
            <a:off x="2531896" y="3555684"/>
            <a:ext cx="7343589" cy="2754441"/>
            <a:chOff x="996461" y="3099655"/>
            <a:chExt cx="6843948" cy="2432114"/>
          </a:xfrm>
        </p:grpSpPr>
        <p:sp>
          <p:nvSpPr>
            <p:cNvPr id="41" name="Rectangle 40"/>
            <p:cNvSpPr/>
            <p:nvPr/>
          </p:nvSpPr>
          <p:spPr>
            <a:xfrm>
              <a:off x="3146862" y="3358839"/>
              <a:ext cx="1447799" cy="304800"/>
            </a:xfrm>
            <a:prstGeom prst="rect">
              <a:avLst/>
            </a:prstGeom>
            <a:solidFill>
              <a:srgbClr val="FFFF00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135310" y="3353659"/>
              <a:ext cx="1447800" cy="304800"/>
            </a:xfrm>
            <a:prstGeom prst="rect">
              <a:avLst/>
            </a:prstGeom>
            <a:solidFill>
              <a:srgbClr val="FFFF00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R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3" name="Oval 42"/>
            <p:cNvSpPr/>
            <p:nvPr/>
          </p:nvSpPr>
          <p:spPr>
            <a:xfrm>
              <a:off x="5630610" y="4912555"/>
              <a:ext cx="457200" cy="457200"/>
            </a:xfrm>
            <a:prstGeom prst="ellipse">
              <a:avLst/>
            </a:prstGeom>
            <a:solidFill>
              <a:srgbClr val="FFFF00"/>
            </a:solidFill>
            <a:ln w="3175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+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3146862" y="4191813"/>
              <a:ext cx="1447800" cy="381000"/>
              <a:chOff x="3691447" y="2363013"/>
              <a:chExt cx="1447800" cy="381000"/>
            </a:xfrm>
          </p:grpSpPr>
          <p:sp>
            <p:nvSpPr>
              <p:cNvPr id="73" name="Trapezoid 72"/>
              <p:cNvSpPr/>
              <p:nvPr/>
            </p:nvSpPr>
            <p:spPr>
              <a:xfrm rot="10800000">
                <a:off x="3691447" y="2363013"/>
                <a:ext cx="1447800" cy="381000"/>
              </a:xfrm>
              <a:prstGeom prst="trapezoid">
                <a:avLst/>
              </a:prstGeom>
              <a:solidFill>
                <a:srgbClr val="FFFF00"/>
              </a:solidFill>
              <a:ln w="31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74" name="TextBox 73"/>
              <p:cNvSpPr txBox="1"/>
              <p:nvPr/>
            </p:nvSpPr>
            <p:spPr>
              <a:xfrm>
                <a:off x="3691447" y="2405458"/>
                <a:ext cx="1447799" cy="298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left shifter</a:t>
                </a:r>
              </a:p>
            </p:txBody>
          </p:sp>
        </p:grpSp>
        <p:cxnSp>
          <p:nvCxnSpPr>
            <p:cNvPr id="46" name="Straight Arrow Connector 45"/>
            <p:cNvCxnSpPr>
              <a:stCxn id="42" idx="2"/>
              <a:endCxn id="43" idx="0"/>
            </p:cNvCxnSpPr>
            <p:nvPr/>
          </p:nvCxnSpPr>
          <p:spPr>
            <a:xfrm>
              <a:off x="5859210" y="3658459"/>
              <a:ext cx="0" cy="125409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>
              <a:stCxn id="41" idx="2"/>
              <a:endCxn id="73" idx="2"/>
            </p:cNvCxnSpPr>
            <p:nvPr/>
          </p:nvCxnSpPr>
          <p:spPr>
            <a:xfrm>
              <a:off x="3870762" y="3663639"/>
              <a:ext cx="0" cy="528173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lbow Connector 66"/>
            <p:cNvCxnSpPr>
              <a:stCxn id="73" idx="0"/>
              <a:endCxn id="43" idx="2"/>
            </p:cNvCxnSpPr>
            <p:nvPr/>
          </p:nvCxnSpPr>
          <p:spPr>
            <a:xfrm rot="16200000" flipH="1">
              <a:off x="4466515" y="3977060"/>
              <a:ext cx="568343" cy="1759848"/>
            </a:xfrm>
            <a:prstGeom prst="bentConnector2">
              <a:avLst/>
            </a:prstGeom>
            <a:ln w="12700">
              <a:solidFill>
                <a:srgbClr val="FF000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996461" y="3099655"/>
              <a:ext cx="1731375" cy="586154"/>
              <a:chOff x="1541046" y="1270855"/>
              <a:chExt cx="1731375" cy="586154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1613895" y="1552209"/>
                <a:ext cx="1524000" cy="304800"/>
              </a:xfrm>
              <a:prstGeom prst="rect">
                <a:avLst/>
              </a:prstGeom>
              <a:solidFill>
                <a:schemeClr val="bg2"/>
              </a:solidFill>
              <a:ln w="31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z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2304585" y="1612276"/>
                <a:ext cx="762000" cy="163056"/>
              </a:xfrm>
              <a:prstGeom prst="rect">
                <a:avLst/>
              </a:prstGeom>
              <a:solidFill>
                <a:srgbClr val="FFFF00"/>
              </a:solidFill>
              <a:ln w="3175">
                <a:solidFill>
                  <a:schemeClr val="tx1"/>
                </a:solidFill>
              </a:ln>
            </p:spPr>
            <p:txBody>
              <a:bodyPr wrap="square" t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constant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1541046" y="1270855"/>
                <a:ext cx="1731375" cy="271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Instruction Register</a:t>
                </a: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6087810" y="4879545"/>
              <a:ext cx="1752599" cy="652224"/>
              <a:chOff x="6632395" y="3050745"/>
              <a:chExt cx="1752599" cy="652224"/>
            </a:xfrm>
          </p:grpSpPr>
          <p:cxnSp>
            <p:nvCxnSpPr>
              <p:cNvPr id="62" name="Straight Arrow Connector 61"/>
              <p:cNvCxnSpPr>
                <a:stCxn id="43" idx="6"/>
              </p:cNvCxnSpPr>
              <p:nvPr/>
            </p:nvCxnSpPr>
            <p:spPr>
              <a:xfrm>
                <a:off x="6632395" y="3312355"/>
                <a:ext cx="685800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7342287" y="3050745"/>
                <a:ext cx="1042707" cy="652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Register Offset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Address</a:t>
                </a:r>
              </a:p>
            </p:txBody>
          </p:sp>
        </p:grpSp>
        <p:cxnSp>
          <p:nvCxnSpPr>
            <p:cNvPr id="55" name="Elbow Connector 54"/>
            <p:cNvCxnSpPr>
              <a:stCxn id="65" idx="2"/>
              <a:endCxn id="74" idx="1"/>
            </p:cNvCxnSpPr>
            <p:nvPr/>
          </p:nvCxnSpPr>
          <p:spPr>
            <a:xfrm rot="16200000" flipH="1">
              <a:off x="2255035" y="3511707"/>
              <a:ext cx="777793" cy="1005862"/>
            </a:xfrm>
            <a:prstGeom prst="bentConnector2">
              <a:avLst/>
            </a:prstGeom>
            <a:ln w="12700">
              <a:solidFill>
                <a:srgbClr val="FF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1653244" y="5241505"/>
            <a:ext cx="2810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#bits to shift left: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Only 0, 1, 2, or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(Multiply by 1, 2, 4, or 8)</a:t>
            </a:r>
          </a:p>
        </p:txBody>
      </p:sp>
      <p:cxnSp>
        <p:nvCxnSpPr>
          <p:cNvPr id="5" name="Straight Arrow Connector 4"/>
          <p:cNvCxnSpPr>
            <a:stCxn id="4" idx="0"/>
          </p:cNvCxnSpPr>
          <p:nvPr/>
        </p:nvCxnSpPr>
        <p:spPr>
          <a:xfrm flipV="1">
            <a:off x="3058480" y="4089355"/>
            <a:ext cx="568442" cy="1152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776957" y="2580830"/>
            <a:ext cx="1888621" cy="1262521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616035" y="2572284"/>
            <a:ext cx="776747" cy="127106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99669" y="4177866"/>
            <a:ext cx="222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Base Address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8972" y="4148791"/>
            <a:ext cx="2225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606" y="5225343"/>
            <a:ext cx="2135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Multiplication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by 2, 4 or 8</a:t>
            </a:r>
          </a:p>
        </p:txBody>
      </p:sp>
    </p:spTree>
    <p:extLst>
      <p:ext uri="{BB962C8B-B14F-4D97-AF65-F5344CB8AC3E}">
        <p14:creationId xmlns:p14="http://schemas.microsoft.com/office/powerpoint/2010/main" val="19687844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967" y="743007"/>
            <a:ext cx="6583780" cy="706802"/>
          </a:xfrm>
        </p:spPr>
        <p:txBody>
          <a:bodyPr>
            <a:normAutofit/>
          </a:bodyPr>
          <a:lstStyle/>
          <a:p>
            <a:r>
              <a:rPr lang="en-US" dirty="0"/>
              <a:t>Subscripted Array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8158" y="1785012"/>
            <a:ext cx="5848705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int32_t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[4];	//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is an array of four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32-bit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integers.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// Each 32-bit integer is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bytes.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47752" y="1785011"/>
          <a:ext cx="2438400" cy="1478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100777972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68787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2488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sz="1800" dirty="0">
                          <a:latin typeface="Consolas" panose="020B0609020204030204" pitchFamily="49" charset="0"/>
                        </a:rPr>
                        <a:t>[3]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4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2484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910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2480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26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2476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92D050"/>
                          </a:solidFill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[0]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906580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018158" y="2684272"/>
            <a:ext cx="537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of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must be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computed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at run-time: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5110" y="3024818"/>
            <a:ext cx="49160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R0,=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R0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[0]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     //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66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[R0,R1,LSL 2]	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k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9689540" y="1628407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9980109" y="1500329"/>
            <a:ext cx="877444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 bits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21C90A-7E16-45B7-992B-F8A80A117DA6}"/>
              </a:ext>
            </a:extLst>
          </p:cNvPr>
          <p:cNvSpPr txBox="1"/>
          <p:nvPr/>
        </p:nvSpPr>
        <p:spPr>
          <a:xfrm>
            <a:off x="2133600" y="6043021"/>
            <a:ext cx="4916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R1,=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+8           // R1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LDR R2,[R1]           // R2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[2]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D89D0D-9CC9-4F4C-9DBA-20A9C31F02C2}"/>
              </a:ext>
            </a:extLst>
          </p:cNvPr>
          <p:cNvCxnSpPr/>
          <p:nvPr/>
        </p:nvCxnSpPr>
        <p:spPr>
          <a:xfrm>
            <a:off x="9689540" y="3441889"/>
            <a:ext cx="1371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C35A637-9EA4-4836-8137-774E69347BE2}"/>
              </a:ext>
            </a:extLst>
          </p:cNvPr>
          <p:cNvSpPr/>
          <p:nvPr/>
        </p:nvSpPr>
        <p:spPr>
          <a:xfrm>
            <a:off x="9903910" y="3313811"/>
            <a:ext cx="953643" cy="273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 bytes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BF27CE-FEDD-403C-8FB8-D5AA046FCC08}"/>
              </a:ext>
            </a:extLst>
          </p:cNvPr>
          <p:cNvSpPr/>
          <p:nvPr/>
        </p:nvSpPr>
        <p:spPr>
          <a:xfrm>
            <a:off x="2133600" y="5100399"/>
            <a:ext cx="56350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it’s simpler when the subscript is a constant: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The symbol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[0], thus ‘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’ = &amp;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[2]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/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address =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+ 4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Suppose k = 2: address = 2476 + 4x2 = 2484</a:t>
                </a: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8102586-AF57-4D39-9C5F-29774537D0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1" y="4225147"/>
                <a:ext cx="4946522" cy="646331"/>
              </a:xfrm>
              <a:prstGeom prst="rect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31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3481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374065" y="5496465"/>
            <a:ext cx="1524167" cy="266661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4065" y="5240622"/>
            <a:ext cx="1553095" cy="255843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374065" y="3100401"/>
            <a:ext cx="1828800" cy="223649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74065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926264" y="721655"/>
            <a:ext cx="5049420" cy="653956"/>
          </a:xfrm>
        </p:spPr>
        <p:txBody>
          <a:bodyPr>
            <a:normAutofit/>
          </a:bodyPr>
          <a:lstStyle/>
          <a:p>
            <a:r>
              <a:rPr lang="en-US" dirty="0"/>
              <a:t>POINTERS &amp; ARRAYS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2005267"/>
          <a:ext cx="8229600" cy="2112962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95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void f1(int8_t *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){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341313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*(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p16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+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)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//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aseline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Init</a:t>
                      </a:r>
                      <a:r>
                        <a:rPr lang="en-US" sz="1400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Arial"/>
                          <a:cs typeface="Calibri"/>
                        </a:rPr>
                        <a:t>two arrays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f1:	LDR	R3,=0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STRB	R3,[R0,R2]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  <a:tab pos="1143000" algn="l"/>
                          <a:tab pos="2000250" algn="l"/>
                        </a:tabLst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]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  <a:tab pos="200025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981200" y="4443667"/>
          <a:ext cx="8229600" cy="1751521"/>
        </p:xfrm>
        <a:graphic>
          <a:graphicData uri="http://schemas.openxmlformats.org/drawingml/2006/table">
            <a:tbl>
              <a:tblPr firstRow="1" firstCol="1" bandRow="1"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C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Function in assembly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void f2(int8_t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[], int16_t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a16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[]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, int32_t 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){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a8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 = 0;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a16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[</a:t>
                      </a:r>
                      <a:r>
                        <a:rPr lang="en-US" sz="1400" b="1" dirty="0">
                          <a:solidFill>
                            <a:srgbClr val="0066FF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k32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 = 0;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Times New Roman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41313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}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tabLst>
                          <a:tab pos="341313" algn="l"/>
                        </a:tabLst>
                      </a:pP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65760" algn="l"/>
                          <a:tab pos="765810" algn="l"/>
                          <a:tab pos="113157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Times New Roman"/>
                          <a:cs typeface="Calibri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f2:	LDR	R3,=0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STRB	R3,[R0,R2]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	STRH	R3,[R1,R2,LSL</a:t>
                      </a:r>
                      <a:r>
                        <a:rPr lang="en-US" sz="1400" b="1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 1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Times New Roman"/>
                        </a:rPr>
                        <a:t>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57200" algn="l"/>
                          <a:tab pos="1143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Arial"/>
                          <a:cs typeface="Calibri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/>
                          <a:cs typeface="Calibri"/>
                        </a:rPr>
                        <a:t>	BX	LR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31470" algn="l"/>
                          <a:tab pos="788670" algn="l"/>
                          <a:tab pos="868680" algn="l"/>
                          <a:tab pos="1645920" algn="l"/>
                          <a:tab pos="2286000" algn="l"/>
                        </a:tabLs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4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91400" y="2832737"/>
            <a:ext cx="1828800" cy="25953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91400" y="3104574"/>
            <a:ext cx="2514600" cy="219476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417724" y="5240622"/>
            <a:ext cx="1828800" cy="241768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414260" y="5486909"/>
            <a:ext cx="2415540" cy="248484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E26D54BB-1D43-499B-8369-5141D62E9561}"/>
              </a:ext>
            </a:extLst>
          </p:cNvPr>
          <p:cNvSpPr/>
          <p:nvPr/>
        </p:nvSpPr>
        <p:spPr>
          <a:xfrm>
            <a:off x="9258716" y="3565738"/>
            <a:ext cx="533400" cy="1258879"/>
          </a:xfrm>
          <a:prstGeom prst="upDownArrow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35962F-A5D1-4806-932A-70F93E8C8929}"/>
              </a:ext>
            </a:extLst>
          </p:cNvPr>
          <p:cNvSpPr txBox="1"/>
          <p:nvPr/>
        </p:nvSpPr>
        <p:spPr>
          <a:xfrm>
            <a:off x="7414260" y="3902791"/>
            <a:ext cx="1832264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Identical code!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4768181" y="3061749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pointers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6A157D-3238-4DF7-9BF1-02EE80108A63}"/>
              </a:ext>
            </a:extLst>
          </p:cNvPr>
          <p:cNvSpPr txBox="1"/>
          <p:nvPr/>
        </p:nvSpPr>
        <p:spPr>
          <a:xfrm>
            <a:off x="4777741" y="5400194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Parameters are  arrays</a:t>
            </a:r>
          </a:p>
        </p:txBody>
      </p:sp>
    </p:spTree>
    <p:extLst>
      <p:ext uri="{BB962C8B-B14F-4D97-AF65-F5344CB8AC3E}">
        <p14:creationId xmlns:p14="http://schemas.microsoft.com/office/powerpoint/2010/main" val="2875098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C3475-5E69-459C-B615-63ECD8F2DB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F93CC4-B6C2-4D37-819B-50AD6F8F6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Examples</a:t>
            </a:r>
          </a:p>
        </p:txBody>
      </p:sp>
    </p:spTree>
    <p:extLst>
      <p:ext uri="{BB962C8B-B14F-4D97-AF65-F5344CB8AC3E}">
        <p14:creationId xmlns:p14="http://schemas.microsoft.com/office/powerpoint/2010/main" val="230884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6429" y="1251284"/>
            <a:ext cx="6093992" cy="14670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Return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*ps16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716383" y="4764507"/>
            <a:ext cx="6701585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(a 32-bit </a:t>
            </a:r>
            <a:r>
              <a:rPr lang="en-US" sz="1800" b="1" dirty="0" err="1">
                <a:solidFill>
                  <a:srgbClr val="0066FF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foo:	LDR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800" dirty="0">
                <a:latin typeface="Consolas" panose="020B0609020204030204" pitchFamily="49" charset="0"/>
              </a:rPr>
              <a:t>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]	//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2193" y="5288603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406BAC-2D69-4E5E-9208-343B757F8CB9}"/>
              </a:ext>
            </a:extLst>
          </p:cNvPr>
          <p:cNvSpPr/>
          <p:nvPr/>
        </p:nvSpPr>
        <p:spPr>
          <a:xfrm>
            <a:off x="3060034" y="3105236"/>
            <a:ext cx="5416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5354053" y="5045242"/>
            <a:ext cx="1576136" cy="497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8943139" y="1661627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06_one</a:t>
            </a:r>
          </a:p>
        </p:txBody>
      </p:sp>
    </p:spTree>
    <p:extLst>
      <p:ext uri="{BB962C8B-B14F-4D97-AF65-F5344CB8AC3E}">
        <p14:creationId xmlns:p14="http://schemas.microsoft.com/office/powerpoint/2010/main" val="4776837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2550696" y="2454447"/>
            <a:ext cx="7467600" cy="1736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Note: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  <a:r>
              <a:rPr lang="en-US" sz="2000" dirty="0">
                <a:latin typeface="Consolas" panose="020B0609020204030204" pitchFamily="49" charset="0"/>
              </a:rPr>
              <a:t> is a </a:t>
            </a:r>
            <a:r>
              <a:rPr lang="en-US" sz="2000" u="sng" dirty="0">
                <a:latin typeface="Consolas" panose="020B0609020204030204" pitchFamily="49" charset="0"/>
              </a:rPr>
              <a:t>pointer</a:t>
            </a:r>
            <a:r>
              <a:rPr lang="en-US" sz="2000" dirty="0">
                <a:latin typeface="Consolas" panose="020B0609020204030204" pitchFamily="49" charset="0"/>
              </a:rPr>
              <a:t> to [a pointer to 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  <a:r>
              <a:rPr lang="en-US" sz="2000" dirty="0">
                <a:latin typeface="Consolas" panose="020B0609020204030204" pitchFamily="49" charset="0"/>
              </a:rPr>
              <a:t> is a </a:t>
            </a:r>
            <a:r>
              <a:rPr lang="en-US" sz="2000" u="sng" dirty="0">
                <a:latin typeface="Consolas" panose="020B0609020204030204" pitchFamily="49" charset="0"/>
              </a:rPr>
              <a:t>pointer</a:t>
            </a:r>
            <a:r>
              <a:rPr lang="en-US" sz="2000" dirty="0">
                <a:latin typeface="Consolas" panose="020B0609020204030204" pitchFamily="49" charset="0"/>
              </a:rPr>
              <a:t> to [an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</a:p>
          <a:p>
            <a:pPr>
              <a:buFont typeface="+mj-lt"/>
              <a:buAutoNum type="arabicPeriod"/>
            </a:pPr>
            <a:r>
              <a:rPr lang="en-US" sz="2000" dirty="0">
                <a:latin typeface="Consolas" panose="020B0609020204030204" pitchFamily="49" charset="0"/>
              </a:rPr>
              <a:t>**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  <a:r>
              <a:rPr lang="en-US" sz="2000" dirty="0">
                <a:latin typeface="Consolas" panose="020B0609020204030204" pitchFamily="49" charset="0"/>
              </a:rPr>
              <a:t> is an </a:t>
            </a:r>
            <a:r>
              <a:rPr lang="en-US" sz="2000" b="1" u="sng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3862963" y="4596068"/>
            <a:ext cx="5497286" cy="19165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86000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  <a:r>
              <a:rPr lang="en-US" sz="1800" dirty="0">
                <a:latin typeface="Consolas" panose="020B0609020204030204" pitchFamily="49" charset="0"/>
              </a:rPr>
              <a:t> (a 32-bit </a:t>
            </a:r>
            <a:r>
              <a:rPr lang="en-US" sz="1800" dirty="0" err="1">
                <a:latin typeface="Consolas" panose="020B0609020204030204" pitchFamily="49" charset="0"/>
              </a:rPr>
              <a:t>ptr</a:t>
            </a:r>
            <a:r>
              <a:rPr lang="en-US" sz="1800" dirty="0"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latin typeface="Consolas" panose="020B0609020204030204" pitchFamily="49" charset="0"/>
              </a:rPr>
              <a:t> *)</a:t>
            </a:r>
          </a:p>
          <a:p>
            <a:pPr marL="0" indent="0">
              <a:buNone/>
              <a:tabLst>
                <a:tab pos="457200" algn="l"/>
                <a:tab pos="1608138" algn="l"/>
                <a:tab pos="2566988" algn="l"/>
              </a:tabLst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  <a:tab pos="25669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foo:	LDR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]		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</a:p>
          <a:p>
            <a:pPr marL="0" indent="0">
              <a:buNone/>
              <a:tabLst>
                <a:tab pos="685800" algn="l"/>
                <a:tab pos="1608138" algn="l"/>
                <a:tab pos="25669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]		//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**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pps16</a:t>
            </a:r>
          </a:p>
          <a:p>
            <a:pPr marL="0" indent="0">
              <a:buNone/>
              <a:tabLst>
                <a:tab pos="685800" algn="l"/>
                <a:tab pos="1608138" algn="l"/>
                <a:tab pos="25669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6847" y="5221875"/>
            <a:ext cx="422910" cy="445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56612" y="1119553"/>
            <a:ext cx="70974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return the value **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pps16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pointing 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foo(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**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pps16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return **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pps16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;	// Parsed as *(*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pps16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580021" y="4860758"/>
            <a:ext cx="1507958" cy="509337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735053" y="5606716"/>
            <a:ext cx="473242" cy="172452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8943139" y="1661627"/>
            <a:ext cx="1832264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07_two</a:t>
            </a:r>
          </a:p>
        </p:txBody>
      </p:sp>
    </p:spTree>
    <p:extLst>
      <p:ext uri="{BB962C8B-B14F-4D97-AF65-F5344CB8AC3E}">
        <p14:creationId xmlns:p14="http://schemas.microsoft.com/office/powerpoint/2010/main" val="39308604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98906" y="1008777"/>
            <a:ext cx="6639506" cy="1726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</a:rPr>
              <a:t>// next address to next element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+ 1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 //  pointer arithmetic!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343401" y="4792589"/>
            <a:ext cx="5148943" cy="16002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 R0 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547813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#2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=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 + 1</a:t>
            </a:r>
          </a:p>
          <a:p>
            <a:pPr marL="0" indent="0">
              <a:buNone/>
              <a:tabLst>
                <a:tab pos="685800" algn="l"/>
                <a:tab pos="1547813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BX	LR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59214" y="5265841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15D2A9-0FD3-41B9-AA0E-1C969FEDCC67}"/>
              </a:ext>
            </a:extLst>
          </p:cNvPr>
          <p:cNvSpPr/>
          <p:nvPr/>
        </p:nvSpPr>
        <p:spPr>
          <a:xfrm>
            <a:off x="2743200" y="3014927"/>
            <a:ext cx="6858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812375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702228" y="854250"/>
            <a:ext cx="7237235" cy="124325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// Get the value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is pointing to and add 1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	return 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+ 1 ;	// parsed as (*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) + 1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76800" y="4724405"/>
            <a:ext cx="5486400" cy="191244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,#1	// R0 = *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34853" y="5209679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F48FF-B06B-4842-B2C4-DBF97879C7A0}"/>
              </a:ext>
            </a:extLst>
          </p:cNvPr>
          <p:cNvSpPr/>
          <p:nvPr/>
        </p:nvSpPr>
        <p:spPr>
          <a:xfrm>
            <a:off x="2895600" y="2542355"/>
            <a:ext cx="63080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an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is regular integer arithmetic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5518484" y="5017168"/>
            <a:ext cx="1648327" cy="489285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174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680414" y="1044378"/>
            <a:ext cx="6825912" cy="1228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*(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ps16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+ 1);	// pointer arithmetic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5143264" y="3871982"/>
            <a:ext cx="5181599" cy="1905001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 = ps16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int16_t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  <a:tab pos="2514600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latin typeface="Consolas" panose="020B0609020204030204" pitchFamily="49" charset="0"/>
              </a:rPr>
              <a:t>,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,#2	// R0 = ps16 + 1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LDRSH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0066FF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*(ps16 + 1)</a:t>
            </a:r>
          </a:p>
          <a:p>
            <a:pPr marL="0" indent="0">
              <a:buNone/>
              <a:tabLst>
                <a:tab pos="685800" algn="l"/>
                <a:tab pos="1608138" algn="l"/>
                <a:tab pos="2514600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7198" y="4437970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4406862" y="5946795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3264" y="5963940"/>
            <a:ext cx="5181599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LDRSH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E94255-4593-4F80-BBE2-0219EB61E96E}"/>
              </a:ext>
            </a:extLst>
          </p:cNvPr>
          <p:cNvSpPr/>
          <p:nvPr/>
        </p:nvSpPr>
        <p:spPr>
          <a:xfrm>
            <a:off x="2783309" y="2465174"/>
            <a:ext cx="7162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ps16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int16_t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835316" y="4122821"/>
            <a:ext cx="1548063" cy="533400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958263" y="4907060"/>
            <a:ext cx="537411" cy="150214"/>
          </a:xfrm>
          <a:prstGeom prst="straightConnector1">
            <a:avLst/>
          </a:prstGeom>
          <a:ln w="190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03195" y="5163675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1267924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1828800" y="972310"/>
            <a:ext cx="4038600" cy="1197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latin typeface="Consolas" panose="020B0609020204030204" pitchFamily="49" charset="0"/>
              </a:rPr>
              <a:t>[]){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latin typeface="Consolas" panose="020B0609020204030204" pitchFamily="49" charset="0"/>
              </a:rPr>
              <a:t>[1];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800600" y="4032616"/>
            <a:ext cx="5067300" cy="1752600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457200" algn="l"/>
                <a:tab pos="1371600" algn="l"/>
                <a:tab pos="2236788" algn="l"/>
              </a:tabLst>
            </a:pPr>
            <a:r>
              <a:rPr lang="en-US" sz="1800" dirty="0"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 = a32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457200" algn="l"/>
                <a:tab pos="1608138" algn="l"/>
              </a:tabLst>
            </a:pPr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foo:	ADD	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,#4	// R0 = a32 + 1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LDR</a:t>
            </a:r>
            <a:r>
              <a:rPr lang="en-US" sz="1800" dirty="0">
                <a:latin typeface="Consolas" panose="020B0609020204030204" pitchFamily="49" charset="0"/>
              </a:rPr>
              <a:t>	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8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]	// R0 = a32[1]</a:t>
            </a:r>
          </a:p>
          <a:p>
            <a:pPr marL="0" indent="0">
              <a:buNone/>
              <a:tabLst>
                <a:tab pos="685800" algn="l"/>
                <a:tab pos="1608138" algn="l"/>
              </a:tabLst>
            </a:pP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8100" y="4737466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865245" y="5859016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00600" y="6001625"/>
            <a:ext cx="50673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,#4]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08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CA02C6-2522-40E7-BAC6-01C92FEAD4D0}"/>
              </a:ext>
            </a:extLst>
          </p:cNvPr>
          <p:cNvSpPr/>
          <p:nvPr/>
        </p:nvSpPr>
        <p:spPr>
          <a:xfrm>
            <a:off x="2895600" y="2354874"/>
            <a:ext cx="754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[1]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   is 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[next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+1)  is the next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5386137" y="4311316"/>
            <a:ext cx="1584158" cy="52537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585284" y="5048266"/>
            <a:ext cx="557463" cy="173439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48100" y="529359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0961359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994610" y="755238"/>
            <a:ext cx="5967664" cy="1188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foo(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[],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  <a:tabLst>
                <a:tab pos="457200" algn="l"/>
                <a:tab pos="2916238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sz="20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20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267200" y="3549160"/>
            <a:ext cx="6019800" cy="2348684"/>
          </a:xfr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ptr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 to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int32_t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 = k32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(a 32-bit </a:t>
            </a:r>
            <a:r>
              <a:rPr lang="en-US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  <a:tabLst>
                <a:tab pos="574675" algn="l"/>
                <a:tab pos="1652588" algn="l"/>
                <a:tab pos="2286000" algn="l"/>
              </a:tabLst>
            </a:pPr>
            <a:endParaRPr 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foo:	LSL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R1,R1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,#2	// 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endParaRPr lang="en-US" sz="16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R0,R0</a:t>
            </a:r>
            <a:r>
              <a:rPr lang="en-US" sz="1600" dirty="0">
                <a:latin typeface="Consolas" panose="020B0609020204030204" pitchFamily="49" charset="0"/>
              </a:rPr>
              <a:t>,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R1</a:t>
            </a:r>
            <a:r>
              <a:rPr lang="en-US" sz="1600" dirty="0"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//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latin typeface="Consolas" panose="020B0609020204030204" pitchFamily="49" charset="0"/>
              </a:rPr>
              <a:t> + 4*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latin typeface="Consolas" panose="020B0609020204030204" pitchFamily="49" charset="0"/>
              </a:rPr>
              <a:t>	LDR	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,[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</a:rPr>
              <a:t>	// 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R0</a:t>
            </a:r>
            <a:r>
              <a:rPr lang="en-US" sz="1600" dirty="0">
                <a:latin typeface="Consolas" panose="020B0609020204030204" pitchFamily="49" charset="0"/>
              </a:rPr>
              <a:t> = </a:t>
            </a:r>
            <a:r>
              <a:rPr lang="en-US" sz="1600" b="1" dirty="0">
                <a:solidFill>
                  <a:srgbClr val="92D050"/>
                </a:solidFill>
                <a:latin typeface="Consolas" panose="020B0609020204030204" pitchFamily="49" charset="0"/>
              </a:rPr>
              <a:t>a32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0066FF"/>
                </a:solidFill>
                <a:latin typeface="Consolas" panose="020B0609020204030204" pitchFamily="49" charset="0"/>
              </a:rPr>
              <a:t>k32</a:t>
            </a: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  <a:tabLst>
                <a:tab pos="685800" algn="l"/>
                <a:tab pos="1652588" algn="l"/>
                <a:tab pos="2286000" algn="l"/>
              </a:tabLst>
            </a:pPr>
            <a:r>
              <a:rPr lang="en-US" sz="1600" dirty="0">
                <a:solidFill>
                  <a:schemeClr val="tx1"/>
                </a:solidFill>
                <a:latin typeface="Consolas" panose="020B0609020204030204" pitchFamily="49" charset="0"/>
              </a:rPr>
              <a:t>	BX	LR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16845" y="4494055"/>
            <a:ext cx="422910" cy="34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Down Arrow 1"/>
          <p:cNvSpPr/>
          <p:nvPr/>
        </p:nvSpPr>
        <p:spPr>
          <a:xfrm rot="16200000">
            <a:off x="3433990" y="5880700"/>
            <a:ext cx="388620" cy="4229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67200" y="5963301"/>
            <a:ext cx="60198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foo:	LDR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,[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,LSL #2]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5800" algn="l"/>
                <a:tab pos="165258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BX	LR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2FB117-60AD-4EAB-A8CB-13F96379D3AE}"/>
              </a:ext>
            </a:extLst>
          </p:cNvPr>
          <p:cNvSpPr/>
          <p:nvPr/>
        </p:nvSpPr>
        <p:spPr>
          <a:xfrm>
            <a:off x="1989221" y="1801950"/>
            <a:ext cx="7772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Note: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is (same as)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[an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  is same as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is a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pointer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[the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 is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k32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int32_t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6148137" y="4836955"/>
            <a:ext cx="609600" cy="140108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148137" y="5209674"/>
            <a:ext cx="385010" cy="132347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2842" y="518273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7C62D-49E9-4152-A60E-4C44B86C2E7E}"/>
              </a:ext>
            </a:extLst>
          </p:cNvPr>
          <p:cNvSpPr txBox="1"/>
          <p:nvPr/>
        </p:nvSpPr>
        <p:spPr>
          <a:xfrm>
            <a:off x="9705475" y="828644"/>
            <a:ext cx="2366210" cy="12003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week3: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08_loopByteArray.s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09_loopWordArray.s</a:t>
            </a:r>
          </a:p>
        </p:txBody>
      </p:sp>
    </p:spTree>
    <p:extLst>
      <p:ext uri="{BB962C8B-B14F-4D97-AF65-F5344CB8AC3E}">
        <p14:creationId xmlns:p14="http://schemas.microsoft.com/office/powerpoint/2010/main" val="39173786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E9C50-3760-C22C-AB8B-6B659E5A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AD0EB-BEDF-F4B1-D9AF-B3A953517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BB635-33E6-DA89-3CC0-DC5E65F20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Pre and Post Indexing</a:t>
            </a:r>
          </a:p>
        </p:txBody>
      </p:sp>
    </p:spTree>
    <p:extLst>
      <p:ext uri="{BB962C8B-B14F-4D97-AF65-F5344CB8AC3E}">
        <p14:creationId xmlns:p14="http://schemas.microsoft.com/office/powerpoint/2010/main" val="19728626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720992"/>
              </p:ext>
            </p:extLst>
          </p:nvPr>
        </p:nvGraphicFramePr>
        <p:xfrm>
          <a:off x="2362201" y="4605062"/>
          <a:ext cx="4918969" cy="891452"/>
        </p:xfrm>
        <a:graphic>
          <a:graphicData uri="http://schemas.openxmlformats.org/drawingml/2006/table">
            <a:tbl>
              <a:tblPr firstRow="1" firstCol="1" bandRow="1"/>
              <a:tblGrid>
                <a:gridCol w="4631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Copy 44 bytes: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mem[R1]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mem[R0]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914400" algn="l"/>
                          <a:tab pos="22860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LDMIA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	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,{R2-R12}	//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regs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mem[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914400" algn="l"/>
                          <a:tab pos="22860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STMIA	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,{R2-R12}	// mem[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 =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regs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onsolas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50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13" t="16124" r="33551" b="66776"/>
          <a:stretch>
            <a:fillRect/>
          </a:stretch>
        </p:blipFill>
        <p:spPr bwMode="auto">
          <a:xfrm>
            <a:off x="6899565" y="4791771"/>
            <a:ext cx="3372293" cy="13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41648" y="778123"/>
            <a:ext cx="9497752" cy="67567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COPYING A BLOCK OF DATA QUICKLY 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847085"/>
              </p:ext>
            </p:extLst>
          </p:nvPr>
        </p:nvGraphicFramePr>
        <p:xfrm>
          <a:off x="1828799" y="1453796"/>
          <a:ext cx="8975560" cy="2918776"/>
        </p:xfrm>
        <a:graphic>
          <a:graphicData uri="http://schemas.openxmlformats.org/drawingml/2006/table">
            <a:tbl>
              <a:tblPr firstRow="1" firstCol="1" bandRow="1"/>
              <a:tblGrid>
                <a:gridCol w="158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5743">
                  <a:extLst>
                    <a:ext uri="{9D8B030D-6E8A-4147-A177-3AD203B41FA5}">
                      <a16:colId xmlns:a16="http://schemas.microsoft.com/office/drawing/2014/main" val="4083195326"/>
                    </a:ext>
                  </a:extLst>
                </a:gridCol>
              </a:tblGrid>
              <a:tr h="3063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Notes</a:t>
                      </a: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Load Multiple registers,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Increment After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LDMIA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!,{</a:t>
                      </a: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73025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registers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=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memory[R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]</a:t>
                      </a:r>
                    </a:p>
                    <a:p>
                      <a:pPr marL="342900" marR="0" indent="-34290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+ 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x #registers</a:t>
                      </a: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Addresses start with the address in R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/>
                        <a:cs typeface="Calibri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Updates R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only if write-back flag (!) is appended to R</a:t>
                      </a:r>
                      <a:r>
                        <a:rPr lang="en-US" sz="1600" baseline="-25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Store Multiple registers,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Increment After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STMIA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!,{</a:t>
                      </a: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73025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memory[R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]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=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registers </a:t>
                      </a:r>
                      <a:b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</a:b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=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+ 4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x #registers</a:t>
                      </a: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418934" y="5496514"/>
            <a:ext cx="4403417" cy="1015663"/>
            <a:chOff x="4495800" y="5442284"/>
            <a:chExt cx="4403417" cy="1015663"/>
          </a:xfrm>
        </p:grpSpPr>
        <p:sp>
          <p:nvSpPr>
            <p:cNvPr id="10" name="TextBox 9"/>
            <p:cNvSpPr txBox="1"/>
            <p:nvPr/>
          </p:nvSpPr>
          <p:spPr>
            <a:xfrm>
              <a:off x="4495800" y="5442284"/>
              <a:ext cx="4403417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Data must be word aligned (located at a mod 4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adrs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) or an address fault will occur. </a:t>
              </a:r>
            </a:p>
          </p:txBody>
        </p:sp>
        <p:pic>
          <p:nvPicPr>
            <p:cNvPr id="11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52674" y="555607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3713742" y="1823128"/>
            <a:ext cx="1185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 Address</a:t>
            </a:r>
          </a:p>
        </p:txBody>
      </p:sp>
      <p:cxnSp>
        <p:nvCxnSpPr>
          <p:cNvPr id="8" name="Straight Arrow Connector 7"/>
          <p:cNvCxnSpPr>
            <a:stCxn id="2" idx="2"/>
          </p:cNvCxnSpPr>
          <p:nvPr/>
        </p:nvCxnSpPr>
        <p:spPr>
          <a:xfrm>
            <a:off x="4306565" y="2100127"/>
            <a:ext cx="0" cy="2451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65879" y="3122862"/>
            <a:ext cx="1185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 Address</a:t>
            </a:r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>
            <a:off x="4358702" y="3399861"/>
            <a:ext cx="0" cy="2451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431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79" t="13354" r="32819" b="66612"/>
          <a:stretch>
            <a:fillRect/>
          </a:stretch>
        </p:blipFill>
        <p:spPr bwMode="auto">
          <a:xfrm>
            <a:off x="7342834" y="4828381"/>
            <a:ext cx="3248967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42473" y="751820"/>
            <a:ext cx="9918031" cy="639954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COPYING A BLOCK OF DATA QUICKLY 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1" y="4638466"/>
          <a:ext cx="4904433" cy="1355858"/>
        </p:xfrm>
        <a:graphic>
          <a:graphicData uri="http://schemas.openxmlformats.org/drawingml/2006/table">
            <a:tbl>
              <a:tblPr firstRow="1" firstCol="1" bandRow="1"/>
              <a:tblGrid>
                <a:gridCol w="4904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58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// Copy 44 bytes:</a:t>
                      </a:r>
                      <a:r>
                        <a:rPr lang="en-US" sz="1600" b="1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mem[R1-44] 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mem[R0-44]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914400" algn="l"/>
                          <a:tab pos="22860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LDMDB	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,{R2-R12}	// regs &lt;--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mem[</a:t>
                      </a:r>
                      <a:r>
                        <a:rPr lang="en-US" sz="1600" b="1" baseline="0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R0</a:t>
                      </a:r>
                      <a:r>
                        <a:rPr lang="en-US" sz="1600" baseline="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0375" algn="l"/>
                          <a:tab pos="914400" algn="l"/>
                          <a:tab pos="2286000" algn="l"/>
                        </a:tabLs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STMDB	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,{R2-R12}	//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regs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 --&gt; mem[</a:t>
                      </a: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R1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onsolas"/>
                          <a:ea typeface="Calibri"/>
                          <a:cs typeface="Calibri"/>
                        </a:rPr>
                        <a:t>]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905001" y="1455443"/>
          <a:ext cx="8381998" cy="2918776"/>
        </p:xfrm>
        <a:graphic>
          <a:graphicData uri="http://schemas.openxmlformats.org/drawingml/2006/table">
            <a:tbl>
              <a:tblPr firstRow="1" firstCol="1" bandRow="1"/>
              <a:tblGrid>
                <a:gridCol w="1828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7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879">
                  <a:extLst>
                    <a:ext uri="{9D8B030D-6E8A-4147-A177-3AD203B41FA5}">
                      <a16:colId xmlns:a16="http://schemas.microsoft.com/office/drawing/2014/main" val="2505385583"/>
                    </a:ext>
                  </a:extLst>
                </a:gridCol>
              </a:tblGrid>
              <a:tr h="3063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Instruction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Operation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Calibri"/>
                        </a:rPr>
                        <a:t>Notes</a:t>
                      </a:r>
                    </a:p>
                  </a:txBody>
                  <a:tcPr marL="6858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Load Multiple registers,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Decrement Before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LDMDB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!,{</a:t>
                      </a: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73025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- 4 x #registers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registers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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memory[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]</a:t>
                      </a: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Addresses end just before address in 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Updates 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only if write-back flag (!) is appended to 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.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Store Multiple registers,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Decrement Before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STMDB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0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!,{</a:t>
                      </a:r>
                      <a:r>
                        <a:rPr lang="en-US" sz="1600" i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 list}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0" marR="73025" marT="36830" marB="3683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="1" baseline="-25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 - 4 x #registers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registers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Wingdings"/>
                        </a:rPr>
                        <a:t>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 memory[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R</a:t>
                      </a:r>
                      <a:r>
                        <a:rPr lang="en-US" sz="1600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/>
                          <a:cs typeface="Calibri"/>
                        </a:rPr>
                        <a:t>n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]</a:t>
                      </a: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2422945" y="5588755"/>
            <a:ext cx="4403417" cy="1015663"/>
            <a:chOff x="4495800" y="5442284"/>
            <a:chExt cx="4403417" cy="1015663"/>
          </a:xfrm>
        </p:grpSpPr>
        <p:sp>
          <p:nvSpPr>
            <p:cNvPr id="10" name="TextBox 9"/>
            <p:cNvSpPr txBox="1"/>
            <p:nvPr/>
          </p:nvSpPr>
          <p:spPr>
            <a:xfrm>
              <a:off x="4495800" y="5442284"/>
              <a:ext cx="4403417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Data must be word aligned (located at a mod 4 </a:t>
              </a:r>
              <a:r>
                <a:rPr kumimoji="0" 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adrs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) or an address fault will occur. </a:t>
              </a:r>
            </a:p>
          </p:txBody>
        </p:sp>
        <p:pic>
          <p:nvPicPr>
            <p:cNvPr id="11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552674" y="555607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TextBox 11"/>
          <p:cNvSpPr txBox="1"/>
          <p:nvPr/>
        </p:nvSpPr>
        <p:spPr>
          <a:xfrm>
            <a:off x="4130837" y="1835160"/>
            <a:ext cx="1185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 Address</a:t>
            </a:r>
          </a:p>
        </p:txBody>
      </p:sp>
      <p:cxnSp>
        <p:nvCxnSpPr>
          <p:cNvPr id="13" name="Straight Arrow Connector 12"/>
          <p:cNvCxnSpPr>
            <a:stCxn id="12" idx="2"/>
          </p:cNvCxnSpPr>
          <p:nvPr/>
        </p:nvCxnSpPr>
        <p:spPr>
          <a:xfrm>
            <a:off x="4723660" y="2112159"/>
            <a:ext cx="0" cy="2451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30837" y="3116977"/>
            <a:ext cx="11856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Mem Address</a:t>
            </a:r>
          </a:p>
        </p:txBody>
      </p:sp>
      <p:cxnSp>
        <p:nvCxnSpPr>
          <p:cNvPr id="15" name="Straight Arrow Connector 14"/>
          <p:cNvCxnSpPr>
            <a:stCxn id="14" idx="2"/>
          </p:cNvCxnSpPr>
          <p:nvPr/>
        </p:nvCxnSpPr>
        <p:spPr>
          <a:xfrm>
            <a:off x="4723660" y="3393976"/>
            <a:ext cx="0" cy="2451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0660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8410" y="1845143"/>
          <a:ext cx="5830464" cy="3107383"/>
        </p:xfrm>
        <a:graphic>
          <a:graphicData uri="http://schemas.openxmlformats.org/drawingml/2006/table">
            <a:tbl>
              <a:tblPr firstRow="1" firstCol="1" bandRow="1"/>
              <a:tblGrid>
                <a:gridCol w="5830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738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// void Copy512Bytes(void *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dst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,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const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void *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src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)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indent="0">
                        <a:buNone/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latin typeface="Consolas" panose="020B0609020204030204" pitchFamily="49" charset="0"/>
                        </a:rPr>
                        <a:t>	          .global	Copy512Bytes</a:t>
                      </a:r>
                    </a:p>
                    <a:p>
                      <a:pPr marL="0" indent="0">
                        <a:buNone/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latin typeface="Consolas" panose="020B0609020204030204" pitchFamily="49" charset="0"/>
                        </a:rPr>
                        <a:t>	          .align</a:t>
                      </a:r>
                    </a:p>
                    <a:p>
                      <a:pPr marL="0" indent="0">
                        <a:buNone/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latin typeface="Consolas" panose="020B0609020204030204" pitchFamily="49" charset="0"/>
                        </a:rPr>
                        <a:t>	          .</a:t>
                      </a:r>
                      <a:r>
                        <a:rPr lang="en-US" sz="1100" dirty="0" err="1">
                          <a:latin typeface="Consolas" panose="020B0609020204030204" pitchFamily="49" charset="0"/>
                        </a:rPr>
                        <a:t>thumb_func</a:t>
                      </a:r>
                      <a:endParaRPr 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Copy512Bytes:</a:t>
                      </a:r>
                      <a:r>
                        <a:rPr lang="en-US" sz="110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PUSH	{R4-R11}	// Preserve registers R4 - R11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.</a:t>
                      </a: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rept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	11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LDMIA	R1!,{R2-R12}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STMIA	R0!,{R2-R12}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b="1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.</a:t>
                      </a:r>
                      <a:r>
                        <a:rPr lang="en-US" sz="1100" b="1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endr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// Copy the remaining 7*4 = 28 bytes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LDMIA	R1,{R2-R8}	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STMIA	R0,{R2-R8}	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POP	{R4-R11}	// Restore registers R4 - R11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BX	LR	// Return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463550" algn="l"/>
                          <a:tab pos="1200150" algn="l"/>
                          <a:tab pos="1312863" algn="l"/>
                          <a:tab pos="2058988" algn="l"/>
                        </a:tabLst>
                      </a:pPr>
                      <a:r>
                        <a:rPr lang="en-US" sz="1100" baseline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                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Calibri"/>
                          <a:cs typeface="Consolas" panose="020B0609020204030204" pitchFamily="49" charset="0"/>
                        </a:rPr>
                        <a:t>.end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Arial"/>
                        <a:cs typeface="Consolas" panose="020B0609020204030204" pitchFamily="49" charset="0"/>
                      </a:endParaRPr>
                    </a:p>
                  </a:txBody>
                  <a:tcPr marL="46001" marR="4600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itle 1"/>
          <p:cNvSpPr txBox="1">
            <a:spLocks/>
          </p:cNvSpPr>
          <p:nvPr/>
        </p:nvSpPr>
        <p:spPr>
          <a:xfrm>
            <a:off x="918410" y="751125"/>
            <a:ext cx="9765632" cy="620103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COPYING A BLOCK OF DATA QUICKLY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39000" y="1866836"/>
            <a:ext cx="378192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4185" algn="l"/>
                <a:tab pos="1200150" algn="l"/>
                <a:tab pos="24003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Each LDMIA/STMIA pair copies 11 words of 4 bytes (44 bytes) from mem[R1] to mem[R0], and adds 44 to R0 and R1 in preparation for the next pair.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4185" algn="l"/>
                <a:tab pos="1200150" algn="l"/>
                <a:tab pos="24003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4185" algn="l"/>
                <a:tab pos="1200150" algn="l"/>
                <a:tab pos="24003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The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rept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11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and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.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endr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directives insert 11 copies of the LDMIA/STMIA instruction pair, copying 484 bytes total.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4185" algn="l"/>
                <a:tab pos="1200150" algn="l"/>
                <a:tab pos="24003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4185" algn="l"/>
                <a:tab pos="1200150" algn="l"/>
                <a:tab pos="24003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This leaves 28 more bytes (for a total of 512) to be copied.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Arial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53750" y="5398364"/>
            <a:ext cx="791276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This approach trades memory for speed.  A loop would use  fewer instructions, but each repetition of a loop requires executing a branch instruction that takes time to flush and refill the instruction pipeline.</a:t>
            </a:r>
          </a:p>
        </p:txBody>
      </p:sp>
      <p:cxnSp>
        <p:nvCxnSpPr>
          <p:cNvPr id="8" name="Straight Connector 7"/>
          <p:cNvCxnSpPr>
            <a:stCxn id="7" idx="3"/>
          </p:cNvCxnSpPr>
          <p:nvPr/>
        </p:nvCxnSpPr>
        <p:spPr>
          <a:xfrm flipV="1">
            <a:off x="3954378" y="2442391"/>
            <a:ext cx="2630162" cy="78501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954378" y="3224466"/>
            <a:ext cx="3284622" cy="34224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906350" y="4066677"/>
            <a:ext cx="3256450" cy="2883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153750" y="2858461"/>
            <a:ext cx="1752600" cy="679112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64939" y="3021828"/>
            <a:ext cx="1789439" cy="411162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153750" y="3827716"/>
            <a:ext cx="1696355" cy="395372"/>
          </a:xfrm>
          <a:prstGeom prst="rect">
            <a:avLst/>
          </a:prstGeom>
          <a:solidFill>
            <a:srgbClr val="FF0000">
              <a:alpha val="1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94465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B01D-40C1-490E-BA11-AA474CE0F4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4</a:t>
            </a:r>
            <a:br>
              <a:rPr lang="en-US" dirty="0"/>
            </a:br>
            <a:r>
              <a:rPr lang="en-US" dirty="0"/>
              <a:t>Copying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8C74-37B1-403F-8531-FE230F60E7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6: Memory Performance</a:t>
            </a:r>
          </a:p>
        </p:txBody>
      </p:sp>
    </p:spTree>
    <p:extLst>
      <p:ext uri="{BB962C8B-B14F-4D97-AF65-F5344CB8AC3E}">
        <p14:creationId xmlns:p14="http://schemas.microsoft.com/office/powerpoint/2010/main" val="1137616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06330" y="3429000"/>
          <a:ext cx="773307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614">
                  <a:extLst>
                    <a:ext uri="{9D8B030D-6E8A-4147-A177-3AD203B41FA5}">
                      <a16:colId xmlns:a16="http://schemas.microsoft.com/office/drawing/2014/main" val="3699348726"/>
                    </a:ext>
                  </a:extLst>
                </a:gridCol>
                <a:gridCol w="1546614">
                  <a:extLst>
                    <a:ext uri="{9D8B030D-6E8A-4147-A177-3AD203B41FA5}">
                      <a16:colId xmlns:a16="http://schemas.microsoft.com/office/drawing/2014/main" val="1160173568"/>
                    </a:ext>
                  </a:extLst>
                </a:gridCol>
                <a:gridCol w="1546614">
                  <a:extLst>
                    <a:ext uri="{9D8B030D-6E8A-4147-A177-3AD203B41FA5}">
                      <a16:colId xmlns:a16="http://schemas.microsoft.com/office/drawing/2014/main" val="1549731386"/>
                    </a:ext>
                  </a:extLst>
                </a:gridCol>
                <a:gridCol w="1546614">
                  <a:extLst>
                    <a:ext uri="{9D8B030D-6E8A-4147-A177-3AD203B41FA5}">
                      <a16:colId xmlns:a16="http://schemas.microsoft.com/office/drawing/2014/main" val="1517412949"/>
                    </a:ext>
                  </a:extLst>
                </a:gridCol>
                <a:gridCol w="1546614">
                  <a:extLst>
                    <a:ext uri="{9D8B030D-6E8A-4147-A177-3AD203B41FA5}">
                      <a16:colId xmlns:a16="http://schemas.microsoft.com/office/drawing/2014/main" val="1993494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1028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287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1024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53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1020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85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1016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adrs</a:t>
                      </a:r>
                      <a:r>
                        <a:rPr lang="en-US" dirty="0"/>
                        <a:t> 1019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adrs</a:t>
                      </a:r>
                      <a:r>
                        <a:rPr lang="en-US" dirty="0"/>
                        <a:t> 1018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adrs</a:t>
                      </a:r>
                      <a:r>
                        <a:rPr lang="en-US" dirty="0"/>
                        <a:t> 1017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adrs</a:t>
                      </a:r>
                      <a:r>
                        <a:rPr lang="en-US" dirty="0"/>
                        <a:t> 1016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333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24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225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992622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230331" y="1417638"/>
            <a:ext cx="6172200" cy="8683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PROCESSOR</a:t>
            </a:r>
          </a:p>
        </p:txBody>
      </p:sp>
      <p:sp>
        <p:nvSpPr>
          <p:cNvPr id="23" name="Rectangular Callout 22"/>
          <p:cNvSpPr/>
          <p:nvPr/>
        </p:nvSpPr>
        <p:spPr>
          <a:xfrm>
            <a:off x="1636295" y="2492477"/>
            <a:ext cx="2149125" cy="685800"/>
          </a:xfrm>
          <a:prstGeom prst="wedgeRectCallout">
            <a:avLst>
              <a:gd name="adj1" fmla="val 85956"/>
              <a:gd name="adj2" fmla="val -1922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bits 0 &amp; 1 select 1 of 4 bytes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7747" y="3896697"/>
            <a:ext cx="22704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address bits 30-2 select one 32-bit physical word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(bits 0 &amp; 1 of word address = 00)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Title 26"/>
          <p:cNvSpPr>
            <a:spLocks noGrp="1"/>
          </p:cNvSpPr>
          <p:nvPr>
            <p:ph type="title"/>
          </p:nvPr>
        </p:nvSpPr>
        <p:spPr>
          <a:xfrm>
            <a:off x="948547" y="728723"/>
            <a:ext cx="6651400" cy="587151"/>
          </a:xfrm>
        </p:spPr>
        <p:txBody>
          <a:bodyPr/>
          <a:lstStyle/>
          <a:p>
            <a:r>
              <a:rPr lang="en-US" dirty="0"/>
              <a:t>PHYSICAL MEMORY DESIGN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230332" y="6513081"/>
            <a:ext cx="620906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63365" y="6445403"/>
            <a:ext cx="990600" cy="16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32-bits 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230332" y="2286001"/>
            <a:ext cx="1560869" cy="1071881"/>
            <a:chOff x="2706331" y="2286000"/>
            <a:chExt cx="1560869" cy="1071881"/>
          </a:xfrm>
        </p:grpSpPr>
        <p:sp>
          <p:nvSpPr>
            <p:cNvPr id="5" name="Up-Down Arrow 4"/>
            <p:cNvSpPr/>
            <p:nvPr/>
          </p:nvSpPr>
          <p:spPr>
            <a:xfrm>
              <a:off x="3315931" y="2286000"/>
              <a:ext cx="381000" cy="838201"/>
            </a:xfrm>
            <a:prstGeom prst="upDown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2706331" y="3276600"/>
              <a:ext cx="156086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3124200" y="3183357"/>
              <a:ext cx="838200" cy="174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8-bits 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791201" y="2280920"/>
            <a:ext cx="1560869" cy="1071881"/>
            <a:chOff x="2706331" y="2286000"/>
            <a:chExt cx="1560869" cy="1071881"/>
          </a:xfrm>
        </p:grpSpPr>
        <p:sp>
          <p:nvSpPr>
            <p:cNvPr id="19" name="Up-Down Arrow 18"/>
            <p:cNvSpPr/>
            <p:nvPr/>
          </p:nvSpPr>
          <p:spPr>
            <a:xfrm>
              <a:off x="3315931" y="2286000"/>
              <a:ext cx="381000" cy="838201"/>
            </a:xfrm>
            <a:prstGeom prst="upDown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2706331" y="3276600"/>
              <a:ext cx="156086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3124200" y="3183357"/>
              <a:ext cx="838200" cy="174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8-bits 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315201" y="2286001"/>
            <a:ext cx="1560869" cy="1071881"/>
            <a:chOff x="2706331" y="2286000"/>
            <a:chExt cx="1560869" cy="1071881"/>
          </a:xfrm>
        </p:grpSpPr>
        <p:sp>
          <p:nvSpPr>
            <p:cNvPr id="24" name="Up-Down Arrow 23"/>
            <p:cNvSpPr/>
            <p:nvPr/>
          </p:nvSpPr>
          <p:spPr>
            <a:xfrm>
              <a:off x="3315931" y="2286000"/>
              <a:ext cx="381000" cy="838201"/>
            </a:xfrm>
            <a:prstGeom prst="upDown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2706331" y="3276600"/>
              <a:ext cx="156086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Rectangle 30"/>
            <p:cNvSpPr/>
            <p:nvPr/>
          </p:nvSpPr>
          <p:spPr>
            <a:xfrm>
              <a:off x="3124200" y="3183357"/>
              <a:ext cx="838200" cy="174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8-bits 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878532" y="2286001"/>
            <a:ext cx="1560869" cy="1071881"/>
            <a:chOff x="2706331" y="2286000"/>
            <a:chExt cx="1560869" cy="1071881"/>
          </a:xfrm>
        </p:grpSpPr>
        <p:sp>
          <p:nvSpPr>
            <p:cNvPr id="33" name="Up-Down Arrow 32"/>
            <p:cNvSpPr/>
            <p:nvPr/>
          </p:nvSpPr>
          <p:spPr>
            <a:xfrm>
              <a:off x="3315931" y="2286000"/>
              <a:ext cx="381000" cy="838201"/>
            </a:xfrm>
            <a:prstGeom prst="upDownArrow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2706331" y="3276600"/>
              <a:ext cx="1560869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3124200" y="3183357"/>
              <a:ext cx="838200" cy="174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8-bits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86290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9245"/>
            <a:ext cx="4670200" cy="646472"/>
          </a:xfrm>
        </p:spPr>
        <p:txBody>
          <a:bodyPr/>
          <a:lstStyle/>
          <a:p>
            <a:r>
              <a:rPr lang="en-US" b="1" dirty="0"/>
              <a:t>Memory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9311"/>
            <a:ext cx="10409263" cy="4978109"/>
          </a:xfrm>
        </p:spPr>
        <p:txBody>
          <a:bodyPr>
            <a:normAutofit/>
          </a:bodyPr>
          <a:lstStyle/>
          <a:p>
            <a:pPr>
              <a:spcBef>
                <a:spcPts val="1350"/>
              </a:spcBef>
            </a:pPr>
            <a:endParaRPr lang="en-US" dirty="0"/>
          </a:p>
          <a:p>
            <a:pPr>
              <a:spcBef>
                <a:spcPts val="1350"/>
              </a:spcBef>
            </a:pPr>
            <a:endParaRPr lang="en-US" dirty="0"/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Logically, memory is organized into </a:t>
            </a:r>
            <a:r>
              <a:rPr lang="en-US" b="1" dirty="0">
                <a:solidFill>
                  <a:srgbClr val="92D050"/>
                </a:solidFill>
              </a:rPr>
              <a:t>bytes</a:t>
            </a:r>
          </a:p>
          <a:p>
            <a:pPr>
              <a:spcBef>
                <a:spcPts val="1350"/>
              </a:spcBef>
            </a:pPr>
            <a:endParaRPr lang="en-US" dirty="0"/>
          </a:p>
          <a:p>
            <a:pPr>
              <a:spcBef>
                <a:spcPts val="1350"/>
              </a:spcBef>
            </a:pPr>
            <a:r>
              <a:rPr lang="en-US" b="1" dirty="0">
                <a:solidFill>
                  <a:srgbClr val="92D050"/>
                </a:solidFill>
              </a:rPr>
              <a:t>Every byte </a:t>
            </a:r>
            <a:r>
              <a:rPr lang="en-US" dirty="0">
                <a:solidFill>
                  <a:schemeClr val="tx1"/>
                </a:solidFill>
              </a:rPr>
              <a:t>has its own 32-bit address.</a:t>
            </a:r>
          </a:p>
          <a:p>
            <a:pPr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Every memory read </a:t>
            </a:r>
            <a:r>
              <a:rPr lang="en-US" b="1" dirty="0">
                <a:solidFill>
                  <a:srgbClr val="92D050"/>
                </a:solidFill>
              </a:rPr>
              <a:t>retrieves a 32-bit </a:t>
            </a:r>
            <a:r>
              <a:rPr lang="en-US" i="1" dirty="0">
                <a:solidFill>
                  <a:schemeClr val="tx1"/>
                </a:solidFill>
              </a:rPr>
              <a:t>physical</a:t>
            </a:r>
            <a:r>
              <a:rPr lang="en-US" dirty="0">
                <a:solidFill>
                  <a:schemeClr val="tx1"/>
                </a:solidFill>
              </a:rPr>
              <a:t> word.</a:t>
            </a:r>
          </a:p>
        </p:txBody>
      </p:sp>
    </p:spTree>
    <p:extLst>
      <p:ext uri="{BB962C8B-B14F-4D97-AF65-F5344CB8AC3E}">
        <p14:creationId xmlns:p14="http://schemas.microsoft.com/office/powerpoint/2010/main" val="8325440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9191"/>
            <a:ext cx="4529831" cy="646323"/>
          </a:xfrm>
        </p:spPr>
        <p:txBody>
          <a:bodyPr>
            <a:normAutofit/>
          </a:bodyPr>
          <a:lstStyle/>
          <a:p>
            <a:r>
              <a:rPr lang="en-US" b="1" dirty="0"/>
              <a:t>Address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6" y="1604062"/>
            <a:ext cx="10397231" cy="5041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Word-Alignment = Address is multiple of 4</a:t>
            </a:r>
          </a:p>
          <a:p>
            <a:pPr marL="0" indent="0">
              <a:spcBef>
                <a:spcPts val="900"/>
              </a:spcBef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Word-Aligned 32-bit operand: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Fully contained within a single physical word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Only </a:t>
            </a:r>
            <a:r>
              <a:rPr lang="en-US" b="1" dirty="0">
                <a:solidFill>
                  <a:srgbClr val="92D050"/>
                </a:solidFill>
              </a:rPr>
              <a:t>1 memory cycle </a:t>
            </a:r>
            <a:r>
              <a:rPr lang="en-US" dirty="0">
                <a:solidFill>
                  <a:schemeClr val="tx1"/>
                </a:solidFill>
              </a:rPr>
              <a:t>to read (load) or write (store)</a:t>
            </a:r>
          </a:p>
          <a:p>
            <a:pPr>
              <a:spcBef>
                <a:spcPts val="900"/>
              </a:spcBef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Unaligned 32-bit operand: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Split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across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2 physical words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chemeClr val="tx1"/>
                </a:solidFill>
              </a:rPr>
              <a:t>Requires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2 memory cycles </a:t>
            </a:r>
            <a:r>
              <a:rPr lang="en-US" dirty="0">
                <a:solidFill>
                  <a:schemeClr val="tx1"/>
                </a:solidFill>
              </a:rPr>
              <a:t>to read or write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Halfword</a:t>
            </a:r>
            <a:r>
              <a:rPr lang="en-US" dirty="0">
                <a:solidFill>
                  <a:schemeClr val="tx1"/>
                </a:solidFill>
              </a:rPr>
              <a:t>-Alignment = Address is multiple of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0263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29140"/>
            <a:ext cx="6795779" cy="646472"/>
          </a:xfrm>
        </p:spPr>
        <p:txBody>
          <a:bodyPr/>
          <a:lstStyle/>
          <a:p>
            <a:r>
              <a:rPr lang="en-US" b="1" dirty="0"/>
              <a:t>The .align assembler directive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5" y="1696454"/>
            <a:ext cx="10421295" cy="49409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Format:	.align	</a:t>
            </a:r>
            <a:r>
              <a:rPr lang="en-US" i="1" dirty="0">
                <a:solidFill>
                  <a:schemeClr val="tx1"/>
                </a:solidFill>
              </a:rPr>
              <a:t>constant</a:t>
            </a:r>
          </a:p>
          <a:p>
            <a:pPr lvl="1">
              <a:spcBef>
                <a:spcPts val="900"/>
              </a:spcBef>
            </a:pPr>
            <a:r>
              <a:rPr lang="en-US" i="1" dirty="0">
                <a:solidFill>
                  <a:schemeClr val="tx1"/>
                </a:solidFill>
              </a:rPr>
              <a:t>constant is the number of least-significant bits </a:t>
            </a:r>
            <a:br>
              <a:rPr lang="en-US" i="1" dirty="0">
                <a:solidFill>
                  <a:schemeClr val="tx1"/>
                </a:solidFill>
              </a:rPr>
            </a:br>
            <a:r>
              <a:rPr lang="en-US" i="1" dirty="0">
                <a:solidFill>
                  <a:schemeClr val="tx1"/>
                </a:solidFill>
              </a:rPr>
              <a:t>of the next address that must be zeroes.</a:t>
            </a:r>
          </a:p>
          <a:p>
            <a:pPr lvl="1"/>
            <a:endParaRPr lang="en-US" i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Examples: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marL="342900" lvl="1" indent="0">
              <a:buNone/>
              <a:tabLst>
                <a:tab pos="1311275" algn="l"/>
              </a:tabLst>
            </a:pPr>
            <a:r>
              <a:rPr lang="en-US" dirty="0">
                <a:solidFill>
                  <a:schemeClr val="tx1"/>
                </a:solidFill>
              </a:rPr>
              <a:t>.align</a:t>
            </a: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// Next address is a multiple of 2 (</a:t>
            </a:r>
            <a:r>
              <a:rPr lang="en-US" b="1" dirty="0" err="1">
                <a:solidFill>
                  <a:srgbClr val="FF0000"/>
                </a:solidFill>
              </a:rPr>
              <a:t>halfword</a:t>
            </a:r>
            <a:r>
              <a:rPr lang="en-US" b="1" dirty="0">
                <a:solidFill>
                  <a:srgbClr val="FF0000"/>
                </a:solidFill>
              </a:rPr>
              <a:t>-aligned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342900" lvl="1" indent="0">
              <a:buNone/>
              <a:tabLst>
                <a:tab pos="1311275" algn="l"/>
              </a:tabLst>
            </a:pPr>
            <a:r>
              <a:rPr lang="en-US" dirty="0">
                <a:solidFill>
                  <a:schemeClr val="tx1"/>
                </a:solidFill>
              </a:rPr>
              <a:t>.align	</a:t>
            </a:r>
            <a:r>
              <a:rPr lang="en-US" b="1" dirty="0">
                <a:solidFill>
                  <a:srgbClr val="0066FF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	// Next address is a multiple of 4 (</a:t>
            </a:r>
            <a:r>
              <a:rPr lang="en-US" b="1" dirty="0">
                <a:solidFill>
                  <a:srgbClr val="0066FF"/>
                </a:solidFill>
              </a:rPr>
              <a:t>word-aligned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342900" lvl="1" indent="0">
              <a:buNone/>
              <a:tabLst>
                <a:tab pos="1311275" algn="l"/>
              </a:tabLst>
            </a:pPr>
            <a:r>
              <a:rPr lang="en-US" dirty="0">
                <a:solidFill>
                  <a:schemeClr val="tx1"/>
                </a:solidFill>
              </a:rPr>
              <a:t>.align </a:t>
            </a:r>
            <a:r>
              <a:rPr lang="en-US" dirty="0"/>
              <a:t>       </a:t>
            </a:r>
            <a:r>
              <a:rPr lang="en-US" b="1" dirty="0">
                <a:solidFill>
                  <a:srgbClr val="92D050"/>
                </a:solidFill>
              </a:rPr>
              <a:t>4</a:t>
            </a:r>
            <a:r>
              <a:rPr lang="en-US" dirty="0"/>
              <a:t>       </a:t>
            </a:r>
            <a:r>
              <a:rPr lang="en-US" dirty="0">
                <a:solidFill>
                  <a:schemeClr val="tx1"/>
                </a:solidFill>
              </a:rPr>
              <a:t>// Next address is a multiple of 8 (</a:t>
            </a:r>
            <a:r>
              <a:rPr lang="en-US" b="1" dirty="0">
                <a:solidFill>
                  <a:srgbClr val="92D050"/>
                </a:solidFill>
              </a:rPr>
              <a:t>double word-aligned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342900" lvl="1" indent="0">
              <a:buNone/>
              <a:tabLst>
                <a:tab pos="1311275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342900" lvl="1" indent="0">
              <a:buNone/>
              <a:tabLst>
                <a:tab pos="1311275" algn="l"/>
              </a:tabLst>
            </a:pPr>
            <a:r>
              <a:rPr lang="en-US" dirty="0">
                <a:solidFill>
                  <a:schemeClr val="tx1"/>
                </a:solidFill>
              </a:rPr>
              <a:t>.align		// Default (no constant)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0066FF"/>
                </a:solidFill>
                <a:sym typeface="Wingdings" panose="05000000000000000000" pitchFamily="2" charset="2"/>
              </a:rPr>
              <a:t>word-aligned</a:t>
            </a:r>
          </a:p>
          <a:p>
            <a:pPr marL="342900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Inserts a 16-bit NOP (“No Operation”) instruction if needed to force word-alignment.</a:t>
            </a:r>
            <a:endParaRPr lang="en-US" dirty="0">
              <a:solidFill>
                <a:schemeClr val="tx1"/>
              </a:solidFill>
            </a:endParaRPr>
          </a:p>
          <a:p>
            <a:pPr marL="3429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544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484" y="733150"/>
            <a:ext cx="4088674" cy="602356"/>
          </a:xfrm>
        </p:spPr>
        <p:txBody>
          <a:bodyPr/>
          <a:lstStyle/>
          <a:p>
            <a:r>
              <a:rPr lang="en-US" b="1" dirty="0"/>
              <a:t>Instruction Fetch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483" y="1568117"/>
            <a:ext cx="10409263" cy="506529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Processor requires instructions to be </a:t>
            </a:r>
            <a:r>
              <a:rPr lang="en-US" b="1" dirty="0">
                <a:solidFill>
                  <a:srgbClr val="00B050"/>
                </a:solidFill>
              </a:rPr>
              <a:t>(at least)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halfword</a:t>
            </a:r>
            <a:r>
              <a:rPr lang="en-US" dirty="0">
                <a:solidFill>
                  <a:schemeClr val="tx1"/>
                </a:solidFill>
              </a:rPr>
              <a:t>-aligned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Every instruction starts on a mod 2 address (even address)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Every instruction fetch retrieves 32 bits from memory: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One 32-bit instruction, or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Two 16-bit instructions, or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One 16-bit instruction and first half of a 32-bit instruction, or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Second half of a 32-bit instruction and a 16-bit instruction</a:t>
            </a:r>
          </a:p>
        </p:txBody>
      </p:sp>
    </p:spTree>
    <p:extLst>
      <p:ext uri="{BB962C8B-B14F-4D97-AF65-F5344CB8AC3E}">
        <p14:creationId xmlns:p14="http://schemas.microsoft.com/office/powerpoint/2010/main" val="10781854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6482958" cy="698608"/>
          </a:xfrm>
        </p:spPr>
        <p:txBody>
          <a:bodyPr>
            <a:normAutofit/>
          </a:bodyPr>
          <a:lstStyle/>
          <a:p>
            <a:r>
              <a:rPr lang="en-US" b="1" dirty="0"/>
              <a:t>Optimizing Instruction Fetch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687386"/>
            <a:ext cx="10421295" cy="49580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a .align directive at the entry point </a:t>
            </a:r>
            <a:r>
              <a:rPr lang="en-US" b="1" dirty="0">
                <a:solidFill>
                  <a:srgbClr val="FF0000"/>
                </a:solidFill>
              </a:rPr>
              <a:t>of every function </a:t>
            </a:r>
            <a:r>
              <a:rPr lang="en-US" dirty="0">
                <a:solidFill>
                  <a:schemeClr val="tx1"/>
                </a:solidFill>
              </a:rPr>
              <a:t>to force the function to start on a word-aligned (mod 4) address.</a:t>
            </a:r>
          </a:p>
          <a:p>
            <a:pPr lvl="1"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Each Instruction is either: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 or 4 bytes in length.</a:t>
            </a:r>
          </a:p>
          <a:p>
            <a:pPr lvl="1"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N 32-bit or 2N 16-bit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instructions = 4N bytes</a:t>
            </a:r>
          </a:p>
          <a:p>
            <a:pPr lvl="1">
              <a:spcBef>
                <a:spcPts val="135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Word-alignment allows 4N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instruction bytes to be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fetched in N memory read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cycles rather than N+1.</a:t>
            </a:r>
          </a:p>
          <a:p>
            <a:pPr marL="385763" indent="-385763">
              <a:buFont typeface="+mj-lt"/>
              <a:buAutoNum type="arabicPeriod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162801" y="2819400"/>
                <a:ext cx="2896737" cy="309315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.global	Func1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.align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Func1:	PUSH	{R4,LR}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POP	{R4,PC}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.global	Func2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.align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Func2:	PUSH	{R4,LR}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POP	{R4,PC}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1" y="2819400"/>
                <a:ext cx="2896737" cy="3093154"/>
              </a:xfrm>
              <a:prstGeom prst="rect">
                <a:avLst/>
              </a:prstGeom>
              <a:blipFill>
                <a:blip r:embed="rId2"/>
                <a:stretch>
                  <a:fillRect l="-6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827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67596"/>
            <a:ext cx="10417284" cy="48898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a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.align </a:t>
            </a:r>
            <a:r>
              <a:rPr lang="en-US" dirty="0">
                <a:solidFill>
                  <a:schemeClr val="tx1"/>
                </a:solidFill>
              </a:rPr>
              <a:t>directive at the top of </a:t>
            </a:r>
            <a:r>
              <a:rPr lang="en-US" b="1" dirty="0">
                <a:solidFill>
                  <a:srgbClr val="FF0000"/>
                </a:solidFill>
              </a:rPr>
              <a:t>every loop </a:t>
            </a:r>
            <a:r>
              <a:rPr lang="en-US" dirty="0">
                <a:solidFill>
                  <a:schemeClr val="tx1"/>
                </a:solidFill>
              </a:rPr>
              <a:t>to force the loop to start on a </a:t>
            </a:r>
            <a:r>
              <a:rPr lang="en-US" b="1" dirty="0">
                <a:solidFill>
                  <a:srgbClr val="92D050"/>
                </a:solidFill>
              </a:rPr>
              <a:t>word-aligned address</a:t>
            </a:r>
            <a:r>
              <a:rPr lang="en-US" dirty="0"/>
              <a:t>.</a:t>
            </a:r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Word-alignment allows a loop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of 4N instruction bytes that is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repeated R times to be fetched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 R*N rather than R*(N+1)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memory read cycles.</a:t>
            </a:r>
          </a:p>
          <a:p>
            <a:pPr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OK to place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.align </a:t>
            </a:r>
            <a:r>
              <a:rPr lang="en-US" dirty="0">
                <a:solidFill>
                  <a:schemeClr val="tx1"/>
                </a:solidFill>
              </a:rPr>
              <a:t>between two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instructions</a:t>
            </a: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No effect if already word-aligned</a:t>
            </a:r>
          </a:p>
          <a:p>
            <a:pPr lvl="1">
              <a:spcBef>
                <a:spcPts val="1350"/>
              </a:spcBef>
            </a:pPr>
            <a:r>
              <a:rPr lang="en-US" dirty="0">
                <a:solidFill>
                  <a:schemeClr val="tx1"/>
                </a:solidFill>
              </a:rPr>
              <a:t>Otherwise inserts a </a:t>
            </a:r>
            <a:r>
              <a:rPr lang="en-US" b="1" dirty="0">
                <a:solidFill>
                  <a:srgbClr val="92D050"/>
                </a:solidFill>
              </a:rPr>
              <a:t>NOP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(NOP = “No Operation” instruction)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5182"/>
            <a:ext cx="6470926" cy="606366"/>
          </a:xfrm>
        </p:spPr>
        <p:txBody>
          <a:bodyPr>
            <a:normAutofit/>
          </a:bodyPr>
          <a:lstStyle/>
          <a:p>
            <a:r>
              <a:rPr lang="en-US" b="1" dirty="0"/>
              <a:t>Optimizing Instruction Fetch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32537" y="2895600"/>
                <a:ext cx="2896737" cy="28623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.global	Func3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.align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Func3:	PUSH	{R4,LR}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:r>
                  <a:rPr kumimoji="0" lang="en-US" sz="15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.align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L1:	CBZ	R0,L2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n-US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B	L1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L2:	</a:t>
                </a:r>
                <a14:m>
                  <m:oMath xmlns:m="http://schemas.openxmlformats.org/officeDocument/2006/math">
                    <m:r>
                      <a:rPr kumimoji="0" lang="en-US" sz="15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5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POP	{R4,PC}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2537" y="2895600"/>
                <a:ext cx="2896737" cy="2862322"/>
              </a:xfrm>
              <a:prstGeom prst="rect">
                <a:avLst/>
              </a:prstGeom>
              <a:blipFill>
                <a:blip r:embed="rId2"/>
                <a:stretch>
                  <a:fillRect l="-6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5269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1757</TotalTime>
  <Words>5669</Words>
  <Application>Microsoft Office PowerPoint</Application>
  <PresentationFormat>Widescreen</PresentationFormat>
  <Paragraphs>971</Paragraphs>
  <Slides>63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63</vt:i4>
      </vt:variant>
    </vt:vector>
  </HeadingPairs>
  <TitlesOfParts>
    <vt:vector size="75" baseType="lpstr">
      <vt:lpstr>Arial</vt:lpstr>
      <vt:lpstr>Arial Narrow</vt:lpstr>
      <vt:lpstr>Calibri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2_SCUTemplate</vt:lpstr>
      <vt:lpstr>CSEN20</vt:lpstr>
      <vt:lpstr>Writing Functions (Summary)</vt:lpstr>
      <vt:lpstr>Chapter 4 Copying Data</vt:lpstr>
      <vt:lpstr>LOAD/STORE ARCHITECTURE</vt:lpstr>
      <vt:lpstr>INSTRUCTIONS FOR COPYING DATA</vt:lpstr>
      <vt:lpstr>REGISTER  IMMEDIATE CONSTANT</vt:lpstr>
      <vt:lpstr>The LDR Pseudo-Instruction</vt:lpstr>
      <vt:lpstr>WRITING INTEGER CONSTANTS</vt:lpstr>
      <vt:lpstr>INSTRUCTIONS FOR COPYING DATA</vt:lpstr>
      <vt:lpstr>REGISTER  MEMORY (32-BITS) Load Register from Word</vt:lpstr>
      <vt:lpstr>REGISTER PAIR  MEMORY (64-BITS) Load Register Pair from DoubleWord</vt:lpstr>
      <vt:lpstr>Copying variables &lt; 32 bits wide (32-bit register copy must have same value)</vt:lpstr>
      <vt:lpstr>REGISTER  MEMORY (8-BITS UNSIGNED) Load Register from (Unsigned) Byte</vt:lpstr>
      <vt:lpstr>REGISTER  MEMORY (16-BITS UNSIGNED) Load Register from (Unsigned) HalfWord</vt:lpstr>
      <vt:lpstr>REGISTER  MEMORY (8-BITS SIGNED) Load Register from Signed Byte</vt:lpstr>
      <vt:lpstr>REGISTER  MEMORY (16-BITS SIGNED) Load Register from Signed HalfWord</vt:lpstr>
      <vt:lpstr>INSTRUCTIONS FOR COPYING DATA</vt:lpstr>
      <vt:lpstr>REGISTER  REGISTER Move Instruction</vt:lpstr>
      <vt:lpstr>… to here …</vt:lpstr>
      <vt:lpstr>Instruction Sets</vt:lpstr>
      <vt:lpstr>Instruction Sets</vt:lpstr>
      <vt:lpstr>Instruction Sets</vt:lpstr>
      <vt:lpstr>Chapter 4 Copying Data</vt:lpstr>
      <vt:lpstr>INSTRUCTIONS FOR COPYING DATA</vt:lpstr>
      <vt:lpstr>REGISTER  MEMORY (32-BITS) Store Register to Word</vt:lpstr>
      <vt:lpstr>REGISTER PAIR MEMORY (64-BITS) Store Register Pair to DoubleWord</vt:lpstr>
      <vt:lpstr>REGISTER  MEMORY (8-BITS) Store Register to Byte</vt:lpstr>
      <vt:lpstr>REGISTER  MEMORY (16-BITS) Store Register to HalfWord</vt:lpstr>
      <vt:lpstr>Y = X; (32 bits) Common Coding Mistake</vt:lpstr>
      <vt:lpstr>Y = X; (32 bits) Correct Coding Solution</vt:lpstr>
      <vt:lpstr>DATA COPYING INSTRUCTIONS</vt:lpstr>
      <vt:lpstr>EXAMPLES OF COPYING DATA</vt:lpstr>
      <vt:lpstr>Chapter 4 Copying Data</vt:lpstr>
      <vt:lpstr>Contents versus Address</vt:lpstr>
      <vt:lpstr>PC-Relative Addressing (A Special Case of Immediate Offset)</vt:lpstr>
      <vt:lpstr>ADDRESSING MODES (Calculating a Memory Address)</vt:lpstr>
      <vt:lpstr>IMMEDIATE OFFSET MODE</vt:lpstr>
      <vt:lpstr>Review: Pointer Arithmetic</vt:lpstr>
      <vt:lpstr>Pointer Dereferencing</vt:lpstr>
      <vt:lpstr>REGISTER OFFSET MODE</vt:lpstr>
      <vt:lpstr>Subscripted Array Reference</vt:lpstr>
      <vt:lpstr>POINTERS &amp; ARRAYS</vt:lpstr>
      <vt:lpstr>Chapter 4 Copying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4 Copying Data</vt:lpstr>
      <vt:lpstr>PowerPoint Presentation</vt:lpstr>
      <vt:lpstr>PowerPoint Presentation</vt:lpstr>
      <vt:lpstr>PowerPoint Presentation</vt:lpstr>
      <vt:lpstr>Chapter 4 Copying Data</vt:lpstr>
      <vt:lpstr>PHYSICAL MEMORY DESIGN</vt:lpstr>
      <vt:lpstr>Memory Addressing</vt:lpstr>
      <vt:lpstr>Address Alignment</vt:lpstr>
      <vt:lpstr>The .align assembler directive</vt:lpstr>
      <vt:lpstr>Instruction Fetch</vt:lpstr>
      <vt:lpstr>Optimizing Instruction Fetch</vt:lpstr>
      <vt:lpstr>Optimizing Instruction Fetch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221</cp:revision>
  <cp:lastPrinted>2023-09-11T21:46:56Z</cp:lastPrinted>
  <dcterms:created xsi:type="dcterms:W3CDTF">2023-09-09T19:51:41Z</dcterms:created>
  <dcterms:modified xsi:type="dcterms:W3CDTF">2026-10-14T19:52:51Z</dcterms:modified>
</cp:coreProperties>
</file>