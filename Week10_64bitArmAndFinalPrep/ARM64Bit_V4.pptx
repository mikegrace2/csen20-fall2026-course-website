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3"/>
  </p:notesMasterIdLst>
  <p:handoutMasterIdLst>
    <p:handoutMasterId r:id="rId54"/>
  </p:handoutMasterIdLst>
  <p:sldIdLst>
    <p:sldId id="333" r:id="rId4"/>
    <p:sldId id="334" r:id="rId5"/>
    <p:sldId id="391" r:id="rId6"/>
    <p:sldId id="525" r:id="rId7"/>
    <p:sldId id="272" r:id="rId8"/>
    <p:sldId id="516" r:id="rId9"/>
    <p:sldId id="517" r:id="rId10"/>
    <p:sldId id="518" r:id="rId11"/>
    <p:sldId id="520" r:id="rId12"/>
    <p:sldId id="400" r:id="rId13"/>
    <p:sldId id="523" r:id="rId14"/>
    <p:sldId id="524" r:id="rId15"/>
    <p:sldId id="521" r:id="rId16"/>
    <p:sldId id="384" r:id="rId17"/>
    <p:sldId id="386" r:id="rId18"/>
    <p:sldId id="380" r:id="rId19"/>
    <p:sldId id="381" r:id="rId20"/>
    <p:sldId id="382" r:id="rId21"/>
    <p:sldId id="383" r:id="rId22"/>
    <p:sldId id="336" r:id="rId23"/>
    <p:sldId id="394" r:id="rId24"/>
    <p:sldId id="395" r:id="rId25"/>
    <p:sldId id="522" r:id="rId26"/>
    <p:sldId id="396" r:id="rId27"/>
    <p:sldId id="397" r:id="rId28"/>
    <p:sldId id="398" r:id="rId29"/>
    <p:sldId id="399" r:id="rId30"/>
    <p:sldId id="401" r:id="rId31"/>
    <p:sldId id="273" r:id="rId32"/>
    <p:sldId id="274" r:id="rId33"/>
    <p:sldId id="276" r:id="rId34"/>
    <p:sldId id="505" r:id="rId35"/>
    <p:sldId id="414" r:id="rId36"/>
    <p:sldId id="393" r:id="rId37"/>
    <p:sldId id="392" r:id="rId38"/>
    <p:sldId id="526" r:id="rId39"/>
    <p:sldId id="412" r:id="rId40"/>
    <p:sldId id="402" r:id="rId41"/>
    <p:sldId id="403" r:id="rId42"/>
    <p:sldId id="404" r:id="rId43"/>
    <p:sldId id="405" r:id="rId44"/>
    <p:sldId id="406" r:id="rId45"/>
    <p:sldId id="407" r:id="rId46"/>
    <p:sldId id="408" r:id="rId47"/>
    <p:sldId id="409" r:id="rId48"/>
    <p:sldId id="410" r:id="rId49"/>
    <p:sldId id="411" r:id="rId50"/>
    <p:sldId id="510" r:id="rId51"/>
    <p:sldId id="509" r:id="rId5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1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5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E2D1E09-C576-4EFC-8BCF-CF41E5E075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CD1B88C-2DF3-463A-9149-71A2641CA47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84AF5-5A56-4689-9C9D-BC386D70088E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823D1C15-225A-4EC0-AB77-DF2E06AE66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0E257A0C-2198-4AFC-AA00-B2BB58A3BA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AFDF9-AE00-451A-9176-37A5069B3B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3E536A62-D459-4B93-9A16-469CD5423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A26465A5-7EA2-43C9-910F-DA85229A90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3462459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E2D1E09-C576-4EFC-8BCF-CF41E5E075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CD1B88C-2DF3-463A-9149-71A2641CA47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84AF5-5A56-4689-9C9D-BC386D70088E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823D1C15-225A-4EC0-AB77-DF2E06AE66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0E257A0C-2198-4AFC-AA00-B2BB58A3BA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AFDF9-AE00-451A-9176-37A5069B3B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3E536A62-D459-4B93-9A16-469CD5423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A26465A5-7EA2-43C9-910F-DA85229A90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949434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5DF4-0169-DDF1-B079-6F45A57D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CB0C5BF-BB9A-D56B-EB1E-41AE6F41F3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EA19338-79AA-1690-BDA8-5CA675F76F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84AF5-5A56-4689-9C9D-BC386D70088E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AE316B2C-BF04-EA9A-86C6-0086125A86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B745AFE3-DFAA-A398-04B3-2E7834D63F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AFDF9-AE00-451A-9176-37A5069B3B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5514EEEE-72C2-6EAD-FE27-D64290DEE0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8FE9285A-55AA-B082-459C-C1A1A9EB8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3911628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69D48-2D43-6E7C-F26F-E30613C7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59E051A-C2D3-CB7F-F933-01D8F85373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B00952F-8AC1-6941-9429-6E9B976851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84AF5-5A56-4689-9C9D-BC386D70088E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D110EB65-B0A1-30BF-F3BF-BECE1B524A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C980FADE-8C2D-6BF1-2F1A-CD69CA482C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AFDF9-AE00-451A-9176-37A5069B3B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826456CE-AD33-71AF-0254-F6ABE57DD8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41151FE6-4853-DE83-EBBA-51C455E46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84828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2DEA-94E1-FAA4-C7E3-BB895050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1BED8D2-721C-0B98-8CA2-DE069DB285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91FDC49-30C9-37D2-75FD-A58919D6BCA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584AF5-5A56-4689-9C9D-BC386D70088E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505B7A07-943F-3C13-9A69-EE6951DF01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0151F241-9DCA-3789-1230-243D15E95F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AFDF9-AE00-451A-9176-37A5069B3B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43177A14-128F-AB6A-E989-1CD87381A9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36106A57-B1DB-8943-931F-BC63D264D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684680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D4531ED-4858-4085-A4DF-61F945461E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14C25B4-0CA1-41E0-B679-617B1B10C5F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931499-54A5-4309-A8FA-D8DE8569CE92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0" name="Rectangle 6">
            <a:extLst>
              <a:ext uri="{FF2B5EF4-FFF2-40B4-BE49-F238E27FC236}">
                <a16:creationId xmlns:a16="http://schemas.microsoft.com/office/drawing/2014/main" id="{E0AD6BBE-5ADD-4ADC-B41E-E847026ED02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50181" name="Rectangle 7">
            <a:extLst>
              <a:ext uri="{FF2B5EF4-FFF2-40B4-BE49-F238E27FC236}">
                <a16:creationId xmlns:a16="http://schemas.microsoft.com/office/drawing/2014/main" id="{75B528BA-1D29-44D2-87A7-9C11830A51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73AC4-FA2D-475D-9DB4-6D8E11DB4CC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5F2799D6-A3A5-4A7B-A85C-8060E61585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19EAA9BD-E811-4AEC-A9CA-2E869DC68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47875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4B7A390D-02F2-4A50-9CAD-E201AC68AE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87FB133-53C0-475E-B458-8E7CB1CD30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82C67-0596-4A06-A63E-6C519677587F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28" name="Rectangle 6">
            <a:extLst>
              <a:ext uri="{FF2B5EF4-FFF2-40B4-BE49-F238E27FC236}">
                <a16:creationId xmlns:a16="http://schemas.microsoft.com/office/drawing/2014/main" id="{E0F68705-7794-47EF-AE6C-A723E0B3D8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52229" name="Rectangle 7">
            <a:extLst>
              <a:ext uri="{FF2B5EF4-FFF2-40B4-BE49-F238E27FC236}">
                <a16:creationId xmlns:a16="http://schemas.microsoft.com/office/drawing/2014/main" id="{626C5106-CB84-444B-87B0-AEBB01C3E5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B39D57-B092-44F0-8A7B-B5DDA8E1E7F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0" name="Rectangle 2">
            <a:extLst>
              <a:ext uri="{FF2B5EF4-FFF2-40B4-BE49-F238E27FC236}">
                <a16:creationId xmlns:a16="http://schemas.microsoft.com/office/drawing/2014/main" id="{09B9EFE2-529A-4BD5-9BC9-F7B839761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1" name="Rectangle 3">
            <a:extLst>
              <a:ext uri="{FF2B5EF4-FFF2-40B4-BE49-F238E27FC236}">
                <a16:creationId xmlns:a16="http://schemas.microsoft.com/office/drawing/2014/main" id="{3439702D-8A76-4345-8668-CE9B10168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95385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E569F644-78CB-4947-989A-526B312BA8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A0B5511-5007-4D3A-AB36-A3BF914FA6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5237F-B928-4F58-ABB3-3CDD70992B34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5191B6EB-22F9-4074-8338-EBC2960ADE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BB48D10C-DA58-49C0-A663-DE6FBB258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F6D1BD-CD17-4364-8053-02945832406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E2D80C16-0691-4DC3-B25B-480D6E3B18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884C8932-BC1E-4064-9844-81893074B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X19 – X27: saved</a:t>
            </a:r>
          </a:p>
          <a:p>
            <a:r>
              <a:rPr lang="en-US" altLang="en-US">
                <a:latin typeface="Arial" panose="020B0604020202020204" pitchFamily="34" charset="0"/>
              </a:rPr>
              <a:t>X9 – X15: temporaries</a:t>
            </a:r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58216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BDEDE23-79F4-4658-AD7B-98066EE719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The University of Adelaide, School of Computer Science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ACC37B9-A4CA-4D10-A1A2-003FFD4410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5E4277-73F1-41EF-A8A4-8099D3C70292}" type="datetime3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September 2026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7631C378-062F-4C19-9529-760B48F036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Chapter 2 — Instructions: Language of the Computer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FA3509F1-4084-46CE-847E-0D99E9DF3C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EC3FC3-4ADF-4A05-8299-02991740431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58" name="Rectangle 2">
            <a:extLst>
              <a:ext uri="{FF2B5EF4-FFF2-40B4-BE49-F238E27FC236}">
                <a16:creationId xmlns:a16="http://schemas.microsoft.com/office/drawing/2014/main" id="{68A8E76D-FEE4-42DB-BB95-63902FFF8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>
            <a:extLst>
              <a:ext uri="{FF2B5EF4-FFF2-40B4-BE49-F238E27FC236}">
                <a16:creationId xmlns:a16="http://schemas.microsoft.com/office/drawing/2014/main" id="{A98B8BB6-A430-4DEC-BE83-FDD93BCA2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602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FCE79FC7-D126-4EBE-9D75-786CA09CE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AF504382-20F1-4E5E-B240-5F6FFA0BE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RSB R5 Operand 2 (Revers Subtract) = subtracts the value of R5 from Operand 2.</a:t>
            </a:r>
          </a:p>
          <a:p>
            <a:r>
              <a:rPr lang="en-US" altLang="en-US" dirty="0"/>
              <a:t>Flexible addressing of operand 2.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10F5492C-FFD7-4EC5-9C71-D69103F4C0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70F34-80E4-4D5A-A78A-284C44B042E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5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163.238.35.161/~zhangs/arm64simulator/" TargetMode="External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163.238.35.161/~zhangs/arm64simulator/" TargetMode="Externa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1448791"/>
            <a:ext cx="10414296" cy="51776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38517"/>
            <a:ext cx="9144000" cy="710274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ARM</a:t>
            </a:r>
            <a:br>
              <a:rPr lang="en-US" altLang="en-US" dirty="0"/>
            </a:br>
            <a:r>
              <a:rPr lang="en-US" altLang="en-US" dirty="0"/>
              <a:t>Instruction Set Architecture</a:t>
            </a:r>
            <a:br>
              <a:rPr lang="en-US" altLang="en-US" dirty="0"/>
            </a:br>
            <a:r>
              <a:rPr lang="en-US" altLang="en-US" dirty="0"/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387330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52C5-85BD-CB9B-8958-D2B76A22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48F146-27F7-3D34-8FC8-E7304424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37" y="872611"/>
            <a:ext cx="7431176" cy="56872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C7A089-BE79-CA29-AFF0-0FE87AAB3AF1}"/>
              </a:ext>
            </a:extLst>
          </p:cNvPr>
          <p:cNvSpPr txBox="1"/>
          <p:nvPr/>
        </p:nvSpPr>
        <p:spPr>
          <a:xfrm>
            <a:off x="9305704" y="945896"/>
            <a:ext cx="2073496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Our board: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ARM </a:t>
            </a:r>
            <a:r>
              <a:rPr lang="en-US" b="1" dirty="0">
                <a:solidFill>
                  <a:srgbClr val="FF0000"/>
                </a:solidFill>
              </a:rPr>
              <a:t>Cortex-M4F</a:t>
            </a:r>
            <a:r>
              <a:rPr lang="en-US" b="1" dirty="0">
                <a:solidFill>
                  <a:schemeClr val="tx1"/>
                </a:solidFill>
              </a:rPr>
              <a:t>: latest is </a:t>
            </a:r>
            <a:r>
              <a:rPr lang="en-US" b="1" dirty="0">
                <a:solidFill>
                  <a:srgbClr val="00B050"/>
                </a:solidFill>
              </a:rPr>
              <a:t>M85/M52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9F5788-C6F5-29C2-6753-F24F154BD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120" y="2194611"/>
            <a:ext cx="2031604" cy="42818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9C64A8-4767-48CC-FBED-ADF135316584}"/>
              </a:ext>
            </a:extLst>
          </p:cNvPr>
          <p:cNvSpPr/>
          <p:nvPr/>
        </p:nvSpPr>
        <p:spPr>
          <a:xfrm>
            <a:off x="10607040" y="2852928"/>
            <a:ext cx="853440" cy="256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759E36-37A5-9B16-CD49-B85CB47B4330}"/>
              </a:ext>
            </a:extLst>
          </p:cNvPr>
          <p:cNvSpPr/>
          <p:nvPr/>
        </p:nvSpPr>
        <p:spPr>
          <a:xfrm>
            <a:off x="1278128" y="3418840"/>
            <a:ext cx="2399792" cy="35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3090E7-5A8F-39D6-F27B-D21FDB507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813" y="2194611"/>
            <a:ext cx="1578470" cy="440883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E510BAE-68F5-99DD-4603-0AA20392F793}"/>
              </a:ext>
            </a:extLst>
          </p:cNvPr>
          <p:cNvSpPr/>
          <p:nvPr/>
        </p:nvSpPr>
        <p:spPr>
          <a:xfrm>
            <a:off x="9020048" y="3801872"/>
            <a:ext cx="853440" cy="256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4DECE6-89D0-DFF6-DAEA-71A70A2EE50A}"/>
              </a:ext>
            </a:extLst>
          </p:cNvPr>
          <p:cNvSpPr/>
          <p:nvPr/>
        </p:nvSpPr>
        <p:spPr>
          <a:xfrm>
            <a:off x="9020048" y="5036230"/>
            <a:ext cx="853440" cy="2560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3C29D8A-3F63-C94A-5F02-86DA08325C5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677920" y="3595116"/>
            <a:ext cx="17122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54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50A066DA-FDD8-48DB-928E-157257535E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C4EADC33-3D6C-4ACA-A480-280428FF0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6461811" cy="643390"/>
          </a:xfrm>
        </p:spPr>
        <p:txBody>
          <a:bodyPr/>
          <a:lstStyle/>
          <a:p>
            <a:pPr eaLnBrk="1" hangingPunct="1"/>
            <a:r>
              <a:rPr lang="en-US" altLang="en-US" dirty="0"/>
              <a:t>The ARMv8 Instruction Set</a:t>
            </a:r>
            <a:endParaRPr lang="en-AU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49603-B680-3D91-D843-561276B17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634" y="1390494"/>
            <a:ext cx="7177391" cy="52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6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50A066DA-FDD8-48DB-928E-157257535E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C4EADC33-3D6C-4ACA-A480-280428FF0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6461811" cy="643390"/>
          </a:xfrm>
        </p:spPr>
        <p:txBody>
          <a:bodyPr/>
          <a:lstStyle/>
          <a:p>
            <a:pPr eaLnBrk="1" hangingPunct="1"/>
            <a:r>
              <a:rPr lang="en-US" altLang="en-US" dirty="0"/>
              <a:t>The ARMv8 Instruction Set</a:t>
            </a:r>
            <a:endParaRPr lang="en-AU" altLang="en-US" dirty="0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B262D599-8832-4F67-929A-ADD931F7B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711" y="1471686"/>
            <a:ext cx="10406578" cy="5123968"/>
          </a:xfrm>
        </p:spPr>
        <p:txBody>
          <a:bodyPr>
            <a:normAutofit fontScale="85000" lnSpcReduction="10000"/>
          </a:bodyPr>
          <a:lstStyle/>
          <a:p>
            <a:pPr eaLnBrk="1" hangingPunct="1"/>
            <a:endParaRPr lang="en-US" altLang="en-US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ARM processors list: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Classic or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Cortext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-A (application)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: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DSP, Floating Point,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TrustZone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,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Jazelle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extensions. ARMv5,  ARM6 (2001)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AutoNum type="arabicPeriod"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Cortex-M (micro-controller -&gt; mobile)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: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ARM Thumb®-2 code density.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xtended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to include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32-bit instructions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.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First Multi-core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. (2004)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Cortex-R (real time)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ARMv7 Deeply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pipelined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micro-architecture, Flexible Multi-Processor Core 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MPCore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) configurations: Symmetric Multi-Processing (SMP) &amp; Asymmetric Multi-Processing (AMP), LPAE extension.</a:t>
            </a:r>
          </a:p>
        </p:txBody>
      </p:sp>
    </p:spTree>
    <p:extLst>
      <p:ext uri="{BB962C8B-B14F-4D97-AF65-F5344CB8AC3E}">
        <p14:creationId xmlns:p14="http://schemas.microsoft.com/office/powerpoint/2010/main" val="377074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ED91-AEAA-7411-CB8D-37857201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37AF9A01-E7A8-EE3F-C72F-545DC67174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A2F35852-FF01-29A8-4585-69E76C365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6461811" cy="643390"/>
          </a:xfrm>
        </p:spPr>
        <p:txBody>
          <a:bodyPr/>
          <a:lstStyle/>
          <a:p>
            <a:pPr eaLnBrk="1" hangingPunct="1"/>
            <a:r>
              <a:rPr lang="en-US" altLang="en-US" dirty="0"/>
              <a:t>The ARMv8 Instruction Set</a:t>
            </a:r>
            <a:endParaRPr lang="en-AU" altLang="en-US" dirty="0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3A97763-2B77-773D-2DEE-0A5061336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511100"/>
            <a:ext cx="5743894" cy="5123968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ARM instructions sets:</a:t>
            </a: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Development board/computer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1985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ARM1 </a:t>
            </a:r>
            <a:r>
              <a:rPr lang="en-US" altLang="en-US" sz="2400" b="1" dirty="0">
                <a:solidFill>
                  <a:srgbClr val="00B0F0"/>
                </a:solidFill>
              </a:rPr>
              <a:t>ARMv1</a:t>
            </a:r>
            <a:r>
              <a:rPr lang="en-US" altLang="en-US" sz="2400" dirty="0">
                <a:solidFill>
                  <a:schemeClr val="tx1"/>
                </a:solidFill>
              </a:rPr>
              <a:t> (ISA)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32-bit RISC architecture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26-bit addressing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16 general-purpose registers (R0–R15)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R15 serving as the program counter (PC).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Conditional execution for most instructions.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No hardware multiply instruction!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No FPU</a:t>
            </a:r>
          </a:p>
        </p:txBody>
      </p:sp>
      <p:pic>
        <p:nvPicPr>
          <p:cNvPr id="5" name="Picture 4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A7A21EAF-259A-095A-5EB0-E4567E7B8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382" y="2139025"/>
            <a:ext cx="4701308" cy="3121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97A7AD-BC46-1A02-E8FB-B5F7EA2808B8}"/>
              </a:ext>
            </a:extLst>
          </p:cNvPr>
          <p:cNvSpPr txBox="1"/>
          <p:nvPr/>
        </p:nvSpPr>
        <p:spPr>
          <a:xfrm>
            <a:off x="7299508" y="5260988"/>
            <a:ext cx="3809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</a:t>
            </a:r>
            <a:r>
              <a:rPr lang="en-US" sz="1200" dirty="0" err="1"/>
              <a:t>ARM_architecture_family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661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9646-E7DF-91F4-69DB-8AF88816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keyboard with a wire&#10;&#10;AI-generated content may be incorrect.">
            <a:extLst>
              <a:ext uri="{FF2B5EF4-FFF2-40B4-BE49-F238E27FC236}">
                <a16:creationId xmlns:a16="http://schemas.microsoft.com/office/drawing/2014/main" id="{A9358AF5-8D4E-4D87-212C-7156D0E17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922" y="1918366"/>
            <a:ext cx="4116847" cy="3795559"/>
          </a:xfrm>
          <a:prstGeom prst="rect">
            <a:avLst/>
          </a:prstGeom>
        </p:spPr>
      </p:pic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0B884B6E-F3A4-5C50-0E49-2B5EDD1DFA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941F33E-A57E-7A82-2A2D-FB9F0F51E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6461811" cy="643390"/>
          </a:xfrm>
        </p:spPr>
        <p:txBody>
          <a:bodyPr/>
          <a:lstStyle/>
          <a:p>
            <a:pPr eaLnBrk="1" hangingPunct="1"/>
            <a:r>
              <a:rPr lang="en-US" altLang="en-US" dirty="0"/>
              <a:t>The ARMv8 Instruction Set</a:t>
            </a:r>
            <a:endParaRPr lang="en-AU" altLang="en-US" dirty="0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01C845C-1356-16E0-9102-0C4402A16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511100"/>
            <a:ext cx="6892562" cy="5123968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ARM instructions sets: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Acorn A3010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1992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ARM2 </a:t>
            </a:r>
            <a:r>
              <a:rPr lang="en-US" altLang="en-US" sz="2400" b="1" dirty="0">
                <a:solidFill>
                  <a:srgbClr val="00B0F0"/>
                </a:solidFill>
              </a:rPr>
              <a:t>ARMv2</a:t>
            </a:r>
            <a:r>
              <a:rPr lang="en-US" altLang="en-US" sz="2400" dirty="0">
                <a:solidFill>
                  <a:schemeClr val="tx1"/>
                </a:solidFill>
              </a:rPr>
              <a:t> (ISA)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32-bit RISC architecture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26-bit addressing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16 general-purpose registers (R0–R15)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R15 serving as the program counter (PC).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Conditional execution of instructions.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No FPU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64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D0D0-C5E7-5D2E-090A-04D82E96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F50A1340-34C9-57CB-68C2-ECB2629470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A8888FDF-26F9-C92A-AE94-E49F34F09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6461811" cy="643390"/>
          </a:xfrm>
        </p:spPr>
        <p:txBody>
          <a:bodyPr/>
          <a:lstStyle/>
          <a:p>
            <a:pPr eaLnBrk="1" hangingPunct="1"/>
            <a:r>
              <a:rPr lang="en-US" altLang="en-US" dirty="0"/>
              <a:t>The ARMv8 Instruction Set</a:t>
            </a:r>
            <a:endParaRPr lang="en-AU" altLang="en-US" dirty="0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B992711A-F6C9-504B-D9F9-791B24CF0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511100"/>
            <a:ext cx="5743894" cy="5123968"/>
          </a:xfrm>
        </p:spPr>
        <p:txBody>
          <a:bodyPr>
            <a:normAutofit fontScale="70000" lnSpcReduction="20000"/>
          </a:bodyPr>
          <a:lstStyle/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00B050"/>
                </a:solidFill>
              </a:rPr>
              <a:t>New</a:t>
            </a:r>
            <a:r>
              <a:rPr lang="en-US" altLang="en-US" sz="2800" b="1" dirty="0">
                <a:solidFill>
                  <a:schemeClr val="tx1"/>
                </a:solidFill>
              </a:rPr>
              <a:t> Instructions in </a:t>
            </a:r>
            <a:r>
              <a:rPr lang="en-US" altLang="en-US" sz="2800" b="1" dirty="0">
                <a:solidFill>
                  <a:srgbClr val="00B050"/>
                </a:solidFill>
              </a:rPr>
              <a:t>ARMv7</a:t>
            </a:r>
            <a:r>
              <a:rPr lang="en-US" altLang="en-US" sz="2800" b="1" dirty="0">
                <a:solidFill>
                  <a:schemeClr val="tx1"/>
                </a:solidFill>
              </a:rPr>
              <a:t> (Compared to </a:t>
            </a:r>
            <a:r>
              <a:rPr lang="en-US" altLang="en-US" sz="2800" b="1" dirty="0">
                <a:solidFill>
                  <a:srgbClr val="FF0000"/>
                </a:solidFill>
              </a:rPr>
              <a:t>ARMv1</a:t>
            </a:r>
            <a:r>
              <a:rPr lang="en-US" altLang="en-US" sz="2800" b="1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en-US" sz="2800" b="1" dirty="0">
                <a:solidFill>
                  <a:schemeClr val="tx1"/>
                </a:solidFill>
              </a:rPr>
              <a:t>MUL, MLA</a:t>
            </a:r>
          </a:p>
          <a:p>
            <a:r>
              <a:rPr lang="en-US" altLang="en-US" sz="2800" b="1" dirty="0">
                <a:solidFill>
                  <a:schemeClr val="tx1"/>
                </a:solidFill>
              </a:rPr>
              <a:t>SMULL, UMULL</a:t>
            </a:r>
          </a:p>
          <a:p>
            <a:r>
              <a:rPr lang="en-US" altLang="en-US" sz="2800" b="1" dirty="0">
                <a:solidFill>
                  <a:schemeClr val="tx1"/>
                </a:solidFill>
              </a:rPr>
              <a:t>LDRH, STRH</a:t>
            </a:r>
            <a:r>
              <a:rPr lang="en-US" altLang="en-US" sz="2800" dirty="0">
                <a:solidFill>
                  <a:schemeClr val="tx1"/>
                </a:solidFill>
              </a:rPr>
              <a:t>→ Load/store doubleword (16-bit).</a:t>
            </a:r>
          </a:p>
          <a:p>
            <a:r>
              <a:rPr lang="en-US" altLang="en-US" sz="2800" b="1" dirty="0">
                <a:solidFill>
                  <a:schemeClr val="tx1"/>
                </a:solidFill>
              </a:rPr>
              <a:t>LDRD, STRD </a:t>
            </a:r>
            <a:r>
              <a:rPr lang="en-US" altLang="en-US" sz="2800" dirty="0">
                <a:solidFill>
                  <a:schemeClr val="tx1"/>
                </a:solidFill>
              </a:rPr>
              <a:t>→ Load/store doubleword (64-bit).</a:t>
            </a:r>
          </a:p>
          <a:p>
            <a:r>
              <a:rPr lang="en-US" altLang="en-US" sz="2800" b="1" dirty="0">
                <a:solidFill>
                  <a:schemeClr val="tx1"/>
                </a:solidFill>
              </a:rPr>
              <a:t>BX, BLX</a:t>
            </a:r>
            <a:r>
              <a:rPr lang="en-US" altLang="en-US" sz="2800" dirty="0">
                <a:solidFill>
                  <a:schemeClr val="tx1"/>
                </a:solidFill>
              </a:rPr>
              <a:t> → Branch &amp; exchange </a:t>
            </a:r>
          </a:p>
          <a:p>
            <a:r>
              <a:rPr lang="en-US" altLang="en-US" sz="2800" b="1" dirty="0">
                <a:solidFill>
                  <a:schemeClr val="tx1"/>
                </a:solidFill>
              </a:rPr>
              <a:t>IT</a:t>
            </a:r>
            <a:r>
              <a:rPr lang="en-US" altLang="en-US" sz="2800" dirty="0">
                <a:solidFill>
                  <a:schemeClr val="tx1"/>
                </a:solidFill>
              </a:rPr>
              <a:t> → If-Then block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MSR, </a:t>
            </a:r>
            <a:r>
              <a:rPr lang="en-US" altLang="en-US" sz="2800" b="1" dirty="0">
                <a:solidFill>
                  <a:schemeClr val="tx1"/>
                </a:solidFill>
              </a:rPr>
              <a:t>MRS</a:t>
            </a:r>
            <a:r>
              <a:rPr lang="en-US" altLang="en-US" sz="2800" dirty="0">
                <a:solidFill>
                  <a:schemeClr val="tx1"/>
                </a:solidFill>
              </a:rPr>
              <a:t> → Move to/from system registers.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NOP → No operation 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FPU &amp; SIMD (NEON)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VADD, VSUB, VMUL, VDIV → Vector floating-point arithmetic.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VLDR, VSTR → Load/store floating-point registers.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VCEQ, VCGE, VCGT → Vector comparisons.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Some others …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E5AC2C-8478-C19D-EB13-4249FB28B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513" y="1390494"/>
            <a:ext cx="5105829" cy="51239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E35C48-AB20-32EC-D92B-479D96FA896B}"/>
              </a:ext>
            </a:extLst>
          </p:cNvPr>
          <p:cNvSpPr txBox="1"/>
          <p:nvPr/>
        </p:nvSpPr>
        <p:spPr>
          <a:xfrm>
            <a:off x="6963513" y="102116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</a:rPr>
              <a:t>ARMv1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41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ARM64 / </a:t>
            </a:r>
            <a:r>
              <a:rPr lang="en-US" dirty="0"/>
              <a:t>AArch64 / ARMv8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0160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C14D-26E5-8EC8-8761-C8D488F2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0B4-DC07-FCA3-6949-DB1D10EE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ARMv8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E4843-78C8-40CF-5651-5709DCFFAD40}"/>
              </a:ext>
            </a:extLst>
          </p:cNvPr>
          <p:cNvSpPr txBox="1"/>
          <p:nvPr/>
        </p:nvSpPr>
        <p:spPr>
          <a:xfrm>
            <a:off x="936516" y="1645057"/>
            <a:ext cx="494499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Instruction 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Apple was the </a:t>
            </a:r>
            <a:r>
              <a:rPr lang="en-US" sz="1600" b="1" dirty="0">
                <a:solidFill>
                  <a:srgbClr val="00B050"/>
                </a:solidFill>
              </a:rPr>
              <a:t>first</a:t>
            </a:r>
            <a:r>
              <a:rPr lang="en-US" sz="1600" dirty="0"/>
              <a:t> to release an ARMv8-A compatible core (Cyclone) for iPhone 5S</a:t>
            </a:r>
            <a:br>
              <a:rPr lang="en-US" sz="1600" dirty="0"/>
            </a:br>
            <a:r>
              <a:rPr lang="en-US" sz="1600" b="1" dirty="0"/>
              <a:t>Apple A7 </a:t>
            </a:r>
            <a:r>
              <a:rPr lang="en-US" sz="1600" dirty="0"/>
              <a:t>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instruction is 32 bit (not more, not less)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4 bit for opcode = 16 major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contrast to Intel variable instruction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Pipeline: 4 stages for integer instructions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Pipeline: 5 stages for floating point (FP)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0F87A-B642-340B-1EE0-98D1A3BDD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6311"/>
            <a:ext cx="5761502" cy="510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30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C14D-26E5-8EC8-8761-C8D488F2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0B4-DC07-FCA3-6949-DB1D10EE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ARMv8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E4843-78C8-40CF-5651-5709DCFFAD40}"/>
              </a:ext>
            </a:extLst>
          </p:cNvPr>
          <p:cNvSpPr txBox="1"/>
          <p:nvPr/>
        </p:nvSpPr>
        <p:spPr>
          <a:xfrm>
            <a:off x="936516" y="1645057"/>
            <a:ext cx="104077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Instruction 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Apple was the </a:t>
            </a:r>
            <a:r>
              <a:rPr lang="en-US" sz="1600" b="1" dirty="0">
                <a:solidFill>
                  <a:srgbClr val="00B050"/>
                </a:solidFill>
              </a:rPr>
              <a:t>first</a:t>
            </a:r>
            <a:r>
              <a:rPr lang="en-US" sz="1600" dirty="0"/>
              <a:t> to release an ARMv8-A compatible core (Cyclone) for iPhone 5S </a:t>
            </a:r>
            <a:r>
              <a:rPr lang="en-US" sz="1600" b="1" dirty="0"/>
              <a:t>Apple A7 </a:t>
            </a:r>
            <a:r>
              <a:rPr lang="en-US" sz="1600" dirty="0"/>
              <a:t>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B1893-9E9E-E7BF-6C7A-FB818D435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24" y="3012452"/>
            <a:ext cx="10243672" cy="3059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9A0A8A-1D43-945E-2036-82C3FF6ECFE8}"/>
              </a:ext>
            </a:extLst>
          </p:cNvPr>
          <p:cNvSpPr txBox="1"/>
          <p:nvPr/>
        </p:nvSpPr>
        <p:spPr>
          <a:xfrm>
            <a:off x="1215957" y="6245157"/>
            <a:ext cx="563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ARM_architecture_family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FBB83-434D-C38E-439D-6C393E5A9E63}"/>
              </a:ext>
            </a:extLst>
          </p:cNvPr>
          <p:cNvSpPr/>
          <p:nvPr/>
        </p:nvSpPr>
        <p:spPr>
          <a:xfrm>
            <a:off x="5825397" y="4040053"/>
            <a:ext cx="1587080" cy="1720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50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C14D-26E5-8EC8-8761-C8D488F2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5A2ABB5-3F53-601B-C0C3-9942557D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9495"/>
            <a:ext cx="7772400" cy="11232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54C0B4-DC07-FCA3-6949-DB1D10EE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ARMv8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1378D-E338-216D-2107-0004C3F8B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16" y="1564246"/>
            <a:ext cx="7772400" cy="3223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85A501-820B-2AEA-8BE0-8ACFB4A1B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256" y="4402628"/>
            <a:ext cx="7772400" cy="24107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CF9F194-7404-0993-5423-0EE7CFDDC217}"/>
              </a:ext>
            </a:extLst>
          </p:cNvPr>
          <p:cNvSpPr/>
          <p:nvPr/>
        </p:nvSpPr>
        <p:spPr>
          <a:xfrm>
            <a:off x="8031328" y="5149006"/>
            <a:ext cx="315009" cy="1817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BEFABA-B5BF-2AA1-6A69-8D0301260749}"/>
              </a:ext>
            </a:extLst>
          </p:cNvPr>
          <p:cNvSpPr/>
          <p:nvPr/>
        </p:nvSpPr>
        <p:spPr>
          <a:xfrm>
            <a:off x="9156494" y="6566002"/>
            <a:ext cx="269613" cy="1752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F484-2016-4C69-D974-B38AE7C66B84}"/>
              </a:ext>
            </a:extLst>
          </p:cNvPr>
          <p:cNvSpPr/>
          <p:nvPr/>
        </p:nvSpPr>
        <p:spPr>
          <a:xfrm>
            <a:off x="8054025" y="6154198"/>
            <a:ext cx="269613" cy="1752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2E61C0-5DCA-94D1-BE2D-B52AC348486E}"/>
              </a:ext>
            </a:extLst>
          </p:cNvPr>
          <p:cNvSpPr/>
          <p:nvPr/>
        </p:nvSpPr>
        <p:spPr>
          <a:xfrm>
            <a:off x="4044607" y="5560235"/>
            <a:ext cx="255019" cy="1790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230B0-D0CB-DE18-9504-E1C865AE30DC}"/>
              </a:ext>
            </a:extLst>
          </p:cNvPr>
          <p:cNvSpPr txBox="1"/>
          <p:nvPr/>
        </p:nvSpPr>
        <p:spPr>
          <a:xfrm>
            <a:off x="2869659" y="906167"/>
            <a:ext cx="563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ARM_architecture_family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361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C14D-26E5-8EC8-8761-C8D488F2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0B4-DC07-FCA3-6949-DB1D10EE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Registers</a:t>
            </a:r>
          </a:p>
        </p:txBody>
      </p:sp>
      <p:pic>
        <p:nvPicPr>
          <p:cNvPr id="1026" name="Picture 2" descr="AArch64-registers">
            <a:extLst>
              <a:ext uri="{FF2B5EF4-FFF2-40B4-BE49-F238E27FC236}">
                <a16:creationId xmlns:a16="http://schemas.microsoft.com/office/drawing/2014/main" id="{F7DFDCA4-C190-4E58-6671-3989ABB70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892" y="785925"/>
            <a:ext cx="4694147" cy="580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2E4843-78C8-40CF-5651-5709DCFFAD40}"/>
              </a:ext>
            </a:extLst>
          </p:cNvPr>
          <p:cNvSpPr txBox="1"/>
          <p:nvPr/>
        </p:nvSpPr>
        <p:spPr>
          <a:xfrm>
            <a:off x="936516" y="1961147"/>
            <a:ext cx="53381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X0  - X30</a:t>
            </a:r>
            <a:r>
              <a:rPr lang="en-US" sz="1600" dirty="0"/>
              <a:t>: 	General Purpose (64bit)</a:t>
            </a:r>
          </a:p>
          <a:p>
            <a:r>
              <a:rPr lang="en-US" sz="1600" b="1" dirty="0">
                <a:solidFill>
                  <a:srgbClr val="00B0F0"/>
                </a:solidFill>
              </a:rPr>
              <a:t>W0 - W30</a:t>
            </a:r>
            <a:r>
              <a:rPr lang="en-US" sz="1600" dirty="0"/>
              <a:t>:	General purpose (32bit)</a:t>
            </a:r>
          </a:p>
          <a:p>
            <a:r>
              <a:rPr lang="en-US" sz="1600" dirty="0"/>
              <a:t>		(lower 32 bits)</a:t>
            </a:r>
          </a:p>
          <a:p>
            <a:endParaRPr lang="en-US" sz="1600" b="1" dirty="0"/>
          </a:p>
          <a:p>
            <a:r>
              <a:rPr lang="en-US" sz="1600" b="1" dirty="0"/>
              <a:t>SP</a:t>
            </a:r>
            <a:r>
              <a:rPr lang="en-US" sz="1600" dirty="0"/>
              <a:t>:		Stack Pointer</a:t>
            </a:r>
          </a:p>
          <a:p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600" b="1" dirty="0">
                <a:solidFill>
                  <a:srgbClr val="FF0000"/>
                </a:solidFill>
              </a:rPr>
              <a:t>XZR</a:t>
            </a:r>
            <a:r>
              <a:rPr lang="en-US" sz="1600" dirty="0"/>
              <a:t>: 		Zero Register (64bit)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WZR</a:t>
            </a:r>
            <a:r>
              <a:rPr lang="en-US" sz="1600" dirty="0"/>
              <a:t>:		Zero Register (32bit)</a:t>
            </a: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b="1" dirty="0">
                <a:solidFill>
                  <a:srgbClr val="00B050"/>
                </a:solidFill>
              </a:rPr>
              <a:t>X30</a:t>
            </a:r>
            <a:r>
              <a:rPr lang="en-US" sz="1600" b="1" dirty="0"/>
              <a:t>, LR</a:t>
            </a:r>
            <a:r>
              <a:rPr lang="en-US" sz="1600" dirty="0"/>
              <a:t>: 		Link Register</a:t>
            </a:r>
          </a:p>
          <a:p>
            <a:r>
              <a:rPr lang="en-US" sz="1600" b="1" dirty="0"/>
              <a:t>PC</a:t>
            </a:r>
            <a:r>
              <a:rPr lang="en-US" sz="1600" dirty="0"/>
              <a:t>:		Program Counter</a:t>
            </a:r>
          </a:p>
        </p:txBody>
      </p:sp>
    </p:spTree>
    <p:extLst>
      <p:ext uri="{BB962C8B-B14F-4D97-AF65-F5344CB8AC3E}">
        <p14:creationId xmlns:p14="http://schemas.microsoft.com/office/powerpoint/2010/main" val="3920519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C3914-8F23-DE31-EA6E-F8DA0B75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7C4B-A79F-A61F-EEB4-C3B0C41D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453E7-3997-D935-7D5A-A0B0E775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Volatile/Nonvolatile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Registers which can be used </a:t>
            </a:r>
            <a:r>
              <a:rPr lang="en-US" b="1" dirty="0">
                <a:solidFill>
                  <a:srgbClr val="00B050"/>
                </a:solidFill>
              </a:rPr>
              <a:t>freely</a:t>
            </a:r>
            <a:r>
              <a:rPr lang="en-US" dirty="0">
                <a:solidFill>
                  <a:schemeClr val="tx1"/>
                </a:solidFill>
              </a:rPr>
              <a:t> are referred to as </a:t>
            </a:r>
            <a:r>
              <a:rPr lang="en-US" b="1" dirty="0">
                <a:solidFill>
                  <a:srgbClr val="00B050"/>
                </a:solidFill>
              </a:rPr>
              <a:t>volatile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Registers which must be </a:t>
            </a:r>
            <a:r>
              <a:rPr lang="en-US" b="1" dirty="0">
                <a:solidFill>
                  <a:srgbClr val="FF0000"/>
                </a:solidFill>
              </a:rPr>
              <a:t>preserved</a:t>
            </a:r>
            <a:r>
              <a:rPr lang="en-US" dirty="0">
                <a:solidFill>
                  <a:schemeClr val="tx1"/>
                </a:solidFill>
              </a:rPr>
              <a:t> are referred to as </a:t>
            </a:r>
            <a:r>
              <a:rPr lang="en-US" b="1" dirty="0">
                <a:solidFill>
                  <a:srgbClr val="FF0000"/>
                </a:solidFill>
              </a:rPr>
              <a:t>non-volatile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Registers </a:t>
            </a:r>
            <a:r>
              <a:rPr lang="en-US" b="1" dirty="0">
                <a:solidFill>
                  <a:srgbClr val="00B050"/>
                </a:solidFill>
              </a:rPr>
              <a:t>x0-x18</a:t>
            </a:r>
            <a:r>
              <a:rPr lang="en-US" dirty="0">
                <a:solidFill>
                  <a:schemeClr val="tx1"/>
                </a:solidFill>
              </a:rPr>
              <a:t> are </a:t>
            </a:r>
            <a:r>
              <a:rPr lang="en-US" b="1" dirty="0">
                <a:solidFill>
                  <a:srgbClr val="00B050"/>
                </a:solidFill>
              </a:rPr>
              <a:t>volatile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Registers </a:t>
            </a:r>
            <a:r>
              <a:rPr lang="en-US" b="1" dirty="0">
                <a:solidFill>
                  <a:srgbClr val="FF0000"/>
                </a:solidFill>
              </a:rPr>
              <a:t>x19-x29</a:t>
            </a:r>
            <a:r>
              <a:rPr lang="en-US" dirty="0">
                <a:solidFill>
                  <a:schemeClr val="tx1"/>
                </a:solidFill>
              </a:rPr>
              <a:t> are </a:t>
            </a:r>
            <a:r>
              <a:rPr lang="en-US" b="1" dirty="0">
                <a:solidFill>
                  <a:srgbClr val="FF0000"/>
                </a:solidFill>
              </a:rPr>
              <a:t>non-volatile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03450-BD9E-9F5B-2B21-C429E6119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815" y="4097474"/>
            <a:ext cx="6394735" cy="24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53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50D24-6016-C8B2-E17D-E89D7BAC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38DA-779C-E903-937B-1B0B0809B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37748-7BD9-AE29-64B0-6F92821AAE39}"/>
              </a:ext>
            </a:extLst>
          </p:cNvPr>
          <p:cNvSpPr txBox="1"/>
          <p:nvPr/>
        </p:nvSpPr>
        <p:spPr>
          <a:xfrm>
            <a:off x="936516" y="1564105"/>
            <a:ext cx="487749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Registers </a:t>
            </a:r>
            <a:r>
              <a:rPr lang="en-US" sz="1600" b="1" dirty="0">
                <a:solidFill>
                  <a:srgbClr val="00B050"/>
                </a:solidFill>
              </a:rPr>
              <a:t>X0-X7</a:t>
            </a:r>
            <a:r>
              <a:rPr lang="en-US" sz="1600" dirty="0"/>
              <a:t>, are </a:t>
            </a:r>
            <a:r>
              <a:rPr lang="en-US" sz="1600" b="1" dirty="0">
                <a:solidFill>
                  <a:srgbClr val="00B050"/>
                </a:solidFill>
              </a:rPr>
              <a:t>volatile</a:t>
            </a:r>
            <a:r>
              <a:rPr lang="en-US" sz="1600" dirty="0"/>
              <a:t>, because they </a:t>
            </a:r>
            <a:br>
              <a:rPr lang="en-US" sz="1600" dirty="0"/>
            </a:br>
            <a:r>
              <a:rPr lang="en-US" sz="1600" dirty="0"/>
              <a:t>can be changed by subroutines.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Registers </a:t>
            </a:r>
            <a:r>
              <a:rPr lang="en-US" sz="1600" b="1" dirty="0">
                <a:solidFill>
                  <a:srgbClr val="00B0F0"/>
                </a:solidFill>
              </a:rPr>
              <a:t>X8-X17</a:t>
            </a:r>
            <a:r>
              <a:rPr lang="en-US" sz="1600" dirty="0"/>
              <a:t> are </a:t>
            </a:r>
            <a:r>
              <a:rPr lang="en-US" sz="1600" b="1" dirty="0">
                <a:solidFill>
                  <a:srgbClr val="00B0F0"/>
                </a:solidFill>
              </a:rPr>
              <a:t>volatile,</a:t>
            </a:r>
            <a:r>
              <a:rPr lang="en-US" sz="1600" dirty="0"/>
              <a:t>  </a:t>
            </a:r>
            <a:br>
              <a:rPr lang="en-US" sz="1600" dirty="0"/>
            </a:br>
            <a:r>
              <a:rPr lang="en-US" sz="1600" dirty="0"/>
              <a:t>used for holding local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Some of these are used for special purposes by the OS and/or compiler.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Registers </a:t>
            </a:r>
            <a:r>
              <a:rPr lang="en-US" sz="1600" b="1" dirty="0">
                <a:solidFill>
                  <a:srgbClr val="FF0000"/>
                </a:solidFill>
              </a:rPr>
              <a:t>X19-X28, </a:t>
            </a:r>
            <a:r>
              <a:rPr lang="en-US" sz="1600" dirty="0"/>
              <a:t>used for local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Before using them, the subroutine </a:t>
            </a:r>
            <a:r>
              <a:rPr lang="en-US" sz="1600" b="1" dirty="0">
                <a:solidFill>
                  <a:srgbClr val="FF0000"/>
                </a:solidFill>
              </a:rPr>
              <a:t>must preserve</a:t>
            </a:r>
            <a:r>
              <a:rPr lang="en-US" sz="1600" dirty="0"/>
              <a:t> them. </a:t>
            </a:r>
          </a:p>
          <a:p>
            <a:pPr lvl="1"/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They are </a:t>
            </a:r>
            <a:r>
              <a:rPr lang="en-US" sz="1600" b="1" dirty="0">
                <a:solidFill>
                  <a:srgbClr val="FF0000"/>
                </a:solidFill>
              </a:rPr>
              <a:t>non-volatile</a:t>
            </a:r>
            <a:r>
              <a:rPr lang="en-US" sz="1600" dirty="0"/>
              <a:t> because their contents </a:t>
            </a:r>
            <a:r>
              <a:rPr lang="en-US" sz="1600" b="1" dirty="0">
                <a:solidFill>
                  <a:srgbClr val="FF0000"/>
                </a:solidFill>
              </a:rPr>
              <a:t>cannot be changed</a:t>
            </a:r>
            <a:r>
              <a:rPr lang="en-US" sz="1600" dirty="0"/>
              <a:t> by a subroutine.</a:t>
            </a:r>
          </a:p>
        </p:txBody>
      </p:sp>
      <p:pic>
        <p:nvPicPr>
          <p:cNvPr id="2050" name="Picture 2" descr="AArch64-User-Program-Registers">
            <a:extLst>
              <a:ext uri="{FF2B5EF4-FFF2-40B4-BE49-F238E27FC236}">
                <a16:creationId xmlns:a16="http://schemas.microsoft.com/office/drawing/2014/main" id="{55BBC7E1-AB68-4A63-55EF-C7EFB11FC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012" y="785925"/>
            <a:ext cx="4737684" cy="58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1E01B6-E20A-ABF5-F062-087E11356B5A}"/>
              </a:ext>
            </a:extLst>
          </p:cNvPr>
          <p:cNvSpPr/>
          <p:nvPr/>
        </p:nvSpPr>
        <p:spPr>
          <a:xfrm>
            <a:off x="5906543" y="858252"/>
            <a:ext cx="4861720" cy="127534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6ACEC-A16B-FABC-057B-3AF31220B529}"/>
              </a:ext>
            </a:extLst>
          </p:cNvPr>
          <p:cNvSpPr/>
          <p:nvPr/>
        </p:nvSpPr>
        <p:spPr>
          <a:xfrm>
            <a:off x="5906543" y="2133599"/>
            <a:ext cx="4861720" cy="147186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4F9B7-EEA7-FC1B-6196-75DFA3B838EF}"/>
              </a:ext>
            </a:extLst>
          </p:cNvPr>
          <p:cNvSpPr/>
          <p:nvPr/>
        </p:nvSpPr>
        <p:spPr>
          <a:xfrm>
            <a:off x="5906543" y="3597441"/>
            <a:ext cx="4861720" cy="16242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9F9367-8325-5DA7-CC13-B63D8024BFF1}"/>
              </a:ext>
            </a:extLst>
          </p:cNvPr>
          <p:cNvCxnSpPr/>
          <p:nvPr/>
        </p:nvCxnSpPr>
        <p:spPr>
          <a:xfrm flipV="1">
            <a:off x="2502568" y="1471863"/>
            <a:ext cx="3372853" cy="12833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A50324-0741-BBC5-6663-FB985791044B}"/>
              </a:ext>
            </a:extLst>
          </p:cNvPr>
          <p:cNvCxnSpPr>
            <a:cxnSpLocks/>
          </p:cNvCxnSpPr>
          <p:nvPr/>
        </p:nvCxnSpPr>
        <p:spPr>
          <a:xfrm flipV="1">
            <a:off x="2708366" y="2281646"/>
            <a:ext cx="3167055" cy="7837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270680-D0CC-AC8C-B2F3-9E24580A0A15}"/>
              </a:ext>
            </a:extLst>
          </p:cNvPr>
          <p:cNvCxnSpPr>
            <a:cxnSpLocks/>
          </p:cNvCxnSpPr>
          <p:nvPr/>
        </p:nvCxnSpPr>
        <p:spPr>
          <a:xfrm>
            <a:off x="2502568" y="4066903"/>
            <a:ext cx="3403975" cy="3181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F874A64-E224-C281-37B2-D805CA4AAF20}"/>
              </a:ext>
            </a:extLst>
          </p:cNvPr>
          <p:cNvSpPr/>
          <p:nvPr/>
        </p:nvSpPr>
        <p:spPr>
          <a:xfrm>
            <a:off x="7760031" y="1211179"/>
            <a:ext cx="1426834" cy="14839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98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General-Purpose Registers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ARM64 provides </a:t>
            </a:r>
            <a:r>
              <a:rPr lang="en-US" b="1" dirty="0">
                <a:solidFill>
                  <a:srgbClr val="FF0000"/>
                </a:solidFill>
              </a:rPr>
              <a:t>31</a:t>
            </a:r>
            <a:r>
              <a:rPr lang="en-US" dirty="0">
                <a:solidFill>
                  <a:schemeClr val="tx1"/>
                </a:solidFill>
              </a:rPr>
              <a:t> general purpose registers.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Each register can be used as a </a:t>
            </a:r>
            <a:r>
              <a:rPr lang="en-US" b="1" dirty="0">
                <a:solidFill>
                  <a:srgbClr val="00B050"/>
                </a:solidFill>
              </a:rPr>
              <a:t>64-bit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-register (</a:t>
            </a:r>
            <a:r>
              <a:rPr lang="en-US" b="1" dirty="0">
                <a:solidFill>
                  <a:srgbClr val="00B050"/>
                </a:solidFill>
              </a:rPr>
              <a:t>X0</a:t>
            </a:r>
            <a:r>
              <a:rPr lang="en-US" dirty="0">
                <a:solidFill>
                  <a:schemeClr val="tx1"/>
                </a:solidFill>
              </a:rPr>
              <a:t>..</a:t>
            </a:r>
            <a:r>
              <a:rPr lang="en-US" b="1" dirty="0">
                <a:solidFill>
                  <a:srgbClr val="00B050"/>
                </a:solidFill>
              </a:rPr>
              <a:t>X30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Or as a </a:t>
            </a:r>
            <a:r>
              <a:rPr lang="en-US" b="1" dirty="0">
                <a:solidFill>
                  <a:srgbClr val="00B0F0"/>
                </a:solidFill>
              </a:rPr>
              <a:t>32-bit</a:t>
            </a:r>
            <a:r>
              <a:rPr lang="en-US" dirty="0">
                <a:solidFill>
                  <a:schemeClr val="tx1"/>
                </a:solidFill>
              </a:rPr>
              <a:t> W-register (</a:t>
            </a:r>
            <a:r>
              <a:rPr lang="en-US" b="1" dirty="0">
                <a:solidFill>
                  <a:srgbClr val="00B0F0"/>
                </a:solidFill>
              </a:rPr>
              <a:t>W0</a:t>
            </a:r>
            <a:r>
              <a:rPr lang="en-US" dirty="0">
                <a:solidFill>
                  <a:schemeClr val="tx1"/>
                </a:solidFill>
              </a:rPr>
              <a:t>..</a:t>
            </a:r>
            <a:r>
              <a:rPr lang="en-US" b="1" dirty="0">
                <a:solidFill>
                  <a:srgbClr val="00B0F0"/>
                </a:solidFill>
              </a:rPr>
              <a:t>W30</a:t>
            </a:r>
            <a:r>
              <a:rPr lang="en-US" dirty="0">
                <a:solidFill>
                  <a:schemeClr val="tx1"/>
                </a:solidFill>
              </a:rPr>
              <a:t>). 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Two ways of looking at the same register. W0 is the </a:t>
            </a:r>
            <a:r>
              <a:rPr lang="en-US" b="1" dirty="0">
                <a:solidFill>
                  <a:srgbClr val="FF0000"/>
                </a:solidFill>
              </a:rPr>
              <a:t>bottom</a:t>
            </a:r>
            <a:r>
              <a:rPr lang="en-US" dirty="0">
                <a:solidFill>
                  <a:schemeClr val="tx1"/>
                </a:solidFill>
              </a:rPr>
              <a:t> 32 bits of </a:t>
            </a:r>
            <a:r>
              <a:rPr lang="en-US" b="1" dirty="0">
                <a:solidFill>
                  <a:srgbClr val="00B050"/>
                </a:solidFill>
              </a:rPr>
              <a:t>X0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9F07-F873-9856-5D8C-E48502DEA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785" y="4062895"/>
            <a:ext cx="7905392" cy="25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28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286F-6034-ADD4-A26C-7C680F6C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4094-C0A0-21AC-7BDA-0A1C6920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EFDB-6380-F3A9-FA2F-F8E27F4A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Arithmetic Instructions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choice of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>
                <a:solidFill>
                  <a:srgbClr val="00B0F0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 determines the size of the operation.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registers will result in 64-bit calculations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>
                <a:solidFill>
                  <a:srgbClr val="00B0F0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 registers will result in 32-bit calculations.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This performs a 32-bit integer addition: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ADD </a:t>
            </a:r>
            <a:r>
              <a:rPr lang="en-US" b="1" dirty="0">
                <a:solidFill>
                  <a:srgbClr val="00B0F0"/>
                </a:solidFill>
              </a:rPr>
              <a:t>W0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rgbClr val="00B0F0"/>
                </a:solidFill>
              </a:rPr>
              <a:t>W1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rgbClr val="00B0F0"/>
                </a:solidFill>
              </a:rPr>
              <a:t>W2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This performs a 64-bit integer addition: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ADD </a:t>
            </a:r>
            <a:r>
              <a:rPr lang="en-US" b="1" dirty="0">
                <a:solidFill>
                  <a:srgbClr val="00B050"/>
                </a:solidFill>
              </a:rPr>
              <a:t>X0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rgbClr val="00B050"/>
                </a:solidFill>
              </a:rPr>
              <a:t>X1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rgbClr val="00B050"/>
                </a:solidFill>
              </a:rPr>
              <a:t>X2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All registers in an instruction must be </a:t>
            </a:r>
            <a:r>
              <a:rPr lang="en-US" b="1" dirty="0">
                <a:solidFill>
                  <a:srgbClr val="00B0F0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, mixing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allowed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When a </a:t>
            </a:r>
            <a:r>
              <a:rPr lang="en-US" b="1" dirty="0">
                <a:solidFill>
                  <a:srgbClr val="00B0F0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 register is used, the </a:t>
            </a:r>
            <a:r>
              <a:rPr lang="en-US" b="1" dirty="0">
                <a:solidFill>
                  <a:srgbClr val="FF0000"/>
                </a:solidFill>
              </a:rPr>
              <a:t>top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32-bits</a:t>
            </a:r>
            <a:r>
              <a:rPr lang="en-US" dirty="0">
                <a:solidFill>
                  <a:schemeClr val="tx1"/>
                </a:solidFill>
              </a:rPr>
              <a:t> of the 64-bit register are </a:t>
            </a:r>
            <a:r>
              <a:rPr lang="en-US" b="1" dirty="0">
                <a:solidFill>
                  <a:srgbClr val="FF0000"/>
                </a:solidFill>
              </a:rPr>
              <a:t>zeroed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2150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418D0-3B48-EC50-F1BA-1ED21563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7392-6800-44B1-F380-B36AB954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DCDAA-E1D2-7536-625E-4CE4F8F57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Floating-Point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Separate set of 32 registers used for floating point and vector operations.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These registers are </a:t>
            </a:r>
            <a:r>
              <a:rPr lang="en-US" b="1" dirty="0">
                <a:solidFill>
                  <a:srgbClr val="FF0000"/>
                </a:solidFill>
              </a:rPr>
              <a:t>128-bit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But they can be accessed in several ways: 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Bx is     8 bits</a:t>
            </a:r>
          </a:p>
          <a:p>
            <a:pPr lvl="2"/>
            <a:r>
              <a:rPr lang="en-US" dirty="0" err="1">
                <a:solidFill>
                  <a:schemeClr val="tx1"/>
                </a:solidFill>
              </a:rPr>
              <a:t>Hx</a:t>
            </a:r>
            <a:r>
              <a:rPr lang="en-US" dirty="0">
                <a:solidFill>
                  <a:schemeClr val="tx1"/>
                </a:solidFill>
              </a:rPr>
              <a:t> is   16 bits</a:t>
            </a:r>
          </a:p>
          <a:p>
            <a:pPr lvl="2"/>
            <a:r>
              <a:rPr lang="en-US" dirty="0" err="1">
                <a:solidFill>
                  <a:schemeClr val="tx1"/>
                </a:solidFill>
              </a:rPr>
              <a:t>Sx</a:t>
            </a:r>
            <a:r>
              <a:rPr lang="en-US" dirty="0">
                <a:solidFill>
                  <a:schemeClr val="tx1"/>
                </a:solidFill>
              </a:rPr>
              <a:t> is   32 bits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Dx is   64 bits</a:t>
            </a:r>
          </a:p>
          <a:p>
            <a:pPr lvl="2"/>
            <a:r>
              <a:rPr lang="en-US" dirty="0" err="1">
                <a:solidFill>
                  <a:schemeClr val="tx1"/>
                </a:solidFill>
              </a:rPr>
              <a:t>Qx</a:t>
            </a:r>
            <a:r>
              <a:rPr lang="en-US" dirty="0">
                <a:solidFill>
                  <a:schemeClr val="tx1"/>
                </a:solidFill>
              </a:rPr>
              <a:t> is 128 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B5AA6-95F3-5C0A-4FD8-6E60F83D6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851" y="2936951"/>
            <a:ext cx="5908786" cy="35360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6E4A14-2082-AF7C-3229-368907B64897}"/>
              </a:ext>
            </a:extLst>
          </p:cNvPr>
          <p:cNvSpPr txBox="1"/>
          <p:nvPr/>
        </p:nvSpPr>
        <p:spPr>
          <a:xfrm>
            <a:off x="9101898" y="1911876"/>
            <a:ext cx="2723823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1-bit sign</a:t>
            </a:r>
          </a:p>
          <a:p>
            <a:r>
              <a:rPr lang="en-US" dirty="0"/>
              <a:t>3-bit exponent (+3 -&gt; -3)</a:t>
            </a:r>
          </a:p>
          <a:p>
            <a:r>
              <a:rPr lang="en-US" dirty="0"/>
              <a:t>4-bit fractional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E9CA4C-84EA-1924-F0D8-66CEE006BA9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0463810" y="2835206"/>
            <a:ext cx="0" cy="3294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39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D1FC6-9F27-B449-32EB-07F55C62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3894-2524-E584-1A65-1B408404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8534-1533-5981-A9CF-4C68E2302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Other Registers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zero registers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XZR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rgbClr val="FF0000"/>
                </a:solidFill>
              </a:rPr>
              <a:t>WZR</a:t>
            </a:r>
            <a:r>
              <a:rPr lang="en-US" dirty="0">
                <a:solidFill>
                  <a:schemeClr val="tx1"/>
                </a:solidFill>
              </a:rPr>
              <a:t>, always read as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and ignore writes.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You can use the stack pointer (SP) as the base address for loads and stores.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X30</a:t>
            </a:r>
            <a:r>
              <a:rPr lang="en-US" dirty="0">
                <a:solidFill>
                  <a:schemeClr val="tx1"/>
                </a:solidFill>
              </a:rPr>
              <a:t> is used as the Link Register and can be referred to as LR.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Program Counter (PC) is not a general-purpose register in A64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224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Differences between </a:t>
            </a:r>
            <a:br>
              <a:rPr lang="en-US" dirty="0"/>
            </a:br>
            <a:r>
              <a:rPr lang="en-US" dirty="0"/>
              <a:t>ARMv7 and ARMv8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4B9A-DB66-E8D6-0589-AE00409D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D647-732D-68F7-A746-4E43D92B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6D8B-491A-C695-CAAE-99861D769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Overview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Fixed length 32bit instructions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Unaligned memory access, </a:t>
            </a:r>
            <a:r>
              <a:rPr lang="en-US" b="1" dirty="0">
                <a:solidFill>
                  <a:srgbClr val="00B050"/>
                </a:solidFill>
              </a:rPr>
              <a:t>is now possible</a:t>
            </a:r>
          </a:p>
          <a:p>
            <a:pPr lvl="1"/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Memory is byte addressed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Each address identifies an 8-bit byte</a:t>
            </a:r>
          </a:p>
          <a:p>
            <a:pPr lvl="1"/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187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664C-6825-0312-E229-C99E6A17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A476-A20E-0BF0-352D-7DFC0886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1047-A31D-B065-95D3-133B69941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Traditional features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>
                <a:solidFill>
                  <a:schemeClr val="tx1"/>
                </a:solidFill>
              </a:rPr>
              <a:t> conditional instructions </a:t>
            </a:r>
            <a:r>
              <a:rPr lang="en-US" b="1" dirty="0">
                <a:solidFill>
                  <a:srgbClr val="FF0000"/>
                </a:solidFill>
              </a:rPr>
              <a:t>IT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No </a:t>
            </a:r>
            <a:r>
              <a:rPr lang="en-US" b="1" dirty="0">
                <a:solidFill>
                  <a:srgbClr val="FF0000"/>
                </a:solidFill>
              </a:rPr>
              <a:t>explicit</a:t>
            </a:r>
            <a:r>
              <a:rPr lang="en-US" dirty="0">
                <a:solidFill>
                  <a:schemeClr val="tx1"/>
                </a:solidFill>
              </a:rPr>
              <a:t> co-processors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Everything one processor now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No load/store multiple instructions: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LDM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STM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PUSH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POP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673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790E-F9C3-68CE-01D6-DCEED442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56BB-C8CA-C1D2-4E16-84A30DB2F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6419-8A01-8E80-D972-74195E46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WAIT, no PUSH/POP?!?! </a:t>
            </a:r>
            <a:r>
              <a:rPr 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sz="28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Broken AArch64 implementation of `push {x1}; push {x0};`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required stack pointer alignment </a:t>
            </a:r>
            <a:r>
              <a:rPr lang="en-US" dirty="0">
                <a:solidFill>
                  <a:schemeClr val="tx1"/>
                </a:solidFill>
              </a:rPr>
              <a:t>is two x or four w registers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It is not possible to push </a:t>
            </a:r>
            <a:r>
              <a:rPr lang="en-US" b="1" dirty="0">
                <a:solidFill>
                  <a:srgbClr val="FF0000"/>
                </a:solidFill>
              </a:rPr>
              <a:t>individual</a:t>
            </a:r>
            <a:r>
              <a:rPr lang="en-US" dirty="0">
                <a:solidFill>
                  <a:schemeClr val="tx1"/>
                </a:solidFill>
              </a:rPr>
              <a:t> registers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  str   x1, [</a:t>
            </a:r>
            <a:r>
              <a:rPr lang="en-US" dirty="0" err="1">
                <a:solidFill>
                  <a:schemeClr val="tx1"/>
                </a:solidFill>
              </a:rPr>
              <a:t>sp</a:t>
            </a:r>
            <a:r>
              <a:rPr lang="en-US" dirty="0">
                <a:solidFill>
                  <a:schemeClr val="tx1"/>
                </a:solidFill>
              </a:rPr>
              <a:t>, #-8]!  // This works, but leaves `</a:t>
            </a:r>
            <a:r>
              <a:rPr lang="en-US" dirty="0" err="1">
                <a:solidFill>
                  <a:schemeClr val="tx1"/>
                </a:solidFill>
              </a:rPr>
              <a:t>sp</a:t>
            </a:r>
            <a:r>
              <a:rPr lang="en-US" dirty="0">
                <a:solidFill>
                  <a:schemeClr val="tx1"/>
                </a:solidFill>
              </a:rPr>
              <a:t>` with only 8-byte alignment ...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 str   x0, [</a:t>
            </a:r>
            <a:r>
              <a:rPr lang="en-US" dirty="0" err="1">
                <a:solidFill>
                  <a:schemeClr val="tx1"/>
                </a:solidFill>
              </a:rPr>
              <a:t>sp</a:t>
            </a:r>
            <a:r>
              <a:rPr lang="en-US" dirty="0">
                <a:solidFill>
                  <a:schemeClr val="tx1"/>
                </a:solidFill>
              </a:rPr>
              <a:t>, #-8]!  // ... so the </a:t>
            </a:r>
            <a:r>
              <a:rPr lang="en-US" b="1" dirty="0">
                <a:solidFill>
                  <a:srgbClr val="FF0000"/>
                </a:solidFill>
              </a:rPr>
              <a:t>second</a:t>
            </a:r>
            <a:r>
              <a:rPr lang="en-US" dirty="0">
                <a:solidFill>
                  <a:schemeClr val="tx1"/>
                </a:solidFill>
              </a:rPr>
              <a:t> `str` will </a:t>
            </a:r>
            <a:r>
              <a:rPr lang="en-US" b="1" dirty="0">
                <a:solidFill>
                  <a:srgbClr val="FF0000"/>
                </a:solidFill>
              </a:rPr>
              <a:t>fail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It is </a:t>
            </a:r>
            <a:r>
              <a:rPr lang="en-US" b="1" dirty="0">
                <a:solidFill>
                  <a:srgbClr val="FF0000"/>
                </a:solidFill>
              </a:rPr>
              <a:t>wasteful</a:t>
            </a:r>
            <a:r>
              <a:rPr lang="en-US" dirty="0">
                <a:solidFill>
                  <a:schemeClr val="tx1"/>
                </a:solidFill>
              </a:rPr>
              <a:t> – but the simplest way to handle the stack pointer to a 16-byte slot: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str   x0, [</a:t>
            </a:r>
            <a:r>
              <a:rPr lang="en-US" dirty="0" err="1">
                <a:solidFill>
                  <a:schemeClr val="tx1"/>
                </a:solidFill>
              </a:rPr>
              <a:t>sp</a:t>
            </a:r>
            <a:r>
              <a:rPr lang="en-US" dirty="0">
                <a:solidFill>
                  <a:schemeClr val="tx1"/>
                </a:solidFill>
              </a:rPr>
              <a:t>, #-16]!         // push {x0}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ldr</a:t>
            </a:r>
            <a:r>
              <a:rPr lang="en-US" dirty="0">
                <a:solidFill>
                  <a:schemeClr val="tx1"/>
                </a:solidFill>
              </a:rPr>
              <a:t>   x0, [</a:t>
            </a:r>
            <a:r>
              <a:rPr lang="en-US" dirty="0" err="1">
                <a:solidFill>
                  <a:schemeClr val="tx1"/>
                </a:solidFill>
              </a:rPr>
              <a:t>sp</a:t>
            </a:r>
            <a:r>
              <a:rPr lang="en-US" dirty="0">
                <a:solidFill>
                  <a:schemeClr val="tx1"/>
                </a:solidFill>
              </a:rPr>
              <a:t>], #16           // pop {x0}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B2649-3D6C-A9F5-E3D2-A5223F8B911F}"/>
              </a:ext>
            </a:extLst>
          </p:cNvPr>
          <p:cNvSpPr txBox="1"/>
          <p:nvPr/>
        </p:nvSpPr>
        <p:spPr>
          <a:xfrm>
            <a:off x="7840493" y="1088469"/>
            <a:ext cx="3813865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some_func</a:t>
            </a:r>
            <a:r>
              <a:rPr lang="en-US" dirty="0"/>
              <a:t>: </a:t>
            </a:r>
          </a:p>
          <a:p>
            <a:r>
              <a:rPr lang="en-US" dirty="0"/>
              <a:t>	</a:t>
            </a:r>
            <a:r>
              <a:rPr lang="en-US" dirty="0" err="1"/>
              <a:t>stp</a:t>
            </a:r>
            <a:r>
              <a:rPr lang="en-US" dirty="0"/>
              <a:t> x29, x30, [</a:t>
            </a:r>
            <a:r>
              <a:rPr lang="en-US" dirty="0" err="1"/>
              <a:t>sp</a:t>
            </a:r>
            <a:r>
              <a:rPr lang="en-US" dirty="0"/>
              <a:t>, #-0x10]! </a:t>
            </a:r>
          </a:p>
          <a:p>
            <a:r>
              <a:rPr lang="en-US" dirty="0"/>
              <a:t>	</a:t>
            </a:r>
            <a:r>
              <a:rPr lang="en-US" dirty="0" err="1"/>
              <a:t>ldp</a:t>
            </a:r>
            <a:r>
              <a:rPr lang="en-US" dirty="0"/>
              <a:t> x29, x30, [</a:t>
            </a:r>
            <a:r>
              <a:rPr lang="en-US" dirty="0" err="1"/>
              <a:t>sp</a:t>
            </a:r>
            <a:r>
              <a:rPr lang="en-US" dirty="0"/>
              <a:t>], #0x10 </a:t>
            </a:r>
          </a:p>
          <a:p>
            <a:r>
              <a:rPr lang="en-US" dirty="0"/>
              <a:t>	ret</a:t>
            </a:r>
          </a:p>
        </p:txBody>
      </p:sp>
    </p:spTree>
    <p:extLst>
      <p:ext uri="{BB962C8B-B14F-4D97-AF65-F5344CB8AC3E}">
        <p14:creationId xmlns:p14="http://schemas.microsoft.com/office/powerpoint/2010/main" val="2595325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2683-5226-4A2D-E357-B1F0B010F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F429-E1F8-0928-4705-CF6F6EE8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2AC0-26AF-4700-B222-831616EC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Traditional features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FPU is integrated and mandatory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Floating-point commands are mostly the same (VADD, VMUL, …)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Weakly ordered memory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Integer Arithmetic basically the same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704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D1AB-96C6-9FAB-D472-AC3742C8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7F9E-93BF-589B-A723-8D5C8BE6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4BE1-4EFF-1179-1F2A-4F1F76261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New Features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Crypto (AES and SHA) instructions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AdvSIMD</a:t>
            </a:r>
            <a:r>
              <a:rPr lang="en-US" dirty="0">
                <a:solidFill>
                  <a:schemeClr val="tx1"/>
                </a:solidFill>
              </a:rPr>
              <a:t> for general purpose float math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Larger PC-relative addressing and branching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Conditional branches +/-1MB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Unconditional branches +/-128MB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62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D616-2A7A-031E-D2C0-633FDDF5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8E67-3D5E-1F28-5153-4F782A498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D0938-CCDB-B72E-BA64-C7D4B155C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Conditional Instructions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Conditional branches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CBZ, </a:t>
            </a:r>
            <a:r>
              <a:rPr lang="en-US" dirty="0" err="1">
                <a:solidFill>
                  <a:schemeClr val="tx1"/>
                </a:solidFill>
              </a:rPr>
              <a:t>B.cond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Add/subtract with carry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ADC, SBC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Conditional compare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CCMP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Conditional select/set with increment, negate or invert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CSEL, CSET  (new IT block </a:t>
            </a:r>
            <a:r>
              <a:rPr lang="en-US" dirty="0" err="1">
                <a:solidFill>
                  <a:schemeClr val="tx1"/>
                </a:solidFill>
              </a:rPr>
              <a:t>kinda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924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6AC2-E77C-8C1B-ECB0-D0621C6F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6388-C773-1913-DCAF-F16438FF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ARM64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241E0-3256-ABE1-792C-9302AA09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Bit shifting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64-bit registers (</a:t>
            </a:r>
            <a:r>
              <a:rPr lang="en-US" b="1" dirty="0">
                <a:solidFill>
                  <a:srgbClr val="00B050"/>
                </a:solidFill>
              </a:rPr>
              <a:t>X0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b="1" dirty="0">
                <a:solidFill>
                  <a:srgbClr val="00B050"/>
                </a:solidFill>
              </a:rPr>
              <a:t>X30</a:t>
            </a:r>
            <a:r>
              <a:rPr lang="en-US" dirty="0">
                <a:solidFill>
                  <a:schemeClr val="tx1"/>
                </a:solidFill>
              </a:rPr>
              <a:t>) in addition to 32-bit (</a:t>
            </a:r>
            <a:r>
              <a:rPr lang="en-US" b="1" dirty="0">
                <a:solidFill>
                  <a:srgbClr val="00B0F0"/>
                </a:solidFill>
              </a:rPr>
              <a:t>W0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b="1" dirty="0">
                <a:solidFill>
                  <a:srgbClr val="00B0F0"/>
                </a:solidFill>
              </a:rPr>
              <a:t>W30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Shift amount is 6-bit (0-63 range for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registers, 0-31 for </a:t>
            </a:r>
            <a:r>
              <a:rPr lang="en-US" b="1" dirty="0">
                <a:solidFill>
                  <a:srgbClr val="00B0F0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 registers).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Explicit shift instructions exist but support both 32-bit and 64-bit values: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pl-PL" dirty="0">
                <a:solidFill>
                  <a:schemeClr val="tx1"/>
                </a:solidFill>
              </a:rPr>
              <a:t>LSL </a:t>
            </a:r>
            <a:r>
              <a:rPr lang="pl-PL" b="1" dirty="0">
                <a:solidFill>
                  <a:srgbClr val="00B050"/>
                </a:solidFill>
              </a:rPr>
              <a:t>X0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b="1" dirty="0">
                <a:solidFill>
                  <a:srgbClr val="00B050"/>
                </a:solidFill>
              </a:rPr>
              <a:t>X1</a:t>
            </a:r>
            <a:r>
              <a:rPr lang="pl-PL" dirty="0">
                <a:solidFill>
                  <a:schemeClr val="tx1"/>
                </a:solidFill>
              </a:rPr>
              <a:t>, #4</a:t>
            </a:r>
            <a:r>
              <a:rPr lang="en-US" dirty="0">
                <a:solidFill>
                  <a:schemeClr val="tx1"/>
                </a:solidFill>
              </a:rPr>
              <a:t>	//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b="1" dirty="0">
                <a:solidFill>
                  <a:srgbClr val="00B050"/>
                </a:solidFill>
              </a:rPr>
              <a:t>X0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b="1" dirty="0">
                <a:solidFill>
                  <a:srgbClr val="00B050"/>
                </a:solidFill>
              </a:rPr>
              <a:t>X1</a:t>
            </a:r>
            <a:r>
              <a:rPr lang="pl-PL" dirty="0">
                <a:solidFill>
                  <a:schemeClr val="tx1"/>
                </a:solidFill>
              </a:rPr>
              <a:t> &lt;&lt; 4 (64-bit shift)</a:t>
            </a:r>
            <a:endParaRPr lang="en-US" dirty="0">
              <a:solidFill>
                <a:schemeClr val="tx1"/>
              </a:solidFill>
            </a:endParaRP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pl-PL" dirty="0">
                <a:solidFill>
                  <a:schemeClr val="tx1"/>
                </a:solidFill>
              </a:rPr>
              <a:t>LSR </a:t>
            </a:r>
            <a:r>
              <a:rPr lang="pl-PL" dirty="0">
                <a:solidFill>
                  <a:srgbClr val="00B0F0"/>
                </a:solidFill>
              </a:rPr>
              <a:t>W2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b="1" dirty="0">
                <a:solidFill>
                  <a:srgbClr val="00B0F0"/>
                </a:solidFill>
              </a:rPr>
              <a:t>W3</a:t>
            </a:r>
            <a:r>
              <a:rPr lang="pl-PL" dirty="0">
                <a:solidFill>
                  <a:schemeClr val="tx1"/>
                </a:solidFill>
              </a:rPr>
              <a:t>, #1</a:t>
            </a:r>
            <a:r>
              <a:rPr lang="en-US" dirty="0">
                <a:solidFill>
                  <a:schemeClr val="tx1"/>
                </a:solidFill>
              </a:rPr>
              <a:t>	//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b="1" dirty="0">
                <a:solidFill>
                  <a:srgbClr val="00B0F0"/>
                </a:solidFill>
              </a:rPr>
              <a:t>W2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b="1" dirty="0">
                <a:solidFill>
                  <a:srgbClr val="00B0F0"/>
                </a:solidFill>
              </a:rPr>
              <a:t>W3</a:t>
            </a:r>
            <a:r>
              <a:rPr lang="pl-PL" dirty="0">
                <a:solidFill>
                  <a:schemeClr val="tx1"/>
                </a:solidFill>
              </a:rPr>
              <a:t> &gt;&gt; 1 (32-bit shift)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250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FBDB-0BFC-C581-B735-F9B5CEB3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90F4-A09A-DBA2-A0DC-44C33310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Operations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63163B30-2FF6-4478-B44F-D1592442DF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3800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F6949440-9A56-4417-8F72-120A810538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9155" name="Rectangle 5">
            <a:extLst>
              <a:ext uri="{FF2B5EF4-FFF2-40B4-BE49-F238E27FC236}">
                <a16:creationId xmlns:a16="http://schemas.microsoft.com/office/drawing/2014/main" id="{B18390AA-419D-4630-8791-929FE231F1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24433"/>
            <a:ext cx="5502069" cy="718960"/>
          </a:xfrm>
        </p:spPr>
        <p:txBody>
          <a:bodyPr/>
          <a:lstStyle/>
          <a:p>
            <a:pPr eaLnBrk="1" hangingPunct="1"/>
            <a:r>
              <a:rPr lang="en-US" altLang="en-US" dirty="0"/>
              <a:t>Arithmetic Operations</a:t>
            </a:r>
            <a:endParaRPr lang="en-AU" altLang="en-US" dirty="0"/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1F860CCB-1426-4748-9C0F-BD37688C7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602998"/>
            <a:ext cx="10399021" cy="5077411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Add and subtract, three operands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Two sources and one destination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   </a:t>
            </a:r>
            <a:b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  ADD w0, w1, w2  // w0 gets w1 + w2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All arithmetic operations have this form</a:t>
            </a:r>
          </a:p>
        </p:txBody>
      </p:sp>
    </p:spTree>
    <p:extLst>
      <p:ext uri="{BB962C8B-B14F-4D97-AF65-F5344CB8AC3E}">
        <p14:creationId xmlns:p14="http://schemas.microsoft.com/office/powerpoint/2010/main" val="3150664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>
            <a:extLst>
              <a:ext uri="{FF2B5EF4-FFF2-40B4-BE49-F238E27FC236}">
                <a16:creationId xmlns:a16="http://schemas.microsoft.com/office/drawing/2014/main" id="{8E60678B-59BB-411D-A214-EA5DACE60F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35254EA-D40C-4404-BDBC-521BEB472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54660"/>
            <a:ext cx="4950406" cy="726517"/>
          </a:xfrm>
        </p:spPr>
        <p:txBody>
          <a:bodyPr/>
          <a:lstStyle/>
          <a:p>
            <a:pPr eaLnBrk="1" hangingPunct="1"/>
            <a:r>
              <a:rPr lang="en-US" altLang="en-US" dirty="0"/>
              <a:t>Arithmetic Example</a:t>
            </a:r>
            <a:endParaRPr lang="en-AU" altLang="en-U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454ED97-B504-4AF7-AE98-06AFD5FFE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618112"/>
            <a:ext cx="10368793" cy="5001841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 code: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	f = (g + h) - (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+ j);</a:t>
            </a:r>
          </a:p>
          <a:p>
            <a:pPr marL="0" indent="0" eaLnBrk="1" hangingPunct="1">
              <a:buNone/>
            </a:pPr>
            <a:endParaRPr lang="en-US" altLang="en-US" sz="2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Compiled LEGv8 code: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b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ADD t0, g, h   // temp t0 = g + h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	ADD t1,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j   // temp t1 =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+ j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	SUB f, t0, t1  // f = t0 - t1</a:t>
            </a:r>
            <a:endParaRPr lang="en-AU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7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AB3EECD9-1AF3-4D07-AF76-07A6D5BA9B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F85B4388-9AAD-40A3-88CB-5E0F49369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6401355" cy="809644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Operand Example</a:t>
            </a:r>
            <a:endParaRPr lang="en-AU" altLang="en-US" dirty="0"/>
          </a:p>
        </p:txBody>
      </p:sp>
      <p:sp>
        <p:nvSpPr>
          <p:cNvPr id="61444" name="Rectangle 5">
            <a:extLst>
              <a:ext uri="{FF2B5EF4-FFF2-40B4-BE49-F238E27FC236}">
                <a16:creationId xmlns:a16="http://schemas.microsoft.com/office/drawing/2014/main" id="{243A6EB7-0CAC-4BD2-91D4-58AA839EE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799482"/>
            <a:ext cx="10414135" cy="4820472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b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 = (g + h) - (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+ j);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f, g, h, </a:t>
            </a:r>
            <a:r>
              <a:rPr lang="en-US" altLang="en-US" dirty="0" err="1">
                <a:solidFill>
                  <a:schemeClr val="tx1"/>
                </a:solidFill>
              </a:rPr>
              <a:t>i</a:t>
            </a:r>
            <a:r>
              <a:rPr lang="en-US" altLang="en-US" dirty="0">
                <a:solidFill>
                  <a:schemeClr val="tx1"/>
                </a:solidFill>
              </a:rPr>
              <a:t>, and j in X19, X20, X21, X22, and X23 respectively.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Compiled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b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ADD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X9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X20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X21</a:t>
            </a:r>
            <a:b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ADD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X10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X22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X23</a:t>
            </a:r>
            <a:b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SUB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X19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X9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X10</a:t>
            </a:r>
            <a:endParaRPr lang="en-AU" altLang="en-US" sz="2800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902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9F13DF08-4FD4-4614-B4A1-A7635BDE29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1" name="Rectangle 4">
            <a:extLst>
              <a:ext uri="{FF2B5EF4-FFF2-40B4-BE49-F238E27FC236}">
                <a16:creationId xmlns:a16="http://schemas.microsoft.com/office/drawing/2014/main" id="{95143008-C597-4B7C-ACFF-C3C55BFD2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7104"/>
            <a:ext cx="5041091" cy="590490"/>
          </a:xfrm>
        </p:spPr>
        <p:txBody>
          <a:bodyPr/>
          <a:lstStyle/>
          <a:p>
            <a:pPr eaLnBrk="1" hangingPunct="1"/>
            <a:r>
              <a:rPr lang="en-US" altLang="en-US" dirty="0"/>
              <a:t>Immediate Operands</a:t>
            </a:r>
            <a:endParaRPr lang="en-AU" altLang="en-US" dirty="0"/>
          </a:p>
        </p:txBody>
      </p:sp>
      <p:sp>
        <p:nvSpPr>
          <p:cNvPr id="73732" name="Rectangle 5">
            <a:extLst>
              <a:ext uri="{FF2B5EF4-FFF2-40B4-BE49-F238E27FC236}">
                <a16:creationId xmlns:a16="http://schemas.microsoft.com/office/drawing/2014/main" id="{9DA2876D-B2A2-4CBB-9B76-A482AB759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716354"/>
            <a:ext cx="10436806" cy="4979169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Constant data specified in an instruction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b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ADD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X22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X22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#4	// Immediate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16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E85E312-BCC8-45F1-B6EE-7C1DE9946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902" y="774700"/>
            <a:ext cx="4048177" cy="744538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38915" name="Rectangle 1224">
            <a:extLst>
              <a:ext uri="{FF2B5EF4-FFF2-40B4-BE49-F238E27FC236}">
                <a16:creationId xmlns:a16="http://schemas.microsoft.com/office/drawing/2014/main" id="{3EA5335A-2393-43E6-BAA4-9A2D4863A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902" y="1673841"/>
            <a:ext cx="10456534" cy="492344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An inline barrel shifter to preprocess one of the input registers (Operand2).</a:t>
            </a:r>
          </a:p>
          <a:p>
            <a:pPr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Examples:</a:t>
            </a:r>
          </a:p>
        </p:txBody>
      </p:sp>
      <p:pic>
        <p:nvPicPr>
          <p:cNvPr id="38916" name="Picture 1" descr="Screen Shot 2015-10-17 at 12.38.35 PM.png">
            <a:extLst>
              <a:ext uri="{FF2B5EF4-FFF2-40B4-BE49-F238E27FC236}">
                <a16:creationId xmlns:a16="http://schemas.microsoft.com/office/drawing/2014/main" id="{14DDAF8B-00B7-45FF-949A-7E503B5A5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121" y="2186760"/>
            <a:ext cx="6140054" cy="4362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877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D86D-E553-629D-61D6-7DCDE650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D558-9C75-80A2-B92A-7AD4DEB2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Examples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7D29FC3-A9C2-1CE2-0C52-D5F8CA8EDB1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2639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B22F-FD38-3D52-69C9-1325B8E2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24A-5085-899C-F19B-7BE4634C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FEF7B-6136-8165-4DD2-88DF6C07D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ARM64 Simulator:</a:t>
            </a:r>
            <a:endParaRPr lang="en-US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9E1B3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http://163.238.35.161/~zhangs/arm64simulator/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F09F6-39CF-2797-B988-86120C85D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39" y="2622071"/>
            <a:ext cx="8185921" cy="4023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88FBCE-B646-9D4A-88F0-F615720BFB0F}"/>
              </a:ext>
            </a:extLst>
          </p:cNvPr>
          <p:cNvSpPr txBox="1"/>
          <p:nvPr/>
        </p:nvSpPr>
        <p:spPr>
          <a:xfrm>
            <a:off x="9122436" y="2621387"/>
            <a:ext cx="242893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good simulator. </a:t>
            </a:r>
            <a:br>
              <a:rPr lang="en-US" dirty="0"/>
            </a:br>
            <a:r>
              <a:rPr lang="en-US" dirty="0"/>
              <a:t>Missing: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data directives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FPU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FPU registers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Registers Hex/Dec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Loading or saving </a:t>
            </a:r>
            <a:br>
              <a:rPr lang="en-US" dirty="0"/>
            </a:br>
            <a:r>
              <a:rPr lang="en-US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Very limited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</p:txBody>
      </p:sp>
    </p:spTree>
    <p:extLst>
      <p:ext uri="{BB962C8B-B14F-4D97-AF65-F5344CB8AC3E}">
        <p14:creationId xmlns:p14="http://schemas.microsoft.com/office/powerpoint/2010/main" val="31691071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B22F-FD38-3D52-69C9-1325B8E2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24A-5085-899C-F19B-7BE4634C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FEF7B-6136-8165-4DD2-88DF6C07D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ARM64 Simulator:</a:t>
            </a:r>
            <a:endParaRPr lang="en-US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9E1B3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http://163.238.35.161/~zhangs/arm64simulator/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3186B-1D1B-8211-87D0-5BE3B7A6F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87" y="2803122"/>
            <a:ext cx="10673365" cy="348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37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8897-8B89-2445-AA20-7093BC2B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5022-548D-C181-6F5B-A443F54D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1A7F7-144B-9961-F149-AA0434A9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>
                <a:solidFill>
                  <a:schemeClr val="tx1"/>
                </a:solidFill>
              </a:rPr>
              <a:t>first program: arithmetic instructions: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x0, #2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x1, #-3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	x2, x0, x1	// 2+(-3)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sub 	x3, x0, x1  	// 2-(3)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</a:t>
            </a:r>
            <a:r>
              <a:rPr lang="en-US" b="1" dirty="0" err="1">
                <a:solidFill>
                  <a:schemeClr val="tx1"/>
                </a:solidFill>
              </a:rPr>
              <a:t>mul</a:t>
            </a:r>
            <a:r>
              <a:rPr lang="en-US" b="1" dirty="0">
                <a:solidFill>
                  <a:schemeClr val="tx1"/>
                </a:solidFill>
              </a:rPr>
              <a:t> 	x4, x0, x1  	// 2*(-3)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</a:t>
            </a:r>
            <a:r>
              <a:rPr lang="en-US" b="1" dirty="0" err="1">
                <a:solidFill>
                  <a:schemeClr val="tx1"/>
                </a:solidFill>
              </a:rPr>
              <a:t>udiv</a:t>
            </a:r>
            <a:r>
              <a:rPr lang="en-US" b="1" dirty="0">
                <a:solidFill>
                  <a:schemeClr val="tx1"/>
                </a:solidFill>
              </a:rPr>
              <a:t> 	x5, x1, x0	// 2/(-3)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sdiv</a:t>
            </a:r>
            <a:r>
              <a:rPr lang="en-US" b="1" dirty="0">
                <a:solidFill>
                  <a:schemeClr val="tx1"/>
                </a:solidFill>
              </a:rPr>
              <a:t> 	x6, x1, x0  	// 2/(-3)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5523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D890A-080E-B883-CBA4-E39D4DCD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77C0-6E66-50AA-FDA9-60DA5525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F436-62F5-D038-2F89-E198F224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>
                <a:solidFill>
                  <a:schemeClr val="tx1"/>
                </a:solidFill>
              </a:rPr>
              <a:t>multiply: 9*7 - 5*3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x1, #9  		//x0 &lt;- 9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x2, #7 		//x1 &lt;- 7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mul</a:t>
            </a:r>
            <a:r>
              <a:rPr lang="en-US" b="1" dirty="0">
                <a:solidFill>
                  <a:schemeClr val="tx1"/>
                </a:solidFill>
              </a:rPr>
              <a:t> 	x0, x1, x2 	//x0 &lt;- x1 * x2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x2, #5 		// x1 &lt;- 5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x3, #3 		// x2 &lt;- 3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mul</a:t>
            </a:r>
            <a:r>
              <a:rPr lang="en-US" b="1" dirty="0">
                <a:solidFill>
                  <a:schemeClr val="tx1"/>
                </a:solidFill>
              </a:rPr>
              <a:t> 	x1, x2, x3 	// x1 &lt;- x2 * x3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sub 	x0, x0, x1 	// x0 &lt;- x0 - x1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751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6E085-E977-9D19-CF5B-15C7619D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A22C-0A5B-E4A9-505C-07523619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84E08-72B2-DD4A-4617-44416CE58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>
                <a:solidFill>
                  <a:schemeClr val="tx1"/>
                </a:solidFill>
              </a:rPr>
              <a:t>logic instructions: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	x0, #6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x1, #10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and 	x2, x0, x1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orr</a:t>
            </a:r>
            <a:r>
              <a:rPr lang="en-US" b="1" dirty="0">
                <a:solidFill>
                  <a:schemeClr val="tx1"/>
                </a:solidFill>
              </a:rPr>
              <a:t> 	x3, x0, x1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eor</a:t>
            </a:r>
            <a:r>
              <a:rPr lang="en-US" b="1" dirty="0">
                <a:solidFill>
                  <a:schemeClr val="tx1"/>
                </a:solidFill>
              </a:rPr>
              <a:t> 	x4, x0, x1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52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F501-B345-A3F8-E8C8-198A1B95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DF81-18CA-5CD4-E5A0-F5BD9EA5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2EE0-8398-A932-B15E-F3221B98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</a:t>
            </a:r>
            <a:r>
              <a:rPr lang="en-US" b="1" dirty="0">
                <a:solidFill>
                  <a:schemeClr val="tx1"/>
                </a:solidFill>
              </a:rPr>
              <a:t>shift instructions (show equivalence of shift to multiplication/division):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	x0, #8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lsl</a:t>
            </a:r>
            <a:r>
              <a:rPr lang="en-US" b="1" dirty="0">
                <a:solidFill>
                  <a:schemeClr val="tx1"/>
                </a:solidFill>
              </a:rPr>
              <a:t> 	x5, x0, #3 	// x0*8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lsr</a:t>
            </a:r>
            <a:r>
              <a:rPr lang="en-US" b="1" dirty="0">
                <a:solidFill>
                  <a:schemeClr val="tx1"/>
                </a:solidFill>
              </a:rPr>
              <a:t> 	x6, x0, #2 	// x0/4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asr</a:t>
            </a:r>
            <a:r>
              <a:rPr lang="en-US" b="1" dirty="0">
                <a:solidFill>
                  <a:schemeClr val="tx1"/>
                </a:solidFill>
              </a:rPr>
              <a:t> 	x7, x0, #3 	// x0/8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ror</a:t>
            </a:r>
            <a:r>
              <a:rPr lang="en-US" b="1" dirty="0">
                <a:solidFill>
                  <a:schemeClr val="tx1"/>
                </a:solidFill>
              </a:rPr>
              <a:t> 	x8, x0, #1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24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906F-FD6C-0D78-F9EF-0478B8C9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16EE-EB12-01B8-1BB4-F89EC7A1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97AB7-FB6A-3EAC-E6E3-D116221D4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5</a:t>
            </a:r>
            <a:r>
              <a:rPr lang="en-US" b="1" dirty="0">
                <a:solidFill>
                  <a:schemeClr val="tx1"/>
                </a:solidFill>
              </a:rPr>
              <a:t>. memory access: load/store data in data segment: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first store 5 and 3 into data segment (starting address 0x800) and then load and add them together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x0, #5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adr</a:t>
            </a:r>
            <a:r>
              <a:rPr lang="en-US" b="1" dirty="0">
                <a:solidFill>
                  <a:schemeClr val="tx1"/>
                </a:solidFill>
              </a:rPr>
              <a:t> 	x1, #0x800	//can't use mov because of 16-bit </a:t>
            </a:r>
            <a:r>
              <a:rPr lang="en-US" b="1" dirty="0" err="1">
                <a:solidFill>
                  <a:schemeClr val="tx1"/>
                </a:solidFill>
              </a:rPr>
              <a:t>imm</a:t>
            </a:r>
            <a:r>
              <a:rPr lang="en-US" b="1" dirty="0">
                <a:solidFill>
                  <a:schemeClr val="tx1"/>
                </a:solidFill>
              </a:rPr>
              <a:t> limit for mov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str 	x0, [x1]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ldr</a:t>
            </a:r>
            <a:r>
              <a:rPr lang="en-US" b="1" dirty="0">
                <a:solidFill>
                  <a:schemeClr val="tx1"/>
                </a:solidFill>
              </a:rPr>
              <a:t> 	x4, [x1]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x0, #3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	x1, x1, #8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str 	x0, [x1]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ldr</a:t>
            </a:r>
            <a:r>
              <a:rPr lang="en-US" b="1" dirty="0">
                <a:solidFill>
                  <a:schemeClr val="tx1"/>
                </a:solidFill>
              </a:rPr>
              <a:t> 	x5, [x1]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	x6, x4, x5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6DB41-1AF2-B6B7-2054-5F7411991BEF}"/>
              </a:ext>
            </a:extLst>
          </p:cNvPr>
          <p:cNvSpPr txBox="1"/>
          <p:nvPr/>
        </p:nvSpPr>
        <p:spPr>
          <a:xfrm>
            <a:off x="4829174" y="3278982"/>
            <a:ext cx="4673074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start:	MOV	r0,#10</a:t>
            </a:r>
          </a:p>
          <a:p>
            <a:r>
              <a:rPr lang="en-US" dirty="0"/>
              <a:t>              ADR	r4,start  // SUB r4,pc,#0xc</a:t>
            </a:r>
          </a:p>
        </p:txBody>
      </p:sp>
    </p:spTree>
    <p:extLst>
      <p:ext uri="{BB962C8B-B14F-4D97-AF65-F5344CB8AC3E}">
        <p14:creationId xmlns:p14="http://schemas.microsoft.com/office/powerpoint/2010/main" val="4135864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3A43-3A9E-000E-9D66-9A4F0FC9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979F-1777-3E62-8232-0DCB21E3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AB89-2D4C-0884-5340-E78192830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</a:t>
            </a:r>
            <a:r>
              <a:rPr lang="en-US" b="1" dirty="0">
                <a:solidFill>
                  <a:schemeClr val="tx1"/>
                </a:solidFill>
              </a:rPr>
              <a:t>load/store data in stack using stack pointer 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    	w0, #19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str     	w0, [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#12]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ldr</a:t>
            </a:r>
            <a:r>
              <a:rPr lang="en-US" b="1" dirty="0">
                <a:solidFill>
                  <a:schemeClr val="tx1"/>
                </a:solidFill>
              </a:rPr>
              <a:t>     	w0, [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#12]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    	w0, w0, #02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    	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#0x10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568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538A-B3BF-920D-5AC7-D0DC0EC3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49D9-EA3B-99D9-8F63-D664A462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DF7B-53E7-529C-0714-8C1A4D60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</a:t>
            </a:r>
            <a:r>
              <a:rPr lang="en-US" b="1" dirty="0">
                <a:solidFill>
                  <a:schemeClr val="tx1"/>
                </a:solidFill>
              </a:rPr>
              <a:t>simple loop: a=0; for (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=0;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&lt;3) a=a+2; 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x0, #0		//a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x1,#0  		//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x2, #2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loop: 	add 	x1, x1, #1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add 	x0,x0,x2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</a:t>
            </a:r>
            <a:r>
              <a:rPr lang="en-US" b="1" dirty="0" err="1">
                <a:solidFill>
                  <a:schemeClr val="tx1"/>
                </a:solidFill>
              </a:rPr>
              <a:t>cmp</a:t>
            </a:r>
            <a:r>
              <a:rPr lang="en-US" b="1" dirty="0">
                <a:solidFill>
                  <a:schemeClr val="tx1"/>
                </a:solidFill>
              </a:rPr>
              <a:t> 	x1,#3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</a:t>
            </a:r>
            <a:r>
              <a:rPr lang="en-US" b="1" dirty="0" err="1">
                <a:solidFill>
                  <a:schemeClr val="tx1"/>
                </a:solidFill>
              </a:rPr>
              <a:t>b.ne</a:t>
            </a:r>
            <a:r>
              <a:rPr lang="en-US" b="1" dirty="0">
                <a:solidFill>
                  <a:schemeClr val="tx1"/>
                </a:solidFill>
              </a:rPr>
              <a:t> 	loop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0983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602E-258A-E231-1ECD-C16AE086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FACF-A1B5-4D2F-6872-2F0F7681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9E939-2347-DE56-3C0C-C84C72497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</a:t>
            </a:r>
            <a:r>
              <a:rPr lang="en-US" b="1" dirty="0">
                <a:solidFill>
                  <a:schemeClr val="tx1"/>
                </a:solidFill>
              </a:rPr>
              <a:t>Branch instructions: if (a == 3) b=a-2; else b=a+2;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	x0, #2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mov 	x1, #3  //a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cmp</a:t>
            </a:r>
            <a:r>
              <a:rPr lang="en-US" b="1" dirty="0">
                <a:solidFill>
                  <a:schemeClr val="tx1"/>
                </a:solidFill>
              </a:rPr>
              <a:t> 	x1, #3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</a:t>
            </a:r>
            <a:r>
              <a:rPr lang="en-US" b="1" dirty="0" err="1">
                <a:solidFill>
                  <a:schemeClr val="tx1"/>
                </a:solidFill>
              </a:rPr>
              <a:t>b.eq</a:t>
            </a:r>
            <a:r>
              <a:rPr lang="en-US" b="1" dirty="0">
                <a:solidFill>
                  <a:schemeClr val="tx1"/>
                </a:solidFill>
              </a:rPr>
              <a:t> 	equal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add 	x2, x0, x1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	b 	end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equal: 	sub 	x2, x0, x1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end: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98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4063-452D-BCC9-93F8-1CFDD599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9A22-6243-EF6D-2BB6-9409067D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FBB0-4422-1AC9-696C-28BF0D44C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9. </a:t>
            </a:r>
            <a:r>
              <a:rPr lang="en-US" b="1" dirty="0">
                <a:solidFill>
                  <a:schemeClr val="tx1"/>
                </a:solidFill>
              </a:rPr>
              <a:t>find the largest and put in x0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main: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mov 	x1, #34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mov 	x2, #54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mov 	x3, #91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mov 	x0, x1     // start with x1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cmp</a:t>
            </a:r>
            <a:r>
              <a:rPr lang="en-US" b="1" dirty="0">
                <a:solidFill>
                  <a:schemeClr val="tx1"/>
                </a:solidFill>
              </a:rPr>
              <a:t> 	x0, x2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b.ge</a:t>
            </a:r>
            <a:r>
              <a:rPr lang="en-US" b="1" dirty="0">
                <a:solidFill>
                  <a:schemeClr val="tx1"/>
                </a:solidFill>
              </a:rPr>
              <a:t> 	test_r3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mov 	x0, x2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test_r3: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cmp</a:t>
            </a:r>
            <a:r>
              <a:rPr lang="en-US" b="1" dirty="0">
                <a:solidFill>
                  <a:schemeClr val="tx1"/>
                </a:solidFill>
              </a:rPr>
              <a:t> 	x0, x3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b.ge</a:t>
            </a:r>
            <a:r>
              <a:rPr lang="en-US" b="1" dirty="0">
                <a:solidFill>
                  <a:schemeClr val="tx1"/>
                </a:solidFill>
              </a:rPr>
              <a:t> 	end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mov 	x0, x3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end: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78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04A3-5086-04ED-D520-32472D89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089D-F86B-E799-A917-041E71C1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054C-9210-D2D6-FD78-52E2718C4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10</a:t>
            </a:r>
            <a:r>
              <a:rPr lang="en-US" b="1" dirty="0">
                <a:solidFill>
                  <a:schemeClr val="tx1"/>
                </a:solidFill>
              </a:rPr>
              <a:t>. function call: main() { a=0; adder2(a);},  int adder2(int a) { return a + 2;}  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main: 	mov 	w0, #0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bl 	adder2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ret     	//important, infinity loop without it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adder2: sub	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#0x10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str	w0, [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#12]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ldr</a:t>
            </a:r>
            <a:r>
              <a:rPr lang="en-US" b="1" dirty="0">
                <a:solidFill>
                  <a:schemeClr val="tx1"/>
                </a:solidFill>
              </a:rPr>
              <a:t>	w0, [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#12]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    	w0, w0, #0x2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    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sp</a:t>
            </a:r>
            <a:r>
              <a:rPr lang="en-US" b="1" dirty="0">
                <a:solidFill>
                  <a:schemeClr val="tx1"/>
                </a:solidFill>
              </a:rPr>
              <a:t>, #0x10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ret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12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9E8E-3FF4-13E4-1B48-BD337155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46A7-1E63-44FD-63DD-626D9D9D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29139"/>
            <a:ext cx="2484463" cy="71866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FA60A-BA2C-A559-0B35-4F9F5BFA9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651290"/>
            <a:ext cx="10437337" cy="499415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11. </a:t>
            </a:r>
            <a:r>
              <a:rPr lang="en-US" b="1" dirty="0">
                <a:solidFill>
                  <a:schemeClr val="tx1"/>
                </a:solidFill>
              </a:rPr>
              <a:t>computer </a:t>
            </a:r>
            <a:r>
              <a:rPr lang="en-US" b="1" dirty="0" err="1">
                <a:solidFill>
                  <a:schemeClr val="tx1"/>
                </a:solidFill>
              </a:rPr>
              <a:t>fibonacci</a:t>
            </a:r>
            <a:r>
              <a:rPr lang="en-US" b="1" dirty="0">
                <a:solidFill>
                  <a:schemeClr val="tx1"/>
                </a:solidFill>
              </a:rPr>
              <a:t> sequence: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main:	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>
                <a:solidFill>
                  <a:schemeClr val="tx1"/>
                </a:solidFill>
              </a:rPr>
              <a:t>mov </a:t>
            </a:r>
            <a:r>
              <a:rPr lang="en-US" b="1" dirty="0">
                <a:solidFill>
                  <a:schemeClr val="tx1"/>
                </a:solidFill>
              </a:rPr>
              <a:t>x0, 0 //answer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x1, 9  // find 9th number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x2, 0   //first number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x3, 1  //second number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x4, 0  //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=0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loop: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x4, x4, 1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cmp</a:t>
            </a:r>
            <a:r>
              <a:rPr lang="en-US" b="1" dirty="0">
                <a:solidFill>
                  <a:schemeClr val="tx1"/>
                </a:solidFill>
              </a:rPr>
              <a:t> x1, x4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b.le</a:t>
            </a:r>
            <a:r>
              <a:rPr lang="en-US" b="1" dirty="0">
                <a:solidFill>
                  <a:schemeClr val="tx1"/>
                </a:solidFill>
              </a:rPr>
              <a:t> exit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x5, x0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add x0, x2, x3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x2, x0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mov x3, x5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b.al loop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exit:	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7722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9204-BD38-B1F6-3BB4-5EECA7BD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2798-5AD1-7D4F-BD42-F5D77E0E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C87BAFD9-D7FB-F031-A8F5-9F4D893AFB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88197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970</TotalTime>
  <Words>2782</Words>
  <Application>Microsoft Office PowerPoint</Application>
  <PresentationFormat>Widescreen</PresentationFormat>
  <Paragraphs>499</Paragraphs>
  <Slides>49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Arial Narrow</vt:lpstr>
      <vt:lpstr>Calibri</vt:lpstr>
      <vt:lpstr>Garamond</vt:lpstr>
      <vt:lpstr>Lucida Console</vt:lpstr>
      <vt:lpstr>Times New Roman</vt:lpstr>
      <vt:lpstr>Wingdings</vt:lpstr>
      <vt:lpstr>SCUTemplate</vt:lpstr>
      <vt:lpstr>Custom Design</vt:lpstr>
      <vt:lpstr>1_SCUTemplate</vt:lpstr>
      <vt:lpstr>CSEN20</vt:lpstr>
      <vt:lpstr>ARM Instruction Set Architecture History</vt:lpstr>
      <vt:lpstr>PowerPoint Presentation</vt:lpstr>
      <vt:lpstr>The ARMv8 Instruction Set</vt:lpstr>
      <vt:lpstr>The ARMv8 Instruction Set</vt:lpstr>
      <vt:lpstr>The ARMv8 Instruction Set</vt:lpstr>
      <vt:lpstr>The ARMv8 Instruction Set</vt:lpstr>
      <vt:lpstr>The ARMv8 Instruction Set</vt:lpstr>
      <vt:lpstr>ARM64 / AArch64 / ARMv8 </vt:lpstr>
      <vt:lpstr>ARMv8</vt:lpstr>
      <vt:lpstr>ARMv8</vt:lpstr>
      <vt:lpstr>ARMv8</vt:lpstr>
      <vt:lpstr>Registers</vt:lpstr>
      <vt:lpstr>ARM64</vt:lpstr>
      <vt:lpstr>Registers</vt:lpstr>
      <vt:lpstr>ARM64</vt:lpstr>
      <vt:lpstr>ARM64</vt:lpstr>
      <vt:lpstr>ARM64</vt:lpstr>
      <vt:lpstr>ARM64</vt:lpstr>
      <vt:lpstr>Differences between  ARMv7 and ARMv8</vt:lpstr>
      <vt:lpstr>ARM64</vt:lpstr>
      <vt:lpstr>ARM64</vt:lpstr>
      <vt:lpstr>ARM64</vt:lpstr>
      <vt:lpstr>ARM64</vt:lpstr>
      <vt:lpstr>ARM64</vt:lpstr>
      <vt:lpstr>ARM64</vt:lpstr>
      <vt:lpstr>ARM64</vt:lpstr>
      <vt:lpstr>Operations</vt:lpstr>
      <vt:lpstr>Arithmetic Operations</vt:lpstr>
      <vt:lpstr>Arithmetic Example</vt:lpstr>
      <vt:lpstr>Register Operand Example</vt:lpstr>
      <vt:lpstr>Immediate Operands</vt:lpstr>
      <vt:lpstr>Instruction Sets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188</cp:revision>
  <cp:lastPrinted>2023-09-11T21:46:56Z</cp:lastPrinted>
  <dcterms:created xsi:type="dcterms:W3CDTF">2023-09-09T19:51:41Z</dcterms:created>
  <dcterms:modified xsi:type="dcterms:W3CDTF">2026-09-22T20:33:29Z</dcterms:modified>
</cp:coreProperties>
</file>