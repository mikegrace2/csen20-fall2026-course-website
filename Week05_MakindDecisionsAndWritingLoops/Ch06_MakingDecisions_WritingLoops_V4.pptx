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60"/>
  </p:notesMasterIdLst>
  <p:handoutMasterIdLst>
    <p:handoutMasterId r:id="rId61"/>
  </p:handoutMasterIdLst>
  <p:sldIdLst>
    <p:sldId id="333" r:id="rId4"/>
    <p:sldId id="374" r:id="rId5"/>
    <p:sldId id="375" r:id="rId6"/>
    <p:sldId id="376" r:id="rId7"/>
    <p:sldId id="377" r:id="rId8"/>
    <p:sldId id="378" r:id="rId9"/>
    <p:sldId id="448" r:id="rId10"/>
    <p:sldId id="417" r:id="rId11"/>
    <p:sldId id="379" r:id="rId12"/>
    <p:sldId id="428" r:id="rId13"/>
    <p:sldId id="416" r:id="rId14"/>
    <p:sldId id="380" r:id="rId15"/>
    <p:sldId id="381" r:id="rId16"/>
    <p:sldId id="454" r:id="rId17"/>
    <p:sldId id="382" r:id="rId18"/>
    <p:sldId id="447" r:id="rId19"/>
    <p:sldId id="383" r:id="rId20"/>
    <p:sldId id="385" r:id="rId21"/>
    <p:sldId id="384" r:id="rId22"/>
    <p:sldId id="420" r:id="rId23"/>
    <p:sldId id="421" r:id="rId24"/>
    <p:sldId id="386" r:id="rId25"/>
    <p:sldId id="387" r:id="rId26"/>
    <p:sldId id="388" r:id="rId27"/>
    <p:sldId id="389" r:id="rId28"/>
    <p:sldId id="395" r:id="rId29"/>
    <p:sldId id="509" r:id="rId30"/>
    <p:sldId id="457" r:id="rId31"/>
    <p:sldId id="449" r:id="rId32"/>
    <p:sldId id="422" r:id="rId33"/>
    <p:sldId id="397" r:id="rId34"/>
    <p:sldId id="450" r:id="rId35"/>
    <p:sldId id="401" r:id="rId36"/>
    <p:sldId id="451" r:id="rId37"/>
    <p:sldId id="452" r:id="rId38"/>
    <p:sldId id="453" r:id="rId39"/>
    <p:sldId id="434" r:id="rId40"/>
    <p:sldId id="439" r:id="rId41"/>
    <p:sldId id="443" r:id="rId42"/>
    <p:sldId id="436" r:id="rId43"/>
    <p:sldId id="456" r:id="rId44"/>
    <p:sldId id="435" r:id="rId45"/>
    <p:sldId id="444" r:id="rId46"/>
    <p:sldId id="437" r:id="rId47"/>
    <p:sldId id="455" r:id="rId48"/>
    <p:sldId id="458" r:id="rId49"/>
    <p:sldId id="445" r:id="rId50"/>
    <p:sldId id="390" r:id="rId51"/>
    <p:sldId id="391" r:id="rId52"/>
    <p:sldId id="392" r:id="rId53"/>
    <p:sldId id="393" r:id="rId54"/>
    <p:sldId id="394" r:id="rId55"/>
    <p:sldId id="403" r:id="rId56"/>
    <p:sldId id="402" r:id="rId57"/>
    <p:sldId id="398" r:id="rId58"/>
    <p:sldId id="399" r:id="rId5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02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A8B52-B4C2-40D1-BD68-834B0AAF85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842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A8B52-B4C2-40D1-BD68-834B0AAF85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677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10/28/2026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684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10/28/2026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405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2012209"/>
            <a:ext cx="10387264" cy="46332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837009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1459D-5370-469A-AE37-73E3F045E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1EFF6-A3DE-4400-9D51-9877B4AD4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Decisions in Assembly</a:t>
            </a:r>
          </a:p>
        </p:txBody>
      </p:sp>
    </p:spTree>
    <p:extLst>
      <p:ext uri="{BB962C8B-B14F-4D97-AF65-F5344CB8AC3E}">
        <p14:creationId xmlns:p14="http://schemas.microsoft.com/office/powerpoint/2010/main" val="1226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1931"/>
            <a:ext cx="2336073" cy="607585"/>
          </a:xfrm>
        </p:spPr>
        <p:txBody>
          <a:bodyPr/>
          <a:lstStyle/>
          <a:p>
            <a:r>
              <a:rPr lang="en-US" dirty="0"/>
              <a:t>Consider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611" y="1911975"/>
            <a:ext cx="10417284" cy="383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 default, statements are executed sequentially in both C and assembly: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963613" indent="0">
              <a:buNone/>
            </a:pPr>
            <a:r>
              <a:rPr lang="en-US" dirty="0">
                <a:solidFill>
                  <a:schemeClr val="tx1"/>
                </a:solidFill>
              </a:rPr>
              <a:t>statement</a:t>
            </a:r>
          </a:p>
          <a:p>
            <a:pPr marL="963613" indent="0">
              <a:buNone/>
            </a:pPr>
            <a:r>
              <a:rPr lang="en-US" dirty="0">
                <a:solidFill>
                  <a:schemeClr val="tx1"/>
                </a:solidFill>
              </a:rPr>
              <a:t>statement</a:t>
            </a:r>
          </a:p>
          <a:p>
            <a:pPr marL="963613" indent="0">
              <a:buNone/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963613" indent="0">
              <a:buNone/>
            </a:pPr>
            <a:r>
              <a:rPr lang="en-US" dirty="0">
                <a:solidFill>
                  <a:schemeClr val="tx1"/>
                </a:solidFill>
              </a:rPr>
              <a:t>statement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950370" y="3175025"/>
            <a:ext cx="1" cy="21114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9710" y="3692405"/>
            <a:ext cx="3009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Order of execution</a:t>
            </a:r>
          </a:p>
        </p:txBody>
      </p:sp>
    </p:spTree>
    <p:extLst>
      <p:ext uri="{BB962C8B-B14F-4D97-AF65-F5344CB8AC3E}">
        <p14:creationId xmlns:p14="http://schemas.microsoft.com/office/powerpoint/2010/main" val="386911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52497"/>
            <a:ext cx="2773221" cy="615092"/>
          </a:xfrm>
        </p:spPr>
        <p:txBody>
          <a:bodyPr>
            <a:normAutofit fontScale="90000"/>
          </a:bodyPr>
          <a:lstStyle/>
          <a:p>
            <a:r>
              <a:rPr lang="en-US" dirty="0"/>
              <a:t>However,….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7578" y="141763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Decisions imply departure from sequential execution: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4117575" y="2589260"/>
            <a:ext cx="4547066" cy="3042458"/>
            <a:chOff x="581890" y="2776451"/>
            <a:chExt cx="4547066" cy="3042458"/>
          </a:xfrm>
        </p:grpSpPr>
        <p:sp>
          <p:nvSpPr>
            <p:cNvPr id="6" name="Rectangle 5"/>
            <p:cNvSpPr/>
            <p:nvPr/>
          </p:nvSpPr>
          <p:spPr>
            <a:xfrm>
              <a:off x="3732418" y="3757347"/>
              <a:ext cx="1396538" cy="51538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Then statement</a:t>
              </a:r>
            </a:p>
          </p:txBody>
        </p:sp>
        <p:sp>
          <p:nvSpPr>
            <p:cNvPr id="7" name="Diamond 6"/>
            <p:cNvSpPr/>
            <p:nvPr/>
          </p:nvSpPr>
          <p:spPr>
            <a:xfrm>
              <a:off x="581890" y="3441468"/>
              <a:ext cx="1712422" cy="1113906"/>
            </a:xfrm>
            <a:prstGeom prst="diamond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ysClr val="windowText" lastClr="000000"/>
                  </a:solidFill>
                  <a:latin typeface="Arial" panose="020B0604020202020204"/>
                </a:rPr>
                <a:t>if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endCxn id="7" idx="0"/>
            </p:cNvCxnSpPr>
            <p:nvPr/>
          </p:nvCxnSpPr>
          <p:spPr>
            <a:xfrm>
              <a:off x="1438101" y="2776451"/>
              <a:ext cx="0" cy="66501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1438101" y="4555374"/>
              <a:ext cx="0" cy="1263535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3"/>
              <a:endCxn id="6" idx="1"/>
            </p:cNvCxnSpPr>
            <p:nvPr/>
          </p:nvCxnSpPr>
          <p:spPr>
            <a:xfrm>
              <a:off x="2294312" y="3998421"/>
              <a:ext cx="1438106" cy="16621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>
              <a:stCxn id="6" idx="2"/>
            </p:cNvCxnSpPr>
            <p:nvPr/>
          </p:nvCxnSpPr>
          <p:spPr>
            <a:xfrm rot="5400000">
              <a:off x="2441785" y="3269052"/>
              <a:ext cx="985219" cy="2992586"/>
            </a:xfrm>
            <a:prstGeom prst="bentConnector2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6096009" y="3450208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7574" y="4339459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5726" y="5678391"/>
            <a:ext cx="245968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Program continues …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9456822" y="3209115"/>
            <a:ext cx="2197768" cy="1237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if (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&lt; 100){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+ 10;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369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6158"/>
            <a:ext cx="6442852" cy="724955"/>
          </a:xfrm>
        </p:spPr>
        <p:txBody>
          <a:bodyPr>
            <a:normAutofit/>
          </a:bodyPr>
          <a:lstStyle/>
          <a:p>
            <a:r>
              <a:rPr lang="en-US" dirty="0"/>
              <a:t>If-then-else in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398526"/>
            <a:ext cx="10389210" cy="441262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 assembly, all statements must be arranged </a:t>
            </a:r>
            <a:r>
              <a:rPr lang="en-US" b="1" dirty="0">
                <a:solidFill>
                  <a:srgbClr val="00B0F0"/>
                </a:solidFill>
              </a:rPr>
              <a:t>vertically</a:t>
            </a:r>
            <a:r>
              <a:rPr lang="en-US" dirty="0"/>
              <a:t>: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808023" y="3062764"/>
            <a:ext cx="4036520" cy="3042458"/>
            <a:chOff x="581890" y="2776451"/>
            <a:chExt cx="4036520" cy="3042458"/>
          </a:xfrm>
        </p:grpSpPr>
        <p:sp>
          <p:nvSpPr>
            <p:cNvPr id="5" name="Rectangle 4"/>
            <p:cNvSpPr/>
            <p:nvPr/>
          </p:nvSpPr>
          <p:spPr>
            <a:xfrm>
              <a:off x="3221872" y="3736729"/>
              <a:ext cx="1396538" cy="51538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Then statement</a:t>
              </a:r>
            </a:p>
          </p:txBody>
        </p:sp>
        <p:sp>
          <p:nvSpPr>
            <p:cNvPr id="6" name="Diamond 5"/>
            <p:cNvSpPr/>
            <p:nvPr/>
          </p:nvSpPr>
          <p:spPr>
            <a:xfrm>
              <a:off x="581890" y="3441468"/>
              <a:ext cx="1712422" cy="1113906"/>
            </a:xfrm>
            <a:prstGeom prst="diamond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ysClr val="windowText" lastClr="000000"/>
                  </a:solidFill>
                  <a:latin typeface="Arial" panose="020B0604020202020204"/>
                </a:rPr>
                <a:t>if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7" name="Straight Arrow Connector 6"/>
            <p:cNvCxnSpPr>
              <a:endCxn id="6" idx="0"/>
            </p:cNvCxnSpPr>
            <p:nvPr/>
          </p:nvCxnSpPr>
          <p:spPr>
            <a:xfrm>
              <a:off x="1438101" y="2776451"/>
              <a:ext cx="0" cy="66501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1438101" y="4555374"/>
              <a:ext cx="0" cy="1263535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6" idx="3"/>
              <a:endCxn id="5" idx="1"/>
            </p:cNvCxnSpPr>
            <p:nvPr/>
          </p:nvCxnSpPr>
          <p:spPr>
            <a:xfrm flipV="1">
              <a:off x="2294312" y="3994424"/>
              <a:ext cx="927560" cy="399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lbow Connector 9"/>
            <p:cNvCxnSpPr>
              <a:stCxn id="5" idx="2"/>
            </p:cNvCxnSpPr>
            <p:nvPr/>
          </p:nvCxnSpPr>
          <p:spPr>
            <a:xfrm rot="5400000">
              <a:off x="2199142" y="3499391"/>
              <a:ext cx="968273" cy="2473727"/>
            </a:xfrm>
            <a:prstGeom prst="bentConnector2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7646324" y="2783305"/>
            <a:ext cx="1712422" cy="3342859"/>
            <a:chOff x="6021184" y="2759824"/>
            <a:chExt cx="1712422" cy="3470719"/>
          </a:xfrm>
        </p:grpSpPr>
        <p:sp>
          <p:nvSpPr>
            <p:cNvPr id="12" name="Diamond 11"/>
            <p:cNvSpPr/>
            <p:nvPr/>
          </p:nvSpPr>
          <p:spPr>
            <a:xfrm>
              <a:off x="6021184" y="3424841"/>
              <a:ext cx="1712422" cy="1113906"/>
            </a:xfrm>
            <a:prstGeom prst="diamond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rgbClr val="000000"/>
                  </a:solidFill>
                  <a:latin typeface="Arial" panose="020B0604020202020204"/>
                </a:rPr>
                <a:t>if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13" name="Straight Arrow Connector 12"/>
            <p:cNvCxnSpPr>
              <a:endCxn id="12" idx="0"/>
            </p:cNvCxnSpPr>
            <p:nvPr/>
          </p:nvCxnSpPr>
          <p:spPr>
            <a:xfrm>
              <a:off x="6877395" y="2759824"/>
              <a:ext cx="0" cy="66501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6179126" y="5050137"/>
              <a:ext cx="1396538" cy="51538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Then statement</a:t>
              </a:r>
            </a:p>
          </p:txBody>
        </p:sp>
        <p:cxnSp>
          <p:nvCxnSpPr>
            <p:cNvPr id="15" name="Straight Arrow Connector 14"/>
            <p:cNvCxnSpPr>
              <a:endCxn id="14" idx="0"/>
            </p:cNvCxnSpPr>
            <p:nvPr/>
          </p:nvCxnSpPr>
          <p:spPr>
            <a:xfrm>
              <a:off x="6877395" y="4522123"/>
              <a:ext cx="0" cy="528014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6877395" y="5565526"/>
              <a:ext cx="0" cy="66501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stCxn id="12" idx="3"/>
            </p:cNvCxnSpPr>
            <p:nvPr/>
          </p:nvCxnSpPr>
          <p:spPr>
            <a:xfrm flipH="1">
              <a:off x="6877396" y="3981794"/>
              <a:ext cx="856210" cy="1911454"/>
            </a:xfrm>
            <a:prstGeom prst="bentConnector4">
              <a:avLst>
                <a:gd name="adj1" fmla="val -26699"/>
                <a:gd name="adj2" fmla="val 100230"/>
              </a:avLst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ight Arrow 17"/>
          <p:cNvSpPr/>
          <p:nvPr/>
        </p:nvSpPr>
        <p:spPr>
          <a:xfrm>
            <a:off x="6272996" y="3919132"/>
            <a:ext cx="964276" cy="72320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68836" y="3943796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5725" y="4480373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2409" y="3574464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9712" y="4727766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535" y="6126164"/>
            <a:ext cx="32800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 Program continues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658" y="6161156"/>
            <a:ext cx="31010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 Program continues …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2065687" y="1779012"/>
            <a:ext cx="2626629" cy="12374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</a:rPr>
              <a:t>if (</a:t>
            </a:r>
            <a:r>
              <a:rPr lang="en-US" sz="2000" b="1" dirty="0" err="1">
                <a:solidFill>
                  <a:schemeClr val="tx1"/>
                </a:solidFill>
              </a:rPr>
              <a:t>var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&lt;</a:t>
            </a:r>
            <a:r>
              <a:rPr lang="en-US" sz="2000" b="1" dirty="0">
                <a:solidFill>
                  <a:schemeClr val="tx1"/>
                </a:solidFill>
              </a:rPr>
              <a:t> 100){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    </a:t>
            </a:r>
            <a:r>
              <a:rPr lang="en-US" sz="2000" b="1" dirty="0" err="1">
                <a:solidFill>
                  <a:schemeClr val="tx1"/>
                </a:solidFill>
              </a:rPr>
              <a:t>var</a:t>
            </a:r>
            <a:r>
              <a:rPr lang="en-US" sz="2000" b="1" dirty="0">
                <a:solidFill>
                  <a:schemeClr val="tx1"/>
                </a:solidFill>
              </a:rPr>
              <a:t> = </a:t>
            </a:r>
            <a:r>
              <a:rPr lang="en-US" sz="2000" b="1" dirty="0" err="1">
                <a:solidFill>
                  <a:schemeClr val="tx1"/>
                </a:solidFill>
              </a:rPr>
              <a:t>var</a:t>
            </a:r>
            <a:r>
              <a:rPr lang="en-US" sz="2000" b="1" dirty="0">
                <a:solidFill>
                  <a:schemeClr val="tx1"/>
                </a:solidFill>
              </a:rPr>
              <a:t> + 10;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}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L1: Program continues 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7602645" y="841902"/>
            <a:ext cx="2423671" cy="17677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if (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&gt;=</a:t>
            </a:r>
            <a:r>
              <a:rPr lang="en-US" b="1" dirty="0">
                <a:solidFill>
                  <a:schemeClr val="tx1"/>
                </a:solidFill>
              </a:rPr>
              <a:t> 100){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goto</a:t>
            </a:r>
            <a:r>
              <a:rPr lang="en-US" b="1" dirty="0">
                <a:solidFill>
                  <a:schemeClr val="tx1"/>
                </a:solidFill>
              </a:rPr>
              <a:t> L1;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+ 10;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L1: Program continues …</a:t>
            </a:r>
          </a:p>
        </p:txBody>
      </p:sp>
    </p:spTree>
    <p:extLst>
      <p:ext uri="{BB962C8B-B14F-4D97-AF65-F5344CB8AC3E}">
        <p14:creationId xmlns:p14="http://schemas.microsoft.com/office/powerpoint/2010/main" val="1854794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0873"/>
            <a:ext cx="8006958" cy="771119"/>
          </a:xfrm>
        </p:spPr>
        <p:txBody>
          <a:bodyPr/>
          <a:lstStyle/>
          <a:p>
            <a:r>
              <a:rPr lang="en-US" dirty="0"/>
              <a:t>This arrangement requires a “</a:t>
            </a:r>
            <a:r>
              <a:rPr lang="en-US" dirty="0" err="1"/>
              <a:t>goto</a:t>
            </a:r>
            <a:r>
              <a:rPr lang="en-US" dirty="0"/>
              <a:t>”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675313" y="2011444"/>
            <a:ext cx="2585258" cy="3470719"/>
            <a:chOff x="6122324" y="2655444"/>
            <a:chExt cx="2585258" cy="3470719"/>
          </a:xfrm>
        </p:grpSpPr>
        <p:grpSp>
          <p:nvGrpSpPr>
            <p:cNvPr id="4" name="Group 3"/>
            <p:cNvGrpSpPr/>
            <p:nvPr/>
          </p:nvGrpSpPr>
          <p:grpSpPr>
            <a:xfrm>
              <a:off x="6122324" y="2655444"/>
              <a:ext cx="1712422" cy="3470719"/>
              <a:chOff x="6021184" y="2759824"/>
              <a:chExt cx="1712422" cy="3470719"/>
            </a:xfrm>
          </p:grpSpPr>
          <p:sp>
            <p:nvSpPr>
              <p:cNvPr id="5" name="Diamond 4"/>
              <p:cNvSpPr/>
              <p:nvPr/>
            </p:nvSpPr>
            <p:spPr>
              <a:xfrm>
                <a:off x="6021184" y="3424841"/>
                <a:ext cx="1712422" cy="1113906"/>
              </a:xfrm>
              <a:prstGeom prst="diamond">
                <a:avLst/>
              </a:prstGeom>
              <a:solidFill>
                <a:srgbClr val="FFFF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/>
                  </a:rPr>
                  <a:t>if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cxnSp>
            <p:nvCxnSpPr>
              <p:cNvPr id="6" name="Straight Arrow Connector 5"/>
              <p:cNvCxnSpPr>
                <a:endCxn id="5" idx="0"/>
              </p:cNvCxnSpPr>
              <p:nvPr/>
            </p:nvCxnSpPr>
            <p:spPr>
              <a:xfrm>
                <a:off x="6877395" y="2759824"/>
                <a:ext cx="0" cy="665017"/>
              </a:xfrm>
              <a:prstGeom prst="straightConnector1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 6"/>
              <p:cNvSpPr/>
              <p:nvPr/>
            </p:nvSpPr>
            <p:spPr>
              <a:xfrm>
                <a:off x="6179126" y="5050137"/>
                <a:ext cx="1396538" cy="51538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Then statement</a:t>
                </a:r>
              </a:p>
            </p:txBody>
          </p:sp>
          <p:cxnSp>
            <p:nvCxnSpPr>
              <p:cNvPr id="8" name="Straight Arrow Connector 7"/>
              <p:cNvCxnSpPr>
                <a:endCxn id="7" idx="0"/>
              </p:cNvCxnSpPr>
              <p:nvPr/>
            </p:nvCxnSpPr>
            <p:spPr>
              <a:xfrm>
                <a:off x="6877395" y="4522123"/>
                <a:ext cx="0" cy="528014"/>
              </a:xfrm>
              <a:prstGeom prst="straightConnector1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6877395" y="5565526"/>
                <a:ext cx="0" cy="665017"/>
              </a:xfrm>
              <a:prstGeom prst="straightConnector1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Elbow Connector 9"/>
              <p:cNvCxnSpPr>
                <a:stCxn id="5" idx="3"/>
              </p:cNvCxnSpPr>
              <p:nvPr/>
            </p:nvCxnSpPr>
            <p:spPr>
              <a:xfrm flipH="1">
                <a:off x="6877396" y="3981794"/>
                <a:ext cx="856210" cy="1911454"/>
              </a:xfrm>
              <a:prstGeom prst="bentConnector4">
                <a:avLst>
                  <a:gd name="adj1" fmla="val -26699"/>
                  <a:gd name="adj2" fmla="val 100230"/>
                </a:avLst>
              </a:prstGeom>
              <a:ln w="28575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/>
            <p:cNvSpPr txBox="1"/>
            <p:nvPr/>
          </p:nvSpPr>
          <p:spPr>
            <a:xfrm>
              <a:off x="6214231" y="4462982"/>
              <a:ext cx="10307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76804" y="3511293"/>
              <a:ext cx="10307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FALSE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233913" y="2438766"/>
            <a:ext cx="47798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if (test ==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FALSE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goto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L1;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Then-statement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L1: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….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0025" y="492337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3140" y="5392718"/>
            <a:ext cx="461750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decisions are implemented as: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 compare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followed by a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 branch</a:t>
            </a:r>
            <a:r>
              <a:rPr kumimoji="0" lang="en-US" sz="1800" b="1" i="0" u="none" strike="noStrike" kern="1200" cap="none" spc="0" normalizeH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instruction + condition code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719010" y="3388895"/>
            <a:ext cx="505327" cy="95851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2"/>
          </p:cNvCxnSpPr>
          <p:nvPr/>
        </p:nvCxnSpPr>
        <p:spPr>
          <a:xfrm flipH="1">
            <a:off x="3445043" y="3236625"/>
            <a:ext cx="1300139" cy="187679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42881" y="5517155"/>
            <a:ext cx="2459689" cy="3693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Program continues …</a:t>
            </a:r>
          </a:p>
        </p:txBody>
      </p:sp>
    </p:spTree>
    <p:extLst>
      <p:ext uri="{BB962C8B-B14F-4D97-AF65-F5344CB8AC3E}">
        <p14:creationId xmlns:p14="http://schemas.microsoft.com/office/powerpoint/2010/main" val="160891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0873"/>
            <a:ext cx="8006958" cy="771119"/>
          </a:xfrm>
        </p:spPr>
        <p:txBody>
          <a:bodyPr/>
          <a:lstStyle/>
          <a:p>
            <a:r>
              <a:rPr lang="en-US" dirty="0"/>
              <a:t>This arrangement requires a “</a:t>
            </a:r>
            <a:r>
              <a:rPr lang="en-US" dirty="0" err="1"/>
              <a:t>goto</a:t>
            </a:r>
            <a:r>
              <a:rPr lang="en-US" dirty="0"/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3913" y="1692805"/>
            <a:ext cx="47798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if (test == FALSE) 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goto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L1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Then-statement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L1: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….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466" y="2317217"/>
            <a:ext cx="3418355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does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actually mean?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Where does it come from?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74" y="4344231"/>
            <a:ext cx="6009071" cy="2188086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 flipH="1">
            <a:off x="5013159" y="2707105"/>
            <a:ext cx="1163052" cy="199323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576011" y="2707105"/>
            <a:ext cx="1600200" cy="212557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420853" y="2767263"/>
            <a:ext cx="188670" cy="234578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90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1048"/>
            <a:ext cx="10826357" cy="708393"/>
          </a:xfrm>
        </p:spPr>
        <p:txBody>
          <a:bodyPr>
            <a:normAutofit/>
          </a:bodyPr>
          <a:lstStyle/>
          <a:p>
            <a:r>
              <a:rPr lang="en-US" dirty="0"/>
              <a:t>FLAGS </a:t>
            </a:r>
            <a:r>
              <a:rPr lang="en-US" i="1" dirty="0"/>
              <a:t>Current Program Status Register (APSR)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5385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314317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83079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48159" y="2256290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8352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1400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6983" y="2256290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27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531401" y="2636651"/>
            <a:ext cx="7159869" cy="384371"/>
            <a:chOff x="1678200" y="1295400"/>
            <a:chExt cx="5789400" cy="306194"/>
          </a:xfrm>
        </p:grpSpPr>
        <p:sp>
          <p:nvSpPr>
            <p:cNvPr id="12" name="Rectangle 11"/>
            <p:cNvSpPr/>
            <p:nvPr/>
          </p:nvSpPr>
          <p:spPr>
            <a:xfrm>
              <a:off x="1678200" y="1295400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3000" y="1296794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87800" y="1295400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92600" y="1296794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906998" y="1295400"/>
              <a:ext cx="4560602" cy="304800"/>
            </a:xfrm>
            <a:prstGeom prst="rect">
              <a:avLst/>
            </a:prstGeom>
            <a:pattFill prst="wd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i="1" dirty="0"/>
                <a:t>reserved</a:t>
              </a:r>
              <a:endParaRPr lang="en-US" i="1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850734" y="3021023"/>
            <a:ext cx="5867248" cy="1625897"/>
            <a:chOff x="2326734" y="2289486"/>
            <a:chExt cx="5867248" cy="1625897"/>
          </a:xfrm>
        </p:grpSpPr>
        <p:sp>
          <p:nvSpPr>
            <p:cNvPr id="19" name="Rectangle 18"/>
            <p:cNvSpPr/>
            <p:nvPr/>
          </p:nvSpPr>
          <p:spPr>
            <a:xfrm>
              <a:off x="2898098" y="3245796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Overflow flag:</a:t>
              </a:r>
              <a:r>
                <a:rPr lang="en-US" sz="1400" dirty="0"/>
                <a:t> A value of 1 indicates a 2’s complement overflow during an addition, subtraction or compare.</a:t>
              </a:r>
            </a:p>
          </p:txBody>
        </p:sp>
        <p:cxnSp>
          <p:nvCxnSpPr>
            <p:cNvPr id="24" name="Elbow Connector 23"/>
            <p:cNvCxnSpPr>
              <a:stCxn id="19" idx="1"/>
              <a:endCxn id="15" idx="2"/>
            </p:cNvCxnSpPr>
            <p:nvPr/>
          </p:nvCxnSpPr>
          <p:spPr>
            <a:xfrm rot="10800000">
              <a:off x="2326734" y="2289486"/>
              <a:ext cx="571365" cy="129110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473781" y="3019273"/>
            <a:ext cx="6262010" cy="2249407"/>
            <a:chOff x="1949781" y="2287736"/>
            <a:chExt cx="6262010" cy="2249407"/>
          </a:xfrm>
        </p:grpSpPr>
        <p:sp>
          <p:nvSpPr>
            <p:cNvPr id="20" name="Rectangle 19"/>
            <p:cNvSpPr/>
            <p:nvPr/>
          </p:nvSpPr>
          <p:spPr>
            <a:xfrm>
              <a:off x="2915907" y="3867556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Carry flag:</a:t>
              </a:r>
              <a:r>
                <a:rPr lang="en-US" sz="1400" dirty="0"/>
                <a:t> A value of 1 indicates a carry out during </a:t>
              </a:r>
              <a:br>
                <a:rPr lang="en-US" sz="1400" dirty="0"/>
              </a:br>
              <a:r>
                <a:rPr lang="en-US" sz="1400" dirty="0"/>
                <a:t>addition.</a:t>
              </a:r>
            </a:p>
          </p:txBody>
        </p:sp>
        <p:cxnSp>
          <p:nvCxnSpPr>
            <p:cNvPr id="25" name="Elbow Connector 24"/>
            <p:cNvCxnSpPr>
              <a:stCxn id="20" idx="1"/>
              <a:endCxn id="14" idx="2"/>
            </p:cNvCxnSpPr>
            <p:nvPr/>
          </p:nvCxnSpPr>
          <p:spPr>
            <a:xfrm rot="10800000">
              <a:off x="1949781" y="2287736"/>
              <a:ext cx="966126" cy="191461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3096828" y="3021023"/>
            <a:ext cx="6647868" cy="2821589"/>
            <a:chOff x="1572828" y="2289486"/>
            <a:chExt cx="6647868" cy="2821589"/>
          </a:xfrm>
        </p:grpSpPr>
        <p:sp>
          <p:nvSpPr>
            <p:cNvPr id="21" name="Rectangle 20"/>
            <p:cNvSpPr/>
            <p:nvPr/>
          </p:nvSpPr>
          <p:spPr>
            <a:xfrm>
              <a:off x="2924812" y="4441488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Zero flag:</a:t>
              </a:r>
              <a:r>
                <a:rPr lang="en-US" sz="1400" dirty="0"/>
                <a:t> A value of 1 indicates a result </a:t>
              </a:r>
              <a:br>
                <a:rPr lang="en-US" sz="1400" dirty="0"/>
              </a:br>
              <a:r>
                <a:rPr lang="en-US" sz="1400" dirty="0"/>
                <a:t>(or difference) of zero</a:t>
              </a:r>
            </a:p>
          </p:txBody>
        </p:sp>
        <p:cxnSp>
          <p:nvCxnSpPr>
            <p:cNvPr id="26" name="Elbow Connector 25"/>
            <p:cNvCxnSpPr>
              <a:stCxn id="21" idx="1"/>
              <a:endCxn id="13" idx="2"/>
            </p:cNvCxnSpPr>
            <p:nvPr/>
          </p:nvCxnSpPr>
          <p:spPr>
            <a:xfrm rot="10800000">
              <a:off x="1572828" y="2289486"/>
              <a:ext cx="1351984" cy="248679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2719876" y="3019273"/>
            <a:ext cx="7024820" cy="3335197"/>
            <a:chOff x="1195876" y="2287736"/>
            <a:chExt cx="7024820" cy="3335197"/>
          </a:xfrm>
        </p:grpSpPr>
        <p:sp>
          <p:nvSpPr>
            <p:cNvPr id="22" name="Rectangle 21"/>
            <p:cNvSpPr/>
            <p:nvPr/>
          </p:nvSpPr>
          <p:spPr>
            <a:xfrm>
              <a:off x="2924812" y="4953346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Negative flag</a:t>
              </a:r>
              <a:r>
                <a:rPr lang="en-US" sz="1400" dirty="0"/>
                <a:t>: A value of 1 indicates a negative result</a:t>
              </a:r>
            </a:p>
          </p:txBody>
        </p:sp>
        <p:cxnSp>
          <p:nvCxnSpPr>
            <p:cNvPr id="27" name="Elbow Connector 26"/>
            <p:cNvCxnSpPr>
              <a:stCxn id="22" idx="1"/>
              <a:endCxn id="12" idx="2"/>
            </p:cNvCxnSpPr>
            <p:nvPr/>
          </p:nvCxnSpPr>
          <p:spPr>
            <a:xfrm rot="10800000">
              <a:off x="1195876" y="2287736"/>
              <a:ext cx="1728936" cy="30004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3666590" y="2644914"/>
            <a:ext cx="372619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3292786" y="2636651"/>
            <a:ext cx="368668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2908353" y="2637415"/>
            <a:ext cx="379671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2531401" y="2640151"/>
            <a:ext cx="378193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ight Brace 2"/>
          <p:cNvSpPr/>
          <p:nvPr/>
        </p:nvSpPr>
        <p:spPr>
          <a:xfrm rot="16200000">
            <a:off x="3287966" y="1314638"/>
            <a:ext cx="368667" cy="1881796"/>
          </a:xfrm>
          <a:prstGeom prst="rightBrac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531400" y="1691375"/>
            <a:ext cx="6909379" cy="369332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This subset is the Application Processor Status Register (APSR)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3CED39-F3C7-41CE-BAED-5CDCC7BC8EDF}"/>
              </a:ext>
            </a:extLst>
          </p:cNvPr>
          <p:cNvSpPr txBox="1"/>
          <p:nvPr/>
        </p:nvSpPr>
        <p:spPr>
          <a:xfrm>
            <a:off x="9128241" y="3071572"/>
            <a:ext cx="3028072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b="1" dirty="0"/>
              <a:t>Overflow during addition:</a:t>
            </a:r>
          </a:p>
          <a:p>
            <a:pPr marL="0" lvl="1" algn="ctr"/>
            <a:r>
              <a:rPr lang="en-US" dirty="0"/>
              <a:t>Unsigned: C flag = 1</a:t>
            </a:r>
          </a:p>
          <a:p>
            <a:pPr marL="0" lvl="1" algn="ctr"/>
            <a:r>
              <a:rPr lang="en-US" dirty="0"/>
              <a:t>2’s Comp: V flag =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FC7F7F-AAFB-4C3B-A05E-160BB2A8288C}"/>
              </a:ext>
            </a:extLst>
          </p:cNvPr>
          <p:cNvSpPr txBox="1"/>
          <p:nvPr/>
        </p:nvSpPr>
        <p:spPr>
          <a:xfrm>
            <a:off x="8827681" y="4684577"/>
            <a:ext cx="3328632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b="1" dirty="0"/>
              <a:t>Overflow during subtraction:</a:t>
            </a:r>
          </a:p>
          <a:p>
            <a:pPr marL="0" lvl="1" algn="ctr"/>
            <a:r>
              <a:rPr lang="en-US" dirty="0"/>
              <a:t>Unsigned: C flag = 0</a:t>
            </a:r>
          </a:p>
          <a:p>
            <a:pPr marL="0" lvl="1" algn="ctr"/>
            <a:r>
              <a:rPr lang="en-US" dirty="0"/>
              <a:t>2’s Comp: V flag = 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DA0286-70E9-4CE5-9840-8D0769CC4524}"/>
              </a:ext>
            </a:extLst>
          </p:cNvPr>
          <p:cNvSpPr/>
          <p:nvPr/>
        </p:nvSpPr>
        <p:spPr>
          <a:xfrm>
            <a:off x="3283079" y="2636650"/>
            <a:ext cx="742032" cy="3686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88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68A0-3D18-4DE8-83EA-932C88A2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6" y="737161"/>
            <a:ext cx="6964221" cy="738714"/>
          </a:xfrm>
        </p:spPr>
        <p:txBody>
          <a:bodyPr/>
          <a:lstStyle/>
          <a:p>
            <a:r>
              <a:rPr lang="en-US" dirty="0"/>
              <a:t>Making Decisions in Assembly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E77F2-8178-4CE0-956C-7A9AD7C50F62}"/>
              </a:ext>
            </a:extLst>
          </p:cNvPr>
          <p:cNvSpPr txBox="1"/>
          <p:nvPr/>
        </p:nvSpPr>
        <p:spPr>
          <a:xfrm>
            <a:off x="940525" y="1715434"/>
            <a:ext cx="104172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instructions are used to “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compare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two values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>
                <a:solidFill>
                  <a:srgbClr val="00B0F0"/>
                </a:solidFill>
                <a:latin typeface="Arial" panose="020B0604020202020204"/>
              </a:rPr>
              <a:t>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PSR Flags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records the characteristics of the </a:t>
            </a:r>
            <a:r>
              <a:rPr lang="en-US" sz="2800" dirty="0">
                <a:solidFill>
                  <a:srgbClr val="000000"/>
                </a:solidFill>
                <a:latin typeface="Arial" panose="020B0604020202020204"/>
              </a:rPr>
              <a:t>comparison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80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68A0-3D18-4DE8-83EA-932C88A2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6" y="737161"/>
            <a:ext cx="6964221" cy="738714"/>
          </a:xfrm>
        </p:spPr>
        <p:txBody>
          <a:bodyPr/>
          <a:lstStyle/>
          <a:p>
            <a:r>
              <a:rPr lang="en-US" dirty="0"/>
              <a:t>Making Decisions in Assembly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E77F2-8178-4CE0-956C-7A9AD7C50F62}"/>
              </a:ext>
            </a:extLst>
          </p:cNvPr>
          <p:cNvSpPr txBox="1"/>
          <p:nvPr/>
        </p:nvSpPr>
        <p:spPr>
          <a:xfrm>
            <a:off x="940525" y="1715434"/>
            <a:ext cx="106138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Conditional Branch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depend on </a:t>
            </a:r>
            <a:r>
              <a:rPr lang="en-US" sz="2800" dirty="0">
                <a:solidFill>
                  <a:srgbClr val="000000"/>
                </a:solidFill>
                <a:latin typeface="Arial" panose="020B0604020202020204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PSR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lags: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FALSE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	Execution continues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sequentially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lang="en-US" sz="2800" dirty="0">
                <a:solidFill>
                  <a:srgbClr val="000000"/>
                </a:solidFill>
                <a:latin typeface="Arial" panose="020B0604020202020204"/>
              </a:rPr>
              <a:t>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Execution “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branches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to some other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label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Example: “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BEQ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means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 to label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equal.</a:t>
            </a:r>
          </a:p>
        </p:txBody>
      </p:sp>
    </p:spTree>
    <p:extLst>
      <p:ext uri="{BB962C8B-B14F-4D97-AF65-F5344CB8AC3E}">
        <p14:creationId xmlns:p14="http://schemas.microsoft.com/office/powerpoint/2010/main" val="1179321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68A0-3D18-4DE8-83EA-932C88A2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6" y="737161"/>
            <a:ext cx="6964221" cy="738714"/>
          </a:xfrm>
        </p:spPr>
        <p:txBody>
          <a:bodyPr/>
          <a:lstStyle/>
          <a:p>
            <a:r>
              <a:rPr lang="en-US" dirty="0"/>
              <a:t>Making Decisions in Assembly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E77F2-8178-4CE0-956C-7A9AD7C50F62}"/>
              </a:ext>
            </a:extLst>
          </p:cNvPr>
          <p:cNvSpPr txBox="1"/>
          <p:nvPr/>
        </p:nvSpPr>
        <p:spPr>
          <a:xfrm>
            <a:off x="940525" y="1715434"/>
            <a:ext cx="1041728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 R0,R1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-&gt; R0 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 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R1 then set flags: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C(</a:t>
            </a:r>
            <a:r>
              <a:rPr kumimoji="0" lang="en-US" sz="2800" b="1" i="0" u="none" strike="noStrike" kern="1200" cap="none" spc="0" normalizeH="0" noProof="0" dirty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arry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Z(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erro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srgbClr val="000000"/>
              </a:solidFill>
              <a:latin typeface="Arial" panose="020B0604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>
                <a:solidFill>
                  <a:srgbClr val="FF0000"/>
                </a:solidFill>
                <a:latin typeface="Arial" panose="020B0604020202020204"/>
              </a:rPr>
              <a:t>N(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/>
              </a:rPr>
              <a:t>egative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/>
              </a:rPr>
              <a:t>)</a:t>
            </a:r>
            <a:endParaRPr kumimoji="0" lang="en-US" sz="2800" b="1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12247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F7BC84-D1AD-4A47-9EB7-BDDB2CFA1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D4C202E-0A3C-4961-A5A3-609610B87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Compare and Branch Instructions</a:t>
            </a:r>
          </a:p>
        </p:txBody>
      </p:sp>
    </p:spTree>
    <p:extLst>
      <p:ext uri="{BB962C8B-B14F-4D97-AF65-F5344CB8AC3E}">
        <p14:creationId xmlns:p14="http://schemas.microsoft.com/office/powerpoint/2010/main" val="595122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0" y="3072059"/>
            <a:ext cx="1856014" cy="54615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25240" y="3632907"/>
            <a:ext cx="1856014" cy="56061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43403"/>
              </p:ext>
            </p:extLst>
          </p:nvPr>
        </p:nvGraphicFramePr>
        <p:xfrm>
          <a:off x="2438400" y="2447997"/>
          <a:ext cx="7315200" cy="175747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7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544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Notes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56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Compare</a:t>
                      </a:r>
                      <a:endParaRPr lang="en-US" sz="1800" b="1" dirty="0">
                        <a:solidFill>
                          <a:srgbClr val="00B0F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0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85800" algn="l"/>
                        </a:tabLst>
                        <a:defRPr/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CMP</a:t>
                      </a:r>
                      <a:r>
                        <a:rPr lang="en-US" sz="1800" dirty="0"/>
                        <a:t>	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36576" marR="0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–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Updates flags N,Z,C and V according to the difference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56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Compare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Negative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0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CM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	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36576" marR="0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+ 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52558" y="715252"/>
            <a:ext cx="6242326" cy="728538"/>
          </a:xfrm>
        </p:spPr>
        <p:txBody>
          <a:bodyPr>
            <a:normAutofit/>
          </a:bodyPr>
          <a:lstStyle/>
          <a:p>
            <a:r>
              <a:rPr lang="en-US" dirty="0"/>
              <a:t>COMPARE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399" y="5755634"/>
            <a:ext cx="825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identical to the SUBS instruction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but discards the actual difference.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399" y="6094837"/>
            <a:ext cx="8345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assembler automatically replaces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─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constant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constant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8401" y="1417638"/>
            <a:ext cx="7315199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Decisions in assembly require a two-instruction sequence: </a:t>
            </a:r>
            <a:endParaRPr lang="en-US" sz="2000" dirty="0">
              <a:solidFill>
                <a:srgbClr val="000000"/>
              </a:solidFill>
              <a:latin typeface="Arial" panose="020B06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compare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instruction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compares two operands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Followed by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conditional branch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340" y="4339793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may be: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constant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register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shifted register.</a:t>
            </a:r>
          </a:p>
        </p:txBody>
      </p:sp>
    </p:spTree>
    <p:extLst>
      <p:ext uri="{BB962C8B-B14F-4D97-AF65-F5344CB8AC3E}">
        <p14:creationId xmlns:p14="http://schemas.microsoft.com/office/powerpoint/2010/main" val="384407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872990" y="2708296"/>
            <a:ext cx="2148840" cy="59436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72990" y="2148840"/>
            <a:ext cx="2148840" cy="59436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37866" y="1779588"/>
          <a:ext cx="7072884" cy="151504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36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Compare and </a:t>
                      </a:r>
                      <a:b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</a:b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if Zero</a:t>
                      </a:r>
                      <a:endParaRPr lang="en-US" sz="1800" b="1" dirty="0">
                        <a:solidFill>
                          <a:srgbClr val="00B0F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CBZ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,label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to label If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=0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Compare and </a:t>
                      </a:r>
                      <a:b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</a:b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if Non-Zero</a:t>
                      </a:r>
                      <a:endParaRPr lang="en-US" sz="1800" b="1" dirty="0">
                        <a:solidFill>
                          <a:srgbClr val="92D05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CBNZ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,label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to label If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≠0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8548" y="725862"/>
            <a:ext cx="7297094" cy="713918"/>
          </a:xfrm>
        </p:spPr>
        <p:txBody>
          <a:bodyPr/>
          <a:lstStyle/>
          <a:p>
            <a:r>
              <a:rPr lang="en-US" dirty="0"/>
              <a:t>SPECIAL LOOP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7866" y="4171950"/>
            <a:ext cx="4626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	R0,#0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CBZ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R0,L1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BEQ	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	R0,#0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CBNZ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 R0,L1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BNE	L1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692396" y="4179570"/>
            <a:ext cx="589788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692396" y="5284470"/>
            <a:ext cx="589788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64730" y="4171951"/>
            <a:ext cx="264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Sometimes used at the top of a while or for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4730" y="5279945"/>
            <a:ext cx="2640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Sometimes used at the bottom of a do-while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6936" y="383871"/>
            <a:ext cx="4471096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4. CBZ example(not supported).s</a:t>
            </a:r>
          </a:p>
        </p:txBody>
      </p:sp>
    </p:spTree>
    <p:extLst>
      <p:ext uri="{BB962C8B-B14F-4D97-AF65-F5344CB8AC3E}">
        <p14:creationId xmlns:p14="http://schemas.microsoft.com/office/powerpoint/2010/main" val="38961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50431" y="2319750"/>
            <a:ext cx="2868930" cy="36664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840944"/>
              </p:ext>
            </p:extLst>
          </p:nvPr>
        </p:nvGraphicFramePr>
        <p:xfrm>
          <a:off x="2373837" y="3306356"/>
          <a:ext cx="7226780" cy="2197101"/>
        </p:xfrm>
        <a:graphic>
          <a:graphicData uri="http://schemas.openxmlformats.org/drawingml/2006/table">
            <a:tbl>
              <a:tblPr firstRow="1" firstCol="1" bandRow="1"/>
              <a:tblGrid>
                <a:gridCol w="7226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93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Equivalent if-then statement in assembly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7619" marR="6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507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LDR	R0,=s32	// R0 &lt;-- &amp;s32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LDR	R0,[R0]	// CMP requires operand to be in a register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CMP	R0,#10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// Compare s32 to 10 and ...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BLE	L1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// if (s32 &lt;= 10)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08585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L1: 	</a:t>
                      </a:r>
                      <a:r>
                        <a:rPr lang="en-US" sz="1600" b="1" i="1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•••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7619" marR="676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037883"/>
              </p:ext>
            </p:extLst>
          </p:nvPr>
        </p:nvGraphicFramePr>
        <p:xfrm>
          <a:off x="6082396" y="1348741"/>
          <a:ext cx="3518222" cy="1965135"/>
        </p:xfrm>
        <a:graphic>
          <a:graphicData uri="http://schemas.openxmlformats.org/drawingml/2006/table">
            <a:tbl>
              <a:tblPr firstRow="1" firstCol="1" bandRow="1"/>
              <a:tblGrid>
                <a:gridCol w="3518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4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Equivalent C code using </a:t>
                      </a:r>
                      <a:r>
                        <a:rPr lang="en-US" sz="1400" b="1" i="1" spc="50" dirty="0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goto</a:t>
                      </a: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and label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7619" marR="676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9649">
                <a:tc>
                  <a:txBody>
                    <a:bodyPr/>
                    <a:lstStyle/>
                    <a:p>
                      <a:pPr marL="3086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int32_t s32 ;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if (s32 &lt;= 10) </a:t>
                      </a:r>
                      <a:r>
                        <a:rPr lang="en-US" sz="1600" b="1" i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L1 ;</a:t>
                      </a:r>
                      <a:endParaRPr lang="en-US" sz="1600" b="1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12420" algn="l"/>
                        </a:tabLst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b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L1: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i="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•••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7619" marR="676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506101"/>
              </p:ext>
            </p:extLst>
          </p:nvPr>
        </p:nvGraphicFramePr>
        <p:xfrm>
          <a:off x="2373837" y="1348739"/>
          <a:ext cx="3708558" cy="1957085"/>
        </p:xfrm>
        <a:graphic>
          <a:graphicData uri="http://schemas.openxmlformats.org/drawingml/2006/table">
            <a:tbl>
              <a:tblPr firstRow="1" firstCol="1" bandRow="1"/>
              <a:tblGrid>
                <a:gridCol w="3708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41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If-then statement in C 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7619" marR="6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6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int32_t s32 ;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if (s32 &gt; 10) </a:t>
                      </a: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•••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7619" marR="676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2793651" y="4932969"/>
            <a:ext cx="15240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9" name="Rectangle 46"/>
          <p:cNvSpPr>
            <a:spLocks noChangeArrowheads="1"/>
          </p:cNvSpPr>
          <p:nvPr/>
        </p:nvSpPr>
        <p:spPr bwMode="auto">
          <a:xfrm>
            <a:off x="4463228" y="2342610"/>
            <a:ext cx="15240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" name="Rectangle 46"/>
          <p:cNvSpPr>
            <a:spLocks noChangeArrowheads="1"/>
          </p:cNvSpPr>
          <p:nvPr/>
        </p:nvSpPr>
        <p:spPr bwMode="auto">
          <a:xfrm>
            <a:off x="6606194" y="2709256"/>
            <a:ext cx="15240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0527" y="717175"/>
            <a:ext cx="9278294" cy="716131"/>
          </a:xfrm>
        </p:spPr>
        <p:txBody>
          <a:bodyPr>
            <a:normAutofit/>
          </a:bodyPr>
          <a:lstStyle/>
          <a:p>
            <a:r>
              <a:rPr lang="en-US" dirty="0"/>
              <a:t>CONDITIONAL BRANCH INSTRUCTIONS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138763" y="5566957"/>
            <a:ext cx="4009374" cy="1015663"/>
            <a:chOff x="1447800" y="4673768"/>
            <a:chExt cx="4009374" cy="1015663"/>
          </a:xfrm>
        </p:grpSpPr>
        <p:sp>
          <p:nvSpPr>
            <p:cNvPr id="13" name="TextBox 12"/>
            <p:cNvSpPr txBox="1"/>
            <p:nvPr/>
          </p:nvSpPr>
          <p:spPr>
            <a:xfrm>
              <a:off x="1447800" y="4673768"/>
              <a:ext cx="4009374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Decisions in assembly are  “if statement with a 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goto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”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.</a:t>
              </a:r>
            </a:p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4" name="Picture 13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/>
          <p:cNvGrpSpPr/>
          <p:nvPr/>
        </p:nvGrpSpPr>
        <p:grpSpPr>
          <a:xfrm>
            <a:off x="6304162" y="5566957"/>
            <a:ext cx="4030963" cy="1015663"/>
            <a:chOff x="1447799" y="4673768"/>
            <a:chExt cx="4030963" cy="101566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7" name="TextBox 16"/>
            <p:cNvSpPr txBox="1"/>
            <p:nvPr/>
          </p:nvSpPr>
          <p:spPr>
            <a:xfrm>
              <a:off x="1447799" y="4673768"/>
              <a:ext cx="4030963" cy="1015663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 conditional branch instruction is written as “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” followed a condition code.</a:t>
              </a:r>
            </a:p>
          </p:txBody>
        </p:sp>
        <p:pic>
          <p:nvPicPr>
            <p:cNvPr id="18" name="Picture 17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grpFill/>
          </p:spPr>
        </p:pic>
      </p:grpSp>
      <p:sp>
        <p:nvSpPr>
          <p:cNvPr id="19" name="Rectangle 18"/>
          <p:cNvSpPr/>
          <p:nvPr/>
        </p:nvSpPr>
        <p:spPr>
          <a:xfrm>
            <a:off x="2793651" y="4583731"/>
            <a:ext cx="4362570" cy="31037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36011" y="3185543"/>
            <a:ext cx="2032929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B0F0"/>
                </a:solidFill>
              </a:rPr>
              <a:t>CPULator</a:t>
            </a:r>
            <a:r>
              <a:rPr lang="en-US" sz="2400" b="1" dirty="0">
                <a:solidFill>
                  <a:srgbClr val="00B0F0"/>
                </a:solidFill>
              </a:rPr>
              <a:t> #1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1295" y="2358617"/>
            <a:ext cx="155174" cy="366646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62266" y="2316652"/>
            <a:ext cx="310140" cy="366646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3260563" y="2683298"/>
            <a:ext cx="4375485" cy="195688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8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71" y="1417639"/>
            <a:ext cx="8562053" cy="29289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184" y="727008"/>
            <a:ext cx="6491416" cy="588446"/>
          </a:xfrm>
        </p:spPr>
        <p:txBody>
          <a:bodyPr/>
          <a:lstStyle/>
          <a:p>
            <a:r>
              <a:rPr lang="en-US" dirty="0"/>
              <a:t>CHOOSING THE CONDITION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2877" y="3004110"/>
            <a:ext cx="471949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8010" y="2760138"/>
            <a:ext cx="235975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3844" y="2986899"/>
            <a:ext cx="471949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319C62-C619-49F0-90A3-50E56827EE44}"/>
              </a:ext>
            </a:extLst>
          </p:cNvPr>
          <p:cNvGrpSpPr/>
          <p:nvPr/>
        </p:nvGrpSpPr>
        <p:grpSpPr>
          <a:xfrm>
            <a:off x="6758763" y="4910257"/>
            <a:ext cx="3732774" cy="1015663"/>
            <a:chOff x="320470" y="5330971"/>
            <a:chExt cx="3732774" cy="1015663"/>
          </a:xfrm>
        </p:grpSpPr>
        <p:sp>
          <p:nvSpPr>
            <p:cNvPr id="19" name="TextBox 18"/>
            <p:cNvSpPr txBox="1"/>
            <p:nvPr/>
          </p:nvSpPr>
          <p:spPr>
            <a:xfrm>
              <a:off x="320470" y="5330971"/>
              <a:ext cx="3732774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Don’t forget - The opposite of “greater than” is NOT “less than”!</a:t>
              </a:r>
            </a:p>
          </p:txBody>
        </p:sp>
        <p:pic>
          <p:nvPicPr>
            <p:cNvPr id="20" name="Picture 19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1799" y="5419703"/>
              <a:ext cx="949964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A63CBBB-B46A-4B6B-8A29-8D013D09BB16}"/>
              </a:ext>
            </a:extLst>
          </p:cNvPr>
          <p:cNvSpPr/>
          <p:nvPr/>
        </p:nvSpPr>
        <p:spPr>
          <a:xfrm>
            <a:off x="1423737" y="4765781"/>
            <a:ext cx="49335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assembly, we must branch </a:t>
            </a: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around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the “then statement”, so we have to use a conditional branch that specifies the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opposite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the condition used in C.</a:t>
            </a:r>
          </a:p>
        </p:txBody>
      </p:sp>
    </p:spTree>
    <p:extLst>
      <p:ext uri="{BB962C8B-B14F-4D97-AF65-F5344CB8AC3E}">
        <p14:creationId xmlns:p14="http://schemas.microsoft.com/office/powerpoint/2010/main" val="212441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rrow: Down 19">
            <a:extLst>
              <a:ext uri="{FF2B5EF4-FFF2-40B4-BE49-F238E27FC236}">
                <a16:creationId xmlns:a16="http://schemas.microsoft.com/office/drawing/2014/main" id="{5B7AD419-F3A3-4D7D-A19D-43B5FE4817E0}"/>
              </a:ext>
            </a:extLst>
          </p:cNvPr>
          <p:cNvSpPr/>
          <p:nvPr/>
        </p:nvSpPr>
        <p:spPr>
          <a:xfrm>
            <a:off x="7465855" y="1901375"/>
            <a:ext cx="308222" cy="1725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033DB90-F224-4EFE-A9BE-D412980F7F57}"/>
              </a:ext>
            </a:extLst>
          </p:cNvPr>
          <p:cNvSpPr/>
          <p:nvPr/>
        </p:nvSpPr>
        <p:spPr>
          <a:xfrm>
            <a:off x="4146620" y="1889492"/>
            <a:ext cx="308222" cy="1725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990088"/>
              </p:ext>
            </p:extLst>
          </p:nvPr>
        </p:nvGraphicFramePr>
        <p:xfrm>
          <a:off x="2101530" y="3761174"/>
          <a:ext cx="7008725" cy="2649706"/>
        </p:xfrm>
        <a:graphic>
          <a:graphicData uri="http://schemas.openxmlformats.org/drawingml/2006/table">
            <a:tbl>
              <a:tblPr firstRow="1" firstCol="1" bandRow="1"/>
              <a:tblGrid>
                <a:gridCol w="1147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5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5762">
                  <a:extLst>
                    <a:ext uri="{9D8B030D-6E8A-4147-A177-3AD203B41FA5}">
                      <a16:colId xmlns:a16="http://schemas.microsoft.com/office/drawing/2014/main" val="1804811189"/>
                    </a:ext>
                  </a:extLst>
                </a:gridCol>
              </a:tblGrid>
              <a:tr h="325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Condition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 </a:t>
                      </a:r>
                      <a:r>
                        <a:rPr lang="en-US" sz="1400" b="1" i="0" spc="50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Unsigned</a:t>
                      </a: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Operands: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For </a:t>
                      </a:r>
                      <a:r>
                        <a:rPr lang="en-US" sz="1400" b="1" i="1" spc="5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Signed</a:t>
                      </a: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Operands:</a:t>
                      </a:r>
                      <a:endParaRPr lang="en-US" sz="1400" b="1" i="1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&gt; 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BHI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(Higher Than)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BGT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(Greater Than)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&gt;=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BHS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(Higher Than or Same)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BGE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(Greater Than or Equal)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&lt; 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BLO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(Lower Than)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BLT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(Less Than)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&lt;=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BLS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(Lower Than or Same)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BLE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(Less Than or Equal)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==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BEQ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(Equal)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!=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BNE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(Not Equal)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2505" y="744522"/>
            <a:ext cx="9230169" cy="632227"/>
          </a:xfrm>
        </p:spPr>
        <p:txBody>
          <a:bodyPr>
            <a:normAutofit/>
          </a:bodyPr>
          <a:lstStyle/>
          <a:p>
            <a:r>
              <a:rPr lang="en-US" dirty="0"/>
              <a:t>CONDITIONAL BRANCH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7898" y="1489381"/>
            <a:ext cx="204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0111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&gt; 1100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?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699270" y="2186789"/>
            <a:ext cx="4630593" cy="1015663"/>
            <a:chOff x="2413246" y="1864742"/>
            <a:chExt cx="4630593" cy="1015663"/>
          </a:xfrm>
        </p:grpSpPr>
        <p:sp>
          <p:nvSpPr>
            <p:cNvPr id="23" name="TextBox 22"/>
            <p:cNvSpPr txBox="1"/>
            <p:nvPr/>
          </p:nvSpPr>
          <p:spPr>
            <a:xfrm>
              <a:off x="2413246" y="1864742"/>
              <a:ext cx="4630593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Signed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and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unsigned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operands require different conditionals!</a:t>
              </a:r>
            </a:p>
          </p:txBody>
        </p:sp>
        <p:pic>
          <p:nvPicPr>
            <p:cNvPr id="24" name="Picture 23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469826" y="1959376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2" name="Group 41"/>
          <p:cNvGrpSpPr/>
          <p:nvPr/>
        </p:nvGrpSpPr>
        <p:grpSpPr>
          <a:xfrm>
            <a:off x="2344440" y="1268494"/>
            <a:ext cx="2790916" cy="1025014"/>
            <a:chOff x="820440" y="1268494"/>
            <a:chExt cx="2790916" cy="1025014"/>
          </a:xfrm>
        </p:grpSpPr>
        <p:sp>
          <p:nvSpPr>
            <p:cNvPr id="5" name="TextBox 4"/>
            <p:cNvSpPr txBox="1"/>
            <p:nvPr/>
          </p:nvSpPr>
          <p:spPr>
            <a:xfrm>
              <a:off x="928551" y="1489381"/>
              <a:ext cx="1103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7 &gt; 12 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0623" y="1268494"/>
              <a:ext cx="1360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unsigned</a:t>
              </a:r>
            </a:p>
          </p:txBody>
        </p:sp>
        <p:cxnSp>
          <p:nvCxnSpPr>
            <p:cNvPr id="26" name="Straight Arrow Connector 25"/>
            <p:cNvCxnSpPr>
              <a:stCxn id="6" idx="1"/>
              <a:endCxn id="5" idx="3"/>
            </p:cNvCxnSpPr>
            <p:nvPr/>
          </p:nvCxnSpPr>
          <p:spPr>
            <a:xfrm flipH="1" flipV="1">
              <a:off x="2031818" y="1674047"/>
              <a:ext cx="1402080" cy="153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820440" y="1924176"/>
              <a:ext cx="1103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(FALSE)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002234" y="1281241"/>
            <a:ext cx="2731364" cy="1043826"/>
            <a:chOff x="5478233" y="1281241"/>
            <a:chExt cx="2731364" cy="1043826"/>
          </a:xfrm>
        </p:grpSpPr>
        <p:sp>
          <p:nvSpPr>
            <p:cNvPr id="9" name="TextBox 8"/>
            <p:cNvSpPr txBox="1"/>
            <p:nvPr/>
          </p:nvSpPr>
          <p:spPr>
            <a:xfrm>
              <a:off x="6962911" y="1489381"/>
              <a:ext cx="12466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+7 &gt; -4 ? 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42894" y="1281241"/>
              <a:ext cx="12404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signed</a:t>
              </a:r>
            </a:p>
          </p:txBody>
        </p:sp>
        <p:cxnSp>
          <p:nvCxnSpPr>
            <p:cNvPr id="28" name="Straight Arrow Connector 27"/>
            <p:cNvCxnSpPr>
              <a:stCxn id="6" idx="3"/>
              <a:endCxn id="9" idx="1"/>
            </p:cNvCxnSpPr>
            <p:nvPr/>
          </p:nvCxnSpPr>
          <p:spPr>
            <a:xfrm>
              <a:off x="5478233" y="1689436"/>
              <a:ext cx="14846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6983321" y="1924957"/>
              <a:ext cx="11032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(TRUE)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2101530" y="5627158"/>
            <a:ext cx="7008725" cy="783722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51159" y="4105806"/>
            <a:ext cx="2600199" cy="1521352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23284" y="4089522"/>
            <a:ext cx="3286971" cy="1537636"/>
          </a:xfrm>
          <a:prstGeom prst="rect">
            <a:avLst/>
          </a:prstGeom>
          <a:solidFill>
            <a:schemeClr val="accent3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6107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158471"/>
              </p:ext>
            </p:extLst>
          </p:nvPr>
        </p:nvGraphicFramePr>
        <p:xfrm>
          <a:off x="2177144" y="1558912"/>
          <a:ext cx="7371805" cy="460453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17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2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Condition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8759" marB="875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Meaning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8759" marB="875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Requires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8759" marB="87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EQ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Equal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 equal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GE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≥ ("Greater than or Equal")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 = V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34099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LT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&lt; ("Less Than")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 ≠ V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728908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GT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 ("Greater Than")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 = 0 &amp;&amp; N = V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718508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≤ ("Less than or Equal")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 = 1 || N ≠ V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3438548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HS (CS)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≥ ("Higher or Same") or Carry Set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LO (CC)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&lt; ("Lower") or Carry Clear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HI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 ("Higher")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 = 1 &amp;&amp; Z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185093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≤ ("Lower or Same")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 = 0 || Z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409691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MI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Minus/negative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PL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Plus - positive or zero (non-negative)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VS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Overflow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V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VC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 overflow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V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AL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Always (unconditional)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(Rarely used)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192380" y="3640304"/>
            <a:ext cx="7356569" cy="1144253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92380" y="2497305"/>
            <a:ext cx="7371806" cy="1143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43916"/>
            <a:ext cx="5720958" cy="641065"/>
          </a:xfrm>
        </p:spPr>
        <p:txBody>
          <a:bodyPr>
            <a:normAutofit/>
          </a:bodyPr>
          <a:lstStyle/>
          <a:p>
            <a:r>
              <a:rPr lang="en-US" dirty="0"/>
              <a:t>ALL CONDITION CODES</a:t>
            </a:r>
            <a:endParaRPr lang="en-US" i="1" dirty="0"/>
          </a:p>
        </p:txBody>
      </p:sp>
      <p:sp>
        <p:nvSpPr>
          <p:cNvPr id="7" name="Rectangle 6"/>
          <p:cNvSpPr/>
          <p:nvPr/>
        </p:nvSpPr>
        <p:spPr>
          <a:xfrm>
            <a:off x="2177144" y="1902785"/>
            <a:ext cx="7371805" cy="594520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64186" y="1935215"/>
            <a:ext cx="2392680" cy="54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EQ and NE are same for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signed and unsigned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64185" y="2538993"/>
            <a:ext cx="2392680" cy="10707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These are used for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comparisons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64185" y="3664891"/>
            <a:ext cx="2392680" cy="1101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These are used for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comparisons</a:t>
            </a:r>
          </a:p>
        </p:txBody>
      </p:sp>
    </p:spTree>
    <p:extLst>
      <p:ext uri="{BB962C8B-B14F-4D97-AF65-F5344CB8AC3E}">
        <p14:creationId xmlns:p14="http://schemas.microsoft.com/office/powerpoint/2010/main" val="2695157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71" y="1417639"/>
            <a:ext cx="8562053" cy="29289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184" y="727008"/>
            <a:ext cx="6491416" cy="588446"/>
          </a:xfrm>
        </p:spPr>
        <p:txBody>
          <a:bodyPr/>
          <a:lstStyle/>
          <a:p>
            <a:r>
              <a:rPr lang="en-US" dirty="0"/>
              <a:t>CHOOSING THE CONDITION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2877" y="3004110"/>
            <a:ext cx="471949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8010" y="2760138"/>
            <a:ext cx="235975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3844" y="2986899"/>
            <a:ext cx="471949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319C62-C619-49F0-90A3-50E56827EE44}"/>
              </a:ext>
            </a:extLst>
          </p:cNvPr>
          <p:cNvGrpSpPr/>
          <p:nvPr/>
        </p:nvGrpSpPr>
        <p:grpSpPr>
          <a:xfrm>
            <a:off x="6758763" y="4910257"/>
            <a:ext cx="3732774" cy="1292662"/>
            <a:chOff x="320470" y="5330971"/>
            <a:chExt cx="3732774" cy="1292662"/>
          </a:xfrm>
        </p:grpSpPr>
        <p:sp>
          <p:nvSpPr>
            <p:cNvPr id="19" name="TextBox 18"/>
            <p:cNvSpPr txBox="1"/>
            <p:nvPr/>
          </p:nvSpPr>
          <p:spPr>
            <a:xfrm>
              <a:off x="320470" y="5330971"/>
              <a:ext cx="3732774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Don’t forget - The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opposite of “greater than” is NOT “less than”!</a:t>
              </a:r>
            </a:p>
          </p:txBody>
        </p:sp>
        <p:pic>
          <p:nvPicPr>
            <p:cNvPr id="20" name="Picture 19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1799" y="5419703"/>
              <a:ext cx="949964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A63CBBB-B46A-4B6B-8A29-8D013D09BB16}"/>
              </a:ext>
            </a:extLst>
          </p:cNvPr>
          <p:cNvSpPr/>
          <p:nvPr/>
        </p:nvSpPr>
        <p:spPr>
          <a:xfrm>
            <a:off x="1423737" y="4765781"/>
            <a:ext cx="49335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assembly, we must branch </a:t>
            </a: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around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the “then statement”,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 we have to use a conditional branch with the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opposite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the condition used in C.</a:t>
            </a:r>
          </a:p>
        </p:txBody>
      </p:sp>
    </p:spTree>
    <p:extLst>
      <p:ext uri="{BB962C8B-B14F-4D97-AF65-F5344CB8AC3E}">
        <p14:creationId xmlns:p14="http://schemas.microsoft.com/office/powerpoint/2010/main" val="4272204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869616"/>
              </p:ext>
            </p:extLst>
          </p:nvPr>
        </p:nvGraphicFramePr>
        <p:xfrm>
          <a:off x="2432050" y="2035162"/>
          <a:ext cx="7315832" cy="1763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143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Instruction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Syntax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00990" algn="r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</a:t>
                      </a: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i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21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Test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290"/>
                        </a:spcBef>
                        <a:tabLst>
                          <a:tab pos="721995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TST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7" baseline="-13888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5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Op2</a:t>
                      </a:r>
                      <a:endParaRPr sz="1800" b="1" dirty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3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R="345440" algn="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800" b="1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7" baseline="-13888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157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5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Op2</a:t>
                      </a:r>
                      <a:endParaRPr sz="1800" b="1" dirty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3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6195" marR="50800">
                        <a:lnSpc>
                          <a:spcPct val="152200"/>
                        </a:lnSpc>
                        <a:spcBef>
                          <a:spcPts val="8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Updates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flags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Z;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shifted,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5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Op2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may affect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flag</a:t>
                      </a:r>
                    </a:p>
                  </a:txBody>
                  <a:tcPr marL="0" marR="0" marT="1085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3025" marR="182245">
                        <a:lnSpc>
                          <a:spcPct val="101099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Test 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qu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70"/>
                        </a:spcBef>
                        <a:tabLst>
                          <a:tab pos="721995" algn="l"/>
                        </a:tabLst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TEQ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7" baseline="-13888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5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Op2</a:t>
                      </a:r>
                      <a:endParaRPr sz="1800" b="1" dirty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866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00" b="1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7" baseline="-13888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157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^</a:t>
                      </a: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5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Op2</a:t>
                      </a:r>
                      <a:endParaRPr sz="1800" b="1" dirty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866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0443" y="734455"/>
            <a:ext cx="6437257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TEST</a:t>
            </a:r>
            <a:r>
              <a:rPr sz="4400" spc="-30" dirty="0"/>
              <a:t> </a:t>
            </a:r>
            <a:r>
              <a:rPr sz="4400" spc="-5" dirty="0"/>
              <a:t>INSTRUCTIONS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999453" y="3942416"/>
            <a:ext cx="10413293" cy="23365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TST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(bitwise </a:t>
            </a:r>
            <a:r>
              <a:rPr lang="en-US" sz="1400" b="1" spc="-10" dirty="0">
                <a:latin typeface="Calibri"/>
                <a:cs typeface="Calibri"/>
              </a:rPr>
              <a:t>AND</a:t>
            </a:r>
            <a:r>
              <a:rPr lang="en-US" sz="1400" spc="-10" dirty="0">
                <a:latin typeface="Calibri"/>
                <a:cs typeface="Calibri"/>
              </a:rPr>
              <a:t>)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used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test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lang="en-US" spc="5" dirty="0">
                <a:latin typeface="Calibri"/>
                <a:cs typeface="Calibri"/>
              </a:rPr>
              <a:t>if </a:t>
            </a:r>
            <a:r>
              <a:rPr spc="-10" dirty="0">
                <a:latin typeface="Calibri"/>
                <a:cs typeface="Calibri"/>
              </a:rPr>
              <a:t>any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bits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00B050"/>
                </a:solidFill>
                <a:latin typeface="Calibri"/>
                <a:cs typeface="Calibri"/>
              </a:rPr>
              <a:t>R</a:t>
            </a:r>
            <a:r>
              <a:rPr b="1" spc="-7" baseline="-13888" dirty="0">
                <a:solidFill>
                  <a:srgbClr val="00B050"/>
                </a:solidFill>
                <a:latin typeface="Calibri"/>
                <a:cs typeface="Calibri"/>
              </a:rPr>
              <a:t>n</a:t>
            </a:r>
            <a:r>
              <a:rPr spc="195" baseline="-13888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specified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by</a:t>
            </a:r>
            <a:r>
              <a:rPr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70C0"/>
                </a:solidFill>
                <a:latin typeface="Calibri"/>
                <a:cs typeface="Calibri"/>
              </a:rPr>
              <a:t>Op2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are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b="1" spc="-30" dirty="0">
                <a:solidFill>
                  <a:srgbClr val="FF0000"/>
                </a:solidFill>
                <a:latin typeface="Calibri"/>
                <a:cs typeface="Calibri"/>
              </a:rPr>
              <a:t>1’s</a:t>
            </a:r>
            <a:r>
              <a:rPr spc="-30" dirty="0">
                <a:latin typeface="Calibri"/>
                <a:cs typeface="Calibri"/>
              </a:rPr>
              <a:t>.</a:t>
            </a:r>
            <a:endParaRPr lang="en-US" spc="-30" dirty="0">
              <a:latin typeface="Calibri"/>
              <a:cs typeface="Calibri"/>
            </a:endParaRPr>
          </a:p>
          <a:p>
            <a:r>
              <a:rPr lang="en-US" dirty="0"/>
              <a:t>	MOV R0, #12  //  R0 = b1100</a:t>
            </a:r>
          </a:p>
          <a:p>
            <a:r>
              <a:rPr lang="en-US" dirty="0"/>
              <a:t>	TST R0, #4      // 1100 AND 0100 = 0100</a:t>
            </a:r>
          </a:p>
          <a:p>
            <a:r>
              <a:rPr lang="en-US" dirty="0"/>
              <a:t>	=&gt; Z is 0</a:t>
            </a:r>
            <a:br>
              <a:rPr lang="en-US" dirty="0"/>
            </a:br>
            <a:endParaRPr sz="2550" dirty="0">
              <a:latin typeface="Calibri"/>
              <a:cs typeface="Calibri"/>
            </a:endParaRPr>
          </a:p>
          <a:p>
            <a:pPr marL="50800" marR="43180">
              <a:lnSpc>
                <a:spcPts val="2090"/>
              </a:lnSpc>
            </a:pPr>
            <a:r>
              <a:rPr b="1" spc="-15" dirty="0">
                <a:latin typeface="Calibri"/>
                <a:cs typeface="Calibri"/>
              </a:rPr>
              <a:t>TEQ</a:t>
            </a:r>
            <a:r>
              <a:rPr lang="en-US" b="1" spc="-15" dirty="0">
                <a:latin typeface="Calibri"/>
                <a:cs typeface="Calibri"/>
              </a:rPr>
              <a:t> </a:t>
            </a:r>
            <a:r>
              <a:rPr lang="en-US" sz="1400" spc="-15" dirty="0">
                <a:latin typeface="Calibri"/>
                <a:cs typeface="Calibri"/>
              </a:rPr>
              <a:t>(bitwise </a:t>
            </a:r>
            <a:r>
              <a:rPr lang="en-US" sz="1400" b="1" spc="-15" dirty="0">
                <a:latin typeface="Calibri"/>
                <a:cs typeface="Calibri"/>
              </a:rPr>
              <a:t>XOR</a:t>
            </a:r>
            <a:r>
              <a:rPr lang="en-US" sz="1400" spc="-15" dirty="0">
                <a:latin typeface="Calibri"/>
                <a:cs typeface="Calibri"/>
              </a:rPr>
              <a:t>)</a:t>
            </a:r>
            <a:r>
              <a:rPr lang="en-US" b="1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used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test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lang="en-US" spc="-5" dirty="0">
                <a:latin typeface="Calibri"/>
                <a:cs typeface="Calibri"/>
              </a:rPr>
              <a:t>whether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00B050"/>
                </a:solidFill>
                <a:latin typeface="Calibri"/>
                <a:cs typeface="Calibri"/>
              </a:rPr>
              <a:t>R</a:t>
            </a:r>
            <a:r>
              <a:rPr b="1" spc="-7" baseline="-13888" dirty="0">
                <a:solidFill>
                  <a:srgbClr val="00B050"/>
                </a:solidFill>
                <a:latin typeface="Calibri"/>
                <a:cs typeface="Calibri"/>
              </a:rPr>
              <a:t>n</a:t>
            </a:r>
            <a:r>
              <a:rPr spc="202" baseline="-1388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0070C0"/>
                </a:solidFill>
                <a:latin typeface="Calibri"/>
                <a:cs typeface="Calibri"/>
              </a:rPr>
              <a:t>Op2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without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affecting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flags.</a:t>
            </a:r>
            <a:endParaRPr lang="en-US" spc="-5" dirty="0">
              <a:latin typeface="Calibri"/>
              <a:cs typeface="Calibri"/>
            </a:endParaRPr>
          </a:p>
          <a:p>
            <a:r>
              <a:rPr lang="en-US" dirty="0"/>
              <a:t>	MOV R0, #12	// R0 = b1100</a:t>
            </a:r>
          </a:p>
          <a:p>
            <a:r>
              <a:rPr lang="en-US" dirty="0"/>
              <a:t>	TEQ R0, #12	// 1100 XOR 1100 = 0000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AB18E17-5C71-3DA9-4397-FA89FB02B2AF}"/>
              </a:ext>
            </a:extLst>
          </p:cNvPr>
          <p:cNvSpPr txBox="1"/>
          <p:nvPr/>
        </p:nvSpPr>
        <p:spPr>
          <a:xfrm>
            <a:off x="930442" y="1665480"/>
            <a:ext cx="1041329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spcBef>
                <a:spcPts val="100"/>
              </a:spcBef>
            </a:pPr>
            <a:r>
              <a:rPr lang="en-US" dirty="0"/>
              <a:t>Both instructions update condition flags but do not store the result.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3547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049" y="756972"/>
            <a:ext cx="8633077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Compare/Test</a:t>
            </a:r>
            <a:r>
              <a:rPr spc="-70" dirty="0"/>
              <a:t> </a:t>
            </a:r>
            <a:r>
              <a:rPr spc="-10" dirty="0"/>
              <a:t>Instructions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570264"/>
              </p:ext>
            </p:extLst>
          </p:nvPr>
        </p:nvGraphicFramePr>
        <p:xfrm>
          <a:off x="1770621" y="2815099"/>
          <a:ext cx="7510145" cy="2123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9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938">
                <a:tc>
                  <a:txBody>
                    <a:bodyPr/>
                    <a:lstStyle/>
                    <a:p>
                      <a:pPr marL="434975">
                        <a:lnSpc>
                          <a:spcPts val="2075"/>
                        </a:lnSpc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000001000010000001000000100001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(0x10810121)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256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000000000000000000000000000001</a:t>
                      </a:r>
                      <a:endParaRPr lang="en-US" sz="1800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  <a:p>
                      <a:pPr marL="1390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(0x00000001)</a:t>
                      </a:r>
                      <a:endParaRPr lang="en-US" sz="1800" dirty="0">
                        <a:latin typeface="Calibri"/>
                        <a:cs typeface="Calibri"/>
                      </a:endParaRP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 marL="45212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mask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(Testing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91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R1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 gridSpan="2"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000000000000000000000000000001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762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9539" marR="594360">
                        <a:lnSpc>
                          <a:spcPts val="2110"/>
                        </a:lnSpc>
                        <a:spcBef>
                          <a:spcPts val="414"/>
                        </a:spcBef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of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(R1</a:t>
                      </a:r>
                      <a:r>
                        <a:rPr lang="en-US"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lang="en-US"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R2)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R2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flag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(Z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=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1)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spc="-39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confirm that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bit 0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R1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indeed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185601" y="2082880"/>
            <a:ext cx="19051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94030" algn="l"/>
              </a:tabLst>
            </a:pPr>
            <a:r>
              <a:rPr sz="2400" b="1" spc="-10" dirty="0">
                <a:latin typeface="Calibri"/>
                <a:cs typeface="Calibri"/>
              </a:rPr>
              <a:t>TST	</a:t>
            </a:r>
            <a:r>
              <a:rPr sz="2400" b="1" spc="-5" dirty="0">
                <a:latin typeface="Calibri"/>
                <a:cs typeface="Calibri"/>
              </a:rPr>
              <a:t>R1,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R2</a:t>
            </a:r>
            <a:endParaRPr sz="24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232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0526" y="757212"/>
            <a:ext cx="8684737" cy="698609"/>
          </a:xfrm>
        </p:spPr>
        <p:txBody>
          <a:bodyPr>
            <a:normAutofit/>
          </a:bodyPr>
          <a:lstStyle/>
          <a:p>
            <a:r>
              <a:rPr lang="en-US" dirty="0"/>
              <a:t>UNDERSTANDING CONDITION CODES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2F5D3-2419-A409-DF30-8C767B71C1F7}"/>
              </a:ext>
            </a:extLst>
          </p:cNvPr>
          <p:cNvSpPr txBox="1"/>
          <p:nvPr/>
        </p:nvSpPr>
        <p:spPr>
          <a:xfrm>
            <a:off x="940525" y="3632511"/>
            <a:ext cx="9294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LT (N ≠ V):      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A negative difference would mean that A was less than B.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"/>
                <a:cs typeface="Calibri"/>
              </a:rPr>
              <a:t>	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N=1 (Negative) and V=0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(no overflow: negative result is valid), 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N=0 (Positive) but V=1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(overflow: a 33-bit result would be negative)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20D1A-FE78-799B-DC3D-FD55F7C53FD8}"/>
              </a:ext>
            </a:extLst>
          </p:cNvPr>
          <p:cNvSpPr txBox="1"/>
          <p:nvPr/>
        </p:nvSpPr>
        <p:spPr>
          <a:xfrm>
            <a:off x="938462" y="4676597"/>
            <a:ext cx="10070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GT (Z=0 &amp;&amp; N=V):  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A positive non-zero difference would mean that A was greater than B.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Z=0 means that the result is non-zero.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N=0 (positive) and V=0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(no overflow: positive result is valid), 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N=1 (negative) but V=1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overflow: a 33-bit result would be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positive)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0873FF-E045-0463-0802-8009AF330F1E}"/>
              </a:ext>
            </a:extLst>
          </p:cNvPr>
          <p:cNvSpPr txBox="1"/>
          <p:nvPr/>
        </p:nvSpPr>
        <p:spPr>
          <a:xfrm>
            <a:off x="940526" y="2588425"/>
            <a:ext cx="1038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HI (C=1 &amp;&amp; Z=0):  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C=1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(no borrow out, meaning A was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higher than or equal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to B),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=0 (unsigned difference A – B is non-zero, so A is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not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 equal to B,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		thus A must be higher than B).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34E9A-8C5F-D147-6134-B289A8B2392D}"/>
              </a:ext>
            </a:extLst>
          </p:cNvPr>
          <p:cNvSpPr txBox="1"/>
          <p:nvPr/>
        </p:nvSpPr>
        <p:spPr>
          <a:xfrm>
            <a:off x="940527" y="1576577"/>
            <a:ext cx="8079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LO (C=0):  	Comparing A to B requires computing unsigned difference A – B.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C=0 means the subtraction generated a borrow out of 1, thus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A must have been lower than B when computing A - B.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0463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0399AC-4A0D-4365-A088-13A92F596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70B722E-41C1-494C-831A-78AA108DCD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If-Then-Else Structures</a:t>
            </a:r>
          </a:p>
        </p:txBody>
      </p:sp>
    </p:spTree>
    <p:extLst>
      <p:ext uri="{BB962C8B-B14F-4D97-AF65-F5344CB8AC3E}">
        <p14:creationId xmlns:p14="http://schemas.microsoft.com/office/powerpoint/2010/main" val="1747150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74340"/>
              </p:ext>
            </p:extLst>
          </p:nvPr>
        </p:nvGraphicFramePr>
        <p:xfrm>
          <a:off x="6340843" y="1528885"/>
          <a:ext cx="4606078" cy="3163577"/>
        </p:xfrm>
        <a:graphic>
          <a:graphicData uri="http://schemas.openxmlformats.org/drawingml/2006/table">
            <a:tbl>
              <a:tblPr firstRow="1" firstCol="1" bandRow="1"/>
              <a:tblGrid>
                <a:gridCol w="4606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692">
                <a:tc>
                  <a:txBody>
                    <a:bodyPr/>
                    <a:lstStyle/>
                    <a:p>
                      <a:pPr marL="2095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Calibri"/>
                        </a:rPr>
                        <a:t>Assembly Code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621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LDR	R0,=s32 // Load address of s32 to R0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LDR	R0,[R0] // Load value of s32 into R0 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CMP	R0,#0   // is s32 &gt; 0 ?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BLE	L2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B	L3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// skip over else!!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L2: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else statement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L3: 	// end of the if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908911" y="1531616"/>
          <a:ext cx="1925854" cy="3168396"/>
        </p:xfrm>
        <a:graphic>
          <a:graphicData uri="http://schemas.openxmlformats.org/drawingml/2006/table">
            <a:tbl>
              <a:tblPr firstRow="1" firstCol="1" bandRow="1"/>
              <a:tblGrid>
                <a:gridCol w="1925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Calibri"/>
                        </a:rPr>
                        <a:t>C Source Code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int32_t s32;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if (s32 &gt; 0)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then state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else stat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869510"/>
              </p:ext>
            </p:extLst>
          </p:nvPr>
        </p:nvGraphicFramePr>
        <p:xfrm>
          <a:off x="3850908" y="1528884"/>
          <a:ext cx="2489935" cy="3159313"/>
        </p:xfrm>
        <a:graphic>
          <a:graphicData uri="http://schemas.openxmlformats.org/drawingml/2006/table">
            <a:tbl>
              <a:tblPr firstRow="1" firstCol="1" bandRow="1"/>
              <a:tblGrid>
                <a:gridCol w="248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11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Times New Roman"/>
                        </a:rPr>
                        <a:t>Converted to </a:t>
                      </a:r>
                      <a:r>
                        <a:rPr lang="en-US" sz="2000" b="1" i="1" dirty="0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Times New Roman"/>
                        </a:rPr>
                        <a:t>goto</a:t>
                      </a:r>
                      <a:endParaRPr lang="en-US" sz="2000" b="1" i="1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int32_t s32;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if (s32 &lt;= 0) </a:t>
                      </a: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 L2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400" b="1" baseline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 L3;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L2: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L3: // end of if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263140" y="2879942"/>
            <a:ext cx="14592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 statement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804760" y="3050627"/>
            <a:ext cx="18021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263140" y="3697060"/>
            <a:ext cx="14592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28495" y="729139"/>
            <a:ext cx="6454884" cy="598345"/>
          </a:xfrm>
        </p:spPr>
        <p:txBody>
          <a:bodyPr/>
          <a:lstStyle/>
          <a:p>
            <a:r>
              <a:rPr lang="en-US" dirty="0"/>
              <a:t>IF-THEN-ELSE SEQUENCES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00950" y="3471407"/>
            <a:ext cx="3238500" cy="33989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093191" y="5068448"/>
            <a:ext cx="4046220" cy="1015663"/>
            <a:chOff x="1447800" y="4673768"/>
            <a:chExt cx="4046220" cy="1015663"/>
          </a:xfrm>
        </p:grpSpPr>
        <p:sp>
          <p:nvSpPr>
            <p:cNvPr id="13" name="TextBox 12"/>
            <p:cNvSpPr txBox="1"/>
            <p:nvPr/>
          </p:nvSpPr>
          <p:spPr>
            <a:xfrm>
              <a:off x="1447800" y="4673768"/>
              <a:ext cx="4046220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Without the unconditional branch, the else statement will </a:t>
              </a:r>
              <a:r>
                <a:rPr kumimoji="0" lang="en-US" sz="1800" b="1" i="1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always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be executed!</a:t>
              </a:r>
            </a:p>
          </p:txBody>
        </p:sp>
        <p:pic>
          <p:nvPicPr>
            <p:cNvPr id="14" name="Picture 13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305300" y="2895182"/>
            <a:ext cx="14592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4320540" y="3718618"/>
            <a:ext cx="14592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6810475" y="3893817"/>
            <a:ext cx="18021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9463" y="2607738"/>
            <a:ext cx="235975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96680" y="2607738"/>
            <a:ext cx="235975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2" name="Elbow Connector 11"/>
          <p:cNvCxnSpPr>
            <a:endCxn id="16" idx="3"/>
          </p:cNvCxnSpPr>
          <p:nvPr/>
        </p:nvCxnSpPr>
        <p:spPr>
          <a:xfrm rot="5400000">
            <a:off x="5296403" y="3302768"/>
            <a:ext cx="1074418" cy="1076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/>
          <p:nvPr/>
        </p:nvCxnSpPr>
        <p:spPr>
          <a:xfrm rot="16200000" flipH="1">
            <a:off x="4939822" y="3731329"/>
            <a:ext cx="970605" cy="487048"/>
          </a:xfrm>
          <a:prstGeom prst="bentConnector3">
            <a:avLst>
              <a:gd name="adj1" fmla="val 4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283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556559"/>
              </p:ext>
            </p:extLst>
          </p:nvPr>
        </p:nvGraphicFramePr>
        <p:xfrm>
          <a:off x="2514600" y="1600200"/>
          <a:ext cx="7315200" cy="4849495"/>
        </p:xfrm>
        <a:graphic>
          <a:graphicData uri="http://schemas.openxmlformats.org/drawingml/2006/table">
            <a:tbl>
              <a:tblPr firstRow="1" firstCol="1" bandRow="1"/>
              <a:tblGrid>
                <a:gridCol w="3122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2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7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Calibri"/>
                        </a:rPr>
                        <a:t>C Source Code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59111" marR="591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Calibri"/>
                        </a:rPr>
                        <a:t>Assembly Code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59111" marR="591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15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int32_t s32;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if (s32 == 1)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#1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else if (s32 == 2)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else if (s32 == 3)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#3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</a:txBody>
                  <a:tcPr marL="59111" marR="591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LDR	   R0,=s32  // R0 &lt;-- &amp;s32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LDR	R0,[R0]	 // Is s32 &gt; 0 ?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CMP	R0,#1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BNE	L2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#1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B	L4	// skip to end!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L2: 	CMP	R0,#2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BNE	L3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B	L4	// skip to end!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L3: 	CMP	R0,#3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BNE	L4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#3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L4: 	... 		// end of chain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862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</a:p>
                  </a:txBody>
                  <a:tcPr marL="59111" marR="591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2953141" y="3060997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#1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2953140" y="4762167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#3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2953141" y="3895159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#2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6096001" y="3036099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#1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6096000" y="4282483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#2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095999" y="5577883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63558" y="724897"/>
            <a:ext cx="6427842" cy="667130"/>
          </a:xfrm>
        </p:spPr>
        <p:txBody>
          <a:bodyPr/>
          <a:lstStyle/>
          <a:p>
            <a:r>
              <a:rPr lang="en-US" dirty="0"/>
              <a:t>IF-THEN-ELSE SEQUENCES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0845" y="3452643"/>
            <a:ext cx="3394710" cy="22837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86325" y="4732907"/>
            <a:ext cx="3394710" cy="22837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869478" y="5229917"/>
            <a:ext cx="4031381" cy="1015663"/>
            <a:chOff x="1447799" y="4673768"/>
            <a:chExt cx="4487764" cy="101566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3" name="TextBox 12"/>
            <p:cNvSpPr txBox="1"/>
            <p:nvPr/>
          </p:nvSpPr>
          <p:spPr>
            <a:xfrm>
              <a:off x="1447799" y="4673768"/>
              <a:ext cx="4487764" cy="1015663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These branches insure that only </a:t>
              </a:r>
              <a:r>
                <a:rPr kumimoji="0" lang="en-US" sz="1800" b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one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statement is executed.</a:t>
              </a:r>
            </a:p>
          </p:txBody>
        </p:sp>
        <p:pic>
          <p:nvPicPr>
            <p:cNvPr id="19" name="Picture 18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grpFill/>
          </p:spPr>
        </p:pic>
      </p:grpSp>
      <p:sp>
        <p:nvSpPr>
          <p:cNvPr id="20" name="TextBox 19"/>
          <p:cNvSpPr txBox="1"/>
          <p:nvPr/>
        </p:nvSpPr>
        <p:spPr>
          <a:xfrm>
            <a:off x="9994269" y="3273015"/>
            <a:ext cx="2032929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B0F0"/>
                </a:solidFill>
              </a:rPr>
              <a:t>CPULator</a:t>
            </a:r>
            <a:r>
              <a:rPr lang="en-US" sz="2400" b="1" dirty="0">
                <a:solidFill>
                  <a:srgbClr val="00B0F0"/>
                </a:solidFill>
              </a:rPr>
              <a:t> #2</a:t>
            </a:r>
          </a:p>
        </p:txBody>
      </p:sp>
      <p:cxnSp>
        <p:nvCxnSpPr>
          <p:cNvPr id="5" name="Elbow Connector 4"/>
          <p:cNvCxnSpPr>
            <a:stCxn id="10" idx="3"/>
          </p:cNvCxnSpPr>
          <p:nvPr/>
        </p:nvCxnSpPr>
        <p:spPr>
          <a:xfrm>
            <a:off x="9355555" y="3566833"/>
            <a:ext cx="169445" cy="25621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11" idx="3"/>
          </p:cNvCxnSpPr>
          <p:nvPr/>
        </p:nvCxnSpPr>
        <p:spPr>
          <a:xfrm>
            <a:off x="9281035" y="4847097"/>
            <a:ext cx="239954" cy="13078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984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5EA51-E741-4045-9689-806FEE22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4454"/>
            <a:ext cx="2785252" cy="771525"/>
          </a:xfrm>
        </p:spPr>
        <p:txBody>
          <a:bodyPr/>
          <a:lstStyle/>
          <a:p>
            <a:r>
              <a:rPr lang="en-US" dirty="0"/>
              <a:t>IT BLOCKS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AA56-174E-4024-A0B2-A89960BD2B5D}"/>
              </a:ext>
            </a:extLst>
          </p:cNvPr>
          <p:cNvSpPr/>
          <p:nvPr/>
        </p:nvSpPr>
        <p:spPr>
          <a:xfrm>
            <a:off x="936516" y="1537562"/>
            <a:ext cx="103651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Every branch taken causes a delay to refill the instruction pipeline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If-Then (IT) blocks avoid this.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F0770F-7098-41B6-B512-8A1D8A241617}"/>
              </a:ext>
            </a:extLst>
          </p:cNvPr>
          <p:cNvSpPr txBox="1"/>
          <p:nvPr/>
        </p:nvSpPr>
        <p:spPr>
          <a:xfrm>
            <a:off x="1884068" y="3851754"/>
            <a:ext cx="2191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CMP	R1,#5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IT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R0,R0,#4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47F9CA-8195-444A-A9E7-1EAAB9CFF5F8}"/>
              </a:ext>
            </a:extLst>
          </p:cNvPr>
          <p:cNvSpPr txBox="1"/>
          <p:nvPr/>
        </p:nvSpPr>
        <p:spPr>
          <a:xfrm>
            <a:off x="3903785" y="3982348"/>
            <a:ext cx="1939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Operand is a condition code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4FA30C-2D61-4875-B48B-621E6EB089A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240597" y="4305514"/>
            <a:ext cx="663188" cy="11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D5A155-865B-47E8-9712-5DDE797C06DF}"/>
              </a:ext>
            </a:extLst>
          </p:cNvPr>
          <p:cNvSpPr txBox="1"/>
          <p:nvPr/>
        </p:nvSpPr>
        <p:spPr>
          <a:xfrm>
            <a:off x="1884067" y="5209065"/>
            <a:ext cx="3386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same condition code must be appended to this instruction.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 only executes if R1 &gt; 5.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0DFFA0-14DD-4490-830D-89CC41BC0AD0}"/>
              </a:ext>
            </a:extLst>
          </p:cNvPr>
          <p:cNvCxnSpPr>
            <a:cxnSpLocks/>
          </p:cNvCxnSpPr>
          <p:nvPr/>
        </p:nvCxnSpPr>
        <p:spPr>
          <a:xfrm flipV="1">
            <a:off x="2481946" y="4746841"/>
            <a:ext cx="0" cy="480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DF092AC-EB3E-4A06-91D7-39A842C498E9}"/>
              </a:ext>
            </a:extLst>
          </p:cNvPr>
          <p:cNvSpPr txBox="1"/>
          <p:nvPr/>
        </p:nvSpPr>
        <p:spPr>
          <a:xfrm>
            <a:off x="6409173" y="3947022"/>
            <a:ext cx="29546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CMP	R1,#5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R0,R0,#4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SUB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R0,R0,#4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MUL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R0,R0,R1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2961BB-984E-4651-B72D-A72CA437F1F4}"/>
              </a:ext>
            </a:extLst>
          </p:cNvPr>
          <p:cNvSpPr txBox="1"/>
          <p:nvPr/>
        </p:nvSpPr>
        <p:spPr>
          <a:xfrm>
            <a:off x="5735931" y="3205423"/>
            <a:ext cx="4597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Append 1-3 letters to the IT instruction to control 1-3 more instructions: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4EBD16-439C-4086-817D-709988F382E1}"/>
              </a:ext>
            </a:extLst>
          </p:cNvPr>
          <p:cNvSpPr/>
          <p:nvPr/>
        </p:nvSpPr>
        <p:spPr>
          <a:xfrm>
            <a:off x="5735933" y="5632398"/>
            <a:ext cx="57221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 “Then”: Execute if TRUE (append IT condition)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E  “Else”:   Execute if FALSE (append opposite)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944C87B6-712D-460C-B53F-13D71B838E68}"/>
              </a:ext>
            </a:extLst>
          </p:cNvPr>
          <p:cNvSpPr/>
          <p:nvPr/>
        </p:nvSpPr>
        <p:spPr>
          <a:xfrm>
            <a:off x="8407121" y="4491614"/>
            <a:ext cx="281354" cy="9327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2F11C0-51F3-40E5-931E-ACD43D5738AC}"/>
              </a:ext>
            </a:extLst>
          </p:cNvPr>
          <p:cNvSpPr txBox="1"/>
          <p:nvPr/>
        </p:nvSpPr>
        <p:spPr>
          <a:xfrm>
            <a:off x="8739949" y="4578975"/>
            <a:ext cx="1593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 is called the “IT Block”</a:t>
            </a:r>
          </a:p>
        </p:txBody>
      </p:sp>
    </p:spTree>
    <p:extLst>
      <p:ext uri="{BB962C8B-B14F-4D97-AF65-F5344CB8AC3E}">
        <p14:creationId xmlns:p14="http://schemas.microsoft.com/office/powerpoint/2010/main" val="2173329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8188" y="744427"/>
            <a:ext cx="8999896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If</a:t>
            </a:r>
            <a:r>
              <a:rPr sz="4400" spc="-15" dirty="0"/>
              <a:t> </a:t>
            </a:r>
            <a:r>
              <a:rPr sz="4400" dirty="0"/>
              <a:t>–</a:t>
            </a:r>
            <a:r>
              <a:rPr sz="4400" spc="-15" dirty="0"/>
              <a:t> </a:t>
            </a:r>
            <a:r>
              <a:rPr sz="4400" dirty="0"/>
              <a:t>Else</a:t>
            </a:r>
            <a:r>
              <a:rPr sz="4400" spc="-15" dirty="0"/>
              <a:t> Example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061587" y="2113081"/>
            <a:ext cx="7684770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uint64_t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a,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b,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c;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if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(a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==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b)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c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0;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else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c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-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b;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61587" y="3448811"/>
            <a:ext cx="23342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//Assume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R0.R1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//Assume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R2.R3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1588" y="4058411"/>
            <a:ext cx="186753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SUBS	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R0,R0,R2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SBCS	R1,R1,R3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LDR	R2,&amp;c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ITT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	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EQ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1588" y="5277611"/>
            <a:ext cx="15259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	R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1587" y="5582411"/>
            <a:ext cx="2023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STRDEQ</a:t>
            </a:r>
            <a:r>
              <a:rPr kumimoji="0" sz="2000" b="0" i="0" u="none" strike="noStrike" kern="1200" cap="none" spc="19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R0,R0,[R2] </a:t>
            </a:r>
            <a:r>
              <a:rPr kumimoji="0" sz="2000" b="0" i="0" u="none" strike="noStrike" kern="1200" cap="none" spc="-44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STRDNE</a:t>
            </a:r>
            <a:r>
              <a:rPr kumimoji="0" sz="2000" b="0" i="0" u="none" strike="noStrike" kern="1200" cap="none" spc="2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R0,R1,[R2]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79985" y="3599179"/>
            <a:ext cx="434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//a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loaded from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memory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registers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7147" y="4114292"/>
            <a:ext cx="404749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0" lvl="0" indent="0" algn="l" defTabSz="914400" rtl="0" eaLnBrk="1" fontAlgn="auto" latinLnBrk="0" hangingPunct="1">
              <a:lnSpc>
                <a:spcPts val="21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//R0 and R1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LH &amp;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UH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64-bit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(a-b)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5244" marR="0" lvl="0" indent="0" algn="l" defTabSz="914400" rtl="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//also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(a-b)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==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then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Z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flag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set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//prepare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into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memory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9986" y="5376164"/>
            <a:ext cx="4822825" cy="76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//If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a-b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== 0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(i.e.,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a=b)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then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reset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//If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a-b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!=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(i.e.,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a!=b)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then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store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1433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97534" y="2375439"/>
          <a:ext cx="8206924" cy="3814618"/>
        </p:xfrm>
        <a:graphic>
          <a:graphicData uri="http://schemas.openxmlformats.org/drawingml/2006/table">
            <a:tbl>
              <a:tblPr firstRow="1" firstCol="1" bandRow="1"/>
              <a:tblGrid>
                <a:gridCol w="8206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461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31825" algn="l"/>
                          <a:tab pos="1316038" algn="l"/>
                          <a:tab pos="20002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// uint64_t uMax64(uint64_t u1, uint64_t u2)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.global	uMax64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.align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.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thumb_func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uMax64: 	SUBS	R12,R2,R0	// perform a 64-bit subtract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SBCS	R12,R3,R1	// set flags, discard result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ITT	HI	// if (u2 &gt; u1) ...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MOVHI	R1,R3	//   then return u2 instead of u1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MOVHI	R0,R2	//   by copying u2 into R1.R0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BX	LR	// return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.end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3668" marR="5366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49192"/>
            <a:ext cx="8119252" cy="1144151"/>
          </a:xfrm>
        </p:spPr>
        <p:txBody>
          <a:bodyPr>
            <a:normAutofit/>
          </a:bodyPr>
          <a:lstStyle/>
          <a:p>
            <a:r>
              <a:rPr lang="en-US" dirty="0"/>
              <a:t>IT BLOCKS</a:t>
            </a:r>
            <a:br>
              <a:rPr lang="en-US" dirty="0"/>
            </a:br>
            <a:r>
              <a:rPr lang="en-US" i="1" dirty="0"/>
              <a:t>A fast 64-bit unsigned max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71522" y="4023668"/>
            <a:ext cx="6774583" cy="82104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624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6253" y="753383"/>
            <a:ext cx="933673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Another</a:t>
            </a:r>
            <a:r>
              <a:rPr sz="4400" spc="-15" dirty="0"/>
              <a:t> </a:t>
            </a:r>
            <a:r>
              <a:rPr sz="4400" dirty="0"/>
              <a:t>IT</a:t>
            </a:r>
            <a:r>
              <a:rPr sz="4400" spc="-10" dirty="0"/>
              <a:t> </a:t>
            </a:r>
            <a:r>
              <a:rPr sz="4400" spc="-25" dirty="0"/>
              <a:t>BLOCK</a:t>
            </a:r>
            <a:r>
              <a:rPr sz="4400" spc="-2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304" y="2670748"/>
            <a:ext cx="1854199" cy="2184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24863" y="2610357"/>
            <a:ext cx="23914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EQ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implies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1,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NE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implies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961754"/>
              </p:ext>
            </p:extLst>
          </p:nvPr>
        </p:nvGraphicFramePr>
        <p:xfrm>
          <a:off x="4541178" y="2900766"/>
          <a:ext cx="5483225" cy="165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910">
                <a:tc>
                  <a:txBody>
                    <a:bodyPr/>
                    <a:lstStyle/>
                    <a:p>
                      <a:pPr marL="31750" marR="281305">
                        <a:lnSpc>
                          <a:spcPts val="2090"/>
                        </a:lnSpc>
                        <a:spcBef>
                          <a:spcPts val="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CMP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EE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014" marR="902335">
                        <a:lnSpc>
                          <a:spcPts val="2090"/>
                        </a:lnSpc>
                        <a:spcBef>
                          <a:spcPts val="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R4,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R5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Is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R4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==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R5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08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R8,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ts val="208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R4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==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R5, R7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=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R8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+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R9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31750">
                        <a:lnSpc>
                          <a:spcPts val="205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ASR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05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spc="-2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ts val="205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 R4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==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R5,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R7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/=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95">
                <a:tc>
                  <a:txBody>
                    <a:bodyPr/>
                    <a:lstStyle/>
                    <a:p>
                      <a:pPr marL="31750">
                        <a:lnSpc>
                          <a:spcPts val="202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80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02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R10,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ts val="202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R4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!=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R5,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R7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=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R10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+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4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LSL</a:t>
                      </a:r>
                      <a:r>
                        <a:rPr sz="180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08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spc="-2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ts val="208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if R4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!=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R5, R7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*=2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515032" y="1674790"/>
            <a:ext cx="2630848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B0F0"/>
                </a:solidFill>
              </a:rPr>
              <a:t>CPULator</a:t>
            </a:r>
            <a:r>
              <a:rPr lang="en-US" sz="2400" b="1" dirty="0">
                <a:solidFill>
                  <a:srgbClr val="00B0F0"/>
                </a:solidFill>
              </a:rPr>
              <a:t> #3new</a:t>
            </a:r>
          </a:p>
        </p:txBody>
      </p:sp>
    </p:spTree>
    <p:extLst>
      <p:ext uri="{BB962C8B-B14F-4D97-AF65-F5344CB8AC3E}">
        <p14:creationId xmlns:p14="http://schemas.microsoft.com/office/powerpoint/2010/main" val="2498204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4BA2-D117-4AA6-A282-DA1A5E1DC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569" y="729140"/>
            <a:ext cx="5376052" cy="738714"/>
          </a:xfrm>
        </p:spPr>
        <p:txBody>
          <a:bodyPr/>
          <a:lstStyle/>
          <a:p>
            <a:r>
              <a:rPr lang="en-US" dirty="0"/>
              <a:t>IT BLOCK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664ED-357D-4938-9586-523FCA516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569" y="1782702"/>
            <a:ext cx="10401242" cy="485070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Only </a:t>
            </a:r>
            <a:r>
              <a:rPr lang="en-US" b="1" dirty="0">
                <a:solidFill>
                  <a:srgbClr val="92D050"/>
                </a:solidFill>
              </a:rPr>
              <a:t>1 to 4 </a:t>
            </a:r>
            <a:r>
              <a:rPr lang="en-US" dirty="0">
                <a:solidFill>
                  <a:schemeClr val="tx1"/>
                </a:solidFill>
              </a:rPr>
              <a:t>instructions may be controlled.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Only the IT condition or its opposite may be used.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IT blocks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can’t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contain another IT instruction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You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can’t branch </a:t>
            </a:r>
            <a:r>
              <a:rPr lang="en-US" dirty="0">
                <a:solidFill>
                  <a:schemeClr val="tx1"/>
                </a:solidFill>
              </a:rPr>
              <a:t>to an instruction inside an IT block</a:t>
            </a:r>
          </a:p>
          <a:p>
            <a:pPr marL="514350" indent="-514350">
              <a:buFont typeface="+mj-lt"/>
              <a:buAutoNum type="arabicPeriod"/>
            </a:pPr>
            <a:endParaRPr lang="en-US" b="1" dirty="0">
              <a:solidFill>
                <a:srgbClr val="92D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92D050"/>
                </a:solidFill>
              </a:rPr>
              <a:t>Only the last instruction in an IT block </a:t>
            </a:r>
            <a:r>
              <a:rPr lang="en-US" dirty="0">
                <a:solidFill>
                  <a:schemeClr val="tx1"/>
                </a:solidFill>
              </a:rPr>
              <a:t>may be a branch of any kind.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38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918621-5799-4075-BF25-647DCB916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CFD57CF-376F-4F19-B410-90D5914768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4: Compound Conditionals</a:t>
            </a:r>
          </a:p>
        </p:txBody>
      </p:sp>
    </p:spTree>
    <p:extLst>
      <p:ext uri="{BB962C8B-B14F-4D97-AF65-F5344CB8AC3E}">
        <p14:creationId xmlns:p14="http://schemas.microsoft.com/office/powerpoint/2010/main" val="3673131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F0D6-D53B-4C0A-88DB-FF6A3D03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67267"/>
            <a:ext cx="6547126" cy="692565"/>
          </a:xfrm>
        </p:spPr>
        <p:txBody>
          <a:bodyPr/>
          <a:lstStyle/>
          <a:p>
            <a:r>
              <a:rPr lang="en-US" dirty="0"/>
              <a:t>COMPOUND CONDITIONALS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65F35-A45B-4A86-A5CE-7558719D1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431" y="1633559"/>
            <a:ext cx="10457389" cy="50319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Example:</a:t>
            </a:r>
            <a:r>
              <a:rPr lang="en-US" dirty="0"/>
              <a:t> 	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if (x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&amp;&amp;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1E02EE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20)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b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			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y = 0;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 assembly, this must be separated into </a:t>
            </a:r>
            <a:r>
              <a:rPr lang="en-US" b="1" u="sng" dirty="0">
                <a:solidFill>
                  <a:schemeClr val="tx1"/>
                </a:solidFill>
              </a:rPr>
              <a:t>two</a:t>
            </a:r>
            <a:r>
              <a:rPr lang="en-US" dirty="0">
                <a:solidFill>
                  <a:schemeClr val="tx1"/>
                </a:solidFill>
              </a:rPr>
              <a:t> separate “compare – conditional branch” sequences, similar to: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0D2F3-8C82-4769-855B-EC330CFDC6E5}"/>
              </a:ext>
            </a:extLst>
          </p:cNvPr>
          <p:cNvSpPr txBox="1"/>
          <p:nvPr/>
        </p:nvSpPr>
        <p:spPr>
          <a:xfrm>
            <a:off x="-217" y="4024112"/>
            <a:ext cx="2473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(x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&gt;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10)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if (x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02E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&lt;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20) 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 = 0;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AD261-52DD-4672-BCED-E1E0C43368B4}"/>
              </a:ext>
            </a:extLst>
          </p:cNvPr>
          <p:cNvSpPr txBox="1"/>
          <p:nvPr/>
        </p:nvSpPr>
        <p:spPr>
          <a:xfrm>
            <a:off x="3377647" y="3424687"/>
            <a:ext cx="28429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(x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&lt;=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sz="2400" dirty="0">
                <a:latin typeface="Arial" panose="020B0604020202020204"/>
              </a:rPr>
              <a:t>label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1;</a:t>
            </a:r>
          </a:p>
          <a:p>
            <a:pPr marL="45720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(x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02E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&gt;=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sz="2400" dirty="0">
                <a:latin typeface="Arial" panose="020B0604020202020204"/>
              </a:rPr>
              <a:t>label1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</a:t>
            </a:r>
            <a:b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 = 0;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90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70C0"/>
                </a:solidFill>
                <a:latin typeface="Arial" panose="020B0604020202020204"/>
              </a:rPr>
              <a:t>    </a:t>
            </a:r>
          </a:p>
          <a:p>
            <a:pPr marL="1190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Arial" panose="020B0604020202020204"/>
              </a:rPr>
              <a:t>label1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9AD1F7-2DA4-4954-990B-8D0C23C059DD}"/>
              </a:ext>
            </a:extLst>
          </p:cNvPr>
          <p:cNvSpPr/>
          <p:nvPr/>
        </p:nvSpPr>
        <p:spPr>
          <a:xfrm>
            <a:off x="2736816" y="4300194"/>
            <a:ext cx="793107" cy="652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513A75-697D-6A35-AA73-6C832C80C98E}"/>
              </a:ext>
            </a:extLst>
          </p:cNvPr>
          <p:cNvSpPr txBox="1"/>
          <p:nvPr/>
        </p:nvSpPr>
        <p:spPr>
          <a:xfrm>
            <a:off x="6513681" y="3055355"/>
            <a:ext cx="52096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>
              <a:defRPr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CMP	r0, #10</a:t>
            </a:r>
          </a:p>
          <a:p>
            <a:pPr marL="457200" lvl="0">
              <a:defRPr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label1	    // if (x</a:t>
            </a:r>
            <a:r>
              <a:rPr lang="pt-BR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&lt;=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10)</a:t>
            </a:r>
          </a:p>
          <a:p>
            <a:pPr marL="457200" lvl="0">
              <a:defRPr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>
              <a:defRPr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CMP	r0, #20    //</a:t>
            </a:r>
          </a:p>
          <a:p>
            <a:pPr marL="457200" lvl="0">
              <a:defRPr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2400" b="1" dirty="0">
                <a:solidFill>
                  <a:srgbClr val="1E02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BGE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label1      // if (x</a:t>
            </a:r>
            <a:r>
              <a:rPr lang="pt-BR" sz="2400" b="1" dirty="0">
                <a:solidFill>
                  <a:srgbClr val="1E02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&gt;=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20)</a:t>
            </a:r>
          </a:p>
          <a:p>
            <a:pPr marL="457200" lvl="0">
              <a:defRPr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>
              <a:defRPr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MOV	r1, #0	    //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y = 0</a:t>
            </a:r>
          </a:p>
          <a:p>
            <a:pPr marL="457200" lvl="0">
              <a:defRPr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>
              <a:defRPr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label1: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FC3413B-E2C9-5258-4A39-FD2FE5F2EFD1}"/>
              </a:ext>
            </a:extLst>
          </p:cNvPr>
          <p:cNvSpPr/>
          <p:nvPr/>
        </p:nvSpPr>
        <p:spPr>
          <a:xfrm>
            <a:off x="6332166" y="4300194"/>
            <a:ext cx="793107" cy="652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3932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550160"/>
              </p:ext>
            </p:extLst>
          </p:nvPr>
        </p:nvGraphicFramePr>
        <p:xfrm>
          <a:off x="3076080" y="1778271"/>
          <a:ext cx="8026115" cy="4666990"/>
        </p:xfrm>
        <a:graphic>
          <a:graphicData uri="http://schemas.openxmlformats.org/drawingml/2006/table">
            <a:tbl>
              <a:tblPr firstRow="1" firstCol="1" bandRow="1"/>
              <a:tblGrid>
                <a:gridCol w="2237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0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Compound Conditional in 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4838" marR="54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Rewritten with</a:t>
                      </a:r>
                      <a:br>
                        <a:rPr lang="en-US" sz="1600" b="1" i="1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600" b="1" i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goto’s</a:t>
                      </a: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and labels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4838" marR="54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Assembly language version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4838" marR="54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74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if (x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&gt;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0 &amp;&amp; x </a:t>
                      </a:r>
                      <a:r>
                        <a:rPr lang="en-US" sz="1200" b="1" dirty="0">
                          <a:solidFill>
                            <a:srgbClr val="1E02EE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&lt;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9)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else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</a:t>
                      </a:r>
                    </a:p>
                  </a:txBody>
                  <a:tcPr marL="54838" marR="54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if (x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&lt;=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0)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L1;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if (x </a:t>
                      </a:r>
                      <a:r>
                        <a:rPr lang="en-US" sz="1200" b="1" dirty="0">
                          <a:solidFill>
                            <a:srgbClr val="1E02EE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&gt;=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9)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L1;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L2;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L1: 	 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L2: 	...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4838" marR="54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CMP	R0,#0 // R0 is x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BLE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L1   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//</a:t>
                      </a:r>
                      <a:r>
                        <a:rPr lang="en-US" sz="1200" b="1" dirty="0">
                          <a:solidFill>
                            <a:srgbClr val="92D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less</a:t>
                      </a:r>
                      <a:r>
                        <a:rPr lang="en-US" sz="1200" b="1" baseline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eqal</a:t>
                      </a:r>
                      <a:endParaRPr lang="en-US" sz="1200" b="1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CMP	R0,9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200" b="1" dirty="0">
                          <a:solidFill>
                            <a:srgbClr val="1E02EE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BGE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L1   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en-US" sz="1200" b="1" dirty="0">
                          <a:solidFill>
                            <a:srgbClr val="1E02EE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greater equal</a:t>
                      </a:r>
                      <a:endParaRPr lang="en-US" sz="1200" b="1" dirty="0">
                        <a:solidFill>
                          <a:srgbClr val="1E02EE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B	L2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L1: </a:t>
                      </a: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L2: 	...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4838" marR="54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1909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if (x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==</a:t>
                      </a:r>
                      <a:r>
                        <a:rPr lang="en-US" sz="1200" b="1" dirty="0">
                          <a:solidFill>
                            <a:srgbClr val="92D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|| x </a:t>
                      </a:r>
                      <a:r>
                        <a:rPr lang="en-US" sz="1200" b="1" dirty="0">
                          <a:solidFill>
                            <a:srgbClr val="1E02EE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==</a:t>
                      </a:r>
                      <a:r>
                        <a:rPr lang="en-US" sz="1200" b="1" dirty="0">
                          <a:solidFill>
                            <a:srgbClr val="00B0F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9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else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4838" marR="54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if (x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==</a:t>
                      </a:r>
                      <a:r>
                        <a:rPr lang="en-US" sz="1200" b="1" dirty="0">
                          <a:solidFill>
                            <a:srgbClr val="92D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)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L1;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if (x </a:t>
                      </a:r>
                      <a:r>
                        <a:rPr lang="en-US" sz="1200" b="1" dirty="0">
                          <a:solidFill>
                            <a:srgbClr val="1E02EE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!=</a:t>
                      </a:r>
                      <a:r>
                        <a:rPr lang="en-US" sz="1200" b="1" dirty="0">
                          <a:solidFill>
                            <a:srgbClr val="00B0F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9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)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L2</a:t>
                      </a:r>
                      <a:r>
                        <a:rPr lang="en-US" sz="12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endParaRPr lang="en-US" sz="12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L1: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	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L3;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L2: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L3: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4838" marR="54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37185" algn="l"/>
                          <a:tab pos="674370" algn="l"/>
                        </a:tabLst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CMP	R0,0  // R0 is x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BEQ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L1   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equal</a:t>
                      </a:r>
                      <a:endParaRPr lang="en-US" sz="1200" b="1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CMP	R0,9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200" b="1" dirty="0">
                          <a:solidFill>
                            <a:srgbClr val="1E02EE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BNE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L2   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en-US" sz="1200" b="1" dirty="0">
                          <a:solidFill>
                            <a:srgbClr val="1E02EE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not equal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L1: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	B	L3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L2: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7185" algn="l"/>
                          <a:tab pos="674370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L3: 	...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4838" marR="54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401851" y="2788115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01847" y="3516541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5759806" y="2902415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5759806" y="3397715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401847" y="4946761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3401847" y="5666720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759806" y="5180056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5759806" y="5899702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8493308" y="3225372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8493308" y="3870046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8443532" y="5337810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8443532" y="5868184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58404"/>
            <a:ext cx="6867635" cy="753168"/>
          </a:xfrm>
        </p:spPr>
        <p:txBody>
          <a:bodyPr>
            <a:normAutofit/>
          </a:bodyPr>
          <a:lstStyle/>
          <a:p>
            <a:r>
              <a:rPr lang="en-US" dirty="0"/>
              <a:t>COMPOUND CONDITIONALS</a:t>
            </a:r>
            <a:endParaRPr lang="en-US" i="1" dirty="0"/>
          </a:p>
        </p:txBody>
      </p:sp>
      <p:sp>
        <p:nvSpPr>
          <p:cNvPr id="26" name="Right Arrow 25"/>
          <p:cNvSpPr/>
          <p:nvPr/>
        </p:nvSpPr>
        <p:spPr>
          <a:xfrm>
            <a:off x="5002364" y="2452819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5002364" y="4525201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7642027" y="2452819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7642026" y="4611465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807" y="3116511"/>
            <a:ext cx="2964273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 Compound_1.s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919" y="5294817"/>
            <a:ext cx="2964273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 Compound_2.s</a:t>
            </a:r>
          </a:p>
        </p:txBody>
      </p:sp>
    </p:spTree>
    <p:extLst>
      <p:ext uri="{BB962C8B-B14F-4D97-AF65-F5344CB8AC3E}">
        <p14:creationId xmlns:p14="http://schemas.microsoft.com/office/powerpoint/2010/main" val="1211948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8" y="719089"/>
            <a:ext cx="8536348" cy="643110"/>
          </a:xfrm>
        </p:spPr>
        <p:txBody>
          <a:bodyPr>
            <a:normAutofit/>
          </a:bodyPr>
          <a:lstStyle/>
          <a:p>
            <a:r>
              <a:rPr lang="en-US" dirty="0"/>
              <a:t>Graphical Approach: Compound AND</a:t>
            </a:r>
          </a:p>
        </p:txBody>
      </p:sp>
      <p:sp>
        <p:nvSpPr>
          <p:cNvPr id="3" name="Rectangle 25"/>
          <p:cNvSpPr>
            <a:spLocks noChangeArrowheads="1"/>
          </p:cNvSpPr>
          <p:nvPr/>
        </p:nvSpPr>
        <p:spPr bwMode="auto">
          <a:xfrm>
            <a:off x="5791200" y="1368484"/>
            <a:ext cx="1524000" cy="330241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349190" y="1360170"/>
            <a:ext cx="36096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&gt;=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–100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&amp;&amp; x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02EE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&lt;=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+100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)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521826" y="1928554"/>
            <a:ext cx="2142334" cy="4472247"/>
            <a:chOff x="501535" y="1945178"/>
            <a:chExt cx="2142334" cy="4472247"/>
          </a:xfrm>
        </p:grpSpPr>
        <p:sp>
          <p:nvSpPr>
            <p:cNvPr id="5" name="Hexagon 4"/>
            <p:cNvSpPr/>
            <p:nvPr/>
          </p:nvSpPr>
          <p:spPr>
            <a:xfrm>
              <a:off x="714895" y="2576945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&gt;=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-100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6" name="Hexagon 5"/>
            <p:cNvSpPr/>
            <p:nvPr/>
          </p:nvSpPr>
          <p:spPr>
            <a:xfrm>
              <a:off x="714895" y="3923607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E02E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&lt;=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+100?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263535" y="1945178"/>
              <a:ext cx="0" cy="6317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1263535" y="3474720"/>
              <a:ext cx="0" cy="4488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5"/>
            <p:cNvSpPr>
              <a:spLocks noChangeArrowheads="1"/>
            </p:cNvSpPr>
            <p:nvPr/>
          </p:nvSpPr>
          <p:spPr bwMode="auto">
            <a:xfrm>
              <a:off x="501535" y="5270269"/>
              <a:ext cx="1524000" cy="330241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" pitchFamily="34" charset="0"/>
                  <a:cs typeface="Times New Roman" panose="02020603050405020304" pitchFamily="18" charset="0"/>
                </a:rPr>
                <a:t>then statement</a:t>
              </a:r>
              <a:endParaRPr kumimoji="0" lang="en-US" alt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6" name="Straight Arrow Connector 15"/>
            <p:cNvCxnSpPr>
              <a:endCxn id="14" idx="0"/>
            </p:cNvCxnSpPr>
            <p:nvPr/>
          </p:nvCxnSpPr>
          <p:spPr>
            <a:xfrm>
              <a:off x="1263535" y="4821382"/>
              <a:ext cx="0" cy="4488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4" idx="2"/>
            </p:cNvCxnSpPr>
            <p:nvPr/>
          </p:nvCxnSpPr>
          <p:spPr>
            <a:xfrm>
              <a:off x="1263535" y="5600510"/>
              <a:ext cx="0" cy="8169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5" idx="0"/>
            </p:cNvCxnSpPr>
            <p:nvPr/>
          </p:nvCxnSpPr>
          <p:spPr>
            <a:xfrm flipH="1">
              <a:off x="1263535" y="3025833"/>
              <a:ext cx="548640" cy="3009207"/>
            </a:xfrm>
            <a:prstGeom prst="bentConnector4">
              <a:avLst>
                <a:gd name="adj1" fmla="val -138823"/>
                <a:gd name="adj2" fmla="val 10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6" idx="0"/>
            </p:cNvCxnSpPr>
            <p:nvPr/>
          </p:nvCxnSpPr>
          <p:spPr>
            <a:xfrm flipV="1">
              <a:off x="1812175" y="4372494"/>
              <a:ext cx="776272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28750" y="3492367"/>
              <a:ext cx="91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3753" y="4834201"/>
              <a:ext cx="91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07302" y="2626820"/>
              <a:ext cx="91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723927" y="3978225"/>
              <a:ext cx="91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735187" y="5807676"/>
            <a:ext cx="94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174860" y="4113651"/>
            <a:ext cx="610098" cy="713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07504" y="4081618"/>
            <a:ext cx="37450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CMP	R0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,-100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// R0</a:t>
            </a:r>
            <a:r>
              <a:rPr kumimoji="0" lang="en-US" sz="18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x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CMP	R0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,+100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02E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BGT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then-statement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	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9250" algn="l"/>
                <a:tab pos="914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149" y="5472747"/>
            <a:ext cx="2194827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(2) Identify labels needed for branch destinations.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6968" y="3243887"/>
            <a:ext cx="191315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Layout the flowchart items vertically.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4538" y="3176749"/>
            <a:ext cx="3228542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(4) Translate into assembly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4218" y="2256256"/>
            <a:ext cx="2450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// less than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7798" y="3645200"/>
            <a:ext cx="344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02E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BGT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// greater than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4538" y="1842262"/>
            <a:ext cx="387320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(3) Identify the conditional branch instructions that are needed</a:t>
            </a:r>
          </a:p>
        </p:txBody>
      </p:sp>
    </p:spTree>
    <p:extLst>
      <p:ext uri="{BB962C8B-B14F-4D97-AF65-F5344CB8AC3E}">
        <p14:creationId xmlns:p14="http://schemas.microsoft.com/office/powerpoint/2010/main" val="16541636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5616072" y="2096378"/>
            <a:ext cx="2382259" cy="4472247"/>
            <a:chOff x="3879979" y="2062060"/>
            <a:chExt cx="2382259" cy="4472247"/>
          </a:xfrm>
        </p:grpSpPr>
        <p:sp>
          <p:nvSpPr>
            <p:cNvPr id="27" name="Hexagon 26"/>
            <p:cNvSpPr/>
            <p:nvPr/>
          </p:nvSpPr>
          <p:spPr>
            <a:xfrm>
              <a:off x="4294998" y="2544198"/>
              <a:ext cx="1189786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&lt;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-100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28" name="Hexagon 27"/>
            <p:cNvSpPr/>
            <p:nvPr/>
          </p:nvSpPr>
          <p:spPr>
            <a:xfrm>
              <a:off x="4294998" y="4080164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E02E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&gt;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+100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4843638" y="2062060"/>
              <a:ext cx="0" cy="4821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863035" y="3446610"/>
              <a:ext cx="506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4863035" y="3441973"/>
              <a:ext cx="0" cy="638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0"/>
            <p:cNvSpPr>
              <a:spLocks noChangeArrowheads="1"/>
            </p:cNvSpPr>
            <p:nvPr/>
          </p:nvSpPr>
          <p:spPr bwMode="auto">
            <a:xfrm>
              <a:off x="4062935" y="5446562"/>
              <a:ext cx="16002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" pitchFamily="34" charset="0"/>
                  <a:cs typeface="Times New Roman" panose="02020603050405020304" pitchFamily="18" charset="0"/>
                </a:rPr>
                <a:t>then statement</a:t>
              </a:r>
              <a:endParaRPr kumimoji="0" lang="en-US" alt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4863035" y="5768528"/>
              <a:ext cx="11281" cy="7657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37"/>
            <p:cNvCxnSpPr>
              <a:stCxn id="28" idx="0"/>
            </p:cNvCxnSpPr>
            <p:nvPr/>
          </p:nvCxnSpPr>
          <p:spPr>
            <a:xfrm flipH="1">
              <a:off x="4863035" y="4529052"/>
              <a:ext cx="529243" cy="1622366"/>
            </a:xfrm>
            <a:prstGeom prst="bentConnector4">
              <a:avLst>
                <a:gd name="adj1" fmla="val -156255"/>
                <a:gd name="adj2" fmla="val 9867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/>
            <p:cNvCxnSpPr>
              <a:cxnSpLocks/>
              <a:stCxn id="27" idx="3"/>
            </p:cNvCxnSpPr>
            <p:nvPr/>
          </p:nvCxnSpPr>
          <p:spPr>
            <a:xfrm rot="10800000" flipH="1" flipV="1">
              <a:off x="4294998" y="2993086"/>
              <a:ext cx="548640" cy="2219164"/>
            </a:xfrm>
            <a:prstGeom prst="bentConnector4">
              <a:avLst>
                <a:gd name="adj1" fmla="val -41667"/>
                <a:gd name="adj2" fmla="val 93545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879979" y="2595217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862831" y="5002016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69508" y="4118157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6123869" y="5184011"/>
            <a:ext cx="89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9" y="716345"/>
            <a:ext cx="7273031" cy="546646"/>
          </a:xfrm>
        </p:spPr>
        <p:txBody>
          <a:bodyPr>
            <a:normAutofit fontScale="90000"/>
          </a:bodyPr>
          <a:lstStyle/>
          <a:p>
            <a:r>
              <a:rPr lang="en-US" dirty="0"/>
              <a:t>Graphical Approach: Compound 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789516" y="1352183"/>
            <a:ext cx="5702139" cy="338554"/>
            <a:chOff x="533400" y="1600200"/>
            <a:chExt cx="5702139" cy="338554"/>
          </a:xfrm>
        </p:grpSpPr>
        <p:sp>
          <p:nvSpPr>
            <p:cNvPr id="3" name="Rectangle 4"/>
            <p:cNvSpPr>
              <a:spLocks noChangeArrowheads="1"/>
            </p:cNvSpPr>
            <p:nvPr/>
          </p:nvSpPr>
          <p:spPr bwMode="auto">
            <a:xfrm>
              <a:off x="533400" y="1600200"/>
              <a:ext cx="570213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71500" algn="l"/>
                </a:tabLst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	 if (x </a:t>
              </a: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&lt;</a:t>
              </a: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 </a:t>
              </a: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–100</a:t>
              </a: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|| x </a:t>
              </a: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E02EE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&gt;</a:t>
              </a: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 </a:t>
              </a: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+100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) 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4" name="Rectangle 30"/>
            <p:cNvSpPr>
              <a:spLocks noChangeArrowheads="1"/>
            </p:cNvSpPr>
            <p:nvPr/>
          </p:nvSpPr>
          <p:spPr bwMode="auto">
            <a:xfrm>
              <a:off x="4277199" y="1633954"/>
              <a:ext cx="16002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" pitchFamily="34" charset="0"/>
                  <a:cs typeface="Times New Roman" panose="02020603050405020304" pitchFamily="18" charset="0"/>
                </a:rPr>
                <a:t>then statement</a:t>
              </a:r>
              <a:endParaRPr kumimoji="0" lang="en-US" alt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Rectangle 30"/>
          <p:cNvSpPr>
            <a:spLocks noChangeArrowheads="1"/>
          </p:cNvSpPr>
          <p:nvPr/>
        </p:nvSpPr>
        <p:spPr bwMode="auto">
          <a:xfrm>
            <a:off x="3336175" y="5496477"/>
            <a:ext cx="16002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2156257" y="2094807"/>
            <a:ext cx="1980019" cy="4472248"/>
            <a:chOff x="632257" y="2094807"/>
            <a:chExt cx="1980019" cy="4472248"/>
          </a:xfrm>
        </p:grpSpPr>
        <p:sp>
          <p:nvSpPr>
            <p:cNvPr id="6" name="Hexagon 5"/>
            <p:cNvSpPr/>
            <p:nvPr/>
          </p:nvSpPr>
          <p:spPr>
            <a:xfrm>
              <a:off x="632257" y="2576945"/>
              <a:ext cx="1179918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&lt;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-100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7" name="Hexagon 6"/>
            <p:cNvSpPr/>
            <p:nvPr/>
          </p:nvSpPr>
          <p:spPr>
            <a:xfrm>
              <a:off x="714895" y="4112911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E02E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&gt;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+100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1263535" y="2094807"/>
              <a:ext cx="0" cy="4821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1263535" y="3474720"/>
              <a:ext cx="0" cy="638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>
              <a:off x="1263535" y="5010686"/>
              <a:ext cx="2771" cy="15563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cxnSpLocks/>
              <a:stCxn id="6" idx="0"/>
              <a:endCxn id="8" idx="0"/>
            </p:cNvCxnSpPr>
            <p:nvPr/>
          </p:nvCxnSpPr>
          <p:spPr>
            <a:xfrm>
              <a:off x="1812175" y="3025833"/>
              <a:ext cx="800100" cy="2470644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18"/>
            <p:cNvCxnSpPr>
              <a:stCxn id="8" idx="2"/>
            </p:cNvCxnSpPr>
            <p:nvPr/>
          </p:nvCxnSpPr>
          <p:spPr>
            <a:xfrm rot="5400000">
              <a:off x="1762835" y="5301977"/>
              <a:ext cx="350141" cy="1348740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7" idx="0"/>
            </p:cNvCxnSpPr>
            <p:nvPr/>
          </p:nvCxnSpPr>
          <p:spPr>
            <a:xfrm flipV="1">
              <a:off x="1812175" y="4561798"/>
              <a:ext cx="8001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647140" y="2604512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675446" y="4145800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6974" y="3478497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6974" y="5000587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</p:grpSp>
      <p:sp>
        <p:nvSpPr>
          <p:cNvPr id="26" name="Right Arrow 25"/>
          <p:cNvSpPr/>
          <p:nvPr/>
        </p:nvSpPr>
        <p:spPr>
          <a:xfrm>
            <a:off x="4556556" y="3663164"/>
            <a:ext cx="610098" cy="713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0" name="Straight Arrow Connector 29"/>
          <p:cNvCxnSpPr>
            <a:endCxn id="33" idx="0"/>
          </p:cNvCxnSpPr>
          <p:nvPr/>
        </p:nvCxnSpPr>
        <p:spPr>
          <a:xfrm>
            <a:off x="6582504" y="5012257"/>
            <a:ext cx="16625" cy="4686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ight Arrow 48"/>
          <p:cNvSpPr/>
          <p:nvPr/>
        </p:nvSpPr>
        <p:spPr>
          <a:xfrm>
            <a:off x="7758382" y="3753927"/>
            <a:ext cx="610098" cy="713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30345" y="3945977"/>
            <a:ext cx="36396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15938" algn="l"/>
                <a:tab pos="11477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CMP	R0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,-100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dirty="0"/>
              <a:t>// R0 is 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CMP	R0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,+100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02E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L2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	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then-statement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5938" algn="l"/>
                <a:tab pos="114776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	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9250" algn="l"/>
                <a:tab pos="914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90815" y="6201097"/>
            <a:ext cx="89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07901" y="1847578"/>
            <a:ext cx="1691915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(2) Rearrange flowchart vertically.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3821" y="5931136"/>
            <a:ext cx="1898410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(3) Identify needed labels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1204" y="2918371"/>
            <a:ext cx="1540626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(5) Translate to assembly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7423" y="1793019"/>
            <a:ext cx="1179918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(1) Initial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flowchart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1205" y="1856622"/>
            <a:ext cx="2438941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(4) Identify conditional branch instructions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4052" y="2937393"/>
            <a:ext cx="103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5590" y="4641684"/>
            <a:ext cx="105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02E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</a:t>
            </a:r>
          </a:p>
        </p:txBody>
      </p:sp>
    </p:spTree>
    <p:extLst>
      <p:ext uri="{BB962C8B-B14F-4D97-AF65-F5344CB8AC3E}">
        <p14:creationId xmlns:p14="http://schemas.microsoft.com/office/powerpoint/2010/main" val="10988024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63A7-8474-47FB-AC3D-5D5B84316B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54FA2-7776-42DD-978C-5CFB3202A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5: Writing Loops</a:t>
            </a:r>
          </a:p>
        </p:txBody>
      </p:sp>
    </p:spTree>
    <p:extLst>
      <p:ext uri="{BB962C8B-B14F-4D97-AF65-F5344CB8AC3E}">
        <p14:creationId xmlns:p14="http://schemas.microsoft.com/office/powerpoint/2010/main" val="4103157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558" y="739249"/>
            <a:ext cx="9917000" cy="69250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WHILE</a:t>
            </a:r>
            <a:r>
              <a:rPr lang="en-US" sz="3200" dirty="0"/>
              <a:t> LOOP WITH  COMPOUND CONDITIONAL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81200" y="2131130"/>
            <a:ext cx="3063240" cy="10768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loopBody</a:t>
            </a: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2131130"/>
            <a:ext cx="4389120" cy="13984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(!</a:t>
            </a:r>
            <a:r>
              <a:rPr lang="en-US" sz="1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break;</a:t>
            </a:r>
          </a:p>
          <a:p>
            <a:pPr marL="0" indent="0">
              <a:buNone/>
              <a:tabLst>
                <a:tab pos="738188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loopBody</a:t>
            </a: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324600" y="4240594"/>
            <a:ext cx="3261360" cy="2221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while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){</a:t>
            </a:r>
          </a:p>
          <a:p>
            <a:pPr marL="6937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(!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6937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L1;</a:t>
            </a:r>
          </a:p>
          <a:p>
            <a:pPr marL="6937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738188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L1:</a:t>
            </a: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065019" y="4281314"/>
            <a:ext cx="3261360" cy="2091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625475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L0:	if (!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625475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625475" algn="l"/>
              </a:tabLst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62547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62547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L0;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L1: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5417819" y="2566080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ight Arrow 8"/>
          <p:cNvSpPr/>
          <p:nvPr/>
        </p:nvSpPr>
        <p:spPr>
          <a:xfrm rot="10800000">
            <a:off x="5547360" y="5192595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ight Arrow 9"/>
          <p:cNvSpPr/>
          <p:nvPr/>
        </p:nvSpPr>
        <p:spPr>
          <a:xfrm rot="5400000">
            <a:off x="7840980" y="3773655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0760" y="2035090"/>
            <a:ext cx="4267200" cy="1494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89761" y="2072640"/>
            <a:ext cx="3261359" cy="12009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0" y="4200367"/>
            <a:ext cx="4267200" cy="226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51659" y="4139279"/>
            <a:ext cx="3474720" cy="23226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7029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980" y="768708"/>
            <a:ext cx="9196651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Loops:</a:t>
            </a:r>
            <a:r>
              <a:rPr spc="-30" dirty="0"/>
              <a:t> </a:t>
            </a:r>
            <a:r>
              <a:rPr spc="-15" dirty="0"/>
              <a:t>Predetermined</a:t>
            </a:r>
            <a:r>
              <a:rPr spc="-35" dirty="0"/>
              <a:t> </a:t>
            </a:r>
            <a:r>
              <a:rPr spc="-20" dirty="0"/>
              <a:t>#Iterations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61604" y="3333430"/>
            <a:ext cx="35822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8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4964" y="4844042"/>
            <a:ext cx="12712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4958" y="383871"/>
            <a:ext cx="2282997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7. n-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loop.s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85C04-892D-3ABC-9914-9835DBB7A6EC}"/>
              </a:ext>
            </a:extLst>
          </p:cNvPr>
          <p:cNvSpPr txBox="1"/>
          <p:nvPr/>
        </p:nvSpPr>
        <p:spPr>
          <a:xfrm>
            <a:off x="4400484" y="1841975"/>
            <a:ext cx="71624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pc="-5" dirty="0">
                <a:latin typeface="Arial MT"/>
                <a:cs typeface="Arial MT"/>
              </a:rPr>
              <a:t>	// assume</a:t>
            </a:r>
            <a:r>
              <a:rPr lang="pt-BR" spc="-25" dirty="0">
                <a:latin typeface="Arial MT"/>
                <a:cs typeface="Arial MT"/>
              </a:rPr>
              <a:t> </a:t>
            </a:r>
            <a:r>
              <a:rPr lang="pt-BR" b="1" spc="-25" dirty="0">
                <a:solidFill>
                  <a:srgbClr val="FFC000"/>
                </a:solidFill>
                <a:latin typeface="Arial MT"/>
                <a:cs typeface="Arial MT"/>
              </a:rPr>
              <a:t>address</a:t>
            </a:r>
            <a:r>
              <a:rPr lang="pt-BR" spc="-25" dirty="0">
                <a:latin typeface="Arial MT"/>
                <a:cs typeface="Arial MT"/>
              </a:rPr>
              <a:t> of </a:t>
            </a:r>
            <a:r>
              <a:rPr lang="pt-BR" b="1" spc="-5" dirty="0">
                <a:solidFill>
                  <a:srgbClr val="FF0000"/>
                </a:solidFill>
                <a:latin typeface="Arial MT"/>
                <a:cs typeface="Arial MT"/>
              </a:rPr>
              <a:t>n </a:t>
            </a:r>
            <a:r>
              <a:rPr lang="pt-BR" dirty="0">
                <a:latin typeface="Arial MT"/>
                <a:cs typeface="Arial MT"/>
              </a:rPr>
              <a:t>is</a:t>
            </a:r>
            <a:r>
              <a:rPr lang="pt-BR" spc="-25" dirty="0">
                <a:latin typeface="Arial MT"/>
                <a:cs typeface="Arial MT"/>
              </a:rPr>
              <a:t> </a:t>
            </a:r>
            <a:r>
              <a:rPr lang="pt-BR" dirty="0">
                <a:latin typeface="Arial MT"/>
                <a:cs typeface="Arial MT"/>
              </a:rPr>
              <a:t>in</a:t>
            </a:r>
            <a:r>
              <a:rPr lang="pt-BR" spc="-20" dirty="0">
                <a:latin typeface="Arial MT"/>
                <a:cs typeface="Arial MT"/>
              </a:rPr>
              <a:t> </a:t>
            </a:r>
            <a:r>
              <a:rPr lang="pt-BR" b="1" dirty="0">
                <a:solidFill>
                  <a:srgbClr val="FFC000"/>
                </a:solidFill>
                <a:latin typeface="Arial MT"/>
                <a:cs typeface="Arial MT"/>
              </a:rPr>
              <a:t>R1</a:t>
            </a:r>
            <a:endParaRPr lang="en-US" b="1" dirty="0">
              <a:solidFill>
                <a:srgbClr val="FFC000"/>
              </a:solidFill>
            </a:endParaRPr>
          </a:p>
          <a:p>
            <a:r>
              <a:rPr lang="en-US" dirty="0"/>
              <a:t>	LDR 	</a:t>
            </a:r>
            <a:r>
              <a:rPr lang="en-US" b="1" dirty="0">
                <a:solidFill>
                  <a:srgbClr val="FF0000"/>
                </a:solidFill>
              </a:rPr>
              <a:t>R0</a:t>
            </a:r>
            <a:r>
              <a:rPr lang="en-US" dirty="0"/>
              <a:t>,=0		</a:t>
            </a:r>
            <a:r>
              <a:rPr lang="en-US" spc="-10" dirty="0">
                <a:latin typeface="Calibri"/>
                <a:cs typeface="Calibri"/>
              </a:rPr>
              <a:t>// initialize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n=0</a:t>
            </a:r>
            <a:r>
              <a:rPr lang="en-US" dirty="0"/>
              <a:t>	</a:t>
            </a:r>
          </a:p>
          <a:p>
            <a:pPr fontAlgn="t"/>
            <a:r>
              <a:rPr lang="en-US" dirty="0"/>
              <a:t>	STR 	</a:t>
            </a:r>
            <a:r>
              <a:rPr lang="en-US" b="1" dirty="0">
                <a:solidFill>
                  <a:srgbClr val="FF0000"/>
                </a:solidFill>
              </a:rPr>
              <a:t>R0</a:t>
            </a:r>
            <a:r>
              <a:rPr lang="en-US" dirty="0"/>
              <a:t>,[</a:t>
            </a:r>
            <a:r>
              <a:rPr lang="en-US" b="1" dirty="0">
                <a:solidFill>
                  <a:srgbClr val="FFC000"/>
                </a:solidFill>
              </a:rPr>
              <a:t>R1</a:t>
            </a:r>
            <a:r>
              <a:rPr lang="en-US" dirty="0"/>
              <a:t>]</a:t>
            </a:r>
          </a:p>
          <a:p>
            <a:pPr fontAlgn="t"/>
            <a:endParaRPr lang="en-US" dirty="0"/>
          </a:p>
          <a:p>
            <a:pPr fontAlgn="t"/>
            <a:r>
              <a:rPr lang="en-US" b="1" dirty="0">
                <a:solidFill>
                  <a:srgbClr val="00B050"/>
                </a:solidFill>
              </a:rPr>
              <a:t>top:</a:t>
            </a:r>
            <a:r>
              <a:rPr lang="en-US" dirty="0"/>
              <a:t>	LDR 	</a:t>
            </a:r>
            <a:r>
              <a:rPr lang="en-US" b="1" dirty="0">
                <a:solidFill>
                  <a:srgbClr val="FF0000"/>
                </a:solidFill>
              </a:rPr>
              <a:t>R0</a:t>
            </a:r>
            <a:r>
              <a:rPr lang="en-US" dirty="0"/>
              <a:t>,[</a:t>
            </a:r>
            <a:r>
              <a:rPr lang="en-US" b="1" dirty="0">
                <a:solidFill>
                  <a:srgbClr val="FFC000"/>
                </a:solidFill>
              </a:rPr>
              <a:t>R1</a:t>
            </a:r>
            <a:r>
              <a:rPr lang="en-US" dirty="0"/>
              <a:t>]		</a:t>
            </a:r>
            <a:r>
              <a:rPr lang="en-US" spc="-10" dirty="0">
                <a:latin typeface="Calibri"/>
                <a:cs typeface="Calibri"/>
              </a:rPr>
              <a:t>// Load n from memory</a:t>
            </a:r>
            <a:endParaRPr lang="en-US" dirty="0"/>
          </a:p>
          <a:p>
            <a:pPr fontAlgn="t"/>
            <a:r>
              <a:rPr lang="en-US" dirty="0"/>
              <a:t>	CMP	</a:t>
            </a:r>
            <a:r>
              <a:rPr lang="en-US" b="1" dirty="0">
                <a:solidFill>
                  <a:srgbClr val="FF0000"/>
                </a:solidFill>
              </a:rPr>
              <a:t>R0</a:t>
            </a:r>
            <a:r>
              <a:rPr lang="en-US" dirty="0"/>
              <a:t>,#100</a:t>
            </a:r>
          </a:p>
          <a:p>
            <a:pPr fontAlgn="t"/>
            <a:r>
              <a:rPr lang="en-US" dirty="0"/>
              <a:t>	</a:t>
            </a:r>
            <a:r>
              <a:rPr lang="en-US" b="1" dirty="0">
                <a:solidFill>
                  <a:srgbClr val="1E02EE"/>
                </a:solidFill>
              </a:rPr>
              <a:t>BGE</a:t>
            </a:r>
            <a:r>
              <a:rPr lang="en-US" dirty="0"/>
              <a:t>	</a:t>
            </a:r>
            <a:r>
              <a:rPr lang="en-US" b="1" dirty="0"/>
              <a:t>done		</a:t>
            </a:r>
            <a:r>
              <a:rPr lang="en-US" spc="-5" dirty="0">
                <a:latin typeface="Calibri"/>
                <a:cs typeface="Calibri"/>
              </a:rPr>
              <a:t>// if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b="1" dirty="0">
                <a:solidFill>
                  <a:srgbClr val="1E02EE"/>
                </a:solidFill>
                <a:latin typeface="Calibri"/>
                <a:cs typeface="Calibri"/>
              </a:rPr>
              <a:t>&gt;=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100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done </a:t>
            </a:r>
            <a:r>
              <a:rPr lang="en-US" dirty="0">
                <a:latin typeface="Calibri"/>
                <a:cs typeface="Calibri"/>
              </a:rPr>
              <a:t>(end loop)</a:t>
            </a:r>
          </a:p>
          <a:p>
            <a:pPr fontAlgn="t"/>
            <a:r>
              <a:rPr lang="en-US" dirty="0"/>
              <a:t>	…			</a:t>
            </a:r>
          </a:p>
          <a:p>
            <a:pPr fontAlgn="t"/>
            <a:r>
              <a:rPr lang="en-US" dirty="0"/>
              <a:t>	…			</a:t>
            </a:r>
            <a:r>
              <a:rPr lang="en-US" b="1" spc="-5" dirty="0">
                <a:solidFill>
                  <a:srgbClr val="00B050"/>
                </a:solidFill>
                <a:latin typeface="Calibri"/>
                <a:cs typeface="Calibri"/>
              </a:rPr>
              <a:t>// loop body</a:t>
            </a:r>
            <a:r>
              <a:rPr lang="en-US" b="1" spc="-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lang="en-US" b="1" spc="-5" dirty="0">
                <a:solidFill>
                  <a:srgbClr val="00B050"/>
                </a:solidFill>
                <a:latin typeface="Calibri"/>
                <a:cs typeface="Calibri"/>
              </a:rPr>
              <a:t>(do something)</a:t>
            </a:r>
            <a:endParaRPr lang="en-US" dirty="0"/>
          </a:p>
          <a:p>
            <a:pPr fontAlgn="t"/>
            <a:r>
              <a:rPr lang="en-US" dirty="0"/>
              <a:t>	…</a:t>
            </a:r>
          </a:p>
          <a:p>
            <a:pPr fontAlgn="t"/>
            <a:r>
              <a:rPr lang="en-US" dirty="0"/>
              <a:t>	LDR	</a:t>
            </a:r>
            <a:r>
              <a:rPr lang="en-US" b="1" dirty="0">
                <a:solidFill>
                  <a:srgbClr val="FF0000"/>
                </a:solidFill>
              </a:rPr>
              <a:t>R0</a:t>
            </a:r>
            <a:r>
              <a:rPr lang="en-US" dirty="0"/>
              <a:t>,[</a:t>
            </a:r>
            <a:r>
              <a:rPr lang="en-US" b="1" dirty="0">
                <a:solidFill>
                  <a:srgbClr val="FFC000"/>
                </a:solidFill>
              </a:rPr>
              <a:t>R1</a:t>
            </a:r>
            <a:r>
              <a:rPr lang="en-US" dirty="0"/>
              <a:t>]</a:t>
            </a:r>
          </a:p>
          <a:p>
            <a:pPr fontAlgn="t"/>
            <a:r>
              <a:rPr lang="en-US" dirty="0"/>
              <a:t>	ADD	</a:t>
            </a:r>
            <a:r>
              <a:rPr lang="en-US" b="1" dirty="0">
                <a:solidFill>
                  <a:srgbClr val="FF0000"/>
                </a:solidFill>
              </a:rPr>
              <a:t>R0</a:t>
            </a:r>
            <a:r>
              <a:rPr lang="en-US" dirty="0"/>
              <a:t>,</a:t>
            </a:r>
            <a:r>
              <a:rPr lang="en-US" b="1" dirty="0">
                <a:solidFill>
                  <a:srgbClr val="FF0000"/>
                </a:solidFill>
              </a:rPr>
              <a:t>R0</a:t>
            </a:r>
            <a:r>
              <a:rPr lang="en-US" dirty="0"/>
              <a:t>,#1	// </a:t>
            </a:r>
            <a:r>
              <a:rPr lang="en-US" i="1" spc="-5" dirty="0">
                <a:latin typeface="Calibri"/>
                <a:cs typeface="Calibri"/>
              </a:rPr>
              <a:t>increment</a:t>
            </a:r>
            <a:r>
              <a:rPr lang="en-US" i="1" spc="-75" dirty="0">
                <a:latin typeface="Calibri"/>
                <a:cs typeface="Calibri"/>
              </a:rPr>
              <a:t> </a:t>
            </a:r>
            <a:r>
              <a:rPr lang="en-US" i="1" dirty="0">
                <a:latin typeface="Calibri"/>
                <a:cs typeface="Calibri"/>
              </a:rPr>
              <a:t>n by 1</a:t>
            </a:r>
            <a:endParaRPr lang="en-US" dirty="0"/>
          </a:p>
          <a:p>
            <a:pPr fontAlgn="t"/>
            <a:r>
              <a:rPr lang="en-US" dirty="0"/>
              <a:t>	STR	</a:t>
            </a:r>
            <a:r>
              <a:rPr lang="en-US" b="1" dirty="0">
                <a:solidFill>
                  <a:srgbClr val="FF0000"/>
                </a:solidFill>
              </a:rPr>
              <a:t>R0</a:t>
            </a:r>
            <a:r>
              <a:rPr lang="en-US" dirty="0"/>
              <a:t>,[</a:t>
            </a:r>
            <a:r>
              <a:rPr lang="en-US" b="1" dirty="0">
                <a:solidFill>
                  <a:srgbClr val="FFC000"/>
                </a:solidFill>
              </a:rPr>
              <a:t>R1</a:t>
            </a:r>
            <a:r>
              <a:rPr lang="en-US" dirty="0"/>
              <a:t>]</a:t>
            </a:r>
          </a:p>
          <a:p>
            <a:pPr fontAlgn="t"/>
            <a:r>
              <a:rPr lang="en-US" dirty="0"/>
              <a:t>	</a:t>
            </a:r>
            <a:r>
              <a:rPr lang="en-US" b="1" dirty="0">
                <a:solidFill>
                  <a:srgbClr val="00B050"/>
                </a:solidFill>
              </a:rPr>
              <a:t>B</a:t>
            </a:r>
            <a:r>
              <a:rPr lang="en-US" dirty="0"/>
              <a:t>	</a:t>
            </a:r>
            <a:r>
              <a:rPr lang="en-US" b="1" dirty="0">
                <a:solidFill>
                  <a:srgbClr val="00B050"/>
                </a:solidFill>
              </a:rPr>
              <a:t>top</a:t>
            </a:r>
            <a:r>
              <a:rPr lang="en-US" dirty="0"/>
              <a:t>		</a:t>
            </a:r>
            <a:r>
              <a:rPr lang="en-US" b="1" dirty="0">
                <a:solidFill>
                  <a:srgbClr val="00B050"/>
                </a:solidFill>
              </a:rPr>
              <a:t>// </a:t>
            </a:r>
            <a:r>
              <a:rPr lang="en-US" b="1" i="1" spc="-10" dirty="0" err="1">
                <a:solidFill>
                  <a:srgbClr val="00B050"/>
                </a:solidFill>
                <a:latin typeface="Calibri"/>
                <a:cs typeface="Calibri"/>
              </a:rPr>
              <a:t>goto</a:t>
            </a:r>
            <a:r>
              <a:rPr lang="en-US" b="1" i="1" spc="-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lang="en-US" b="1" i="1" spc="-10" dirty="0">
                <a:solidFill>
                  <a:srgbClr val="00B050"/>
                </a:solidFill>
                <a:latin typeface="Calibri"/>
                <a:cs typeface="Calibri"/>
              </a:rPr>
              <a:t>top</a:t>
            </a:r>
            <a:endParaRPr lang="en-US" b="1" dirty="0">
              <a:solidFill>
                <a:srgbClr val="00B050"/>
              </a:solidFill>
            </a:endParaRPr>
          </a:p>
          <a:p>
            <a:pPr fontAlgn="t"/>
            <a:r>
              <a:rPr lang="en-US" b="1" dirty="0"/>
              <a:t>done</a:t>
            </a:r>
            <a:r>
              <a:rPr lang="en-US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612ABE-3E1B-D906-1D3B-CC051342AD30}"/>
              </a:ext>
            </a:extLst>
          </p:cNvPr>
          <p:cNvSpPr txBox="1"/>
          <p:nvPr/>
        </p:nvSpPr>
        <p:spPr>
          <a:xfrm>
            <a:off x="707368" y="2708694"/>
            <a:ext cx="31400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 (</a:t>
            </a:r>
            <a:r>
              <a:rPr lang="pt-BR" b="1" dirty="0">
                <a:solidFill>
                  <a:srgbClr val="FF0000"/>
                </a:solidFill>
              </a:rPr>
              <a:t>n</a:t>
            </a:r>
            <a:r>
              <a:rPr lang="pt-BR" dirty="0"/>
              <a:t> = 0; </a:t>
            </a:r>
            <a:r>
              <a:rPr lang="pt-BR" b="1" dirty="0">
                <a:solidFill>
                  <a:srgbClr val="FF0000"/>
                </a:solidFill>
              </a:rPr>
              <a:t>n</a:t>
            </a:r>
            <a:r>
              <a:rPr lang="pt-BR" dirty="0"/>
              <a:t> </a:t>
            </a:r>
            <a:r>
              <a:rPr lang="pt-BR" b="1" dirty="0">
                <a:solidFill>
                  <a:srgbClr val="1E02EE"/>
                </a:solidFill>
              </a:rPr>
              <a:t>&lt;</a:t>
            </a:r>
            <a:r>
              <a:rPr lang="pt-BR" dirty="0"/>
              <a:t> 100; </a:t>
            </a:r>
            <a:r>
              <a:rPr lang="pt-BR" b="1" dirty="0">
                <a:solidFill>
                  <a:srgbClr val="FF0000"/>
                </a:solidFill>
              </a:rPr>
              <a:t>n</a:t>
            </a:r>
            <a:r>
              <a:rPr lang="pt-BR" dirty="0"/>
              <a:t>++){</a:t>
            </a:r>
          </a:p>
          <a:p>
            <a:endParaRPr lang="pt-BR" dirty="0"/>
          </a:p>
          <a:p>
            <a:r>
              <a:rPr lang="pt-BR" dirty="0">
                <a:solidFill>
                  <a:srgbClr val="00B050"/>
                </a:solidFill>
              </a:rPr>
              <a:t>    // </a:t>
            </a:r>
            <a:r>
              <a:rPr lang="en-US" b="1" i="1" spc="-5" dirty="0">
                <a:solidFill>
                  <a:srgbClr val="00B050"/>
                </a:solidFill>
                <a:latin typeface="Calibri"/>
                <a:cs typeface="Calibri"/>
              </a:rPr>
              <a:t>loop body</a:t>
            </a:r>
            <a:r>
              <a:rPr lang="en-US" b="1" i="1" spc="-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lang="en-US" b="1" i="1" spc="-5" dirty="0">
                <a:solidFill>
                  <a:srgbClr val="00B050"/>
                </a:solidFill>
                <a:latin typeface="Calibri"/>
                <a:cs typeface="Calibri"/>
              </a:rPr>
              <a:t>(do something)</a:t>
            </a:r>
          </a:p>
          <a:p>
            <a:endParaRPr lang="pt-BR" dirty="0"/>
          </a:p>
          <a:p>
            <a:r>
              <a:rPr lang="pt-BR" dirty="0"/>
              <a:t>}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8177891-2874-4E57-FABB-8CC28A8CA741}"/>
              </a:ext>
            </a:extLst>
          </p:cNvPr>
          <p:cNvCxnSpPr>
            <a:cxnSpLocks/>
          </p:cNvCxnSpPr>
          <p:nvPr/>
        </p:nvCxnSpPr>
        <p:spPr>
          <a:xfrm rot="16200000" flipV="1">
            <a:off x="3838756" y="4080293"/>
            <a:ext cx="2337758" cy="698742"/>
          </a:xfrm>
          <a:prstGeom prst="bentConnector3">
            <a:avLst>
              <a:gd name="adj1" fmla="val 553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40E27E9-A826-CFB5-D8C1-D0F7CBF5A6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27609" y="3700730"/>
            <a:ext cx="2260121" cy="2182487"/>
          </a:xfrm>
          <a:prstGeom prst="bentConnector3">
            <a:avLst>
              <a:gd name="adj1" fmla="val -763"/>
            </a:avLst>
          </a:prstGeom>
          <a:ln w="28575">
            <a:solidFill>
              <a:srgbClr val="1E02E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805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872990" y="2708296"/>
            <a:ext cx="2148840" cy="59436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72990" y="2148840"/>
            <a:ext cx="2148840" cy="59436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882208"/>
              </p:ext>
            </p:extLst>
          </p:nvPr>
        </p:nvGraphicFramePr>
        <p:xfrm>
          <a:off x="2737866" y="1779588"/>
          <a:ext cx="7072884" cy="151504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36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Compare and </a:t>
                      </a:r>
                      <a:b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</a:b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if Zero</a:t>
                      </a:r>
                      <a:endParaRPr lang="en-US" sz="1800" b="1" dirty="0">
                        <a:solidFill>
                          <a:srgbClr val="00B0F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CBZ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	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 label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to label If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=0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Compare and </a:t>
                      </a:r>
                      <a:b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</a:b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if Non-Zero</a:t>
                      </a:r>
                      <a:endParaRPr lang="en-US" sz="1800" b="1" dirty="0">
                        <a:solidFill>
                          <a:srgbClr val="92D05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CBNZ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	</a:t>
                      </a:r>
                      <a:r>
                        <a:rPr lang="en-US" sz="180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1800" baseline="-2500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 label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to label If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≠0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8548" y="725862"/>
            <a:ext cx="7297094" cy="713918"/>
          </a:xfrm>
        </p:spPr>
        <p:txBody>
          <a:bodyPr/>
          <a:lstStyle/>
          <a:p>
            <a:r>
              <a:rPr lang="en-US" dirty="0"/>
              <a:t>SPECIAL LOOP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7866" y="4171950"/>
            <a:ext cx="48620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	R0,0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CBZ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R0,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label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BEQ	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label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	R0,0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CBNZ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 R0,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label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BNE	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label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4692396" y="4179570"/>
            <a:ext cx="589788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692396" y="5284470"/>
            <a:ext cx="589788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99872" y="4039284"/>
            <a:ext cx="264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Sometimes used at the top of a while or for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9872" y="5016676"/>
            <a:ext cx="2640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Sometimes used at the bottom of a do-while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6936" y="383871"/>
            <a:ext cx="4471096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4. CBZ example(not supported).s</a:t>
            </a:r>
          </a:p>
        </p:txBody>
      </p:sp>
    </p:spTree>
    <p:extLst>
      <p:ext uri="{BB962C8B-B14F-4D97-AF65-F5344CB8AC3E}">
        <p14:creationId xmlns:p14="http://schemas.microsoft.com/office/powerpoint/2010/main" val="1018243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36260"/>
            <a:ext cx="10417284" cy="75164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92D050"/>
                </a:solidFill>
              </a:rPr>
              <a:t>DO-WHILE</a:t>
            </a:r>
            <a:r>
              <a:rPr lang="en-US" sz="3200" dirty="0"/>
              <a:t> LOOP WITH COMPOUND CONDITIONAL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835553" y="1880412"/>
            <a:ext cx="3688081" cy="1168928"/>
          </a:xfrm>
        </p:spPr>
        <p:txBody>
          <a:bodyPr>
            <a:noAutofit/>
          </a:bodyPr>
          <a:lstStyle/>
          <a:p>
            <a:pPr marL="6350" lvl="1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do{</a:t>
            </a:r>
            <a:b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loopBody</a:t>
            </a: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b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while (</a:t>
            </a:r>
            <a:r>
              <a:rPr lang="en-US" sz="1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523875" lvl="1" indent="0">
              <a:buNone/>
            </a:pPr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227012" y="4321717"/>
            <a:ext cx="4067608" cy="14390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do{</a:t>
            </a:r>
          </a:p>
          <a:p>
            <a:pPr marL="344488" indent="0">
              <a:buNone/>
              <a:tabLst>
                <a:tab pos="738188" algn="l"/>
              </a:tabLst>
            </a:pPr>
            <a:r>
              <a:rPr lang="en-US" sz="1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loopBody</a:t>
            </a: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4488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(!</a:t>
            </a:r>
            <a:r>
              <a:rPr lang="en-US" sz="1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344488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break;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while(1);</a:t>
            </a:r>
          </a:p>
          <a:p>
            <a:pPr marL="0" indent="0">
              <a:buNone/>
            </a:pPr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6204152" y="1881364"/>
            <a:ext cx="4463848" cy="1666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do{</a:t>
            </a:r>
          </a:p>
          <a:p>
            <a:pPr marL="35560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(!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continue;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 while (1);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076915" y="4418989"/>
            <a:ext cx="3105818" cy="18655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517525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L0:	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511175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(!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511175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L1;</a:t>
            </a:r>
          </a:p>
          <a:p>
            <a:pPr marL="511175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L0;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L1: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643215" y="2306409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ight Arrow 9"/>
          <p:cNvSpPr/>
          <p:nvPr/>
        </p:nvSpPr>
        <p:spPr>
          <a:xfrm rot="10800000">
            <a:off x="5406129" y="4814143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ight Arrow 10"/>
          <p:cNvSpPr/>
          <p:nvPr/>
        </p:nvSpPr>
        <p:spPr>
          <a:xfrm rot="5400000">
            <a:off x="8052435" y="3745609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35554" y="1745727"/>
            <a:ext cx="3718561" cy="14248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84570" y="1745726"/>
            <a:ext cx="4331970" cy="18021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84570" y="4246741"/>
            <a:ext cx="4331970" cy="1513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64627" y="4246741"/>
            <a:ext cx="3200401" cy="20377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8601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076" y="717509"/>
            <a:ext cx="5752471" cy="6581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</a:t>
            </a:r>
            <a:r>
              <a:rPr lang="en-US" dirty="0"/>
              <a:t> LOOPS </a:t>
            </a:r>
            <a:r>
              <a:rPr lang="en-US" sz="2800" dirty="0"/>
              <a:t>(in general)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69691" y="1533832"/>
            <a:ext cx="3937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initialization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){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7664" y="1533832"/>
            <a:ext cx="32741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initialization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while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){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update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9692" y="3446423"/>
            <a:ext cx="3244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initialization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L1: 	if (!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L2;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L1;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L2: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7664" y="3870797"/>
            <a:ext cx="32741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initialization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while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){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(!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break;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update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54992" y="2503489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ight Arrow 14"/>
          <p:cNvSpPr/>
          <p:nvPr/>
        </p:nvSpPr>
        <p:spPr>
          <a:xfrm rot="10800000">
            <a:off x="5943599" y="5175012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ight Arrow 15"/>
          <p:cNvSpPr/>
          <p:nvPr/>
        </p:nvSpPr>
        <p:spPr>
          <a:xfrm rot="5400000">
            <a:off x="8446153" y="3499709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38223" y="1480493"/>
            <a:ext cx="3937819" cy="13909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730182" y="1463040"/>
            <a:ext cx="3421625" cy="19739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58201" y="3984818"/>
            <a:ext cx="3421625" cy="2520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69693" y="3307653"/>
            <a:ext cx="3421625" cy="28565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04958" y="383871"/>
            <a:ext cx="2784737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 Stupid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loop.s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8302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8706" y="640043"/>
            <a:ext cx="9484546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For</a:t>
            </a:r>
            <a:r>
              <a:rPr sz="4400" spc="-10" dirty="0"/>
              <a:t> </a:t>
            </a:r>
            <a:r>
              <a:rPr sz="4400" spc="-5" dirty="0"/>
              <a:t>Loops </a:t>
            </a:r>
            <a:r>
              <a:rPr sz="4400" spc="-15" dirty="0"/>
              <a:t>Example</a:t>
            </a:r>
            <a:endParaRPr sz="4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627997"/>
              </p:ext>
            </p:extLst>
          </p:nvPr>
        </p:nvGraphicFramePr>
        <p:xfrm>
          <a:off x="2054285" y="1236414"/>
          <a:ext cx="7012932" cy="1235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9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750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57044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</a:pPr>
                      <a:r>
                        <a:rPr lang="en-US" sz="2000" b="1" spc="-5" dirty="0">
                          <a:latin typeface="Courier New"/>
                          <a:cs typeface="Courier New"/>
                        </a:rPr>
                        <a:t>x =</a:t>
                      </a:r>
                      <a:endParaRPr sz="20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480"/>
                        </a:lnSpc>
                      </a:pPr>
                      <a:r>
                        <a:rPr lang="en-US" sz="2000" b="1" spc="-5" dirty="0">
                          <a:latin typeface="Courier New"/>
                          <a:cs typeface="Courier New"/>
                        </a:rPr>
                        <a:t>0;</a:t>
                      </a:r>
                      <a:endParaRPr sz="20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44">
                <a:tc>
                  <a:txBody>
                    <a:bodyPr/>
                    <a:lstStyle/>
                    <a:p>
                      <a:pPr marL="31750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for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(y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=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1;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&lt;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1000;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2*y)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+=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y;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 gridSpan="3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//assume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&amp;x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gridSpan="2"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 marR="317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R2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gridSpan="2"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&amp;y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gridSpan="2"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R3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02369" y="2403818"/>
          <a:ext cx="2820035" cy="4272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18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305"/>
                        </a:lnSpc>
                      </a:pP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LDR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148590" marR="291465" algn="just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STR </a:t>
                      </a:r>
                      <a:r>
                        <a:rPr sz="1600" spc="-4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16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  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305"/>
                        </a:lnSpc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R0,=0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215265" marR="19875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]  R0,=1 </a:t>
                      </a:r>
                      <a:r>
                        <a:rPr sz="16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85"/>
                        </a:lnSpc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Top: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LDR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R0,[R3]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R0,1000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BGE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10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Done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LDR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R1,[R2]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ADD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R1,R1,R0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STR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R1,[R2]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LSL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R0,R0,1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STR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R0,[R3]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dirty="0">
                          <a:solidFill>
                            <a:srgbClr val="C0504D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65" dirty="0">
                          <a:solidFill>
                            <a:srgbClr val="C0504D"/>
                          </a:solidFill>
                          <a:latin typeface="Calibri"/>
                          <a:cs typeface="Calibri"/>
                        </a:rPr>
                        <a:t>Top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429">
                <a:tc>
                  <a:txBody>
                    <a:bodyPr/>
                    <a:lstStyle/>
                    <a:p>
                      <a:pPr marL="3175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Done: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430091" y="2809747"/>
            <a:ext cx="1965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initialize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x=0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y=1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0090" y="3836923"/>
            <a:ext cx="1281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&gt;=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1000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?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6352" y="4934205"/>
            <a:ext cx="2785110" cy="143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Accumulate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x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values in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Multiply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back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 loop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4958" y="383871"/>
            <a:ext cx="2874505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8.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SpecialLoop.s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1782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53203"/>
            <a:ext cx="8199463" cy="782830"/>
          </a:xfrm>
        </p:spPr>
        <p:txBody>
          <a:bodyPr>
            <a:normAutofit/>
          </a:bodyPr>
          <a:lstStyle/>
          <a:p>
            <a:r>
              <a:rPr lang="en-US" dirty="0"/>
              <a:t>Ex: Factorial </a:t>
            </a:r>
            <a:r>
              <a:rPr lang="en-US" i="1" dirty="0"/>
              <a:t>(Example of a for loop)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B67AA-D41B-45C2-9A6A-8EF5B57385E3}"/>
              </a:ext>
            </a:extLst>
          </p:cNvPr>
          <p:cNvSpPr/>
          <p:nvPr/>
        </p:nvSpPr>
        <p:spPr>
          <a:xfrm>
            <a:off x="936516" y="1536033"/>
            <a:ext cx="10417284" cy="45243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Factorial:				// uint32_t Factorial(uint32_t n) {</a:t>
            </a: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// R0=n, R1=result	    //     uint32_t result;</a:t>
            </a: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  <a:tab pos="6400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LDR	R1,=1	    //     result = 1;	//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initialization</a:t>
            </a: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  <a:tab pos="64008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Times New Roman" panose="02020603050405020304" pitchFamily="18" charset="0"/>
            </a:endParaRP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  <a:tab pos="6400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Times New Roman" panose="02020603050405020304" pitchFamily="18" charset="0"/>
              </a:rPr>
              <a:t>top:		CMP	R0,0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    //     while (n != 0) { //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condition</a:t>
            </a: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  <a:tab pos="4572000" algn="l"/>
                <a:tab pos="6400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Times New Roman" panose="02020603050405020304" pitchFamily="18" charset="0"/>
              </a:rPr>
              <a:t>		BEQ	done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//		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		MUL	R1,R1,R0 	//         result *= n ;	//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loopBody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SUB	R0,R0,#1  	//         n = n – 1 ;	//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update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B	top		//     }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done:		MOV 	R0,R1		// 	return result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BX	LR		// }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4958" y="383871"/>
            <a:ext cx="2512226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5.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Factorial.s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8308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28495" y="729140"/>
            <a:ext cx="9755547" cy="710640"/>
          </a:xfrm>
        </p:spPr>
        <p:txBody>
          <a:bodyPr>
            <a:normAutofit/>
          </a:bodyPr>
          <a:lstStyle/>
          <a:p>
            <a:r>
              <a:rPr lang="en-US" sz="2800" dirty="0"/>
              <a:t>Ex: Greatest Common Divisor </a:t>
            </a:r>
            <a:r>
              <a:rPr lang="en-US" sz="2800" i="1" dirty="0"/>
              <a:t>(Example of a while loop)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A25BC-A101-4F84-8E30-92C0A3624BF0}"/>
              </a:ext>
            </a:extLst>
          </p:cNvPr>
          <p:cNvSpPr/>
          <p:nvPr/>
        </p:nvSpPr>
        <p:spPr>
          <a:xfrm>
            <a:off x="928494" y="1707989"/>
            <a:ext cx="10425305" cy="3693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gcd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			// uint32_t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gcd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(uint32_t u1, uint32_t u2)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//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	CMP	R0,R1	//	while (u1 != u2) 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BEQ	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//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ITE	HI	//		if (u1 &gt; u2)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  <a:tab pos="49133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SUBHI	R0,R0,R1	//			u1 = u1 – u2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  <a:tab pos="49133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//		else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SUBLS	R1,R1,R0	//			u2 = u2 – u1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gcd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//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done: BX	LR	//	return u1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//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58" y="383871"/>
            <a:ext cx="2111475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6. GCD.s</a:t>
            </a:r>
          </a:p>
        </p:txBody>
      </p:sp>
    </p:spTree>
    <p:extLst>
      <p:ext uri="{BB962C8B-B14F-4D97-AF65-F5344CB8AC3E}">
        <p14:creationId xmlns:p14="http://schemas.microsoft.com/office/powerpoint/2010/main" val="38979729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0527" y="717175"/>
            <a:ext cx="9278294" cy="716131"/>
          </a:xfrm>
        </p:spPr>
        <p:txBody>
          <a:bodyPr>
            <a:normAutofit/>
          </a:bodyPr>
          <a:lstStyle/>
          <a:p>
            <a:r>
              <a:rPr lang="en-US" dirty="0"/>
              <a:t>Create 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32" y="271736"/>
            <a:ext cx="1604927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69264" y="266298"/>
            <a:ext cx="3927678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Implement with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38763" y="-66177"/>
            <a:ext cx="4512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https://cpulator.01xz.net/?sys=arm-de1soc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16" y="2391116"/>
            <a:ext cx="3646810" cy="127366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826" y="2710346"/>
            <a:ext cx="6863622" cy="13716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54895" y="4668057"/>
            <a:ext cx="43547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a loop: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Counts up from 0x0 to 0xfffff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counts down from 0xfffff to 0x0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counts from 0x0 to 0x1000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store this counter into 0xff200020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6221" y="788935"/>
            <a:ext cx="2613216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9.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Excercise.s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283" y="5237477"/>
            <a:ext cx="2887083" cy="5774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09721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85928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68805" y="2413838"/>
            <a:ext cx="73152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LDR	R0,=a64	// R0 &lt;-- &amp;a64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LDRD	R0,R1,[R0]	// get a64 (R0=LS Half; R1=MS Half)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LDR	R2,=b64	// R2 &lt;-- &amp;b64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LDRD	R2,R3,[R2]	// get b64 (R2=LS Half; R3=MS Half)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CMP	R1,R3	// compare most-significant halves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BGT	L1	//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use BHI if operands are unsigned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BLT	L2	//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use BLO if operands are unsigned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CMP	R0,R2	// MS halves ==, compare LS halves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BLS	L2	//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use BLS for both signed and unsigned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			// a64 &gt; b64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B	L3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L2:			// a64 &lt;= b64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+mn-ea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L3:	...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97480" y="4888603"/>
            <a:ext cx="1447800" cy="355910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852854"/>
            <a:ext cx="1447800" cy="341971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7" y="723315"/>
            <a:ext cx="9502885" cy="735412"/>
          </a:xfrm>
        </p:spPr>
        <p:txBody>
          <a:bodyPr>
            <a:normAutofit/>
          </a:bodyPr>
          <a:lstStyle/>
          <a:p>
            <a:r>
              <a:rPr lang="en-US" dirty="0"/>
              <a:t>COMPARING 64-BIT INTEGERS </a:t>
            </a:r>
            <a:r>
              <a:rPr lang="en-US" i="1" dirty="0"/>
              <a:t>Method #1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19808" y="1654659"/>
            <a:ext cx="7315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(a64 &gt; b64)                  else C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Rectangle 34"/>
          <p:cNvSpPr>
            <a:spLocks noChangeArrowheads="1"/>
          </p:cNvSpPr>
          <p:nvPr/>
        </p:nvSpPr>
        <p:spPr bwMode="auto">
          <a:xfrm>
            <a:off x="4518280" y="1673652"/>
            <a:ext cx="1448921" cy="329222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6802554" y="1673652"/>
            <a:ext cx="1448921" cy="329222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else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450106" y="4951675"/>
            <a:ext cx="4109610" cy="1015663"/>
            <a:chOff x="1447800" y="4673768"/>
            <a:chExt cx="4574849" cy="1015663"/>
          </a:xfrm>
        </p:grpSpPr>
        <p:sp>
          <p:nvSpPr>
            <p:cNvPr id="12" name="TextBox 11"/>
            <p:cNvSpPr txBox="1"/>
            <p:nvPr/>
          </p:nvSpPr>
          <p:spPr>
            <a:xfrm>
              <a:off x="1447800" y="4673768"/>
              <a:ext cx="4574849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This solution is based on comparing digits in a most-to-least significant order.</a:t>
              </a:r>
            </a:p>
          </p:txBody>
        </p:sp>
        <p:pic>
          <p:nvPicPr>
            <p:cNvPr id="13" name="Picture 12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/>
          <p:cNvSpPr/>
          <p:nvPr/>
        </p:nvSpPr>
        <p:spPr>
          <a:xfrm>
            <a:off x="2619808" y="3485708"/>
            <a:ext cx="6059372" cy="24928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19808" y="4218692"/>
            <a:ext cx="6059372" cy="24928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Curved Right Arrow 14"/>
          <p:cNvSpPr/>
          <p:nvPr/>
        </p:nvSpPr>
        <p:spPr>
          <a:xfrm>
            <a:off x="1981201" y="1836988"/>
            <a:ext cx="504825" cy="73307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6955302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41E4-3FE4-305A-5EE8-02B2CD55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7" y="744288"/>
            <a:ext cx="8291705" cy="663407"/>
          </a:xfrm>
        </p:spPr>
        <p:txBody>
          <a:bodyPr>
            <a:normAutofit/>
          </a:bodyPr>
          <a:lstStyle/>
          <a:p>
            <a:r>
              <a:rPr lang="en-US" dirty="0"/>
              <a:t>Using 64-bit Subtraction to Compare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A98-D4B2-8441-27EC-668B0A1BBE35}"/>
              </a:ext>
            </a:extLst>
          </p:cNvPr>
          <p:cNvSpPr txBox="1"/>
          <p:nvPr/>
        </p:nvSpPr>
        <p:spPr>
          <a:xfrm>
            <a:off x="1981200" y="3020444"/>
            <a:ext cx="85601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Although a CMP instruction is simply a subtraction that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discards the difference and is only used to set the flags,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we can’t always simply use a 64-bit subtraction to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implememt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a 64-bit compare: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...		   	// load operands as before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SUBS	R0,R0,R2	// subtract LS halves, capture borrow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SBCS	R1,R1,R3	// subtract MS halves w/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brw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; set flags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BGT	...	   	// this depends on Z flag and may fail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N, C and V flags are correct, but Z is not.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Z only depends here on whether or not R1 is all zeroes.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70AD6A-4EA4-469D-1721-6797BD7FE91E}"/>
              </a:ext>
            </a:extLst>
          </p:cNvPr>
          <p:cNvGrpSpPr/>
          <p:nvPr/>
        </p:nvGrpSpPr>
        <p:grpSpPr>
          <a:xfrm>
            <a:off x="3311765" y="1766715"/>
            <a:ext cx="5234666" cy="1015663"/>
            <a:chOff x="1148633" y="4661236"/>
            <a:chExt cx="5827271" cy="101566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5F3740-70A7-3DE3-FC78-6987B5F3948E}"/>
                </a:ext>
              </a:extLst>
            </p:cNvPr>
            <p:cNvSpPr txBox="1"/>
            <p:nvPr/>
          </p:nvSpPr>
          <p:spPr>
            <a:xfrm>
              <a:off x="1148633" y="4661236"/>
              <a:ext cx="5827271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Speeding up 64-bit compares: A straight-line code sequence is always faster than one that involves branching!</a:t>
              </a:r>
            </a:p>
          </p:txBody>
        </p:sp>
        <p:pic>
          <p:nvPicPr>
            <p:cNvPr id="6" name="Picture 5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86992F60-796F-446E-4A47-C672492669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24088" y="474996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/>
          <p:cNvSpPr txBox="1"/>
          <p:nvPr/>
        </p:nvSpPr>
        <p:spPr>
          <a:xfrm rot="19574008">
            <a:off x="1272921" y="3158299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41402793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41E4-3FE4-305A-5EE8-02B2CD55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537" y="733286"/>
            <a:ext cx="7513663" cy="1144151"/>
          </a:xfrm>
        </p:spPr>
        <p:txBody>
          <a:bodyPr>
            <a:normAutofit/>
          </a:bodyPr>
          <a:lstStyle/>
          <a:p>
            <a:r>
              <a:rPr lang="en-US" dirty="0"/>
              <a:t>COMPARING 64-BIT INTEGERS</a:t>
            </a:r>
            <a:br>
              <a:rPr lang="en-US" dirty="0"/>
            </a:br>
            <a:r>
              <a:rPr lang="en-US" i="1" dirty="0"/>
              <a:t>Method #2: When Z is not needed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A98-D4B2-8441-27EC-668B0A1BBE35}"/>
              </a:ext>
            </a:extLst>
          </p:cNvPr>
          <p:cNvSpPr txBox="1"/>
          <p:nvPr/>
        </p:nvSpPr>
        <p:spPr>
          <a:xfrm>
            <a:off x="1515979" y="2461606"/>
            <a:ext cx="8560106" cy="246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Using a 64-bit subtraction is OK if compare doesn’t need Z: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Load operands as 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SUBS	R0,R0,R2	// subtract LS halves, capture borrow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SBCS	R1,R1,R3	// subtract MS halves w/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brw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; set flags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 OK to test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buntu Mono" panose="020B0509030602030204" pitchFamily="49" charset="0"/>
                <a:ea typeface="MS Mincho" panose="02020609040205080304" pitchFamily="49" charset="-128"/>
                <a:cs typeface="+mn-cs"/>
              </a:rPr>
              <a:t>GE,LT,HS,LO,MI,PL,VS,VC,AL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buntu Mono" panose="020B0509030602030204" pitchFamily="49" charset="0"/>
                <a:ea typeface="MS Mincho" panose="02020609040205080304" pitchFamily="49" charset="-128"/>
                <a:cs typeface="+mn-cs"/>
              </a:rPr>
              <a:t>				// but EQ,NE,GT,LE,HI,LS won’t work!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D92FB-6674-E60D-6308-D1382A539BBD}"/>
              </a:ext>
            </a:extLst>
          </p:cNvPr>
          <p:cNvSpPr txBox="1"/>
          <p:nvPr/>
        </p:nvSpPr>
        <p:spPr>
          <a:xfrm>
            <a:off x="1617402" y="5238956"/>
            <a:ext cx="821640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Note: SUBS R0,R0,R2 may be replaced by CMP R0,R2 to avoid modifying R0. </a:t>
            </a:r>
          </a:p>
        </p:txBody>
      </p:sp>
      <p:sp>
        <p:nvSpPr>
          <p:cNvPr id="5" name="TextBox 4"/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0873959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146" y="725129"/>
            <a:ext cx="7662359" cy="1144151"/>
          </a:xfrm>
        </p:spPr>
        <p:txBody>
          <a:bodyPr>
            <a:normAutofit/>
          </a:bodyPr>
          <a:lstStyle/>
          <a:p>
            <a:r>
              <a:rPr lang="en-US" dirty="0"/>
              <a:t>COMPARING 64-BIT INTEGERS</a:t>
            </a:r>
            <a:br>
              <a:rPr lang="en-US" dirty="0"/>
            </a:br>
            <a:r>
              <a:rPr lang="en-US" i="1" dirty="0"/>
              <a:t>Method #2: Special Case (EQ, NE)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D20D2-4B37-258E-FF73-507D2D96FDCF}"/>
              </a:ext>
            </a:extLst>
          </p:cNvPr>
          <p:cNvSpPr txBox="1"/>
          <p:nvPr/>
        </p:nvSpPr>
        <p:spPr>
          <a:xfrm>
            <a:off x="1689736" y="2228137"/>
            <a:ext cx="7915620" cy="2619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 If simply testing for equality (EQ) or inequality (NE),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 the following is the most efficient solution: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 panose="020B060402020202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load operands as before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SUBS	R0,R0,R2	// compute LS half of difference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SBC		R1,R1,R3	// compute MS half of difference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ORRS	R12,R0,R1	// Z=1 iff both halves are zero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Now OK to test for EQ or 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B6B5C-E77C-2A24-3F1F-3DE25B287499}"/>
              </a:ext>
            </a:extLst>
          </p:cNvPr>
          <p:cNvSpPr txBox="1"/>
          <p:nvPr/>
        </p:nvSpPr>
        <p:spPr>
          <a:xfrm>
            <a:off x="1431057" y="5567820"/>
            <a:ext cx="81743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Note: SUBS R0,R0,R2 may be replaced by CMP R0,R2 to avoid modifying R0. </a:t>
            </a:r>
          </a:p>
        </p:txBody>
      </p:sp>
      <p:sp>
        <p:nvSpPr>
          <p:cNvPr id="6" name="TextBox 5"/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1460968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CED14C-3D64-2117-07AF-285A37305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64" y="75991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64-BIT INTEGERS</a:t>
            </a:r>
            <a:br>
              <a:rPr lang="en-US" dirty="0"/>
            </a:br>
            <a:r>
              <a:rPr lang="en-US" i="1" dirty="0"/>
              <a:t>Method #2: Special Case (GT,LE,HI,LS)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14A69-2A3E-36AD-F70C-CFE7D012EF38}"/>
              </a:ext>
            </a:extLst>
          </p:cNvPr>
          <p:cNvSpPr txBox="1"/>
          <p:nvPr/>
        </p:nvSpPr>
        <p:spPr>
          <a:xfrm>
            <a:off x="1565410" y="2252200"/>
            <a:ext cx="7915620" cy="2773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 NOTES:	(1) x &lt;= y is equivalent to y &gt;= x, and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		(2) &lt;= (LE/LS) requires testing Z (can’t use!)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		(3) &gt;= (GE/HS) does NOT test Z (an alternative)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Load operands as 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SUBS	R2,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R2,R0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	// subtract LS halves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reversed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SBCS	R3,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R3,R1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	// subtract MS halves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reversed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Replace LE/GT by GE/LT, or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Replace LS/HI by HS/LO.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E9B92-31E6-6CC2-E728-24A0E0732AC7}"/>
              </a:ext>
            </a:extLst>
          </p:cNvPr>
          <p:cNvSpPr txBox="1"/>
          <p:nvPr/>
        </p:nvSpPr>
        <p:spPr>
          <a:xfrm>
            <a:off x="1641465" y="5640009"/>
            <a:ext cx="839688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Note: SUBS R2,R2,R0 may be replaced by CMP R2,R0 to avoid modifying R2. </a:t>
            </a:r>
          </a:p>
        </p:txBody>
      </p:sp>
      <p:sp>
        <p:nvSpPr>
          <p:cNvPr id="7" name="TextBox 6"/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6879861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"/>
          <p:cNvSpPr>
            <a:spLocks noChangeArrowheads="1"/>
          </p:cNvSpPr>
          <p:nvPr/>
        </p:nvSpPr>
        <p:spPr bwMode="auto">
          <a:xfrm>
            <a:off x="5791200" y="1368484"/>
            <a:ext cx="1524000" cy="330241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349190" y="1360170"/>
            <a:ext cx="36096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&gt;= –100 &amp;&amp; x &lt;= +100)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49241"/>
            <a:ext cx="6270400" cy="592315"/>
          </a:xfrm>
        </p:spPr>
        <p:txBody>
          <a:bodyPr/>
          <a:lstStyle/>
          <a:p>
            <a:r>
              <a:rPr lang="en-US" dirty="0"/>
              <a:t>COMPOUND LOGICAL AND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853334" y="2275582"/>
            <a:ext cx="547710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(!(x &gt;= –100 &amp;&amp; x &lt;= +100))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L1 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0375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	...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2412598" y="2625036"/>
            <a:ext cx="1386351" cy="37831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883814" y="3733800"/>
            <a:ext cx="517230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&lt; –100 || x &gt; +100)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L1 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0375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	...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2417214" y="4083254"/>
            <a:ext cx="1538751" cy="37831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79198" y="5346838"/>
            <a:ext cx="364830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&lt; –100)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L1 ;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&gt; +100)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L1 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0375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	...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auto">
          <a:xfrm>
            <a:off x="2412598" y="5975107"/>
            <a:ext cx="1538751" cy="434068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499861" y="4686300"/>
                <a:ext cx="3886201" cy="1969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 pitchFamily="18" charset="0"/>
                    <a:cs typeface="Consolas" pitchFamily="49" charset="0"/>
                  </a:rPr>
                  <a:t>LDR R0,[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49" charset="0"/>
                      </a:rPr>
                      <m:t>⋯</m:t>
                    </m:r>
                  </m:oMath>
                </a14:m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 pitchFamily="18" charset="0"/>
                    <a:cs typeface="Consolas" pitchFamily="49" charset="0"/>
                  </a:rPr>
                  <a:t>]  // R0 &lt;-- x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CMP	R0,-100	// if (x &lt; –100)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BLT	L1	//  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goto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 L1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CMP	R0,100	// if (x &gt; +100)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BGT	L1	//  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goto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 L1</a:t>
                </a:r>
              </a:p>
              <a:p>
                <a:pPr marL="4572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</a:t>
                </a:r>
              </a:p>
              <a:p>
                <a:pPr marL="317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L1:	...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861" y="4686300"/>
                <a:ext cx="3886201" cy="1969770"/>
              </a:xfrm>
              <a:prstGeom prst="rect">
                <a:avLst/>
              </a:prstGeom>
              <a:blipFill>
                <a:blip r:embed="rId2"/>
                <a:stretch>
                  <a:fillRect l="-627" t="-1238" b="-2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7078981" y="5967755"/>
            <a:ext cx="1630115" cy="413277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3" name="Right Arrow 12"/>
          <p:cNvSpPr/>
          <p:nvPr/>
        </p:nvSpPr>
        <p:spPr>
          <a:xfrm rot="5400000">
            <a:off x="3293397" y="1797306"/>
            <a:ext cx="376203" cy="384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ight Arrow 13"/>
          <p:cNvSpPr/>
          <p:nvPr/>
        </p:nvSpPr>
        <p:spPr>
          <a:xfrm rot="5400000">
            <a:off x="3297207" y="3287016"/>
            <a:ext cx="376203" cy="384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ight Arrow 14"/>
          <p:cNvSpPr/>
          <p:nvPr/>
        </p:nvSpPr>
        <p:spPr>
          <a:xfrm rot="5400000">
            <a:off x="3289587" y="4833876"/>
            <a:ext cx="376203" cy="384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120050" y="4950940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62742" y="2334865"/>
            <a:ext cx="2755503" cy="22890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98948" y="1811477"/>
            <a:ext cx="589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Invert the entire condition so the if controls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8948" y="3210850"/>
            <a:ext cx="510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DeMorgan’s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Law to replace &amp;&amp; by ||.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8948" y="4598842"/>
            <a:ext cx="2468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Separate the conditions as we did before.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9006" y="4039970"/>
            <a:ext cx="283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 statements now  easily map 1-to-1 into assembly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62742" y="3800655"/>
            <a:ext cx="2250279" cy="21609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60168" y="5358471"/>
            <a:ext cx="2752853" cy="60928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5DA1F1-7D1D-F2B0-060F-07E6FD2F7464}"/>
              </a:ext>
            </a:extLst>
          </p:cNvPr>
          <p:cNvSpPr txBox="1"/>
          <p:nvPr/>
        </p:nvSpPr>
        <p:spPr>
          <a:xfrm>
            <a:off x="2430273" y="111584"/>
            <a:ext cx="47355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Something wrong!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828245-0F33-92A8-0D46-518893872F8D}"/>
              </a:ext>
            </a:extLst>
          </p:cNvPr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661003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0"/>
          <p:cNvSpPr>
            <a:spLocks noChangeArrowheads="1"/>
          </p:cNvSpPr>
          <p:nvPr/>
        </p:nvSpPr>
        <p:spPr bwMode="auto">
          <a:xfrm>
            <a:off x="5083306" y="1493581"/>
            <a:ext cx="16002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339508" y="1459827"/>
            <a:ext cx="57021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&lt; –100 || x &gt; +100) 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56694"/>
            <a:ext cx="5957578" cy="667833"/>
          </a:xfrm>
        </p:spPr>
        <p:txBody>
          <a:bodyPr/>
          <a:lstStyle/>
          <a:p>
            <a:r>
              <a:rPr lang="en-US" dirty="0"/>
              <a:t>COMPOUND LOGICAL OR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39508" y="2248351"/>
            <a:ext cx="381999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&lt; –100)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 L1 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&gt; +100)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 L1 ;</a:t>
            </a: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 L2 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	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L2: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...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1"/>
          <p:cNvSpPr>
            <a:spLocks noChangeArrowheads="1"/>
          </p:cNvSpPr>
          <p:nvPr/>
        </p:nvSpPr>
        <p:spPr bwMode="auto">
          <a:xfrm>
            <a:off x="2127766" y="3099172"/>
            <a:ext cx="1583941" cy="380945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>
                <a:spLocks noChangeArrowheads="1"/>
              </p:cNvSpPr>
              <p:nvPr/>
            </p:nvSpPr>
            <p:spPr bwMode="auto">
              <a:xfrm>
                <a:off x="5496217" y="4331884"/>
                <a:ext cx="4191000" cy="23083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 pitchFamily="18" charset="0"/>
                    <a:cs typeface="Consolas" pitchFamily="49" charset="0"/>
                  </a:rPr>
                  <a:t>	 LDR	 R0,[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49" charset="0"/>
                      </a:rPr>
                      <m:t>⋯</m:t>
                    </m:r>
                  </m:oMath>
                </a14:m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 pitchFamily="18" charset="0"/>
                    <a:cs typeface="Consolas" pitchFamily="49" charset="0"/>
                  </a:rPr>
                  <a:t>] 	// R0 &lt;-- x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	 CMP	 R0,-100	// if (x &lt;  –100)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	 BLT	 L1	//  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goto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 L1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	 CMP	 R0,100	// if (x &lt;= +100)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	 BLE	 L2	//  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goto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 L2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L1: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 		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L2:	...</a:t>
                </a:r>
              </a:p>
            </p:txBody>
          </p:sp>
        </mc:Choice>
        <mc:Fallback xmlns="">
          <p:sp>
            <p:nvSpPr>
              <p:cNvPr id="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6217" y="4331884"/>
                <a:ext cx="4191000" cy="2308324"/>
              </a:xfrm>
              <a:prstGeom prst="rect">
                <a:avLst/>
              </a:prstGeom>
              <a:blipFill>
                <a:blip r:embed="rId2"/>
                <a:stretch>
                  <a:fillRect l="-873" t="-794" r="-728" b="-26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6240119" y="5686954"/>
            <a:ext cx="1600200" cy="3810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339508" y="4625026"/>
            <a:ext cx="381999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&lt;  –100)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 L1 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&lt;= +100)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 L2 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	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L2: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...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31"/>
          <p:cNvSpPr>
            <a:spLocks noChangeArrowheads="1"/>
          </p:cNvSpPr>
          <p:nvPr/>
        </p:nvSpPr>
        <p:spPr bwMode="auto">
          <a:xfrm>
            <a:off x="2029118" y="5215812"/>
            <a:ext cx="1583941" cy="380945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29118" y="2248352"/>
            <a:ext cx="3054189" cy="80129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49115" y="2447355"/>
            <a:ext cx="3964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condition per statement, each controlling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cxnSp>
        <p:nvCxnSpPr>
          <p:cNvPr id="13" name="Straight Arrow Connector 12"/>
          <p:cNvCxnSpPr>
            <a:endCxn id="11" idx="3"/>
          </p:cNvCxnSpPr>
          <p:nvPr/>
        </p:nvCxnSpPr>
        <p:spPr>
          <a:xfrm flipH="1" flipV="1">
            <a:off x="5083307" y="2648997"/>
            <a:ext cx="637701" cy="5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45896" y="3866340"/>
            <a:ext cx="3350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last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eliminated by reversing the last compare.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917561" y="4472280"/>
            <a:ext cx="140257" cy="5127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29118" y="4602840"/>
            <a:ext cx="3054189" cy="59157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59678" y="3786887"/>
            <a:ext cx="535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 statements now  easily map 1-to-1 into assembly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402157" y="4810567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ight Arrow 27"/>
          <p:cNvSpPr/>
          <p:nvPr/>
        </p:nvSpPr>
        <p:spPr>
          <a:xfrm rot="5400000">
            <a:off x="2575504" y="1828383"/>
            <a:ext cx="376203" cy="384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ight Arrow 28"/>
          <p:cNvSpPr/>
          <p:nvPr/>
        </p:nvSpPr>
        <p:spPr>
          <a:xfrm rot="5400000">
            <a:off x="2545153" y="3976503"/>
            <a:ext cx="376203" cy="384344"/>
          </a:xfrm>
          <a:prstGeom prst="rightArrow">
            <a:avLst>
              <a:gd name="adj1" fmla="val 6189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77607" y="3033181"/>
            <a:ext cx="3743799" cy="778172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83405" y="3103965"/>
            <a:ext cx="493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When you see this pattern, you can reduce the number of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by one.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5083306" y="3192453"/>
            <a:ext cx="637702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2740E5-D299-4718-4484-A139419259EC}"/>
              </a:ext>
            </a:extLst>
          </p:cNvPr>
          <p:cNvSpPr txBox="1"/>
          <p:nvPr/>
        </p:nvSpPr>
        <p:spPr>
          <a:xfrm>
            <a:off x="2430273" y="111584"/>
            <a:ext cx="47355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Something wrong!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0885A8-9CB0-7ECB-4CF0-01BC493A49DB}"/>
              </a:ext>
            </a:extLst>
          </p:cNvPr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149590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4BA2-D117-4AA6-A282-DA1A5E1DC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58" y="741172"/>
            <a:ext cx="7256989" cy="714650"/>
          </a:xfrm>
        </p:spPr>
        <p:txBody>
          <a:bodyPr/>
          <a:lstStyle/>
          <a:p>
            <a:r>
              <a:rPr lang="en-US" dirty="0"/>
              <a:t>IT BLOCK LIMITATIONS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664ED-357D-4938-9586-523FCA516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58" y="1722543"/>
            <a:ext cx="10389210" cy="49228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b="1" u="sng" dirty="0">
                <a:solidFill>
                  <a:schemeClr val="tx1"/>
                </a:solidFill>
              </a:rPr>
              <a:t>16-bit</a:t>
            </a:r>
            <a:r>
              <a:rPr lang="en-US" dirty="0">
                <a:solidFill>
                  <a:schemeClr val="tx1"/>
                </a:solidFill>
              </a:rPr>
              <a:t> instructions inside an IT block never affect the flags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(except CMP, CMN and TST). </a:t>
            </a:r>
          </a:p>
          <a:p>
            <a:pPr marL="514350" indent="-514350">
              <a:buFont typeface="+mj-lt"/>
              <a:buAutoNum type="arabicPeriod" startAt="6"/>
            </a:pPr>
            <a:endParaRPr lang="en-US" dirty="0"/>
          </a:p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</a:rPr>
              <a:t>Thus inside an IT block, the assembler: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Replaces a instructions like “ADD R0,R0,1” by “ADDS R0,R0,1”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Replaces a 16-bit instruction like “ADDS R0,R0,1” by the equivalent 32-bit instruction.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Issues a syntax error for 16-bit instructions such as “MULS R0,R1,R2” that have no 32-bit equivalent.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BBFEB-7C1C-CF5F-1092-FEF5A6FB2699}"/>
              </a:ext>
            </a:extLst>
          </p:cNvPr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2539404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25129"/>
            <a:ext cx="8580463" cy="770798"/>
          </a:xfrm>
        </p:spPr>
        <p:txBody>
          <a:bodyPr>
            <a:normAutofit/>
          </a:bodyPr>
          <a:lstStyle/>
          <a:p>
            <a:r>
              <a:rPr lang="en-US" dirty="0"/>
              <a:t>Using IT Blocks to Reduce Code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25" y="1788528"/>
            <a:ext cx="9170011" cy="1488072"/>
          </a:xfrm>
        </p:spPr>
        <p:txBody>
          <a:bodyPr>
            <a:normAutofit/>
          </a:bodyPr>
          <a:lstStyle/>
          <a:p>
            <a:pPr lvl="1">
              <a:spcBef>
                <a:spcPts val="1800"/>
              </a:spcBef>
            </a:pPr>
            <a:r>
              <a:rPr lang="en-US" dirty="0">
                <a:solidFill>
                  <a:schemeClr val="tx1"/>
                </a:solidFill>
              </a:rPr>
              <a:t>MUL and ADD are 32-bits (4 bytes) outside of an IT block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MUL and ADD are 16-bits (2 bytes) inside an IT block</a:t>
            </a:r>
          </a:p>
          <a:p>
            <a:pPr marL="742950" lvl="2" indent="0">
              <a:spcBef>
                <a:spcPts val="120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(Assembler replaces MUL and ADD inside IT block with the 16-bit instructions MULS and ADDS.)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6535" y="3503701"/>
          <a:ext cx="7789601" cy="29492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70515">
                  <a:extLst>
                    <a:ext uri="{9D8B030D-6E8A-4147-A177-3AD203B41FA5}">
                      <a16:colId xmlns:a16="http://schemas.microsoft.com/office/drawing/2014/main" val="3920003684"/>
                    </a:ext>
                  </a:extLst>
                </a:gridCol>
                <a:gridCol w="3919086">
                  <a:extLst>
                    <a:ext uri="{9D8B030D-6E8A-4147-A177-3AD203B41FA5}">
                      <a16:colId xmlns:a16="http://schemas.microsoft.com/office/drawing/2014/main" val="1899397915"/>
                    </a:ext>
                  </a:extLst>
                </a:gridCol>
              </a:tblGrid>
              <a:tr h="343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16 instruction bytes</a:t>
                      </a:r>
                      <a:endParaRPr lang="en-US" sz="21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MS Mincho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10 instruction bytes</a:t>
                      </a:r>
                      <a:endParaRPr lang="en-US" sz="21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MS Mincho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24056"/>
                  </a:ext>
                </a:extLst>
              </a:tr>
              <a:tr h="2605668">
                <a:tc>
                  <a:txBody>
                    <a:bodyPr/>
                    <a:lstStyle/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// Compute quadratic equation</a:t>
                      </a:r>
                    </a:p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// (Each instruction is 4 bytes)</a:t>
                      </a:r>
                    </a:p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MUL	R1,R1,R0 // ax</a:t>
                      </a:r>
                    </a:p>
                    <a:p>
                      <a:pPr marL="5715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ADD	R1,R1,R2 //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ax+b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5715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MUL	R0,R0,R1 // (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ax+b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)x</a:t>
                      </a:r>
                    </a:p>
                    <a:p>
                      <a:pPr marL="5715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ADD	R0,R0,R3 // (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ax+b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x+c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MS Mincho"/>
                      </a:endParaRPr>
                    </a:p>
                  </a:txBody>
                  <a:tcPr marL="51435" marR="51435"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953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598170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// Compute quadratic equation</a:t>
                      </a:r>
                      <a:b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// (Each instruction is 2 bytes)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ITTTT	  AL       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MULAL  R1,R1,R0 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ADDAL	  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R1,R1,R2 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MULAL	  R0,R0,R1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ADDAL	  R0,R0,R3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598170" algn="l"/>
                        </a:tabLst>
                      </a:pP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MS Mincho"/>
                      </a:endParaRPr>
                    </a:p>
                  </a:txBody>
                  <a:tcPr marL="51435" marR="51435"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4233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FB6076B-2AB6-1EC8-9B71-73468A8E189C}"/>
              </a:ext>
            </a:extLst>
          </p:cNvPr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358203525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1827</TotalTime>
  <Words>5771</Words>
  <Application>Microsoft Office PowerPoint</Application>
  <PresentationFormat>Widescreen</PresentationFormat>
  <Paragraphs>1016</Paragraphs>
  <Slides>56</Slides>
  <Notes>2</Notes>
  <HiddenSlides>9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69" baseType="lpstr">
      <vt:lpstr>Arial</vt:lpstr>
      <vt:lpstr>Arial MT</vt:lpstr>
      <vt:lpstr>Arial Narrow</vt:lpstr>
      <vt:lpstr>Calibri</vt:lpstr>
      <vt:lpstr>Cambria Math</vt:lpstr>
      <vt:lpstr>Consolas</vt:lpstr>
      <vt:lpstr>Courier New</vt:lpstr>
      <vt:lpstr>Garamond</vt:lpstr>
      <vt:lpstr>Times New Roman</vt:lpstr>
      <vt:lpstr>Ubuntu Mono</vt:lpstr>
      <vt:lpstr>SCUTemplate</vt:lpstr>
      <vt:lpstr>Custom Design</vt:lpstr>
      <vt:lpstr>1_SCUTemplate</vt:lpstr>
      <vt:lpstr>CSEN20</vt:lpstr>
      <vt:lpstr>Chapter 6 Making Decisions and Writing Loops</vt:lpstr>
      <vt:lpstr>Consider</vt:lpstr>
      <vt:lpstr>However,….</vt:lpstr>
      <vt:lpstr>If-then-else in Assembly</vt:lpstr>
      <vt:lpstr>This arrangement requires a “goto”</vt:lpstr>
      <vt:lpstr>This arrangement requires a “goto”</vt:lpstr>
      <vt:lpstr>FLAGS Current Program Status Register (APSR)</vt:lpstr>
      <vt:lpstr>Making Decisions in Assembly</vt:lpstr>
      <vt:lpstr>Making Decisions in Assembly</vt:lpstr>
      <vt:lpstr>Making Decisions in Assembly</vt:lpstr>
      <vt:lpstr>Chapter 6 Making Decisions and Writing Loops</vt:lpstr>
      <vt:lpstr>COMPARE INSTRUCTIONS</vt:lpstr>
      <vt:lpstr>SPECIAL LOOP INSTRUCTIONS</vt:lpstr>
      <vt:lpstr>CONDITIONAL BRANCH INSTRUCTIONS</vt:lpstr>
      <vt:lpstr>CHOOSING THE CONDITION</vt:lpstr>
      <vt:lpstr>CONDITIONAL BRANCH INSTRUCTIONS</vt:lpstr>
      <vt:lpstr>ALL CONDITION CODES</vt:lpstr>
      <vt:lpstr>CHOOSING THE CONDITION</vt:lpstr>
      <vt:lpstr>TEST INSTRUCTIONS</vt:lpstr>
      <vt:lpstr>Compare/Test Instructions</vt:lpstr>
      <vt:lpstr>UNDERSTANDING CONDITION CODES</vt:lpstr>
      <vt:lpstr>Chapter 6 Making Decisions and Writing Loops</vt:lpstr>
      <vt:lpstr>IF-THEN-ELSE SEQUENCES </vt:lpstr>
      <vt:lpstr>IF-THEN-ELSE SEQUENCES</vt:lpstr>
      <vt:lpstr>IT BLOCKS</vt:lpstr>
      <vt:lpstr>… to here …</vt:lpstr>
      <vt:lpstr>If – Else Example</vt:lpstr>
      <vt:lpstr>IT BLOCKS A fast 64-bit unsigned max function</vt:lpstr>
      <vt:lpstr>Another IT BLOCK Example</vt:lpstr>
      <vt:lpstr>IT BLOCK LIMITATIONS</vt:lpstr>
      <vt:lpstr>Chapter 6 Making Decisions and Writing Loops</vt:lpstr>
      <vt:lpstr>COMPOUND CONDITIONALS</vt:lpstr>
      <vt:lpstr>COMPOUND CONDITIONALS</vt:lpstr>
      <vt:lpstr>Graphical Approach: Compound AND</vt:lpstr>
      <vt:lpstr>Graphical Approach: Compound OR</vt:lpstr>
      <vt:lpstr>Chapter 6 Making Decisions and Writing Loops</vt:lpstr>
      <vt:lpstr>WHILE LOOP WITH  COMPOUND CONDITIONAL</vt:lpstr>
      <vt:lpstr>Loops: Predetermined #Iterations</vt:lpstr>
      <vt:lpstr>SPECIAL LOOP INSTRUCTIONS</vt:lpstr>
      <vt:lpstr>DO-WHILE LOOP WITH COMPOUND CONDITIONAL</vt:lpstr>
      <vt:lpstr>FOR LOOPS (in general)</vt:lpstr>
      <vt:lpstr>For Loops Example</vt:lpstr>
      <vt:lpstr>Ex: Factorial (Example of a for loop)</vt:lpstr>
      <vt:lpstr>Ex: Greatest Common Divisor (Example of a while loop)</vt:lpstr>
      <vt:lpstr>Create a loop</vt:lpstr>
      <vt:lpstr>Done</vt:lpstr>
      <vt:lpstr>COMPARING 64-BIT INTEGERS Method #1</vt:lpstr>
      <vt:lpstr>Using 64-bit Subtraction to Compare</vt:lpstr>
      <vt:lpstr>COMPARING 64-BIT INTEGERS Method #2: When Z is not needed</vt:lpstr>
      <vt:lpstr>COMPARING 64-BIT INTEGERS Method #2: Special Case (EQ, NE)</vt:lpstr>
      <vt:lpstr>COMPARING 64-BIT INTEGERS Method #2: Special Case (GT,LE,HI,LS)</vt:lpstr>
      <vt:lpstr>COMPOUND LOGICAL AND</vt:lpstr>
      <vt:lpstr>COMPOUND LOGICAL OR</vt:lpstr>
      <vt:lpstr>IT BLOCK LIMITATIONS (cont’d)</vt:lpstr>
      <vt:lpstr>Using IT Blocks to Reduce Code Size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228</cp:revision>
  <cp:lastPrinted>2024-02-08T01:45:41Z</cp:lastPrinted>
  <dcterms:created xsi:type="dcterms:W3CDTF">2023-09-09T19:51:41Z</dcterms:created>
  <dcterms:modified xsi:type="dcterms:W3CDTF">2026-10-28T19:50:45Z</dcterms:modified>
</cp:coreProperties>
</file>