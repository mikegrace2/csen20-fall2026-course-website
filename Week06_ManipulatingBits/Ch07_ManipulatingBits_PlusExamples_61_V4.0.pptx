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65"/>
  </p:notesMasterIdLst>
  <p:handoutMasterIdLst>
    <p:handoutMasterId r:id="rId66"/>
  </p:handoutMasterIdLst>
  <p:sldIdLst>
    <p:sldId id="333" r:id="rId4"/>
    <p:sldId id="379" r:id="rId5"/>
    <p:sldId id="380" r:id="rId6"/>
    <p:sldId id="381" r:id="rId7"/>
    <p:sldId id="382" r:id="rId8"/>
    <p:sldId id="383" r:id="rId9"/>
    <p:sldId id="385" r:id="rId10"/>
    <p:sldId id="386" r:id="rId11"/>
    <p:sldId id="387" r:id="rId12"/>
    <p:sldId id="429" r:id="rId13"/>
    <p:sldId id="508" r:id="rId14"/>
    <p:sldId id="509" r:id="rId15"/>
    <p:sldId id="510" r:id="rId16"/>
    <p:sldId id="388" r:id="rId17"/>
    <p:sldId id="389" r:id="rId18"/>
    <p:sldId id="392" r:id="rId19"/>
    <p:sldId id="393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  <p:sldId id="428" r:id="rId40"/>
    <p:sldId id="336" r:id="rId41"/>
    <p:sldId id="431" r:id="rId42"/>
    <p:sldId id="436" r:id="rId43"/>
    <p:sldId id="437" r:id="rId44"/>
    <p:sldId id="438" r:id="rId45"/>
    <p:sldId id="439" r:id="rId46"/>
    <p:sldId id="440" r:id="rId47"/>
    <p:sldId id="432" r:id="rId48"/>
    <p:sldId id="433" r:id="rId49"/>
    <p:sldId id="434" r:id="rId50"/>
    <p:sldId id="435" r:id="rId51"/>
    <p:sldId id="416" r:id="rId52"/>
    <p:sldId id="417" r:id="rId53"/>
    <p:sldId id="418" r:id="rId54"/>
    <p:sldId id="419" r:id="rId55"/>
    <p:sldId id="420" r:id="rId56"/>
    <p:sldId id="422" r:id="rId57"/>
    <p:sldId id="423" r:id="rId58"/>
    <p:sldId id="511" r:id="rId59"/>
    <p:sldId id="424" r:id="rId60"/>
    <p:sldId id="425" r:id="rId61"/>
    <p:sldId id="426" r:id="rId62"/>
    <p:sldId id="427" r:id="rId63"/>
    <p:sldId id="430" r:id="rId6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97E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1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1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6438F-747C-40FA-8F40-021E653C05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9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5CB00AB1-5BE3-4DF7-A39B-060B7B035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496F4A26-221D-4B6C-A4EE-BEAE91F9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96F728C9-9B08-40AA-A778-CCEBED255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849B82-FD20-4724-8E80-DAC559D4E75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353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17B81C14-CB54-4E43-9F8F-79B1E9442D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77A2D0E2-0695-4530-91D1-898E2C2F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6299E232-55B2-4196-A395-A097F25BF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60F07C-0474-41D2-9F9E-411D6A4F1FC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052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60D98F55-773C-46A6-B3C4-8D4B158E8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488E3EC4-B93F-4133-99C6-B3C944055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6EC441ED-A7D8-496A-8473-47F8E42CD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BDB786-1D38-47D3-A5C5-6209D4CC855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146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3F2C9-D7DF-4795-AEC6-7809E4D0FA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9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101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16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AB51-C96E-42BA-8CEA-FD0D998AACA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F2D-071C-432B-B108-D0CF38876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462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3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4" r:id="rId16"/>
    <p:sldLayoutId id="2147483705" r:id="rId17"/>
    <p:sldLayoutId id="2147483706" r:id="rId18"/>
    <p:sldLayoutId id="2147483708" r:id="rId19"/>
    <p:sldLayoutId id="2147483709" r:id="rId20"/>
    <p:sldLayoutId id="2147483710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6220"/>
            <a:ext cx="10387264" cy="46171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64818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C6ED9-1F93-4ACE-9FB3-860BE203C1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FC8D26-3A81-4920-9FA5-7946B21A0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Specifying Bit Patterns</a:t>
            </a:r>
          </a:p>
        </p:txBody>
      </p:sp>
    </p:spTree>
    <p:extLst>
      <p:ext uri="{BB962C8B-B14F-4D97-AF65-F5344CB8AC3E}">
        <p14:creationId xmlns:p14="http://schemas.microsoft.com/office/powerpoint/2010/main" val="14377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16C9-827A-4F9B-BBF0-1961030C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182"/>
            <a:ext cx="2845410" cy="666524"/>
          </a:xfrm>
        </p:spPr>
        <p:txBody>
          <a:bodyPr/>
          <a:lstStyle/>
          <a:p>
            <a:r>
              <a:rPr lang="en-US" dirty="0"/>
              <a:t>Bit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87458-F047-428A-AEF9-32878EA13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63585"/>
            <a:ext cx="10405252" cy="48898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bit pattern (“mask”) is a string of 1’s and 0’s designed to select a subset of bits.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Bit patterns are used to: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Test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value of </a:t>
            </a:r>
            <a:r>
              <a:rPr lang="en-US" b="1" dirty="0">
                <a:solidFill>
                  <a:srgbClr val="FF0000"/>
                </a:solidFill>
              </a:rPr>
              <a:t>one bit </a:t>
            </a:r>
            <a:r>
              <a:rPr lang="en-US" dirty="0">
                <a:solidFill>
                  <a:schemeClr val="tx1"/>
                </a:solidFill>
              </a:rPr>
              <a:t>while ignoring others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Set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clear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or invert </a:t>
            </a:r>
            <a:r>
              <a:rPr lang="en-US" dirty="0">
                <a:solidFill>
                  <a:schemeClr val="tx1"/>
                </a:solidFill>
              </a:rPr>
              <a:t>the value of </a:t>
            </a:r>
            <a:r>
              <a:rPr lang="en-US" b="1" dirty="0">
                <a:solidFill>
                  <a:srgbClr val="FF0000"/>
                </a:solidFill>
              </a:rPr>
              <a:t>one bit </a:t>
            </a:r>
            <a:r>
              <a:rPr lang="en-US" dirty="0">
                <a:solidFill>
                  <a:schemeClr val="tx1"/>
                </a:solidFill>
              </a:rPr>
              <a:t>without affecting others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Extract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rgbClr val="FF0000"/>
                </a:solidFill>
              </a:rPr>
              <a:t>Insert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 value stored in a subset of the bits of a word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8495" y="757213"/>
            <a:ext cx="7212873" cy="1144151"/>
          </a:xfrm>
        </p:spPr>
        <p:txBody>
          <a:bodyPr>
            <a:normAutofit/>
          </a:bodyPr>
          <a:lstStyle/>
          <a:p>
            <a:r>
              <a:rPr lang="en-US" dirty="0"/>
              <a:t>Useful Bit Patterns: (1 &lt;&lt; 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) = 2</a:t>
            </a:r>
            <a:r>
              <a:rPr lang="en-US" baseline="30000" dirty="0">
                <a:solidFill>
                  <a:srgbClr val="FF0000"/>
                </a:solidFill>
              </a:rPr>
              <a:t>k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single 1 shifted left k bits)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40877" y="2872819"/>
            <a:ext cx="405567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(1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)	=	00000001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	00010000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=	16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10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=	2</a:t>
            </a:r>
            <a:r>
              <a:rPr lang="en-US" sz="2100" b="1" baseline="300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endParaRPr lang="en-US" sz="21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82416" y="2872819"/>
            <a:ext cx="2428284" cy="887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404"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LDR	R0,=(1&lt;&lt;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1</a:t>
            </a:r>
          </a:p>
        </p:txBody>
      </p:sp>
    </p:spTree>
    <p:extLst>
      <p:ext uri="{BB962C8B-B14F-4D97-AF65-F5344CB8AC3E}">
        <p14:creationId xmlns:p14="http://schemas.microsoft.com/office/powerpoint/2010/main" val="92774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6516" y="741171"/>
            <a:ext cx="7778358" cy="1144151"/>
          </a:xfrm>
        </p:spPr>
        <p:txBody>
          <a:bodyPr>
            <a:normAutofit/>
          </a:bodyPr>
          <a:lstStyle/>
          <a:p>
            <a:r>
              <a:rPr lang="en-US" dirty="0"/>
              <a:t>Useful Bit Patterns: </a:t>
            </a:r>
            <a:r>
              <a:rPr lang="en-US" dirty="0">
                <a:solidFill>
                  <a:srgbClr val="FF0000"/>
                </a:solidFill>
              </a:rPr>
              <a:t>~</a:t>
            </a:r>
            <a:r>
              <a:rPr lang="en-US" dirty="0"/>
              <a:t>(1 &lt;&lt; 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) = </a:t>
            </a:r>
            <a:r>
              <a:rPr lang="en-US" dirty="0">
                <a:solidFill>
                  <a:srgbClr val="FF0000"/>
                </a:solidFill>
              </a:rPr>
              <a:t>~</a:t>
            </a:r>
            <a:r>
              <a:rPr lang="en-US" dirty="0"/>
              <a:t>2</a:t>
            </a:r>
            <a:r>
              <a:rPr lang="en-US" baseline="30000" dirty="0">
                <a:solidFill>
                  <a:srgbClr val="FF0000"/>
                </a:solidFill>
              </a:rPr>
              <a:t>k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single 0 shifted left k bits)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421526" y="2807696"/>
                <a:ext cx="5026571" cy="3000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US" sz="21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100" dirty="0">
                    <a:latin typeface="Consolas" panose="020B0609020204030204" pitchFamily="49" charset="0"/>
                  </a:rPr>
                  <a:t>0b00000001 &lt;&lt; 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4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)	=</a:t>
                </a:r>
              </a:p>
              <a:p>
                <a:pPr defTabSz="685800"/>
                <a:endParaRPr lang="en-US" sz="2100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(1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&lt;&lt; 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4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)		=	00000001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	00010000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	1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0" dirty="0">
                        <a:solidFill>
                          <a:prstClr val="black"/>
                        </a:solidFill>
                        <a:latin typeface="Consolas" panose="020B0609020204030204" pitchFamily="49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101111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=	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0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0" dirty="0">
                        <a:solidFill>
                          <a:prstClr val="black"/>
                        </a:solidFill>
                        <a:latin typeface="Consolas" panose="020B0609020204030204" pitchFamily="49" charset="0"/>
                      </a:rPr>
                      <m:t>0</m:t>
                    </m:r>
                  </m:oMath>
                </a14:m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010000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=	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16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10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=	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en-US" sz="2100" b="1" baseline="300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4</a:t>
                </a:r>
                <a:endParaRPr lang="en-US" sz="2100" b="1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526" y="2807696"/>
                <a:ext cx="5026571" cy="3000821"/>
              </a:xfrm>
              <a:prstGeom prst="rect">
                <a:avLst/>
              </a:prstGeom>
              <a:blipFill>
                <a:blip r:embed="rId3"/>
                <a:stretch>
                  <a:fillRect l="-1455" t="-1626" r="-364" b="-2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7055153" y="2807696"/>
            <a:ext cx="2345157" cy="914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404" defTabSz="685800">
              <a:tabLst>
                <a:tab pos="1206500" algn="l"/>
              </a:tabLs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LDR R0,=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~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(1&lt;&lt;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1</a:t>
            </a:r>
          </a:p>
        </p:txBody>
      </p:sp>
    </p:spTree>
    <p:extLst>
      <p:ext uri="{BB962C8B-B14F-4D97-AF65-F5344CB8AC3E}">
        <p14:creationId xmlns:p14="http://schemas.microsoft.com/office/powerpoint/2010/main" val="47147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472887" y="2573897"/>
            <a:ext cx="37143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r>
              <a:rPr lang="en-US" sz="2100" b="1" baseline="300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=	 0</a:t>
            </a:r>
            <a:r>
              <a:rPr lang="en-US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000000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-</a:t>
            </a:r>
            <a:r>
              <a:rPr lang="en-US" sz="2100" u="sng" dirty="0">
                <a:solidFill>
                  <a:prstClr val="black"/>
                </a:solidFill>
                <a:latin typeface="Consolas" panose="020B0609020204030204" pitchFamily="49" charset="0"/>
              </a:rPr>
              <a:t>0000000</a:t>
            </a:r>
            <a:r>
              <a:rPr lang="en-US" sz="2100" b="1" u="sng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r>
              <a:rPr lang="en-US" sz="2100" b="1" baseline="300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=	 00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111111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0453" y="3612642"/>
            <a:ext cx="984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1’s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346967" y="3612641"/>
            <a:ext cx="821531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925428" y="761076"/>
            <a:ext cx="8908383" cy="12085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Useful Bit Patterns: (1 &lt;&lt; </a:t>
            </a:r>
            <a:r>
              <a:rPr lang="en-US" sz="4000" dirty="0">
                <a:solidFill>
                  <a:srgbClr val="0000FF"/>
                </a:solidFill>
                <a:latin typeface="+mn-lt"/>
              </a:rPr>
              <a:t>k</a:t>
            </a:r>
            <a:r>
              <a:rPr lang="en-US" sz="4000" dirty="0">
                <a:latin typeface="+mn-lt"/>
              </a:rPr>
              <a:t>)</a:t>
            </a:r>
            <a:r>
              <a:rPr lang="en-US" sz="4000" dirty="0">
                <a:solidFill>
                  <a:srgbClr val="FF0000"/>
                </a:solidFill>
                <a:latin typeface="+mn-lt"/>
              </a:rPr>
              <a:t>-1</a:t>
            </a:r>
            <a:r>
              <a:rPr lang="en-US" sz="4000" dirty="0">
                <a:latin typeface="+mn-lt"/>
              </a:rPr>
              <a:t> = 2</a:t>
            </a:r>
            <a:r>
              <a:rPr lang="en-US" sz="4000" baseline="30000" dirty="0">
                <a:solidFill>
                  <a:srgbClr val="0000FF"/>
                </a:solidFill>
                <a:latin typeface="+mn-lt"/>
              </a:rPr>
              <a:t>k</a:t>
            </a:r>
            <a:r>
              <a:rPr lang="en-US" sz="4000" dirty="0">
                <a:solidFill>
                  <a:srgbClr val="FF0000"/>
                </a:solidFill>
                <a:latin typeface="+mn-lt"/>
              </a:rPr>
              <a:t>-1</a:t>
            </a:r>
            <a:br>
              <a:rPr lang="en-US" dirty="0">
                <a:latin typeface="+mn-lt"/>
              </a:rPr>
            </a:br>
            <a:r>
              <a:rPr lang="en-US" sz="2800" i="1" dirty="0">
                <a:latin typeface="+mn-lt"/>
                <a:cs typeface="Times New Roman" panose="02020603050405020304" pitchFamily="18" charset="0"/>
              </a:rPr>
              <a:t>(A string of k 1’s, preceded by all 0's)</a:t>
            </a:r>
            <a:endParaRPr lang="en-US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9B6681-1D21-4470-BFEB-BB14C7239A36}"/>
              </a:ext>
            </a:extLst>
          </p:cNvPr>
          <p:cNvSpPr/>
          <p:nvPr/>
        </p:nvSpPr>
        <p:spPr>
          <a:xfrm>
            <a:off x="6703565" y="2724989"/>
            <a:ext cx="2582445" cy="887653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7404" defTabSz="685800">
              <a:defRPr/>
            </a:pPr>
            <a:r>
              <a:rPr lang="en-US" kern="0" dirty="0">
                <a:solidFill>
                  <a:prstClr val="black"/>
                </a:solidFill>
                <a:latin typeface="Consolas" panose="020B0609020204030204" pitchFamily="49" charset="0"/>
              </a:rPr>
              <a:t>LDR	R0,=(1&lt;&lt;</a:t>
            </a:r>
            <a:r>
              <a:rPr lang="en-US" b="1" kern="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kern="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r>
              <a:rPr lang="en-US" b="1" kern="0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endParaRPr lang="en-US" b="1" kern="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1</a:t>
            </a:r>
          </a:p>
        </p:txBody>
      </p:sp>
    </p:spTree>
    <p:extLst>
      <p:ext uri="{BB962C8B-B14F-4D97-AF65-F5344CB8AC3E}">
        <p14:creationId xmlns:p14="http://schemas.microsoft.com/office/powerpoint/2010/main" val="426594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Shift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35543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33150"/>
            <a:ext cx="6763694" cy="782829"/>
          </a:xfrm>
        </p:spPr>
        <p:txBody>
          <a:bodyPr>
            <a:normAutofit/>
          </a:bodyPr>
          <a:lstStyle/>
          <a:p>
            <a:r>
              <a:rPr lang="en-US" dirty="0"/>
              <a:t>APPLICATIONS OF SHIFTING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569" y="1929063"/>
            <a:ext cx="10389210" cy="46963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Multiplication by 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:	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×A = A &lt;&lt;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Division by 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:	A÷2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= A &gt;&gt;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Subscript Scaling:	&amp;a32[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] = &amp;a32[0] + 4×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(LSL #2)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Creating Multiples:	7×A = 8×A - 1×A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7     = 8     - 1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40705" y="5109413"/>
            <a:ext cx="0" cy="38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494421" y="5109413"/>
            <a:ext cx="0" cy="4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167216" y="5135483"/>
            <a:ext cx="0" cy="4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12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82330"/>
              </p:ext>
            </p:extLst>
          </p:nvPr>
        </p:nvGraphicFramePr>
        <p:xfrm>
          <a:off x="1100278" y="1688364"/>
          <a:ext cx="9617514" cy="314696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995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4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Flags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Logical Shift </a:t>
                      </a: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Left</a:t>
                      </a:r>
                      <a:endParaRPr lang="en-US" sz="20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</a:t>
                      </a: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&lt;&lt;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Zero fills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Logical Shift </a:t>
                      </a:r>
                      <a:r>
                        <a:rPr lang="en-US" sz="16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endParaRPr lang="en-US" sz="2000" b="1" dirty="0">
                        <a:solidFill>
                          <a:srgbClr val="197EC6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Z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ero fills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Arithmetic Shift </a:t>
                      </a:r>
                      <a:r>
                        <a:rPr lang="en-US" sz="16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endParaRPr lang="en-US" sz="2000" b="1" dirty="0">
                        <a:solidFill>
                          <a:srgbClr val="197EC6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 extends</a:t>
                      </a:r>
                      <a:endParaRPr lang="en-US" sz="1600" b="1" dirty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Rotate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RO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 rotate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77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Rotate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r>
                        <a:rPr lang="en-US" sz="1600" b="1" baseline="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w/Extend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X{S}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1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 shift, fill with Carry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94978" y="747678"/>
            <a:ext cx="4563348" cy="529868"/>
          </a:xfrm>
        </p:spPr>
        <p:txBody>
          <a:bodyPr>
            <a:normAutofit fontScale="90000"/>
          </a:bodyPr>
          <a:lstStyle/>
          <a:p>
            <a:r>
              <a:rPr lang="en-US" dirty="0"/>
              <a:t>SHIFT INSTRUCTIONS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923132" y="5195396"/>
            <a:ext cx="3534484" cy="1015663"/>
            <a:chOff x="1097280" y="4749850"/>
            <a:chExt cx="3534484" cy="1015663"/>
          </a:xfrm>
        </p:grpSpPr>
        <p:sp>
          <p:nvSpPr>
            <p:cNvPr id="4" name="TextBox 3"/>
            <p:cNvSpPr txBox="1"/>
            <p:nvPr/>
          </p:nvSpPr>
          <p:spPr>
            <a:xfrm>
              <a:off x="1097280" y="4749850"/>
              <a:ext cx="353448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Append "S" to capture the last bit shifted out in the carry (C) flag.</a:t>
              </a:r>
            </a:p>
          </p:txBody>
        </p:sp>
        <p:pic>
          <p:nvPicPr>
            <p:cNvPr id="5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01512" y="4796539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Line Callout 3 49"/>
          <p:cNvSpPr/>
          <p:nvPr/>
        </p:nvSpPr>
        <p:spPr>
          <a:xfrm>
            <a:off x="2579790" y="5253275"/>
            <a:ext cx="3862696" cy="569465"/>
          </a:xfrm>
          <a:prstGeom prst="borderCallout3">
            <a:avLst>
              <a:gd name="adj1" fmla="val -176484"/>
              <a:gd name="adj2" fmla="val -38793"/>
              <a:gd name="adj3" fmla="val -175552"/>
              <a:gd name="adj4" fmla="val -50810"/>
              <a:gd name="adj5" fmla="val 54247"/>
              <a:gd name="adj6" fmla="val -51248"/>
              <a:gd name="adj7" fmla="val 56291"/>
              <a:gd name="adj8" fmla="val 2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Only Rotate Right!</a:t>
            </a:r>
          </a:p>
        </p:txBody>
      </p:sp>
    </p:spTree>
    <p:extLst>
      <p:ext uri="{BB962C8B-B14F-4D97-AF65-F5344CB8AC3E}">
        <p14:creationId xmlns:p14="http://schemas.microsoft.com/office/powerpoint/2010/main" val="4240964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33150"/>
            <a:ext cx="6763694" cy="782829"/>
          </a:xfrm>
        </p:spPr>
        <p:txBody>
          <a:bodyPr>
            <a:normAutofit/>
          </a:bodyPr>
          <a:lstStyle/>
          <a:p>
            <a:r>
              <a:rPr lang="en-US" dirty="0"/>
              <a:t>Rotate Right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787" y="2139144"/>
            <a:ext cx="5973009" cy="1381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1697" y="1862688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14" y="4143628"/>
            <a:ext cx="8840434" cy="1457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01697" y="391279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RRX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322594" y="5986710"/>
            <a:ext cx="3840882" cy="782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No Rotate Left!</a:t>
            </a:r>
          </a:p>
        </p:txBody>
      </p:sp>
    </p:spTree>
    <p:extLst>
      <p:ext uri="{BB962C8B-B14F-4D97-AF65-F5344CB8AC3E}">
        <p14:creationId xmlns:p14="http://schemas.microsoft.com/office/powerpoint/2010/main" val="456951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0709745-9B00-42A2-A8A5-140E88804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779275"/>
            <a:ext cx="4007322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16387" name="Rectangle 1224">
            <a:extLst>
              <a:ext uri="{FF2B5EF4-FFF2-40B4-BE49-F238E27FC236}">
                <a16:creationId xmlns:a16="http://schemas.microsoft.com/office/drawing/2014/main" id="{F246F207-D71B-47FA-8126-EF7CD2055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199" y="1704570"/>
            <a:ext cx="10385451" cy="4945612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An inline barrel shifter to preprocess one of the input registers (Operand2).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It provides many types of shifts and rotates which can be applied to Operand2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chemeClr val="tx1"/>
                </a:solidFill>
              </a:rPr>
              <a:t>LSL</a:t>
            </a:r>
            <a:r>
              <a:rPr lang="en-US" altLang="en-US" dirty="0">
                <a:solidFill>
                  <a:schemeClr val="tx1"/>
                </a:solidFill>
              </a:rPr>
              <a:t> R0,R0,#4 Logical left shift  (&lt;&lt; in C)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chemeClr val="tx1"/>
                </a:solidFill>
              </a:rPr>
              <a:t>LSR</a:t>
            </a:r>
            <a:r>
              <a:rPr lang="en-US" altLang="en-US" dirty="0">
                <a:solidFill>
                  <a:schemeClr val="tx1"/>
                </a:solidFill>
              </a:rPr>
              <a:t> R0,R0,#4 Logical shift right  (&gt;&gt; in C)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/>
          </a:p>
        </p:txBody>
      </p:sp>
      <p:pic>
        <p:nvPicPr>
          <p:cNvPr id="2" name="Picture 1" descr="Screen Shot 2015-10-17 at 12.23.19 PM.png">
            <a:extLst>
              <a:ext uri="{FF2B5EF4-FFF2-40B4-BE49-F238E27FC236}">
                <a16:creationId xmlns:a16="http://schemas.microsoft.com/office/drawing/2014/main" id="{8BC945A1-1347-45A2-9143-78291E044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743" y="2793286"/>
            <a:ext cx="50292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Shot 2015-10-17 at 12.27.04 PM.png">
            <a:extLst>
              <a:ext uri="{FF2B5EF4-FFF2-40B4-BE49-F238E27FC236}">
                <a16:creationId xmlns:a16="http://schemas.microsoft.com/office/drawing/2014/main" id="{5DCF27F3-EB0F-4383-B276-825FDDF07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743" y="4813287"/>
            <a:ext cx="50292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170547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BF369F8-B0FF-4CA6-BEE5-8D3098FD9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9459" y="763587"/>
            <a:ext cx="3912151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16387" name="Rectangle 1224">
            <a:extLst>
              <a:ext uri="{FF2B5EF4-FFF2-40B4-BE49-F238E27FC236}">
                <a16:creationId xmlns:a16="http://schemas.microsoft.com/office/drawing/2014/main" id="{EB949D2D-AB82-4E72-83A5-526488A25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9458" y="1611535"/>
            <a:ext cx="10403635" cy="5031090"/>
          </a:xfrm>
        </p:spPr>
        <p:txBody>
          <a:bodyPr/>
          <a:lstStyle/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</a:rPr>
              <a:t>ASR</a:t>
            </a:r>
            <a:r>
              <a:rPr lang="en-US" altLang="en-US" dirty="0">
                <a:solidFill>
                  <a:schemeClr val="tx1"/>
                </a:solidFill>
              </a:rPr>
              <a:t> R0,R0,#4 - Arithmetic Shift Right (C signed division by a power of 2)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</a:rPr>
              <a:t>ASR</a:t>
            </a:r>
            <a:r>
              <a:rPr lang="en-US" altLang="en-US" dirty="0">
                <a:solidFill>
                  <a:schemeClr val="tx1"/>
                </a:solidFill>
              </a:rPr>
              <a:t> R0,R0,#4 - Arithmetic Shift Right </a:t>
            </a:r>
          </a:p>
          <a:p>
            <a:pPr marL="914400" lvl="2" indent="0">
              <a:lnSpc>
                <a:spcPct val="80000"/>
              </a:lnSpc>
              <a:buNone/>
            </a:pPr>
            <a:endParaRPr lang="en-US" altLang="en-US" dirty="0"/>
          </a:p>
        </p:txBody>
      </p:sp>
      <p:pic>
        <p:nvPicPr>
          <p:cNvPr id="4" name="Picture 3" descr="Screen Shot 2015-10-17 at 12.29.09 PM.png">
            <a:extLst>
              <a:ext uri="{FF2B5EF4-FFF2-40B4-BE49-F238E27FC236}">
                <a16:creationId xmlns:a16="http://schemas.microsoft.com/office/drawing/2014/main" id="{C81EF473-45D8-4A0A-91C0-3D552B896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344" y="2122323"/>
            <a:ext cx="49022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Shot 2015-10-17 at 12.29.17 PM.png">
            <a:extLst>
              <a:ext uri="{FF2B5EF4-FFF2-40B4-BE49-F238E27FC236}">
                <a16:creationId xmlns:a16="http://schemas.microsoft.com/office/drawing/2014/main" id="{FC2D5A54-0102-4ACC-A686-3FDD71029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344" y="4589082"/>
            <a:ext cx="49911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3315DE-25B7-F3E9-2965-02F84B205379}"/>
              </a:ext>
            </a:extLst>
          </p:cNvPr>
          <p:cNvSpPr txBox="1"/>
          <p:nvPr/>
        </p:nvSpPr>
        <p:spPr>
          <a:xfrm>
            <a:off x="3096127" y="2718707"/>
            <a:ext cx="2133918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Positive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Numbers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4B3397-55B5-C48F-355B-C9D13E4D170C}"/>
              </a:ext>
            </a:extLst>
          </p:cNvPr>
          <p:cNvCxnSpPr>
            <a:stCxn id="2" idx="3"/>
          </p:cNvCxnSpPr>
          <p:nvPr/>
        </p:nvCxnSpPr>
        <p:spPr>
          <a:xfrm flipV="1">
            <a:off x="5230045" y="2577409"/>
            <a:ext cx="581208" cy="32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EF6FC0-9904-3417-DC06-6026BB80942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230045" y="2903373"/>
            <a:ext cx="601260" cy="37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186DA0-F201-9B30-A9C5-5E5DE66221A4}"/>
              </a:ext>
            </a:extLst>
          </p:cNvPr>
          <p:cNvSpPr txBox="1"/>
          <p:nvPr/>
        </p:nvSpPr>
        <p:spPr>
          <a:xfrm>
            <a:off x="3096126" y="5153716"/>
            <a:ext cx="221086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Negative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Numbers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9D3D18-45C0-1394-E501-327A27043B81}"/>
              </a:ext>
            </a:extLst>
          </p:cNvPr>
          <p:cNvCxnSpPr>
            <a:stCxn id="9" idx="3"/>
          </p:cNvCxnSpPr>
          <p:nvPr/>
        </p:nvCxnSpPr>
        <p:spPr>
          <a:xfrm flipV="1">
            <a:off x="5306988" y="5013158"/>
            <a:ext cx="524317" cy="32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DE3B1C-657B-A8C4-298D-A1A8EB6F1E82}"/>
              </a:ext>
            </a:extLst>
          </p:cNvPr>
          <p:cNvCxnSpPr>
            <a:stCxn id="9" idx="3"/>
          </p:cNvCxnSpPr>
          <p:nvPr/>
        </p:nvCxnSpPr>
        <p:spPr>
          <a:xfrm>
            <a:off x="5306988" y="5338382"/>
            <a:ext cx="524317" cy="416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44198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01442C8-46A0-4919-A788-38E2377D5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45" y="759403"/>
            <a:ext cx="3798795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16387" name="Rectangle 1224">
            <a:extLst>
              <a:ext uri="{FF2B5EF4-FFF2-40B4-BE49-F238E27FC236}">
                <a16:creationId xmlns:a16="http://schemas.microsoft.com/office/drawing/2014/main" id="{00EE4AA1-727C-4BD0-B409-D25D56C04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345" y="1700213"/>
            <a:ext cx="10441420" cy="4957526"/>
          </a:xfrm>
        </p:spPr>
        <p:txBody>
          <a:bodyPr/>
          <a:lstStyle/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b="1" dirty="0">
                <a:solidFill>
                  <a:schemeClr val="tx1"/>
                </a:solidFill>
              </a:rPr>
              <a:t>ROR</a:t>
            </a:r>
            <a:r>
              <a:rPr lang="en-US" altLang="en-US" dirty="0">
                <a:solidFill>
                  <a:schemeClr val="tx1"/>
                </a:solidFill>
              </a:rPr>
              <a:t> R0,R0,#4 Rotate right (Bit rotate with wrap-around)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b="1" dirty="0">
                <a:solidFill>
                  <a:schemeClr val="tx1"/>
                </a:solidFill>
              </a:rPr>
              <a:t>RRX</a:t>
            </a:r>
            <a:r>
              <a:rPr lang="en-US" altLang="en-US" dirty="0">
                <a:solidFill>
                  <a:schemeClr val="tx1"/>
                </a:solidFill>
              </a:rPr>
              <a:t> R0,R0,#1 Rotate Right Extended (33-bit rotate with wrap-around through carry bit)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/>
          </a:p>
        </p:txBody>
      </p:sp>
      <p:pic>
        <p:nvPicPr>
          <p:cNvPr id="2" name="Picture 1" descr="Screen Shot 2015-10-17 at 12.32.59 PM.png">
            <a:extLst>
              <a:ext uri="{FF2B5EF4-FFF2-40B4-BE49-F238E27FC236}">
                <a16:creationId xmlns:a16="http://schemas.microsoft.com/office/drawing/2014/main" id="{7E165821-6D53-49CD-ADB6-2E664AAEA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990" y="2105160"/>
            <a:ext cx="5493205" cy="1708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Shot 2015-10-17 at 12.33.07 PM.png">
            <a:extLst>
              <a:ext uri="{FF2B5EF4-FFF2-40B4-BE49-F238E27FC236}">
                <a16:creationId xmlns:a16="http://schemas.microsoft.com/office/drawing/2014/main" id="{84BEAEB7-C698-48C0-8604-4045EF9B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991" y="4600063"/>
            <a:ext cx="5588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66194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58194"/>
            <a:ext cx="9194074" cy="586554"/>
          </a:xfrm>
        </p:spPr>
        <p:txBody>
          <a:bodyPr>
            <a:normAutofit/>
          </a:bodyPr>
          <a:lstStyle/>
          <a:p>
            <a:r>
              <a:rPr lang="en-US" dirty="0"/>
              <a:t>3 PLACES WHERE SHIFT CAN BE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44537" y="1557246"/>
            <a:ext cx="10353116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Calibri"/>
                <a:cs typeface="Calibri"/>
              </a:rPr>
              <a:t>ROR	R0,R1,R2	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</a:rPr>
              <a:t>// R0 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= R1 rotated right R2 times</a:t>
            </a: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ADD	R0,R1,R2,LSR 3	// R0 = R1 + (R2 &gt;&gt; 3) </a:t>
            </a: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STR	R0,[R1,R2,LSL 2]	// R0 = mem</a:t>
            </a:r>
            <a:r>
              <a:rPr lang="en-US" sz="2000" b="1" baseline="-25000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32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[R1+(R2*4)]</a:t>
            </a: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8596" y="2146842"/>
            <a:ext cx="491589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1. As a regular shift </a:t>
            </a:r>
            <a:r>
              <a:rPr lang="en-US" sz="2000" b="1" i="1" dirty="0">
                <a:solidFill>
                  <a:srgbClr val="000000"/>
                </a:solidFill>
                <a:ea typeface="Calibri"/>
                <a:cs typeface="Calibri"/>
              </a:rPr>
              <a:t>instruction</a:t>
            </a: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. 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8596" y="3959156"/>
            <a:ext cx="6181171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2575" indent="-282575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2. To provide a pre-shifted copy of the value in a register as the last operand of an instruction.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2495" y="5625180"/>
            <a:ext cx="5513372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3. To multiply a subscript (R2) by the # of bytes per element in a subscripted array reference.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8596" y="1616823"/>
            <a:ext cx="609600" cy="33174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58582" y="3378397"/>
            <a:ext cx="1154901" cy="32331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518741" y="5155629"/>
            <a:ext cx="1094742" cy="2946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65544" y="2146842"/>
            <a:ext cx="4278260" cy="1107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85850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The only context in which the shift count may be a variable (e.g., R2 here).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pic>
        <p:nvPicPr>
          <p:cNvPr id="17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24600" y="2281740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7792451" y="4667042"/>
            <a:ext cx="4026568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Only a Logical Shift Left (LSL) by </a:t>
            </a:r>
            <a:r>
              <a:rPr lang="en-US" b="1" dirty="0">
                <a:solidFill>
                  <a:srgbClr val="FF0000"/>
                </a:solidFill>
              </a:rPr>
              <a:t>1, 2 or 3 </a:t>
            </a:r>
            <a:r>
              <a:rPr lang="en-US" dirty="0"/>
              <a:t>bits may be used in this context.</a:t>
            </a:r>
          </a:p>
        </p:txBody>
      </p:sp>
      <p:pic>
        <p:nvPicPr>
          <p:cNvPr id="19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24846" y="4738895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63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6516" y="737161"/>
            <a:ext cx="8143316" cy="659840"/>
          </a:xfrm>
        </p:spPr>
        <p:txBody>
          <a:bodyPr>
            <a:normAutofit/>
          </a:bodyPr>
          <a:lstStyle/>
          <a:p>
            <a:r>
              <a:rPr lang="en-US" dirty="0"/>
              <a:t>Constants Dependent on Sign of R0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42411" y="1398339"/>
          <a:ext cx="6456946" cy="52123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612">
                  <a:extLst>
                    <a:ext uri="{9D8B030D-6E8A-4147-A177-3AD203B41FA5}">
                      <a16:colId xmlns:a16="http://schemas.microsoft.com/office/drawing/2014/main" val="2947290422"/>
                    </a:ext>
                  </a:extLst>
                </a:gridCol>
                <a:gridCol w="1690035">
                  <a:extLst>
                    <a:ext uri="{9D8B030D-6E8A-4147-A177-3AD203B41FA5}">
                      <a16:colId xmlns:a16="http://schemas.microsoft.com/office/drawing/2014/main" val="4119301694"/>
                    </a:ext>
                  </a:extLst>
                </a:gridCol>
                <a:gridCol w="2057299">
                  <a:extLst>
                    <a:ext uri="{9D8B030D-6E8A-4147-A177-3AD203B41FA5}">
                      <a16:colId xmlns:a16="http://schemas.microsoft.com/office/drawing/2014/main" val="3994573705"/>
                    </a:ext>
                  </a:extLst>
                </a:gridCol>
              </a:tblGrid>
              <a:tr h="392674"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i="1" dirty="0">
                          <a:solidFill>
                            <a:schemeClr val="bg1"/>
                          </a:solidFill>
                        </a:rPr>
                        <a:t>Instruction Sequence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/>
                          </a:solidFill>
                        </a:rPr>
                        <a:t>Result left in R1: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36141"/>
                  </a:ext>
                </a:extLst>
              </a:tr>
              <a:tr h="580943"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When R0 &lt;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When R0 ≥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46907"/>
                  </a:ext>
                </a:extLst>
              </a:tr>
              <a:tr h="39267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LSR	R1,R0,31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627037"/>
                  </a:ext>
                </a:extLst>
              </a:tr>
              <a:tr h="39267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ASR	R1,R0,31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883152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MVN	R1,R0,ASR 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522944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MVN	R1,R0,LSR 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83288"/>
                  </a:ext>
                </a:extLst>
              </a:tr>
              <a:tr h="74231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LSR	R1,R0,31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LSL	R1,R1,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+2</a:t>
                      </a:r>
                      <a:r>
                        <a:rPr lang="en-US" baseline="30000" dirty="0"/>
                        <a:t>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056085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ASR	R1,R0,31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LSL	R1,R1,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sz="1800" i="1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753069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ASR	R1,R0,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k-1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LSR	R1,R1,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32-k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</a:t>
                      </a:r>
                      <a:r>
                        <a:rPr lang="en-US" sz="1800" i="1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781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25747" y="2401166"/>
            <a:ext cx="3055645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r>
              <a:rPr lang="en-US" sz="1600" b="1" dirty="0">
                <a:solidFill>
                  <a:srgbClr val="FF0000"/>
                </a:solidFill>
              </a:rPr>
              <a:t>10 </a:t>
            </a:r>
            <a:r>
              <a:rPr lang="en-US" sz="1600" b="1" dirty="0" err="1">
                <a:solidFill>
                  <a:srgbClr val="FF0000"/>
                </a:solidFill>
              </a:rPr>
              <a:t>LSRexamples.s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25747" y="3319576"/>
            <a:ext cx="2071401" cy="8309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Experiment a 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Check if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7152" y="2062612"/>
            <a:ext cx="1698991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SIGNED VALUES!</a:t>
            </a:r>
          </a:p>
        </p:txBody>
      </p:sp>
    </p:spTree>
    <p:extLst>
      <p:ext uri="{BB962C8B-B14F-4D97-AF65-F5344CB8AC3E}">
        <p14:creationId xmlns:p14="http://schemas.microsoft.com/office/powerpoint/2010/main" val="2785352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64-bit Shifts</a:t>
            </a:r>
          </a:p>
        </p:txBody>
      </p:sp>
    </p:spTree>
    <p:extLst>
      <p:ext uri="{BB962C8B-B14F-4D97-AF65-F5344CB8AC3E}">
        <p14:creationId xmlns:p14="http://schemas.microsoft.com/office/powerpoint/2010/main" val="405859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1D07BC77-2E2E-4889-BEFC-598224BBB8A6}"/>
              </a:ext>
            </a:extLst>
          </p:cNvPr>
          <p:cNvSpPr/>
          <p:nvPr/>
        </p:nvSpPr>
        <p:spPr>
          <a:xfrm>
            <a:off x="9512836" y="4084119"/>
            <a:ext cx="419100" cy="381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74A474-2359-4785-B72F-63F8A212D60B}"/>
              </a:ext>
            </a:extLst>
          </p:cNvPr>
          <p:cNvSpPr txBox="1"/>
          <p:nvPr/>
        </p:nvSpPr>
        <p:spPr>
          <a:xfrm>
            <a:off x="9576000" y="4097526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371255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4800" y="371465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R0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408400" y="4089953"/>
            <a:ext cx="3945600" cy="394500"/>
            <a:chOff x="3808200" y="1740900"/>
            <a:chExt cx="3945600" cy="394500"/>
          </a:xfrm>
        </p:grpSpPr>
        <p:sp>
          <p:nvSpPr>
            <p:cNvPr id="4" name="Rectangle 3"/>
            <p:cNvSpPr/>
            <p:nvPr/>
          </p:nvSpPr>
          <p:spPr>
            <a:xfrm>
              <a:off x="3810000" y="17526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848800" y="17526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08200" y="17544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63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81600" y="17544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32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48800" y="17544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31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15600" y="17409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345259" y="1764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0" y="17526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057400" y="4988230"/>
            <a:ext cx="7296600" cy="382283"/>
            <a:chOff x="457200" y="2286000"/>
            <a:chExt cx="7296600" cy="382283"/>
          </a:xfrm>
        </p:grpSpPr>
        <p:sp>
          <p:nvSpPr>
            <p:cNvPr id="9" name="Rectangle 8"/>
            <p:cNvSpPr/>
            <p:nvPr/>
          </p:nvSpPr>
          <p:spPr>
            <a:xfrm>
              <a:off x="3810000" y="22860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848800" y="22860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3321600" y="2358150"/>
              <a:ext cx="304800" cy="220500"/>
            </a:xfrm>
            <a:prstGeom prst="rightArrow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7200" y="2291834"/>
              <a:ext cx="259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742950" algn="l"/>
                </a:tabLst>
              </a:pPr>
              <a:r>
                <a:rPr lang="en-US" dirty="0"/>
                <a:t>LSLS	R0,R0,1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10000" y="2298951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63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200" y="2286000"/>
              <a:ext cx="684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32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220400" y="22860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0</a:t>
              </a:r>
              <a:r>
                <a:rPr lang="en-US" dirty="0"/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48800" y="2286000"/>
              <a:ext cx="89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30</a:t>
              </a:r>
              <a:endParaRPr 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43400" y="229415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0" y="22976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057400" y="5863624"/>
            <a:ext cx="7296600" cy="389617"/>
            <a:chOff x="457200" y="2810783"/>
            <a:chExt cx="7296600" cy="389617"/>
          </a:xfrm>
        </p:grpSpPr>
        <p:sp>
          <p:nvSpPr>
            <p:cNvPr id="13" name="Rectangle 12"/>
            <p:cNvSpPr/>
            <p:nvPr/>
          </p:nvSpPr>
          <p:spPr>
            <a:xfrm>
              <a:off x="3810000" y="28194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848800" y="28194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3321600" y="2891550"/>
              <a:ext cx="304800" cy="220500"/>
            </a:xfrm>
            <a:prstGeom prst="rightArrow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7200" y="2824459"/>
              <a:ext cx="259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742950" algn="l"/>
                </a:tabLst>
              </a:pPr>
              <a:r>
                <a:rPr lang="en-US" dirty="0"/>
                <a:t>ADC	R1,R1,R1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10000" y="28113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62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62500" y="2811300"/>
              <a:ext cx="951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31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20400" y="2810783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0</a:t>
              </a:r>
              <a:r>
                <a:rPr lang="en-US" dirty="0"/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848800" y="2824459"/>
              <a:ext cx="89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30</a:t>
              </a:r>
              <a:endParaRPr 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43400" y="2831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00800" y="2831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464" y="734158"/>
            <a:ext cx="8772968" cy="709632"/>
          </a:xfrm>
        </p:spPr>
        <p:txBody>
          <a:bodyPr>
            <a:normAutofit/>
          </a:bodyPr>
          <a:lstStyle/>
          <a:p>
            <a:r>
              <a:rPr lang="en-US" dirty="0"/>
              <a:t>64-BIT LOGICAL SHIFT LEFT (By 1 bit)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ED20CC-6B56-46A5-8649-61DE8F1BF4B6}"/>
              </a:ext>
            </a:extLst>
          </p:cNvPr>
          <p:cNvSpPr txBox="1"/>
          <p:nvPr/>
        </p:nvSpPr>
        <p:spPr>
          <a:xfrm>
            <a:off x="9451882" y="3741851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758411-082D-466F-A93B-DAC0784C3FAE}"/>
              </a:ext>
            </a:extLst>
          </p:cNvPr>
          <p:cNvSpPr/>
          <p:nvPr/>
        </p:nvSpPr>
        <p:spPr>
          <a:xfrm>
            <a:off x="9514867" y="4972920"/>
            <a:ext cx="419100" cy="381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96FDE5-4AC4-4917-BC11-5343053F7252}"/>
              </a:ext>
            </a:extLst>
          </p:cNvPr>
          <p:cNvSpPr txBox="1"/>
          <p:nvPr/>
        </p:nvSpPr>
        <p:spPr>
          <a:xfrm>
            <a:off x="9495477" y="494531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31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E2E3A9C-8B76-4BB7-8B96-EF1E7FAA7292}"/>
              </a:ext>
            </a:extLst>
          </p:cNvPr>
          <p:cNvSpPr/>
          <p:nvPr/>
        </p:nvSpPr>
        <p:spPr>
          <a:xfrm>
            <a:off x="9507190" y="5848314"/>
            <a:ext cx="419100" cy="381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8E75F2-279C-4BEC-8068-01D6030B3531}"/>
              </a:ext>
            </a:extLst>
          </p:cNvPr>
          <p:cNvSpPr txBox="1"/>
          <p:nvPr/>
        </p:nvSpPr>
        <p:spPr>
          <a:xfrm>
            <a:off x="9487800" y="5820707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31</a:t>
            </a:r>
            <a:endParaRPr lang="en-US" dirty="0"/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2F3D4BB2-A60B-43CA-99BA-B4F0CF287EBE}"/>
              </a:ext>
            </a:extLst>
          </p:cNvPr>
          <p:cNvGraphicFramePr>
            <a:graphicFrameLocks noGrp="1"/>
          </p:cNvGraphicFramePr>
          <p:nvPr/>
        </p:nvGraphicFramePr>
        <p:xfrm>
          <a:off x="2324099" y="1637988"/>
          <a:ext cx="7886701" cy="2113130"/>
        </p:xfrm>
        <a:graphic>
          <a:graphicData uri="http://schemas.openxmlformats.org/drawingml/2006/table">
            <a:tbl>
              <a:tblPr firstRow="1" firstCol="1" bandRow="1"/>
              <a:tblGrid>
                <a:gridCol w="788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313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uint64_t LSL64x1(uint64_t dword64)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LSL64x1: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LSLS	R0,R0,1	// Shift LS 32 bits left by 1, capture C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ADC	R1,R1,R1	// Shift MS 32 bits left by 1, add C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BX	LR	// Return </a:t>
                      </a: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55518" marR="5551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589" y="2562726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Only one example!</a:t>
            </a:r>
          </a:p>
        </p:txBody>
      </p:sp>
    </p:spTree>
    <p:extLst>
      <p:ext uri="{BB962C8B-B14F-4D97-AF65-F5344CB8AC3E}">
        <p14:creationId xmlns:p14="http://schemas.microsoft.com/office/powerpoint/2010/main" val="3089865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Bitwise Operations</a:t>
            </a:r>
          </a:p>
        </p:txBody>
      </p:sp>
    </p:spTree>
    <p:extLst>
      <p:ext uri="{BB962C8B-B14F-4D97-AF65-F5344CB8AC3E}">
        <p14:creationId xmlns:p14="http://schemas.microsoft.com/office/powerpoint/2010/main" val="80416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90" y="721894"/>
            <a:ext cx="6085915" cy="717885"/>
          </a:xfrm>
        </p:spPr>
        <p:txBody>
          <a:bodyPr/>
          <a:lstStyle/>
          <a:p>
            <a:r>
              <a:rPr lang="en-US" dirty="0"/>
              <a:t>Review: Bitwise Operators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2792729" y="1974685"/>
          <a:ext cx="6012181" cy="1870075"/>
        </p:xfrm>
        <a:graphic>
          <a:graphicData uri="http://schemas.openxmlformats.org/drawingml/2006/table">
            <a:tbl>
              <a:tblPr firstRow="1" firstCol="1" bandRow="1"/>
              <a:tblGrid>
                <a:gridCol w="1135061">
                  <a:extLst>
                    <a:ext uri="{9D8B030D-6E8A-4147-A177-3AD203B41FA5}">
                      <a16:colId xmlns:a16="http://schemas.microsoft.com/office/drawing/2014/main" val="2452404202"/>
                    </a:ext>
                  </a:extLst>
                </a:gridCol>
                <a:gridCol w="607808">
                  <a:extLst>
                    <a:ext uri="{9D8B030D-6E8A-4147-A177-3AD203B41FA5}">
                      <a16:colId xmlns:a16="http://schemas.microsoft.com/office/drawing/2014/main" val="3565367705"/>
                    </a:ext>
                  </a:extLst>
                </a:gridCol>
                <a:gridCol w="609276">
                  <a:extLst>
                    <a:ext uri="{9D8B030D-6E8A-4147-A177-3AD203B41FA5}">
                      <a16:colId xmlns:a16="http://schemas.microsoft.com/office/drawing/2014/main" val="2951595851"/>
                    </a:ext>
                  </a:extLst>
                </a:gridCol>
                <a:gridCol w="607808">
                  <a:extLst>
                    <a:ext uri="{9D8B030D-6E8A-4147-A177-3AD203B41FA5}">
                      <a16:colId xmlns:a16="http://schemas.microsoft.com/office/drawing/2014/main" val="2646633516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2030632157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609276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=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401634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 =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069400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 =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5853404" y="1866045"/>
            <a:ext cx="419878" cy="217403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250327" y="4574984"/>
            <a:ext cx="6711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bit position of the result depends </a:t>
            </a:r>
            <a:r>
              <a:rPr lang="en-US" sz="2400" u="sng" dirty="0"/>
              <a:t>only</a:t>
            </a:r>
            <a:r>
              <a:rPr lang="en-US" sz="2400" dirty="0"/>
              <a:t> on bits in the same position within the operands.</a:t>
            </a:r>
          </a:p>
        </p:txBody>
      </p:sp>
      <p:sp>
        <p:nvSpPr>
          <p:cNvPr id="3" name="Down Arrow 2"/>
          <p:cNvSpPr/>
          <p:nvPr/>
        </p:nvSpPr>
        <p:spPr>
          <a:xfrm>
            <a:off x="5988800" y="3210339"/>
            <a:ext cx="149087" cy="2484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70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247986" y="3283209"/>
            <a:ext cx="31501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AND to </a:t>
            </a:r>
            <a:r>
              <a:rPr lang="en-US" sz="2400" b="1" dirty="0">
                <a:solidFill>
                  <a:srgbClr val="FF0000"/>
                </a:solidFill>
              </a:rPr>
              <a:t>clear</a:t>
            </a:r>
            <a:r>
              <a:rPr lang="en-US" sz="2400" dirty="0"/>
              <a:t> a single bit to 0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&amp; ~(1 &lt;&lt; 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2197" y="2170555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193158" y="1731302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411" y="737888"/>
            <a:ext cx="3005831" cy="666649"/>
          </a:xfrm>
        </p:spPr>
        <p:txBody>
          <a:bodyPr/>
          <a:lstStyle/>
          <a:p>
            <a:r>
              <a:rPr lang="en-US" dirty="0"/>
              <a:t>Bitwise 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6308" y="1539256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AND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661160" y="1801186"/>
            <a:ext cx="3657600" cy="1031059"/>
            <a:chOff x="136886" y="2426339"/>
            <a:chExt cx="3663147" cy="1031059"/>
          </a:xfrm>
        </p:grpSpPr>
        <p:sp>
          <p:nvSpPr>
            <p:cNvPr id="5" name="Left Brace 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eft Brace 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83888" y="2426339"/>
              <a:ext cx="416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0106" y="2972986"/>
              <a:ext cx="409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7032" y="1585889"/>
            <a:ext cx="5297326" cy="1281392"/>
            <a:chOff x="5205707" y="1974509"/>
            <a:chExt cx="5297326" cy="1281392"/>
          </a:xfrm>
        </p:grpSpPr>
        <p:sp>
          <p:nvSpPr>
            <p:cNvPr id="14" name="TextBox 13"/>
            <p:cNvSpPr txBox="1"/>
            <p:nvPr/>
          </p:nvSpPr>
          <p:spPr>
            <a:xfrm>
              <a:off x="7529518" y="1974509"/>
              <a:ext cx="297351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0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b</a:t>
              </a:r>
            </a:p>
          </p:txBody>
        </p:sp>
        <p:sp>
          <p:nvSpPr>
            <p:cNvPr id="15" name="Flowchart: Summing Junction 14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17" name="Straight Arrow Connector 16"/>
            <p:cNvCxnSpPr>
              <a:stCxn id="16" idx="3"/>
              <a:endCxn id="15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5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5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</p:grp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180968" y="4342101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D5D68D3-41FA-3F71-326E-A3349D7F8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07367"/>
              </p:ext>
            </p:extLst>
          </p:nvPr>
        </p:nvGraphicFramePr>
        <p:xfrm>
          <a:off x="7358790" y="4342101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06289A1-EC1D-550D-775F-B02A21889797}"/>
              </a:ext>
            </a:extLst>
          </p:cNvPr>
          <p:cNvSpPr txBox="1"/>
          <p:nvPr/>
        </p:nvSpPr>
        <p:spPr>
          <a:xfrm>
            <a:off x="9800280" y="4342101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4F47C-3B84-72BB-8E97-FE2D6608A70C}"/>
              </a:ext>
            </a:extLst>
          </p:cNvPr>
          <p:cNvSpPr txBox="1"/>
          <p:nvPr/>
        </p:nvSpPr>
        <p:spPr>
          <a:xfrm>
            <a:off x="9800280" y="470038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ADE8ED-D343-76F0-EFB3-059A3A286592}"/>
              </a:ext>
            </a:extLst>
          </p:cNvPr>
          <p:cNvSpPr txBox="1"/>
          <p:nvPr/>
        </p:nvSpPr>
        <p:spPr>
          <a:xfrm>
            <a:off x="9805650" y="505866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8DD337-90B4-794E-5E2E-B05E59DCFA21}"/>
              </a:ext>
            </a:extLst>
          </p:cNvPr>
          <p:cNvSpPr txBox="1"/>
          <p:nvPr/>
        </p:nvSpPr>
        <p:spPr>
          <a:xfrm>
            <a:off x="8297691" y="39486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60460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011070" y="3283209"/>
            <a:ext cx="34959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AND to </a:t>
            </a:r>
            <a:r>
              <a:rPr lang="en-US" sz="2400" b="1" dirty="0">
                <a:solidFill>
                  <a:srgbClr val="0000FF"/>
                </a:solidFill>
              </a:rPr>
              <a:t>isolate/test</a:t>
            </a:r>
            <a:r>
              <a:rPr lang="en-US" sz="2400" dirty="0"/>
              <a:t> a single bit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&amp; (1 &lt;&lt; 2)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2197" y="2170555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193158" y="1731302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53036"/>
            <a:ext cx="3134168" cy="653039"/>
          </a:xfrm>
        </p:spPr>
        <p:txBody>
          <a:bodyPr/>
          <a:lstStyle/>
          <a:p>
            <a:r>
              <a:rPr lang="en-US" dirty="0"/>
              <a:t>Bitwise 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6308" y="1539256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AND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661160" y="1801186"/>
            <a:ext cx="3657600" cy="1031059"/>
            <a:chOff x="136886" y="2426339"/>
            <a:chExt cx="3663147" cy="1031059"/>
          </a:xfrm>
        </p:grpSpPr>
        <p:sp>
          <p:nvSpPr>
            <p:cNvPr id="5" name="Left Brace 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eft Brace 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83888" y="2426339"/>
              <a:ext cx="416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0106" y="2972986"/>
              <a:ext cx="409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7032" y="1585889"/>
            <a:ext cx="5341442" cy="1281392"/>
            <a:chOff x="5205707" y="1974509"/>
            <a:chExt cx="5341442" cy="1281392"/>
          </a:xfrm>
        </p:grpSpPr>
        <p:sp>
          <p:nvSpPr>
            <p:cNvPr id="14" name="TextBox 13"/>
            <p:cNvSpPr txBox="1"/>
            <p:nvPr/>
          </p:nvSpPr>
          <p:spPr>
            <a:xfrm>
              <a:off x="7529518" y="1974509"/>
              <a:ext cx="301763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0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b</a:t>
              </a:r>
            </a:p>
          </p:txBody>
        </p:sp>
        <p:sp>
          <p:nvSpPr>
            <p:cNvPr id="15" name="Flowchart: Summing Junction 14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17" name="Straight Arrow Connector 16"/>
            <p:cNvCxnSpPr>
              <a:stCxn id="16" idx="3"/>
              <a:endCxn id="15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5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5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</p:grp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66598" y="4389777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ACA3189-CB58-8271-5193-431B52874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08325"/>
              </p:ext>
            </p:extLst>
          </p:nvPr>
        </p:nvGraphicFramePr>
        <p:xfrm>
          <a:off x="7358790" y="4342101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AECE1A7-0E3A-CB43-BFE9-32927BFD2659}"/>
              </a:ext>
            </a:extLst>
          </p:cNvPr>
          <p:cNvSpPr txBox="1"/>
          <p:nvPr/>
        </p:nvSpPr>
        <p:spPr>
          <a:xfrm>
            <a:off x="9800280" y="4342101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627386-8CCC-8A36-E9B8-0EA7647AD318}"/>
              </a:ext>
            </a:extLst>
          </p:cNvPr>
          <p:cNvSpPr txBox="1"/>
          <p:nvPr/>
        </p:nvSpPr>
        <p:spPr>
          <a:xfrm>
            <a:off x="9800280" y="470038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19BD67-0B29-4CC8-1EDB-462EFE51C08C}"/>
              </a:ext>
            </a:extLst>
          </p:cNvPr>
          <p:cNvSpPr txBox="1"/>
          <p:nvPr/>
        </p:nvSpPr>
        <p:spPr>
          <a:xfrm>
            <a:off x="9805650" y="505866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4B7074-1223-5F06-E0B0-F6355BCC42BF}"/>
              </a:ext>
            </a:extLst>
          </p:cNvPr>
          <p:cNvSpPr txBox="1"/>
          <p:nvPr/>
        </p:nvSpPr>
        <p:spPr>
          <a:xfrm>
            <a:off x="8297691" y="39486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96814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390895" y="3434010"/>
            <a:ext cx="30711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OR to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a single bit to 1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| (1 &lt;&lt; 2)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03980" y="4425746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206448" y="2190530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193158" y="1736955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4" y="728534"/>
            <a:ext cx="2697021" cy="597833"/>
          </a:xfrm>
        </p:spPr>
        <p:txBody>
          <a:bodyPr/>
          <a:lstStyle/>
          <a:p>
            <a:r>
              <a:rPr lang="en-US" dirty="0"/>
              <a:t>Bitwise 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6308" y="1582838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661160" y="1877091"/>
            <a:ext cx="3657600" cy="1031059"/>
            <a:chOff x="136886" y="2426339"/>
            <a:chExt cx="3663147" cy="1031059"/>
          </a:xfrm>
        </p:grpSpPr>
        <p:sp>
          <p:nvSpPr>
            <p:cNvPr id="5" name="Left Brace 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eft Brace 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83888" y="2465608"/>
              <a:ext cx="416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0106" y="2988503"/>
              <a:ext cx="409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7032" y="1594741"/>
            <a:ext cx="5281284" cy="1281392"/>
            <a:chOff x="5205707" y="1974509"/>
            <a:chExt cx="5281284" cy="1281392"/>
          </a:xfrm>
        </p:grpSpPr>
        <p:sp>
          <p:nvSpPr>
            <p:cNvPr id="14" name="Flowchart: Summing Junction 13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16" name="Straight Arrow Connector 15"/>
            <p:cNvCxnSpPr>
              <a:stCxn id="15" idx="3"/>
              <a:endCxn id="14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4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4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529519" y="1974509"/>
              <a:ext cx="29574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b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1</a:t>
              </a: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068BE3E-F2C3-B332-AFB0-A9504062E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02853"/>
              </p:ext>
            </p:extLst>
          </p:nvPr>
        </p:nvGraphicFramePr>
        <p:xfrm>
          <a:off x="7359615" y="4523470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61A3525-99AD-44FB-4E42-A0805ED92E1D}"/>
              </a:ext>
            </a:extLst>
          </p:cNvPr>
          <p:cNvSpPr txBox="1"/>
          <p:nvPr/>
        </p:nvSpPr>
        <p:spPr>
          <a:xfrm>
            <a:off x="9801105" y="4523470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911F08-1816-ACA2-E48D-39BBAB8581F0}"/>
              </a:ext>
            </a:extLst>
          </p:cNvPr>
          <p:cNvSpPr txBox="1"/>
          <p:nvPr/>
        </p:nvSpPr>
        <p:spPr>
          <a:xfrm>
            <a:off x="9801105" y="488175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B137F-7D42-55AB-D017-9FD4D0F27A83}"/>
              </a:ext>
            </a:extLst>
          </p:cNvPr>
          <p:cNvSpPr txBox="1"/>
          <p:nvPr/>
        </p:nvSpPr>
        <p:spPr>
          <a:xfrm>
            <a:off x="9806475" y="524003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C56C77-CE48-8FC7-65D8-19487B49776E}"/>
              </a:ext>
            </a:extLst>
          </p:cNvPr>
          <p:cNvSpPr txBox="1"/>
          <p:nvPr/>
        </p:nvSpPr>
        <p:spPr>
          <a:xfrm>
            <a:off x="8298516" y="413004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845453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2142155" y="3536374"/>
            <a:ext cx="32652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XOR to </a:t>
            </a:r>
            <a:r>
              <a:rPr lang="en-US" sz="2400" b="1" dirty="0">
                <a:solidFill>
                  <a:srgbClr val="FF0000"/>
                </a:solidFill>
              </a:rPr>
              <a:t>change</a:t>
            </a:r>
            <a:r>
              <a:rPr lang="en-US" sz="2400" dirty="0"/>
              <a:t> a single bit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^ (1 &lt;&lt; 2)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6858" y="2375244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8023569" y="1906148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4" y="748569"/>
            <a:ext cx="5047189" cy="728566"/>
          </a:xfrm>
        </p:spPr>
        <p:txBody>
          <a:bodyPr/>
          <a:lstStyle/>
          <a:p>
            <a:r>
              <a:rPr lang="en-US" dirty="0"/>
              <a:t>Bitwise Exclusive-OR 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576719" y="1815601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XOR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1491571" y="2077531"/>
            <a:ext cx="3554730" cy="1031059"/>
            <a:chOff x="136886" y="2426339"/>
            <a:chExt cx="3560121" cy="1031059"/>
          </a:xfrm>
        </p:grpSpPr>
        <p:sp>
          <p:nvSpPr>
            <p:cNvPr id="29" name="Left Brace 28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Left Brace 29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Left Brace 30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Left Brace 31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83888" y="2465607"/>
              <a:ext cx="3131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739866" y="2623399"/>
            <a:ext cx="31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4793838" y="2683357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0014708" y="2320127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5353465" y="1797029"/>
            <a:ext cx="5314535" cy="1281392"/>
            <a:chOff x="5205707" y="1974509"/>
            <a:chExt cx="5314535" cy="1281392"/>
          </a:xfrm>
        </p:grpSpPr>
        <p:sp>
          <p:nvSpPr>
            <p:cNvPr id="62" name="Flowchart: Summing Junction 61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64" name="Straight Arrow Connector 63"/>
            <p:cNvCxnSpPr>
              <a:stCxn id="63" idx="3"/>
              <a:endCxn id="62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2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62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529518" y="1974509"/>
              <a:ext cx="29907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b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b</a:t>
              </a:r>
            </a:p>
          </p:txBody>
        </p:sp>
      </p:grp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039285" y="4534679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>
            <a:off x="3137230" y="5338976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7DA4BD-2314-F26B-7630-50A71C204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67690"/>
              </p:ext>
            </p:extLst>
          </p:nvPr>
        </p:nvGraphicFramePr>
        <p:xfrm>
          <a:off x="7389018" y="3560470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19C03F-0BEC-0652-8056-186D3F0CB432}"/>
              </a:ext>
            </a:extLst>
          </p:cNvPr>
          <p:cNvSpPr txBox="1"/>
          <p:nvPr/>
        </p:nvSpPr>
        <p:spPr>
          <a:xfrm>
            <a:off x="9830508" y="3560470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CBA2D-28AF-FBC3-2054-BE083213A74B}"/>
              </a:ext>
            </a:extLst>
          </p:cNvPr>
          <p:cNvSpPr txBox="1"/>
          <p:nvPr/>
        </p:nvSpPr>
        <p:spPr>
          <a:xfrm>
            <a:off x="9830508" y="391875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1FC32-5013-EDA2-293A-2E457D2BCF12}"/>
              </a:ext>
            </a:extLst>
          </p:cNvPr>
          <p:cNvSpPr txBox="1"/>
          <p:nvPr/>
        </p:nvSpPr>
        <p:spPr>
          <a:xfrm>
            <a:off x="9835878" y="427703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62E86-FF39-1769-74CC-A2F44DB25676}"/>
              </a:ext>
            </a:extLst>
          </p:cNvPr>
          <p:cNvSpPr txBox="1"/>
          <p:nvPr/>
        </p:nvSpPr>
        <p:spPr>
          <a:xfrm>
            <a:off x="8327919" y="316704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A46FD3-8487-5EF9-812D-E650AE22E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131278"/>
              </p:ext>
            </p:extLst>
          </p:nvPr>
        </p:nvGraphicFramePr>
        <p:xfrm>
          <a:off x="7389018" y="5338976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932AE08-04D8-963E-5B52-F89D91AAC5DE}"/>
              </a:ext>
            </a:extLst>
          </p:cNvPr>
          <p:cNvSpPr txBox="1"/>
          <p:nvPr/>
        </p:nvSpPr>
        <p:spPr>
          <a:xfrm>
            <a:off x="9830508" y="5338976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B84F5-87B9-FCEF-4C28-4F3BC6D03C99}"/>
              </a:ext>
            </a:extLst>
          </p:cNvPr>
          <p:cNvSpPr txBox="1"/>
          <p:nvPr/>
        </p:nvSpPr>
        <p:spPr>
          <a:xfrm>
            <a:off x="9830508" y="569726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B65C6-171F-06DE-D968-436988FDBCD9}"/>
              </a:ext>
            </a:extLst>
          </p:cNvPr>
          <p:cNvSpPr txBox="1"/>
          <p:nvPr/>
        </p:nvSpPr>
        <p:spPr>
          <a:xfrm>
            <a:off x="9835878" y="605554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86E91-7177-0E42-0ADC-2445F0DE8458}"/>
              </a:ext>
            </a:extLst>
          </p:cNvPr>
          <p:cNvSpPr txBox="1"/>
          <p:nvPr/>
        </p:nvSpPr>
        <p:spPr>
          <a:xfrm>
            <a:off x="8327919" y="494554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B32F7-364B-EA5E-0108-6E2B473FEC5E}"/>
              </a:ext>
            </a:extLst>
          </p:cNvPr>
          <p:cNvSpPr txBox="1"/>
          <p:nvPr/>
        </p:nvSpPr>
        <p:spPr>
          <a:xfrm>
            <a:off x="10598104" y="882723"/>
            <a:ext cx="1346844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XOE_EOR.s</a:t>
            </a:r>
          </a:p>
        </p:txBody>
      </p:sp>
    </p:spTree>
    <p:extLst>
      <p:ext uri="{BB962C8B-B14F-4D97-AF65-F5344CB8AC3E}">
        <p14:creationId xmlns:p14="http://schemas.microsoft.com/office/powerpoint/2010/main" val="4257995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01827"/>
              </p:ext>
            </p:extLst>
          </p:nvPr>
        </p:nvGraphicFramePr>
        <p:xfrm>
          <a:off x="1420365" y="1975821"/>
          <a:ext cx="9065737" cy="339996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4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7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Flags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Bitwise </a:t>
                      </a: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AND</a:t>
                      </a:r>
                      <a:endParaRPr lang="en-US" sz="2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AND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&amp;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 Clear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&amp; ~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069843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Bitwise </a:t>
                      </a: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OR</a:t>
                      </a:r>
                      <a:endParaRPr lang="en-US" sz="2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ORR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|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Exclusive OR</a:t>
                      </a:r>
                      <a:endParaRPr lang="en-US" sz="2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EOR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^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649437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Bitwise OR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ORN{S}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| ~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Move NOT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MVN{S}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~R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2558" y="738133"/>
            <a:ext cx="5753042" cy="628853"/>
          </a:xfrm>
        </p:spPr>
        <p:txBody>
          <a:bodyPr/>
          <a:lstStyle/>
          <a:p>
            <a:r>
              <a:rPr lang="en-US" dirty="0"/>
              <a:t>BITWISE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39099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87218" y="4744252"/>
            <a:ext cx="3356149" cy="14168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87217" y="3151211"/>
            <a:ext cx="3356149" cy="14168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87218" y="1558171"/>
            <a:ext cx="3356149" cy="14168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912" y="722371"/>
            <a:ext cx="7424928" cy="675188"/>
          </a:xfrm>
        </p:spPr>
        <p:txBody>
          <a:bodyPr>
            <a:normAutofit/>
          </a:bodyPr>
          <a:lstStyle/>
          <a:p>
            <a:r>
              <a:rPr lang="en-US" dirty="0"/>
              <a:t>USING BITWISE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9523" y="1512829"/>
            <a:ext cx="3321896" cy="4720590"/>
          </a:xfrm>
        </p:spPr>
        <p:txBody>
          <a:bodyPr>
            <a:normAutofit/>
          </a:bodyPr>
          <a:lstStyle/>
          <a:p>
            <a:pPr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</a:rPr>
              <a:t>Set a bit to 1 without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affecting other bits: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800100" lvl="2" indent="0">
              <a:buNone/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X |= (1 &lt;&lt; 5);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  <a:tabLst>
                <a:tab pos="5029200" algn="l"/>
                <a:tab pos="59436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</a:rPr>
              <a:t>Clear a bit to 0 without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affecting other bits: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800100" lvl="2" indent="0">
              <a:buNone/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X &amp;= ~(1 &lt;&lt; 5);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tabLst>
                <a:tab pos="5029200" algn="l"/>
                <a:tab pos="59436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</a:rPr>
              <a:t>Change a bit without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affecting other bits.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800100" lvl="2" indent="0">
              <a:buNone/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X ^= (1 &lt;&lt; 5);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87216" y="1563111"/>
            <a:ext cx="3356150" cy="459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R1,=x</a:t>
            </a:r>
          </a:p>
          <a:p>
            <a:pPr marL="0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R0,[R1]</a:t>
            </a:r>
            <a:br>
              <a:rPr lang="en-US" sz="28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ORR	R0,R0,1&lt;&lt;5</a:t>
            </a:r>
          </a:p>
          <a:p>
            <a:pPr marL="0" lvl="2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STR	R0,[R1]</a:t>
            </a:r>
            <a:endParaRPr lang="en-US" sz="2000" dirty="0"/>
          </a:p>
          <a:p>
            <a:pPr marL="0" indent="0">
              <a:spcBef>
                <a:spcPts val="300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R1,=x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LDR	R0,[R1]</a:t>
            </a:r>
            <a:br>
              <a:rPr lang="en-US" sz="28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BIC	R0,R0,1&lt;&lt;5</a:t>
            </a:r>
          </a:p>
          <a:p>
            <a:pPr marL="0" lvl="2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STR	R0,[R1]</a:t>
            </a:r>
            <a:endParaRPr lang="en-US" sz="2000" dirty="0"/>
          </a:p>
          <a:p>
            <a:pPr marL="0" indent="0">
              <a:spcBef>
                <a:spcPts val="300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R1,=x</a:t>
            </a:r>
          </a:p>
          <a:p>
            <a:pPr marL="0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R0,[R1]</a:t>
            </a:r>
            <a:br>
              <a:rPr lang="en-US" sz="28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EOR	R0,R0,1&lt;&lt;5</a:t>
            </a:r>
          </a:p>
          <a:p>
            <a:pPr marL="0" lvl="2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STR	R0,[R1]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2</a:t>
            </a:r>
          </a:p>
        </p:txBody>
      </p:sp>
    </p:spTree>
    <p:extLst>
      <p:ext uri="{BB962C8B-B14F-4D97-AF65-F5344CB8AC3E}">
        <p14:creationId xmlns:p14="http://schemas.microsoft.com/office/powerpoint/2010/main" val="490828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431" y="747880"/>
            <a:ext cx="7247022" cy="659815"/>
          </a:xfrm>
        </p:spPr>
        <p:txBody>
          <a:bodyPr>
            <a:normAutofit/>
          </a:bodyPr>
          <a:lstStyle/>
          <a:p>
            <a:r>
              <a:rPr lang="en-US" dirty="0"/>
              <a:t>USING C 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6430" y="1621802"/>
            <a:ext cx="10415337" cy="503567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Test the value of a single bit in a word</a:t>
            </a:r>
          </a:p>
          <a:p>
            <a:pPr marL="800100" lvl="2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if ((word &amp; (1 &lt;&lt; 5)) != 0) 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Calculate remainder </a:t>
            </a:r>
            <a:r>
              <a:rPr lang="en-US" b="1" dirty="0" err="1">
                <a:solidFill>
                  <a:srgbClr val="92D050"/>
                </a:solidFill>
              </a:rPr>
              <a:t>n</a:t>
            </a:r>
            <a:r>
              <a:rPr lang="en-US" dirty="0" err="1">
                <a:solidFill>
                  <a:schemeClr val="tx1"/>
                </a:solidFill>
              </a:rPr>
              <a:t>%</a:t>
            </a:r>
            <a:r>
              <a:rPr lang="en-US" b="1" dirty="0" err="1">
                <a:solidFill>
                  <a:srgbClr val="FF0000"/>
                </a:solidFill>
              </a:rPr>
              <a:t>d</a:t>
            </a:r>
            <a:r>
              <a:rPr lang="en-US" baseline="30000" dirty="0"/>
              <a:t> </a:t>
            </a:r>
            <a:r>
              <a:rPr lang="en-US" dirty="0">
                <a:solidFill>
                  <a:schemeClr val="tx1"/>
                </a:solidFill>
              </a:rPr>
              <a:t>when n≥0 and d= 2</a:t>
            </a:r>
            <a:r>
              <a:rPr lang="en-US" baseline="30000" dirty="0">
                <a:solidFill>
                  <a:schemeClr val="tx1"/>
                </a:solidFill>
              </a:rPr>
              <a:t>k</a:t>
            </a:r>
            <a:endParaRPr lang="en-US" dirty="0">
              <a:solidFill>
                <a:schemeClr val="tx1"/>
              </a:solidFill>
            </a:endParaRPr>
          </a:p>
          <a:p>
            <a:pPr marL="800100" lvl="2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rem =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%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>
                <a:solidFill>
                  <a:srgbClr val="FF0000"/>
                </a:solidFill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	rem = 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&amp; 0x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Determine if an integer is an odd number</a:t>
            </a:r>
          </a:p>
          <a:p>
            <a:pPr marL="857250" lvl="2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 == 1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	(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&amp;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 !=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8121" y="3183274"/>
            <a:ext cx="388126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Calculating % takes more ARM CPU instructions than calculating &amp;.</a:t>
            </a:r>
          </a:p>
        </p:txBody>
      </p:sp>
      <p:pic>
        <p:nvPicPr>
          <p:cNvPr id="5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2352" y="3240675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2</a:t>
            </a:r>
          </a:p>
        </p:txBody>
      </p:sp>
    </p:spTree>
    <p:extLst>
      <p:ext uri="{BB962C8B-B14F-4D97-AF65-F5344CB8AC3E}">
        <p14:creationId xmlns:p14="http://schemas.microsoft.com/office/powerpoint/2010/main" val="2843619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2506" y="749192"/>
            <a:ext cx="8793020" cy="618397"/>
          </a:xfrm>
        </p:spPr>
        <p:txBody>
          <a:bodyPr>
            <a:normAutofit/>
          </a:bodyPr>
          <a:lstStyle/>
          <a:p>
            <a:r>
              <a:rPr lang="en-US" dirty="0"/>
              <a:t>Other Values Dependent on Sign of R0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057400" y="1737892"/>
              <a:ext cx="6962275" cy="43741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94109">
                      <a:extLst>
                        <a:ext uri="{9D8B030D-6E8A-4147-A177-3AD203B41FA5}">
                          <a16:colId xmlns:a16="http://schemas.microsoft.com/office/drawing/2014/main" val="2947290422"/>
                        </a:ext>
                      </a:extLst>
                    </a:gridCol>
                    <a:gridCol w="1840030">
                      <a:extLst>
                        <a:ext uri="{9D8B030D-6E8A-4147-A177-3AD203B41FA5}">
                          <a16:colId xmlns:a16="http://schemas.microsoft.com/office/drawing/2014/main" val="4119301694"/>
                        </a:ext>
                      </a:extLst>
                    </a:gridCol>
                    <a:gridCol w="1728136">
                      <a:extLst>
                        <a:ext uri="{9D8B030D-6E8A-4147-A177-3AD203B41FA5}">
                          <a16:colId xmlns:a16="http://schemas.microsoft.com/office/drawing/2014/main" val="3994573705"/>
                        </a:ext>
                      </a:extLst>
                    </a:gridCol>
                  </a:tblGrid>
                  <a:tr h="4078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Instruction Sequence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Result left in R2: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036141"/>
                      </a:ext>
                    </a:extLst>
                  </a:tr>
                  <a:tr h="703886">
                    <a:tc vMerge="1">
                      <a:txBody>
                        <a:bodyPr/>
                        <a:lstStyle/>
                        <a:p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&lt;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≥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690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ADD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+ 1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729358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SUB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–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371121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RSB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 – 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972327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AND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936804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BIC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861426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1433016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ORN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860272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EOR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~R1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16699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710137"/>
                  </p:ext>
                </p:extLst>
              </p:nvPr>
            </p:nvGraphicFramePr>
            <p:xfrm>
              <a:off x="2057400" y="1737892"/>
              <a:ext cx="6962275" cy="43741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94109">
                      <a:extLst>
                        <a:ext uri="{9D8B030D-6E8A-4147-A177-3AD203B41FA5}">
                          <a16:colId xmlns:a16="http://schemas.microsoft.com/office/drawing/2014/main" val="2947290422"/>
                        </a:ext>
                      </a:extLst>
                    </a:gridCol>
                    <a:gridCol w="1840030">
                      <a:extLst>
                        <a:ext uri="{9D8B030D-6E8A-4147-A177-3AD203B41FA5}">
                          <a16:colId xmlns:a16="http://schemas.microsoft.com/office/drawing/2014/main" val="4119301694"/>
                        </a:ext>
                      </a:extLst>
                    </a:gridCol>
                    <a:gridCol w="1728136">
                      <a:extLst>
                        <a:ext uri="{9D8B030D-6E8A-4147-A177-3AD203B41FA5}">
                          <a16:colId xmlns:a16="http://schemas.microsoft.com/office/drawing/2014/main" val="3994573705"/>
                        </a:ext>
                      </a:extLst>
                    </a:gridCol>
                  </a:tblGrid>
                  <a:tr h="4078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Instruction Sequence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Result left in R2: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036141"/>
                      </a:ext>
                    </a:extLst>
                  </a:tr>
                  <a:tr h="703886">
                    <a:tc vMerge="1">
                      <a:txBody>
                        <a:bodyPr/>
                        <a:lstStyle/>
                        <a:p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&lt;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≥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690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ADD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+ 1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729358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SUB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–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371121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RSB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 – 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817" t="-479104" r="-704" b="-5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972327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AND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936804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BIC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861426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768" t="-779104" r="-94702" b="-2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1433016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ORN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817" t="-879104" r="-704" b="-1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860272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EOR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~R1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16699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04599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Bitfields</a:t>
            </a:r>
          </a:p>
        </p:txBody>
      </p:sp>
    </p:spTree>
    <p:extLst>
      <p:ext uri="{BB962C8B-B14F-4D97-AF65-F5344CB8AC3E}">
        <p14:creationId xmlns:p14="http://schemas.microsoft.com/office/powerpoint/2010/main" val="3391378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0526" y="757213"/>
            <a:ext cx="8159358" cy="722671"/>
          </a:xfrm>
        </p:spPr>
        <p:txBody>
          <a:bodyPr>
            <a:normAutofit/>
          </a:bodyPr>
          <a:lstStyle/>
          <a:p>
            <a:r>
              <a:rPr lang="en-US" dirty="0"/>
              <a:t>Trading Execution Time for Memory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50086" y="1730877"/>
                <a:ext cx="7886700" cy="326350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Consider two unsigned integer values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such that: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72641" indent="0">
                  <a:buNone/>
                  <a:tabLst>
                    <a:tab pos="3000375" algn="l"/>
                    <a:tab pos="3387329" algn="l"/>
                    <a:tab pos="4287441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 ≤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12&lt;4,000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	12 bits		uint16_t (2 bytes)</a:t>
                </a:r>
              </a:p>
              <a:p>
                <a:pPr marL="172641" indent="0">
                  <a:buNone/>
                  <a:tabLst>
                    <a:tab pos="3000375" algn="l"/>
                    <a:tab pos="3387329" algn="l"/>
                    <a:tab pos="4287441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 ≤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20&lt; 1,000,00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0	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	20 bits		uint32_t (4 bytes)</a:t>
                </a:r>
              </a:p>
              <a:p>
                <a:pPr marL="172641" indent="0">
                  <a:buNone/>
                </a:pPr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172641" indent="0">
                  <a:buNone/>
                </a:pPr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172641" indent="0">
                  <a:buNone/>
                </a:pP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But we can store both in a single 32-bit word and save 2 bytes:</a:t>
                </a:r>
              </a:p>
              <a:p>
                <a:pPr marL="172641" indent="0">
                  <a:spcBef>
                    <a:spcPts val="1350"/>
                  </a:spcBef>
                  <a:buNone/>
                </a:pP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	</a:t>
                </a:r>
                <a:r>
                  <a:rPr lang="en-US" dirty="0">
                    <a:solidFill>
                      <a:schemeClr val="tx1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uint32_t u32;</a:t>
                </a:r>
                <a:endParaRPr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0086" y="1730877"/>
                <a:ext cx="7886700" cy="3263504"/>
              </a:xfrm>
              <a:blipFill>
                <a:blip r:embed="rId2"/>
                <a:stretch>
                  <a:fillRect l="-1005" t="-3178" b="-1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3274960" y="5048540"/>
              <a:ext cx="6096000" cy="563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881484773"/>
                        </a:ext>
                      </a:extLst>
                    </a:gridCol>
                    <a:gridCol w="371669">
                      <a:extLst>
                        <a:ext uri="{9D8B030D-6E8A-4147-A177-3AD203B41FA5}">
                          <a16:colId xmlns:a16="http://schemas.microsoft.com/office/drawing/2014/main" val="3120828023"/>
                        </a:ext>
                      </a:extLst>
                    </a:gridCol>
                    <a:gridCol w="2676331">
                      <a:extLst>
                        <a:ext uri="{9D8B030D-6E8A-4147-A177-3AD203B41FA5}">
                          <a16:colId xmlns:a16="http://schemas.microsoft.com/office/drawing/2014/main" val="3010294709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911835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31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6095707"/>
                      </a:ext>
                    </a:extLst>
                  </a:tr>
                  <a:tr h="278130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792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9043921"/>
                  </p:ext>
                </p:extLst>
              </p:nvPr>
            </p:nvGraphicFramePr>
            <p:xfrm>
              <a:off x="3274960" y="5048540"/>
              <a:ext cx="6096000" cy="563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881484773"/>
                        </a:ext>
                      </a:extLst>
                    </a:gridCol>
                    <a:gridCol w="371669">
                      <a:extLst>
                        <a:ext uri="{9D8B030D-6E8A-4147-A177-3AD203B41FA5}">
                          <a16:colId xmlns:a16="http://schemas.microsoft.com/office/drawing/2014/main" val="3120828023"/>
                        </a:ext>
                      </a:extLst>
                    </a:gridCol>
                    <a:gridCol w="2676331">
                      <a:extLst>
                        <a:ext uri="{9D8B030D-6E8A-4147-A177-3AD203B41FA5}">
                          <a16:colId xmlns:a16="http://schemas.microsoft.com/office/drawing/2014/main" val="3010294709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9118354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31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6095707"/>
                      </a:ext>
                    </a:extLst>
                  </a:tr>
                  <a:tr h="28194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2" t="-108696" r="-222508" b="-434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217" t="-108696" r="-290" b="-434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792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0529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598" y="740529"/>
            <a:ext cx="3867023" cy="571019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 </a:t>
            </a:r>
            <a:r>
              <a:rPr lang="en-US" dirty="0" err="1"/>
              <a:t>Bitfields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75009" y="2398487"/>
            <a:ext cx="72972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{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	gender	:	1;	// 0 = male, 1 = female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siblings	:	4;	// 0-15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hair	:	2;	// 0=black, 1=brown, etc.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eyes	:	2;	// 0=brown, 1=blue, 2=green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weight	:	9;	// 0-511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ethnicity	:	4;	// 0=Caucasian,1=Asian, etc…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		:	3;	// unused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age	:	7;	// 0-127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} packed;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packed.eyes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color_code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75008" y="1397000"/>
          <a:ext cx="8750464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52">
                  <a:extLst>
                    <a:ext uri="{9D8B030D-6E8A-4147-A177-3AD203B41FA5}">
                      <a16:colId xmlns:a16="http://schemas.microsoft.com/office/drawing/2014/main" val="135713903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2496290878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06507715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7753461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50244890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68289150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312462811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027291866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66432089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946678169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48773989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22803931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03643535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430997913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706830671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10433234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853310734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450186651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260661964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457037949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022852516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117766718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056545298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2077979087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952383573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784656819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31956091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18332829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38630182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023285386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713990333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916183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887302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accent1">
                          <a:tint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ethnicity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siblings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60132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3377" y="4453005"/>
            <a:ext cx="2939326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R2,=packed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R0,[R2]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	R0,R0,~(0b11 &lt;&lt; 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R1,=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color_code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R1,[R1]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	R1,R1,0b11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ORR	R0,R0,R1,LSL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	R0,[R2]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729974" y="5867400"/>
            <a:ext cx="3593403" cy="3066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78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62468"/>
            <a:ext cx="6687495" cy="114415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Unsigned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LSL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LSR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90363" y="2341682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90363" y="4698628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90363" y="3443395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17091" y="3201743"/>
            <a:ext cx="223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LSL  R1,R0,#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3844" y="4385899"/>
            <a:ext cx="2485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LSR  R1,R1,#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4" name="Curved Right Arrow 13"/>
          <p:cNvSpPr/>
          <p:nvPr/>
        </p:nvSpPr>
        <p:spPr>
          <a:xfrm>
            <a:off x="3677175" y="3110657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3707391" y="4243559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090362" y="3162850"/>
            <a:ext cx="1550276" cy="110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90363" y="3174084"/>
            <a:ext cx="1636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(</a:t>
            </a:r>
            <a:r>
              <a:rPr lang="en-US" sz="1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width) = 8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818001" y="4243558"/>
            <a:ext cx="436836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42223" y="4243559"/>
            <a:ext cx="1040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</a:t>
            </a:r>
            <a:r>
              <a:rPr lang="en-US" sz="12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23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5670856" y="2268662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18001" y="2302991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246012" y="3025548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35579" y="3047126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6118947" y="3507551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9191127" y="4826069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450746" y="5918040"/>
            <a:ext cx="360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unsigned zero-extension (all 0’s)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3072" y="5918040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</a:p>
          <a:p>
            <a:pPr algn="ctr"/>
            <a:r>
              <a:rPr lang="en-US" dirty="0"/>
              <a:t>bit-field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79AAA-A746-4060-9621-92CD39108131}"/>
              </a:ext>
            </a:extLst>
          </p:cNvPr>
          <p:cNvSpPr txBox="1"/>
          <p:nvPr/>
        </p:nvSpPr>
        <p:spPr>
          <a:xfrm>
            <a:off x="3368400" y="2625438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DF5A2-913B-452D-97A3-37A89FD03666}"/>
              </a:ext>
            </a:extLst>
          </p:cNvPr>
          <p:cNvSpPr txBox="1"/>
          <p:nvPr/>
        </p:nvSpPr>
        <p:spPr>
          <a:xfrm>
            <a:off x="3400008" y="3754660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913677-3790-4EB6-8567-CE6D25D7D1D8}"/>
              </a:ext>
            </a:extLst>
          </p:cNvPr>
          <p:cNvSpPr txBox="1"/>
          <p:nvPr/>
        </p:nvSpPr>
        <p:spPr>
          <a:xfrm>
            <a:off x="3440091" y="4965817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403217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7818" y="1134630"/>
            <a:ext cx="1699504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 err="1">
                <a:solidFill>
                  <a:srgbClr val="FF0000"/>
                </a:solidFill>
              </a:rPr>
              <a:t>LSRexamples.s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290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3017"/>
            <a:ext cx="6160267" cy="1144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LSL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ASR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51567" y="2277686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51567" y="4634632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51567" y="3379399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80781" y="3126477"/>
            <a:ext cx="208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LSL  R1,R0,#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295" y="4318061"/>
            <a:ext cx="2222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ASR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R1,R1,#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4" name="Curved Right Arrow 13"/>
          <p:cNvSpPr/>
          <p:nvPr/>
        </p:nvSpPr>
        <p:spPr>
          <a:xfrm>
            <a:off x="3838379" y="3046661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3868595" y="4179563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251566" y="3098854"/>
            <a:ext cx="1550276" cy="110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1567" y="3110088"/>
            <a:ext cx="1636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(</a:t>
            </a:r>
            <a:r>
              <a:rPr lang="en-US" sz="1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width) = 8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979205" y="4179562"/>
            <a:ext cx="436836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03427" y="4179563"/>
            <a:ext cx="1040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</a:t>
            </a:r>
            <a:r>
              <a:rPr lang="en-US" sz="12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23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5832060" y="2204666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79205" y="2238995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407216" y="2961552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96783" y="2983130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5908260" y="2983128"/>
            <a:ext cx="204017" cy="25391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3538" y="3116543"/>
            <a:ext cx="711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bit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6280151" y="3443555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9352331" y="4762073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36987" y="5845404"/>
            <a:ext cx="3473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2’s complement sign-extension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4276" y="5854044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  <a:br>
              <a:rPr lang="en-US" dirty="0"/>
            </a:br>
            <a:r>
              <a:rPr lang="en-US" dirty="0"/>
              <a:t>bit-field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044479-9586-421C-A4C4-6A778D693947}"/>
              </a:ext>
            </a:extLst>
          </p:cNvPr>
          <p:cNvSpPr txBox="1"/>
          <p:nvPr/>
        </p:nvSpPr>
        <p:spPr>
          <a:xfrm>
            <a:off x="3683066" y="4962375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6D462D-2027-404A-9CD1-E68139070FEB}"/>
              </a:ext>
            </a:extLst>
          </p:cNvPr>
          <p:cNvSpPr txBox="1"/>
          <p:nvPr/>
        </p:nvSpPr>
        <p:spPr>
          <a:xfrm>
            <a:off x="3682602" y="3715141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56A41-5D8D-41F8-83C5-50B9824416DE}"/>
              </a:ext>
            </a:extLst>
          </p:cNvPr>
          <p:cNvSpPr txBox="1"/>
          <p:nvPr/>
        </p:nvSpPr>
        <p:spPr>
          <a:xfrm>
            <a:off x="3720796" y="2620942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0355" y="4375224"/>
            <a:ext cx="726468" cy="341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62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67" y="741518"/>
            <a:ext cx="6647740" cy="114415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Unsigned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the </a:t>
            </a:r>
            <a:r>
              <a:rPr lang="en-US" sz="2800" i="1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UBFX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87508" y="2227400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87508" y="4584346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187509" y="3675583"/>
            <a:ext cx="2645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UBFX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R1,R0,#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15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,#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5" name="Curved Right Arrow 14"/>
          <p:cNvSpPr/>
          <p:nvPr/>
        </p:nvSpPr>
        <p:spPr>
          <a:xfrm>
            <a:off x="2804536" y="2977577"/>
            <a:ext cx="295604" cy="17877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4768001" y="2154380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15146" y="2188709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6343157" y="2911266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36513" y="3079177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5216092" y="3393269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8288272" y="4711787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772928" y="5795118"/>
            <a:ext cx="360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unsigned zero-extension (all 0’s)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0217" y="5803758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</a:p>
          <a:p>
            <a:pPr algn="ctr"/>
            <a:r>
              <a:rPr lang="en-US" dirty="0"/>
              <a:t>bit-field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2FD4B8-5D24-4BB1-B831-BE7DA2E57A52}"/>
              </a:ext>
            </a:extLst>
          </p:cNvPr>
          <p:cNvCxnSpPr/>
          <p:nvPr/>
        </p:nvCxnSpPr>
        <p:spPr>
          <a:xfrm>
            <a:off x="6600304" y="3325894"/>
            <a:ext cx="2406650" cy="139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5C54B9-F6D8-4248-A945-B5E291FF9386}"/>
              </a:ext>
            </a:extLst>
          </p:cNvPr>
          <p:cNvCxnSpPr/>
          <p:nvPr/>
        </p:nvCxnSpPr>
        <p:spPr>
          <a:xfrm>
            <a:off x="4768002" y="2974945"/>
            <a:ext cx="2742215" cy="1702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174BC9-B90C-4AE4-B690-D57ACBDB2CC2}"/>
              </a:ext>
            </a:extLst>
          </p:cNvPr>
          <p:cNvSpPr txBox="1"/>
          <p:nvPr/>
        </p:nvSpPr>
        <p:spPr>
          <a:xfrm>
            <a:off x="2633175" y="4920088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6AD95D-97F9-4B42-84A2-286C4F9B1BA3}"/>
              </a:ext>
            </a:extLst>
          </p:cNvPr>
          <p:cNvSpPr txBox="1"/>
          <p:nvPr/>
        </p:nvSpPr>
        <p:spPr>
          <a:xfrm>
            <a:off x="2675171" y="2560087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CEDDB-E610-1F21-9DDA-F67BD9310663}"/>
              </a:ext>
            </a:extLst>
          </p:cNvPr>
          <p:cNvSpPr txBox="1"/>
          <p:nvPr/>
        </p:nvSpPr>
        <p:spPr>
          <a:xfrm>
            <a:off x="9877818" y="1134630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UBFX.s</a:t>
            </a:r>
          </a:p>
        </p:txBody>
      </p:sp>
    </p:spTree>
    <p:extLst>
      <p:ext uri="{BB962C8B-B14F-4D97-AF65-F5344CB8AC3E}">
        <p14:creationId xmlns:p14="http://schemas.microsoft.com/office/powerpoint/2010/main" val="477362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40037" y="2238994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V="1">
            <a:off x="5020530" y="2165974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67675" y="2200303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5253" y="2944438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5096730" y="2944436"/>
            <a:ext cx="204017" cy="25391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2008" y="3077851"/>
            <a:ext cx="71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bit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41134"/>
            <a:ext cx="6069873" cy="1144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the </a:t>
            </a:r>
            <a:r>
              <a:rPr lang="en-US" sz="2800" i="1" dirty="0">
                <a:solidFill>
                  <a:srgbClr val="00B05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SBFX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40037" y="4595940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52839" y="3536907"/>
            <a:ext cx="2720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SBFX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R1,R0,#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15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,#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4" name="Curved Right Arrow 13"/>
          <p:cNvSpPr/>
          <p:nvPr/>
        </p:nvSpPr>
        <p:spPr>
          <a:xfrm>
            <a:off x="3026849" y="3007968"/>
            <a:ext cx="295604" cy="1587972"/>
          </a:xfrm>
          <a:prstGeom prst="curvedRightArrow">
            <a:avLst>
              <a:gd name="adj1" fmla="val 25000"/>
              <a:gd name="adj2" fmla="val 50000"/>
              <a:gd name="adj3" fmla="val 366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6595686" y="2922860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e 19"/>
          <p:cNvSpPr/>
          <p:nvPr/>
        </p:nvSpPr>
        <p:spPr>
          <a:xfrm rot="16200000">
            <a:off x="5468621" y="3404863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8540801" y="4723381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25457" y="5806712"/>
            <a:ext cx="3473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2’s complement sign-extension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2746" y="5815352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  <a:br>
              <a:rPr lang="en-US" dirty="0"/>
            </a:br>
            <a:r>
              <a:rPr lang="en-US" dirty="0"/>
              <a:t>bit-field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41278D-4B1B-4526-97EF-6FFB11B4DA29}"/>
              </a:ext>
            </a:extLst>
          </p:cNvPr>
          <p:cNvCxnSpPr/>
          <p:nvPr/>
        </p:nvCxnSpPr>
        <p:spPr>
          <a:xfrm>
            <a:off x="6891896" y="3409215"/>
            <a:ext cx="2406650" cy="139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269432-18CF-45C4-8786-D0517AF1E076}"/>
              </a:ext>
            </a:extLst>
          </p:cNvPr>
          <p:cNvCxnSpPr>
            <a:cxnSpLocks/>
          </p:cNvCxnSpPr>
          <p:nvPr/>
        </p:nvCxnSpPr>
        <p:spPr>
          <a:xfrm>
            <a:off x="5601392" y="3482361"/>
            <a:ext cx="2278206" cy="134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C43ED8-4104-44AF-BEB1-CA379D01E66A}"/>
              </a:ext>
            </a:extLst>
          </p:cNvPr>
          <p:cNvSpPr txBox="1"/>
          <p:nvPr/>
        </p:nvSpPr>
        <p:spPr>
          <a:xfrm>
            <a:off x="2961751" y="4916970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C36420-8D25-4687-A8F4-8D8149C07D91}"/>
              </a:ext>
            </a:extLst>
          </p:cNvPr>
          <p:cNvSpPr txBox="1"/>
          <p:nvPr/>
        </p:nvSpPr>
        <p:spPr>
          <a:xfrm>
            <a:off x="2909161" y="2575421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3806971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Down 23">
            <a:extLst>
              <a:ext uri="{FF2B5EF4-FFF2-40B4-BE49-F238E27FC236}">
                <a16:creationId xmlns:a16="http://schemas.microsoft.com/office/drawing/2014/main" id="{BF4D14E8-24D7-4112-B594-9DEB6000DC41}"/>
              </a:ext>
            </a:extLst>
          </p:cNvPr>
          <p:cNvSpPr/>
          <p:nvPr/>
        </p:nvSpPr>
        <p:spPr>
          <a:xfrm>
            <a:off x="8638881" y="4234775"/>
            <a:ext cx="270164" cy="203099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0EFEB6B7-B124-458E-97AE-3D48D3797631}"/>
              </a:ext>
            </a:extLst>
          </p:cNvPr>
          <p:cNvSpPr/>
          <p:nvPr/>
        </p:nvSpPr>
        <p:spPr>
          <a:xfrm>
            <a:off x="4849657" y="4234776"/>
            <a:ext cx="270164" cy="203099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676376AE-5D10-4101-81E2-A10281E2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01021"/>
              </p:ext>
            </p:extLst>
          </p:nvPr>
        </p:nvGraphicFramePr>
        <p:xfrm>
          <a:off x="4222401" y="4732005"/>
          <a:ext cx="60960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0 0 0 0 0 0 0 0</a:t>
                      </a:r>
                      <a:endParaRPr lang="en-US" sz="1200" i="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  <a:endParaRPr lang="en-US" sz="11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0 0 0 0 0 0 0 0 0 0 0 0 0 0 0</a:t>
                      </a:r>
                      <a:endParaRPr lang="en-US" sz="1400" i="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CD64590-C9A7-4872-BB1B-2C07E6337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56568"/>
              </p:ext>
            </p:extLst>
          </p:nvPr>
        </p:nvGraphicFramePr>
        <p:xfrm>
          <a:off x="1957182" y="1255091"/>
          <a:ext cx="6145848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240348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23">
                  <a:txBody>
                    <a:bodyPr/>
                    <a:lstStyle/>
                    <a:p>
                      <a:pPr algn="ctr"/>
                      <a:endParaRPr lang="en-US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US" sz="10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B6C9D3CB-DD1E-4F22-933D-DCEE80FD0065}"/>
              </a:ext>
            </a:extLst>
          </p:cNvPr>
          <p:cNvSpPr txBox="1"/>
          <p:nvPr/>
        </p:nvSpPr>
        <p:spPr>
          <a:xfrm>
            <a:off x="990503" y="4311766"/>
            <a:ext cx="5906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b="1" dirty="0"/>
              <a:t>Align</a:t>
            </a:r>
            <a:r>
              <a:rPr lang="en-US" dirty="0"/>
              <a:t> a copy of source in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; fill the   rest with 0’s:</a:t>
            </a:r>
          </a:p>
          <a:p>
            <a:r>
              <a:rPr lang="en-US" dirty="0"/>
              <a:t>LSL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</a:t>
            </a:r>
            <a:r>
              <a:rPr lang="en-US" b="1" dirty="0">
                <a:solidFill>
                  <a:srgbClr val="0000FF"/>
                </a:solidFill>
              </a:rPr>
              <a:t>R0</a:t>
            </a:r>
            <a:r>
              <a:rPr lang="en-US" dirty="0"/>
              <a:t>,#</a:t>
            </a:r>
            <a:r>
              <a:rPr lang="en-US" dirty="0">
                <a:solidFill>
                  <a:srgbClr val="FF0000"/>
                </a:solidFill>
              </a:rPr>
              <a:t>23</a:t>
            </a:r>
          </a:p>
          <a:p>
            <a:r>
              <a:rPr lang="en-US" dirty="0"/>
              <a:t>LSR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,#</a:t>
            </a:r>
            <a:r>
              <a:rPr lang="en-US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90503" y="754904"/>
            <a:ext cx="9557181" cy="5324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3200" b="1" dirty="0">
                <a:latin typeface="Calibri Light" panose="020F0302020204030204"/>
              </a:rPr>
              <a:t>Inserting</a:t>
            </a:r>
            <a:r>
              <a:rPr lang="en-US" sz="3200" b="1" dirty="0">
                <a:solidFill>
                  <a:prstClr val="black"/>
                </a:solidFill>
                <a:latin typeface="Calibri Light" panose="020F0302020204030204"/>
              </a:rPr>
              <a:t> Bitfield from </a:t>
            </a:r>
            <a:r>
              <a:rPr lang="en-US" sz="3200" b="1" dirty="0">
                <a:solidFill>
                  <a:srgbClr val="0000FF"/>
                </a:solidFill>
                <a:latin typeface="Calibri Light" panose="020F0302020204030204"/>
              </a:rPr>
              <a:t>R0</a:t>
            </a:r>
            <a:r>
              <a:rPr lang="en-US" sz="3200" b="1" dirty="0">
                <a:solidFill>
                  <a:prstClr val="black"/>
                </a:solidFill>
                <a:latin typeface="Calibri Light" panose="020F0302020204030204"/>
              </a:rPr>
              <a:t> into </a:t>
            </a:r>
            <a:r>
              <a:rPr lang="en-US" sz="3200" b="1" dirty="0">
                <a:solidFill>
                  <a:srgbClr val="FF0000"/>
                </a:solidFill>
                <a:latin typeface="Calibri Light" panose="020F0302020204030204"/>
              </a:rPr>
              <a:t>R1</a:t>
            </a:r>
            <a:r>
              <a:rPr lang="en-US" sz="3200" b="1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AND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LSL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LSR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ORR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52272" y="2577401"/>
            <a:ext cx="62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6842" y="1615184"/>
            <a:ext cx="6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R0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A69A447-1250-457F-8718-59ECDD931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44640"/>
              </p:ext>
            </p:extLst>
          </p:nvPr>
        </p:nvGraphicFramePr>
        <p:xfrm>
          <a:off x="4222401" y="2244861"/>
          <a:ext cx="6096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 not change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</a:t>
                      </a:r>
                      <a:endParaRPr lang="en-US" sz="1200" b="1" i="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 not change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692C0F1E-1D67-45F8-8207-5CB90B9A3A0E}"/>
              </a:ext>
            </a:extLst>
          </p:cNvPr>
          <p:cNvSpPr txBox="1"/>
          <p:nvPr/>
        </p:nvSpPr>
        <p:spPr>
          <a:xfrm>
            <a:off x="3553120" y="5099478"/>
            <a:ext cx="6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R2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974C6371-2754-4CF1-9B35-102E71E13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40487"/>
              </p:ext>
            </p:extLst>
          </p:nvPr>
        </p:nvGraphicFramePr>
        <p:xfrm>
          <a:off x="4222401" y="5924711"/>
          <a:ext cx="6096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US" sz="11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EA809550-C543-4C79-AD1B-29D635CA3276}"/>
              </a:ext>
            </a:extLst>
          </p:cNvPr>
          <p:cNvSpPr txBox="1"/>
          <p:nvPr/>
        </p:nvSpPr>
        <p:spPr>
          <a:xfrm>
            <a:off x="3601213" y="6265770"/>
            <a:ext cx="62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CD5361-7E6E-4964-91F7-60528594FAC9}"/>
              </a:ext>
            </a:extLst>
          </p:cNvPr>
          <p:cNvCxnSpPr>
            <a:cxnSpLocks/>
          </p:cNvCxnSpPr>
          <p:nvPr/>
        </p:nvCxnSpPr>
        <p:spPr>
          <a:xfrm flipH="1">
            <a:off x="5950527" y="2005299"/>
            <a:ext cx="436418" cy="294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8501A3-4A25-4A69-AD75-530BE5B901ED}"/>
              </a:ext>
            </a:extLst>
          </p:cNvPr>
          <p:cNvCxnSpPr>
            <a:cxnSpLocks/>
          </p:cNvCxnSpPr>
          <p:nvPr/>
        </p:nvCxnSpPr>
        <p:spPr>
          <a:xfrm flipH="1">
            <a:off x="7426036" y="1970637"/>
            <a:ext cx="536864" cy="361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C7C754-3E29-4E4F-BB79-157656DC5AB7}"/>
              </a:ext>
            </a:extLst>
          </p:cNvPr>
          <p:cNvSpPr txBox="1"/>
          <p:nvPr/>
        </p:nvSpPr>
        <p:spPr>
          <a:xfrm>
            <a:off x="955038" y="3109933"/>
            <a:ext cx="529234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b="1" dirty="0">
                <a:solidFill>
                  <a:srgbClr val="FF0000"/>
                </a:solidFill>
              </a:rPr>
              <a:t>Clear</a:t>
            </a:r>
            <a:r>
              <a:rPr lang="en-US" dirty="0"/>
              <a:t> the destination field of </a:t>
            </a:r>
            <a:r>
              <a:rPr lang="en-US" b="1" dirty="0">
                <a:solidFill>
                  <a:srgbClr val="0000FF"/>
                </a:solidFill>
              </a:rPr>
              <a:t>R0</a:t>
            </a:r>
            <a:r>
              <a:rPr lang="en-US" dirty="0"/>
              <a:t> to all 0’s:</a:t>
            </a:r>
          </a:p>
          <a:p>
            <a:r>
              <a:rPr lang="en-US" dirty="0"/>
              <a:t>LDR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,=0xFF007FFF</a:t>
            </a:r>
          </a:p>
          <a:p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9B585FD3-5B4C-473C-8BB5-5BB57C1DB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513271"/>
              </p:ext>
            </p:extLst>
          </p:nvPr>
        </p:nvGraphicFramePr>
        <p:xfrm>
          <a:off x="4205989" y="3507954"/>
          <a:ext cx="6096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200" i="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0 0 0 0 0 0 0 0 0</a:t>
                      </a:r>
                      <a:endParaRPr lang="en-US" sz="1100" i="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516876" y="3865443"/>
            <a:ext cx="65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0E0CF0-6CA3-417E-B33D-00E3A9DEBF2A}"/>
              </a:ext>
            </a:extLst>
          </p:cNvPr>
          <p:cNvSpPr txBox="1"/>
          <p:nvPr/>
        </p:nvSpPr>
        <p:spPr>
          <a:xfrm>
            <a:off x="955038" y="5650023"/>
            <a:ext cx="647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b="1" dirty="0">
                <a:solidFill>
                  <a:srgbClr val="FF0000"/>
                </a:solidFill>
              </a:rPr>
              <a:t>Insert</a:t>
            </a:r>
            <a:r>
              <a:rPr lang="en-US" dirty="0"/>
              <a:t> source from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 into </a:t>
            </a:r>
            <a:r>
              <a:rPr lang="en-US" dirty="0" err="1"/>
              <a:t>destinat</a:t>
            </a:r>
            <a:r>
              <a:rPr lang="en-US" dirty="0"/>
              <a:t>-    ion (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):</a:t>
            </a:r>
          </a:p>
          <a:p>
            <a:r>
              <a:rPr lang="en-US" dirty="0"/>
              <a:t>ORR 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DB92F-82B4-4951-9872-36225F6481DF}"/>
              </a:ext>
            </a:extLst>
          </p:cNvPr>
          <p:cNvCxnSpPr/>
          <p:nvPr/>
        </p:nvCxnSpPr>
        <p:spPr>
          <a:xfrm>
            <a:off x="2012151" y="1816755"/>
            <a:ext cx="4322618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696BAD-426A-46B1-B6B5-A52DCAB0F784}"/>
              </a:ext>
            </a:extLst>
          </p:cNvPr>
          <p:cNvSpPr txBox="1"/>
          <p:nvPr/>
        </p:nvSpPr>
        <p:spPr>
          <a:xfrm>
            <a:off x="3813588" y="1688566"/>
            <a:ext cx="722317" cy="215444"/>
          </a:xfrm>
          <a:prstGeom prst="rect">
            <a:avLst/>
          </a:prstGeom>
          <a:solidFill>
            <a:schemeClr val="bg2"/>
          </a:solidFill>
        </p:spPr>
        <p:txBody>
          <a:bodyPr wrap="square" tIns="0" bIns="0" rtlCol="0">
            <a:spAutoFit/>
          </a:bodyPr>
          <a:lstStyle/>
          <a:p>
            <a:r>
              <a:rPr lang="en-US" sz="1400" b="1" dirty="0"/>
              <a:t>23</a:t>
            </a:r>
            <a:r>
              <a:rPr lang="en-US" sz="1400" dirty="0"/>
              <a:t> bits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3A294-0C10-4A81-94BC-B889F809BD28}"/>
              </a:ext>
            </a:extLst>
          </p:cNvPr>
          <p:cNvCxnSpPr>
            <a:cxnSpLocks/>
          </p:cNvCxnSpPr>
          <p:nvPr/>
        </p:nvCxnSpPr>
        <p:spPr>
          <a:xfrm>
            <a:off x="4205989" y="3049809"/>
            <a:ext cx="1557502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0A28695-5578-4AFA-81A8-4848D702B7A5}"/>
              </a:ext>
            </a:extLst>
          </p:cNvPr>
          <p:cNvSpPr txBox="1"/>
          <p:nvPr/>
        </p:nvSpPr>
        <p:spPr>
          <a:xfrm>
            <a:off x="4633243" y="2966037"/>
            <a:ext cx="702995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8</a:t>
            </a:r>
            <a:r>
              <a:rPr lang="en-US" sz="1400" dirty="0">
                <a:solidFill>
                  <a:srgbClr val="00B050"/>
                </a:solidFill>
              </a:rPr>
              <a:t> bits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97906B9-D3B1-482F-B42A-14FCDD496FAB}"/>
              </a:ext>
            </a:extLst>
          </p:cNvPr>
          <p:cNvSpPr/>
          <p:nvPr/>
        </p:nvSpPr>
        <p:spPr>
          <a:xfrm>
            <a:off x="6397571" y="5468811"/>
            <a:ext cx="270164" cy="75593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17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A50F69D-6BA5-48DE-8071-BFC83D398C6F}"/>
              </a:ext>
            </a:extLst>
          </p:cNvPr>
          <p:cNvGraphicFramePr>
            <a:graphicFrameLocks noGrp="1"/>
          </p:cNvGraphicFramePr>
          <p:nvPr/>
        </p:nvGraphicFramePr>
        <p:xfrm>
          <a:off x="3562370" y="5030940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923417" y="729559"/>
            <a:ext cx="10879561" cy="994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3600" b="1" dirty="0">
                <a:solidFill>
                  <a:srgbClr val="FF0000"/>
                </a:solidFill>
                <a:latin typeface="Calibri Light" panose="020F0302020204030204"/>
              </a:rPr>
              <a:t>Inserting</a:t>
            </a:r>
            <a:r>
              <a:rPr lang="en-US" sz="3600" b="1" dirty="0">
                <a:solidFill>
                  <a:prstClr val="black"/>
                </a:solidFill>
                <a:latin typeface="Calibri Light" panose="020F0302020204030204"/>
              </a:rPr>
              <a:t> Bitfield from R0 into R1 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(Using the </a:t>
            </a:r>
            <a:r>
              <a:rPr lang="en-US" sz="28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BFI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instruction)</a:t>
            </a:r>
            <a:endParaRPr lang="en-US" sz="20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332EE-A32F-43D4-85F9-98CFBE9C5CA9}"/>
              </a:ext>
            </a:extLst>
          </p:cNvPr>
          <p:cNvSpPr txBox="1"/>
          <p:nvPr/>
        </p:nvSpPr>
        <p:spPr>
          <a:xfrm>
            <a:off x="2598345" y="2398645"/>
            <a:ext cx="6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BE53C-C404-44DE-935E-220D65FDAD46}"/>
              </a:ext>
            </a:extLst>
          </p:cNvPr>
          <p:cNvSpPr txBox="1"/>
          <p:nvPr/>
        </p:nvSpPr>
        <p:spPr>
          <a:xfrm>
            <a:off x="2659516" y="5388350"/>
            <a:ext cx="62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64D979-E9AD-4D29-8FDB-547A66C74D21}"/>
              </a:ext>
            </a:extLst>
          </p:cNvPr>
          <p:cNvCxnSpPr/>
          <p:nvPr/>
        </p:nvCxnSpPr>
        <p:spPr>
          <a:xfrm flipV="1">
            <a:off x="5142862" y="5883904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146035-1193-44E8-BA11-44AE3F07297E}"/>
              </a:ext>
            </a:extLst>
          </p:cNvPr>
          <p:cNvSpPr txBox="1"/>
          <p:nvPr/>
        </p:nvSpPr>
        <p:spPr>
          <a:xfrm>
            <a:off x="5348800" y="5918270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4C7A9C-7F99-4A0C-B80F-AA33CA65CB71}"/>
              </a:ext>
            </a:extLst>
          </p:cNvPr>
          <p:cNvSpPr txBox="1"/>
          <p:nvPr/>
        </p:nvSpPr>
        <p:spPr>
          <a:xfrm>
            <a:off x="6132158" y="4411963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4F9727-AB62-4696-9375-87A4A75B1366}"/>
              </a:ext>
            </a:extLst>
          </p:cNvPr>
          <p:cNvCxnSpPr>
            <a:cxnSpLocks/>
          </p:cNvCxnSpPr>
          <p:nvPr/>
        </p:nvCxnSpPr>
        <p:spPr>
          <a:xfrm>
            <a:off x="6738802" y="4719740"/>
            <a:ext cx="0" cy="2741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F8B8ECB-D0B4-44DA-AB47-06C9DCD8566F}"/>
              </a:ext>
            </a:extLst>
          </p:cNvPr>
          <p:cNvGraphicFramePr>
            <a:graphicFrameLocks noGrp="1"/>
          </p:cNvGraphicFramePr>
          <p:nvPr/>
        </p:nvGraphicFramePr>
        <p:xfrm>
          <a:off x="3534024" y="2057650"/>
          <a:ext cx="6145848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240348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760477-6E46-48CD-AC1F-43B5D6F17D97}"/>
              </a:ext>
            </a:extLst>
          </p:cNvPr>
          <p:cNvCxnSpPr>
            <a:cxnSpLocks/>
          </p:cNvCxnSpPr>
          <p:nvPr/>
        </p:nvCxnSpPr>
        <p:spPr>
          <a:xfrm flipH="1">
            <a:off x="5243945" y="2767978"/>
            <a:ext cx="2753592" cy="226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0856F-732C-4BD3-83FA-A8B3E4F57490}"/>
              </a:ext>
            </a:extLst>
          </p:cNvPr>
          <p:cNvCxnSpPr>
            <a:cxnSpLocks/>
          </p:cNvCxnSpPr>
          <p:nvPr/>
        </p:nvCxnSpPr>
        <p:spPr>
          <a:xfrm flipH="1">
            <a:off x="6792191" y="2796314"/>
            <a:ext cx="2632731" cy="223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E8880E-899D-4846-93D6-9BACE13AE83C}"/>
              </a:ext>
            </a:extLst>
          </p:cNvPr>
          <p:cNvSpPr txBox="1"/>
          <p:nvPr/>
        </p:nvSpPr>
        <p:spPr>
          <a:xfrm>
            <a:off x="3695701" y="3656197"/>
            <a:ext cx="2753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BFI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R1,R0,#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15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,#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B38281-6AEB-4D5B-8255-3BB26D9CFB58}"/>
              </a:ext>
            </a:extLst>
          </p:cNvPr>
          <p:cNvCxnSpPr/>
          <p:nvPr/>
        </p:nvCxnSpPr>
        <p:spPr>
          <a:xfrm flipV="1">
            <a:off x="7997537" y="2114324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E18610-86DD-4952-9AE6-04D0E3B61412}"/>
              </a:ext>
            </a:extLst>
          </p:cNvPr>
          <p:cNvSpPr txBox="1"/>
          <p:nvPr/>
        </p:nvSpPr>
        <p:spPr>
          <a:xfrm>
            <a:off x="8181928" y="1788030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sp>
        <p:nvSpPr>
          <p:cNvPr id="29" name="Curved Right Arrow 13">
            <a:extLst>
              <a:ext uri="{FF2B5EF4-FFF2-40B4-BE49-F238E27FC236}">
                <a16:creationId xmlns:a16="http://schemas.microsoft.com/office/drawing/2014/main" id="{6A70669F-358F-435F-AEC6-6C96C42C3006}"/>
              </a:ext>
            </a:extLst>
          </p:cNvPr>
          <p:cNvSpPr/>
          <p:nvPr/>
        </p:nvSpPr>
        <p:spPr>
          <a:xfrm>
            <a:off x="3008603" y="3262321"/>
            <a:ext cx="295604" cy="1587972"/>
          </a:xfrm>
          <a:prstGeom prst="curvedRightArrow">
            <a:avLst>
              <a:gd name="adj1" fmla="val 25000"/>
              <a:gd name="adj2" fmla="val 50000"/>
              <a:gd name="adj3" fmla="val 366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15F7D-2207-1831-8F32-4EB79D4EECBE}"/>
              </a:ext>
            </a:extLst>
          </p:cNvPr>
          <p:cNvSpPr txBox="1"/>
          <p:nvPr/>
        </p:nvSpPr>
        <p:spPr>
          <a:xfrm>
            <a:off x="10345432" y="3255493"/>
            <a:ext cx="1255472" cy="8309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BFI.s &amp;</a:t>
            </a:r>
            <a:br>
              <a:rPr lang="en-US" sz="1600" b="1" dirty="0">
                <a:solidFill>
                  <a:srgbClr val="FF000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BFI2.s</a:t>
            </a:r>
          </a:p>
        </p:txBody>
      </p:sp>
    </p:spTree>
    <p:extLst>
      <p:ext uri="{BB962C8B-B14F-4D97-AF65-F5344CB8AC3E}">
        <p14:creationId xmlns:p14="http://schemas.microsoft.com/office/powerpoint/2010/main" val="3336713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BITFIELD INSTRUCTIONS &amp; APPLICATIONS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81254"/>
              </p:ext>
            </p:extLst>
          </p:nvPr>
        </p:nvGraphicFramePr>
        <p:xfrm>
          <a:off x="950495" y="2236812"/>
          <a:ext cx="10142754" cy="2620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833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9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 Field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Clear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BFC 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 Field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Insert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BFI 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lsb’s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&gt;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 Bit Field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Extract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SBFX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 extends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 Bit Field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Extract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UBFX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Zero extends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0EC9973-F4CC-ADCD-E522-CA11D5392DE5}"/>
              </a:ext>
            </a:extLst>
          </p:cNvPr>
          <p:cNvSpPr txBox="1"/>
          <p:nvPr/>
        </p:nvSpPr>
        <p:spPr>
          <a:xfrm>
            <a:off x="3910137" y="5507381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BFC.s</a:t>
            </a:r>
          </a:p>
        </p:txBody>
      </p:sp>
    </p:spTree>
    <p:extLst>
      <p:ext uri="{BB962C8B-B14F-4D97-AF65-F5344CB8AC3E}">
        <p14:creationId xmlns:p14="http://schemas.microsoft.com/office/powerpoint/2010/main" val="3537860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Examples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08AF-9007-6BF3-0034-BB28B2A0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EC42-D121-C8ED-6AE7-0DDB5F80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1A2610-DC7E-E76A-1E02-D1A0B9443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A6CF2E-CB00-D770-7855-849CDF0A3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87" y="1906719"/>
            <a:ext cx="10811320" cy="327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40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297-D557-8535-94F5-86E2C2C2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182E-665E-21DC-A694-28770A90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3F5CA4-9275-9CB6-4A99-DA588149B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A2205-AFC9-C7AD-7A58-34C0BF7D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73" y="2136543"/>
            <a:ext cx="10418534" cy="304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78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C535-55DC-8D70-FB43-5FF574EE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2A62-DE46-213D-1652-6073871A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64DC05-2470-4FC1-BF12-DFA6C268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4EE87-6161-E9B4-43B4-0A3E77F8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58" y="1839956"/>
            <a:ext cx="8354472" cy="345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10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0709-339D-E24B-6DB0-FC142516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AD50-97FB-E5CB-F22A-9B6CD38A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4A8FA5-7B42-F758-C244-ADC4CAF13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A97A41-39AE-06DC-2925-F5681F53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62" y="2158651"/>
            <a:ext cx="7823441" cy="3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90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CB71-783D-2EC0-4E60-C8392F84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8352-3DF2-ED24-3315-BBA9C77D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BF4F60-72FD-B5F3-55D6-5F051D75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A8DD2-B68B-1D93-6CE1-821F2F533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73" y="1873272"/>
            <a:ext cx="7565476" cy="38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54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DDE4-4645-F2C3-6785-7BC216A3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E193-7CE8-6394-F8AB-26FB9CF2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2A2270-31C9-1AE4-6741-C7A1A5DE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E0FB4B-9904-00BC-967F-51844697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52" y="2044499"/>
            <a:ext cx="7731706" cy="35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57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5244-4FF0-9D38-B82F-A36DF1CC0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2518-582B-ED9B-7FD6-0C7BFD3F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0B5C3F-661A-2249-51F7-F1BDD2B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FAF6E4-E6EC-DBCB-6358-995FEFA5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79" y="2286520"/>
            <a:ext cx="9403422" cy="17413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B4844A-5109-22F2-D6B9-01C0DC616577}"/>
              </a:ext>
            </a:extLst>
          </p:cNvPr>
          <p:cNvSpPr txBox="1"/>
          <p:nvPr/>
        </p:nvSpPr>
        <p:spPr>
          <a:xfrm>
            <a:off x="1701800" y="495459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stop: B stop</a:t>
            </a:r>
          </a:p>
        </p:txBody>
      </p:sp>
    </p:spTree>
    <p:extLst>
      <p:ext uri="{BB962C8B-B14F-4D97-AF65-F5344CB8AC3E}">
        <p14:creationId xmlns:p14="http://schemas.microsoft.com/office/powerpoint/2010/main" val="24722383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27B5-EF9E-9CA0-9492-FE3A36A7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602C-CFA2-EB1F-81AC-5AD232ED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63E5D5-9AAC-8FF5-F4E4-30FF9D5D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B5A6B-E720-F71E-A300-C0A284C2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79" y="2284244"/>
            <a:ext cx="8472542" cy="328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562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E8C5-E5E7-0219-3DAA-AFFFF651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78B9-D6BB-B804-F660-E8206709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A74FE1-C5C7-2A9D-BF90-9F54B2EB6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B5F711-72D2-7C62-F8E8-847A74A14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69" y="1972548"/>
            <a:ext cx="6782203" cy="3541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6A2CE0-A140-842D-E038-564273E65548}"/>
              </a:ext>
            </a:extLst>
          </p:cNvPr>
          <p:cNvSpPr txBox="1"/>
          <p:nvPr/>
        </p:nvSpPr>
        <p:spPr>
          <a:xfrm>
            <a:off x="5807412" y="905560"/>
            <a:ext cx="369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https://cpulator.01xz.net/?sys=arm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BE03B-53B6-D2C0-EE24-5559372C3EFD}"/>
              </a:ext>
            </a:extLst>
          </p:cNvPr>
          <p:cNvSpPr txBox="1"/>
          <p:nvPr/>
        </p:nvSpPr>
        <p:spPr>
          <a:xfrm>
            <a:off x="6154350" y="3059668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(0xBB</a:t>
            </a:r>
            <a:r>
              <a:rPr lang="en-US" baseline="-25000" dirty="0"/>
              <a:t>16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2F0CA-DEE9-7630-9D2F-35750C1C17AE}"/>
              </a:ext>
            </a:extLst>
          </p:cNvPr>
          <p:cNvSpPr txBox="1"/>
          <p:nvPr/>
        </p:nvSpPr>
        <p:spPr>
          <a:xfrm>
            <a:off x="8933218" y="403324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(0x00333333</a:t>
            </a:r>
            <a:r>
              <a:rPr lang="en-US" baseline="-25000" dirty="0"/>
              <a:t>16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268EE-124E-4A4C-22FA-5C361C0C3D5E}"/>
              </a:ext>
            </a:extLst>
          </p:cNvPr>
          <p:cNvSpPr txBox="1"/>
          <p:nvPr/>
        </p:nvSpPr>
        <p:spPr>
          <a:xfrm>
            <a:off x="8959154" y="5012501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(0xBB333333</a:t>
            </a:r>
            <a:r>
              <a:rPr lang="en-US" baseline="-25000" dirty="0"/>
              <a:t>16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994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41BF-B6DB-E89D-4234-2D93C86C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AD45-DA83-BFEE-D15C-5D2AC4EA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2BCDC2-D8F2-E40F-1D60-37608C9E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E2CCD-D34D-4D9B-516C-4EB0F8CA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168" y="1557347"/>
            <a:ext cx="6366363" cy="49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549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Chapter 7</a:t>
            </a:r>
            <a:br>
              <a:rPr lang="en-US" sz="6000" dirty="0"/>
            </a:br>
            <a:r>
              <a:rPr lang="en-US" sz="6000" dirty="0"/>
              <a:t>Manipulating Bits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6: Programming Tricks</a:t>
            </a:r>
          </a:p>
        </p:txBody>
      </p:sp>
    </p:spTree>
    <p:extLst>
      <p:ext uri="{BB962C8B-B14F-4D97-AF65-F5344CB8AC3E}">
        <p14:creationId xmlns:p14="http://schemas.microsoft.com/office/powerpoint/2010/main" val="862887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18787"/>
            <a:ext cx="9230168" cy="1144151"/>
          </a:xfrm>
        </p:spPr>
        <p:txBody>
          <a:bodyPr>
            <a:normAutofit/>
          </a:bodyPr>
          <a:lstStyle/>
          <a:p>
            <a:r>
              <a:rPr lang="en-US" dirty="0"/>
              <a:t>Register Swap Using Exclusive-OR</a:t>
            </a:r>
            <a:br>
              <a:rPr lang="en-US" dirty="0"/>
            </a:br>
            <a:r>
              <a:rPr lang="en-US" sz="2800" i="1" dirty="0"/>
              <a:t>(Uses 1 less register and no additional instructions)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92630" y="2740427"/>
            <a:ext cx="2875701" cy="241411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// Standard method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(requires 3</a:t>
            </a:r>
            <a:r>
              <a:rPr lang="en-US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register)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tabLst>
                <a:tab pos="1435100" algn="l"/>
              </a:tabLst>
            </a:pPr>
            <a:r>
              <a:rPr lang="en-US" dirty="0">
                <a:solidFill>
                  <a:schemeClr val="tx1"/>
                </a:solidFill>
              </a:rPr>
              <a:t>MOV	R2,R0</a:t>
            </a:r>
          </a:p>
          <a:p>
            <a:pPr marL="0" indent="0">
              <a:buNone/>
              <a:tabLst>
                <a:tab pos="1435100" algn="l"/>
              </a:tabLst>
            </a:pPr>
            <a:r>
              <a:rPr lang="en-US" dirty="0">
                <a:solidFill>
                  <a:schemeClr val="tx1"/>
                </a:solidFill>
              </a:rPr>
              <a:t>MOV	R0,R1</a:t>
            </a:r>
          </a:p>
          <a:p>
            <a:pPr marL="0" indent="0">
              <a:buNone/>
              <a:tabLst>
                <a:tab pos="1435100" algn="l"/>
              </a:tabLst>
            </a:pPr>
            <a:r>
              <a:rPr lang="en-US" dirty="0">
                <a:solidFill>
                  <a:schemeClr val="tx1"/>
                </a:solidFill>
              </a:rPr>
              <a:t>MOV	R1,R2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1580" y="2740426"/>
            <a:ext cx="3407516" cy="241411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// Exclusive-OR method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No extra registers needed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EOR	R0,R0,R1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EOR	R1,R0,R1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EOR	R0,R0,R1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026" y="3355226"/>
            <a:ext cx="74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00B050"/>
                </a:solidFill>
                <a:latin typeface="Calibri" panose="020F0502020204030204"/>
              </a:rPr>
              <a:t>0011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4427" y="3363807"/>
            <a:ext cx="67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1011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987540" y="4068686"/>
            <a:ext cx="1805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971771" y="4443125"/>
            <a:ext cx="1805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979650" y="4817561"/>
            <a:ext cx="1805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31026" y="3081974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4427" y="3090555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4429" y="3895562"/>
            <a:ext cx="76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8907" y="4237770"/>
            <a:ext cx="74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1011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0188" y="4632611"/>
            <a:ext cx="75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00B050"/>
                </a:solidFill>
                <a:latin typeface="Calibri" panose="020F0502020204030204"/>
              </a:rPr>
              <a:t>0011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9173037" y="3687688"/>
            <a:ext cx="5492" cy="2732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9414273" y="3661892"/>
            <a:ext cx="435768" cy="32141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414274" y="4159449"/>
            <a:ext cx="292893" cy="14113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  <a:endCxn id="15" idx="0"/>
          </p:cNvCxnSpPr>
          <p:nvPr/>
        </p:nvCxnSpPr>
        <p:spPr>
          <a:xfrm>
            <a:off x="10003290" y="3724558"/>
            <a:ext cx="7880" cy="51321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9342395" y="4471903"/>
            <a:ext cx="357137" cy="21948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9165157" y="4169063"/>
            <a:ext cx="7881" cy="5362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793480" y="2376150"/>
            <a:ext cx="1565910" cy="7058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Exclusive-OR is 1 wherever the bits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34671064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0579" y="733552"/>
            <a:ext cx="6924116" cy="750022"/>
          </a:xfrm>
        </p:spPr>
        <p:txBody>
          <a:bodyPr>
            <a:normAutofit/>
          </a:bodyPr>
          <a:lstStyle/>
          <a:p>
            <a:r>
              <a:rPr lang="en-US" sz="4000" dirty="0"/>
              <a:t>Selection Without a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2715" y="4293326"/>
            <a:ext cx="7238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Selection: R5 = (R0 &lt; 0) ? R1 : R2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AND	R3,R1,R0,ASR 31	// R3 = (R0 &lt; 0) ? R1 : 0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BIC	R4,R2,R0,ASR 31	// R4 = (R0 &lt; 0) ?  0 : R2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ORR	R5,R3,R4		// One of R3 or R4 will be all 0’s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45801" y="2500481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447914" y="2672355"/>
            <a:ext cx="3439121" cy="923330"/>
            <a:chOff x="1923914" y="2160908"/>
            <a:chExt cx="3439121" cy="923330"/>
          </a:xfrm>
        </p:grpSpPr>
        <p:sp>
          <p:nvSpPr>
            <p:cNvPr id="3" name="Left Brace 2"/>
            <p:cNvSpPr/>
            <p:nvPr/>
          </p:nvSpPr>
          <p:spPr>
            <a:xfrm>
              <a:off x="3243943" y="2203177"/>
              <a:ext cx="141514" cy="561794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23914" y="2160908"/>
              <a:ext cx="12518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When a=0, output = b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21800" y="2245445"/>
              <a:ext cx="1841235" cy="519526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045801" y="2725720"/>
            <a:ext cx="4013978" cy="790394"/>
            <a:chOff x="3521801" y="2245445"/>
            <a:chExt cx="4013978" cy="790394"/>
          </a:xfrm>
        </p:grpSpPr>
        <p:sp>
          <p:nvSpPr>
            <p:cNvPr id="10" name="Rectangle 9"/>
            <p:cNvSpPr/>
            <p:nvPr/>
          </p:nvSpPr>
          <p:spPr>
            <a:xfrm>
              <a:off x="3521801" y="2245445"/>
              <a:ext cx="1841235" cy="259763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21801" y="2776076"/>
              <a:ext cx="1841235" cy="259763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5450122" y="2375326"/>
              <a:ext cx="52613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5461004" y="2897836"/>
              <a:ext cx="52613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093407" y="2259626"/>
              <a:ext cx="14423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When b=0, output = a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447914" y="1873344"/>
            <a:ext cx="591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Consider Bitwise OR when at least one input is 0:</a:t>
            </a:r>
          </a:p>
        </p:txBody>
      </p:sp>
    </p:spTree>
    <p:extLst>
      <p:ext uri="{BB962C8B-B14F-4D97-AF65-F5344CB8AC3E}">
        <p14:creationId xmlns:p14="http://schemas.microsoft.com/office/powerpoint/2010/main" val="21687674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76718" y="3085757"/>
          <a:ext cx="7235190" cy="2225485"/>
        </p:xfrm>
        <a:graphic>
          <a:graphicData uri="http://schemas.openxmlformats.org/drawingml/2006/table">
            <a:tbl>
              <a:tblPr firstRow="1" firstCol="1" bandRow="1"/>
              <a:tblGrid>
                <a:gridCol w="7235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09538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4588" algn="l"/>
                          <a:tab pos="2401888" algn="l"/>
                          <a:tab pos="2743200" algn="l"/>
                          <a:tab pos="33147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4588" algn="l"/>
                          <a:tab pos="2401888" algn="l"/>
                          <a:tab pos="2743200" algn="l"/>
                          <a:tab pos="33147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uint32_t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AbsValue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(int32_t s32)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4588" algn="l"/>
                          <a:tab pos="2401888" algn="l"/>
                          <a:tab pos="2743200" algn="l"/>
                          <a:tab pos="33147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  <a:tab pos="5143500" algn="l"/>
                        </a:tabLs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AbsValue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 	// s32 &lt; 0:	else: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EOR	R1,R0,R0,ASR 31	//	R1 = ~s32	R1 = s32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ADD	R0,R1,R0,LSR 31	//	R0 = ~s32 + 1	R0 = s32 + 0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BX	LR	// Return</a:t>
                      </a: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53942"/>
            <a:ext cx="7128652" cy="647758"/>
          </a:xfrm>
        </p:spPr>
        <p:txBody>
          <a:bodyPr/>
          <a:lstStyle/>
          <a:p>
            <a:r>
              <a:rPr lang="en-US" dirty="0"/>
              <a:t>A Fast Absolute Value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40613" y="5149275"/>
            <a:ext cx="4571295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b="1" dirty="0"/>
              <a:t>Fast!</a:t>
            </a:r>
            <a:r>
              <a:rPr lang="en-US" dirty="0"/>
              <a:t> Avoids using making a compare and branch so that the instruction pipeline never stalls.</a:t>
            </a:r>
          </a:p>
        </p:txBody>
      </p:sp>
      <p:pic>
        <p:nvPicPr>
          <p:cNvPr id="5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92734" y="5228540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475942" y="4199843"/>
            <a:ext cx="988141" cy="280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ine Callout 1 (No Border) 6"/>
          <p:cNvSpPr/>
          <p:nvPr/>
        </p:nvSpPr>
        <p:spPr>
          <a:xfrm>
            <a:off x="6617007" y="2996817"/>
            <a:ext cx="2029688" cy="710469"/>
          </a:xfrm>
          <a:prstGeom prst="callout1">
            <a:avLst>
              <a:gd name="adj1" fmla="val 101785"/>
              <a:gd name="adj2" fmla="val 142"/>
              <a:gd name="adj3" fmla="val 168400"/>
              <a:gd name="adj4" fmla="val -64705"/>
            </a:avLst>
          </a:prstGeom>
          <a:solidFill>
            <a:srgbClr val="FF9999"/>
          </a:solidFill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 1’s if s32 &lt; 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All 0’s if s32 ≥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5942" y="4518870"/>
            <a:ext cx="988141" cy="280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ne Callout 1 (No Border) 9"/>
          <p:cNvSpPr/>
          <p:nvPr/>
        </p:nvSpPr>
        <p:spPr>
          <a:xfrm>
            <a:off x="3316850" y="5668697"/>
            <a:ext cx="1321324" cy="710469"/>
          </a:xfrm>
          <a:prstGeom prst="callout1">
            <a:avLst>
              <a:gd name="adj1" fmla="val 68"/>
              <a:gd name="adj2" fmla="val 100598"/>
              <a:gd name="adj3" fmla="val -122073"/>
              <a:gd name="adj4" fmla="val 118015"/>
            </a:avLst>
          </a:prstGeom>
          <a:solidFill>
            <a:srgbClr val="FF9999"/>
          </a:solidFill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if s32 &lt; 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 if s32 ≥ 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077466" y="1430343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XOR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1992318" y="1692273"/>
            <a:ext cx="3554730" cy="1031059"/>
            <a:chOff x="136886" y="2426339"/>
            <a:chExt cx="3560121" cy="1031059"/>
          </a:xfrm>
        </p:grpSpPr>
        <p:sp>
          <p:nvSpPr>
            <p:cNvPr id="15" name="Left Brace 1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e 1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Left Brace 1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Left Brace 1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83888" y="2465607"/>
              <a:ext cx="3131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cxnSp>
        <p:nvCxnSpPr>
          <p:cNvPr id="30" name="Straight Connector 29"/>
          <p:cNvCxnSpPr/>
          <p:nvPr/>
        </p:nvCxnSpPr>
        <p:spPr>
          <a:xfrm>
            <a:off x="5271132" y="2296070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40613" y="2273289"/>
            <a:ext cx="31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424" y="1681359"/>
            <a:ext cx="4288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Recall that exclusive OR can be used to pass an operand through unmodified or inverted</a:t>
            </a:r>
          </a:p>
        </p:txBody>
      </p:sp>
    </p:spTree>
    <p:extLst>
      <p:ext uri="{BB962C8B-B14F-4D97-AF65-F5344CB8AC3E}">
        <p14:creationId xmlns:p14="http://schemas.microsoft.com/office/powerpoint/2010/main" val="35011458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308212" y="2695750"/>
            <a:ext cx="4255514" cy="3760351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6515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  // R0=x, R1=n,R2=result</a:t>
            </a:r>
          </a:p>
          <a:p>
            <a:pPr marL="0" lvl="1" indent="0">
              <a:buNone/>
              <a:tabLst>
                <a:tab pos="800100" algn="l"/>
                <a:tab pos="1595438" algn="l"/>
              </a:tabLst>
            </a:pPr>
            <a:r>
              <a:rPr lang="en-US" sz="1800" dirty="0" err="1">
                <a:latin typeface="Consolas" panose="020B0609020204030204" pitchFamily="49" charset="0"/>
              </a:rPr>
              <a:t>ipow</a:t>
            </a:r>
            <a:r>
              <a:rPr lang="en-US" sz="1800" dirty="0">
                <a:latin typeface="Consolas" panose="020B0609020204030204" pitchFamily="49" charset="0"/>
              </a:rPr>
              <a:t>: 	LDR	R2,=1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loop:	CBZ	R1,done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LSRS	R1,R1,1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IT	CS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MULCS	R2,R2,R0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MUL	R0,R0,R0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B	loop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done:	MOV	R0,R2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42861"/>
            <a:ext cx="6134042" cy="676866"/>
          </a:xfrm>
        </p:spPr>
        <p:txBody>
          <a:bodyPr>
            <a:normAutofit/>
          </a:bodyPr>
          <a:lstStyle/>
          <a:p>
            <a:r>
              <a:rPr lang="en-US" dirty="0"/>
              <a:t>An Integer Power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06621" y="2695751"/>
            <a:ext cx="4712916" cy="36288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uint32_t </a:t>
            </a:r>
            <a:r>
              <a:rPr lang="en-US" sz="1400" dirty="0" err="1">
                <a:latin typeface="Consolas" panose="020B0609020204030204" pitchFamily="49" charset="0"/>
              </a:rPr>
              <a:t>ipow</a:t>
            </a:r>
            <a:r>
              <a:rPr lang="en-US" sz="1400" dirty="0">
                <a:latin typeface="Consolas" panose="020B0609020204030204" pitchFamily="49" charset="0"/>
              </a:rPr>
              <a:t>(uint32_t x, uint32_t n){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uint32_t  result;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result = 1;</a:t>
            </a:r>
            <a:br>
              <a:rPr lang="en-US" sz="1400" dirty="0">
                <a:latin typeface="Consolas" panose="020B0609020204030204" pitchFamily="49" charset="0"/>
              </a:rPr>
            </a:b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while (n != 0){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	if (n &amp; 1)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		    result *= x 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	n &gt;&gt;= 1 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	x *= x ;  // x</a:t>
            </a:r>
            <a:r>
              <a:rPr lang="en-US" sz="1400" baseline="30000" dirty="0"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4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8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16</a:t>
            </a:r>
            <a:r>
              <a:rPr lang="en-US" sz="1400" dirty="0">
                <a:latin typeface="Consolas" panose="020B0609020204030204" pitchFamily="49" charset="0"/>
              </a:rPr>
              <a:t>, etc.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return result;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60438" y="1419727"/>
                <a:ext cx="6506492" cy="815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𝐼𝑑𝑒𝑎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𝐷𝑒𝑐𝑜𝑚𝑝𝑜𝑠𝑒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𝑒𝑥𝑝𝑜𝑛𝑒𝑛𝑡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𝑖𝑛𝑡𝑜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𝑝𝑜𝑤𝑒𝑟𝑠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.: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sz="2400" dirty="0"/>
                  <a:t>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sz="2400" dirty="0"/>
                  <a:t>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)   //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(⌊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⌋)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438" y="1419727"/>
                <a:ext cx="6506492" cy="815608"/>
              </a:xfrm>
              <a:prstGeom prst="rect">
                <a:avLst/>
              </a:prstGeom>
              <a:blipFill>
                <a:blip r:embed="rId2"/>
                <a:stretch>
                  <a:fillRect b="-21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219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Chapter 7</a:t>
            </a:r>
            <a:br>
              <a:rPr lang="en-US" sz="6000" dirty="0"/>
            </a:br>
            <a:r>
              <a:rPr lang="en-US" sz="6000" dirty="0"/>
              <a:t>Manipulating Bits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7: Bit-Banding</a:t>
            </a:r>
          </a:p>
        </p:txBody>
      </p:sp>
    </p:spTree>
    <p:extLst>
      <p:ext uri="{BB962C8B-B14F-4D97-AF65-F5344CB8AC3E}">
        <p14:creationId xmlns:p14="http://schemas.microsoft.com/office/powerpoint/2010/main" val="2283226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2"/>
            <a:ext cx="7569810" cy="686577"/>
          </a:xfrm>
        </p:spPr>
        <p:txBody>
          <a:bodyPr>
            <a:normAutofit/>
          </a:bodyPr>
          <a:lstStyle/>
          <a:p>
            <a:r>
              <a:rPr lang="en-US" dirty="0"/>
              <a:t>APPLICATIONS OF BIT-BANDING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31502"/>
            <a:ext cx="10429316" cy="49099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Fast access to individual bits in memory or I/O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Only 1 instruction required to access a single bit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 bitwise-AND, bitwise-OR, or shifting required</a:t>
            </a:r>
          </a:p>
        </p:txBody>
      </p:sp>
    </p:spTree>
    <p:extLst>
      <p:ext uri="{BB962C8B-B14F-4D97-AF65-F5344CB8AC3E}">
        <p14:creationId xmlns:p14="http://schemas.microsoft.com/office/powerpoint/2010/main" val="1471343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2"/>
            <a:ext cx="7569810" cy="686577"/>
          </a:xfrm>
        </p:spPr>
        <p:txBody>
          <a:bodyPr>
            <a:normAutofit/>
          </a:bodyPr>
          <a:lstStyle/>
          <a:p>
            <a:r>
              <a:rPr lang="en-US" dirty="0"/>
              <a:t>APPLICATIONS OF BIT-BANDING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31502"/>
            <a:ext cx="10429316" cy="490993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"Atomic" access to manage a "</a:t>
            </a:r>
            <a:r>
              <a:rPr lang="en-US" b="1" dirty="0" err="1">
                <a:solidFill>
                  <a:schemeClr val="tx1"/>
                </a:solidFill>
              </a:rPr>
              <a:t>mutex</a:t>
            </a:r>
            <a:r>
              <a:rPr lang="en-US" b="1" dirty="0">
                <a:solidFill>
                  <a:schemeClr val="tx1"/>
                </a:solidFill>
              </a:rPr>
              <a:t>".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Atomic</a:t>
            </a:r>
            <a:r>
              <a:rPr lang="en-US" dirty="0">
                <a:solidFill>
                  <a:schemeClr val="tx1"/>
                </a:solidFill>
              </a:rPr>
              <a:t>: An atomic operation completes without preemption / interruption.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 err="1">
                <a:solidFill>
                  <a:schemeClr val="tx1"/>
                </a:solidFill>
              </a:rPr>
              <a:t>Mutex</a:t>
            </a:r>
            <a:r>
              <a:rPr lang="en-US" dirty="0">
                <a:solidFill>
                  <a:schemeClr val="tx1"/>
                </a:solidFill>
              </a:rPr>
              <a:t>: Used in operating systems, networking and multi-threaded software to arbitrate access to a shared resource.</a:t>
            </a:r>
          </a:p>
        </p:txBody>
      </p:sp>
    </p:spTree>
    <p:extLst>
      <p:ext uri="{BB962C8B-B14F-4D97-AF65-F5344CB8AC3E}">
        <p14:creationId xmlns:p14="http://schemas.microsoft.com/office/powerpoint/2010/main" val="33033342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913" y="745752"/>
            <a:ext cx="7273582" cy="660449"/>
          </a:xfrm>
        </p:spPr>
        <p:txBody>
          <a:bodyPr/>
          <a:lstStyle/>
          <a:p>
            <a:r>
              <a:rPr lang="en-US" dirty="0"/>
              <a:t>BIT-BAND REGIONS &amp; ALIASES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861243" y="1607648"/>
            <a:ext cx="2835002" cy="4614161"/>
            <a:chOff x="645849" y="1438400"/>
            <a:chExt cx="2676471" cy="4614161"/>
          </a:xfrm>
        </p:grpSpPr>
        <p:sp>
          <p:nvSpPr>
            <p:cNvPr id="18" name="Rectangle 17"/>
            <p:cNvSpPr/>
            <p:nvPr/>
          </p:nvSpPr>
          <p:spPr>
            <a:xfrm>
              <a:off x="1112520" y="1438400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32MB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Alias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22000000-23FFFFFF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12520" y="5267205"/>
              <a:ext cx="2209800" cy="74903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Region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20000000-200FFFFF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12520" y="3346965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31MB of RAM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20100000-21FFFFFF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841885" y="1438400"/>
              <a:ext cx="15240" cy="4614161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645849" y="2188941"/>
              <a:ext cx="443635" cy="2770149"/>
            </a:xfrm>
            <a:prstGeom prst="rect">
              <a:avLst/>
            </a:prstGeom>
            <a:solidFill>
              <a:schemeClr val="bg1"/>
            </a:solidFill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70C0"/>
                  </a:solidFill>
                </a:rPr>
                <a:t>64 MB of R/W Address Space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889760" y="2270826"/>
            <a:ext cx="1003756" cy="3691587"/>
            <a:chOff x="365760" y="2270825"/>
            <a:chExt cx="1003756" cy="3691587"/>
          </a:xfrm>
        </p:grpSpPr>
        <p:sp>
          <p:nvSpPr>
            <p:cNvPr id="23" name="TextBox 22"/>
            <p:cNvSpPr txBox="1"/>
            <p:nvPr/>
          </p:nvSpPr>
          <p:spPr>
            <a:xfrm>
              <a:off x="365760" y="5593080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bit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5760" y="2270825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word</a:t>
              </a:r>
            </a:p>
          </p:txBody>
        </p:sp>
        <p:sp>
          <p:nvSpPr>
            <p:cNvPr id="25" name="Arc 24"/>
            <p:cNvSpPr/>
            <p:nvPr/>
          </p:nvSpPr>
          <p:spPr>
            <a:xfrm rot="10800000">
              <a:off x="365760" y="2796193"/>
              <a:ext cx="555739" cy="2796886"/>
            </a:xfrm>
            <a:prstGeom prst="arc">
              <a:avLst>
                <a:gd name="adj1" fmla="val 16417144"/>
                <a:gd name="adj2" fmla="val 5312389"/>
              </a:avLst>
            </a:prstGeom>
            <a:ln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448800" y="2270826"/>
            <a:ext cx="1003757" cy="3724811"/>
            <a:chOff x="7924799" y="2270825"/>
            <a:chExt cx="1003757" cy="3724811"/>
          </a:xfrm>
        </p:grpSpPr>
        <p:sp>
          <p:nvSpPr>
            <p:cNvPr id="26" name="TextBox 25"/>
            <p:cNvSpPr txBox="1"/>
            <p:nvPr/>
          </p:nvSpPr>
          <p:spPr>
            <a:xfrm>
              <a:off x="7924799" y="5626304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bit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24800" y="2270825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word</a:t>
              </a:r>
            </a:p>
          </p:txBody>
        </p:sp>
        <p:sp>
          <p:nvSpPr>
            <p:cNvPr id="28" name="Arc 27"/>
            <p:cNvSpPr/>
            <p:nvPr/>
          </p:nvSpPr>
          <p:spPr>
            <a:xfrm>
              <a:off x="8148808" y="2796193"/>
              <a:ext cx="555739" cy="2796887"/>
            </a:xfrm>
            <a:prstGeom prst="arc">
              <a:avLst>
                <a:gd name="adj1" fmla="val 16401086"/>
                <a:gd name="adj2" fmla="val 5312389"/>
              </a:avLst>
            </a:prstGeom>
            <a:ln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817228" y="1607648"/>
            <a:ext cx="2855581" cy="4614161"/>
            <a:chOff x="645849" y="1438400"/>
            <a:chExt cx="2676471" cy="4614161"/>
          </a:xfrm>
        </p:grpSpPr>
        <p:sp>
          <p:nvSpPr>
            <p:cNvPr id="9" name="Rectangle 8"/>
            <p:cNvSpPr/>
            <p:nvPr/>
          </p:nvSpPr>
          <p:spPr>
            <a:xfrm>
              <a:off x="1112520" y="1438400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32MB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Alias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42000000-43FFFFFF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12520" y="5267205"/>
              <a:ext cx="2209800" cy="74903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Region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40000000-400FFFFF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2520" y="3346965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31MB of I/O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40100000-41FFFFFF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865309" y="1438400"/>
              <a:ext cx="15240" cy="4614161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45849" y="2281853"/>
              <a:ext cx="443635" cy="2524837"/>
            </a:xfrm>
            <a:prstGeom prst="rect">
              <a:avLst/>
            </a:prstGeom>
            <a:solidFill>
              <a:schemeClr val="bg1"/>
            </a:solidFill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70C0"/>
                  </a:solidFill>
                </a:rPr>
                <a:t>64 MB of I/O Address Space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302638" y="2955574"/>
            <a:ext cx="4463753" cy="1088134"/>
            <a:chOff x="4103703" y="3862844"/>
            <a:chExt cx="4220110" cy="1292662"/>
          </a:xfrm>
        </p:grpSpPr>
        <p:sp>
          <p:nvSpPr>
            <p:cNvPr id="4" name="TextBox 3"/>
            <p:cNvSpPr txBox="1"/>
            <p:nvPr/>
          </p:nvSpPr>
          <p:spPr>
            <a:xfrm>
              <a:off x="4103703" y="3862844"/>
              <a:ext cx="4220110" cy="129266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Each individual </a:t>
              </a:r>
              <a:r>
                <a:rPr lang="en-US" i="1" u="sng" dirty="0"/>
                <a:t>bit</a:t>
              </a:r>
              <a:r>
                <a:rPr lang="en-US" dirty="0"/>
                <a:t> in a bit-band region corresponds to an entire </a:t>
              </a:r>
              <a:r>
                <a:rPr lang="en-US" i="1" u="sng" dirty="0"/>
                <a:t>word</a:t>
              </a:r>
              <a:r>
                <a:rPr lang="en-US" dirty="0"/>
                <a:t> in its bit-band alias.</a:t>
              </a:r>
            </a:p>
          </p:txBody>
        </p:sp>
        <p:pic>
          <p:nvPicPr>
            <p:cNvPr id="5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07936" y="3920245"/>
              <a:ext cx="803787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50611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 noChangeAspect="1"/>
          </p:cNvGraphicFramePr>
          <p:nvPr/>
        </p:nvGraphicFramePr>
        <p:xfrm>
          <a:off x="6324601" y="1219200"/>
          <a:ext cx="365759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20001000</a:t>
                      </a:r>
                      <a:r>
                        <a:rPr lang="en-US" sz="1800" baseline="-25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Elbow Connector 6"/>
          <p:cNvCxnSpPr/>
          <p:nvPr/>
        </p:nvCxnSpPr>
        <p:spPr>
          <a:xfrm rot="5400000">
            <a:off x="6919331" y="2665141"/>
            <a:ext cx="3655742" cy="2209800"/>
          </a:xfrm>
          <a:prstGeom prst="bentConnector3">
            <a:avLst>
              <a:gd name="adj1" fmla="val 99822"/>
            </a:avLst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>
            <a:off x="6969511" y="2614961"/>
            <a:ext cx="3321206" cy="1975624"/>
          </a:xfrm>
          <a:prstGeom prst="bentConnector3">
            <a:avLst>
              <a:gd name="adj1" fmla="val 100077"/>
            </a:avLst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5" idx="2"/>
          </p:cNvCxnSpPr>
          <p:nvPr/>
        </p:nvCxnSpPr>
        <p:spPr>
          <a:xfrm rot="5400000">
            <a:off x="7367796" y="2225226"/>
            <a:ext cx="1060108" cy="511096"/>
          </a:xfrm>
          <a:prstGeom prst="bentConnector3">
            <a:avLst>
              <a:gd name="adj1" fmla="val 99790"/>
            </a:avLst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53399" y="2157609"/>
            <a:ext cx="1464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9174" y="1581387"/>
            <a:ext cx="320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 byte in the "</a:t>
            </a:r>
            <a:r>
              <a:rPr lang="en-US" b="1" i="1" dirty="0">
                <a:solidFill>
                  <a:srgbClr val="0070C0"/>
                </a:solidFill>
              </a:rPr>
              <a:t>bit-band region</a:t>
            </a:r>
            <a:r>
              <a:rPr lang="en-US" sz="1600" dirty="0"/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924" y="5869428"/>
            <a:ext cx="577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Corresponding 32-bit word(s) in the "</a:t>
            </a:r>
            <a:r>
              <a:rPr lang="en-US" b="1" i="1" dirty="0">
                <a:solidFill>
                  <a:srgbClr val="0070C0"/>
                </a:solidFill>
              </a:rPr>
              <a:t>bit-band alias</a:t>
            </a:r>
            <a:r>
              <a:rPr lang="en-US" sz="1600" dirty="0"/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region</a:t>
            </a:r>
            <a:r>
              <a:rPr lang="en-US" sz="1600" dirty="0"/>
              <a:t>”</a:t>
            </a:r>
          </a:p>
        </p:txBody>
      </p:sp>
      <p:sp>
        <p:nvSpPr>
          <p:cNvPr id="2" name="Right Arrow 1"/>
          <p:cNvSpPr/>
          <p:nvPr/>
        </p:nvSpPr>
        <p:spPr>
          <a:xfrm>
            <a:off x="6182032" y="1600200"/>
            <a:ext cx="457200" cy="34197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8495" y="758120"/>
            <a:ext cx="4690252" cy="641581"/>
          </a:xfrm>
        </p:spPr>
        <p:txBody>
          <a:bodyPr/>
          <a:lstStyle/>
          <a:p>
            <a:r>
              <a:rPr lang="en-US" dirty="0"/>
              <a:t>BIT-BAND MAPPING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215189" y="4332953"/>
          <a:ext cx="64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2202000C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15189" y="4704973"/>
          <a:ext cx="64271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22020008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215189" y="5077956"/>
          <a:ext cx="64303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6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22020004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215189" y="5412492"/>
          <a:ext cx="6436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22020000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215189" y="3976257"/>
          <a:ext cx="64271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22020010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215189" y="3603843"/>
          <a:ext cx="64238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22020014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215189" y="2892083"/>
          <a:ext cx="64271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2202001C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215189" y="3231933"/>
          <a:ext cx="6427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22020018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728277" y="1580127"/>
            <a:ext cx="247650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480627" y="1585889"/>
            <a:ext cx="247650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386867" y="5422274"/>
            <a:ext cx="6265193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86867" y="5082847"/>
            <a:ext cx="6258687" cy="33453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/>
          <p:cNvCxnSpPr>
            <a:endCxn id="17" idx="3"/>
          </p:cNvCxnSpPr>
          <p:nvPr/>
        </p:nvCxnSpPr>
        <p:spPr>
          <a:xfrm rot="5400000">
            <a:off x="7045260" y="2553525"/>
            <a:ext cx="2933910" cy="1739826"/>
          </a:xfrm>
          <a:prstGeom prst="bentConnector2">
            <a:avLst/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232977" y="1581388"/>
            <a:ext cx="247650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386867" y="4705096"/>
            <a:ext cx="6252183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71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Callout 1 (No Border) 20"/>
          <p:cNvSpPr/>
          <p:nvPr/>
        </p:nvSpPr>
        <p:spPr>
          <a:xfrm>
            <a:off x="9788428" y="3219712"/>
            <a:ext cx="1920241" cy="765492"/>
          </a:xfrm>
          <a:prstGeom prst="callout1">
            <a:avLst>
              <a:gd name="adj1" fmla="val 18750"/>
              <a:gd name="adj2" fmla="val -8333"/>
              <a:gd name="adj3" fmla="val -78624"/>
              <a:gd name="adj4" fmla="val -34365"/>
            </a:avLst>
          </a:prstGeom>
          <a:noFill/>
          <a:ln w="190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</a:rPr>
              <a:t>Starting address of Bit-Band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9691" y="2989911"/>
            <a:ext cx="95488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Example:   </a:t>
            </a:r>
            <a:r>
              <a:rPr lang="en-US" dirty="0"/>
              <a:t>Access bit 3 in</a:t>
            </a:r>
            <a:r>
              <a:rPr lang="en-US" b="1" dirty="0"/>
              <a:t>  	   </a:t>
            </a:r>
            <a:r>
              <a:rPr lang="en-US" dirty="0"/>
              <a:t>20001000</a:t>
            </a:r>
            <a:r>
              <a:rPr lang="en-US" baseline="-25000" dirty="0"/>
              <a:t>16</a:t>
            </a:r>
            <a:endParaRPr lang="en-US" dirty="0"/>
          </a:p>
          <a:p>
            <a:endParaRPr lang="en-US" dirty="0"/>
          </a:p>
          <a:p>
            <a:pPr lvl="1"/>
            <a:r>
              <a:rPr lang="en-US" i="1" dirty="0"/>
              <a:t>Bit-Band Region offset</a:t>
            </a:r>
            <a:r>
              <a:rPr lang="en-US" dirty="0"/>
              <a:t>	= 20001000</a:t>
            </a:r>
            <a:r>
              <a:rPr lang="en-US" baseline="-25000" dirty="0"/>
              <a:t>16</a:t>
            </a:r>
            <a:r>
              <a:rPr lang="en-US" dirty="0"/>
              <a:t> – 20000000</a:t>
            </a:r>
            <a:r>
              <a:rPr lang="en-US" baseline="-25000" dirty="0"/>
              <a:t>16</a:t>
            </a:r>
            <a:r>
              <a:rPr lang="en-US" dirty="0"/>
              <a:t> = 01000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r>
              <a:rPr lang="en-US" dirty="0"/>
              <a:t> </a:t>
            </a:r>
          </a:p>
          <a:p>
            <a:pPr lvl="1"/>
            <a:r>
              <a:rPr lang="en-US" i="1" dirty="0"/>
              <a:t>Bit-Band Alias address</a:t>
            </a:r>
            <a:r>
              <a:rPr lang="en-US" dirty="0"/>
              <a:t>	= 22000000</a:t>
            </a:r>
            <a:r>
              <a:rPr lang="en-US" baseline="-25000" dirty="0"/>
              <a:t>16</a:t>
            </a:r>
            <a:r>
              <a:rPr lang="en-US" dirty="0"/>
              <a:t> + 32</a:t>
            </a:r>
            <a:r>
              <a:rPr lang="en-US" baseline="-25000" dirty="0"/>
              <a:t>10</a:t>
            </a:r>
            <a:r>
              <a:rPr lang="en-US" dirty="0"/>
              <a:t> × 01000</a:t>
            </a:r>
            <a:r>
              <a:rPr lang="en-US" baseline="-25000" dirty="0"/>
              <a:t>16</a:t>
            </a:r>
            <a:r>
              <a:rPr lang="en-US" dirty="0"/>
              <a:t> + 4 × 3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				= 22000000</a:t>
            </a:r>
            <a:r>
              <a:rPr lang="en-US" baseline="-25000" dirty="0"/>
              <a:t>16</a:t>
            </a:r>
            <a:r>
              <a:rPr lang="en-US" dirty="0"/>
              <a:t> + (01000</a:t>
            </a:r>
            <a:r>
              <a:rPr lang="en-US" baseline="-25000" dirty="0"/>
              <a:t>16</a:t>
            </a:r>
            <a:r>
              <a:rPr lang="en-US" dirty="0"/>
              <a:t> &lt;&lt; 5) + (3 &lt;&lt; 2)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				= 2202000C</a:t>
            </a:r>
            <a:r>
              <a:rPr lang="en-US" baseline="-25000" dirty="0"/>
              <a:t>16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184506" y="4088892"/>
            <a:ext cx="565083" cy="36933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87464" y="5221400"/>
            <a:ext cx="1271588" cy="327639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212580" y="4709254"/>
            <a:ext cx="794249" cy="27817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99081" y="1738430"/>
          <a:ext cx="6664960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353" y="748648"/>
            <a:ext cx="6368847" cy="505576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 THE ALIAS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9691" y="1288482"/>
            <a:ext cx="8758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Bit-Band Alias address</a:t>
            </a:r>
            <a:r>
              <a:rPr lang="en-US" dirty="0"/>
              <a:t> = 22000000</a:t>
            </a:r>
            <a:r>
              <a:rPr lang="en-US" baseline="-25000" dirty="0"/>
              <a:t>16 </a:t>
            </a:r>
            <a:r>
              <a:rPr lang="en-US" dirty="0"/>
              <a:t>+ 32 × </a:t>
            </a:r>
            <a:r>
              <a:rPr lang="en-US" i="1" dirty="0"/>
              <a:t>Bit-Band Region offset</a:t>
            </a:r>
            <a:r>
              <a:rPr lang="en-US" dirty="0"/>
              <a:t> + 4 × </a:t>
            </a:r>
            <a:r>
              <a:rPr lang="en-US" i="1" dirty="0"/>
              <a:t>bit number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23258" y="1305252"/>
            <a:ext cx="2380374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26616" y="4649535"/>
            <a:ext cx="1544930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09704" y="1321524"/>
            <a:ext cx="1110557" cy="36593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439403" y="4094029"/>
            <a:ext cx="1532143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439403" y="3564133"/>
            <a:ext cx="1223334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87464" y="3568990"/>
            <a:ext cx="1271588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697464" y="5460307"/>
            <a:ext cx="3849098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Read or write to this address accesses bit 3 at address 20001000</a:t>
            </a:r>
            <a:r>
              <a:rPr lang="en-US" baseline="-25000" dirty="0"/>
              <a:t>16</a:t>
            </a:r>
            <a:endParaRPr lang="en-US" dirty="0"/>
          </a:p>
        </p:txBody>
      </p:sp>
      <p:pic>
        <p:nvPicPr>
          <p:cNvPr id="23" name="Picture 22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82290" y="5549039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4271794" y="2155966"/>
            <a:ext cx="4143544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431725" y="2148935"/>
            <a:ext cx="624156" cy="36593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724401" y="1309895"/>
            <a:ext cx="1223210" cy="35176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812992" y="2136419"/>
            <a:ext cx="1449401" cy="37313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987465" y="4106462"/>
            <a:ext cx="1271587" cy="35176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6607215" y="3296216"/>
            <a:ext cx="0" cy="31061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055881" y="2155966"/>
            <a:ext cx="408160" cy="36821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7813445" y="2554536"/>
          <a:ext cx="16662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tx2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431041" y="2153342"/>
          <a:ext cx="624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4249738" y="2155966"/>
          <a:ext cx="416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5987464" y="4648302"/>
            <a:ext cx="1239503" cy="35176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8867702">
            <a:off x="2875023" y="3333300"/>
            <a:ext cx="69669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Recheck It is not correct!</a:t>
            </a:r>
          </a:p>
        </p:txBody>
      </p:sp>
    </p:spTree>
    <p:extLst>
      <p:ext uri="{BB962C8B-B14F-4D97-AF65-F5344CB8AC3E}">
        <p14:creationId xmlns:p14="http://schemas.microsoft.com/office/powerpoint/2010/main" val="3877291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44537" y="1682457"/>
          <a:ext cx="10401242" cy="4954963"/>
        </p:xfrm>
        <a:graphic>
          <a:graphicData uri="http://schemas.openxmlformats.org/drawingml/2006/table">
            <a:tbl>
              <a:tblPr firstRow="1" firstCol="1" bandRow="1"/>
              <a:tblGrid>
                <a:gridCol w="10401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4963">
                <a:tc>
                  <a:txBody>
                    <a:bodyPr/>
                    <a:lstStyle/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// uint32_t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BitBandAliasAddress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(void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BitBandAdrs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BitNum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) ;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//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BitBandAdrs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The address of data in the bit band region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// </a:t>
                      </a:r>
                      <a:r>
                        <a:rPr lang="en-US" sz="1600" baseline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BitNum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      The number (0-31) of the bit within the data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.global	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BitBandAliasAddress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.align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.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thumb_func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BitBandAliasAddress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   SUB	R0,R0,0x20000000	// compute bit band offset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LSL	R0,R0,5	// insert offset into alias address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ADD	R0,R0,R1,LSL 2	// add 4 times the bit number (0-31)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ADD	R0,R0,0x22000000	// add base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adrs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of alias region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BX	LR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.end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9631" marR="5963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53203"/>
            <a:ext cx="5051200" cy="652530"/>
          </a:xfrm>
        </p:spPr>
        <p:txBody>
          <a:bodyPr/>
          <a:lstStyle/>
          <a:p>
            <a:r>
              <a:rPr lang="en-US" dirty="0"/>
              <a:t>BIT-BAND FUNCTION</a:t>
            </a:r>
          </a:p>
        </p:txBody>
      </p:sp>
    </p:spTree>
    <p:extLst>
      <p:ext uri="{BB962C8B-B14F-4D97-AF65-F5344CB8AC3E}">
        <p14:creationId xmlns:p14="http://schemas.microsoft.com/office/powerpoint/2010/main" val="13377295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D65E-FC19-82A7-652C-C0EEAA41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4198-B614-9891-00D8-1992A0E2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7B1778D2-C68D-4D13-26F5-17430D7359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6923288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1317</TotalTime>
  <Words>4200</Words>
  <Application>Microsoft Office PowerPoint</Application>
  <PresentationFormat>Widescreen</PresentationFormat>
  <Paragraphs>1263</Paragraphs>
  <Slides>61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Arial</vt:lpstr>
      <vt:lpstr>Arial Narrow</vt:lpstr>
      <vt:lpstr>Calibri</vt:lpstr>
      <vt:lpstr>Calibri Light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7 Manipulating Bits</vt:lpstr>
      <vt:lpstr>Bit Patterns</vt:lpstr>
      <vt:lpstr>Useful Bit Patterns: (1 &lt;&lt; k) = 2k (A single 1 shifted left k bits)</vt:lpstr>
      <vt:lpstr>Useful Bit Patterns: ~(1 &lt;&lt; k) = ~2k (A single 0 shifted left k bits)</vt:lpstr>
      <vt:lpstr>Useful Bit Patterns: (1 &lt;&lt; k)-1 = 2k-1 (A string of k 1’s, preceded by all 0's)</vt:lpstr>
      <vt:lpstr>Chapter 7 Manipulating Bits</vt:lpstr>
      <vt:lpstr>APPLICATIONS OF SHIFTING</vt:lpstr>
      <vt:lpstr>SHIFT INSTRUCTIONS</vt:lpstr>
      <vt:lpstr>Rotate Right</vt:lpstr>
      <vt:lpstr>Instruction Sets</vt:lpstr>
      <vt:lpstr>Instruction Sets</vt:lpstr>
      <vt:lpstr>Instruction Sets</vt:lpstr>
      <vt:lpstr>3 PLACES WHERE SHIFT CAN BE USED</vt:lpstr>
      <vt:lpstr>Constants Dependent on Sign of R0</vt:lpstr>
      <vt:lpstr>Chapter 7 Manipulating Bits</vt:lpstr>
      <vt:lpstr>64-BIT LOGICAL SHIFT LEFT (By 1 bit)</vt:lpstr>
      <vt:lpstr>Chapter 7 Manipulating Bits</vt:lpstr>
      <vt:lpstr>Review: Bitwise Operators</vt:lpstr>
      <vt:lpstr>Bitwise AND</vt:lpstr>
      <vt:lpstr>Bitwise AND</vt:lpstr>
      <vt:lpstr>Bitwise OR</vt:lpstr>
      <vt:lpstr>Bitwise Exclusive-OR </vt:lpstr>
      <vt:lpstr>BITWISE INSTRUCTIONS</vt:lpstr>
      <vt:lpstr>USING BITWISE INSTRUCTIONS</vt:lpstr>
      <vt:lpstr>USING C BITWISE OPERATIONS</vt:lpstr>
      <vt:lpstr>Other Values Dependent on Sign of R0</vt:lpstr>
      <vt:lpstr>Chapter 7 Manipulating Bits</vt:lpstr>
      <vt:lpstr>Trading Execution Time for Memory</vt:lpstr>
      <vt:lpstr>Structure Bitfields</vt:lpstr>
      <vt:lpstr>Extracting Unsigned Bitfield (Using LSL and LSR)</vt:lpstr>
      <vt:lpstr>Extracting Signed Bitfield (Using LSL and ASR)</vt:lpstr>
      <vt:lpstr>Extracting Unsigned Bitfield (Using the UBFX instruction)</vt:lpstr>
      <vt:lpstr>Extracting Signed Bitfield (Using the SBFX instruction)</vt:lpstr>
      <vt:lpstr>PowerPoint Presentation</vt:lpstr>
      <vt:lpstr>PowerPoint Presentation</vt:lpstr>
      <vt:lpstr>BITFIELD INSTRUCTIONS &amp; APPLICATIONS</vt:lpstr>
      <vt:lpstr>Examples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</vt:lpstr>
      <vt:lpstr>Examples (Implement in CPULator)</vt:lpstr>
      <vt:lpstr>Chapter 7 Manipulating Bits</vt:lpstr>
      <vt:lpstr>Register Swap Using Exclusive-OR (Uses 1 less register and no additional instructions)</vt:lpstr>
      <vt:lpstr>Selection Without a Branch</vt:lpstr>
      <vt:lpstr>A Fast Absolute Value Function</vt:lpstr>
      <vt:lpstr>An Integer Power Function</vt:lpstr>
      <vt:lpstr>Chapter 7 Manipulating Bits</vt:lpstr>
      <vt:lpstr>APPLICATIONS OF BIT-BANDING</vt:lpstr>
      <vt:lpstr>APPLICATIONS OF BIT-BANDING</vt:lpstr>
      <vt:lpstr>BIT-BAND REGIONS &amp; ALIASES</vt:lpstr>
      <vt:lpstr>BIT-BAND MAPPING</vt:lpstr>
      <vt:lpstr>FINDING THE ALIAS ADDRESS</vt:lpstr>
      <vt:lpstr>BIT-BAND FUNCTION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219</cp:revision>
  <cp:lastPrinted>2023-09-11T21:46:56Z</cp:lastPrinted>
  <dcterms:created xsi:type="dcterms:W3CDTF">2023-09-09T19:51:41Z</dcterms:created>
  <dcterms:modified xsi:type="dcterms:W3CDTF">2026-08-20T21:18:46Z</dcterms:modified>
</cp:coreProperties>
</file>