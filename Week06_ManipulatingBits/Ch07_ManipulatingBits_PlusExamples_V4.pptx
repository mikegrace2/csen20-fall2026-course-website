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4" r:id="rId2"/>
    <p:sldMasterId id="2147483687" r:id="rId3"/>
  </p:sldMasterIdLst>
  <p:notesMasterIdLst>
    <p:notesMasterId r:id="rId66"/>
  </p:notesMasterIdLst>
  <p:handoutMasterIdLst>
    <p:handoutMasterId r:id="rId67"/>
  </p:handoutMasterIdLst>
  <p:sldIdLst>
    <p:sldId id="333" r:id="rId4"/>
    <p:sldId id="379" r:id="rId5"/>
    <p:sldId id="380" r:id="rId6"/>
    <p:sldId id="381" r:id="rId7"/>
    <p:sldId id="382" r:id="rId8"/>
    <p:sldId id="383" r:id="rId9"/>
    <p:sldId id="385" r:id="rId10"/>
    <p:sldId id="386" r:id="rId11"/>
    <p:sldId id="387" r:id="rId12"/>
    <p:sldId id="429" r:id="rId13"/>
    <p:sldId id="508" r:id="rId14"/>
    <p:sldId id="509" r:id="rId15"/>
    <p:sldId id="510" r:id="rId16"/>
    <p:sldId id="388" r:id="rId17"/>
    <p:sldId id="389" r:id="rId18"/>
    <p:sldId id="392" r:id="rId19"/>
    <p:sldId id="393" r:id="rId20"/>
    <p:sldId id="396" r:id="rId21"/>
    <p:sldId id="397" r:id="rId22"/>
    <p:sldId id="398" r:id="rId23"/>
    <p:sldId id="399" r:id="rId24"/>
    <p:sldId id="400" r:id="rId25"/>
    <p:sldId id="401" r:id="rId26"/>
    <p:sldId id="402" r:id="rId27"/>
    <p:sldId id="403" r:id="rId28"/>
    <p:sldId id="404" r:id="rId29"/>
    <p:sldId id="405" r:id="rId30"/>
    <p:sldId id="406" r:id="rId31"/>
    <p:sldId id="407" r:id="rId32"/>
    <p:sldId id="408" r:id="rId33"/>
    <p:sldId id="409" r:id="rId34"/>
    <p:sldId id="410" r:id="rId35"/>
    <p:sldId id="411" r:id="rId36"/>
    <p:sldId id="412" r:id="rId37"/>
    <p:sldId id="413" r:id="rId38"/>
    <p:sldId id="414" r:id="rId39"/>
    <p:sldId id="428" r:id="rId40"/>
    <p:sldId id="336" r:id="rId41"/>
    <p:sldId id="431" r:id="rId42"/>
    <p:sldId id="436" r:id="rId43"/>
    <p:sldId id="437" r:id="rId44"/>
    <p:sldId id="438" r:id="rId45"/>
    <p:sldId id="439" r:id="rId46"/>
    <p:sldId id="440" r:id="rId47"/>
    <p:sldId id="432" r:id="rId48"/>
    <p:sldId id="433" r:id="rId49"/>
    <p:sldId id="434" r:id="rId50"/>
    <p:sldId id="435" r:id="rId51"/>
    <p:sldId id="416" r:id="rId52"/>
    <p:sldId id="417" r:id="rId53"/>
    <p:sldId id="418" r:id="rId54"/>
    <p:sldId id="419" r:id="rId55"/>
    <p:sldId id="420" r:id="rId56"/>
    <p:sldId id="422" r:id="rId57"/>
    <p:sldId id="423" r:id="rId58"/>
    <p:sldId id="511" r:id="rId59"/>
    <p:sldId id="424" r:id="rId60"/>
    <p:sldId id="425" r:id="rId61"/>
    <p:sldId id="426" r:id="rId62"/>
    <p:sldId id="427" r:id="rId63"/>
    <p:sldId id="430" r:id="rId64"/>
    <p:sldId id="512" r:id="rId65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197EC6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018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612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presProps" Target="presProps.xml"/><Relationship Id="rId7" Type="http://schemas.openxmlformats.org/officeDocument/2006/relationships/slide" Target="slides/slide4.xml"/><Relationship Id="rId71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1" Type="http://schemas.openxmlformats.org/officeDocument/2006/relationships/slide" Target="slides/slide58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slide" Target="slides/slide61.xml"/><Relationship Id="rId69" Type="http://schemas.openxmlformats.org/officeDocument/2006/relationships/viewProps" Target="viewProps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handoutMaster" Target="handoutMasters/handoutMaster1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8E938536-29D3-49BD-A567-41CAF057586A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B2E2B272-7A3A-4005-B1B0-0F9070B87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7907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71559A16-B3AD-4CE2-9A5E-FAAD3C2C27CA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8C6438F-747C-40FA-8F40-021E653C05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901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C6438F-747C-40FA-8F40-021E653C05D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6941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Image Placeholder 1">
            <a:extLst>
              <a:ext uri="{FF2B5EF4-FFF2-40B4-BE49-F238E27FC236}">
                <a16:creationId xmlns:a16="http://schemas.microsoft.com/office/drawing/2014/main" id="{5CB00AB1-5BE3-4DF7-A39B-060B7B0357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Notes Placeholder 2">
            <a:extLst>
              <a:ext uri="{FF2B5EF4-FFF2-40B4-BE49-F238E27FC236}">
                <a16:creationId xmlns:a16="http://schemas.microsoft.com/office/drawing/2014/main" id="{496F4A26-221D-4B6C-A4EE-BEAE91F97F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33796" name="Slide Number Placeholder 3">
            <a:extLst>
              <a:ext uri="{FF2B5EF4-FFF2-40B4-BE49-F238E27FC236}">
                <a16:creationId xmlns:a16="http://schemas.microsoft.com/office/drawing/2014/main" id="{96F728C9-9B08-40AA-A778-CCEBED255A1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9667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C849B82-FD20-4724-8E80-DAC559D4E75B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667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093539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>
            <a:extLst>
              <a:ext uri="{FF2B5EF4-FFF2-40B4-BE49-F238E27FC236}">
                <a16:creationId xmlns:a16="http://schemas.microsoft.com/office/drawing/2014/main" id="{17B81C14-CB54-4E43-9F8F-79B1E9442D1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Notes Placeholder 2">
            <a:extLst>
              <a:ext uri="{FF2B5EF4-FFF2-40B4-BE49-F238E27FC236}">
                <a16:creationId xmlns:a16="http://schemas.microsoft.com/office/drawing/2014/main" id="{77A2D0E2-0695-4530-91D1-898E2C2FF4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35844" name="Slide Number Placeholder 3">
            <a:extLst>
              <a:ext uri="{FF2B5EF4-FFF2-40B4-BE49-F238E27FC236}">
                <a16:creationId xmlns:a16="http://schemas.microsoft.com/office/drawing/2014/main" id="{6299E232-55B2-4196-A395-A097F25BF01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9667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460F07C-0474-41D2-9F9E-411D6A4F1FCB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667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350523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Image Placeholder 1">
            <a:extLst>
              <a:ext uri="{FF2B5EF4-FFF2-40B4-BE49-F238E27FC236}">
                <a16:creationId xmlns:a16="http://schemas.microsoft.com/office/drawing/2014/main" id="{60D98F55-773C-46A6-B3C4-8D4B158E82A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1" name="Notes Placeholder 2">
            <a:extLst>
              <a:ext uri="{FF2B5EF4-FFF2-40B4-BE49-F238E27FC236}">
                <a16:creationId xmlns:a16="http://schemas.microsoft.com/office/drawing/2014/main" id="{488E3EC4-B93F-4133-99C6-B3C9440551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37892" name="Slide Number Placeholder 3">
            <a:extLst>
              <a:ext uri="{FF2B5EF4-FFF2-40B4-BE49-F238E27FC236}">
                <a16:creationId xmlns:a16="http://schemas.microsoft.com/office/drawing/2014/main" id="{6EC441ED-A7D8-496A-8473-47F8E42CDC8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9667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1BDB786-1D38-47D3-A5C5-6209D4CC855C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667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701469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C3F2C9-D7DF-4795-AEC6-7809E4D0FA28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6934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6D5B4C3-9B00-474A-97E8-C13B4A35C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91831"/>
            <a:ext cx="9144000" cy="1655762"/>
          </a:xfrm>
        </p:spPr>
        <p:txBody>
          <a:bodyPr/>
          <a:lstStyle>
            <a:lvl1pPr marL="0" indent="0" algn="l"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D22AE50-6F90-E24E-B822-6568D311B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32145"/>
            <a:ext cx="9144000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B2EB50-2D06-0F47-91A8-A0077BC58D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8669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AA9E0-FD26-B94E-9B92-E4BB7FDAC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D2F48-A24B-4049-960D-8B798AEFA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2449386"/>
            <a:ext cx="10417284" cy="3805364"/>
          </a:xfrm>
        </p:spPr>
        <p:txBody>
          <a:bodyPr/>
          <a:lstStyle>
            <a:lvl1pPr>
              <a:buClr>
                <a:srgbClr val="B30738"/>
              </a:buClr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4C7CA-926E-AD42-9C16-D63E0CBCB0B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54750"/>
            <a:ext cx="3873500" cy="4000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3811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55421C-28F7-134B-8F0E-FE7D28044B4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207617" y="1170297"/>
            <a:ext cx="2316923" cy="21580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035" y="1170297"/>
            <a:ext cx="10379765" cy="4683851"/>
          </a:xfrm>
        </p:spPr>
        <p:txBody>
          <a:bodyPr>
            <a:normAutofit/>
          </a:bodyPr>
          <a:lstStyle>
            <a:lvl1pPr>
              <a:defRPr sz="6000" b="0" i="0">
                <a:solidFill>
                  <a:schemeClr val="tx1">
                    <a:lumMod val="50000"/>
                    <a:lumOff val="50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3C62840-6E05-504B-B2F6-709D240E69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8698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10691-0E51-0642-89F8-2E84D8B86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74316-63BB-3446-BDDD-074CD2479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677103"/>
            <a:ext cx="10515600" cy="141254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7D355E-B4A2-6F4F-B305-737A32A3AC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8417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112F8-AE85-BC4D-8ACE-BD36C7043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E9A7C-E733-9C48-89C3-E864661018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36516" y="2438399"/>
            <a:ext cx="5083284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853515-618E-BC46-A98D-B716B4327E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38399"/>
            <a:ext cx="5181600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F872C4E-C1EA-6E4F-ACE3-4DD19FF177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8494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2EAC0-550E-1740-BE53-8E9F0A34C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0" y="882869"/>
            <a:ext cx="10419967" cy="8078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707B4-CFB5-CF4A-9970-F7B61DECC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5421" y="1839309"/>
            <a:ext cx="5062154" cy="66576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A7258-4408-8940-BE1F-BB96B82778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5421" y="2653695"/>
            <a:ext cx="5062154" cy="36074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1E6BE5-8409-9441-A406-BB5D9E6F94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39309"/>
            <a:ext cx="5183188" cy="6657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3EBE53-5EFB-6744-957B-B93F2D10CC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53695"/>
            <a:ext cx="5183188" cy="360740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0A5D7E1-E327-DF48-B848-9BDF99F875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000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3651EA50-74CA-AA48-8D7F-2B85A97EE6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540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46758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AC4C19D-273F-DD4F-AB1E-92F31DD503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0107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52473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A9A9976-053D-644A-ACDD-10A8928C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07211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9C3A92E6-32C2-FB44-B5B2-762BF26633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53427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E849984-83FA-4B45-A602-6A412FE0CC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99200"/>
            <a:ext cx="3873500" cy="355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503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C6088-92BE-7449-8B28-318FAB3F2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4138612" cy="142995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42DAB-D135-604C-8CA5-59E8EBB19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52673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DFE57F-E4E9-7543-83FD-1DD747CAD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71750"/>
            <a:ext cx="4138612" cy="38290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2E940D73-0AAB-1944-9712-6637A75B1A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324600"/>
            <a:ext cx="3873500" cy="3302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1048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42C89-5587-0348-8D17-7C08B2EAD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1" y="956440"/>
            <a:ext cx="4011228" cy="116664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21D3EC-E376-5D4E-835F-620AC359D3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62167" y="956441"/>
            <a:ext cx="6172200" cy="532370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5B150-6498-3B43-813F-7D37535FB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5420" y="2291254"/>
            <a:ext cx="4011229" cy="398889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31420AC-1CC6-B24D-864B-D3A8C0514E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80150"/>
            <a:ext cx="3873500" cy="3746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31787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145046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87506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24800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46008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44086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22073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808917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6D5B4C3-9B00-474A-97E8-C13B4A35C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91831"/>
            <a:ext cx="9144000" cy="1655762"/>
          </a:xfrm>
        </p:spPr>
        <p:txBody>
          <a:bodyPr/>
          <a:lstStyle>
            <a:lvl1pPr marL="0" indent="0" algn="l"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D22AE50-6F90-E24E-B822-6568D311B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32145"/>
            <a:ext cx="9144000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B2EB50-2D06-0F47-91A8-A0077BC58D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344352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AA9E0-FD26-B94E-9B92-E4BB7FDAC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D2F48-A24B-4049-960D-8B798AEFA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2449386"/>
            <a:ext cx="10417284" cy="3805364"/>
          </a:xfrm>
        </p:spPr>
        <p:txBody>
          <a:bodyPr/>
          <a:lstStyle>
            <a:lvl1pPr>
              <a:buClr>
                <a:srgbClr val="B30738"/>
              </a:buClr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4C7CA-926E-AD42-9C16-D63E0CBCB0B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54750"/>
            <a:ext cx="3873500" cy="4000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198390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55421C-28F7-134B-8F0E-FE7D28044B4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207617" y="1170297"/>
            <a:ext cx="2316923" cy="21580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035" y="1170297"/>
            <a:ext cx="10379765" cy="4683851"/>
          </a:xfrm>
        </p:spPr>
        <p:txBody>
          <a:bodyPr>
            <a:normAutofit/>
          </a:bodyPr>
          <a:lstStyle>
            <a:lvl1pPr>
              <a:defRPr sz="6000" b="0" i="0">
                <a:solidFill>
                  <a:schemeClr val="tx1">
                    <a:lumMod val="50000"/>
                    <a:lumOff val="50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3C62840-6E05-504B-B2F6-709D240E69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279193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10691-0E51-0642-89F8-2E84D8B86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74316-63BB-3446-BDDD-074CD2479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677103"/>
            <a:ext cx="10515600" cy="141254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7D355E-B4A2-6F4F-B305-737A32A3AC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143045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112F8-AE85-BC4D-8ACE-BD36C7043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E9A7C-E733-9C48-89C3-E864661018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36516" y="2438399"/>
            <a:ext cx="5083284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853515-618E-BC46-A98D-B716B4327E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38399"/>
            <a:ext cx="5181600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F872C4E-C1EA-6E4F-ACE3-4DD19FF177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489346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2EAC0-550E-1740-BE53-8E9F0A34C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0" y="882869"/>
            <a:ext cx="10419967" cy="8078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707B4-CFB5-CF4A-9970-F7B61DECC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5421" y="1839309"/>
            <a:ext cx="5062154" cy="66576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A7258-4408-8940-BE1F-BB96B82778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5421" y="2653695"/>
            <a:ext cx="5062154" cy="36074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1E6BE5-8409-9441-A406-BB5D9E6F94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39309"/>
            <a:ext cx="5183188" cy="6657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3EBE53-5EFB-6744-957B-B93F2D10CC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53695"/>
            <a:ext cx="5183188" cy="360740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0A5D7E1-E327-DF48-B848-9BDF99F875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977630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3651EA50-74CA-AA48-8D7F-2B85A97EE6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331139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46758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AC4C19D-273F-DD4F-AB1E-92F31DD503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533056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52473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A9A9976-053D-644A-ACDD-10A8928C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21138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9C3A92E6-32C2-FB44-B5B2-762BF26633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53427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E849984-83FA-4B45-A602-6A412FE0CC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99200"/>
            <a:ext cx="3873500" cy="355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965870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C6088-92BE-7449-8B28-318FAB3F2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4138612" cy="142995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42DAB-D135-604C-8CA5-59E8EBB19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52673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DFE57F-E4E9-7543-83FD-1DD747CAD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71750"/>
            <a:ext cx="4138612" cy="38290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2E940D73-0AAB-1944-9712-6637A75B1A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324600"/>
            <a:ext cx="3873500" cy="3302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254137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42C89-5587-0348-8D17-7C08B2EAD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1" y="956440"/>
            <a:ext cx="4011228" cy="116664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21D3EC-E376-5D4E-835F-620AC359D3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62167" y="956441"/>
            <a:ext cx="6172200" cy="532370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5B150-6498-3B43-813F-7D37535FB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5420" y="2291254"/>
            <a:ext cx="4011229" cy="398889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31420AC-1CC6-B24D-864B-D3A8C0514E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80150"/>
            <a:ext cx="3873500" cy="3746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969430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3303953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075687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57994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89712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CB289B0-9BEC-4093-861C-76154CD68B5D}" type="datetimeFigureOut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9/22/2026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136E94-7335-4773-A64D-0D46B1CA62E8}" type="slidenum"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244945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71015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3161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BAB51-C96E-42BA-8CEA-FD0D998AACAC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2FF2D-071C-432B-B108-D0CF388768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54627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9378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13" Type="http://schemas.openxmlformats.org/officeDocument/2006/relationships/slideLayout" Target="../slideLayouts/slideLayout32.xml"/><Relationship Id="rId18" Type="http://schemas.openxmlformats.org/officeDocument/2006/relationships/slideLayout" Target="../slideLayouts/slideLayout37.xml"/><Relationship Id="rId3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40.xml"/><Relationship Id="rId7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31.xml"/><Relationship Id="rId17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35.xml"/><Relationship Id="rId20" Type="http://schemas.openxmlformats.org/officeDocument/2006/relationships/slideLayout" Target="../slideLayouts/slideLayout39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24" Type="http://schemas.openxmlformats.org/officeDocument/2006/relationships/image" Target="../media/image2.png"/><Relationship Id="rId5" Type="http://schemas.openxmlformats.org/officeDocument/2006/relationships/slideLayout" Target="../slideLayouts/slideLayout24.xml"/><Relationship Id="rId15" Type="http://schemas.openxmlformats.org/officeDocument/2006/relationships/slideLayout" Target="../slideLayouts/slideLayout34.xml"/><Relationship Id="rId23" Type="http://schemas.openxmlformats.org/officeDocument/2006/relationships/image" Target="../media/image1.png"/><Relationship Id="rId10" Type="http://schemas.openxmlformats.org/officeDocument/2006/relationships/slideLayout" Target="../slideLayouts/slideLayout29.xml"/><Relationship Id="rId19" Type="http://schemas.openxmlformats.org/officeDocument/2006/relationships/slideLayout" Target="../slideLayouts/slideLayout38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Relationship Id="rId14" Type="http://schemas.openxmlformats.org/officeDocument/2006/relationships/slideLayout" Target="../slideLayouts/slideLayout33.xml"/><Relationship Id="rId2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58DCC4-D98B-2742-9141-E813C534F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21E8D8-70CD-BF4D-805E-3BA2B3E84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6516" y="2449386"/>
            <a:ext cx="10417284" cy="383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FD0265-AE87-AC4A-BBB3-EF8B93299236}"/>
              </a:ext>
            </a:extLst>
          </p:cNvPr>
          <p:cNvCxnSpPr>
            <a:cxnSpLocks/>
          </p:cNvCxnSpPr>
          <p:nvPr/>
        </p:nvCxnSpPr>
        <p:spPr>
          <a:xfrm>
            <a:off x="936516" y="730089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1606507F-9FCF-7C40-9CCC-8081F5D27FC8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050924" y="471954"/>
            <a:ext cx="3880944" cy="160105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215C687-9087-C947-AB5A-223EF7DA7E9A}"/>
              </a:ext>
            </a:extLst>
          </p:cNvPr>
          <p:cNvCxnSpPr>
            <a:cxnSpLocks/>
          </p:cNvCxnSpPr>
          <p:nvPr/>
        </p:nvCxnSpPr>
        <p:spPr>
          <a:xfrm>
            <a:off x="936516" y="388502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3AF69D0A-C2A3-A54B-87B3-155829A53D57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32474" y="160495"/>
            <a:ext cx="804042" cy="804042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2A6E712-938E-934E-86D2-CF80E3166B5B}"/>
              </a:ext>
            </a:extLst>
          </p:cNvPr>
          <p:cNvCxnSpPr>
            <a:cxnSpLocks/>
          </p:cNvCxnSpPr>
          <p:nvPr/>
        </p:nvCxnSpPr>
        <p:spPr>
          <a:xfrm>
            <a:off x="936516" y="6652668"/>
            <a:ext cx="10417284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9243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82" r:id="rId13"/>
    <p:sldLayoutId id="2147483683" r:id="rId14"/>
    <p:sldLayoutId id="2147483685" r:id="rId15"/>
    <p:sldLayoutId id="2147483686" r:id="rId1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B30738"/>
        </a:buClr>
        <a:buFont typeface="Arial" panose="020B0604020202020204" pitchFamily="34" charset="0"/>
        <a:buChar char="•"/>
        <a:defRPr sz="2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20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8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6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B307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EF7EA9-7F89-AB44-B414-A35A39B88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0015"/>
            <a:ext cx="10515600" cy="6427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D578A8-B26A-4945-96B6-DF5E5BC7DE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697162"/>
            <a:ext cx="10515600" cy="32464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 err="1"/>
              <a:t>Secod</a:t>
            </a:r>
            <a:r>
              <a:rPr lang="en-US" dirty="0"/>
              <a:t>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94CFB0A-34C6-5D42-83C5-6E58C3499080}"/>
              </a:ext>
            </a:extLst>
          </p:cNvPr>
          <p:cNvCxnSpPr>
            <a:cxnSpLocks/>
          </p:cNvCxnSpPr>
          <p:nvPr/>
        </p:nvCxnSpPr>
        <p:spPr>
          <a:xfrm>
            <a:off x="956394" y="730089"/>
            <a:ext cx="1125548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306B758-975E-984A-8DF2-F551E50A3FBA}"/>
              </a:ext>
            </a:extLst>
          </p:cNvPr>
          <p:cNvCxnSpPr>
            <a:cxnSpLocks/>
          </p:cNvCxnSpPr>
          <p:nvPr/>
        </p:nvCxnSpPr>
        <p:spPr>
          <a:xfrm>
            <a:off x="956394" y="388502"/>
            <a:ext cx="1125548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4BCBDF38-9EC5-8347-AE99-4FA5381A78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0924" y="472981"/>
            <a:ext cx="3880944" cy="17262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A5D1952-D4DE-0B48-9AEC-F81A6CB6ED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474" y="157274"/>
            <a:ext cx="804042" cy="804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626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58DCC4-D98B-2742-9141-E813C534F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21E8D8-70CD-BF4D-805E-3BA2B3E84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6516" y="2449386"/>
            <a:ext cx="10417284" cy="383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FD0265-AE87-AC4A-BBB3-EF8B93299236}"/>
              </a:ext>
            </a:extLst>
          </p:cNvPr>
          <p:cNvCxnSpPr>
            <a:cxnSpLocks/>
          </p:cNvCxnSpPr>
          <p:nvPr/>
        </p:nvCxnSpPr>
        <p:spPr>
          <a:xfrm>
            <a:off x="936516" y="730089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1606507F-9FCF-7C40-9CCC-8081F5D27FC8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050924" y="471954"/>
            <a:ext cx="3880944" cy="160105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215C687-9087-C947-AB5A-223EF7DA7E9A}"/>
              </a:ext>
            </a:extLst>
          </p:cNvPr>
          <p:cNvCxnSpPr>
            <a:cxnSpLocks/>
          </p:cNvCxnSpPr>
          <p:nvPr/>
        </p:nvCxnSpPr>
        <p:spPr>
          <a:xfrm>
            <a:off x="936516" y="388502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3AF69D0A-C2A3-A54B-87B3-155829A53D57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32474" y="160495"/>
            <a:ext cx="804042" cy="804042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2A6E712-938E-934E-86D2-CF80E3166B5B}"/>
              </a:ext>
            </a:extLst>
          </p:cNvPr>
          <p:cNvCxnSpPr>
            <a:cxnSpLocks/>
          </p:cNvCxnSpPr>
          <p:nvPr/>
        </p:nvCxnSpPr>
        <p:spPr>
          <a:xfrm>
            <a:off x="936516" y="6652668"/>
            <a:ext cx="10417284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0207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  <p:sldLayoutId id="2147483700" r:id="rId13"/>
    <p:sldLayoutId id="2147483701" r:id="rId14"/>
    <p:sldLayoutId id="2147483702" r:id="rId15"/>
    <p:sldLayoutId id="2147483704" r:id="rId16"/>
    <p:sldLayoutId id="2147483705" r:id="rId17"/>
    <p:sldLayoutId id="2147483706" r:id="rId18"/>
    <p:sldLayoutId id="2147483708" r:id="rId19"/>
    <p:sldLayoutId id="2147483709" r:id="rId20"/>
    <p:sldLayoutId id="2147483710" r:id="rId2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B30738"/>
        </a:buClr>
        <a:buFont typeface="Arial" panose="020B0604020202020204" pitchFamily="34" charset="0"/>
        <a:buChar char="•"/>
        <a:defRPr sz="2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20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8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6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6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6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6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40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6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DAF3DE3F-7502-904F-9BAB-B1F5DEA23B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2473" y="2016220"/>
            <a:ext cx="10387264" cy="4617191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Fall 2026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	</a:t>
            </a:r>
          </a:p>
          <a:p>
            <a:r>
              <a:rPr lang="en-US" sz="3200" dirty="0">
                <a:solidFill>
                  <a:schemeClr val="tx1"/>
                </a:solidFill>
              </a:rPr>
              <a:t>	Introduction to Embedded Systems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sz="2200" dirty="0">
              <a:solidFill>
                <a:schemeClr val="tx1"/>
              </a:solidFill>
            </a:endParaRPr>
          </a:p>
          <a:p>
            <a:endParaRPr lang="en-US" sz="2200" dirty="0">
              <a:solidFill>
                <a:schemeClr val="tx1"/>
              </a:solidFill>
            </a:endParaRPr>
          </a:p>
          <a:p>
            <a:r>
              <a:rPr lang="en-US" sz="2200" dirty="0">
                <a:solidFill>
                  <a:schemeClr val="tx1"/>
                </a:solidFill>
              </a:rPr>
              <a:t>Michael Schimpf, PhD, mschimpf@scu.edu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A818BAB-0338-734A-B1E8-2463F3B29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2473" y="764818"/>
            <a:ext cx="9144000" cy="1144151"/>
          </a:xfrm>
        </p:spPr>
        <p:txBody>
          <a:bodyPr/>
          <a:lstStyle/>
          <a:p>
            <a:r>
              <a:rPr lang="en-US" dirty="0"/>
              <a:t>CSEN20</a:t>
            </a:r>
          </a:p>
        </p:txBody>
      </p:sp>
    </p:spTree>
    <p:extLst>
      <p:ext uri="{BB962C8B-B14F-4D97-AF65-F5344CB8AC3E}">
        <p14:creationId xmlns:p14="http://schemas.microsoft.com/office/powerpoint/2010/main" val="40520801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95C6ED9-1F93-4ACE-9FB3-860BE203C19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Chapter 7</a:t>
            </a:r>
            <a:br>
              <a:rPr lang="en-US" dirty="0"/>
            </a:br>
            <a:r>
              <a:rPr lang="en-US" dirty="0"/>
              <a:t>Manipulating Bits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27FC8D26-3A81-4920-9FA5-7946B21A01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Part 1: Specifying Bit Patterns</a:t>
            </a:r>
          </a:p>
        </p:txBody>
      </p:sp>
    </p:spTree>
    <p:extLst>
      <p:ext uri="{BB962C8B-B14F-4D97-AF65-F5344CB8AC3E}">
        <p14:creationId xmlns:p14="http://schemas.microsoft.com/office/powerpoint/2010/main" val="14377379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816C9-827A-4F9B-BBF0-1961030CB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745182"/>
            <a:ext cx="2845410" cy="666524"/>
          </a:xfrm>
        </p:spPr>
        <p:txBody>
          <a:bodyPr/>
          <a:lstStyle/>
          <a:p>
            <a:r>
              <a:rPr lang="en-US" dirty="0"/>
              <a:t>Bit Patterns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887458-F047-428A-AEF9-32878EA135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1763585"/>
            <a:ext cx="10405252" cy="4889877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A bit pattern (“mask”) is a string of 1’s and 0’s designed to select a subset of bits.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Bit patterns are used to:</a:t>
            </a:r>
          </a:p>
          <a:p>
            <a:pPr lvl="1"/>
            <a:endParaRPr lang="en-US" dirty="0"/>
          </a:p>
          <a:p>
            <a:pPr lvl="1"/>
            <a:r>
              <a:rPr lang="en-US" b="1" dirty="0">
                <a:solidFill>
                  <a:srgbClr val="FF0000"/>
                </a:solidFill>
              </a:rPr>
              <a:t>Test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the value of </a:t>
            </a:r>
            <a:r>
              <a:rPr lang="en-US" b="1" dirty="0">
                <a:solidFill>
                  <a:srgbClr val="FF0000"/>
                </a:solidFill>
              </a:rPr>
              <a:t>one bit </a:t>
            </a:r>
            <a:r>
              <a:rPr lang="en-US" dirty="0">
                <a:solidFill>
                  <a:schemeClr val="tx1"/>
                </a:solidFill>
              </a:rPr>
              <a:t>while ignoring others</a:t>
            </a:r>
          </a:p>
          <a:p>
            <a:pPr lvl="1"/>
            <a:endParaRPr lang="en-US" dirty="0"/>
          </a:p>
          <a:p>
            <a:pPr lvl="1"/>
            <a:r>
              <a:rPr lang="en-US" b="1" dirty="0">
                <a:solidFill>
                  <a:srgbClr val="FF0000"/>
                </a:solidFill>
              </a:rPr>
              <a:t>Set</a:t>
            </a:r>
            <a:r>
              <a:rPr lang="en-US" b="1" dirty="0">
                <a:solidFill>
                  <a:schemeClr val="tx1"/>
                </a:solidFill>
              </a:rPr>
              <a:t>,</a:t>
            </a:r>
            <a:r>
              <a:rPr lang="en-US" b="1" dirty="0">
                <a:solidFill>
                  <a:srgbClr val="FF0000"/>
                </a:solidFill>
              </a:rPr>
              <a:t> clear</a:t>
            </a:r>
            <a:r>
              <a:rPr lang="en-US" b="1" dirty="0">
                <a:solidFill>
                  <a:schemeClr val="tx1"/>
                </a:solidFill>
              </a:rPr>
              <a:t>,</a:t>
            </a:r>
            <a:r>
              <a:rPr lang="en-US" b="1" dirty="0">
                <a:solidFill>
                  <a:srgbClr val="FF0000"/>
                </a:solidFill>
              </a:rPr>
              <a:t> or invert </a:t>
            </a:r>
            <a:r>
              <a:rPr lang="en-US" dirty="0">
                <a:solidFill>
                  <a:schemeClr val="tx1"/>
                </a:solidFill>
              </a:rPr>
              <a:t>the value of </a:t>
            </a:r>
            <a:r>
              <a:rPr lang="en-US" b="1" dirty="0">
                <a:solidFill>
                  <a:srgbClr val="FF0000"/>
                </a:solidFill>
              </a:rPr>
              <a:t>one bit </a:t>
            </a:r>
            <a:r>
              <a:rPr lang="en-US" dirty="0">
                <a:solidFill>
                  <a:schemeClr val="tx1"/>
                </a:solidFill>
              </a:rPr>
              <a:t>without affecting others</a:t>
            </a:r>
          </a:p>
          <a:p>
            <a:pPr lvl="1"/>
            <a:endParaRPr lang="en-US" dirty="0"/>
          </a:p>
          <a:p>
            <a:pPr lvl="1"/>
            <a:r>
              <a:rPr lang="en-US" b="1" dirty="0">
                <a:solidFill>
                  <a:srgbClr val="FF0000"/>
                </a:solidFill>
              </a:rPr>
              <a:t>Extract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or </a:t>
            </a:r>
            <a:r>
              <a:rPr lang="en-US" b="1" dirty="0">
                <a:solidFill>
                  <a:srgbClr val="FF0000"/>
                </a:solidFill>
              </a:rPr>
              <a:t>Insert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a value stored in a subset of the bits of a word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20688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28495" y="757213"/>
            <a:ext cx="7212873" cy="1144151"/>
          </a:xfrm>
        </p:spPr>
        <p:txBody>
          <a:bodyPr>
            <a:normAutofit/>
          </a:bodyPr>
          <a:lstStyle/>
          <a:p>
            <a:r>
              <a:rPr lang="en-US" dirty="0"/>
              <a:t>Useful Bit Patterns: (1 &lt;&lt; </a:t>
            </a:r>
            <a:r>
              <a:rPr lang="en-US" dirty="0">
                <a:solidFill>
                  <a:srgbClr val="FF0000"/>
                </a:solidFill>
              </a:rPr>
              <a:t>k</a:t>
            </a:r>
            <a:r>
              <a:rPr lang="en-US" dirty="0"/>
              <a:t>) = 2</a:t>
            </a:r>
            <a:r>
              <a:rPr lang="en-US" baseline="30000" dirty="0">
                <a:solidFill>
                  <a:srgbClr val="FF0000"/>
                </a:solidFill>
              </a:rPr>
              <a:t>k</a:t>
            </a:r>
            <a:br>
              <a:rPr lang="en-US" dirty="0"/>
            </a:b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 single 1 shifted left k bits)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540877" y="2872819"/>
            <a:ext cx="4055679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2100" dirty="0">
                <a:solidFill>
                  <a:prstClr val="black"/>
                </a:solidFill>
                <a:latin typeface="Consolas" panose="020B0609020204030204" pitchFamily="49" charset="0"/>
              </a:rPr>
              <a:t>(1</a:t>
            </a:r>
            <a:r>
              <a:rPr lang="en-US" sz="2100" baseline="-25000" dirty="0">
                <a:solidFill>
                  <a:prstClr val="black"/>
                </a:solidFill>
                <a:latin typeface="Consolas" panose="020B0609020204030204" pitchFamily="49" charset="0"/>
              </a:rPr>
              <a:t>2</a:t>
            </a:r>
            <a:r>
              <a:rPr lang="en-US" sz="2100" dirty="0">
                <a:solidFill>
                  <a:prstClr val="black"/>
                </a:solidFill>
                <a:latin typeface="Consolas" panose="020B0609020204030204" pitchFamily="49" charset="0"/>
              </a:rPr>
              <a:t> &lt;&lt; </a:t>
            </a:r>
            <a:r>
              <a:rPr lang="en-US" sz="2100" b="1" dirty="0">
                <a:solidFill>
                  <a:srgbClr val="FF0000"/>
                </a:solidFill>
                <a:latin typeface="Consolas" panose="020B0609020204030204" pitchFamily="49" charset="0"/>
              </a:rPr>
              <a:t>4</a:t>
            </a:r>
            <a:r>
              <a:rPr lang="en-US" sz="2100" dirty="0">
                <a:solidFill>
                  <a:prstClr val="black"/>
                </a:solidFill>
                <a:latin typeface="Consolas" panose="020B0609020204030204" pitchFamily="49" charset="0"/>
              </a:rPr>
              <a:t>)	=	00000001</a:t>
            </a:r>
            <a:r>
              <a:rPr lang="en-US" sz="2100" baseline="-25000" dirty="0">
                <a:solidFill>
                  <a:prstClr val="black"/>
                </a:solidFill>
                <a:latin typeface="Consolas" panose="020B0609020204030204" pitchFamily="49" charset="0"/>
              </a:rPr>
              <a:t>2</a:t>
            </a:r>
            <a:endParaRPr lang="en-US" sz="21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pPr defTabSz="685800"/>
            <a:r>
              <a:rPr lang="en-US" sz="2100" dirty="0">
                <a:solidFill>
                  <a:prstClr val="black"/>
                </a:solidFill>
                <a:latin typeface="Consolas" panose="020B0609020204030204" pitchFamily="49" charset="0"/>
              </a:rPr>
              <a:t>			00010000</a:t>
            </a:r>
            <a:r>
              <a:rPr lang="en-US" sz="2100" baseline="-25000" dirty="0">
                <a:solidFill>
                  <a:prstClr val="black"/>
                </a:solidFill>
                <a:latin typeface="Consolas" panose="020B0609020204030204" pitchFamily="49" charset="0"/>
              </a:rPr>
              <a:t>2</a:t>
            </a:r>
            <a:endParaRPr lang="en-US" sz="21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pPr defTabSz="685800"/>
            <a:endParaRPr lang="en-US" sz="21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pPr defTabSz="685800"/>
            <a:r>
              <a:rPr lang="en-US" sz="2100" dirty="0">
                <a:solidFill>
                  <a:prstClr val="black"/>
                </a:solidFill>
                <a:latin typeface="Consolas" panose="020B0609020204030204" pitchFamily="49" charset="0"/>
              </a:rPr>
              <a:t>		=	16</a:t>
            </a:r>
            <a:r>
              <a:rPr lang="en-US" sz="2100" baseline="-25000" dirty="0">
                <a:solidFill>
                  <a:prstClr val="black"/>
                </a:solidFill>
                <a:latin typeface="Consolas" panose="020B0609020204030204" pitchFamily="49" charset="0"/>
              </a:rPr>
              <a:t>10</a:t>
            </a:r>
            <a:endParaRPr lang="en-US" sz="21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pPr defTabSz="685800"/>
            <a:r>
              <a:rPr lang="en-US" sz="2100" dirty="0">
                <a:solidFill>
                  <a:prstClr val="black"/>
                </a:solidFill>
                <a:latin typeface="Consolas" panose="020B0609020204030204" pitchFamily="49" charset="0"/>
              </a:rPr>
              <a:t>		=	2</a:t>
            </a:r>
            <a:r>
              <a:rPr lang="en-US" sz="2100" b="1" baseline="30000" dirty="0">
                <a:solidFill>
                  <a:srgbClr val="FF0000"/>
                </a:solidFill>
                <a:latin typeface="Consolas" panose="020B0609020204030204" pitchFamily="49" charset="0"/>
              </a:rPr>
              <a:t>4</a:t>
            </a:r>
            <a:endParaRPr lang="en-US" sz="2100" b="1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982416" y="2872819"/>
            <a:ext cx="2428284" cy="88765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7404" defTabSz="685800"/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LDR	R0,=(1&lt;&lt;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4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)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817632" y="6396335"/>
            <a:ext cx="2374368" cy="46166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C++ Example 1</a:t>
            </a:r>
          </a:p>
        </p:txBody>
      </p:sp>
    </p:spTree>
    <p:extLst>
      <p:ext uri="{BB962C8B-B14F-4D97-AF65-F5344CB8AC3E}">
        <p14:creationId xmlns:p14="http://schemas.microsoft.com/office/powerpoint/2010/main" val="9277404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36516" y="741171"/>
            <a:ext cx="7778358" cy="1144151"/>
          </a:xfrm>
        </p:spPr>
        <p:txBody>
          <a:bodyPr>
            <a:normAutofit/>
          </a:bodyPr>
          <a:lstStyle/>
          <a:p>
            <a:r>
              <a:rPr lang="en-US" dirty="0"/>
              <a:t>Useful Bit Patterns: </a:t>
            </a:r>
            <a:r>
              <a:rPr lang="en-US" dirty="0">
                <a:solidFill>
                  <a:srgbClr val="FF0000"/>
                </a:solidFill>
              </a:rPr>
              <a:t>~</a:t>
            </a:r>
            <a:r>
              <a:rPr lang="en-US" dirty="0"/>
              <a:t>(1 &lt;&lt; </a:t>
            </a:r>
            <a:r>
              <a:rPr lang="en-US" dirty="0">
                <a:solidFill>
                  <a:srgbClr val="FF0000"/>
                </a:solidFill>
              </a:rPr>
              <a:t>k</a:t>
            </a:r>
            <a:r>
              <a:rPr lang="en-US" dirty="0"/>
              <a:t>) = </a:t>
            </a:r>
            <a:r>
              <a:rPr lang="en-US" dirty="0">
                <a:solidFill>
                  <a:srgbClr val="FF0000"/>
                </a:solidFill>
              </a:rPr>
              <a:t>~</a:t>
            </a:r>
            <a:r>
              <a:rPr lang="en-US" dirty="0"/>
              <a:t>2</a:t>
            </a:r>
            <a:r>
              <a:rPr lang="en-US" baseline="30000" dirty="0">
                <a:solidFill>
                  <a:srgbClr val="FF0000"/>
                </a:solidFill>
              </a:rPr>
              <a:t>k</a:t>
            </a:r>
            <a:br>
              <a:rPr lang="en-US" dirty="0"/>
            </a:b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 single 0 shifted left k bits)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421526" y="2807696"/>
                <a:ext cx="5026571" cy="30008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685800"/>
                <a:r>
                  <a:rPr lang="en-US" sz="2100" dirty="0">
                    <a:solidFill>
                      <a:srgbClr val="FF0000"/>
                    </a:solidFill>
                    <a:latin typeface="Consolas" panose="020B0609020204030204" pitchFamily="49" charset="0"/>
                  </a:rPr>
                  <a:t>~</a:t>
                </a:r>
                <a:r>
                  <a:rPr lang="en-US" sz="2100" dirty="0">
                    <a:solidFill>
                      <a:prstClr val="black"/>
                    </a:solidFill>
                    <a:latin typeface="Consolas" panose="020B0609020204030204" pitchFamily="49" charset="0"/>
                  </a:rPr>
                  <a:t>(</a:t>
                </a:r>
                <a:r>
                  <a:rPr lang="en-US" sz="2100" dirty="0">
                    <a:latin typeface="Consolas" panose="020B0609020204030204" pitchFamily="49" charset="0"/>
                  </a:rPr>
                  <a:t>0b00000001 &lt;&lt; </a:t>
                </a:r>
                <a:r>
                  <a:rPr lang="en-US" sz="2100" b="1" dirty="0">
                    <a:solidFill>
                      <a:srgbClr val="FF0000"/>
                    </a:solidFill>
                    <a:latin typeface="Consolas" panose="020B0609020204030204" pitchFamily="49" charset="0"/>
                  </a:rPr>
                  <a:t>4</a:t>
                </a:r>
                <a:r>
                  <a:rPr lang="en-US" sz="2100" dirty="0">
                    <a:solidFill>
                      <a:prstClr val="black"/>
                    </a:solidFill>
                    <a:latin typeface="Consolas" panose="020B0609020204030204" pitchFamily="49" charset="0"/>
                  </a:rPr>
                  <a:t>)	=</a:t>
                </a:r>
              </a:p>
              <a:p>
                <a:pPr defTabSz="685800"/>
                <a:endParaRPr lang="en-US" sz="2100" dirty="0">
                  <a:solidFill>
                    <a:srgbClr val="FF0000"/>
                  </a:solidFill>
                  <a:latin typeface="Consolas" panose="020B0609020204030204" pitchFamily="49" charset="0"/>
                </a:endParaRPr>
              </a:p>
              <a:p>
                <a:pPr defTabSz="685800"/>
                <a:r>
                  <a:rPr lang="en-US" sz="2100" dirty="0">
                    <a:solidFill>
                      <a:srgbClr val="FF0000"/>
                    </a:solidFill>
                    <a:latin typeface="Consolas" panose="020B0609020204030204" pitchFamily="49" charset="0"/>
                  </a:rPr>
                  <a:t>~</a:t>
                </a:r>
                <a:r>
                  <a:rPr lang="en-US" sz="2100" dirty="0">
                    <a:solidFill>
                      <a:prstClr val="black"/>
                    </a:solidFill>
                    <a:latin typeface="Consolas" panose="020B0609020204030204" pitchFamily="49" charset="0"/>
                  </a:rPr>
                  <a:t>(1</a:t>
                </a:r>
                <a:r>
                  <a:rPr lang="en-US" sz="2100" baseline="-25000" dirty="0">
                    <a:solidFill>
                      <a:prstClr val="black"/>
                    </a:solidFill>
                    <a:latin typeface="Consolas" panose="020B0609020204030204" pitchFamily="49" charset="0"/>
                  </a:rPr>
                  <a:t>2</a:t>
                </a:r>
                <a:r>
                  <a:rPr lang="en-US" sz="2100" dirty="0">
                    <a:solidFill>
                      <a:prstClr val="black"/>
                    </a:solidFill>
                    <a:latin typeface="Consolas" panose="020B0609020204030204" pitchFamily="49" charset="0"/>
                  </a:rPr>
                  <a:t> &lt;&lt; </a:t>
                </a:r>
                <a:r>
                  <a:rPr lang="en-US" sz="2100" b="1" dirty="0">
                    <a:solidFill>
                      <a:srgbClr val="FF0000"/>
                    </a:solidFill>
                    <a:latin typeface="Consolas" panose="020B0609020204030204" pitchFamily="49" charset="0"/>
                  </a:rPr>
                  <a:t>4</a:t>
                </a:r>
                <a:r>
                  <a:rPr lang="en-US" sz="2100" dirty="0">
                    <a:solidFill>
                      <a:prstClr val="black"/>
                    </a:solidFill>
                    <a:latin typeface="Consolas" panose="020B0609020204030204" pitchFamily="49" charset="0"/>
                  </a:rPr>
                  <a:t>)		=	00000001</a:t>
                </a:r>
                <a:r>
                  <a:rPr lang="en-US" sz="2100" baseline="-25000" dirty="0">
                    <a:solidFill>
                      <a:prstClr val="black"/>
                    </a:solidFill>
                    <a:latin typeface="Consolas" panose="020B0609020204030204" pitchFamily="49" charset="0"/>
                  </a:rPr>
                  <a:t>2</a:t>
                </a:r>
                <a:endParaRPr lang="en-US" sz="2100" dirty="0">
                  <a:solidFill>
                    <a:prstClr val="black"/>
                  </a:solidFill>
                  <a:latin typeface="Consolas" panose="020B0609020204030204" pitchFamily="49" charset="0"/>
                </a:endParaRPr>
              </a:p>
              <a:p>
                <a:pPr defTabSz="685800"/>
                <a:r>
                  <a:rPr lang="en-US" sz="2100" dirty="0">
                    <a:solidFill>
                      <a:prstClr val="black"/>
                    </a:solidFill>
                    <a:latin typeface="Consolas" panose="020B0609020204030204" pitchFamily="49" charset="0"/>
                  </a:rPr>
                  <a:t>					00010000</a:t>
                </a:r>
                <a:r>
                  <a:rPr lang="en-US" sz="2100" baseline="-25000" dirty="0">
                    <a:solidFill>
                      <a:prstClr val="black"/>
                    </a:solidFill>
                    <a:latin typeface="Consolas" panose="020B0609020204030204" pitchFamily="49" charset="0"/>
                  </a:rPr>
                  <a:t>2</a:t>
                </a:r>
                <a:endParaRPr lang="en-US" sz="2100" dirty="0">
                  <a:solidFill>
                    <a:prstClr val="black"/>
                  </a:solidFill>
                  <a:latin typeface="Consolas" panose="020B0609020204030204" pitchFamily="49" charset="0"/>
                </a:endParaRPr>
              </a:p>
              <a:p>
                <a:pPr defTabSz="685800"/>
                <a:r>
                  <a:rPr lang="en-US" sz="2100" dirty="0">
                    <a:solidFill>
                      <a:prstClr val="black"/>
                    </a:solidFill>
                    <a:latin typeface="Consolas" panose="020B0609020204030204" pitchFamily="49" charset="0"/>
                  </a:rPr>
                  <a:t>					1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100" i="0" dirty="0">
                        <a:solidFill>
                          <a:prstClr val="black"/>
                        </a:solidFill>
                        <a:latin typeface="Consolas" panose="020B0609020204030204" pitchFamily="49" charset="0"/>
                      </a:rPr>
                      <m:t>1</m:t>
                    </m:r>
                  </m:oMath>
                </a14:m>
                <a:r>
                  <a:rPr lang="en-US" sz="2100" dirty="0">
                    <a:solidFill>
                      <a:prstClr val="black"/>
                    </a:solidFill>
                    <a:latin typeface="Consolas" panose="020B0609020204030204" pitchFamily="49" charset="0"/>
                  </a:rPr>
                  <a:t>101111</a:t>
                </a:r>
                <a:r>
                  <a:rPr lang="en-US" sz="2100" baseline="-25000" dirty="0">
                    <a:solidFill>
                      <a:prstClr val="black"/>
                    </a:solidFill>
                    <a:latin typeface="Consolas" panose="020B0609020204030204" pitchFamily="49" charset="0"/>
                  </a:rPr>
                  <a:t>2</a:t>
                </a:r>
                <a:endParaRPr lang="en-US" sz="2100" dirty="0">
                  <a:solidFill>
                    <a:prstClr val="black"/>
                  </a:solidFill>
                  <a:latin typeface="Consolas" panose="020B0609020204030204" pitchFamily="49" charset="0"/>
                </a:endParaRPr>
              </a:p>
              <a:p>
                <a:pPr defTabSz="685800"/>
                <a:endParaRPr lang="en-US" sz="2100" dirty="0">
                  <a:solidFill>
                    <a:prstClr val="black"/>
                  </a:solidFill>
                  <a:latin typeface="Consolas" panose="020B0609020204030204" pitchFamily="49" charset="0"/>
                </a:endParaRPr>
              </a:p>
              <a:p>
                <a:pPr defTabSz="685800"/>
                <a:r>
                  <a:rPr lang="en-US" sz="2100" dirty="0">
                    <a:solidFill>
                      <a:prstClr val="black"/>
                    </a:solidFill>
                    <a:latin typeface="Consolas" panose="020B0609020204030204" pitchFamily="49" charset="0"/>
                  </a:rPr>
                  <a:t>				=	</a:t>
                </a:r>
                <a:r>
                  <a:rPr lang="en-US" sz="2100" b="1" dirty="0">
                    <a:solidFill>
                      <a:srgbClr val="FF0000"/>
                    </a:solidFill>
                    <a:latin typeface="Consolas" panose="020B0609020204030204" pitchFamily="49" charset="0"/>
                  </a:rPr>
                  <a:t>~</a:t>
                </a:r>
                <a:r>
                  <a:rPr lang="en-US" sz="2100" dirty="0">
                    <a:solidFill>
                      <a:prstClr val="black"/>
                    </a:solidFill>
                    <a:latin typeface="Consolas" panose="020B0609020204030204" pitchFamily="49" charset="0"/>
                  </a:rPr>
                  <a:t>0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100" i="0" dirty="0">
                        <a:solidFill>
                          <a:prstClr val="black"/>
                        </a:solidFill>
                        <a:latin typeface="Consolas" panose="020B0609020204030204" pitchFamily="49" charset="0"/>
                      </a:rPr>
                      <m:t>0</m:t>
                    </m:r>
                  </m:oMath>
                </a14:m>
                <a:r>
                  <a:rPr lang="en-US" sz="2100" dirty="0">
                    <a:solidFill>
                      <a:prstClr val="black"/>
                    </a:solidFill>
                    <a:latin typeface="Consolas" panose="020B0609020204030204" pitchFamily="49" charset="0"/>
                  </a:rPr>
                  <a:t>010000</a:t>
                </a:r>
                <a:r>
                  <a:rPr lang="en-US" sz="2100" baseline="-25000" dirty="0">
                    <a:solidFill>
                      <a:prstClr val="black"/>
                    </a:solidFill>
                    <a:latin typeface="Consolas" panose="020B0609020204030204" pitchFamily="49" charset="0"/>
                  </a:rPr>
                  <a:t>2</a:t>
                </a:r>
                <a:endParaRPr lang="en-US" sz="2100" dirty="0">
                  <a:solidFill>
                    <a:prstClr val="black"/>
                  </a:solidFill>
                  <a:latin typeface="Consolas" panose="020B0609020204030204" pitchFamily="49" charset="0"/>
                </a:endParaRPr>
              </a:p>
              <a:p>
                <a:pPr defTabSz="685800"/>
                <a:r>
                  <a:rPr lang="en-US" sz="2100" dirty="0">
                    <a:solidFill>
                      <a:prstClr val="black"/>
                    </a:solidFill>
                    <a:latin typeface="Consolas" panose="020B0609020204030204" pitchFamily="49" charset="0"/>
                  </a:rPr>
                  <a:t>				=	</a:t>
                </a:r>
                <a:r>
                  <a:rPr lang="en-US" sz="2100" b="1" dirty="0">
                    <a:solidFill>
                      <a:srgbClr val="FF0000"/>
                    </a:solidFill>
                    <a:latin typeface="Consolas" panose="020B0609020204030204" pitchFamily="49" charset="0"/>
                  </a:rPr>
                  <a:t>~</a:t>
                </a:r>
                <a:r>
                  <a:rPr lang="en-US" sz="2100" dirty="0">
                    <a:solidFill>
                      <a:prstClr val="black"/>
                    </a:solidFill>
                    <a:latin typeface="Consolas" panose="020B0609020204030204" pitchFamily="49" charset="0"/>
                  </a:rPr>
                  <a:t>16</a:t>
                </a:r>
                <a:r>
                  <a:rPr lang="en-US" sz="2100" baseline="-25000" dirty="0">
                    <a:solidFill>
                      <a:prstClr val="black"/>
                    </a:solidFill>
                    <a:latin typeface="Consolas" panose="020B0609020204030204" pitchFamily="49" charset="0"/>
                  </a:rPr>
                  <a:t>10</a:t>
                </a:r>
                <a:endParaRPr lang="en-US" sz="2100" dirty="0">
                  <a:solidFill>
                    <a:prstClr val="black"/>
                  </a:solidFill>
                  <a:latin typeface="Consolas" panose="020B0609020204030204" pitchFamily="49" charset="0"/>
                </a:endParaRPr>
              </a:p>
              <a:p>
                <a:pPr defTabSz="685800"/>
                <a:r>
                  <a:rPr lang="en-US" sz="2100" dirty="0">
                    <a:solidFill>
                      <a:prstClr val="black"/>
                    </a:solidFill>
                    <a:latin typeface="Consolas" panose="020B0609020204030204" pitchFamily="49" charset="0"/>
                  </a:rPr>
                  <a:t>				=	</a:t>
                </a:r>
                <a:r>
                  <a:rPr lang="en-US" sz="2100" b="1" dirty="0">
                    <a:solidFill>
                      <a:srgbClr val="FF0000"/>
                    </a:solidFill>
                    <a:latin typeface="Consolas" panose="020B0609020204030204" pitchFamily="49" charset="0"/>
                  </a:rPr>
                  <a:t>~</a:t>
                </a:r>
                <a:r>
                  <a:rPr lang="en-US" sz="2100" dirty="0">
                    <a:solidFill>
                      <a:prstClr val="black"/>
                    </a:solidFill>
                    <a:latin typeface="Consolas" panose="020B0609020204030204" pitchFamily="49" charset="0"/>
                  </a:rPr>
                  <a:t>2</a:t>
                </a:r>
                <a:r>
                  <a:rPr lang="en-US" sz="2100" b="1" baseline="30000" dirty="0">
                    <a:solidFill>
                      <a:srgbClr val="FF0000"/>
                    </a:solidFill>
                    <a:latin typeface="Consolas" panose="020B0609020204030204" pitchFamily="49" charset="0"/>
                  </a:rPr>
                  <a:t>4</a:t>
                </a:r>
                <a:endParaRPr lang="en-US" sz="2100" b="1" dirty="0">
                  <a:solidFill>
                    <a:srgbClr val="FF0000"/>
                  </a:solidFill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1526" y="2807696"/>
                <a:ext cx="5026571" cy="3000821"/>
              </a:xfrm>
              <a:prstGeom prst="rect">
                <a:avLst/>
              </a:prstGeom>
              <a:blipFill>
                <a:blip r:embed="rId3"/>
                <a:stretch>
                  <a:fillRect l="-1455" t="-1626" r="-364" b="-28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7055153" y="2807696"/>
            <a:ext cx="2345157" cy="91432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7404" defTabSz="685800">
              <a:tabLst>
                <a:tab pos="1206500" algn="l"/>
              </a:tabLst>
            </a:pP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LDR R0,=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~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(1&lt;&lt;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4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)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817632" y="6396335"/>
            <a:ext cx="2374368" cy="46166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C++ Example 1</a:t>
            </a:r>
          </a:p>
        </p:txBody>
      </p:sp>
    </p:spTree>
    <p:extLst>
      <p:ext uri="{BB962C8B-B14F-4D97-AF65-F5344CB8AC3E}">
        <p14:creationId xmlns:p14="http://schemas.microsoft.com/office/powerpoint/2010/main" val="4714760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/>
          <p:cNvSpPr txBox="1"/>
          <p:nvPr/>
        </p:nvSpPr>
        <p:spPr>
          <a:xfrm>
            <a:off x="2472887" y="2573897"/>
            <a:ext cx="371435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2100" dirty="0">
                <a:solidFill>
                  <a:prstClr val="black"/>
                </a:solidFill>
                <a:latin typeface="Consolas" panose="020B0609020204030204" pitchFamily="49" charset="0"/>
              </a:rPr>
              <a:t>2</a:t>
            </a:r>
            <a:r>
              <a:rPr lang="en-US" sz="2100" b="1" baseline="30000" dirty="0">
                <a:solidFill>
                  <a:srgbClr val="0000FF"/>
                </a:solidFill>
                <a:latin typeface="Consolas" panose="020B0609020204030204" pitchFamily="49" charset="0"/>
              </a:rPr>
              <a:t>6</a:t>
            </a:r>
            <a:r>
              <a:rPr lang="en-US" sz="2100" dirty="0">
                <a:solidFill>
                  <a:prstClr val="black"/>
                </a:solidFill>
                <a:latin typeface="Consolas" panose="020B0609020204030204" pitchFamily="49" charset="0"/>
              </a:rPr>
              <a:t>	=	 0</a:t>
            </a:r>
            <a:r>
              <a:rPr lang="en-US" sz="2100" b="1" dirty="0">
                <a:solidFill>
                  <a:srgbClr val="0000FF"/>
                </a:solidFill>
                <a:latin typeface="Consolas" panose="020B0609020204030204" pitchFamily="49" charset="0"/>
              </a:rPr>
              <a:t>1</a:t>
            </a:r>
            <a:r>
              <a:rPr lang="en-US" sz="2100" dirty="0">
                <a:solidFill>
                  <a:prstClr val="black"/>
                </a:solidFill>
                <a:latin typeface="Consolas" panose="020B0609020204030204" pitchFamily="49" charset="0"/>
              </a:rPr>
              <a:t>000000</a:t>
            </a:r>
            <a:r>
              <a:rPr lang="en-US" sz="2100" baseline="-25000" dirty="0">
                <a:solidFill>
                  <a:prstClr val="black"/>
                </a:solidFill>
                <a:latin typeface="Consolas" panose="020B0609020204030204" pitchFamily="49" charset="0"/>
              </a:rPr>
              <a:t>2</a:t>
            </a:r>
            <a:endParaRPr lang="en-US" sz="21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pPr defTabSz="685800"/>
            <a:r>
              <a:rPr lang="en-US" sz="2100" dirty="0">
                <a:solidFill>
                  <a:prstClr val="black"/>
                </a:solidFill>
                <a:latin typeface="Consolas" panose="020B0609020204030204" pitchFamily="49" charset="0"/>
              </a:rPr>
              <a:t>		-</a:t>
            </a:r>
            <a:r>
              <a:rPr lang="en-US" sz="2100" u="sng" dirty="0">
                <a:solidFill>
                  <a:prstClr val="black"/>
                </a:solidFill>
                <a:latin typeface="Consolas" panose="020B0609020204030204" pitchFamily="49" charset="0"/>
              </a:rPr>
              <a:t>0000000</a:t>
            </a:r>
            <a:r>
              <a:rPr lang="en-US" sz="2100" b="1" u="sng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</a:p>
          <a:p>
            <a:pPr defTabSz="685800"/>
            <a:r>
              <a:rPr lang="en-US" sz="2100" dirty="0">
                <a:solidFill>
                  <a:prstClr val="black"/>
                </a:solidFill>
                <a:latin typeface="Consolas" panose="020B0609020204030204" pitchFamily="49" charset="0"/>
              </a:rPr>
              <a:t>2</a:t>
            </a:r>
            <a:r>
              <a:rPr lang="en-US" sz="2100" b="1" baseline="30000" dirty="0">
                <a:solidFill>
                  <a:srgbClr val="0000FF"/>
                </a:solidFill>
                <a:latin typeface="Consolas" panose="020B0609020204030204" pitchFamily="49" charset="0"/>
              </a:rPr>
              <a:t>6</a:t>
            </a:r>
            <a:r>
              <a:rPr lang="en-US" sz="2100" b="1" dirty="0">
                <a:solidFill>
                  <a:srgbClr val="FF0000"/>
                </a:solidFill>
                <a:latin typeface="Consolas" panose="020B0609020204030204" pitchFamily="49" charset="0"/>
              </a:rPr>
              <a:t>-1</a:t>
            </a:r>
            <a:r>
              <a:rPr lang="en-US" sz="2100" dirty="0">
                <a:solidFill>
                  <a:prstClr val="black"/>
                </a:solidFill>
                <a:latin typeface="Consolas" panose="020B0609020204030204" pitchFamily="49" charset="0"/>
              </a:rPr>
              <a:t>	=	 00</a:t>
            </a:r>
            <a:r>
              <a:rPr lang="en-US" sz="2100" b="1" dirty="0">
                <a:solidFill>
                  <a:srgbClr val="FF0000"/>
                </a:solidFill>
                <a:latin typeface="Consolas" panose="020B0609020204030204" pitchFamily="49" charset="0"/>
              </a:rPr>
              <a:t>111111</a:t>
            </a:r>
            <a:r>
              <a:rPr lang="en-US" sz="2100" baseline="-25000" dirty="0">
                <a:solidFill>
                  <a:prstClr val="black"/>
                </a:solidFill>
                <a:latin typeface="Consolas" panose="020B0609020204030204" pitchFamily="49" charset="0"/>
              </a:rPr>
              <a:t>2</a:t>
            </a:r>
            <a:endParaRPr lang="en-US" sz="21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pPr defTabSz="685800"/>
            <a:endParaRPr lang="en-US" sz="2100" dirty="0">
              <a:solidFill>
                <a:prstClr val="black"/>
              </a:solidFill>
              <a:latin typeface="Consolas" panose="020B0609020204030204" pitchFamily="49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500453" y="3612642"/>
            <a:ext cx="9841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16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Six 1’s</a:t>
            </a:r>
          </a:p>
        </p:txBody>
      </p:sp>
      <p:cxnSp>
        <p:nvCxnSpPr>
          <p:cNvPr id="22" name="Straight Arrow Connector 21"/>
          <p:cNvCxnSpPr/>
          <p:nvPr/>
        </p:nvCxnSpPr>
        <p:spPr>
          <a:xfrm>
            <a:off x="4346967" y="3612641"/>
            <a:ext cx="821531" cy="0"/>
          </a:xfrm>
          <a:prstGeom prst="straightConnector1">
            <a:avLst/>
          </a:prstGeom>
          <a:ln w="254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le 3"/>
          <p:cNvSpPr>
            <a:spLocks noGrp="1"/>
          </p:cNvSpPr>
          <p:nvPr>
            <p:ph type="title"/>
          </p:nvPr>
        </p:nvSpPr>
        <p:spPr>
          <a:xfrm>
            <a:off x="925428" y="761076"/>
            <a:ext cx="8908383" cy="1208547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Useful Bit Patterns: (1 &lt;&lt; </a:t>
            </a:r>
            <a:r>
              <a:rPr lang="en-US" sz="4000" dirty="0">
                <a:solidFill>
                  <a:srgbClr val="0000FF"/>
                </a:solidFill>
                <a:latin typeface="+mn-lt"/>
              </a:rPr>
              <a:t>k</a:t>
            </a:r>
            <a:r>
              <a:rPr lang="en-US" sz="4000" dirty="0">
                <a:latin typeface="+mn-lt"/>
              </a:rPr>
              <a:t>)</a:t>
            </a:r>
            <a:r>
              <a:rPr lang="en-US" sz="4000" dirty="0">
                <a:solidFill>
                  <a:srgbClr val="FF0000"/>
                </a:solidFill>
                <a:latin typeface="+mn-lt"/>
              </a:rPr>
              <a:t>-1</a:t>
            </a:r>
            <a:r>
              <a:rPr lang="en-US" sz="4000" dirty="0">
                <a:latin typeface="+mn-lt"/>
              </a:rPr>
              <a:t> = 2</a:t>
            </a:r>
            <a:r>
              <a:rPr lang="en-US" sz="4000" baseline="30000" dirty="0">
                <a:solidFill>
                  <a:srgbClr val="0000FF"/>
                </a:solidFill>
                <a:latin typeface="+mn-lt"/>
              </a:rPr>
              <a:t>k</a:t>
            </a:r>
            <a:r>
              <a:rPr lang="en-US" sz="4000" dirty="0">
                <a:solidFill>
                  <a:srgbClr val="FF0000"/>
                </a:solidFill>
                <a:latin typeface="+mn-lt"/>
              </a:rPr>
              <a:t>-1</a:t>
            </a:r>
            <a:br>
              <a:rPr lang="en-US" dirty="0">
                <a:latin typeface="+mn-lt"/>
              </a:rPr>
            </a:br>
            <a:r>
              <a:rPr lang="en-US" sz="2800" i="1" dirty="0">
                <a:latin typeface="+mn-lt"/>
                <a:cs typeface="Times New Roman" panose="02020603050405020304" pitchFamily="18" charset="0"/>
              </a:rPr>
              <a:t>(A string of k 1’s, preceded by all 0's)</a:t>
            </a:r>
            <a:endParaRPr lang="en-US" i="1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9B6681-1D21-4470-BFEB-BB14C7239A36}"/>
              </a:ext>
            </a:extLst>
          </p:cNvPr>
          <p:cNvSpPr/>
          <p:nvPr/>
        </p:nvSpPr>
        <p:spPr>
          <a:xfrm>
            <a:off x="6703565" y="2724989"/>
            <a:ext cx="2582445" cy="887653"/>
          </a:xfrm>
          <a:prstGeom prst="rect">
            <a:avLst/>
          </a:prstGeom>
          <a:solidFill>
            <a:srgbClr val="FFC000">
              <a:lumMod val="20000"/>
              <a:lumOff val="80000"/>
            </a:srgbClr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177404" defTabSz="685800">
              <a:defRPr/>
            </a:pPr>
            <a:r>
              <a:rPr lang="en-US" kern="0" dirty="0">
                <a:solidFill>
                  <a:prstClr val="black"/>
                </a:solidFill>
                <a:latin typeface="Consolas" panose="020B0609020204030204" pitchFamily="49" charset="0"/>
              </a:rPr>
              <a:t>LDR	R0,=(1&lt;&lt;</a:t>
            </a:r>
            <a:r>
              <a:rPr lang="en-US" b="1" kern="0" dirty="0">
                <a:solidFill>
                  <a:srgbClr val="0000FF"/>
                </a:solidFill>
                <a:latin typeface="Consolas" panose="020B0609020204030204" pitchFamily="49" charset="0"/>
              </a:rPr>
              <a:t>6</a:t>
            </a:r>
            <a:r>
              <a:rPr lang="en-US" kern="0" dirty="0">
                <a:solidFill>
                  <a:prstClr val="black"/>
                </a:solidFill>
                <a:latin typeface="Consolas" panose="020B0609020204030204" pitchFamily="49" charset="0"/>
              </a:rPr>
              <a:t>)</a:t>
            </a:r>
            <a:r>
              <a:rPr lang="en-US" b="1" kern="0" dirty="0">
                <a:solidFill>
                  <a:srgbClr val="FF0000"/>
                </a:solidFill>
                <a:latin typeface="Consolas" panose="020B0609020204030204" pitchFamily="49" charset="0"/>
              </a:rPr>
              <a:t>-1</a:t>
            </a:r>
            <a:endParaRPr lang="en-US" b="1" kern="0" dirty="0">
              <a:solidFill>
                <a:srgbClr val="FF0000"/>
              </a:solidFill>
              <a:latin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817632" y="6396335"/>
            <a:ext cx="2374368" cy="46166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C++ Example 1</a:t>
            </a:r>
          </a:p>
        </p:txBody>
      </p:sp>
    </p:spTree>
    <p:extLst>
      <p:ext uri="{BB962C8B-B14F-4D97-AF65-F5344CB8AC3E}">
        <p14:creationId xmlns:p14="http://schemas.microsoft.com/office/powerpoint/2010/main" val="42659460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Chapter 7</a:t>
            </a:r>
            <a:br>
              <a:rPr lang="en-US" dirty="0"/>
            </a:br>
            <a:r>
              <a:rPr lang="en-US" dirty="0"/>
              <a:t>Manipulating Bits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Part 2: Shift Instructions</a:t>
            </a:r>
          </a:p>
        </p:txBody>
      </p:sp>
    </p:spTree>
    <p:extLst>
      <p:ext uri="{BB962C8B-B14F-4D97-AF65-F5344CB8AC3E}">
        <p14:creationId xmlns:p14="http://schemas.microsoft.com/office/powerpoint/2010/main" val="13554382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6569" y="733150"/>
            <a:ext cx="6763694" cy="782829"/>
          </a:xfrm>
        </p:spPr>
        <p:txBody>
          <a:bodyPr>
            <a:normAutofit/>
          </a:bodyPr>
          <a:lstStyle/>
          <a:p>
            <a:r>
              <a:rPr lang="en-US" dirty="0"/>
              <a:t>APPLICATIONS OF SHIFTING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6569" y="1929063"/>
            <a:ext cx="10389210" cy="4696325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  <a:tabLst>
                <a:tab pos="3657600" algn="l"/>
              </a:tabLst>
            </a:pPr>
            <a:endParaRPr lang="en-US" dirty="0"/>
          </a:p>
          <a:p>
            <a:pPr marL="0" indent="0">
              <a:lnSpc>
                <a:spcPct val="150000"/>
              </a:lnSpc>
              <a:buNone/>
              <a:tabLst>
                <a:tab pos="3657600" algn="l"/>
              </a:tabLst>
            </a:pPr>
            <a:r>
              <a:rPr lang="en-US" dirty="0">
                <a:solidFill>
                  <a:schemeClr val="tx1"/>
                </a:solidFill>
              </a:rPr>
              <a:t>Multiplication by 2</a:t>
            </a:r>
            <a:r>
              <a:rPr lang="en-US" b="1" baseline="30000" dirty="0">
                <a:solidFill>
                  <a:srgbClr val="FF0000"/>
                </a:solidFill>
              </a:rPr>
              <a:t>k</a:t>
            </a:r>
            <a:r>
              <a:rPr lang="en-US" dirty="0">
                <a:solidFill>
                  <a:schemeClr val="tx1"/>
                </a:solidFill>
              </a:rPr>
              <a:t>:	2</a:t>
            </a:r>
            <a:r>
              <a:rPr lang="en-US" b="1" baseline="30000" dirty="0">
                <a:solidFill>
                  <a:srgbClr val="FF0000"/>
                </a:solidFill>
              </a:rPr>
              <a:t>k</a:t>
            </a:r>
            <a:r>
              <a:rPr lang="en-US" dirty="0">
                <a:solidFill>
                  <a:schemeClr val="tx1"/>
                </a:solidFill>
              </a:rPr>
              <a:t>×A = A &lt;&lt; </a:t>
            </a:r>
            <a:r>
              <a:rPr lang="en-US" b="1" dirty="0">
                <a:solidFill>
                  <a:srgbClr val="FF0000"/>
                </a:solidFill>
              </a:rPr>
              <a:t>k</a:t>
            </a:r>
          </a:p>
          <a:p>
            <a:pPr marL="0" indent="0">
              <a:lnSpc>
                <a:spcPct val="150000"/>
              </a:lnSpc>
              <a:buNone/>
              <a:tabLst>
                <a:tab pos="3657600" algn="l"/>
              </a:tabLst>
            </a:pPr>
            <a:r>
              <a:rPr lang="en-US" dirty="0">
                <a:solidFill>
                  <a:schemeClr val="tx1"/>
                </a:solidFill>
              </a:rPr>
              <a:t>Division by 2</a:t>
            </a:r>
            <a:r>
              <a:rPr lang="en-US" b="1" baseline="30000" dirty="0">
                <a:solidFill>
                  <a:srgbClr val="FF0000"/>
                </a:solidFill>
              </a:rPr>
              <a:t>k</a:t>
            </a:r>
            <a:r>
              <a:rPr lang="en-US" dirty="0">
                <a:solidFill>
                  <a:schemeClr val="tx1"/>
                </a:solidFill>
              </a:rPr>
              <a:t>:	A÷2</a:t>
            </a:r>
            <a:r>
              <a:rPr lang="en-US" b="1" baseline="30000" dirty="0">
                <a:solidFill>
                  <a:srgbClr val="FF0000"/>
                </a:solidFill>
              </a:rPr>
              <a:t>k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= A &gt;&gt; </a:t>
            </a:r>
            <a:r>
              <a:rPr lang="en-US" b="1" dirty="0">
                <a:solidFill>
                  <a:srgbClr val="FF0000"/>
                </a:solidFill>
              </a:rPr>
              <a:t>k</a:t>
            </a:r>
          </a:p>
          <a:p>
            <a:pPr marL="0" indent="0">
              <a:lnSpc>
                <a:spcPct val="150000"/>
              </a:lnSpc>
              <a:buNone/>
              <a:tabLst>
                <a:tab pos="3657600" algn="l"/>
              </a:tabLst>
            </a:pPr>
            <a:r>
              <a:rPr lang="en-US" dirty="0">
                <a:solidFill>
                  <a:schemeClr val="tx1"/>
                </a:solidFill>
              </a:rPr>
              <a:t>Subscript Scaling:	&amp;a32[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>
                <a:solidFill>
                  <a:schemeClr val="tx1"/>
                </a:solidFill>
              </a:rPr>
              <a:t>] = &amp;a32[0] + 4×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(LSL #2)</a:t>
            </a:r>
          </a:p>
          <a:p>
            <a:pPr marL="0" indent="0">
              <a:lnSpc>
                <a:spcPct val="150000"/>
              </a:lnSpc>
              <a:buNone/>
              <a:tabLst>
                <a:tab pos="3657600" algn="l"/>
              </a:tabLst>
            </a:pPr>
            <a:r>
              <a:rPr lang="en-US" dirty="0">
                <a:solidFill>
                  <a:schemeClr val="tx1"/>
                </a:solidFill>
              </a:rPr>
              <a:t>Creating Multiples:	7×A = 8×A - 1×A</a:t>
            </a:r>
          </a:p>
          <a:p>
            <a:pPr marL="0" indent="0">
              <a:lnSpc>
                <a:spcPct val="150000"/>
              </a:lnSpc>
              <a:buNone/>
              <a:tabLst>
                <a:tab pos="3657600" algn="l"/>
              </a:tabLst>
            </a:pPr>
            <a:r>
              <a:rPr lang="en-US" dirty="0">
                <a:solidFill>
                  <a:schemeClr val="tx1"/>
                </a:solidFill>
              </a:rPr>
              <a:t>                                                     7     = 8     - 1 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4840705" y="5109413"/>
            <a:ext cx="0" cy="3850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V="1">
            <a:off x="5494421" y="5109413"/>
            <a:ext cx="0" cy="4130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V="1">
            <a:off x="6167216" y="5135483"/>
            <a:ext cx="0" cy="4130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41283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7782330"/>
              </p:ext>
            </p:extLst>
          </p:nvPr>
        </p:nvGraphicFramePr>
        <p:xfrm>
          <a:off x="1100278" y="1688364"/>
          <a:ext cx="9617514" cy="3146969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19956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443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32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88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547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643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71500" algn="l"/>
                        </a:tabLst>
                      </a:pPr>
                      <a:r>
                        <a:rPr lang="en-US" sz="2000" b="1" i="1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Instruction</a:t>
                      </a:r>
                      <a:endParaRPr lang="en-US" sz="2000" dirty="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36576" marR="36576" marT="8890" marB="889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71500" algn="l"/>
                        </a:tabLst>
                      </a:pPr>
                      <a:r>
                        <a:rPr lang="en-US" sz="2000" b="1" i="1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Syntax</a:t>
                      </a:r>
                      <a:endParaRPr lang="en-US" sz="2000" dirty="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36576" marR="36576" marT="8890" marB="889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1">
                          <a:solidFill>
                            <a:schemeClr val="bg1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Operation</a:t>
                      </a:r>
                      <a:endParaRPr lang="en-US" sz="200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36576" marR="36576" marT="8890" marB="889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1">
                          <a:solidFill>
                            <a:schemeClr val="bg1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Flags</a:t>
                      </a:r>
                      <a:endParaRPr lang="en-US" sz="200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36576" marR="36576" marT="8890" marB="889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1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Notes</a:t>
                      </a:r>
                      <a:endParaRPr lang="en-US" sz="2000" dirty="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36576" marR="36576" marT="8890" marB="889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6204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71500" algn="l"/>
                        </a:tabLs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Logical Shift </a:t>
                      </a:r>
                      <a:r>
                        <a:rPr lang="en-US" sz="1600" b="1" dirty="0">
                          <a:solidFill>
                            <a:srgbClr val="00B05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Left</a:t>
                      </a:r>
                      <a:endParaRPr lang="en-US" sz="2000" b="1" dirty="0">
                        <a:solidFill>
                          <a:srgbClr val="00B05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36576" marR="36576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12763" algn="l"/>
                        </a:tabLst>
                      </a:pP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L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S</a:t>
                      </a:r>
                      <a:r>
                        <a:rPr lang="en-US" sz="1800" b="1" dirty="0">
                          <a:solidFill>
                            <a:srgbClr val="00B05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L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{S} 	</a:t>
                      </a:r>
                      <a:r>
                        <a:rPr lang="en-US" sz="180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R</a:t>
                      </a:r>
                      <a:r>
                        <a:rPr lang="en-US" sz="1800" baseline="-2500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d</a:t>
                      </a:r>
                      <a:r>
                        <a:rPr lang="en-US" sz="180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,R</a:t>
                      </a:r>
                      <a:r>
                        <a:rPr lang="en-US" sz="1800" baseline="-2500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n</a:t>
                      </a:r>
                      <a:r>
                        <a:rPr lang="en-US" sz="180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,</a:t>
                      </a:r>
                      <a:r>
                        <a:rPr lang="en-US" sz="1800" i="1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bits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36576" marR="36576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R</a:t>
                      </a:r>
                      <a:r>
                        <a:rPr lang="en-US" sz="1800" baseline="-25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d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 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  <a:sym typeface="Wingdings"/>
                        </a:rPr>
                        <a:t>=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 R</a:t>
                      </a:r>
                      <a:r>
                        <a:rPr lang="en-US" sz="1800" baseline="-25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n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 &lt;&lt; </a:t>
                      </a:r>
                      <a:r>
                        <a:rPr lang="en-US" sz="1800" i="1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bits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36576" marR="36576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N,Z,C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36576" marR="36576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Zero fills</a:t>
                      </a:r>
                      <a:endParaRPr lang="en-US" sz="1600" b="1" dirty="0">
                        <a:solidFill>
                          <a:srgbClr val="FF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36576" marR="36576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6204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71500" algn="l"/>
                        </a:tabLs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Logical Shift </a:t>
                      </a:r>
                      <a:r>
                        <a:rPr lang="en-US" sz="1600" b="1" dirty="0">
                          <a:solidFill>
                            <a:srgbClr val="197EC6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Right</a:t>
                      </a:r>
                      <a:endParaRPr lang="en-US" sz="2000" b="1" dirty="0">
                        <a:solidFill>
                          <a:srgbClr val="197EC6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36576" marR="36576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12763" algn="l"/>
                        </a:tabLst>
                      </a:pP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L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S</a:t>
                      </a:r>
                      <a:r>
                        <a:rPr lang="en-US" sz="1800" b="1" dirty="0">
                          <a:solidFill>
                            <a:srgbClr val="197EC6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R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{S}  	</a:t>
                      </a:r>
                      <a:r>
                        <a:rPr lang="en-US" sz="180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R</a:t>
                      </a:r>
                      <a:r>
                        <a:rPr lang="en-US" sz="1800" baseline="-2500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d</a:t>
                      </a:r>
                      <a:r>
                        <a:rPr lang="en-US" sz="180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,R</a:t>
                      </a:r>
                      <a:r>
                        <a:rPr lang="en-US" sz="1800" baseline="-2500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n</a:t>
                      </a:r>
                      <a:r>
                        <a:rPr lang="en-US" sz="180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,</a:t>
                      </a:r>
                      <a:r>
                        <a:rPr lang="en-US" sz="1800" i="1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bits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36576" marR="36576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R</a:t>
                      </a:r>
                      <a:r>
                        <a:rPr lang="en-US" sz="1800" baseline="-25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d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 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  <a:sym typeface="Wingdings"/>
                        </a:rPr>
                        <a:t>=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 R</a:t>
                      </a:r>
                      <a:r>
                        <a:rPr lang="en-US" sz="1800" baseline="-25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n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 &gt;&gt; </a:t>
                      </a:r>
                      <a:r>
                        <a:rPr lang="en-US" sz="1800" i="1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bits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36576" marR="36576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N,Z,C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36576" marR="36576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Times New Roman"/>
                          <a:cs typeface="Calibri"/>
                        </a:rPr>
                        <a:t>Z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Calibri"/>
                        </a:rPr>
                        <a:t>ero fills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36576" marR="36576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6204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71500" algn="l"/>
                        </a:tabLs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Arithmetic Shift </a:t>
                      </a:r>
                      <a:r>
                        <a:rPr lang="en-US" sz="1600" b="1" dirty="0">
                          <a:solidFill>
                            <a:srgbClr val="197EC6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Right</a:t>
                      </a:r>
                      <a:endParaRPr lang="en-US" sz="2000" b="1" dirty="0">
                        <a:solidFill>
                          <a:srgbClr val="197EC6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36576" marR="36576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12763" algn="l"/>
                        </a:tabLst>
                      </a:pPr>
                      <a:r>
                        <a:rPr lang="en-US" sz="1800" b="1" dirty="0">
                          <a:solidFill>
                            <a:srgbClr val="92D05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A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S</a:t>
                      </a:r>
                      <a:r>
                        <a:rPr lang="en-US" sz="1800" b="1" dirty="0">
                          <a:solidFill>
                            <a:srgbClr val="197EC6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R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{S}  	</a:t>
                      </a:r>
                      <a:r>
                        <a:rPr lang="en-US" sz="180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R</a:t>
                      </a:r>
                      <a:r>
                        <a:rPr lang="en-US" sz="1800" baseline="-2500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d</a:t>
                      </a:r>
                      <a:r>
                        <a:rPr lang="en-US" sz="180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,R</a:t>
                      </a:r>
                      <a:r>
                        <a:rPr lang="en-US" sz="1800" baseline="-2500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n</a:t>
                      </a:r>
                      <a:r>
                        <a:rPr lang="en-US" sz="180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,</a:t>
                      </a:r>
                      <a:r>
                        <a:rPr lang="en-US" sz="1800" i="1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bits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36576" marR="36576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R</a:t>
                      </a:r>
                      <a:r>
                        <a:rPr lang="en-US" sz="1800" baseline="-25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d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 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  <a:sym typeface="Wingdings"/>
                        </a:rPr>
                        <a:t>=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 R</a:t>
                      </a:r>
                      <a:r>
                        <a:rPr lang="en-US" sz="1800" baseline="-25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n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 &gt;&gt; </a:t>
                      </a:r>
                      <a:r>
                        <a:rPr lang="en-US" sz="1800" i="1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bits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36576" marR="36576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N,Z,C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36576" marR="36576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92D05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Sign extends</a:t>
                      </a:r>
                      <a:endParaRPr lang="en-US" sz="1600" b="1" dirty="0">
                        <a:solidFill>
                          <a:srgbClr val="92D05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36576" marR="36576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6204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71500" algn="l"/>
                        </a:tabLs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Rotate </a:t>
                      </a:r>
                      <a:r>
                        <a:rPr lang="en-US" sz="1600" b="1" dirty="0">
                          <a:solidFill>
                            <a:srgbClr val="0070C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Right</a:t>
                      </a:r>
                      <a:endParaRPr lang="en-US" sz="2000" b="1" dirty="0">
                        <a:solidFill>
                          <a:srgbClr val="0070C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36576" marR="36576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12763" algn="l"/>
                        </a:tabLs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RO</a:t>
                      </a:r>
                      <a:r>
                        <a:rPr lang="en-US" sz="1800" b="1" dirty="0">
                          <a:solidFill>
                            <a:srgbClr val="197EC6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R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{S}  	</a:t>
                      </a:r>
                      <a:r>
                        <a:rPr lang="en-US" sz="180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R</a:t>
                      </a:r>
                      <a:r>
                        <a:rPr lang="en-US" sz="1800" baseline="-2500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d</a:t>
                      </a:r>
                      <a:r>
                        <a:rPr lang="en-US" sz="180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,R</a:t>
                      </a:r>
                      <a:r>
                        <a:rPr lang="en-US" sz="1800" baseline="-2500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n</a:t>
                      </a:r>
                      <a:r>
                        <a:rPr lang="en-US" sz="180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,</a:t>
                      </a:r>
                      <a:r>
                        <a:rPr lang="en-US" sz="1800" i="1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bits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36576" marR="36576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R</a:t>
                      </a:r>
                      <a:r>
                        <a:rPr lang="en-US" sz="1800" baseline="-25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d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 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  <a:sym typeface="Wingdings"/>
                        </a:rPr>
                        <a:t>=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 R</a:t>
                      </a:r>
                      <a:r>
                        <a:rPr lang="en-US" sz="1800" baseline="-25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n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 &gt;&gt; </a:t>
                      </a:r>
                      <a:r>
                        <a:rPr lang="en-US" sz="1800" i="1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bits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36576" marR="36576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N,Z,C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36576" marR="36576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right rotate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36576" marR="36576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9774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71500" algn="l"/>
                        </a:tabLs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Rotate </a:t>
                      </a:r>
                      <a:r>
                        <a:rPr lang="en-US" sz="1600" b="1" dirty="0">
                          <a:solidFill>
                            <a:srgbClr val="0070C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Right</a:t>
                      </a:r>
                      <a:r>
                        <a:rPr lang="en-US" sz="1600" b="1" baseline="0" dirty="0">
                          <a:solidFill>
                            <a:srgbClr val="0070C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 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w/Extend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36576" marR="36576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12763" algn="l"/>
                        </a:tabLs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R</a:t>
                      </a:r>
                      <a:r>
                        <a:rPr lang="en-US" sz="1800" b="1" dirty="0">
                          <a:solidFill>
                            <a:srgbClr val="197EC6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R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X{S}  	</a:t>
                      </a:r>
                      <a:r>
                        <a:rPr lang="en-US" sz="180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R</a:t>
                      </a:r>
                      <a:r>
                        <a:rPr lang="en-US" sz="1800" baseline="-2500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d</a:t>
                      </a:r>
                      <a:r>
                        <a:rPr lang="en-US" sz="180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,R</a:t>
                      </a:r>
                      <a:r>
                        <a:rPr lang="en-US" sz="1800" baseline="-2500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n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36576" marR="36576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R</a:t>
                      </a:r>
                      <a:r>
                        <a:rPr lang="en-US" sz="1800" baseline="-25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d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 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  <a:sym typeface="Wingdings"/>
                        </a:rPr>
                        <a:t>=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 R</a:t>
                      </a:r>
                      <a:r>
                        <a:rPr lang="en-US" sz="1800" baseline="-25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n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 &gt;&gt; 1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36576" marR="36576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N,Z,C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36576" marR="36576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right shift, fill with Carry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36576" marR="36576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94978" y="747678"/>
            <a:ext cx="4563348" cy="529868"/>
          </a:xfrm>
        </p:spPr>
        <p:txBody>
          <a:bodyPr>
            <a:normAutofit fontScale="90000"/>
          </a:bodyPr>
          <a:lstStyle/>
          <a:p>
            <a:r>
              <a:rPr lang="en-US" dirty="0"/>
              <a:t>SHIFT INSTRUCTIONS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6923132" y="5195396"/>
            <a:ext cx="3534484" cy="1015663"/>
            <a:chOff x="1097280" y="4749850"/>
            <a:chExt cx="3534484" cy="1015663"/>
          </a:xfrm>
        </p:grpSpPr>
        <p:sp>
          <p:nvSpPr>
            <p:cNvPr id="4" name="TextBox 3"/>
            <p:cNvSpPr txBox="1"/>
            <p:nvPr/>
          </p:nvSpPr>
          <p:spPr>
            <a:xfrm>
              <a:off x="1097280" y="4749850"/>
              <a:ext cx="3534484" cy="1015663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tIns="91440" bIns="91440" rtlCol="0">
              <a:spAutoFit/>
            </a:bodyPr>
            <a:lstStyle/>
            <a:p>
              <a:pPr marL="1027113" lvl="1"/>
              <a:r>
                <a:rPr lang="en-US" dirty="0"/>
                <a:t>Append "S" to capture the last bit shifted out in the carry (C) flag.</a:t>
              </a:r>
            </a:p>
          </p:txBody>
        </p:sp>
        <p:pic>
          <p:nvPicPr>
            <p:cNvPr id="5" name="Picture 4" descr="http://www.aamu.edu/campuslife/living-on-campus/residentialLife/SiteAssets/pages/default/Warning_sign.p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1201512" y="4796539"/>
              <a:ext cx="971826" cy="838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50" name="Line Callout 3 49"/>
          <p:cNvSpPr/>
          <p:nvPr/>
        </p:nvSpPr>
        <p:spPr>
          <a:xfrm>
            <a:off x="2579790" y="5253275"/>
            <a:ext cx="3862696" cy="569465"/>
          </a:xfrm>
          <a:prstGeom prst="borderCallout3">
            <a:avLst>
              <a:gd name="adj1" fmla="val -176484"/>
              <a:gd name="adj2" fmla="val -38793"/>
              <a:gd name="adj3" fmla="val -175552"/>
              <a:gd name="adj4" fmla="val -50810"/>
              <a:gd name="adj5" fmla="val 54247"/>
              <a:gd name="adj6" fmla="val -51248"/>
              <a:gd name="adj7" fmla="val 56291"/>
              <a:gd name="adj8" fmla="val 268"/>
            </a:avLst>
          </a:prstGeom>
          <a:solidFill>
            <a:srgbClr val="FF0000">
              <a:alpha val="25000"/>
            </a:srgbClr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Only Rotate Right!</a:t>
            </a:r>
          </a:p>
        </p:txBody>
      </p:sp>
    </p:spTree>
    <p:extLst>
      <p:ext uri="{BB962C8B-B14F-4D97-AF65-F5344CB8AC3E}">
        <p14:creationId xmlns:p14="http://schemas.microsoft.com/office/powerpoint/2010/main" val="42409642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6569" y="733150"/>
            <a:ext cx="6763694" cy="782829"/>
          </a:xfrm>
        </p:spPr>
        <p:txBody>
          <a:bodyPr>
            <a:normAutofit/>
          </a:bodyPr>
          <a:lstStyle/>
          <a:p>
            <a:r>
              <a:rPr lang="en-US" dirty="0"/>
              <a:t>Rotate Right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9787" y="2139144"/>
            <a:ext cx="5973009" cy="138131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01697" y="1862688"/>
            <a:ext cx="8691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ROR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3014" y="4143628"/>
            <a:ext cx="8840434" cy="14575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301697" y="3912795"/>
            <a:ext cx="8354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RRX</a:t>
            </a:r>
          </a:p>
        </p:txBody>
      </p:sp>
      <p:sp>
        <p:nvSpPr>
          <p:cNvPr id="11" name="Title 1"/>
          <p:cNvSpPr txBox="1">
            <a:spLocks/>
          </p:cNvSpPr>
          <p:nvPr/>
        </p:nvSpPr>
        <p:spPr>
          <a:xfrm>
            <a:off x="4322594" y="5986710"/>
            <a:ext cx="3840882" cy="7828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>
                <a:solidFill>
                  <a:srgbClr val="FF0000"/>
                </a:solidFill>
              </a:rPr>
              <a:t>No Rotate Left!</a:t>
            </a:r>
          </a:p>
        </p:txBody>
      </p:sp>
    </p:spTree>
    <p:extLst>
      <p:ext uri="{BB962C8B-B14F-4D97-AF65-F5344CB8AC3E}">
        <p14:creationId xmlns:p14="http://schemas.microsoft.com/office/powerpoint/2010/main" val="4569513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50709745-9B00-42A2-A8A5-140E888048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65200" y="779275"/>
            <a:ext cx="4007322" cy="758825"/>
          </a:xfrm>
        </p:spPr>
        <p:txBody>
          <a:bodyPr/>
          <a:lstStyle/>
          <a:p>
            <a:r>
              <a:rPr lang="en-US" altLang="en-US" dirty="0"/>
              <a:t>Instruction Sets</a:t>
            </a:r>
          </a:p>
        </p:txBody>
      </p:sp>
      <p:sp>
        <p:nvSpPr>
          <p:cNvPr id="16387" name="Rectangle 1224">
            <a:extLst>
              <a:ext uri="{FF2B5EF4-FFF2-40B4-BE49-F238E27FC236}">
                <a16:creationId xmlns:a16="http://schemas.microsoft.com/office/drawing/2014/main" id="{F246F207-D71B-47FA-8126-EF7CD2055D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65199" y="1704570"/>
            <a:ext cx="10385451" cy="4945612"/>
          </a:xfrm>
        </p:spPr>
        <p:txBody>
          <a:bodyPr/>
          <a:lstStyle/>
          <a:p>
            <a:pPr lvl="1">
              <a:lnSpc>
                <a:spcPct val="80000"/>
              </a:lnSpc>
            </a:pPr>
            <a:r>
              <a:rPr lang="en-US" altLang="en-US" sz="2400" dirty="0">
                <a:solidFill>
                  <a:schemeClr val="tx1"/>
                </a:solidFill>
              </a:rPr>
              <a:t>An inline barrel shifter to preprocess one of the input registers (Operand2).</a:t>
            </a:r>
          </a:p>
          <a:p>
            <a:pPr lvl="1">
              <a:lnSpc>
                <a:spcPct val="80000"/>
              </a:lnSpc>
            </a:pPr>
            <a:r>
              <a:rPr lang="en-US" altLang="en-US" sz="2400" dirty="0">
                <a:solidFill>
                  <a:schemeClr val="tx1"/>
                </a:solidFill>
              </a:rPr>
              <a:t>It provides many types of shifts and rotates which can be applied to Operand2</a:t>
            </a:r>
          </a:p>
          <a:p>
            <a:pPr marL="1371600" lvl="2" indent="-457200">
              <a:lnSpc>
                <a:spcPct val="80000"/>
              </a:lnSpc>
              <a:buFont typeface="Arial" panose="020B0604020202020204" pitchFamily="34" charset="0"/>
              <a:buAutoNum type="arabicPeriod"/>
            </a:pPr>
            <a:r>
              <a:rPr lang="en-US" altLang="en-US" b="1" dirty="0">
                <a:solidFill>
                  <a:schemeClr val="tx1"/>
                </a:solidFill>
              </a:rPr>
              <a:t>LSL</a:t>
            </a:r>
            <a:r>
              <a:rPr lang="en-US" altLang="en-US" dirty="0">
                <a:solidFill>
                  <a:schemeClr val="tx1"/>
                </a:solidFill>
              </a:rPr>
              <a:t> R0,R0,#4 Logical left shift  (&lt;&lt; in C)</a:t>
            </a:r>
          </a:p>
          <a:p>
            <a:pPr marL="1371600" lvl="2" indent="-457200">
              <a:lnSpc>
                <a:spcPct val="80000"/>
              </a:lnSpc>
              <a:buFont typeface="Arial" panose="020B0604020202020204" pitchFamily="34" charset="0"/>
              <a:buAutoNum type="arabicPeriod"/>
            </a:pPr>
            <a:endParaRPr lang="en-US" altLang="en-US" dirty="0">
              <a:solidFill>
                <a:schemeClr val="tx1"/>
              </a:solidFill>
            </a:endParaRPr>
          </a:p>
          <a:p>
            <a:pPr marL="1371600" lvl="2" indent="-457200">
              <a:lnSpc>
                <a:spcPct val="80000"/>
              </a:lnSpc>
              <a:buFont typeface="Arial" panose="020B0604020202020204" pitchFamily="34" charset="0"/>
              <a:buAutoNum type="arabicPeriod"/>
            </a:pPr>
            <a:endParaRPr lang="en-US" altLang="en-US" dirty="0">
              <a:solidFill>
                <a:schemeClr val="tx1"/>
              </a:solidFill>
            </a:endParaRPr>
          </a:p>
          <a:p>
            <a:pPr marL="1371600" lvl="2" indent="-457200">
              <a:lnSpc>
                <a:spcPct val="80000"/>
              </a:lnSpc>
              <a:buFont typeface="Arial" panose="020B0604020202020204" pitchFamily="34" charset="0"/>
              <a:buAutoNum type="arabicPeriod"/>
            </a:pPr>
            <a:endParaRPr lang="en-US" altLang="en-US" dirty="0">
              <a:solidFill>
                <a:schemeClr val="tx1"/>
              </a:solidFill>
            </a:endParaRPr>
          </a:p>
          <a:p>
            <a:pPr marL="1371600" lvl="2" indent="-457200">
              <a:lnSpc>
                <a:spcPct val="80000"/>
              </a:lnSpc>
              <a:buFont typeface="Arial" panose="020B0604020202020204" pitchFamily="34" charset="0"/>
              <a:buAutoNum type="arabicPeriod"/>
            </a:pPr>
            <a:endParaRPr lang="en-US" altLang="en-US" dirty="0">
              <a:solidFill>
                <a:schemeClr val="tx1"/>
              </a:solidFill>
            </a:endParaRPr>
          </a:p>
          <a:p>
            <a:pPr marL="1371600" lvl="2" indent="-457200">
              <a:lnSpc>
                <a:spcPct val="80000"/>
              </a:lnSpc>
              <a:buFont typeface="Arial" panose="020B0604020202020204" pitchFamily="34" charset="0"/>
              <a:buAutoNum type="arabicPeriod"/>
            </a:pPr>
            <a:endParaRPr lang="en-US" altLang="en-US" dirty="0">
              <a:solidFill>
                <a:schemeClr val="tx1"/>
              </a:solidFill>
            </a:endParaRPr>
          </a:p>
          <a:p>
            <a:pPr marL="1371600" lvl="2" indent="-457200">
              <a:lnSpc>
                <a:spcPct val="80000"/>
              </a:lnSpc>
              <a:buFont typeface="Arial" panose="020B0604020202020204" pitchFamily="34" charset="0"/>
              <a:buAutoNum type="arabicPeriod"/>
            </a:pPr>
            <a:endParaRPr lang="en-US" altLang="en-US" dirty="0">
              <a:solidFill>
                <a:schemeClr val="tx1"/>
              </a:solidFill>
            </a:endParaRPr>
          </a:p>
          <a:p>
            <a:pPr marL="1371600" lvl="2" indent="-457200">
              <a:lnSpc>
                <a:spcPct val="80000"/>
              </a:lnSpc>
              <a:buFont typeface="Arial" panose="020B0604020202020204" pitchFamily="34" charset="0"/>
              <a:buAutoNum type="arabicPeriod"/>
            </a:pPr>
            <a:r>
              <a:rPr lang="en-US" altLang="en-US" b="1" dirty="0">
                <a:solidFill>
                  <a:schemeClr val="tx1"/>
                </a:solidFill>
              </a:rPr>
              <a:t>LSR</a:t>
            </a:r>
            <a:r>
              <a:rPr lang="en-US" altLang="en-US" dirty="0">
                <a:solidFill>
                  <a:schemeClr val="tx1"/>
                </a:solidFill>
              </a:rPr>
              <a:t> R0,R0,#4 Logical shift right  (&gt;&gt; in C)</a:t>
            </a:r>
          </a:p>
          <a:p>
            <a:pPr marL="1371600" lvl="2" indent="-457200">
              <a:lnSpc>
                <a:spcPct val="80000"/>
              </a:lnSpc>
              <a:buFont typeface="Arial" panose="020B0604020202020204" pitchFamily="34" charset="0"/>
              <a:buAutoNum type="arabicPeriod"/>
            </a:pPr>
            <a:endParaRPr lang="en-US" altLang="en-US" dirty="0">
              <a:solidFill>
                <a:schemeClr val="tx1"/>
              </a:solidFill>
            </a:endParaRPr>
          </a:p>
          <a:p>
            <a:pPr marL="1371600" lvl="2" indent="-457200">
              <a:lnSpc>
                <a:spcPct val="80000"/>
              </a:lnSpc>
              <a:buFont typeface="Arial" panose="020B0604020202020204" pitchFamily="34" charset="0"/>
              <a:buAutoNum type="arabicPeriod"/>
            </a:pPr>
            <a:endParaRPr lang="en-US" altLang="en-US" dirty="0"/>
          </a:p>
        </p:txBody>
      </p:sp>
      <p:pic>
        <p:nvPicPr>
          <p:cNvPr id="2" name="Picture 1" descr="Screen Shot 2015-10-17 at 12.23.19 PM.png">
            <a:extLst>
              <a:ext uri="{FF2B5EF4-FFF2-40B4-BE49-F238E27FC236}">
                <a16:creationId xmlns:a16="http://schemas.microsoft.com/office/drawing/2014/main" id="{8BC945A1-1347-45A2-9143-78291E0445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0743" y="2793286"/>
            <a:ext cx="5029200" cy="146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 descr="Screen Shot 2015-10-17 at 12.27.04 PM.png">
            <a:extLst>
              <a:ext uri="{FF2B5EF4-FFF2-40B4-BE49-F238E27FC236}">
                <a16:creationId xmlns:a16="http://schemas.microsoft.com/office/drawing/2014/main" id="{5DCF27F3-EB0F-4383-B276-825FDDF07F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0743" y="4813287"/>
            <a:ext cx="5029200" cy="158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31705470"/>
      </p:ext>
    </p:extLst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ABF369F8-B0FF-4CA6-BEE5-8D3098FD9B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39459" y="763587"/>
            <a:ext cx="3912151" cy="758825"/>
          </a:xfrm>
        </p:spPr>
        <p:txBody>
          <a:bodyPr/>
          <a:lstStyle/>
          <a:p>
            <a:r>
              <a:rPr lang="en-US" altLang="en-US" dirty="0"/>
              <a:t>Instruction Sets</a:t>
            </a:r>
          </a:p>
        </p:txBody>
      </p:sp>
      <p:sp>
        <p:nvSpPr>
          <p:cNvPr id="16387" name="Rectangle 1224">
            <a:extLst>
              <a:ext uri="{FF2B5EF4-FFF2-40B4-BE49-F238E27FC236}">
                <a16:creationId xmlns:a16="http://schemas.microsoft.com/office/drawing/2014/main" id="{EB949D2D-AB82-4E72-83A5-526488A25F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9458" y="1611535"/>
            <a:ext cx="10403635" cy="5031090"/>
          </a:xfrm>
        </p:spPr>
        <p:txBody>
          <a:bodyPr/>
          <a:lstStyle/>
          <a:p>
            <a:pPr marL="1371600" lvl="2" indent="-457200">
              <a:lnSpc>
                <a:spcPct val="80000"/>
              </a:lnSpc>
              <a:buFont typeface="Arial" panose="020B0604020202020204" pitchFamily="34" charset="0"/>
              <a:buAutoNum type="arabicPeriod" startAt="3"/>
            </a:pPr>
            <a:r>
              <a:rPr lang="en-US" altLang="en-US" b="1" dirty="0">
                <a:solidFill>
                  <a:schemeClr val="tx1"/>
                </a:solidFill>
              </a:rPr>
              <a:t>ASR</a:t>
            </a:r>
            <a:r>
              <a:rPr lang="en-US" altLang="en-US" dirty="0">
                <a:solidFill>
                  <a:schemeClr val="tx1"/>
                </a:solidFill>
              </a:rPr>
              <a:t> R0,R0,#4 - Arithmetic Shift Right (C signed division by a power of 2)</a:t>
            </a:r>
          </a:p>
          <a:p>
            <a:pPr marL="1371600" lvl="2" indent="-457200">
              <a:lnSpc>
                <a:spcPct val="80000"/>
              </a:lnSpc>
              <a:buFont typeface="Arial" panose="020B0604020202020204" pitchFamily="34" charset="0"/>
              <a:buAutoNum type="arabicPeriod" startAt="3"/>
            </a:pPr>
            <a:endParaRPr lang="en-US" altLang="en-US" dirty="0">
              <a:solidFill>
                <a:schemeClr val="tx1"/>
              </a:solidFill>
            </a:endParaRPr>
          </a:p>
          <a:p>
            <a:pPr marL="1371600" lvl="2" indent="-457200">
              <a:lnSpc>
                <a:spcPct val="80000"/>
              </a:lnSpc>
              <a:buFont typeface="Arial" panose="020B0604020202020204" pitchFamily="34" charset="0"/>
              <a:buAutoNum type="arabicPeriod" startAt="3"/>
            </a:pPr>
            <a:endParaRPr lang="en-US" altLang="en-US" dirty="0">
              <a:solidFill>
                <a:schemeClr val="tx1"/>
              </a:solidFill>
            </a:endParaRPr>
          </a:p>
          <a:p>
            <a:pPr marL="1371600" lvl="2" indent="-457200">
              <a:lnSpc>
                <a:spcPct val="80000"/>
              </a:lnSpc>
              <a:buFont typeface="Arial" panose="020B0604020202020204" pitchFamily="34" charset="0"/>
              <a:buAutoNum type="arabicPeriod" startAt="3"/>
            </a:pPr>
            <a:endParaRPr lang="en-US" altLang="en-US" dirty="0">
              <a:solidFill>
                <a:schemeClr val="tx1"/>
              </a:solidFill>
            </a:endParaRPr>
          </a:p>
          <a:p>
            <a:pPr marL="1371600" lvl="2" indent="-457200">
              <a:lnSpc>
                <a:spcPct val="80000"/>
              </a:lnSpc>
              <a:buFont typeface="Arial" panose="020B0604020202020204" pitchFamily="34" charset="0"/>
              <a:buAutoNum type="arabicPeriod" startAt="3"/>
            </a:pPr>
            <a:endParaRPr lang="en-US" altLang="en-US" dirty="0">
              <a:solidFill>
                <a:schemeClr val="tx1"/>
              </a:solidFill>
            </a:endParaRPr>
          </a:p>
          <a:p>
            <a:pPr marL="1371600" lvl="2" indent="-457200">
              <a:lnSpc>
                <a:spcPct val="80000"/>
              </a:lnSpc>
              <a:buFont typeface="Arial" panose="020B0604020202020204" pitchFamily="34" charset="0"/>
              <a:buAutoNum type="arabicPeriod" startAt="3"/>
            </a:pPr>
            <a:endParaRPr lang="en-US" altLang="en-US" dirty="0">
              <a:solidFill>
                <a:schemeClr val="tx1"/>
              </a:solidFill>
            </a:endParaRPr>
          </a:p>
          <a:p>
            <a:pPr marL="1371600" lvl="2" indent="-457200">
              <a:lnSpc>
                <a:spcPct val="80000"/>
              </a:lnSpc>
              <a:buFont typeface="Arial" panose="020B0604020202020204" pitchFamily="34" charset="0"/>
              <a:buAutoNum type="arabicPeriod" startAt="3"/>
            </a:pPr>
            <a:endParaRPr lang="en-US" altLang="en-US" dirty="0">
              <a:solidFill>
                <a:schemeClr val="tx1"/>
              </a:solidFill>
            </a:endParaRPr>
          </a:p>
          <a:p>
            <a:pPr marL="1371600" lvl="2" indent="-457200">
              <a:lnSpc>
                <a:spcPct val="80000"/>
              </a:lnSpc>
              <a:buFont typeface="Arial" panose="020B0604020202020204" pitchFamily="34" charset="0"/>
              <a:buAutoNum type="arabicPeriod" startAt="3"/>
            </a:pPr>
            <a:endParaRPr lang="en-US" altLang="en-US" dirty="0">
              <a:solidFill>
                <a:schemeClr val="tx1"/>
              </a:solidFill>
            </a:endParaRPr>
          </a:p>
          <a:p>
            <a:pPr marL="1371600" lvl="2" indent="-457200">
              <a:lnSpc>
                <a:spcPct val="80000"/>
              </a:lnSpc>
              <a:buFont typeface="Arial" panose="020B0604020202020204" pitchFamily="34" charset="0"/>
              <a:buAutoNum type="arabicPeriod" startAt="3"/>
            </a:pPr>
            <a:r>
              <a:rPr lang="en-US" altLang="en-US" b="1" dirty="0">
                <a:solidFill>
                  <a:schemeClr val="tx1"/>
                </a:solidFill>
              </a:rPr>
              <a:t>ASR</a:t>
            </a:r>
            <a:r>
              <a:rPr lang="en-US" altLang="en-US" dirty="0">
                <a:solidFill>
                  <a:schemeClr val="tx1"/>
                </a:solidFill>
              </a:rPr>
              <a:t> R0,R0,#4 - Arithmetic Shift Right </a:t>
            </a:r>
          </a:p>
          <a:p>
            <a:pPr marL="914400" lvl="2" indent="0">
              <a:lnSpc>
                <a:spcPct val="80000"/>
              </a:lnSpc>
              <a:buNone/>
            </a:pPr>
            <a:endParaRPr lang="en-US" altLang="en-US" dirty="0"/>
          </a:p>
        </p:txBody>
      </p:sp>
      <p:pic>
        <p:nvPicPr>
          <p:cNvPr id="4" name="Picture 3" descr="Screen Shot 2015-10-17 at 12.29.09 PM.png">
            <a:extLst>
              <a:ext uri="{FF2B5EF4-FFF2-40B4-BE49-F238E27FC236}">
                <a16:creationId xmlns:a16="http://schemas.microsoft.com/office/drawing/2014/main" id="{C81EF473-45D8-4A0A-91C0-3D552B8965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5344" y="2122323"/>
            <a:ext cx="4902200" cy="156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 descr="Screen Shot 2015-10-17 at 12.29.17 PM.png">
            <a:extLst>
              <a:ext uri="{FF2B5EF4-FFF2-40B4-BE49-F238E27FC236}">
                <a16:creationId xmlns:a16="http://schemas.microsoft.com/office/drawing/2014/main" id="{FC2D5A54-0102-4ACC-A686-3FDD710295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5344" y="4589082"/>
            <a:ext cx="4991100" cy="149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E3315DE-25B7-F3E9-2965-02F84B205379}"/>
              </a:ext>
            </a:extLst>
          </p:cNvPr>
          <p:cNvSpPr txBox="1"/>
          <p:nvPr/>
        </p:nvSpPr>
        <p:spPr>
          <a:xfrm>
            <a:off x="3096127" y="2718707"/>
            <a:ext cx="2133918" cy="369332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Positive</a:t>
            </a:r>
            <a:r>
              <a:rPr lang="en-US" dirty="0"/>
              <a:t> </a:t>
            </a:r>
            <a:r>
              <a:rPr lang="en-US" b="1" dirty="0">
                <a:solidFill>
                  <a:srgbClr val="92D050"/>
                </a:solidFill>
              </a:rPr>
              <a:t>Numbers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14B3397-55B5-C48F-355B-C9D13E4D170C}"/>
              </a:ext>
            </a:extLst>
          </p:cNvPr>
          <p:cNvCxnSpPr>
            <a:stCxn id="2" idx="3"/>
          </p:cNvCxnSpPr>
          <p:nvPr/>
        </p:nvCxnSpPr>
        <p:spPr>
          <a:xfrm flipV="1">
            <a:off x="5230045" y="2577409"/>
            <a:ext cx="581208" cy="3259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3EF6FC0-9904-3417-DC06-6026BB809423}"/>
              </a:ext>
            </a:extLst>
          </p:cNvPr>
          <p:cNvCxnSpPr>
            <a:cxnSpLocks/>
            <a:stCxn id="2" idx="3"/>
          </p:cNvCxnSpPr>
          <p:nvPr/>
        </p:nvCxnSpPr>
        <p:spPr>
          <a:xfrm>
            <a:off x="5230045" y="2903373"/>
            <a:ext cx="601260" cy="3758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E186DA0-F201-9B30-A9C5-5E5DE66221A4}"/>
              </a:ext>
            </a:extLst>
          </p:cNvPr>
          <p:cNvSpPr txBox="1"/>
          <p:nvPr/>
        </p:nvSpPr>
        <p:spPr>
          <a:xfrm>
            <a:off x="3096126" y="5153716"/>
            <a:ext cx="2210862" cy="3693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Negative</a:t>
            </a:r>
            <a:r>
              <a:rPr lang="en-US" dirty="0"/>
              <a:t> </a:t>
            </a:r>
            <a:r>
              <a:rPr lang="en-US" b="1" dirty="0">
                <a:solidFill>
                  <a:srgbClr val="FF0000"/>
                </a:solidFill>
              </a:rPr>
              <a:t>Numbers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C9D3D18-45C0-1394-E501-327A27043B81}"/>
              </a:ext>
            </a:extLst>
          </p:cNvPr>
          <p:cNvCxnSpPr>
            <a:stCxn id="9" idx="3"/>
          </p:cNvCxnSpPr>
          <p:nvPr/>
        </p:nvCxnSpPr>
        <p:spPr>
          <a:xfrm flipV="1">
            <a:off x="5306988" y="5013158"/>
            <a:ext cx="524317" cy="3252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6DE3B1C-657B-A8C4-298D-A1A8EB6F1E82}"/>
              </a:ext>
            </a:extLst>
          </p:cNvPr>
          <p:cNvCxnSpPr>
            <a:stCxn id="9" idx="3"/>
          </p:cNvCxnSpPr>
          <p:nvPr/>
        </p:nvCxnSpPr>
        <p:spPr>
          <a:xfrm>
            <a:off x="5306988" y="5338382"/>
            <a:ext cx="524317" cy="4167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0441984"/>
      </p:ext>
    </p:extLst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801442C8-46A0-4919-A788-38E2377D52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24345" y="759403"/>
            <a:ext cx="3798795" cy="758825"/>
          </a:xfrm>
        </p:spPr>
        <p:txBody>
          <a:bodyPr/>
          <a:lstStyle/>
          <a:p>
            <a:r>
              <a:rPr lang="en-US" altLang="en-US" dirty="0"/>
              <a:t>Instruction Sets</a:t>
            </a:r>
          </a:p>
        </p:txBody>
      </p:sp>
      <p:sp>
        <p:nvSpPr>
          <p:cNvPr id="16387" name="Rectangle 1224">
            <a:extLst>
              <a:ext uri="{FF2B5EF4-FFF2-40B4-BE49-F238E27FC236}">
                <a16:creationId xmlns:a16="http://schemas.microsoft.com/office/drawing/2014/main" id="{00EE4AA1-727C-4BD0-B409-D25D56C046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24345" y="1700213"/>
            <a:ext cx="10441420" cy="4957526"/>
          </a:xfrm>
        </p:spPr>
        <p:txBody>
          <a:bodyPr/>
          <a:lstStyle/>
          <a:p>
            <a:pPr marL="1371600" lvl="2" indent="-457200">
              <a:lnSpc>
                <a:spcPct val="80000"/>
              </a:lnSpc>
              <a:buFont typeface="Arial" panose="020B0604020202020204" pitchFamily="34" charset="0"/>
              <a:buAutoNum type="arabicPeriod" startAt="5"/>
            </a:pPr>
            <a:r>
              <a:rPr lang="en-US" altLang="en-US" b="1" dirty="0">
                <a:solidFill>
                  <a:schemeClr val="tx1"/>
                </a:solidFill>
              </a:rPr>
              <a:t>ROR</a:t>
            </a:r>
            <a:r>
              <a:rPr lang="en-US" altLang="en-US" dirty="0">
                <a:solidFill>
                  <a:schemeClr val="tx1"/>
                </a:solidFill>
              </a:rPr>
              <a:t> R0,R0,#4 Rotate right (Bit rotate with wrap-around)</a:t>
            </a:r>
          </a:p>
          <a:p>
            <a:pPr marL="1371600" lvl="2" indent="-457200">
              <a:lnSpc>
                <a:spcPct val="80000"/>
              </a:lnSpc>
              <a:buFont typeface="Arial" panose="020B0604020202020204" pitchFamily="34" charset="0"/>
              <a:buAutoNum type="arabicPeriod" startAt="5"/>
            </a:pPr>
            <a:endParaRPr lang="en-US" altLang="en-US" dirty="0">
              <a:solidFill>
                <a:schemeClr val="tx1"/>
              </a:solidFill>
            </a:endParaRPr>
          </a:p>
          <a:p>
            <a:pPr marL="1371600" lvl="2" indent="-457200">
              <a:lnSpc>
                <a:spcPct val="80000"/>
              </a:lnSpc>
              <a:buFont typeface="Arial" panose="020B0604020202020204" pitchFamily="34" charset="0"/>
              <a:buAutoNum type="arabicPeriod" startAt="5"/>
            </a:pPr>
            <a:endParaRPr lang="en-US" altLang="en-US" dirty="0">
              <a:solidFill>
                <a:schemeClr val="tx1"/>
              </a:solidFill>
            </a:endParaRPr>
          </a:p>
          <a:p>
            <a:pPr marL="1371600" lvl="2" indent="-457200">
              <a:lnSpc>
                <a:spcPct val="80000"/>
              </a:lnSpc>
              <a:buFont typeface="Arial" panose="020B0604020202020204" pitchFamily="34" charset="0"/>
              <a:buAutoNum type="arabicPeriod" startAt="5"/>
            </a:pPr>
            <a:endParaRPr lang="en-US" altLang="en-US" dirty="0">
              <a:solidFill>
                <a:schemeClr val="tx1"/>
              </a:solidFill>
            </a:endParaRPr>
          </a:p>
          <a:p>
            <a:pPr marL="1371600" lvl="2" indent="-457200">
              <a:lnSpc>
                <a:spcPct val="80000"/>
              </a:lnSpc>
              <a:buFont typeface="Arial" panose="020B0604020202020204" pitchFamily="34" charset="0"/>
              <a:buAutoNum type="arabicPeriod" startAt="5"/>
            </a:pPr>
            <a:endParaRPr lang="en-US" altLang="en-US" dirty="0">
              <a:solidFill>
                <a:schemeClr val="tx1"/>
              </a:solidFill>
            </a:endParaRPr>
          </a:p>
          <a:p>
            <a:pPr marL="1371600" lvl="2" indent="-457200">
              <a:lnSpc>
                <a:spcPct val="80000"/>
              </a:lnSpc>
              <a:buFont typeface="Arial" panose="020B0604020202020204" pitchFamily="34" charset="0"/>
              <a:buAutoNum type="arabicPeriod" startAt="5"/>
            </a:pPr>
            <a:endParaRPr lang="en-US" altLang="en-US" dirty="0">
              <a:solidFill>
                <a:schemeClr val="tx1"/>
              </a:solidFill>
            </a:endParaRPr>
          </a:p>
          <a:p>
            <a:pPr marL="1371600" lvl="2" indent="-457200">
              <a:lnSpc>
                <a:spcPct val="80000"/>
              </a:lnSpc>
              <a:buFont typeface="Arial" panose="020B0604020202020204" pitchFamily="34" charset="0"/>
              <a:buAutoNum type="arabicPeriod" startAt="5"/>
            </a:pPr>
            <a:endParaRPr lang="en-US" altLang="en-US" dirty="0">
              <a:solidFill>
                <a:schemeClr val="tx1"/>
              </a:solidFill>
            </a:endParaRPr>
          </a:p>
          <a:p>
            <a:pPr marL="1371600" lvl="2" indent="-457200">
              <a:lnSpc>
                <a:spcPct val="80000"/>
              </a:lnSpc>
              <a:buFont typeface="Arial" panose="020B0604020202020204" pitchFamily="34" charset="0"/>
              <a:buAutoNum type="arabicPeriod" startAt="5"/>
            </a:pPr>
            <a:endParaRPr lang="en-US" altLang="en-US" dirty="0">
              <a:solidFill>
                <a:schemeClr val="tx1"/>
              </a:solidFill>
            </a:endParaRPr>
          </a:p>
          <a:p>
            <a:pPr marL="1371600" lvl="2" indent="-457200">
              <a:lnSpc>
                <a:spcPct val="80000"/>
              </a:lnSpc>
              <a:buFont typeface="Arial" panose="020B0604020202020204" pitchFamily="34" charset="0"/>
              <a:buAutoNum type="arabicPeriod" startAt="5"/>
            </a:pPr>
            <a:r>
              <a:rPr lang="en-US" altLang="en-US" b="1" dirty="0">
                <a:solidFill>
                  <a:schemeClr val="tx1"/>
                </a:solidFill>
              </a:rPr>
              <a:t>RRX</a:t>
            </a:r>
            <a:r>
              <a:rPr lang="en-US" altLang="en-US" dirty="0">
                <a:solidFill>
                  <a:schemeClr val="tx1"/>
                </a:solidFill>
              </a:rPr>
              <a:t> R0,R0,#1 Rotate Right Extended (33-bit rotate with wrap-around through carry bit)</a:t>
            </a:r>
          </a:p>
          <a:p>
            <a:pPr marL="1371600" lvl="2" indent="-457200">
              <a:lnSpc>
                <a:spcPct val="80000"/>
              </a:lnSpc>
              <a:buFont typeface="Arial" panose="020B0604020202020204" pitchFamily="34" charset="0"/>
              <a:buAutoNum type="arabicPeriod" startAt="5"/>
            </a:pPr>
            <a:endParaRPr lang="en-US" altLang="en-US" dirty="0"/>
          </a:p>
        </p:txBody>
      </p:sp>
      <p:pic>
        <p:nvPicPr>
          <p:cNvPr id="2" name="Picture 1" descr="Screen Shot 2015-10-17 at 12.32.59 PM.png">
            <a:extLst>
              <a:ext uri="{FF2B5EF4-FFF2-40B4-BE49-F238E27FC236}">
                <a16:creationId xmlns:a16="http://schemas.microsoft.com/office/drawing/2014/main" id="{7E165821-6D53-49CD-ADB6-2E664AAEA6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8990" y="2105160"/>
            <a:ext cx="5493205" cy="1708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 descr="Screen Shot 2015-10-17 at 12.33.07 PM.png">
            <a:extLst>
              <a:ext uri="{FF2B5EF4-FFF2-40B4-BE49-F238E27FC236}">
                <a16:creationId xmlns:a16="http://schemas.microsoft.com/office/drawing/2014/main" id="{84BEAEB7-C698-48C0-8604-4045EF9B72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8991" y="4600063"/>
            <a:ext cx="5588000" cy="157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74661945"/>
      </p:ext>
    </p:extLst>
  </p:cSld>
  <p:clrMapOvr>
    <a:masterClrMapping/>
  </p:clrMapOvr>
  <p:transition spd="slow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944537" y="758194"/>
            <a:ext cx="9194074" cy="586554"/>
          </a:xfrm>
        </p:spPr>
        <p:txBody>
          <a:bodyPr>
            <a:normAutofit/>
          </a:bodyPr>
          <a:lstStyle/>
          <a:p>
            <a:r>
              <a:rPr lang="en-US" dirty="0"/>
              <a:t>3 PLACES WHERE SHIFT CAN BE USED</a:t>
            </a:r>
          </a:p>
        </p:txBody>
      </p:sp>
      <p:sp>
        <p:nvSpPr>
          <p:cNvPr id="7" name="Rectangle 6"/>
          <p:cNvSpPr/>
          <p:nvPr/>
        </p:nvSpPr>
        <p:spPr>
          <a:xfrm>
            <a:off x="944537" y="1557246"/>
            <a:ext cx="10353116" cy="39857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tabLst>
                <a:tab pos="330200" algn="l"/>
                <a:tab pos="628650" algn="l"/>
                <a:tab pos="2628900" algn="l"/>
              </a:tabLst>
            </a:pPr>
            <a:r>
              <a:rPr lang="en-US" sz="2000" b="1" dirty="0">
                <a:solidFill>
                  <a:srgbClr val="000000"/>
                </a:solidFill>
                <a:latin typeface="+mj-lt"/>
                <a:ea typeface="Calibri"/>
                <a:cs typeface="Calibri"/>
              </a:rPr>
              <a:t>ROR	R0,R1,R2	</a:t>
            </a:r>
            <a:r>
              <a:rPr lang="en-US" sz="2000" b="1" dirty="0">
                <a:solidFill>
                  <a:srgbClr val="000000"/>
                </a:solidFill>
                <a:latin typeface="+mj-lt"/>
                <a:ea typeface="Arial"/>
                <a:cs typeface="Calibri"/>
              </a:rPr>
              <a:t>// R0 </a:t>
            </a:r>
            <a:r>
              <a:rPr lang="en-US" sz="2000" b="1" dirty="0">
                <a:solidFill>
                  <a:srgbClr val="000000"/>
                </a:solidFill>
                <a:latin typeface="+mj-lt"/>
                <a:ea typeface="Arial"/>
                <a:cs typeface="Calibri"/>
                <a:sym typeface="Wingdings" panose="05000000000000000000" pitchFamily="2" charset="2"/>
              </a:rPr>
              <a:t>= R1 rotated right R2 times</a:t>
            </a:r>
          </a:p>
          <a:p>
            <a:pPr>
              <a:lnSpc>
                <a:spcPct val="115000"/>
              </a:lnSpc>
              <a:tabLst>
                <a:tab pos="330200" algn="l"/>
                <a:tab pos="628650" algn="l"/>
                <a:tab pos="2628900" algn="l"/>
              </a:tabLst>
            </a:pPr>
            <a:endParaRPr lang="en-US" sz="2000" b="1" dirty="0">
              <a:solidFill>
                <a:srgbClr val="000000"/>
              </a:solidFill>
              <a:latin typeface="+mj-lt"/>
              <a:ea typeface="Arial"/>
              <a:cs typeface="Calibri"/>
              <a:sym typeface="Wingdings" panose="05000000000000000000" pitchFamily="2" charset="2"/>
            </a:endParaRPr>
          </a:p>
          <a:p>
            <a:pPr>
              <a:lnSpc>
                <a:spcPct val="115000"/>
              </a:lnSpc>
              <a:tabLst>
                <a:tab pos="330200" algn="l"/>
                <a:tab pos="628650" algn="l"/>
                <a:tab pos="2628900" algn="l"/>
              </a:tabLst>
            </a:pPr>
            <a:endParaRPr lang="en-US" sz="2000" b="1" dirty="0">
              <a:solidFill>
                <a:srgbClr val="000000"/>
              </a:solidFill>
              <a:latin typeface="+mj-lt"/>
              <a:ea typeface="Arial"/>
              <a:cs typeface="Calibri"/>
              <a:sym typeface="Wingdings" panose="05000000000000000000" pitchFamily="2" charset="2"/>
            </a:endParaRPr>
          </a:p>
          <a:p>
            <a:pPr>
              <a:lnSpc>
                <a:spcPct val="115000"/>
              </a:lnSpc>
              <a:tabLst>
                <a:tab pos="330200" algn="l"/>
                <a:tab pos="628650" algn="l"/>
                <a:tab pos="2628900" algn="l"/>
              </a:tabLst>
            </a:pPr>
            <a:endParaRPr lang="en-US" sz="2000" b="1" dirty="0">
              <a:solidFill>
                <a:srgbClr val="000000"/>
              </a:solidFill>
              <a:latin typeface="+mj-lt"/>
              <a:ea typeface="Arial"/>
              <a:cs typeface="Calibri"/>
              <a:sym typeface="Wingdings" panose="05000000000000000000" pitchFamily="2" charset="2"/>
            </a:endParaRPr>
          </a:p>
          <a:p>
            <a:pPr>
              <a:lnSpc>
                <a:spcPct val="115000"/>
              </a:lnSpc>
              <a:tabLst>
                <a:tab pos="330200" algn="l"/>
                <a:tab pos="628650" algn="l"/>
                <a:tab pos="2628900" algn="l"/>
              </a:tabLst>
            </a:pPr>
            <a:endParaRPr lang="en-US" sz="2000" b="1" dirty="0">
              <a:solidFill>
                <a:srgbClr val="000000"/>
              </a:solidFill>
              <a:latin typeface="+mj-lt"/>
              <a:ea typeface="Arial"/>
              <a:cs typeface="Calibri"/>
              <a:sym typeface="Wingdings" panose="05000000000000000000" pitchFamily="2" charset="2"/>
            </a:endParaRPr>
          </a:p>
          <a:p>
            <a:pPr>
              <a:lnSpc>
                <a:spcPct val="115000"/>
              </a:lnSpc>
              <a:tabLst>
                <a:tab pos="330200" algn="l"/>
                <a:tab pos="628650" algn="l"/>
                <a:tab pos="2628900" algn="l"/>
              </a:tabLst>
            </a:pPr>
            <a:r>
              <a:rPr lang="en-US" sz="2000" b="1" dirty="0">
                <a:solidFill>
                  <a:srgbClr val="000000"/>
                </a:solidFill>
                <a:latin typeface="+mj-lt"/>
                <a:ea typeface="Arial"/>
                <a:cs typeface="Calibri"/>
                <a:sym typeface="Wingdings" panose="05000000000000000000" pitchFamily="2" charset="2"/>
              </a:rPr>
              <a:t>ADD	R0,R1,R2,LSR 3	// R0 = R1 + (R2 &gt;&gt; 3) </a:t>
            </a:r>
          </a:p>
          <a:p>
            <a:pPr>
              <a:lnSpc>
                <a:spcPct val="115000"/>
              </a:lnSpc>
              <a:tabLst>
                <a:tab pos="330200" algn="l"/>
                <a:tab pos="628650" algn="l"/>
                <a:tab pos="2628900" algn="l"/>
              </a:tabLst>
            </a:pPr>
            <a:endParaRPr lang="en-US" sz="2000" b="1" dirty="0">
              <a:solidFill>
                <a:srgbClr val="000000"/>
              </a:solidFill>
              <a:latin typeface="+mj-lt"/>
              <a:ea typeface="Arial"/>
              <a:cs typeface="Calibri"/>
              <a:sym typeface="Wingdings" panose="05000000000000000000" pitchFamily="2" charset="2"/>
            </a:endParaRPr>
          </a:p>
          <a:p>
            <a:pPr>
              <a:lnSpc>
                <a:spcPct val="115000"/>
              </a:lnSpc>
              <a:tabLst>
                <a:tab pos="330200" algn="l"/>
                <a:tab pos="628650" algn="l"/>
                <a:tab pos="2628900" algn="l"/>
              </a:tabLst>
            </a:pPr>
            <a:endParaRPr lang="en-US" sz="2000" b="1" dirty="0">
              <a:solidFill>
                <a:srgbClr val="000000"/>
              </a:solidFill>
              <a:latin typeface="+mj-lt"/>
              <a:ea typeface="Arial"/>
              <a:cs typeface="Calibri"/>
              <a:sym typeface="Wingdings" panose="05000000000000000000" pitchFamily="2" charset="2"/>
            </a:endParaRPr>
          </a:p>
          <a:p>
            <a:pPr>
              <a:lnSpc>
                <a:spcPct val="115000"/>
              </a:lnSpc>
              <a:tabLst>
                <a:tab pos="330200" algn="l"/>
                <a:tab pos="628650" algn="l"/>
                <a:tab pos="2628900" algn="l"/>
              </a:tabLst>
            </a:pPr>
            <a:endParaRPr lang="en-US" sz="2000" b="1" dirty="0">
              <a:solidFill>
                <a:srgbClr val="000000"/>
              </a:solidFill>
              <a:latin typeface="+mj-lt"/>
              <a:ea typeface="Arial"/>
              <a:cs typeface="Calibri"/>
              <a:sym typeface="Wingdings" panose="05000000000000000000" pitchFamily="2" charset="2"/>
            </a:endParaRPr>
          </a:p>
          <a:p>
            <a:pPr>
              <a:lnSpc>
                <a:spcPct val="115000"/>
              </a:lnSpc>
              <a:tabLst>
                <a:tab pos="330200" algn="l"/>
                <a:tab pos="628650" algn="l"/>
                <a:tab pos="2628900" algn="l"/>
              </a:tabLst>
            </a:pPr>
            <a:endParaRPr lang="en-US" sz="2000" b="1" dirty="0">
              <a:solidFill>
                <a:srgbClr val="000000"/>
              </a:solidFill>
              <a:latin typeface="+mj-lt"/>
              <a:ea typeface="Arial"/>
              <a:cs typeface="Calibri"/>
              <a:sym typeface="Wingdings" panose="05000000000000000000" pitchFamily="2" charset="2"/>
            </a:endParaRPr>
          </a:p>
          <a:p>
            <a:pPr>
              <a:lnSpc>
                <a:spcPct val="115000"/>
              </a:lnSpc>
              <a:tabLst>
                <a:tab pos="330200" algn="l"/>
                <a:tab pos="628650" algn="l"/>
                <a:tab pos="2628900" algn="l"/>
              </a:tabLst>
            </a:pPr>
            <a:r>
              <a:rPr lang="en-US" sz="2000" b="1" dirty="0">
                <a:solidFill>
                  <a:srgbClr val="000000"/>
                </a:solidFill>
                <a:latin typeface="+mj-lt"/>
                <a:ea typeface="Arial"/>
                <a:cs typeface="Calibri"/>
                <a:sym typeface="Wingdings" panose="05000000000000000000" pitchFamily="2" charset="2"/>
              </a:rPr>
              <a:t>STR	R0,[R1,R2,LSL 2]	// R0 = mem</a:t>
            </a:r>
            <a:r>
              <a:rPr lang="en-US" sz="2000" b="1" baseline="-25000" dirty="0">
                <a:solidFill>
                  <a:srgbClr val="000000"/>
                </a:solidFill>
                <a:latin typeface="+mj-lt"/>
                <a:ea typeface="Arial"/>
                <a:cs typeface="Calibri"/>
                <a:sym typeface="Wingdings" panose="05000000000000000000" pitchFamily="2" charset="2"/>
              </a:rPr>
              <a:t>32</a:t>
            </a:r>
            <a:r>
              <a:rPr lang="en-US" sz="2000" b="1" dirty="0">
                <a:solidFill>
                  <a:srgbClr val="000000"/>
                </a:solidFill>
                <a:latin typeface="+mj-lt"/>
                <a:ea typeface="Arial"/>
                <a:cs typeface="Calibri"/>
                <a:sym typeface="Wingdings" panose="05000000000000000000" pitchFamily="2" charset="2"/>
              </a:rPr>
              <a:t>[R1+(R2*4)]</a:t>
            </a:r>
            <a:endParaRPr lang="en-US" sz="2000" b="1" dirty="0">
              <a:solidFill>
                <a:srgbClr val="000000"/>
              </a:solidFill>
              <a:latin typeface="+mj-lt"/>
              <a:ea typeface="Arial"/>
              <a:cs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38596" y="2146842"/>
            <a:ext cx="4915890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lvl="0"/>
            <a:r>
              <a:rPr lang="en-US" sz="2000" dirty="0">
                <a:solidFill>
                  <a:srgbClr val="000000"/>
                </a:solidFill>
                <a:ea typeface="Calibri"/>
                <a:cs typeface="Calibri"/>
              </a:rPr>
              <a:t>1. As a regular shift </a:t>
            </a:r>
            <a:r>
              <a:rPr lang="en-US" sz="2000" b="1" i="1" dirty="0">
                <a:solidFill>
                  <a:srgbClr val="000000"/>
                </a:solidFill>
                <a:ea typeface="Calibri"/>
                <a:cs typeface="Calibri"/>
              </a:rPr>
              <a:t>instruction</a:t>
            </a:r>
            <a:r>
              <a:rPr lang="en-US" sz="2000" dirty="0">
                <a:solidFill>
                  <a:srgbClr val="000000"/>
                </a:solidFill>
                <a:ea typeface="Calibri"/>
                <a:cs typeface="Calibri"/>
              </a:rPr>
              <a:t>. </a:t>
            </a:r>
            <a:endParaRPr lang="en-US" sz="2000" dirty="0">
              <a:solidFill>
                <a:srgbClr val="000000"/>
              </a:solidFill>
              <a:latin typeface="Arial"/>
              <a:ea typeface="Arial"/>
              <a:cs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38596" y="3959156"/>
            <a:ext cx="6181171" cy="70788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2575" indent="-282575"/>
            <a:r>
              <a:rPr lang="en-US" sz="2000" dirty="0">
                <a:solidFill>
                  <a:srgbClr val="000000"/>
                </a:solidFill>
                <a:ea typeface="Calibri"/>
                <a:cs typeface="Calibri"/>
              </a:rPr>
              <a:t>2. To provide a pre-shifted copy of the value in a register as the last operand of an instruction.</a:t>
            </a:r>
            <a:endParaRPr lang="en-US" sz="2000" dirty="0">
              <a:solidFill>
                <a:srgbClr val="000000"/>
              </a:solidFill>
              <a:latin typeface="Arial"/>
              <a:ea typeface="Arial"/>
              <a:cs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372495" y="5625180"/>
            <a:ext cx="5513372" cy="70788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28600" indent="-228600"/>
            <a:r>
              <a:rPr lang="en-US" sz="2000" dirty="0">
                <a:solidFill>
                  <a:srgbClr val="000000"/>
                </a:solidFill>
                <a:ea typeface="Calibri"/>
                <a:cs typeface="Calibri"/>
              </a:rPr>
              <a:t>3. To multiply a subscript (R2) by the # of bytes per element in a subscripted array reference.</a:t>
            </a:r>
            <a:endParaRPr lang="en-US" sz="2000" dirty="0">
              <a:solidFill>
                <a:srgbClr val="000000"/>
              </a:solidFill>
              <a:latin typeface="Arial"/>
              <a:ea typeface="Arial"/>
              <a:cs typeface="Calibr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038596" y="1616823"/>
            <a:ext cx="609600" cy="331749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2458582" y="3378397"/>
            <a:ext cx="1154901" cy="323319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2518741" y="5155629"/>
            <a:ext cx="1094742" cy="294676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6265544" y="2146842"/>
            <a:ext cx="4278260" cy="110799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tIns="91440" bIns="91440" rtlCol="0">
            <a:spAutoFit/>
          </a:bodyPr>
          <a:lstStyle/>
          <a:p>
            <a:pPr marL="1085850"/>
            <a:r>
              <a:rPr lang="en-US" sz="2000" dirty="0">
                <a:solidFill>
                  <a:srgbClr val="000000"/>
                </a:solidFill>
                <a:ea typeface="Calibri"/>
                <a:cs typeface="Calibri"/>
              </a:rPr>
              <a:t>The only context in which the shift count may be a variable (e.g., R2 here).</a:t>
            </a:r>
            <a:endParaRPr lang="en-US" sz="2000" dirty="0">
              <a:solidFill>
                <a:srgbClr val="000000"/>
              </a:solidFill>
              <a:latin typeface="Arial"/>
              <a:ea typeface="Arial"/>
              <a:cs typeface="Calibri"/>
            </a:endParaRPr>
          </a:p>
        </p:txBody>
      </p:sp>
      <p:pic>
        <p:nvPicPr>
          <p:cNvPr id="17" name="Picture 4" descr="http://www.aamu.edu/campuslife/living-on-campus/residentialLife/SiteAssets/pages/default/Warning_sign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324600" y="2281740"/>
            <a:ext cx="971826" cy="83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/>
          <p:cNvSpPr txBox="1"/>
          <p:nvPr/>
        </p:nvSpPr>
        <p:spPr>
          <a:xfrm>
            <a:off x="7792451" y="4667042"/>
            <a:ext cx="4026568" cy="101566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tIns="91440" bIns="91440" rtlCol="0">
            <a:spAutoFit/>
          </a:bodyPr>
          <a:lstStyle/>
          <a:p>
            <a:pPr marL="1027113" lvl="1"/>
            <a:r>
              <a:rPr lang="en-US" dirty="0"/>
              <a:t>Only a Logical Shift Left (LSL) by </a:t>
            </a:r>
            <a:r>
              <a:rPr lang="en-US" b="1" dirty="0">
                <a:solidFill>
                  <a:srgbClr val="FF0000"/>
                </a:solidFill>
              </a:rPr>
              <a:t>1, 2 or 3 </a:t>
            </a:r>
            <a:r>
              <a:rPr lang="en-US" dirty="0"/>
              <a:t>bits may be used in this context.</a:t>
            </a:r>
          </a:p>
        </p:txBody>
      </p:sp>
      <p:pic>
        <p:nvPicPr>
          <p:cNvPr id="19" name="Picture 4" descr="http://www.aamu.edu/campuslife/living-on-campus/residentialLife/SiteAssets/pages/default/Warning_sign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824846" y="4738895"/>
            <a:ext cx="971826" cy="83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86346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36516" y="737161"/>
            <a:ext cx="8143316" cy="659840"/>
          </a:xfrm>
        </p:spPr>
        <p:txBody>
          <a:bodyPr>
            <a:normAutofit/>
          </a:bodyPr>
          <a:lstStyle/>
          <a:p>
            <a:r>
              <a:rPr lang="en-US" dirty="0"/>
              <a:t>Constants Dependent on Sign of R0</a:t>
            </a:r>
            <a:endParaRPr lang="en-US" sz="3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442411" y="1398339"/>
          <a:ext cx="6456946" cy="521234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709612">
                  <a:extLst>
                    <a:ext uri="{9D8B030D-6E8A-4147-A177-3AD203B41FA5}">
                      <a16:colId xmlns:a16="http://schemas.microsoft.com/office/drawing/2014/main" val="2947290422"/>
                    </a:ext>
                  </a:extLst>
                </a:gridCol>
                <a:gridCol w="1690035">
                  <a:extLst>
                    <a:ext uri="{9D8B030D-6E8A-4147-A177-3AD203B41FA5}">
                      <a16:colId xmlns:a16="http://schemas.microsoft.com/office/drawing/2014/main" val="4119301694"/>
                    </a:ext>
                  </a:extLst>
                </a:gridCol>
                <a:gridCol w="2057299">
                  <a:extLst>
                    <a:ext uri="{9D8B030D-6E8A-4147-A177-3AD203B41FA5}">
                      <a16:colId xmlns:a16="http://schemas.microsoft.com/office/drawing/2014/main" val="3994573705"/>
                    </a:ext>
                  </a:extLst>
                </a:gridCol>
              </a:tblGrid>
              <a:tr h="392674">
                <a:tc rowSpan="2"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</a:pPr>
                      <a:r>
                        <a:rPr lang="en-US" i="1" dirty="0">
                          <a:solidFill>
                            <a:schemeClr val="bg1"/>
                          </a:solidFill>
                        </a:rPr>
                        <a:t>Instruction Sequence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i="1" dirty="0">
                          <a:solidFill>
                            <a:schemeClr val="bg1"/>
                          </a:solidFill>
                        </a:rPr>
                        <a:t>Result left in R1:</a:t>
                      </a: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i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036141"/>
                  </a:ext>
                </a:extLst>
              </a:tr>
              <a:tr h="580943">
                <a:tc vMerge="1">
                  <a:txBody>
                    <a:bodyPr/>
                    <a:lstStyle/>
                    <a:p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When R0 &lt; 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When R0 ≥ 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6546907"/>
                  </a:ext>
                </a:extLst>
              </a:tr>
              <a:tr h="392674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LSR	R1,R0,31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+1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5627037"/>
                  </a:ext>
                </a:extLst>
              </a:tr>
              <a:tr h="392674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ASR	R1,R0,31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2883152"/>
                  </a:ext>
                </a:extLst>
              </a:tr>
              <a:tr h="677766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MVN	R1,R0,ASR 31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6522944"/>
                  </a:ext>
                </a:extLst>
              </a:tr>
              <a:tr h="677766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MVN	R1,R0,LSR 31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6483288"/>
                  </a:ext>
                </a:extLst>
              </a:tr>
              <a:tr h="742316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LSR	R1,R0,31</a:t>
                      </a:r>
                    </a:p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LSL	R1,R1,</a:t>
                      </a:r>
                      <a:r>
                        <a:rPr lang="en-US" sz="180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+2</a:t>
                      </a:r>
                      <a:r>
                        <a:rPr lang="en-US" baseline="30000" dirty="0"/>
                        <a:t>k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2056085"/>
                  </a:ext>
                </a:extLst>
              </a:tr>
              <a:tr h="677766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ASR	R1,R0,31</a:t>
                      </a:r>
                    </a:p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LSL	R1,R1,</a:t>
                      </a:r>
                      <a:r>
                        <a:rPr lang="en-US" sz="180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-2</a:t>
                      </a:r>
                      <a:r>
                        <a:rPr lang="en-US" sz="1800" i="1" kern="1200" baseline="300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1753069"/>
                  </a:ext>
                </a:extLst>
              </a:tr>
              <a:tr h="677766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ASR	R1,R0,</a:t>
                      </a:r>
                      <a:r>
                        <a:rPr lang="en-US" sz="180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k-1</a:t>
                      </a:r>
                      <a:endParaRPr lang="en-US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LSR	R1,R1,</a:t>
                      </a:r>
                      <a:r>
                        <a:rPr lang="en-US" sz="180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32-k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+2</a:t>
                      </a:r>
                      <a:r>
                        <a:rPr lang="en-US" sz="1800" i="1" kern="1200" baseline="300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69781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025747" y="2401166"/>
            <a:ext cx="3055645" cy="338554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b="1" dirty="0" err="1">
                <a:solidFill>
                  <a:srgbClr val="00B0F0"/>
                </a:solidFill>
              </a:rPr>
              <a:t>CPULator</a:t>
            </a:r>
            <a:r>
              <a:rPr lang="en-US" sz="1600" b="1" dirty="0">
                <a:solidFill>
                  <a:srgbClr val="00B0F0"/>
                </a:solidFill>
              </a:rPr>
              <a:t>: </a:t>
            </a:r>
            <a:r>
              <a:rPr lang="en-US" sz="1600" b="1" dirty="0">
                <a:solidFill>
                  <a:srgbClr val="FF0000"/>
                </a:solidFill>
              </a:rPr>
              <a:t>10 </a:t>
            </a:r>
            <a:r>
              <a:rPr lang="en-US" sz="1600" b="1" dirty="0" err="1">
                <a:solidFill>
                  <a:srgbClr val="FF0000"/>
                </a:solidFill>
              </a:rPr>
              <a:t>LSRexamples.s</a:t>
            </a:r>
            <a:endParaRPr lang="en-US" sz="1600" b="1" dirty="0">
              <a:solidFill>
                <a:srgbClr val="FF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025747" y="3319576"/>
            <a:ext cx="2071401" cy="830997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b="1" dirty="0" err="1">
                <a:solidFill>
                  <a:srgbClr val="00B0F0"/>
                </a:solidFill>
              </a:rPr>
              <a:t>CPULator</a:t>
            </a:r>
            <a:r>
              <a:rPr lang="en-US" sz="1600" b="1" dirty="0">
                <a:solidFill>
                  <a:srgbClr val="00B0F0"/>
                </a:solidFill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FF0000"/>
                </a:solidFill>
              </a:rPr>
              <a:t>Experiment a bit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FF0000"/>
                </a:solidFill>
              </a:rPr>
              <a:t>Check if correct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7152" y="2062612"/>
            <a:ext cx="1698991" cy="30777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SIGNED VALUES!</a:t>
            </a:r>
          </a:p>
        </p:txBody>
      </p:sp>
    </p:spTree>
    <p:extLst>
      <p:ext uri="{BB962C8B-B14F-4D97-AF65-F5344CB8AC3E}">
        <p14:creationId xmlns:p14="http://schemas.microsoft.com/office/powerpoint/2010/main" val="27853522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Chapter 7</a:t>
            </a:r>
            <a:br>
              <a:rPr lang="en-US" dirty="0"/>
            </a:br>
            <a:r>
              <a:rPr lang="en-US" dirty="0"/>
              <a:t>Manipulating Bits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Part 3: 64-bit Shifts</a:t>
            </a:r>
          </a:p>
        </p:txBody>
      </p:sp>
    </p:spTree>
    <p:extLst>
      <p:ext uri="{BB962C8B-B14F-4D97-AF65-F5344CB8AC3E}">
        <p14:creationId xmlns:p14="http://schemas.microsoft.com/office/powerpoint/2010/main" val="4058599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ctangle 59">
            <a:extLst>
              <a:ext uri="{FF2B5EF4-FFF2-40B4-BE49-F238E27FC236}">
                <a16:creationId xmlns:a16="http://schemas.microsoft.com/office/drawing/2014/main" id="{1D07BC77-2E2E-4889-BEFC-598224BBB8A6}"/>
              </a:ext>
            </a:extLst>
          </p:cNvPr>
          <p:cNvSpPr/>
          <p:nvPr/>
        </p:nvSpPr>
        <p:spPr>
          <a:xfrm>
            <a:off x="9512836" y="4084119"/>
            <a:ext cx="419100" cy="381000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074A474-2359-4785-B72F-63F8A212D60B}"/>
              </a:ext>
            </a:extLst>
          </p:cNvPr>
          <p:cNvSpPr txBox="1"/>
          <p:nvPr/>
        </p:nvSpPr>
        <p:spPr>
          <a:xfrm>
            <a:off x="9576000" y="4097526"/>
            <a:ext cx="5334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0" y="3712553"/>
            <a:ext cx="5334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4800" y="3714653"/>
            <a:ext cx="5334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R0</a:t>
            </a:r>
          </a:p>
        </p:txBody>
      </p:sp>
      <p:grpSp>
        <p:nvGrpSpPr>
          <p:cNvPr id="52" name="Group 51"/>
          <p:cNvGrpSpPr/>
          <p:nvPr/>
        </p:nvGrpSpPr>
        <p:grpSpPr>
          <a:xfrm>
            <a:off x="5408400" y="4089953"/>
            <a:ext cx="3945600" cy="394500"/>
            <a:chOff x="3808200" y="1740900"/>
            <a:chExt cx="3945600" cy="394500"/>
          </a:xfrm>
        </p:grpSpPr>
        <p:sp>
          <p:nvSpPr>
            <p:cNvPr id="4" name="Rectangle 3"/>
            <p:cNvSpPr/>
            <p:nvPr/>
          </p:nvSpPr>
          <p:spPr>
            <a:xfrm>
              <a:off x="3810000" y="1752600"/>
              <a:ext cx="1905000" cy="381000"/>
            </a:xfrm>
            <a:prstGeom prst="rect">
              <a:avLst/>
            </a:prstGeom>
            <a:ln w="31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/>
            <p:cNvSpPr/>
            <p:nvPr/>
          </p:nvSpPr>
          <p:spPr>
            <a:xfrm>
              <a:off x="5848800" y="1752600"/>
              <a:ext cx="1905000" cy="381000"/>
            </a:xfrm>
            <a:prstGeom prst="rect">
              <a:avLst/>
            </a:prstGeom>
            <a:ln w="31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808200" y="1754400"/>
              <a:ext cx="533400" cy="381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  <a:r>
                <a:rPr lang="en-US" baseline="-25000" dirty="0"/>
                <a:t>63</a:t>
              </a:r>
              <a:endParaRPr lang="en-US" dirty="0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5181600" y="1754400"/>
              <a:ext cx="533400" cy="381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b</a:t>
              </a:r>
              <a:r>
                <a:rPr lang="en-US" baseline="-25000" dirty="0"/>
                <a:t>32</a:t>
              </a:r>
              <a:endParaRPr lang="en-US" dirty="0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5848800" y="1754400"/>
              <a:ext cx="533400" cy="381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  <a:r>
                <a:rPr lang="en-US" baseline="-25000" dirty="0"/>
                <a:t>31</a:t>
              </a:r>
              <a:endParaRPr lang="en-US" dirty="0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7215600" y="1740900"/>
              <a:ext cx="533400" cy="381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b</a:t>
              </a:r>
              <a:r>
                <a:rPr lang="en-US" baseline="-25000" dirty="0"/>
                <a:t>0</a:t>
              </a:r>
              <a:endParaRPr lang="en-US" dirty="0"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4345259" y="1764268"/>
              <a:ext cx="685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• • •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6400800" y="1752600"/>
              <a:ext cx="685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• • •</a:t>
              </a:r>
            </a:p>
          </p:txBody>
        </p:sp>
      </p:grpSp>
      <p:grpSp>
        <p:nvGrpSpPr>
          <p:cNvPr id="53" name="Group 52"/>
          <p:cNvGrpSpPr/>
          <p:nvPr/>
        </p:nvGrpSpPr>
        <p:grpSpPr>
          <a:xfrm>
            <a:off x="2057400" y="4988230"/>
            <a:ext cx="7296600" cy="382283"/>
            <a:chOff x="457200" y="2286000"/>
            <a:chExt cx="7296600" cy="382283"/>
          </a:xfrm>
        </p:grpSpPr>
        <p:sp>
          <p:nvSpPr>
            <p:cNvPr id="9" name="Rectangle 8"/>
            <p:cNvSpPr/>
            <p:nvPr/>
          </p:nvSpPr>
          <p:spPr>
            <a:xfrm>
              <a:off x="3810000" y="2286000"/>
              <a:ext cx="1905000" cy="381000"/>
            </a:xfrm>
            <a:prstGeom prst="rect">
              <a:avLst/>
            </a:prstGeom>
            <a:ln w="31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5848800" y="2286000"/>
              <a:ext cx="1905000" cy="381000"/>
            </a:xfrm>
            <a:prstGeom prst="rect">
              <a:avLst/>
            </a:prstGeom>
            <a:ln w="31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ight Arrow 10"/>
            <p:cNvSpPr/>
            <p:nvPr/>
          </p:nvSpPr>
          <p:spPr>
            <a:xfrm>
              <a:off x="3321600" y="2358150"/>
              <a:ext cx="304800" cy="220500"/>
            </a:xfrm>
            <a:prstGeom prst="rightArrow">
              <a:avLst/>
            </a:prstGeom>
            <a:noFill/>
            <a:ln w="31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457200" y="2291834"/>
              <a:ext cx="2590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tabLst>
                  <a:tab pos="742950" algn="l"/>
                </a:tabLst>
              </a:pPr>
              <a:r>
                <a:rPr lang="en-US" dirty="0"/>
                <a:t>LSLS	R0,R0,1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3810000" y="2298951"/>
              <a:ext cx="533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  <a:r>
                <a:rPr lang="en-US" baseline="-25000" dirty="0"/>
                <a:t>63</a:t>
              </a:r>
              <a:endParaRPr lang="en-US" dirty="0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5029200" y="2286000"/>
              <a:ext cx="6848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b</a:t>
              </a:r>
              <a:r>
                <a:rPr lang="en-US" baseline="-25000" dirty="0"/>
                <a:t>32</a:t>
              </a:r>
              <a:endParaRPr lang="en-US" dirty="0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7220400" y="2286000"/>
              <a:ext cx="533400" cy="381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b</a:t>
              </a:r>
              <a:r>
                <a:rPr lang="en-US" baseline="-25000" dirty="0"/>
                <a:t>0</a:t>
              </a:r>
              <a:r>
                <a:rPr lang="en-US" dirty="0"/>
                <a:t>0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5848800" y="2286000"/>
              <a:ext cx="8949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  <a:r>
                <a:rPr lang="en-US" baseline="-25000" dirty="0"/>
                <a:t>30</a:t>
              </a:r>
              <a:endParaRPr lang="en-US" dirty="0"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4343400" y="2294150"/>
              <a:ext cx="685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• • •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6400800" y="2297668"/>
              <a:ext cx="685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• • •</a:t>
              </a:r>
            </a:p>
          </p:txBody>
        </p:sp>
      </p:grpSp>
      <p:grpSp>
        <p:nvGrpSpPr>
          <p:cNvPr id="54" name="Group 53"/>
          <p:cNvGrpSpPr/>
          <p:nvPr/>
        </p:nvGrpSpPr>
        <p:grpSpPr>
          <a:xfrm>
            <a:off x="2057400" y="5863624"/>
            <a:ext cx="7296600" cy="389617"/>
            <a:chOff x="457200" y="2810783"/>
            <a:chExt cx="7296600" cy="389617"/>
          </a:xfrm>
        </p:grpSpPr>
        <p:sp>
          <p:nvSpPr>
            <p:cNvPr id="13" name="Rectangle 12"/>
            <p:cNvSpPr/>
            <p:nvPr/>
          </p:nvSpPr>
          <p:spPr>
            <a:xfrm>
              <a:off x="3810000" y="2819400"/>
              <a:ext cx="1905000" cy="381000"/>
            </a:xfrm>
            <a:prstGeom prst="rect">
              <a:avLst/>
            </a:prstGeom>
            <a:ln w="31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5848800" y="2819400"/>
              <a:ext cx="1905000" cy="381000"/>
            </a:xfrm>
            <a:prstGeom prst="rect">
              <a:avLst/>
            </a:prstGeom>
            <a:ln w="31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ight Arrow 14"/>
            <p:cNvSpPr/>
            <p:nvPr/>
          </p:nvSpPr>
          <p:spPr>
            <a:xfrm>
              <a:off x="3321600" y="2891550"/>
              <a:ext cx="304800" cy="220500"/>
            </a:xfrm>
            <a:prstGeom prst="rightArrow">
              <a:avLst/>
            </a:prstGeom>
            <a:noFill/>
            <a:ln w="31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457200" y="2824459"/>
              <a:ext cx="2590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tabLst>
                  <a:tab pos="742950" algn="l"/>
                </a:tabLst>
              </a:pPr>
              <a:r>
                <a:rPr lang="en-US" dirty="0"/>
                <a:t>ADC	R1,R1,R1</a:t>
              </a:r>
              <a:endParaRPr 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3810000" y="2811300"/>
              <a:ext cx="533400" cy="381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  <a:r>
                <a:rPr lang="en-US" baseline="-25000" dirty="0"/>
                <a:t>62</a:t>
              </a:r>
              <a:endParaRPr lang="en-US" dirty="0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4762500" y="2811300"/>
              <a:ext cx="9515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b</a:t>
              </a:r>
              <a:r>
                <a:rPr lang="en-US" baseline="-25000" dirty="0"/>
                <a:t>31</a:t>
              </a:r>
              <a:endParaRPr lang="en-US" dirty="0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7220400" y="2810783"/>
              <a:ext cx="533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b</a:t>
              </a:r>
              <a:r>
                <a:rPr lang="en-US" baseline="-25000" dirty="0"/>
                <a:t>0</a:t>
              </a:r>
              <a:r>
                <a:rPr lang="en-US" dirty="0"/>
                <a:t>0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5848800" y="2824459"/>
              <a:ext cx="8949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  <a:r>
                <a:rPr lang="en-US" baseline="-25000" dirty="0"/>
                <a:t>30</a:t>
              </a:r>
              <a:endParaRPr lang="en-US" dirty="0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4343400" y="2831068"/>
              <a:ext cx="685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• • •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6400800" y="2831068"/>
              <a:ext cx="685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• • •</a:t>
              </a: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6464" y="734158"/>
            <a:ext cx="8772968" cy="709632"/>
          </a:xfrm>
        </p:spPr>
        <p:txBody>
          <a:bodyPr>
            <a:normAutofit/>
          </a:bodyPr>
          <a:lstStyle/>
          <a:p>
            <a:r>
              <a:rPr lang="en-US" dirty="0"/>
              <a:t>64-BIT LOGICAL SHIFT LEFT (By 1 bit)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7ED20CC-6B56-46A5-8649-61DE8F1BF4B6}"/>
              </a:ext>
            </a:extLst>
          </p:cNvPr>
          <p:cNvSpPr txBox="1"/>
          <p:nvPr/>
        </p:nvSpPr>
        <p:spPr>
          <a:xfrm>
            <a:off x="9451882" y="3741851"/>
            <a:ext cx="5334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ED758411-082D-466F-A93B-DAC0784C3FAE}"/>
              </a:ext>
            </a:extLst>
          </p:cNvPr>
          <p:cNvSpPr/>
          <p:nvPr/>
        </p:nvSpPr>
        <p:spPr>
          <a:xfrm>
            <a:off x="9514867" y="4972920"/>
            <a:ext cx="419100" cy="381000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A96FDE5-4AC4-4917-BC11-5343053F7252}"/>
              </a:ext>
            </a:extLst>
          </p:cNvPr>
          <p:cNvSpPr txBox="1"/>
          <p:nvPr/>
        </p:nvSpPr>
        <p:spPr>
          <a:xfrm>
            <a:off x="9495477" y="4945313"/>
            <a:ext cx="5334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  <a:r>
              <a:rPr lang="en-US" baseline="-25000" dirty="0"/>
              <a:t>31</a:t>
            </a:r>
            <a:endParaRPr lang="en-US" dirty="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FE2E3A9C-8B76-4BB7-8B96-EF1E7FAA7292}"/>
              </a:ext>
            </a:extLst>
          </p:cNvPr>
          <p:cNvSpPr/>
          <p:nvPr/>
        </p:nvSpPr>
        <p:spPr>
          <a:xfrm>
            <a:off x="9507190" y="5848314"/>
            <a:ext cx="419100" cy="381000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88E75F2-279C-4BEC-8068-01D6030B3531}"/>
              </a:ext>
            </a:extLst>
          </p:cNvPr>
          <p:cNvSpPr txBox="1"/>
          <p:nvPr/>
        </p:nvSpPr>
        <p:spPr>
          <a:xfrm>
            <a:off x="9487800" y="5820707"/>
            <a:ext cx="5334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  <a:r>
              <a:rPr lang="en-US" baseline="-25000" dirty="0"/>
              <a:t>31</a:t>
            </a:r>
            <a:endParaRPr lang="en-US" dirty="0"/>
          </a:p>
        </p:txBody>
      </p:sp>
      <p:graphicFrame>
        <p:nvGraphicFramePr>
          <p:cNvPr id="69" name="Table 68">
            <a:extLst>
              <a:ext uri="{FF2B5EF4-FFF2-40B4-BE49-F238E27FC236}">
                <a16:creationId xmlns:a16="http://schemas.microsoft.com/office/drawing/2014/main" id="{2F3D4BB2-A60B-43CA-99BA-B4F0CF287EBE}"/>
              </a:ext>
            </a:extLst>
          </p:cNvPr>
          <p:cNvGraphicFramePr>
            <a:graphicFrameLocks noGrp="1"/>
          </p:cNvGraphicFramePr>
          <p:nvPr/>
        </p:nvGraphicFramePr>
        <p:xfrm>
          <a:off x="2324099" y="1637988"/>
          <a:ext cx="7886701" cy="2113130"/>
        </p:xfrm>
        <a:graphic>
          <a:graphicData uri="http://schemas.openxmlformats.org/drawingml/2006/table">
            <a:tbl>
              <a:tblPr firstRow="1" firstCol="1" bandRow="1"/>
              <a:tblGrid>
                <a:gridCol w="78867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13130"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60375" algn="l"/>
                          <a:tab pos="1379538" algn="l"/>
                          <a:tab pos="3208338" algn="l"/>
                        </a:tabLst>
                      </a:pPr>
                      <a:endParaRPr lang="en-US" sz="16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onsolas" panose="020B0609020204030204" pitchFamily="49" charset="0"/>
                      </a:endParaRPr>
                    </a:p>
                    <a:p>
                      <a:pPr marL="0" marR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60375" algn="l"/>
                          <a:tab pos="1379538" algn="l"/>
                          <a:tab pos="3208338" algn="l"/>
                        </a:tabLst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// uint64_t LSL64x1(uint64_t dword64)</a:t>
                      </a:r>
                      <a:endParaRPr lang="en-US" sz="16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onsolas" panose="020B0609020204030204" pitchFamily="49" charset="0"/>
                      </a:endParaRPr>
                    </a:p>
                    <a:p>
                      <a:pPr marL="0" marR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60375" algn="l"/>
                          <a:tab pos="1379538" algn="l"/>
                          <a:tab pos="3208338" algn="l"/>
                        </a:tabLst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 </a:t>
                      </a:r>
                      <a:endParaRPr lang="en-US" sz="16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onsolas" panose="020B0609020204030204" pitchFamily="49" charset="0"/>
                      </a:endParaRPr>
                    </a:p>
                    <a:p>
                      <a:pPr marL="0" marR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60375" algn="l"/>
                          <a:tab pos="1379538" algn="l"/>
                          <a:tab pos="3208338" algn="l"/>
                        </a:tabLst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LSL64x1:</a:t>
                      </a:r>
                      <a:endParaRPr lang="en-US" sz="16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onsolas" panose="020B0609020204030204" pitchFamily="49" charset="0"/>
                      </a:endParaRPr>
                    </a:p>
                    <a:p>
                      <a:pPr marL="0" marR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60375" algn="l"/>
                          <a:tab pos="1379538" algn="l"/>
                          <a:tab pos="3208338" algn="l"/>
                        </a:tabLst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	LSLS	R0,R0,1	// Shift LS 32 bits left by 1, capture C</a:t>
                      </a:r>
                      <a:endParaRPr lang="en-US" sz="16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onsolas" panose="020B0609020204030204" pitchFamily="49" charset="0"/>
                      </a:endParaRPr>
                    </a:p>
                    <a:p>
                      <a:pPr marL="0" marR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60375" algn="l"/>
                          <a:tab pos="1379538" algn="l"/>
                          <a:tab pos="3208338" algn="l"/>
                        </a:tabLst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	ADC	R1,R1,R1	// Shift MS 32 bits left by 1, add C</a:t>
                      </a:r>
                      <a:endParaRPr lang="en-US" sz="16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onsolas" panose="020B0609020204030204" pitchFamily="49" charset="0"/>
                      </a:endParaRPr>
                    </a:p>
                    <a:p>
                      <a:pPr marL="0" marR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60375" algn="l"/>
                          <a:tab pos="1379538" algn="l"/>
                          <a:tab pos="3208338" algn="l"/>
                        </a:tabLst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	BX	LR	// Return </a:t>
                      </a:r>
                    </a:p>
                    <a:p>
                      <a:pPr marL="0" marR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60375" algn="l"/>
                          <a:tab pos="1379538" algn="l"/>
                          <a:tab pos="3208338" algn="l"/>
                        </a:tabLst>
                      </a:pPr>
                      <a:endParaRPr lang="en-US" sz="16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Calibri"/>
                        <a:cs typeface="Consolas" panose="020B0609020204030204" pitchFamily="49" charset="0"/>
                      </a:endParaRPr>
                    </a:p>
                  </a:txBody>
                  <a:tcPr marL="55518" marR="55518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87589" y="2562726"/>
            <a:ext cx="2236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Only one example!</a:t>
            </a:r>
          </a:p>
        </p:txBody>
      </p:sp>
    </p:spTree>
    <p:extLst>
      <p:ext uri="{BB962C8B-B14F-4D97-AF65-F5344CB8AC3E}">
        <p14:creationId xmlns:p14="http://schemas.microsoft.com/office/powerpoint/2010/main" val="30898653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Chapter 7</a:t>
            </a:r>
            <a:br>
              <a:rPr lang="en-US" dirty="0"/>
            </a:br>
            <a:r>
              <a:rPr lang="en-US" dirty="0"/>
              <a:t>Manipulating Bits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Part 4: Bitwise Operations</a:t>
            </a:r>
          </a:p>
        </p:txBody>
      </p:sp>
    </p:spTree>
    <p:extLst>
      <p:ext uri="{BB962C8B-B14F-4D97-AF65-F5344CB8AC3E}">
        <p14:creationId xmlns:p14="http://schemas.microsoft.com/office/powerpoint/2010/main" val="8041646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4590" y="721894"/>
            <a:ext cx="6085915" cy="717885"/>
          </a:xfrm>
        </p:spPr>
        <p:txBody>
          <a:bodyPr/>
          <a:lstStyle/>
          <a:p>
            <a:r>
              <a:rPr lang="en-US" dirty="0"/>
              <a:t>Review: Bitwise Operators</a:t>
            </a:r>
          </a:p>
        </p:txBody>
      </p:sp>
      <p:graphicFrame>
        <p:nvGraphicFramePr>
          <p:cNvPr id="45" name="Table 44"/>
          <p:cNvGraphicFramePr>
            <a:graphicFrameLocks noGrp="1"/>
          </p:cNvGraphicFramePr>
          <p:nvPr/>
        </p:nvGraphicFramePr>
        <p:xfrm>
          <a:off x="2792729" y="1974685"/>
          <a:ext cx="6012181" cy="1870075"/>
        </p:xfrm>
        <a:graphic>
          <a:graphicData uri="http://schemas.openxmlformats.org/drawingml/2006/table">
            <a:tbl>
              <a:tblPr firstRow="1" firstCol="1" bandRow="1"/>
              <a:tblGrid>
                <a:gridCol w="1135061">
                  <a:extLst>
                    <a:ext uri="{9D8B030D-6E8A-4147-A177-3AD203B41FA5}">
                      <a16:colId xmlns:a16="http://schemas.microsoft.com/office/drawing/2014/main" val="2452404202"/>
                    </a:ext>
                  </a:extLst>
                </a:gridCol>
                <a:gridCol w="607808">
                  <a:extLst>
                    <a:ext uri="{9D8B030D-6E8A-4147-A177-3AD203B41FA5}">
                      <a16:colId xmlns:a16="http://schemas.microsoft.com/office/drawing/2014/main" val="3565367705"/>
                    </a:ext>
                  </a:extLst>
                </a:gridCol>
                <a:gridCol w="609276">
                  <a:extLst>
                    <a:ext uri="{9D8B030D-6E8A-4147-A177-3AD203B41FA5}">
                      <a16:colId xmlns:a16="http://schemas.microsoft.com/office/drawing/2014/main" val="2951595851"/>
                    </a:ext>
                  </a:extLst>
                </a:gridCol>
                <a:gridCol w="607808">
                  <a:extLst>
                    <a:ext uri="{9D8B030D-6E8A-4147-A177-3AD203B41FA5}">
                      <a16:colId xmlns:a16="http://schemas.microsoft.com/office/drawing/2014/main" val="2646633516"/>
                    </a:ext>
                  </a:extLst>
                </a:gridCol>
                <a:gridCol w="610738">
                  <a:extLst>
                    <a:ext uri="{9D8B030D-6E8A-4147-A177-3AD203B41FA5}">
                      <a16:colId xmlns:a16="http://schemas.microsoft.com/office/drawing/2014/main" val="2030632157"/>
                    </a:ext>
                  </a:extLst>
                </a:gridCol>
                <a:gridCol w="610738">
                  <a:extLst>
                    <a:ext uri="{9D8B030D-6E8A-4147-A177-3AD203B41FA5}">
                      <a16:colId xmlns:a16="http://schemas.microsoft.com/office/drawing/2014/main" val="194243522"/>
                    </a:ext>
                  </a:extLst>
                </a:gridCol>
                <a:gridCol w="609276">
                  <a:extLst>
                    <a:ext uri="{9D8B030D-6E8A-4147-A177-3AD203B41FA5}">
                      <a16:colId xmlns:a16="http://schemas.microsoft.com/office/drawing/2014/main" val="1165046985"/>
                    </a:ext>
                  </a:extLst>
                </a:gridCol>
                <a:gridCol w="610738">
                  <a:extLst>
                    <a:ext uri="{9D8B030D-6E8A-4147-A177-3AD203B41FA5}">
                      <a16:colId xmlns:a16="http://schemas.microsoft.com/office/drawing/2014/main" val="901581374"/>
                    </a:ext>
                  </a:extLst>
                </a:gridCol>
                <a:gridCol w="610738">
                  <a:extLst>
                    <a:ext uri="{9D8B030D-6E8A-4147-A177-3AD203B41FA5}">
                      <a16:colId xmlns:a16="http://schemas.microsoft.com/office/drawing/2014/main" val="213463203"/>
                    </a:ext>
                  </a:extLst>
                </a:gridCol>
              </a:tblGrid>
              <a:tr h="2875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 =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sz="2400" baseline="-25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sz="2400" baseline="-25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sz="2400" baseline="-25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sz="2400" baseline="-25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sz="2400" baseline="-25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sz="2400" baseline="-25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sz="2400" baseline="-25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sz="2400" baseline="-25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8099583"/>
                  </a:ext>
                </a:extLst>
              </a:tr>
              <a:tr h="2875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7401634"/>
                  </a:ext>
                </a:extLst>
              </a:tr>
              <a:tr h="2875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 =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sz="2400" baseline="-25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sz="2400" baseline="-25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sz="2400" baseline="-25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sz="2400" baseline="-25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sz="2400" baseline="-25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sz="2400" baseline="-25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sz="2400" baseline="-25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sz="2400" baseline="-25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6807101"/>
                  </a:ext>
                </a:extLst>
              </a:tr>
              <a:tr h="2875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4069400"/>
                  </a:ext>
                </a:extLst>
              </a:tr>
              <a:tr h="2875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result =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sz="2400" baseline="-25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sz="2400" baseline="-25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sz="2400" baseline="-25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sz="2400" baseline="-25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sz="2400" baseline="-25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sz="2400" baseline="-25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sz="2400" baseline="-25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sz="2400" baseline="-25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26574299"/>
                  </a:ext>
                </a:extLst>
              </a:tr>
            </a:tbl>
          </a:graphicData>
        </a:graphic>
      </p:graphicFrame>
      <p:sp>
        <p:nvSpPr>
          <p:cNvPr id="46" name="Rectangle 45"/>
          <p:cNvSpPr/>
          <p:nvPr/>
        </p:nvSpPr>
        <p:spPr>
          <a:xfrm>
            <a:off x="5853404" y="1866045"/>
            <a:ext cx="419878" cy="2174033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/>
          <p:cNvSpPr txBox="1"/>
          <p:nvPr/>
        </p:nvSpPr>
        <p:spPr>
          <a:xfrm>
            <a:off x="3250327" y="4574984"/>
            <a:ext cx="67118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Each bit position of the result depends </a:t>
            </a:r>
            <a:r>
              <a:rPr lang="en-US" sz="2400" u="sng" dirty="0"/>
              <a:t>only</a:t>
            </a:r>
            <a:r>
              <a:rPr lang="en-US" sz="2400" dirty="0"/>
              <a:t> on bits in the same position within the operands.</a:t>
            </a:r>
          </a:p>
        </p:txBody>
      </p:sp>
      <p:sp>
        <p:nvSpPr>
          <p:cNvPr id="3" name="Down Arrow 2"/>
          <p:cNvSpPr/>
          <p:nvPr/>
        </p:nvSpPr>
        <p:spPr>
          <a:xfrm>
            <a:off x="5988800" y="3210339"/>
            <a:ext cx="149087" cy="24847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4707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/>
          <p:cNvSpPr txBox="1"/>
          <p:nvPr/>
        </p:nvSpPr>
        <p:spPr>
          <a:xfrm>
            <a:off x="2247986" y="3283209"/>
            <a:ext cx="315018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Use bitwise AND to </a:t>
            </a:r>
            <a:r>
              <a:rPr lang="en-US" sz="2400" b="1" dirty="0">
                <a:solidFill>
                  <a:srgbClr val="FF0000"/>
                </a:solidFill>
              </a:rPr>
              <a:t>clear</a:t>
            </a:r>
            <a:r>
              <a:rPr lang="en-US" sz="2400" dirty="0"/>
              <a:t> a single bit to 0</a:t>
            </a:r>
          </a:p>
          <a:p>
            <a:pPr algn="ctr"/>
            <a:endParaRPr lang="en-US" sz="2400" dirty="0"/>
          </a:p>
          <a:p>
            <a:pPr algn="ctr"/>
            <a:endParaRPr lang="en-US" sz="2400" dirty="0"/>
          </a:p>
          <a:p>
            <a:pPr algn="ctr"/>
            <a:endParaRPr lang="en-US" sz="2400" dirty="0"/>
          </a:p>
          <a:p>
            <a:pPr algn="ctr"/>
            <a:endParaRPr lang="en-US" sz="2400" dirty="0"/>
          </a:p>
          <a:p>
            <a:pPr algn="ctr"/>
            <a:endParaRPr lang="en-US" sz="2400" dirty="0"/>
          </a:p>
          <a:p>
            <a:pPr algn="ctr"/>
            <a:r>
              <a:rPr lang="en-US" sz="2400" dirty="0"/>
              <a:t>bits &amp; ~(1 &lt;&lt; 2)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92197" y="2170555"/>
            <a:ext cx="2246243" cy="298174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8193158" y="1731302"/>
            <a:ext cx="2246243" cy="298174"/>
          </a:xfrm>
          <a:prstGeom prst="rect">
            <a:avLst/>
          </a:prstGeom>
          <a:solidFill>
            <a:srgbClr val="99FF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6411" y="737888"/>
            <a:ext cx="3005831" cy="666649"/>
          </a:xfrm>
        </p:spPr>
        <p:txBody>
          <a:bodyPr/>
          <a:lstStyle/>
          <a:p>
            <a:r>
              <a:rPr lang="en-US" dirty="0"/>
              <a:t>Bitwise AND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6308" y="1539256"/>
          <a:ext cx="1841235" cy="1246505"/>
        </p:xfrm>
        <a:graphic>
          <a:graphicData uri="http://schemas.openxmlformats.org/drawingml/2006/table">
            <a:tbl>
              <a:tblPr firstRow="1" firstCol="1" bandRow="1"/>
              <a:tblGrid>
                <a:gridCol w="503783">
                  <a:extLst>
                    <a:ext uri="{9D8B030D-6E8A-4147-A177-3AD203B41FA5}">
                      <a16:colId xmlns:a16="http://schemas.microsoft.com/office/drawing/2014/main" val="2873186649"/>
                    </a:ext>
                  </a:extLst>
                </a:gridCol>
                <a:gridCol w="508897">
                  <a:extLst>
                    <a:ext uri="{9D8B030D-6E8A-4147-A177-3AD203B41FA5}">
                      <a16:colId xmlns:a16="http://schemas.microsoft.com/office/drawing/2014/main" val="1353598892"/>
                    </a:ext>
                  </a:extLst>
                </a:gridCol>
                <a:gridCol w="828555">
                  <a:extLst>
                    <a:ext uri="{9D8B030D-6E8A-4147-A177-3AD203B41FA5}">
                      <a16:colId xmlns:a16="http://schemas.microsoft.com/office/drawing/2014/main" val="40576546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 AND 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38433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32698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61677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68298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3185780"/>
                  </a:ext>
                </a:extLst>
              </a:tr>
            </a:tbl>
          </a:graphicData>
        </a:graphic>
      </p:graphicFrame>
      <p:grpSp>
        <p:nvGrpSpPr>
          <p:cNvPr id="4" name="Group 3"/>
          <p:cNvGrpSpPr/>
          <p:nvPr/>
        </p:nvGrpSpPr>
        <p:grpSpPr>
          <a:xfrm>
            <a:off x="1661160" y="1801186"/>
            <a:ext cx="3657600" cy="1031059"/>
            <a:chOff x="136886" y="2426339"/>
            <a:chExt cx="3663147" cy="1031059"/>
          </a:xfrm>
        </p:grpSpPr>
        <p:sp>
          <p:nvSpPr>
            <p:cNvPr id="5" name="Left Brace 4"/>
            <p:cNvSpPr/>
            <p:nvPr/>
          </p:nvSpPr>
          <p:spPr>
            <a:xfrm>
              <a:off x="961053" y="2435290"/>
              <a:ext cx="139959" cy="485192"/>
            </a:xfrm>
            <a:prstGeom prst="lef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Left Brace 5"/>
            <p:cNvSpPr/>
            <p:nvPr/>
          </p:nvSpPr>
          <p:spPr>
            <a:xfrm>
              <a:off x="961053" y="2972206"/>
              <a:ext cx="139959" cy="485192"/>
            </a:xfrm>
            <a:prstGeom prst="lef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Left Brace 6"/>
            <p:cNvSpPr/>
            <p:nvPr/>
          </p:nvSpPr>
          <p:spPr>
            <a:xfrm flipH="1">
              <a:off x="3184837" y="2426339"/>
              <a:ext cx="202164" cy="485192"/>
            </a:xfrm>
            <a:prstGeom prst="lef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Left Brace 7"/>
            <p:cNvSpPr/>
            <p:nvPr/>
          </p:nvSpPr>
          <p:spPr>
            <a:xfrm flipH="1">
              <a:off x="3187942" y="2963255"/>
              <a:ext cx="202164" cy="485192"/>
            </a:xfrm>
            <a:prstGeom prst="lef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36886" y="2493220"/>
              <a:ext cx="82416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000" dirty="0"/>
                <a:t>a = 0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36886" y="3030136"/>
              <a:ext cx="82416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000" dirty="0"/>
                <a:t>a = 1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383888" y="2426339"/>
              <a:ext cx="41614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0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390106" y="2972986"/>
              <a:ext cx="40992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b</a:t>
              </a: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5507032" y="1585889"/>
            <a:ext cx="5297326" cy="1281392"/>
            <a:chOff x="5205707" y="1974509"/>
            <a:chExt cx="5297326" cy="1281392"/>
          </a:xfrm>
        </p:grpSpPr>
        <p:sp>
          <p:nvSpPr>
            <p:cNvPr id="14" name="TextBox 13"/>
            <p:cNvSpPr txBox="1"/>
            <p:nvPr/>
          </p:nvSpPr>
          <p:spPr>
            <a:xfrm>
              <a:off x="7529518" y="1974509"/>
              <a:ext cx="2973515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/>
                <a:t>If a=0, output = 0</a:t>
              </a:r>
            </a:p>
            <a:p>
              <a:r>
                <a:rPr lang="en-US" sz="2800" dirty="0">
                  <a:solidFill>
                    <a:schemeClr val="bg1"/>
                  </a:solidFill>
                </a:rPr>
                <a:t>If </a:t>
              </a:r>
              <a:r>
                <a:rPr lang="en-US" sz="2800" dirty="0"/>
                <a:t>a=1, output = b</a:t>
              </a:r>
            </a:p>
          </p:txBody>
        </p:sp>
        <p:sp>
          <p:nvSpPr>
            <p:cNvPr id="15" name="Flowchart: Summing Junction 14"/>
            <p:cNvSpPr/>
            <p:nvPr/>
          </p:nvSpPr>
          <p:spPr>
            <a:xfrm>
              <a:off x="6240780" y="1974509"/>
              <a:ext cx="594360" cy="525780"/>
            </a:xfrm>
            <a:prstGeom prst="flowChartSummingJunction">
              <a:avLst/>
            </a:prstGeom>
            <a:solidFill>
              <a:srgbClr val="FF0000">
                <a:alpha val="20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5205707" y="1980473"/>
              <a:ext cx="38356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/>
                <a:t>b</a:t>
              </a:r>
            </a:p>
          </p:txBody>
        </p:sp>
        <p:cxnSp>
          <p:nvCxnSpPr>
            <p:cNvPr id="17" name="Straight Arrow Connector 16"/>
            <p:cNvCxnSpPr>
              <a:stCxn id="16" idx="3"/>
              <a:endCxn id="15" idx="2"/>
            </p:cNvCxnSpPr>
            <p:nvPr/>
          </p:nvCxnSpPr>
          <p:spPr>
            <a:xfrm flipV="1">
              <a:off x="5589270" y="2237399"/>
              <a:ext cx="651510" cy="4684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>
              <a:stCxn id="15" idx="6"/>
            </p:cNvCxnSpPr>
            <p:nvPr/>
          </p:nvCxnSpPr>
          <p:spPr>
            <a:xfrm flipV="1">
              <a:off x="6835140" y="2232715"/>
              <a:ext cx="621811" cy="4684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>
              <a:endCxn id="15" idx="4"/>
            </p:cNvCxnSpPr>
            <p:nvPr/>
          </p:nvCxnSpPr>
          <p:spPr>
            <a:xfrm flipV="1">
              <a:off x="6537960" y="2500289"/>
              <a:ext cx="0" cy="274026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/>
            <p:cNvSpPr txBox="1"/>
            <p:nvPr/>
          </p:nvSpPr>
          <p:spPr>
            <a:xfrm>
              <a:off x="6382997" y="2732681"/>
              <a:ext cx="38356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/>
                <a:t>a</a:t>
              </a:r>
            </a:p>
          </p:txBody>
        </p:sp>
      </p:grp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2180968" y="4342101"/>
          <a:ext cx="2441490" cy="1122045"/>
        </p:xfrm>
        <a:graphic>
          <a:graphicData uri="http://schemas.openxmlformats.org/drawingml/2006/table">
            <a:tbl>
              <a:tblPr firstRow="1" firstCol="1" bandRow="1"/>
              <a:tblGrid>
                <a:gridCol w="488532">
                  <a:extLst>
                    <a:ext uri="{9D8B030D-6E8A-4147-A177-3AD203B41FA5}">
                      <a16:colId xmlns:a16="http://schemas.microsoft.com/office/drawing/2014/main" val="2636072159"/>
                    </a:ext>
                  </a:extLst>
                </a:gridCol>
                <a:gridCol w="488532">
                  <a:extLst>
                    <a:ext uri="{9D8B030D-6E8A-4147-A177-3AD203B41FA5}">
                      <a16:colId xmlns:a16="http://schemas.microsoft.com/office/drawing/2014/main" val="194243522"/>
                    </a:ext>
                  </a:extLst>
                </a:gridCol>
                <a:gridCol w="487362">
                  <a:extLst>
                    <a:ext uri="{9D8B030D-6E8A-4147-A177-3AD203B41FA5}">
                      <a16:colId xmlns:a16="http://schemas.microsoft.com/office/drawing/2014/main" val="1165046985"/>
                    </a:ext>
                  </a:extLst>
                </a:gridCol>
                <a:gridCol w="488532">
                  <a:extLst>
                    <a:ext uri="{9D8B030D-6E8A-4147-A177-3AD203B41FA5}">
                      <a16:colId xmlns:a16="http://schemas.microsoft.com/office/drawing/2014/main" val="901581374"/>
                    </a:ext>
                  </a:extLst>
                </a:gridCol>
                <a:gridCol w="488532">
                  <a:extLst>
                    <a:ext uri="{9D8B030D-6E8A-4147-A177-3AD203B41FA5}">
                      <a16:colId xmlns:a16="http://schemas.microsoft.com/office/drawing/2014/main" val="2134632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sz="2400" baseline="-25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sz="2400" b="1" baseline="-25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2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sz="2400" baseline="-25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sz="2400" baseline="-25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8099583"/>
                  </a:ext>
                </a:extLst>
              </a:tr>
              <a:tr h="2875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&amp;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6807101"/>
                  </a:ext>
                </a:extLst>
              </a:tr>
              <a:tr h="2875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sz="2400" baseline="-25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baseline="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400" b="1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sz="2400" baseline="-25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sz="2400" baseline="-25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6574299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0D5D68D3-41FA-3F71-326E-A3349D7F8C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6307367"/>
              </p:ext>
            </p:extLst>
          </p:nvPr>
        </p:nvGraphicFramePr>
        <p:xfrm>
          <a:off x="7358790" y="4342101"/>
          <a:ext cx="2441490" cy="1122045"/>
        </p:xfrm>
        <a:graphic>
          <a:graphicData uri="http://schemas.openxmlformats.org/drawingml/2006/table">
            <a:tbl>
              <a:tblPr firstRow="1" firstCol="1" bandRow="1"/>
              <a:tblGrid>
                <a:gridCol w="488532">
                  <a:extLst>
                    <a:ext uri="{9D8B030D-6E8A-4147-A177-3AD203B41FA5}">
                      <a16:colId xmlns:a16="http://schemas.microsoft.com/office/drawing/2014/main" val="2636072159"/>
                    </a:ext>
                  </a:extLst>
                </a:gridCol>
                <a:gridCol w="488532">
                  <a:extLst>
                    <a:ext uri="{9D8B030D-6E8A-4147-A177-3AD203B41FA5}">
                      <a16:colId xmlns:a16="http://schemas.microsoft.com/office/drawing/2014/main" val="194243522"/>
                    </a:ext>
                  </a:extLst>
                </a:gridCol>
                <a:gridCol w="487362">
                  <a:extLst>
                    <a:ext uri="{9D8B030D-6E8A-4147-A177-3AD203B41FA5}">
                      <a16:colId xmlns:a16="http://schemas.microsoft.com/office/drawing/2014/main" val="1165046985"/>
                    </a:ext>
                  </a:extLst>
                </a:gridCol>
                <a:gridCol w="488532">
                  <a:extLst>
                    <a:ext uri="{9D8B030D-6E8A-4147-A177-3AD203B41FA5}">
                      <a16:colId xmlns:a16="http://schemas.microsoft.com/office/drawing/2014/main" val="901581374"/>
                    </a:ext>
                  </a:extLst>
                </a:gridCol>
                <a:gridCol w="488532">
                  <a:extLst>
                    <a:ext uri="{9D8B030D-6E8A-4147-A177-3AD203B41FA5}">
                      <a16:colId xmlns:a16="http://schemas.microsoft.com/office/drawing/2014/main" val="2134632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8099583"/>
                  </a:ext>
                </a:extLst>
              </a:tr>
              <a:tr h="2875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&amp;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highlight>
                            <a:srgbClr val="00FFFF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FF0000"/>
                          </a:solidFill>
                          <a:effectLst/>
                          <a:highlight>
                            <a:srgbClr val="00FFFF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highlight>
                            <a:srgbClr val="00FFFF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highlight>
                            <a:srgbClr val="00FFFF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6807101"/>
                  </a:ext>
                </a:extLst>
              </a:tr>
              <a:tr h="2875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baseline="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400" b="1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6574299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606289A1-EC1D-550D-775F-B02A21889797}"/>
              </a:ext>
            </a:extLst>
          </p:cNvPr>
          <p:cNvSpPr txBox="1"/>
          <p:nvPr/>
        </p:nvSpPr>
        <p:spPr>
          <a:xfrm>
            <a:off x="9800280" y="4342101"/>
            <a:ext cx="1497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Your number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634F47C-3B84-72BB-8E97-FE2D6608A70C}"/>
              </a:ext>
            </a:extLst>
          </p:cNvPr>
          <p:cNvSpPr txBox="1"/>
          <p:nvPr/>
        </p:nvSpPr>
        <p:spPr>
          <a:xfrm>
            <a:off x="9800280" y="4700385"/>
            <a:ext cx="1069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Bit mask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7ADE8ED-D343-76F0-EFB3-059A3A286592}"/>
              </a:ext>
            </a:extLst>
          </p:cNvPr>
          <p:cNvSpPr txBox="1"/>
          <p:nvPr/>
        </p:nvSpPr>
        <p:spPr>
          <a:xfrm>
            <a:off x="9805650" y="5058669"/>
            <a:ext cx="838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Result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28DD337-90B4-794E-5E2E-B05E59DCFA21}"/>
              </a:ext>
            </a:extLst>
          </p:cNvPr>
          <p:cNvSpPr txBox="1"/>
          <p:nvPr/>
        </p:nvSpPr>
        <p:spPr>
          <a:xfrm>
            <a:off x="8297691" y="3948673"/>
            <a:ext cx="1133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21604608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/>
          <p:cNvSpPr txBox="1"/>
          <p:nvPr/>
        </p:nvSpPr>
        <p:spPr>
          <a:xfrm>
            <a:off x="2011070" y="3283209"/>
            <a:ext cx="349596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Use bitwise AND to </a:t>
            </a:r>
            <a:r>
              <a:rPr lang="en-US" sz="2400" b="1" dirty="0">
                <a:solidFill>
                  <a:srgbClr val="0000FF"/>
                </a:solidFill>
              </a:rPr>
              <a:t>isolate/test</a:t>
            </a:r>
            <a:r>
              <a:rPr lang="en-US" sz="2400" dirty="0"/>
              <a:t> a single bit</a:t>
            </a:r>
          </a:p>
          <a:p>
            <a:pPr algn="ctr"/>
            <a:endParaRPr lang="en-US" sz="2400" dirty="0"/>
          </a:p>
          <a:p>
            <a:pPr algn="ctr"/>
            <a:endParaRPr lang="en-US" sz="2400" dirty="0"/>
          </a:p>
          <a:p>
            <a:pPr algn="ctr"/>
            <a:endParaRPr lang="en-US" sz="2400" dirty="0"/>
          </a:p>
          <a:p>
            <a:pPr algn="ctr"/>
            <a:endParaRPr lang="en-US" sz="2400" dirty="0"/>
          </a:p>
          <a:p>
            <a:pPr algn="ctr"/>
            <a:endParaRPr lang="en-US" sz="2400" dirty="0"/>
          </a:p>
          <a:p>
            <a:pPr algn="ctr"/>
            <a:r>
              <a:rPr lang="en-US" sz="2400" dirty="0"/>
              <a:t>bits &amp; (1 &lt;&lt; 2) 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92197" y="2170555"/>
            <a:ext cx="2246243" cy="298174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8193158" y="1731302"/>
            <a:ext cx="2246243" cy="298174"/>
          </a:xfrm>
          <a:prstGeom prst="rect">
            <a:avLst/>
          </a:prstGeom>
          <a:solidFill>
            <a:srgbClr val="99FF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8495" y="753036"/>
            <a:ext cx="3134168" cy="653039"/>
          </a:xfrm>
        </p:spPr>
        <p:txBody>
          <a:bodyPr/>
          <a:lstStyle/>
          <a:p>
            <a:r>
              <a:rPr lang="en-US" dirty="0"/>
              <a:t>Bitwise AND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6308" y="1539256"/>
          <a:ext cx="1841235" cy="1246505"/>
        </p:xfrm>
        <a:graphic>
          <a:graphicData uri="http://schemas.openxmlformats.org/drawingml/2006/table">
            <a:tbl>
              <a:tblPr firstRow="1" firstCol="1" bandRow="1"/>
              <a:tblGrid>
                <a:gridCol w="503783">
                  <a:extLst>
                    <a:ext uri="{9D8B030D-6E8A-4147-A177-3AD203B41FA5}">
                      <a16:colId xmlns:a16="http://schemas.microsoft.com/office/drawing/2014/main" val="2873186649"/>
                    </a:ext>
                  </a:extLst>
                </a:gridCol>
                <a:gridCol w="508897">
                  <a:extLst>
                    <a:ext uri="{9D8B030D-6E8A-4147-A177-3AD203B41FA5}">
                      <a16:colId xmlns:a16="http://schemas.microsoft.com/office/drawing/2014/main" val="1353598892"/>
                    </a:ext>
                  </a:extLst>
                </a:gridCol>
                <a:gridCol w="828555">
                  <a:extLst>
                    <a:ext uri="{9D8B030D-6E8A-4147-A177-3AD203B41FA5}">
                      <a16:colId xmlns:a16="http://schemas.microsoft.com/office/drawing/2014/main" val="40576546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 AND 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38433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32698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61677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68298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3185780"/>
                  </a:ext>
                </a:extLst>
              </a:tr>
            </a:tbl>
          </a:graphicData>
        </a:graphic>
      </p:graphicFrame>
      <p:grpSp>
        <p:nvGrpSpPr>
          <p:cNvPr id="4" name="Group 3"/>
          <p:cNvGrpSpPr/>
          <p:nvPr/>
        </p:nvGrpSpPr>
        <p:grpSpPr>
          <a:xfrm>
            <a:off x="1661160" y="1801186"/>
            <a:ext cx="3657600" cy="1031059"/>
            <a:chOff x="136886" y="2426339"/>
            <a:chExt cx="3663147" cy="1031059"/>
          </a:xfrm>
        </p:grpSpPr>
        <p:sp>
          <p:nvSpPr>
            <p:cNvPr id="5" name="Left Brace 4"/>
            <p:cNvSpPr/>
            <p:nvPr/>
          </p:nvSpPr>
          <p:spPr>
            <a:xfrm>
              <a:off x="961053" y="2435290"/>
              <a:ext cx="139959" cy="485192"/>
            </a:xfrm>
            <a:prstGeom prst="lef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Left Brace 5"/>
            <p:cNvSpPr/>
            <p:nvPr/>
          </p:nvSpPr>
          <p:spPr>
            <a:xfrm>
              <a:off x="961053" y="2972206"/>
              <a:ext cx="139959" cy="485192"/>
            </a:xfrm>
            <a:prstGeom prst="lef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Left Brace 6"/>
            <p:cNvSpPr/>
            <p:nvPr/>
          </p:nvSpPr>
          <p:spPr>
            <a:xfrm flipH="1">
              <a:off x="3184837" y="2426339"/>
              <a:ext cx="202164" cy="485192"/>
            </a:xfrm>
            <a:prstGeom prst="lef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Left Brace 7"/>
            <p:cNvSpPr/>
            <p:nvPr/>
          </p:nvSpPr>
          <p:spPr>
            <a:xfrm flipH="1">
              <a:off x="3187942" y="2963255"/>
              <a:ext cx="202164" cy="485192"/>
            </a:xfrm>
            <a:prstGeom prst="lef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36886" y="2493220"/>
              <a:ext cx="82416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000" dirty="0"/>
                <a:t>a = 0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36886" y="3030136"/>
              <a:ext cx="82416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000" dirty="0"/>
                <a:t>a = 1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383888" y="2426339"/>
              <a:ext cx="41614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0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390106" y="2972986"/>
              <a:ext cx="40992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b</a:t>
              </a: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5507032" y="1585889"/>
            <a:ext cx="5341442" cy="1281392"/>
            <a:chOff x="5205707" y="1974509"/>
            <a:chExt cx="5341442" cy="1281392"/>
          </a:xfrm>
        </p:grpSpPr>
        <p:sp>
          <p:nvSpPr>
            <p:cNvPr id="14" name="TextBox 13"/>
            <p:cNvSpPr txBox="1"/>
            <p:nvPr/>
          </p:nvSpPr>
          <p:spPr>
            <a:xfrm>
              <a:off x="7529518" y="1974509"/>
              <a:ext cx="3017631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/>
                <a:t>If a=0, output = 0</a:t>
              </a:r>
            </a:p>
            <a:p>
              <a:r>
                <a:rPr lang="en-US" sz="2800" dirty="0">
                  <a:solidFill>
                    <a:schemeClr val="bg1"/>
                  </a:solidFill>
                </a:rPr>
                <a:t>If </a:t>
              </a:r>
              <a:r>
                <a:rPr lang="en-US" sz="2800" dirty="0"/>
                <a:t>a=1, output = b</a:t>
              </a:r>
            </a:p>
          </p:txBody>
        </p:sp>
        <p:sp>
          <p:nvSpPr>
            <p:cNvPr id="15" name="Flowchart: Summing Junction 14"/>
            <p:cNvSpPr/>
            <p:nvPr/>
          </p:nvSpPr>
          <p:spPr>
            <a:xfrm>
              <a:off x="6240780" y="1974509"/>
              <a:ext cx="594360" cy="525780"/>
            </a:xfrm>
            <a:prstGeom prst="flowChartSummingJunction">
              <a:avLst/>
            </a:prstGeom>
            <a:solidFill>
              <a:srgbClr val="FF0000">
                <a:alpha val="20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5205707" y="1980473"/>
              <a:ext cx="38356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/>
                <a:t>b</a:t>
              </a:r>
            </a:p>
          </p:txBody>
        </p:sp>
        <p:cxnSp>
          <p:nvCxnSpPr>
            <p:cNvPr id="17" name="Straight Arrow Connector 16"/>
            <p:cNvCxnSpPr>
              <a:stCxn id="16" idx="3"/>
              <a:endCxn id="15" idx="2"/>
            </p:cNvCxnSpPr>
            <p:nvPr/>
          </p:nvCxnSpPr>
          <p:spPr>
            <a:xfrm flipV="1">
              <a:off x="5589270" y="2237399"/>
              <a:ext cx="651510" cy="4684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>
              <a:stCxn id="15" idx="6"/>
            </p:cNvCxnSpPr>
            <p:nvPr/>
          </p:nvCxnSpPr>
          <p:spPr>
            <a:xfrm flipV="1">
              <a:off x="6835140" y="2232715"/>
              <a:ext cx="621811" cy="4684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>
              <a:endCxn id="15" idx="4"/>
            </p:cNvCxnSpPr>
            <p:nvPr/>
          </p:nvCxnSpPr>
          <p:spPr>
            <a:xfrm flipV="1">
              <a:off x="6537960" y="2500289"/>
              <a:ext cx="0" cy="274026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/>
            <p:cNvSpPr txBox="1"/>
            <p:nvPr/>
          </p:nvSpPr>
          <p:spPr>
            <a:xfrm>
              <a:off x="6382997" y="2732681"/>
              <a:ext cx="38356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/>
                <a:t>a</a:t>
              </a:r>
            </a:p>
          </p:txBody>
        </p:sp>
      </p:grp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2166598" y="4389777"/>
          <a:ext cx="2441490" cy="1122045"/>
        </p:xfrm>
        <a:graphic>
          <a:graphicData uri="http://schemas.openxmlformats.org/drawingml/2006/table">
            <a:tbl>
              <a:tblPr firstRow="1" firstCol="1" bandRow="1"/>
              <a:tblGrid>
                <a:gridCol w="488532">
                  <a:extLst>
                    <a:ext uri="{9D8B030D-6E8A-4147-A177-3AD203B41FA5}">
                      <a16:colId xmlns:a16="http://schemas.microsoft.com/office/drawing/2014/main" val="2636072159"/>
                    </a:ext>
                  </a:extLst>
                </a:gridCol>
                <a:gridCol w="488532">
                  <a:extLst>
                    <a:ext uri="{9D8B030D-6E8A-4147-A177-3AD203B41FA5}">
                      <a16:colId xmlns:a16="http://schemas.microsoft.com/office/drawing/2014/main" val="194243522"/>
                    </a:ext>
                  </a:extLst>
                </a:gridCol>
                <a:gridCol w="487362">
                  <a:extLst>
                    <a:ext uri="{9D8B030D-6E8A-4147-A177-3AD203B41FA5}">
                      <a16:colId xmlns:a16="http://schemas.microsoft.com/office/drawing/2014/main" val="1165046985"/>
                    </a:ext>
                  </a:extLst>
                </a:gridCol>
                <a:gridCol w="488532">
                  <a:extLst>
                    <a:ext uri="{9D8B030D-6E8A-4147-A177-3AD203B41FA5}">
                      <a16:colId xmlns:a16="http://schemas.microsoft.com/office/drawing/2014/main" val="901581374"/>
                    </a:ext>
                  </a:extLst>
                </a:gridCol>
                <a:gridCol w="488532">
                  <a:extLst>
                    <a:ext uri="{9D8B030D-6E8A-4147-A177-3AD203B41FA5}">
                      <a16:colId xmlns:a16="http://schemas.microsoft.com/office/drawing/2014/main" val="213463203"/>
                    </a:ext>
                  </a:extLst>
                </a:gridCol>
              </a:tblGrid>
              <a:tr h="2875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sz="2400" baseline="-25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sz="2400" b="1" baseline="-25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2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sz="2400" baseline="-25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sz="2400" baseline="-25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8099583"/>
                  </a:ext>
                </a:extLst>
              </a:tr>
              <a:tr h="2875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&amp;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6807101"/>
                  </a:ext>
                </a:extLst>
              </a:tr>
              <a:tr h="2875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baseline="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sz="2400" b="1" baseline="-250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2400" b="1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6574299"/>
                  </a:ext>
                </a:extLst>
              </a:tr>
            </a:tbl>
          </a:graphicData>
        </a:graphic>
      </p:graphicFrame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0ACA3189-CB58-8271-5193-431B528740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6408325"/>
              </p:ext>
            </p:extLst>
          </p:nvPr>
        </p:nvGraphicFramePr>
        <p:xfrm>
          <a:off x="7358790" y="4342101"/>
          <a:ext cx="2441490" cy="1122045"/>
        </p:xfrm>
        <a:graphic>
          <a:graphicData uri="http://schemas.openxmlformats.org/drawingml/2006/table">
            <a:tbl>
              <a:tblPr firstRow="1" firstCol="1" bandRow="1"/>
              <a:tblGrid>
                <a:gridCol w="488532">
                  <a:extLst>
                    <a:ext uri="{9D8B030D-6E8A-4147-A177-3AD203B41FA5}">
                      <a16:colId xmlns:a16="http://schemas.microsoft.com/office/drawing/2014/main" val="2636072159"/>
                    </a:ext>
                  </a:extLst>
                </a:gridCol>
                <a:gridCol w="488532">
                  <a:extLst>
                    <a:ext uri="{9D8B030D-6E8A-4147-A177-3AD203B41FA5}">
                      <a16:colId xmlns:a16="http://schemas.microsoft.com/office/drawing/2014/main" val="194243522"/>
                    </a:ext>
                  </a:extLst>
                </a:gridCol>
                <a:gridCol w="487362">
                  <a:extLst>
                    <a:ext uri="{9D8B030D-6E8A-4147-A177-3AD203B41FA5}">
                      <a16:colId xmlns:a16="http://schemas.microsoft.com/office/drawing/2014/main" val="1165046985"/>
                    </a:ext>
                  </a:extLst>
                </a:gridCol>
                <a:gridCol w="488532">
                  <a:extLst>
                    <a:ext uri="{9D8B030D-6E8A-4147-A177-3AD203B41FA5}">
                      <a16:colId xmlns:a16="http://schemas.microsoft.com/office/drawing/2014/main" val="901581374"/>
                    </a:ext>
                  </a:extLst>
                </a:gridCol>
                <a:gridCol w="488532">
                  <a:extLst>
                    <a:ext uri="{9D8B030D-6E8A-4147-A177-3AD203B41FA5}">
                      <a16:colId xmlns:a16="http://schemas.microsoft.com/office/drawing/2014/main" val="2134632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8099583"/>
                  </a:ext>
                </a:extLst>
              </a:tr>
              <a:tr h="2875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&amp;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highlight>
                            <a:srgbClr val="00FFFF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FF0000"/>
                          </a:solidFill>
                          <a:effectLst/>
                          <a:highlight>
                            <a:srgbClr val="00FFFF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highlight>
                            <a:srgbClr val="00FFFF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highlight>
                            <a:srgbClr val="00FFFF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6807101"/>
                  </a:ext>
                </a:extLst>
              </a:tr>
              <a:tr h="2875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baseline="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400" b="1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6574299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BAECE1A7-0E3A-CB43-BFE9-32927BFD2659}"/>
              </a:ext>
            </a:extLst>
          </p:cNvPr>
          <p:cNvSpPr txBox="1"/>
          <p:nvPr/>
        </p:nvSpPr>
        <p:spPr>
          <a:xfrm>
            <a:off x="9800280" y="4342101"/>
            <a:ext cx="1497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Your number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A627386-8CCC-8A36-E9B8-0EA7647AD318}"/>
              </a:ext>
            </a:extLst>
          </p:cNvPr>
          <p:cNvSpPr txBox="1"/>
          <p:nvPr/>
        </p:nvSpPr>
        <p:spPr>
          <a:xfrm>
            <a:off x="9800280" y="4700385"/>
            <a:ext cx="1069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Bit mask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019BD67-0B29-4CC8-1EDB-462EFE51C08C}"/>
              </a:ext>
            </a:extLst>
          </p:cNvPr>
          <p:cNvSpPr txBox="1"/>
          <p:nvPr/>
        </p:nvSpPr>
        <p:spPr>
          <a:xfrm>
            <a:off x="9805650" y="5058669"/>
            <a:ext cx="838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Result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34B7074-1223-5F06-E0B0-F6355BCC42BF}"/>
              </a:ext>
            </a:extLst>
          </p:cNvPr>
          <p:cNvSpPr txBox="1"/>
          <p:nvPr/>
        </p:nvSpPr>
        <p:spPr>
          <a:xfrm>
            <a:off x="8297691" y="3948673"/>
            <a:ext cx="1133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41968143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/>
          <p:cNvSpPr txBox="1"/>
          <p:nvPr/>
        </p:nvSpPr>
        <p:spPr>
          <a:xfrm>
            <a:off x="2390895" y="3434010"/>
            <a:ext cx="307114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Use bitwise OR to </a:t>
            </a:r>
            <a:r>
              <a:rPr lang="en-US" sz="2400" b="1" dirty="0">
                <a:solidFill>
                  <a:srgbClr val="0000FF"/>
                </a:solidFill>
              </a:rPr>
              <a:t>set</a:t>
            </a:r>
            <a:r>
              <a:rPr lang="en-US" sz="2400" dirty="0"/>
              <a:t> a single bit to 1</a:t>
            </a:r>
          </a:p>
          <a:p>
            <a:pPr algn="ctr"/>
            <a:endParaRPr lang="en-US" sz="2400" dirty="0"/>
          </a:p>
          <a:p>
            <a:pPr algn="ctr"/>
            <a:endParaRPr lang="en-US" sz="2400" dirty="0"/>
          </a:p>
          <a:p>
            <a:pPr algn="ctr"/>
            <a:endParaRPr lang="en-US" sz="2400" dirty="0"/>
          </a:p>
          <a:p>
            <a:pPr algn="ctr"/>
            <a:endParaRPr lang="en-US" sz="2400" dirty="0"/>
          </a:p>
          <a:p>
            <a:pPr algn="ctr"/>
            <a:endParaRPr lang="en-US" sz="2400" dirty="0"/>
          </a:p>
          <a:p>
            <a:pPr algn="ctr"/>
            <a:r>
              <a:rPr lang="en-US" sz="2400" dirty="0"/>
              <a:t>bits | (1 &lt;&lt; 2)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2203980" y="4425746"/>
          <a:ext cx="2441490" cy="1122045"/>
        </p:xfrm>
        <a:graphic>
          <a:graphicData uri="http://schemas.openxmlformats.org/drawingml/2006/table">
            <a:tbl>
              <a:tblPr firstRow="1" firstCol="1" bandRow="1"/>
              <a:tblGrid>
                <a:gridCol w="488532">
                  <a:extLst>
                    <a:ext uri="{9D8B030D-6E8A-4147-A177-3AD203B41FA5}">
                      <a16:colId xmlns:a16="http://schemas.microsoft.com/office/drawing/2014/main" val="2636072159"/>
                    </a:ext>
                  </a:extLst>
                </a:gridCol>
                <a:gridCol w="488532">
                  <a:extLst>
                    <a:ext uri="{9D8B030D-6E8A-4147-A177-3AD203B41FA5}">
                      <a16:colId xmlns:a16="http://schemas.microsoft.com/office/drawing/2014/main" val="194243522"/>
                    </a:ext>
                  </a:extLst>
                </a:gridCol>
                <a:gridCol w="487362">
                  <a:extLst>
                    <a:ext uri="{9D8B030D-6E8A-4147-A177-3AD203B41FA5}">
                      <a16:colId xmlns:a16="http://schemas.microsoft.com/office/drawing/2014/main" val="1165046985"/>
                    </a:ext>
                  </a:extLst>
                </a:gridCol>
                <a:gridCol w="488532">
                  <a:extLst>
                    <a:ext uri="{9D8B030D-6E8A-4147-A177-3AD203B41FA5}">
                      <a16:colId xmlns:a16="http://schemas.microsoft.com/office/drawing/2014/main" val="901581374"/>
                    </a:ext>
                  </a:extLst>
                </a:gridCol>
                <a:gridCol w="488532">
                  <a:extLst>
                    <a:ext uri="{9D8B030D-6E8A-4147-A177-3AD203B41FA5}">
                      <a16:colId xmlns:a16="http://schemas.microsoft.com/office/drawing/2014/main" val="213463203"/>
                    </a:ext>
                  </a:extLst>
                </a:gridCol>
              </a:tblGrid>
              <a:tr h="2875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sz="2400" baseline="-25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sz="2400" b="1" baseline="-25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2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sz="2400" baseline="-25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sz="2400" baseline="-25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8099583"/>
                  </a:ext>
                </a:extLst>
              </a:tr>
              <a:tr h="2875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|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6807101"/>
                  </a:ext>
                </a:extLst>
              </a:tr>
              <a:tr h="2875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sz="2400" baseline="-25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baseline="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400" b="1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sz="2400" baseline="-25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sz="2400" baseline="-25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6574299"/>
                  </a:ext>
                </a:extLst>
              </a:tr>
            </a:tbl>
          </a:graphicData>
        </a:graphic>
      </p:graphicFrame>
      <p:sp>
        <p:nvSpPr>
          <p:cNvPr id="21" name="Rectangle 20"/>
          <p:cNvSpPr/>
          <p:nvPr/>
        </p:nvSpPr>
        <p:spPr>
          <a:xfrm>
            <a:off x="8206448" y="2190530"/>
            <a:ext cx="2246243" cy="298174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8193158" y="1736955"/>
            <a:ext cx="2246243" cy="298174"/>
          </a:xfrm>
          <a:prstGeom prst="rect">
            <a:avLst/>
          </a:prstGeom>
          <a:solidFill>
            <a:srgbClr val="99FF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0474" y="728534"/>
            <a:ext cx="2697021" cy="597833"/>
          </a:xfrm>
        </p:spPr>
        <p:txBody>
          <a:bodyPr/>
          <a:lstStyle/>
          <a:p>
            <a:r>
              <a:rPr lang="en-US" dirty="0"/>
              <a:t>Bitwise OR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6308" y="1582838"/>
          <a:ext cx="1841235" cy="1246505"/>
        </p:xfrm>
        <a:graphic>
          <a:graphicData uri="http://schemas.openxmlformats.org/drawingml/2006/table">
            <a:tbl>
              <a:tblPr firstRow="1" firstCol="1" bandRow="1"/>
              <a:tblGrid>
                <a:gridCol w="503783">
                  <a:extLst>
                    <a:ext uri="{9D8B030D-6E8A-4147-A177-3AD203B41FA5}">
                      <a16:colId xmlns:a16="http://schemas.microsoft.com/office/drawing/2014/main" val="2873186649"/>
                    </a:ext>
                  </a:extLst>
                </a:gridCol>
                <a:gridCol w="508897">
                  <a:extLst>
                    <a:ext uri="{9D8B030D-6E8A-4147-A177-3AD203B41FA5}">
                      <a16:colId xmlns:a16="http://schemas.microsoft.com/office/drawing/2014/main" val="1353598892"/>
                    </a:ext>
                  </a:extLst>
                </a:gridCol>
                <a:gridCol w="828555">
                  <a:extLst>
                    <a:ext uri="{9D8B030D-6E8A-4147-A177-3AD203B41FA5}">
                      <a16:colId xmlns:a16="http://schemas.microsoft.com/office/drawing/2014/main" val="40576546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 OR 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38433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32698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61677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68298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3185780"/>
                  </a:ext>
                </a:extLst>
              </a:tr>
            </a:tbl>
          </a:graphicData>
        </a:graphic>
      </p:graphicFrame>
      <p:grpSp>
        <p:nvGrpSpPr>
          <p:cNvPr id="4" name="Group 3"/>
          <p:cNvGrpSpPr/>
          <p:nvPr/>
        </p:nvGrpSpPr>
        <p:grpSpPr>
          <a:xfrm>
            <a:off x="1661160" y="1877091"/>
            <a:ext cx="3657600" cy="1031059"/>
            <a:chOff x="136886" y="2426339"/>
            <a:chExt cx="3663147" cy="1031059"/>
          </a:xfrm>
        </p:grpSpPr>
        <p:sp>
          <p:nvSpPr>
            <p:cNvPr id="5" name="Left Brace 4"/>
            <p:cNvSpPr/>
            <p:nvPr/>
          </p:nvSpPr>
          <p:spPr>
            <a:xfrm>
              <a:off x="961053" y="2435290"/>
              <a:ext cx="139959" cy="485192"/>
            </a:xfrm>
            <a:prstGeom prst="lef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Left Brace 5"/>
            <p:cNvSpPr/>
            <p:nvPr/>
          </p:nvSpPr>
          <p:spPr>
            <a:xfrm>
              <a:off x="961053" y="2972206"/>
              <a:ext cx="139959" cy="485192"/>
            </a:xfrm>
            <a:prstGeom prst="lef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Left Brace 6"/>
            <p:cNvSpPr/>
            <p:nvPr/>
          </p:nvSpPr>
          <p:spPr>
            <a:xfrm flipH="1">
              <a:off x="3184837" y="2426339"/>
              <a:ext cx="202164" cy="485192"/>
            </a:xfrm>
            <a:prstGeom prst="lef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Left Brace 7"/>
            <p:cNvSpPr/>
            <p:nvPr/>
          </p:nvSpPr>
          <p:spPr>
            <a:xfrm flipH="1">
              <a:off x="3187942" y="2963255"/>
              <a:ext cx="202164" cy="485192"/>
            </a:xfrm>
            <a:prstGeom prst="lef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36886" y="2493220"/>
              <a:ext cx="82416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000" dirty="0"/>
                <a:t>a = 0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36886" y="3030136"/>
              <a:ext cx="82416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000" dirty="0"/>
                <a:t>a = 1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383888" y="2465608"/>
              <a:ext cx="41614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b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390106" y="2988503"/>
              <a:ext cx="40992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1</a:t>
              </a: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5507032" y="1594741"/>
            <a:ext cx="5281284" cy="1281392"/>
            <a:chOff x="5205707" y="1974509"/>
            <a:chExt cx="5281284" cy="1281392"/>
          </a:xfrm>
        </p:grpSpPr>
        <p:sp>
          <p:nvSpPr>
            <p:cNvPr id="14" name="Flowchart: Summing Junction 13"/>
            <p:cNvSpPr/>
            <p:nvPr/>
          </p:nvSpPr>
          <p:spPr>
            <a:xfrm>
              <a:off x="6240780" y="1974509"/>
              <a:ext cx="594360" cy="525780"/>
            </a:xfrm>
            <a:prstGeom prst="flowChartSummingJunction">
              <a:avLst/>
            </a:prstGeom>
            <a:solidFill>
              <a:srgbClr val="FF0000">
                <a:alpha val="20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5205707" y="1980473"/>
              <a:ext cx="38356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/>
                <a:t>b</a:t>
              </a:r>
            </a:p>
          </p:txBody>
        </p:sp>
        <p:cxnSp>
          <p:nvCxnSpPr>
            <p:cNvPr id="16" name="Straight Arrow Connector 15"/>
            <p:cNvCxnSpPr>
              <a:stCxn id="15" idx="3"/>
              <a:endCxn id="14" idx="2"/>
            </p:cNvCxnSpPr>
            <p:nvPr/>
          </p:nvCxnSpPr>
          <p:spPr>
            <a:xfrm flipV="1">
              <a:off x="5589270" y="2237399"/>
              <a:ext cx="651510" cy="4684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>
              <a:stCxn id="14" idx="6"/>
            </p:cNvCxnSpPr>
            <p:nvPr/>
          </p:nvCxnSpPr>
          <p:spPr>
            <a:xfrm flipV="1">
              <a:off x="6835140" y="2232715"/>
              <a:ext cx="621811" cy="4684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>
              <a:endCxn id="14" idx="4"/>
            </p:cNvCxnSpPr>
            <p:nvPr/>
          </p:nvCxnSpPr>
          <p:spPr>
            <a:xfrm flipV="1">
              <a:off x="6537960" y="2500289"/>
              <a:ext cx="0" cy="274026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/>
            <p:cNvSpPr txBox="1"/>
            <p:nvPr/>
          </p:nvSpPr>
          <p:spPr>
            <a:xfrm>
              <a:off x="6382997" y="2732681"/>
              <a:ext cx="38356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/>
                <a:t>a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7529519" y="1974509"/>
              <a:ext cx="2957472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/>
                <a:t>If a=0, output = b</a:t>
              </a:r>
            </a:p>
            <a:p>
              <a:r>
                <a:rPr lang="en-US" sz="2800" dirty="0">
                  <a:solidFill>
                    <a:schemeClr val="bg1"/>
                  </a:solidFill>
                </a:rPr>
                <a:t>If </a:t>
              </a:r>
              <a:r>
                <a:rPr lang="en-US" sz="2800" dirty="0"/>
                <a:t>a=1, output = 1</a:t>
              </a:r>
            </a:p>
          </p:txBody>
        </p:sp>
      </p:grp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9068BE3E-F2C3-B332-AFB0-A9504062E7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7602853"/>
              </p:ext>
            </p:extLst>
          </p:nvPr>
        </p:nvGraphicFramePr>
        <p:xfrm>
          <a:off x="7359615" y="4523470"/>
          <a:ext cx="2441490" cy="1122045"/>
        </p:xfrm>
        <a:graphic>
          <a:graphicData uri="http://schemas.openxmlformats.org/drawingml/2006/table">
            <a:tbl>
              <a:tblPr firstRow="1" firstCol="1" bandRow="1"/>
              <a:tblGrid>
                <a:gridCol w="488532">
                  <a:extLst>
                    <a:ext uri="{9D8B030D-6E8A-4147-A177-3AD203B41FA5}">
                      <a16:colId xmlns:a16="http://schemas.microsoft.com/office/drawing/2014/main" val="2636072159"/>
                    </a:ext>
                  </a:extLst>
                </a:gridCol>
                <a:gridCol w="488532">
                  <a:extLst>
                    <a:ext uri="{9D8B030D-6E8A-4147-A177-3AD203B41FA5}">
                      <a16:colId xmlns:a16="http://schemas.microsoft.com/office/drawing/2014/main" val="194243522"/>
                    </a:ext>
                  </a:extLst>
                </a:gridCol>
                <a:gridCol w="487362">
                  <a:extLst>
                    <a:ext uri="{9D8B030D-6E8A-4147-A177-3AD203B41FA5}">
                      <a16:colId xmlns:a16="http://schemas.microsoft.com/office/drawing/2014/main" val="1165046985"/>
                    </a:ext>
                  </a:extLst>
                </a:gridCol>
                <a:gridCol w="488532">
                  <a:extLst>
                    <a:ext uri="{9D8B030D-6E8A-4147-A177-3AD203B41FA5}">
                      <a16:colId xmlns:a16="http://schemas.microsoft.com/office/drawing/2014/main" val="901581374"/>
                    </a:ext>
                  </a:extLst>
                </a:gridCol>
                <a:gridCol w="488532">
                  <a:extLst>
                    <a:ext uri="{9D8B030D-6E8A-4147-A177-3AD203B41FA5}">
                      <a16:colId xmlns:a16="http://schemas.microsoft.com/office/drawing/2014/main" val="2134632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8099583"/>
                  </a:ext>
                </a:extLst>
              </a:tr>
              <a:tr h="2875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|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highlight>
                            <a:srgbClr val="00FFFF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FF0000"/>
                          </a:solidFill>
                          <a:effectLst/>
                          <a:highlight>
                            <a:srgbClr val="00FFFF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highlight>
                            <a:srgbClr val="00FFFF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highlight>
                            <a:srgbClr val="00FFFF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6807101"/>
                  </a:ext>
                </a:extLst>
              </a:tr>
              <a:tr h="2875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baseline="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400" b="1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6574299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461A3525-99AD-44FB-4E42-A0805ED92E1D}"/>
              </a:ext>
            </a:extLst>
          </p:cNvPr>
          <p:cNvSpPr txBox="1"/>
          <p:nvPr/>
        </p:nvSpPr>
        <p:spPr>
          <a:xfrm>
            <a:off x="9801105" y="4523470"/>
            <a:ext cx="1497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Your number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D911F08-1816-ACA2-E48D-39BBAB8581F0}"/>
              </a:ext>
            </a:extLst>
          </p:cNvPr>
          <p:cNvSpPr txBox="1"/>
          <p:nvPr/>
        </p:nvSpPr>
        <p:spPr>
          <a:xfrm>
            <a:off x="9801105" y="4881754"/>
            <a:ext cx="1069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Bit mask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DDB137F-7D42-55AB-D017-9FD4D0F27A83}"/>
              </a:ext>
            </a:extLst>
          </p:cNvPr>
          <p:cNvSpPr txBox="1"/>
          <p:nvPr/>
        </p:nvSpPr>
        <p:spPr>
          <a:xfrm>
            <a:off x="9806475" y="5240038"/>
            <a:ext cx="838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Result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4C56C77-CE48-8FC7-65D8-19487B49776E}"/>
              </a:ext>
            </a:extLst>
          </p:cNvPr>
          <p:cNvSpPr txBox="1"/>
          <p:nvPr/>
        </p:nvSpPr>
        <p:spPr>
          <a:xfrm>
            <a:off x="8298516" y="4130042"/>
            <a:ext cx="1133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18454538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Box 75"/>
          <p:cNvSpPr txBox="1"/>
          <p:nvPr/>
        </p:nvSpPr>
        <p:spPr>
          <a:xfrm>
            <a:off x="2142155" y="3536374"/>
            <a:ext cx="326526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Use bitwise XOR to </a:t>
            </a:r>
            <a:r>
              <a:rPr lang="en-US" sz="2400" b="1" dirty="0">
                <a:solidFill>
                  <a:srgbClr val="FF0000"/>
                </a:solidFill>
              </a:rPr>
              <a:t>change</a:t>
            </a:r>
            <a:r>
              <a:rPr lang="en-US" sz="2400" dirty="0"/>
              <a:t> a single bit</a:t>
            </a:r>
          </a:p>
          <a:p>
            <a:pPr algn="ctr"/>
            <a:endParaRPr lang="en-US" sz="2400" dirty="0"/>
          </a:p>
          <a:p>
            <a:pPr algn="ctr"/>
            <a:endParaRPr lang="en-US" sz="2400" dirty="0"/>
          </a:p>
          <a:p>
            <a:pPr algn="ctr"/>
            <a:endParaRPr lang="en-US" sz="2400" dirty="0"/>
          </a:p>
          <a:p>
            <a:pPr algn="ctr"/>
            <a:endParaRPr lang="en-US" sz="2400" dirty="0"/>
          </a:p>
          <a:p>
            <a:pPr algn="ctr"/>
            <a:endParaRPr lang="en-US" sz="2400" dirty="0"/>
          </a:p>
          <a:p>
            <a:pPr algn="ctr"/>
            <a:r>
              <a:rPr lang="en-US" sz="2400" dirty="0"/>
              <a:t>bits ^ (1 &lt;&lt; 2)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036858" y="2375244"/>
            <a:ext cx="2246243" cy="298174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8023569" y="1906148"/>
            <a:ext cx="2246243" cy="298174"/>
          </a:xfrm>
          <a:prstGeom prst="rect">
            <a:avLst/>
          </a:prstGeom>
          <a:solidFill>
            <a:srgbClr val="99FF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0474" y="748569"/>
            <a:ext cx="5047189" cy="728566"/>
          </a:xfrm>
        </p:spPr>
        <p:txBody>
          <a:bodyPr/>
          <a:lstStyle/>
          <a:p>
            <a:r>
              <a:rPr lang="en-US" dirty="0"/>
              <a:t>Bitwise Exclusive-OR 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2576719" y="1815601"/>
          <a:ext cx="1841235" cy="1246505"/>
        </p:xfrm>
        <a:graphic>
          <a:graphicData uri="http://schemas.openxmlformats.org/drawingml/2006/table">
            <a:tbl>
              <a:tblPr firstRow="1" firstCol="1" bandRow="1"/>
              <a:tblGrid>
                <a:gridCol w="503783">
                  <a:extLst>
                    <a:ext uri="{9D8B030D-6E8A-4147-A177-3AD203B41FA5}">
                      <a16:colId xmlns:a16="http://schemas.microsoft.com/office/drawing/2014/main" val="2873186649"/>
                    </a:ext>
                  </a:extLst>
                </a:gridCol>
                <a:gridCol w="508897">
                  <a:extLst>
                    <a:ext uri="{9D8B030D-6E8A-4147-A177-3AD203B41FA5}">
                      <a16:colId xmlns:a16="http://schemas.microsoft.com/office/drawing/2014/main" val="1353598892"/>
                    </a:ext>
                  </a:extLst>
                </a:gridCol>
                <a:gridCol w="828555">
                  <a:extLst>
                    <a:ext uri="{9D8B030D-6E8A-4147-A177-3AD203B41FA5}">
                      <a16:colId xmlns:a16="http://schemas.microsoft.com/office/drawing/2014/main" val="40576546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 XOR 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38433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32698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61677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68298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3185780"/>
                  </a:ext>
                </a:extLst>
              </a:tr>
            </a:tbl>
          </a:graphicData>
        </a:graphic>
      </p:graphicFrame>
      <p:grpSp>
        <p:nvGrpSpPr>
          <p:cNvPr id="28" name="Group 27"/>
          <p:cNvGrpSpPr/>
          <p:nvPr/>
        </p:nvGrpSpPr>
        <p:grpSpPr>
          <a:xfrm>
            <a:off x="1491571" y="2077531"/>
            <a:ext cx="3554730" cy="1031059"/>
            <a:chOff x="136886" y="2426339"/>
            <a:chExt cx="3560121" cy="1031059"/>
          </a:xfrm>
        </p:grpSpPr>
        <p:sp>
          <p:nvSpPr>
            <p:cNvPr id="29" name="Left Brace 28"/>
            <p:cNvSpPr/>
            <p:nvPr/>
          </p:nvSpPr>
          <p:spPr>
            <a:xfrm>
              <a:off x="961053" y="2435290"/>
              <a:ext cx="139959" cy="485192"/>
            </a:xfrm>
            <a:prstGeom prst="lef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Left Brace 29"/>
            <p:cNvSpPr/>
            <p:nvPr/>
          </p:nvSpPr>
          <p:spPr>
            <a:xfrm>
              <a:off x="961053" y="2972206"/>
              <a:ext cx="139959" cy="485192"/>
            </a:xfrm>
            <a:prstGeom prst="lef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Left Brace 30"/>
            <p:cNvSpPr/>
            <p:nvPr/>
          </p:nvSpPr>
          <p:spPr>
            <a:xfrm flipH="1">
              <a:off x="3184837" y="2426339"/>
              <a:ext cx="202164" cy="485192"/>
            </a:xfrm>
            <a:prstGeom prst="lef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Left Brace 31"/>
            <p:cNvSpPr/>
            <p:nvPr/>
          </p:nvSpPr>
          <p:spPr>
            <a:xfrm flipH="1">
              <a:off x="3187942" y="2963255"/>
              <a:ext cx="202164" cy="485192"/>
            </a:xfrm>
            <a:prstGeom prst="lef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136886" y="2493220"/>
              <a:ext cx="82416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000" dirty="0"/>
                <a:t>a = 0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136886" y="3030136"/>
              <a:ext cx="82416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000" dirty="0"/>
                <a:t>a = 1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3383888" y="2465607"/>
              <a:ext cx="31311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b</a:t>
              </a:r>
            </a:p>
          </p:txBody>
        </p:sp>
      </p:grpSp>
      <p:sp>
        <p:nvSpPr>
          <p:cNvPr id="51" name="TextBox 50"/>
          <p:cNvSpPr txBox="1"/>
          <p:nvPr/>
        </p:nvSpPr>
        <p:spPr>
          <a:xfrm>
            <a:off x="4739866" y="2623399"/>
            <a:ext cx="3126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b</a:t>
            </a:r>
          </a:p>
        </p:txBody>
      </p:sp>
      <p:cxnSp>
        <p:nvCxnSpPr>
          <p:cNvPr id="36" name="Straight Connector 35"/>
          <p:cNvCxnSpPr/>
          <p:nvPr/>
        </p:nvCxnSpPr>
        <p:spPr>
          <a:xfrm>
            <a:off x="4793838" y="2683357"/>
            <a:ext cx="25414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/>
          <p:nvPr/>
        </p:nvCxnSpPr>
        <p:spPr>
          <a:xfrm>
            <a:off x="10014708" y="2320127"/>
            <a:ext cx="25414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1" name="Group 60"/>
          <p:cNvGrpSpPr/>
          <p:nvPr/>
        </p:nvGrpSpPr>
        <p:grpSpPr>
          <a:xfrm>
            <a:off x="5353465" y="1797029"/>
            <a:ext cx="5314535" cy="1281392"/>
            <a:chOff x="5205707" y="1974509"/>
            <a:chExt cx="5314535" cy="1281392"/>
          </a:xfrm>
        </p:grpSpPr>
        <p:sp>
          <p:nvSpPr>
            <p:cNvPr id="62" name="Flowchart: Summing Junction 61"/>
            <p:cNvSpPr/>
            <p:nvPr/>
          </p:nvSpPr>
          <p:spPr>
            <a:xfrm>
              <a:off x="6240780" y="1974509"/>
              <a:ext cx="594360" cy="525780"/>
            </a:xfrm>
            <a:prstGeom prst="flowChartSummingJunction">
              <a:avLst/>
            </a:prstGeom>
            <a:solidFill>
              <a:srgbClr val="FF0000">
                <a:alpha val="20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5205707" y="1980473"/>
              <a:ext cx="38356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/>
                <a:t>b</a:t>
              </a:r>
            </a:p>
          </p:txBody>
        </p:sp>
        <p:cxnSp>
          <p:nvCxnSpPr>
            <p:cNvPr id="64" name="Straight Arrow Connector 63"/>
            <p:cNvCxnSpPr>
              <a:stCxn id="63" idx="3"/>
              <a:endCxn id="62" idx="2"/>
            </p:cNvCxnSpPr>
            <p:nvPr/>
          </p:nvCxnSpPr>
          <p:spPr>
            <a:xfrm flipV="1">
              <a:off x="5589270" y="2237399"/>
              <a:ext cx="651510" cy="4684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Arrow Connector 64"/>
            <p:cNvCxnSpPr>
              <a:stCxn id="62" idx="6"/>
            </p:cNvCxnSpPr>
            <p:nvPr/>
          </p:nvCxnSpPr>
          <p:spPr>
            <a:xfrm flipV="1">
              <a:off x="6835140" y="2232715"/>
              <a:ext cx="621811" cy="4684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65"/>
            <p:cNvCxnSpPr>
              <a:endCxn id="62" idx="4"/>
            </p:cNvCxnSpPr>
            <p:nvPr/>
          </p:nvCxnSpPr>
          <p:spPr>
            <a:xfrm flipV="1">
              <a:off x="6537960" y="2500289"/>
              <a:ext cx="0" cy="274026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TextBox 66"/>
            <p:cNvSpPr txBox="1"/>
            <p:nvPr/>
          </p:nvSpPr>
          <p:spPr>
            <a:xfrm>
              <a:off x="6382997" y="2732681"/>
              <a:ext cx="38356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/>
                <a:t>a</a:t>
              </a: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7529518" y="1974509"/>
              <a:ext cx="2990724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/>
                <a:t>If a=0, output = b</a:t>
              </a:r>
            </a:p>
            <a:p>
              <a:r>
                <a:rPr lang="en-US" sz="2800" dirty="0">
                  <a:solidFill>
                    <a:schemeClr val="bg1"/>
                  </a:solidFill>
                </a:rPr>
                <a:t>If </a:t>
              </a:r>
              <a:r>
                <a:rPr lang="en-US" sz="2800" dirty="0"/>
                <a:t>a=1, output = b</a:t>
              </a:r>
            </a:p>
          </p:txBody>
        </p:sp>
      </p:grpSp>
      <p:graphicFrame>
        <p:nvGraphicFramePr>
          <p:cNvPr id="75" name="Table 74"/>
          <p:cNvGraphicFramePr>
            <a:graphicFrameLocks noGrp="1"/>
          </p:cNvGraphicFramePr>
          <p:nvPr/>
        </p:nvGraphicFramePr>
        <p:xfrm>
          <a:off x="2039285" y="4534679"/>
          <a:ext cx="2441490" cy="1122045"/>
        </p:xfrm>
        <a:graphic>
          <a:graphicData uri="http://schemas.openxmlformats.org/drawingml/2006/table">
            <a:tbl>
              <a:tblPr firstRow="1" firstCol="1" bandRow="1"/>
              <a:tblGrid>
                <a:gridCol w="488532">
                  <a:extLst>
                    <a:ext uri="{9D8B030D-6E8A-4147-A177-3AD203B41FA5}">
                      <a16:colId xmlns:a16="http://schemas.microsoft.com/office/drawing/2014/main" val="2636072159"/>
                    </a:ext>
                  </a:extLst>
                </a:gridCol>
                <a:gridCol w="488532">
                  <a:extLst>
                    <a:ext uri="{9D8B030D-6E8A-4147-A177-3AD203B41FA5}">
                      <a16:colId xmlns:a16="http://schemas.microsoft.com/office/drawing/2014/main" val="194243522"/>
                    </a:ext>
                  </a:extLst>
                </a:gridCol>
                <a:gridCol w="487362">
                  <a:extLst>
                    <a:ext uri="{9D8B030D-6E8A-4147-A177-3AD203B41FA5}">
                      <a16:colId xmlns:a16="http://schemas.microsoft.com/office/drawing/2014/main" val="1165046985"/>
                    </a:ext>
                  </a:extLst>
                </a:gridCol>
                <a:gridCol w="488532">
                  <a:extLst>
                    <a:ext uri="{9D8B030D-6E8A-4147-A177-3AD203B41FA5}">
                      <a16:colId xmlns:a16="http://schemas.microsoft.com/office/drawing/2014/main" val="901581374"/>
                    </a:ext>
                  </a:extLst>
                </a:gridCol>
                <a:gridCol w="488532">
                  <a:extLst>
                    <a:ext uri="{9D8B030D-6E8A-4147-A177-3AD203B41FA5}">
                      <a16:colId xmlns:a16="http://schemas.microsoft.com/office/drawing/2014/main" val="213463203"/>
                    </a:ext>
                  </a:extLst>
                </a:gridCol>
              </a:tblGrid>
              <a:tr h="2875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sz="2400" baseline="-25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sz="2400" b="1" baseline="-25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2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sz="2400" baseline="-25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sz="2400" baseline="-25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8099583"/>
                  </a:ext>
                </a:extLst>
              </a:tr>
              <a:tr h="2875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^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6807101"/>
                  </a:ext>
                </a:extLst>
              </a:tr>
              <a:tr h="2875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sz="2400" baseline="-25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baseline="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sz="2400" b="1" baseline="-250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2400" b="1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sz="2400" baseline="-25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sz="2400" baseline="-25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6574299"/>
                  </a:ext>
                </a:extLst>
              </a:tr>
            </a:tbl>
          </a:graphicData>
        </a:graphic>
      </p:graphicFrame>
      <p:cxnSp>
        <p:nvCxnSpPr>
          <p:cNvPr id="37" name="Straight Connector 36"/>
          <p:cNvCxnSpPr/>
          <p:nvPr/>
        </p:nvCxnSpPr>
        <p:spPr>
          <a:xfrm>
            <a:off x="3137230" y="5338976"/>
            <a:ext cx="25414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C7DA4BD-2314-F26B-7630-50A71C204C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6667690"/>
              </p:ext>
            </p:extLst>
          </p:nvPr>
        </p:nvGraphicFramePr>
        <p:xfrm>
          <a:off x="7389018" y="3560470"/>
          <a:ext cx="2441490" cy="1122045"/>
        </p:xfrm>
        <a:graphic>
          <a:graphicData uri="http://schemas.openxmlformats.org/drawingml/2006/table">
            <a:tbl>
              <a:tblPr firstRow="1" firstCol="1" bandRow="1"/>
              <a:tblGrid>
                <a:gridCol w="488532">
                  <a:extLst>
                    <a:ext uri="{9D8B030D-6E8A-4147-A177-3AD203B41FA5}">
                      <a16:colId xmlns:a16="http://schemas.microsoft.com/office/drawing/2014/main" val="2636072159"/>
                    </a:ext>
                  </a:extLst>
                </a:gridCol>
                <a:gridCol w="488532">
                  <a:extLst>
                    <a:ext uri="{9D8B030D-6E8A-4147-A177-3AD203B41FA5}">
                      <a16:colId xmlns:a16="http://schemas.microsoft.com/office/drawing/2014/main" val="194243522"/>
                    </a:ext>
                  </a:extLst>
                </a:gridCol>
                <a:gridCol w="487362">
                  <a:extLst>
                    <a:ext uri="{9D8B030D-6E8A-4147-A177-3AD203B41FA5}">
                      <a16:colId xmlns:a16="http://schemas.microsoft.com/office/drawing/2014/main" val="1165046985"/>
                    </a:ext>
                  </a:extLst>
                </a:gridCol>
                <a:gridCol w="488532">
                  <a:extLst>
                    <a:ext uri="{9D8B030D-6E8A-4147-A177-3AD203B41FA5}">
                      <a16:colId xmlns:a16="http://schemas.microsoft.com/office/drawing/2014/main" val="901581374"/>
                    </a:ext>
                  </a:extLst>
                </a:gridCol>
                <a:gridCol w="488532">
                  <a:extLst>
                    <a:ext uri="{9D8B030D-6E8A-4147-A177-3AD203B41FA5}">
                      <a16:colId xmlns:a16="http://schemas.microsoft.com/office/drawing/2014/main" val="2134632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8099583"/>
                  </a:ext>
                </a:extLst>
              </a:tr>
              <a:tr h="2875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^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highlight>
                            <a:srgbClr val="00FFFF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FF0000"/>
                          </a:solidFill>
                          <a:effectLst/>
                          <a:highlight>
                            <a:srgbClr val="00FFFF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highlight>
                            <a:srgbClr val="00FFFF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highlight>
                            <a:srgbClr val="00FFFF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6807101"/>
                  </a:ext>
                </a:extLst>
              </a:tr>
              <a:tr h="2875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baseline="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400" b="1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657429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2419C03F-0BEC-0652-8056-186D3F0CB432}"/>
              </a:ext>
            </a:extLst>
          </p:cNvPr>
          <p:cNvSpPr txBox="1"/>
          <p:nvPr/>
        </p:nvSpPr>
        <p:spPr>
          <a:xfrm>
            <a:off x="9830508" y="3560470"/>
            <a:ext cx="1497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Your number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ACBA2D-28AF-FBC3-2054-BE083213A74B}"/>
              </a:ext>
            </a:extLst>
          </p:cNvPr>
          <p:cNvSpPr txBox="1"/>
          <p:nvPr/>
        </p:nvSpPr>
        <p:spPr>
          <a:xfrm>
            <a:off x="9830508" y="3918754"/>
            <a:ext cx="1069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Bit mask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91FC32-5013-EDA2-293A-2E457D2BCF12}"/>
              </a:ext>
            </a:extLst>
          </p:cNvPr>
          <p:cNvSpPr txBox="1"/>
          <p:nvPr/>
        </p:nvSpPr>
        <p:spPr>
          <a:xfrm>
            <a:off x="9835878" y="4277038"/>
            <a:ext cx="838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Result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E62E86-FF39-1769-74CC-A2F44DB25676}"/>
              </a:ext>
            </a:extLst>
          </p:cNvPr>
          <p:cNvSpPr txBox="1"/>
          <p:nvPr/>
        </p:nvSpPr>
        <p:spPr>
          <a:xfrm>
            <a:off x="8327919" y="3167042"/>
            <a:ext cx="1133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Example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8A46FD3-8487-5EF9-812D-E650AE22E2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6131278"/>
              </p:ext>
            </p:extLst>
          </p:nvPr>
        </p:nvGraphicFramePr>
        <p:xfrm>
          <a:off x="7389018" y="5338976"/>
          <a:ext cx="2441490" cy="1122045"/>
        </p:xfrm>
        <a:graphic>
          <a:graphicData uri="http://schemas.openxmlformats.org/drawingml/2006/table">
            <a:tbl>
              <a:tblPr firstRow="1" firstCol="1" bandRow="1"/>
              <a:tblGrid>
                <a:gridCol w="488532">
                  <a:extLst>
                    <a:ext uri="{9D8B030D-6E8A-4147-A177-3AD203B41FA5}">
                      <a16:colId xmlns:a16="http://schemas.microsoft.com/office/drawing/2014/main" val="2636072159"/>
                    </a:ext>
                  </a:extLst>
                </a:gridCol>
                <a:gridCol w="488532">
                  <a:extLst>
                    <a:ext uri="{9D8B030D-6E8A-4147-A177-3AD203B41FA5}">
                      <a16:colId xmlns:a16="http://schemas.microsoft.com/office/drawing/2014/main" val="194243522"/>
                    </a:ext>
                  </a:extLst>
                </a:gridCol>
                <a:gridCol w="487362">
                  <a:extLst>
                    <a:ext uri="{9D8B030D-6E8A-4147-A177-3AD203B41FA5}">
                      <a16:colId xmlns:a16="http://schemas.microsoft.com/office/drawing/2014/main" val="1165046985"/>
                    </a:ext>
                  </a:extLst>
                </a:gridCol>
                <a:gridCol w="488532">
                  <a:extLst>
                    <a:ext uri="{9D8B030D-6E8A-4147-A177-3AD203B41FA5}">
                      <a16:colId xmlns:a16="http://schemas.microsoft.com/office/drawing/2014/main" val="901581374"/>
                    </a:ext>
                  </a:extLst>
                </a:gridCol>
                <a:gridCol w="488532">
                  <a:extLst>
                    <a:ext uri="{9D8B030D-6E8A-4147-A177-3AD203B41FA5}">
                      <a16:colId xmlns:a16="http://schemas.microsoft.com/office/drawing/2014/main" val="2134632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baseline="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400" b="1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8099583"/>
                  </a:ext>
                </a:extLst>
              </a:tr>
              <a:tr h="2875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^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highlight>
                            <a:srgbClr val="00FFFF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FF0000"/>
                          </a:solidFill>
                          <a:effectLst/>
                          <a:highlight>
                            <a:srgbClr val="00FFFF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highlight>
                            <a:srgbClr val="00FFFF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highlight>
                            <a:srgbClr val="00FFFF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6807101"/>
                  </a:ext>
                </a:extLst>
              </a:tr>
              <a:tr h="2875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baseline="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400" b="1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6574299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B932AE08-04D8-963E-5B52-F89D91AAC5DE}"/>
              </a:ext>
            </a:extLst>
          </p:cNvPr>
          <p:cNvSpPr txBox="1"/>
          <p:nvPr/>
        </p:nvSpPr>
        <p:spPr>
          <a:xfrm>
            <a:off x="9830508" y="5338976"/>
            <a:ext cx="1497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Your number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BAB84F5-87B9-FCEF-4C28-4F3BC6D03C99}"/>
              </a:ext>
            </a:extLst>
          </p:cNvPr>
          <p:cNvSpPr txBox="1"/>
          <p:nvPr/>
        </p:nvSpPr>
        <p:spPr>
          <a:xfrm>
            <a:off x="9830508" y="5697260"/>
            <a:ext cx="1069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Bit mask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48B65C6-171F-06DE-D968-436988FDBCD9}"/>
              </a:ext>
            </a:extLst>
          </p:cNvPr>
          <p:cNvSpPr txBox="1"/>
          <p:nvPr/>
        </p:nvSpPr>
        <p:spPr>
          <a:xfrm>
            <a:off x="9835878" y="6055544"/>
            <a:ext cx="838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Result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7086E91-7177-0E42-0ADC-2445F0DE8458}"/>
              </a:ext>
            </a:extLst>
          </p:cNvPr>
          <p:cNvSpPr txBox="1"/>
          <p:nvPr/>
        </p:nvSpPr>
        <p:spPr>
          <a:xfrm>
            <a:off x="8327919" y="4945548"/>
            <a:ext cx="1133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Example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4B32F7-364B-EA5E-0108-6E2B473FEC5E}"/>
              </a:ext>
            </a:extLst>
          </p:cNvPr>
          <p:cNvSpPr txBox="1"/>
          <p:nvPr/>
        </p:nvSpPr>
        <p:spPr>
          <a:xfrm>
            <a:off x="10598104" y="882723"/>
            <a:ext cx="1346844" cy="584775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b="1" dirty="0" err="1">
                <a:solidFill>
                  <a:srgbClr val="00B0F0"/>
                </a:solidFill>
              </a:rPr>
              <a:t>CPULator</a:t>
            </a:r>
            <a:r>
              <a:rPr lang="en-US" sz="1600" b="1" dirty="0">
                <a:solidFill>
                  <a:srgbClr val="00B0F0"/>
                </a:solidFill>
              </a:rPr>
              <a:t>: </a:t>
            </a:r>
            <a:br>
              <a:rPr lang="en-US" sz="1600" b="1" dirty="0">
                <a:solidFill>
                  <a:srgbClr val="00B0F0"/>
                </a:solidFill>
              </a:rPr>
            </a:br>
            <a:r>
              <a:rPr lang="en-US" sz="1600" b="1" dirty="0">
                <a:solidFill>
                  <a:srgbClr val="FF0000"/>
                </a:solidFill>
              </a:rPr>
              <a:t>XOE_EOR.s</a:t>
            </a:r>
          </a:p>
        </p:txBody>
      </p:sp>
    </p:spTree>
    <p:extLst>
      <p:ext uri="{BB962C8B-B14F-4D97-AF65-F5344CB8AC3E}">
        <p14:creationId xmlns:p14="http://schemas.microsoft.com/office/powerpoint/2010/main" val="42579956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1001827"/>
              </p:ext>
            </p:extLst>
          </p:nvPr>
        </p:nvGraphicFramePr>
        <p:xfrm>
          <a:off x="1420365" y="1975821"/>
          <a:ext cx="9065737" cy="3399967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20429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32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94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60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574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71500" algn="l"/>
                        </a:tabLst>
                      </a:pPr>
                      <a:r>
                        <a:rPr lang="en-US" sz="2400" b="1" i="1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Instruction</a:t>
                      </a:r>
                      <a:endParaRPr lang="en-US" sz="2400" dirty="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73025" marR="73025" marT="8890" marB="889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71500" algn="l"/>
                        </a:tabLst>
                      </a:pPr>
                      <a:r>
                        <a:rPr lang="en-US" sz="2400" b="1" i="1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Syntax</a:t>
                      </a:r>
                      <a:endParaRPr lang="en-US" sz="2400" dirty="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73025" marR="73025" marT="8890" marB="889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i="1">
                          <a:solidFill>
                            <a:schemeClr val="bg1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Operation</a:t>
                      </a:r>
                      <a:endParaRPr lang="en-US" sz="240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73025" marR="73025" marT="8890" marB="889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i="1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Flags</a:t>
                      </a:r>
                      <a:endParaRPr lang="en-US" sz="2400" dirty="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73025" marR="73025" marT="8890" marB="889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03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00050" algn="l"/>
                        </a:tabLs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Bitwise </a:t>
                      </a:r>
                      <a:r>
                        <a:rPr lang="en-US" sz="1800" b="1" dirty="0">
                          <a:solidFill>
                            <a:srgbClr val="00B05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AND</a:t>
                      </a:r>
                      <a:endParaRPr lang="en-US" sz="2400" b="1" dirty="0">
                        <a:solidFill>
                          <a:srgbClr val="00B05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657225" algn="l"/>
                        </a:tabLst>
                      </a:pPr>
                      <a:r>
                        <a:rPr lang="en-US" sz="2000" b="1" dirty="0">
                          <a:solidFill>
                            <a:srgbClr val="00B05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AND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{S}</a:t>
                      </a:r>
                      <a:r>
                        <a:rPr lang="en-US" sz="1600" dirty="0">
                          <a:solidFill>
                            <a:srgbClr val="FF0000"/>
                          </a:solidFill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	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R</a:t>
                      </a:r>
                      <a:r>
                        <a:rPr lang="en-US" sz="2000" baseline="-25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d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,R</a:t>
                      </a:r>
                      <a:r>
                        <a:rPr lang="en-US" sz="2000" baseline="-25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n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,</a:t>
                      </a:r>
                      <a:r>
                        <a:rPr lang="en-US" sz="2000" i="1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Op2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R</a:t>
                      </a:r>
                      <a:r>
                        <a:rPr lang="en-US" sz="2000" baseline="-25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d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 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  <a:sym typeface="Wingdings"/>
                        </a:rPr>
                        <a:t>=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 R</a:t>
                      </a:r>
                      <a:r>
                        <a:rPr lang="en-US" sz="2000" baseline="-25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n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 &amp; </a:t>
                      </a:r>
                      <a:r>
                        <a:rPr lang="en-US" sz="2000" i="1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Op2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N,Z,C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403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00050" algn="l"/>
                        </a:tabLst>
                      </a:pPr>
                      <a:r>
                        <a:rPr lang="en-US" sz="1800" b="1" dirty="0">
                          <a:solidFill>
                            <a:srgbClr val="0000FF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Bit Clear</a:t>
                      </a:r>
                      <a:endParaRPr lang="en-US" sz="2400" b="1" dirty="0">
                        <a:solidFill>
                          <a:srgbClr val="0000FF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914400" algn="l"/>
                        </a:tabLst>
                      </a:pPr>
                      <a:r>
                        <a:rPr lang="en-US" sz="2000" b="1" dirty="0">
                          <a:solidFill>
                            <a:srgbClr val="0000FF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BIC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{S}</a:t>
                      </a:r>
                      <a:r>
                        <a:rPr lang="en-US" sz="1600" dirty="0">
                          <a:solidFill>
                            <a:srgbClr val="FF0000"/>
                          </a:solidFill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	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R</a:t>
                      </a:r>
                      <a:r>
                        <a:rPr lang="en-US" sz="2000" baseline="-25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d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,R</a:t>
                      </a:r>
                      <a:r>
                        <a:rPr lang="en-US" sz="2000" baseline="-25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n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,</a:t>
                      </a:r>
                      <a:r>
                        <a:rPr lang="en-US" sz="2000" i="1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Op2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R</a:t>
                      </a:r>
                      <a:r>
                        <a:rPr lang="en-US" sz="2000" baseline="-25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d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 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  <a:sym typeface="Wingdings"/>
                        </a:rPr>
                        <a:t>=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 R</a:t>
                      </a:r>
                      <a:r>
                        <a:rPr lang="en-US" sz="2000" baseline="-25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n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 &amp; ~</a:t>
                      </a:r>
                      <a:r>
                        <a:rPr lang="en-US" sz="2000" i="1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Op2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N,Z,C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9069843"/>
                  </a:ext>
                </a:extLst>
              </a:tr>
              <a:tr h="48403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00050" algn="l"/>
                        </a:tabLs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Calibri"/>
                        </a:rPr>
                        <a:t>Bitwise </a:t>
                      </a:r>
                      <a:r>
                        <a:rPr lang="en-US" sz="1800" b="1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Times New Roman"/>
                          <a:cs typeface="Calibri"/>
                        </a:rPr>
                        <a:t>OR</a:t>
                      </a:r>
                      <a:endParaRPr lang="en-US" sz="2400" b="1" dirty="0">
                        <a:solidFill>
                          <a:srgbClr val="00B05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657225" algn="l"/>
                        </a:tabLst>
                      </a:pPr>
                      <a:r>
                        <a:rPr lang="en-US" sz="2000" b="1" dirty="0">
                          <a:solidFill>
                            <a:srgbClr val="00B05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ORR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{S}</a:t>
                      </a:r>
                      <a:r>
                        <a:rPr lang="en-US" sz="1600" dirty="0">
                          <a:solidFill>
                            <a:srgbClr val="FF0000"/>
                          </a:solidFill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	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R</a:t>
                      </a:r>
                      <a:r>
                        <a:rPr lang="en-US" sz="2000" baseline="-25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d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,R</a:t>
                      </a:r>
                      <a:r>
                        <a:rPr lang="en-US" sz="2000" baseline="-25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n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,</a:t>
                      </a:r>
                      <a:r>
                        <a:rPr lang="en-US" sz="2000" i="1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Op2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R</a:t>
                      </a:r>
                      <a:r>
                        <a:rPr lang="en-US" sz="2000" baseline="-25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d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 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  <a:sym typeface="Wingdings"/>
                        </a:rPr>
                        <a:t>=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 R</a:t>
                      </a:r>
                      <a:r>
                        <a:rPr lang="en-US" sz="2000" baseline="-25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n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 | </a:t>
                      </a:r>
                      <a:r>
                        <a:rPr lang="en-US" sz="2000" i="1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Op2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N,Z,C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403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00050" algn="l"/>
                        </a:tabLst>
                      </a:pPr>
                      <a:r>
                        <a:rPr lang="en-US" sz="1800" b="1" dirty="0">
                          <a:solidFill>
                            <a:srgbClr val="00B05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Exclusive OR</a:t>
                      </a:r>
                      <a:endParaRPr lang="en-US" sz="2400" b="1" dirty="0">
                        <a:solidFill>
                          <a:srgbClr val="00B05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657225" algn="l"/>
                        </a:tabLst>
                      </a:pPr>
                      <a:r>
                        <a:rPr lang="en-US" sz="2000" b="1" dirty="0">
                          <a:solidFill>
                            <a:srgbClr val="00B05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EOR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{S}</a:t>
                      </a:r>
                      <a:r>
                        <a:rPr lang="en-US" sz="1600" dirty="0">
                          <a:solidFill>
                            <a:srgbClr val="FF0000"/>
                          </a:solidFill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	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R</a:t>
                      </a:r>
                      <a:r>
                        <a:rPr lang="en-US" sz="2000" baseline="-25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d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,R</a:t>
                      </a:r>
                      <a:r>
                        <a:rPr lang="en-US" sz="2000" baseline="-25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n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,</a:t>
                      </a:r>
                      <a:r>
                        <a:rPr lang="en-US" sz="2000" i="1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Op2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R</a:t>
                      </a:r>
                      <a:r>
                        <a:rPr lang="en-US" sz="2000" baseline="-25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d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 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  <a:sym typeface="Wingdings"/>
                        </a:rPr>
                        <a:t>=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 R</a:t>
                      </a:r>
                      <a:r>
                        <a:rPr lang="en-US" sz="2000" baseline="-25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n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 ^ </a:t>
                      </a:r>
                      <a:r>
                        <a:rPr lang="en-US" sz="2000" i="1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Op2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N,Z,C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9649437"/>
                  </a:ext>
                </a:extLst>
              </a:tr>
              <a:tr h="48403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00050" algn="l"/>
                        </a:tabLs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Calibri"/>
                        </a:rPr>
                        <a:t>Bitwise OR 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NOT</a:t>
                      </a:r>
                      <a:endParaRPr lang="en-US" sz="24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657225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ORN{S}</a:t>
                      </a:r>
                      <a:r>
                        <a:rPr lang="en-US" sz="1600" dirty="0">
                          <a:solidFill>
                            <a:srgbClr val="FF0000"/>
                          </a:solidFill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	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R</a:t>
                      </a:r>
                      <a:r>
                        <a:rPr lang="en-US" sz="2000" baseline="-25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d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,R</a:t>
                      </a:r>
                      <a:r>
                        <a:rPr lang="en-US" sz="2000" baseline="-25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n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,</a:t>
                      </a:r>
                      <a:r>
                        <a:rPr lang="en-US" sz="2000" i="1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Op2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R</a:t>
                      </a:r>
                      <a:r>
                        <a:rPr lang="en-US" sz="2000" baseline="-25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d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 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  <a:sym typeface="Wingdings"/>
                        </a:rPr>
                        <a:t>=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 R</a:t>
                      </a:r>
                      <a:r>
                        <a:rPr lang="en-US" sz="2000" baseline="-25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n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 | ~</a:t>
                      </a:r>
                      <a:r>
                        <a:rPr lang="en-US" sz="2000" i="1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Op2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N,Z,C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403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00050" algn="l"/>
                        </a:tabLs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Move NOT</a:t>
                      </a:r>
                      <a:endParaRPr lang="en-US" sz="24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657225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MVN{S}</a:t>
                      </a:r>
                      <a:r>
                        <a:rPr lang="en-US" sz="1600" dirty="0">
                          <a:solidFill>
                            <a:srgbClr val="FF0000"/>
                          </a:solidFill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	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R</a:t>
                      </a:r>
                      <a:r>
                        <a:rPr lang="en-US" sz="2000" baseline="-2500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d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,R</a:t>
                      </a:r>
                      <a:r>
                        <a:rPr lang="en-US" sz="2000" baseline="-2500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n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R</a:t>
                      </a:r>
                      <a:r>
                        <a:rPr lang="en-US" sz="2000" baseline="-25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d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 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  <a:sym typeface="Wingdings"/>
                        </a:rPr>
                        <a:t>=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 ~R</a:t>
                      </a:r>
                      <a:r>
                        <a:rPr lang="en-US" sz="2000" baseline="-25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n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N,Z,C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952558" y="738133"/>
            <a:ext cx="5753042" cy="628853"/>
          </a:xfrm>
        </p:spPr>
        <p:txBody>
          <a:bodyPr/>
          <a:lstStyle/>
          <a:p>
            <a:r>
              <a:rPr lang="en-US" dirty="0"/>
              <a:t>BITWISE INSTRUCTIONS</a:t>
            </a:r>
          </a:p>
        </p:txBody>
      </p:sp>
    </p:spTree>
    <p:extLst>
      <p:ext uri="{BB962C8B-B14F-4D97-AF65-F5344CB8AC3E}">
        <p14:creationId xmlns:p14="http://schemas.microsoft.com/office/powerpoint/2010/main" val="3390993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087218" y="4744252"/>
            <a:ext cx="3356149" cy="1416818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087217" y="3151211"/>
            <a:ext cx="3356149" cy="1416818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6087218" y="1558171"/>
            <a:ext cx="3356149" cy="1416818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6912" y="722371"/>
            <a:ext cx="7424928" cy="675188"/>
          </a:xfrm>
        </p:spPr>
        <p:txBody>
          <a:bodyPr>
            <a:normAutofit/>
          </a:bodyPr>
          <a:lstStyle/>
          <a:p>
            <a:r>
              <a:rPr lang="en-US" dirty="0"/>
              <a:t>USING BITWISE INSTRUCTIONS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29523" y="1512829"/>
            <a:ext cx="3321896" cy="4720590"/>
          </a:xfrm>
        </p:spPr>
        <p:txBody>
          <a:bodyPr>
            <a:normAutofit/>
          </a:bodyPr>
          <a:lstStyle/>
          <a:p>
            <a:pPr>
              <a:tabLst>
                <a:tab pos="5029200" algn="l"/>
                <a:tab pos="5943600" algn="l"/>
              </a:tabLst>
            </a:pPr>
            <a:r>
              <a:rPr lang="en-US" dirty="0">
                <a:solidFill>
                  <a:schemeClr val="tx1"/>
                </a:solidFill>
              </a:rPr>
              <a:t>Set a bit to 1 without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affecting other bits:</a:t>
            </a:r>
            <a:endParaRPr lang="en-US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800100" lvl="2" indent="0">
              <a:buNone/>
              <a:tabLst>
                <a:tab pos="5029200" algn="l"/>
                <a:tab pos="5943600" algn="l"/>
              </a:tabLst>
            </a:pP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X |= (1 &lt;&lt; 5);</a:t>
            </a:r>
            <a:endParaRPr lang="en-US" dirty="0">
              <a:solidFill>
                <a:schemeClr val="tx1"/>
              </a:solidFill>
            </a:endParaRPr>
          </a:p>
          <a:p>
            <a:pPr>
              <a:spcBef>
                <a:spcPts val="1800"/>
              </a:spcBef>
              <a:tabLst>
                <a:tab pos="5029200" algn="l"/>
                <a:tab pos="5943600" algn="l"/>
              </a:tabLst>
            </a:pPr>
            <a:endParaRPr lang="en-US" dirty="0">
              <a:solidFill>
                <a:schemeClr val="tx1"/>
              </a:solidFill>
            </a:endParaRPr>
          </a:p>
          <a:p>
            <a:pPr>
              <a:spcBef>
                <a:spcPts val="1800"/>
              </a:spcBef>
              <a:tabLst>
                <a:tab pos="5029200" algn="l"/>
                <a:tab pos="5943600" algn="l"/>
              </a:tabLst>
            </a:pPr>
            <a:r>
              <a:rPr lang="en-US" dirty="0">
                <a:solidFill>
                  <a:schemeClr val="tx1"/>
                </a:solidFill>
              </a:rPr>
              <a:t>Clear a bit to 0 without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affecting other bits:</a:t>
            </a:r>
            <a:endParaRPr lang="en-US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800100" lvl="2" indent="0">
              <a:buNone/>
              <a:tabLst>
                <a:tab pos="5029200" algn="l"/>
                <a:tab pos="5943600" algn="l"/>
              </a:tabLst>
            </a:pP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X &amp;= ~(1 &lt;&lt; 5);</a:t>
            </a:r>
            <a:endParaRPr lang="en-US" dirty="0">
              <a:solidFill>
                <a:schemeClr val="tx1"/>
              </a:solidFill>
            </a:endParaRPr>
          </a:p>
          <a:p>
            <a:pPr>
              <a:spcBef>
                <a:spcPts val="1200"/>
              </a:spcBef>
              <a:tabLst>
                <a:tab pos="5029200" algn="l"/>
                <a:tab pos="5943600" algn="l"/>
              </a:tabLst>
            </a:pPr>
            <a:endParaRPr lang="en-US" dirty="0">
              <a:solidFill>
                <a:schemeClr val="tx1"/>
              </a:solidFill>
            </a:endParaRPr>
          </a:p>
          <a:p>
            <a:pPr>
              <a:spcBef>
                <a:spcPts val="1200"/>
              </a:spcBef>
              <a:tabLst>
                <a:tab pos="5029200" algn="l"/>
                <a:tab pos="5943600" algn="l"/>
              </a:tabLst>
            </a:pPr>
            <a:r>
              <a:rPr lang="en-US" dirty="0">
                <a:solidFill>
                  <a:schemeClr val="tx1"/>
                </a:solidFill>
              </a:rPr>
              <a:t>Change a bit without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affecting other bits.</a:t>
            </a:r>
            <a:endParaRPr lang="en-US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800100" lvl="2" indent="0">
              <a:buNone/>
              <a:tabLst>
                <a:tab pos="5029200" algn="l"/>
                <a:tab pos="5943600" algn="l"/>
              </a:tabLst>
            </a:pP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X ^= (1 &lt;&lt; 5);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6087216" y="1563111"/>
            <a:ext cx="3356150" cy="45979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  <a:tabLst>
                <a:tab pos="914400" algn="l"/>
                <a:tab pos="5029200" algn="l"/>
                <a:tab pos="5943600" algn="l"/>
              </a:tabLst>
            </a:pPr>
            <a:r>
              <a:rPr lang="en-US" sz="2000" dirty="0">
                <a:latin typeface="Consolas" panose="020B0609020204030204" pitchFamily="49" charset="0"/>
              </a:rPr>
              <a:t>LDR	R1,=x</a:t>
            </a:r>
          </a:p>
          <a:p>
            <a:pPr marL="0" indent="0">
              <a:spcBef>
                <a:spcPts val="0"/>
              </a:spcBef>
              <a:buNone/>
              <a:tabLst>
                <a:tab pos="914400" algn="l"/>
                <a:tab pos="5029200" algn="l"/>
                <a:tab pos="5943600" algn="l"/>
              </a:tabLst>
            </a:pPr>
            <a:r>
              <a:rPr lang="en-US" sz="2000" dirty="0">
                <a:latin typeface="Consolas" panose="020B0609020204030204" pitchFamily="49" charset="0"/>
              </a:rPr>
              <a:t>LDR	R0,[R1]</a:t>
            </a:r>
            <a:br>
              <a:rPr lang="en-US" sz="2800" dirty="0"/>
            </a:b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</a:rPr>
              <a:t>ORR	R0,R0,1&lt;&lt;5</a:t>
            </a:r>
          </a:p>
          <a:p>
            <a:pPr marL="0" lvl="2" indent="0">
              <a:spcBef>
                <a:spcPts val="0"/>
              </a:spcBef>
              <a:buNone/>
              <a:tabLst>
                <a:tab pos="914400" algn="l"/>
                <a:tab pos="5029200" algn="l"/>
                <a:tab pos="5943600" algn="l"/>
              </a:tabLst>
            </a:pPr>
            <a:r>
              <a:rPr lang="en-US" sz="2000" dirty="0">
                <a:latin typeface="Consolas" panose="020B0609020204030204" pitchFamily="49" charset="0"/>
              </a:rPr>
              <a:t>STR	R0,[R1]</a:t>
            </a:r>
            <a:endParaRPr lang="en-US" sz="2000" dirty="0"/>
          </a:p>
          <a:p>
            <a:pPr marL="0" indent="0">
              <a:spcBef>
                <a:spcPts val="3000"/>
              </a:spcBef>
              <a:buNone/>
              <a:tabLst>
                <a:tab pos="914400" algn="l"/>
                <a:tab pos="5029200" algn="l"/>
                <a:tab pos="5943600" algn="l"/>
              </a:tabLst>
            </a:pPr>
            <a:r>
              <a:rPr lang="en-US" sz="2000" dirty="0">
                <a:latin typeface="Consolas" panose="020B0609020204030204" pitchFamily="49" charset="0"/>
              </a:rPr>
              <a:t>LDR	R1,=x</a:t>
            </a:r>
            <a:br>
              <a:rPr lang="en-US" sz="2000" dirty="0">
                <a:latin typeface="Consolas" panose="020B0609020204030204" pitchFamily="49" charset="0"/>
              </a:rPr>
            </a:br>
            <a:r>
              <a:rPr lang="en-US" sz="2000" dirty="0">
                <a:latin typeface="Consolas" panose="020B0609020204030204" pitchFamily="49" charset="0"/>
              </a:rPr>
              <a:t>LDR	R0,[R1]</a:t>
            </a:r>
            <a:br>
              <a:rPr lang="en-US" sz="2800" dirty="0"/>
            </a:b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</a:rPr>
              <a:t>BIC	R0,R0,1&lt;&lt;5</a:t>
            </a:r>
          </a:p>
          <a:p>
            <a:pPr marL="0" lvl="2" indent="0">
              <a:spcBef>
                <a:spcPts val="0"/>
              </a:spcBef>
              <a:buNone/>
              <a:tabLst>
                <a:tab pos="914400" algn="l"/>
                <a:tab pos="5029200" algn="l"/>
                <a:tab pos="5943600" algn="l"/>
              </a:tabLst>
            </a:pPr>
            <a:r>
              <a:rPr lang="en-US" sz="2000" dirty="0">
                <a:latin typeface="Consolas" panose="020B0609020204030204" pitchFamily="49" charset="0"/>
              </a:rPr>
              <a:t>STR	R0,[R1]</a:t>
            </a:r>
            <a:endParaRPr lang="en-US" sz="2000" dirty="0"/>
          </a:p>
          <a:p>
            <a:pPr marL="0" indent="0">
              <a:spcBef>
                <a:spcPts val="3000"/>
              </a:spcBef>
              <a:buNone/>
              <a:tabLst>
                <a:tab pos="914400" algn="l"/>
                <a:tab pos="5029200" algn="l"/>
                <a:tab pos="5943600" algn="l"/>
              </a:tabLst>
            </a:pPr>
            <a:r>
              <a:rPr lang="en-US" sz="2000" dirty="0">
                <a:latin typeface="Consolas" panose="020B0609020204030204" pitchFamily="49" charset="0"/>
              </a:rPr>
              <a:t>LDR	R1,=x</a:t>
            </a:r>
          </a:p>
          <a:p>
            <a:pPr marL="0" indent="0">
              <a:spcBef>
                <a:spcPts val="0"/>
              </a:spcBef>
              <a:buNone/>
              <a:tabLst>
                <a:tab pos="914400" algn="l"/>
                <a:tab pos="5029200" algn="l"/>
                <a:tab pos="5943600" algn="l"/>
              </a:tabLst>
            </a:pPr>
            <a:r>
              <a:rPr lang="en-US" sz="2000" dirty="0">
                <a:latin typeface="Consolas" panose="020B0609020204030204" pitchFamily="49" charset="0"/>
              </a:rPr>
              <a:t>LDR	R0,[R1]</a:t>
            </a:r>
            <a:br>
              <a:rPr lang="en-US" sz="2800" dirty="0"/>
            </a:b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</a:rPr>
              <a:t>EOR	R0,R0,1&lt;&lt;5</a:t>
            </a:r>
          </a:p>
          <a:p>
            <a:pPr marL="0" lvl="2" indent="0">
              <a:spcBef>
                <a:spcPts val="0"/>
              </a:spcBef>
              <a:buNone/>
              <a:tabLst>
                <a:tab pos="914400" algn="l"/>
                <a:tab pos="5029200" algn="l"/>
                <a:tab pos="5943600" algn="l"/>
              </a:tabLst>
            </a:pPr>
            <a:r>
              <a:rPr lang="en-US" sz="2000" dirty="0">
                <a:latin typeface="Consolas" panose="020B0609020204030204" pitchFamily="49" charset="0"/>
              </a:rPr>
              <a:t>STR	R0,[R1]</a:t>
            </a:r>
            <a:endParaRPr lang="en-US" sz="2000" dirty="0"/>
          </a:p>
        </p:txBody>
      </p:sp>
      <p:sp>
        <p:nvSpPr>
          <p:cNvPr id="9" name="TextBox 8"/>
          <p:cNvSpPr txBox="1"/>
          <p:nvPr/>
        </p:nvSpPr>
        <p:spPr>
          <a:xfrm>
            <a:off x="9817632" y="6396335"/>
            <a:ext cx="2374368" cy="46166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C++ Example 2</a:t>
            </a:r>
          </a:p>
        </p:txBody>
      </p:sp>
    </p:spTree>
    <p:extLst>
      <p:ext uri="{BB962C8B-B14F-4D97-AF65-F5344CB8AC3E}">
        <p14:creationId xmlns:p14="http://schemas.microsoft.com/office/powerpoint/2010/main" val="4908283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6431" y="747880"/>
            <a:ext cx="7247022" cy="659815"/>
          </a:xfrm>
        </p:spPr>
        <p:txBody>
          <a:bodyPr>
            <a:normAutofit/>
          </a:bodyPr>
          <a:lstStyle/>
          <a:p>
            <a:r>
              <a:rPr lang="en-US" dirty="0"/>
              <a:t>USING C BITWISE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6430" y="1621802"/>
            <a:ext cx="10415337" cy="5035671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dirty="0">
                <a:solidFill>
                  <a:schemeClr val="tx1"/>
                </a:solidFill>
              </a:rPr>
              <a:t>Test the value of a single bit in a word</a:t>
            </a:r>
          </a:p>
          <a:p>
            <a:pPr marL="800100" lvl="2" indent="0">
              <a:buNone/>
            </a:pP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if ((word &amp; (1 &lt;&lt; 5)) != 0) </a:t>
            </a:r>
            <a:r>
              <a:rPr lang="en-US" dirty="0">
                <a:solidFill>
                  <a:schemeClr val="tx1"/>
                </a:solidFill>
              </a:rPr>
              <a:t>…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Calculate remainder </a:t>
            </a:r>
            <a:r>
              <a:rPr lang="en-US" b="1" dirty="0" err="1">
                <a:solidFill>
                  <a:srgbClr val="92D050"/>
                </a:solidFill>
              </a:rPr>
              <a:t>n</a:t>
            </a:r>
            <a:r>
              <a:rPr lang="en-US" dirty="0" err="1">
                <a:solidFill>
                  <a:schemeClr val="tx1"/>
                </a:solidFill>
              </a:rPr>
              <a:t>%</a:t>
            </a:r>
            <a:r>
              <a:rPr lang="en-US" b="1" dirty="0" err="1">
                <a:solidFill>
                  <a:srgbClr val="FF0000"/>
                </a:solidFill>
              </a:rPr>
              <a:t>d</a:t>
            </a:r>
            <a:r>
              <a:rPr lang="en-US" baseline="30000" dirty="0"/>
              <a:t> </a:t>
            </a:r>
            <a:r>
              <a:rPr lang="en-US" dirty="0">
                <a:solidFill>
                  <a:schemeClr val="tx1"/>
                </a:solidFill>
              </a:rPr>
              <a:t>when n≥0 and d= 2</a:t>
            </a:r>
            <a:r>
              <a:rPr lang="en-US" baseline="30000" dirty="0">
                <a:solidFill>
                  <a:schemeClr val="tx1"/>
                </a:solidFill>
              </a:rPr>
              <a:t>k</a:t>
            </a:r>
            <a:endParaRPr lang="en-US" dirty="0">
              <a:solidFill>
                <a:schemeClr val="tx1"/>
              </a:solidFill>
            </a:endParaRPr>
          </a:p>
          <a:p>
            <a:pPr marL="800100" lvl="2" indent="0">
              <a:buNone/>
            </a:pP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rem = </a:t>
            </a:r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</a:rPr>
              <a:t>n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 %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16</a:t>
            </a:r>
            <a:r>
              <a:rPr lang="en-US" b="1" baseline="30000" dirty="0">
                <a:solidFill>
                  <a:srgbClr val="FF0000"/>
                </a:solidFill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	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	rem = </a:t>
            </a:r>
            <a:r>
              <a:rPr lang="en-US" b="1" dirty="0">
                <a:solidFill>
                  <a:srgbClr val="92D05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n</a:t>
            </a:r>
            <a:r>
              <a:rPr lang="en-US" dirty="0">
                <a:latin typeface="Consolas" panose="020B0609020204030204" pitchFamily="49" charset="0"/>
                <a:sym typeface="Wingdings" panose="05000000000000000000" pitchFamily="2" charset="2"/>
              </a:rPr>
              <a:t> 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&amp; 0x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F</a:t>
            </a:r>
          </a:p>
          <a:p>
            <a:endParaRPr lang="en-US" dirty="0"/>
          </a:p>
          <a:p>
            <a:r>
              <a:rPr lang="en-US" dirty="0">
                <a:solidFill>
                  <a:schemeClr val="tx1"/>
                </a:solidFill>
              </a:rPr>
              <a:t>Determine if an integer is an odd number</a:t>
            </a:r>
          </a:p>
          <a:p>
            <a:pPr marL="857250" lvl="2" indent="0">
              <a:buNone/>
            </a:pP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92D050"/>
                </a:solidFill>
                <a:latin typeface="Consolas" panose="020B0609020204030204" pitchFamily="49" charset="0"/>
              </a:rPr>
              <a:t>a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%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) == 1	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	(</a:t>
            </a:r>
            <a:r>
              <a:rPr lang="en-US" b="1" dirty="0">
                <a:solidFill>
                  <a:srgbClr val="92D05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a</a:t>
            </a:r>
            <a:r>
              <a:rPr lang="en-US" dirty="0">
                <a:latin typeface="Consolas" panose="020B0609020204030204" pitchFamily="49" charset="0"/>
                <a:sym typeface="Wingdings" panose="05000000000000000000" pitchFamily="2" charset="2"/>
              </a:rPr>
              <a:t> 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&amp;</a:t>
            </a:r>
            <a:r>
              <a:rPr lang="en-US" dirty="0">
                <a:latin typeface="Consolas" panose="020B0609020204030204" pitchFamily="49" charset="0"/>
                <a:sym typeface="Wingdings" panose="05000000000000000000" pitchFamily="2" charset="2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1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) !=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58121" y="3183274"/>
            <a:ext cx="3881265" cy="101566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tIns="91440" bIns="91440" rtlCol="0">
            <a:spAutoFit/>
          </a:bodyPr>
          <a:lstStyle/>
          <a:p>
            <a:pPr marL="1027113" lvl="1"/>
            <a:r>
              <a:rPr lang="en-US" dirty="0"/>
              <a:t>Calculating % takes more ARM CPU instructions than calculating &amp;.</a:t>
            </a:r>
          </a:p>
        </p:txBody>
      </p:sp>
      <p:pic>
        <p:nvPicPr>
          <p:cNvPr id="5" name="Picture 4" descr="http://www.aamu.edu/campuslife/living-on-campus/residentialLife/SiteAssets/pages/default/Warning_sign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362352" y="3240675"/>
            <a:ext cx="971826" cy="83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9817632" y="6396335"/>
            <a:ext cx="2374368" cy="46166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C++ Example 2</a:t>
            </a:r>
          </a:p>
        </p:txBody>
      </p:sp>
    </p:spTree>
    <p:extLst>
      <p:ext uri="{BB962C8B-B14F-4D97-AF65-F5344CB8AC3E}">
        <p14:creationId xmlns:p14="http://schemas.microsoft.com/office/powerpoint/2010/main" val="28436199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32506" y="749192"/>
            <a:ext cx="8793020" cy="618397"/>
          </a:xfrm>
        </p:spPr>
        <p:txBody>
          <a:bodyPr>
            <a:normAutofit/>
          </a:bodyPr>
          <a:lstStyle/>
          <a:p>
            <a:r>
              <a:rPr lang="en-US" dirty="0"/>
              <a:t>Other Values Dependent on Sign of R0</a:t>
            </a:r>
            <a:endParaRPr lang="en-US" sz="3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/>
            </p:nvGraphicFramePr>
            <p:xfrm>
              <a:off x="2057400" y="1737892"/>
              <a:ext cx="6962275" cy="4374149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3394109">
                      <a:extLst>
                        <a:ext uri="{9D8B030D-6E8A-4147-A177-3AD203B41FA5}">
                          <a16:colId xmlns:a16="http://schemas.microsoft.com/office/drawing/2014/main" val="2947290422"/>
                        </a:ext>
                      </a:extLst>
                    </a:gridCol>
                    <a:gridCol w="1840030">
                      <a:extLst>
                        <a:ext uri="{9D8B030D-6E8A-4147-A177-3AD203B41FA5}">
                          <a16:colId xmlns:a16="http://schemas.microsoft.com/office/drawing/2014/main" val="4119301694"/>
                        </a:ext>
                      </a:extLst>
                    </a:gridCol>
                    <a:gridCol w="1728136">
                      <a:extLst>
                        <a:ext uri="{9D8B030D-6E8A-4147-A177-3AD203B41FA5}">
                          <a16:colId xmlns:a16="http://schemas.microsoft.com/office/drawing/2014/main" val="3994573705"/>
                        </a:ext>
                      </a:extLst>
                    </a:gridCol>
                  </a:tblGrid>
                  <a:tr h="407807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i="1" dirty="0">
                              <a:solidFill>
                                <a:schemeClr val="bg1"/>
                              </a:solidFill>
                            </a:rPr>
                            <a:t>Instruction Sequence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i="1" dirty="0">
                              <a:solidFill>
                                <a:schemeClr val="bg1"/>
                              </a:solidFill>
                            </a:rPr>
                            <a:t>Result left in R2: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i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5036141"/>
                      </a:ext>
                    </a:extLst>
                  </a:tr>
                  <a:tr h="703886">
                    <a:tc vMerge="1">
                      <a:txBody>
                        <a:bodyPr/>
                        <a:lstStyle/>
                        <a:p>
                          <a:endParaRPr lang="en-US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chemeClr val="bg1"/>
                              </a:solidFill>
                            </a:rPr>
                            <a:t>When R0 &lt; 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chemeClr val="bg1"/>
                              </a:solidFill>
                            </a:rPr>
                            <a:t>When R0 ≥ 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66546907"/>
                      </a:ext>
                    </a:extLst>
                  </a:tr>
                  <a:tr h="407807">
                    <a:tc>
                      <a:txBody>
                        <a:bodyPr/>
                        <a:lstStyle/>
                        <a:p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ADD	R2,R1,R0,LSR 31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R1 + 1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R1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67293587"/>
                      </a:ext>
                    </a:extLst>
                  </a:tr>
                  <a:tr h="407807">
                    <a:tc>
                      <a:txBody>
                        <a:bodyPr/>
                        <a:lstStyle/>
                        <a:p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SUB	R2,R1,R0,LSR 31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R1 – 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R1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92371121"/>
                      </a:ext>
                    </a:extLst>
                  </a:tr>
                  <a:tr h="407807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RSB</a:t>
                          </a:r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	R2,R1,R0,LSR 31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1 – R1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</m:oMath>
                          </a14:m>
                          <a:r>
                            <a:rPr lang="en-US" dirty="0"/>
                            <a:t>R1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79723273"/>
                      </a:ext>
                    </a:extLst>
                  </a:tr>
                  <a:tr h="407807">
                    <a:tc>
                      <a:txBody>
                        <a:bodyPr/>
                        <a:lstStyle/>
                        <a:p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AND	R2,R1,R0,ASR 31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R1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49936804"/>
                      </a:ext>
                    </a:extLst>
                  </a:tr>
                  <a:tr h="407807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BIC</a:t>
                          </a:r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	R2,R1,R0,ASR 31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R1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48614263"/>
                      </a:ext>
                    </a:extLst>
                  </a:tr>
                  <a:tr h="407807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ORR	R2,R1,R0,ASR 31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</m:oMath>
                          </a14:m>
                          <a:r>
                            <a:rPr lang="en-US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R1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41433016"/>
                      </a:ext>
                    </a:extLst>
                  </a:tr>
                  <a:tr h="407807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ORN	R2,R1,R0,ASR 31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R1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</m:oMath>
                          </a14:m>
                          <a:r>
                            <a:rPr lang="en-US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34860272"/>
                      </a:ext>
                    </a:extLst>
                  </a:tr>
                  <a:tr h="407807">
                    <a:tc>
                      <a:txBody>
                        <a:bodyPr/>
                        <a:lstStyle/>
                        <a:p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EOR	R2,R1,R0,ASR 31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~R1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R1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7166996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9710137"/>
                  </p:ext>
                </p:extLst>
              </p:nvPr>
            </p:nvGraphicFramePr>
            <p:xfrm>
              <a:off x="2057400" y="1737892"/>
              <a:ext cx="6962275" cy="4374149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3394109">
                      <a:extLst>
                        <a:ext uri="{9D8B030D-6E8A-4147-A177-3AD203B41FA5}">
                          <a16:colId xmlns:a16="http://schemas.microsoft.com/office/drawing/2014/main" val="2947290422"/>
                        </a:ext>
                      </a:extLst>
                    </a:gridCol>
                    <a:gridCol w="1840030">
                      <a:extLst>
                        <a:ext uri="{9D8B030D-6E8A-4147-A177-3AD203B41FA5}">
                          <a16:colId xmlns:a16="http://schemas.microsoft.com/office/drawing/2014/main" val="4119301694"/>
                        </a:ext>
                      </a:extLst>
                    </a:gridCol>
                    <a:gridCol w="1728136">
                      <a:extLst>
                        <a:ext uri="{9D8B030D-6E8A-4147-A177-3AD203B41FA5}">
                          <a16:colId xmlns:a16="http://schemas.microsoft.com/office/drawing/2014/main" val="3994573705"/>
                        </a:ext>
                      </a:extLst>
                    </a:gridCol>
                  </a:tblGrid>
                  <a:tr h="407807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i="1" dirty="0">
                              <a:solidFill>
                                <a:schemeClr val="bg1"/>
                              </a:solidFill>
                            </a:rPr>
                            <a:t>Instruction Sequence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i="1" dirty="0">
                              <a:solidFill>
                                <a:schemeClr val="bg1"/>
                              </a:solidFill>
                            </a:rPr>
                            <a:t>Result left in R2: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i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5036141"/>
                      </a:ext>
                    </a:extLst>
                  </a:tr>
                  <a:tr h="703886">
                    <a:tc vMerge="1">
                      <a:txBody>
                        <a:bodyPr/>
                        <a:lstStyle/>
                        <a:p>
                          <a:endParaRPr lang="en-US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chemeClr val="bg1"/>
                              </a:solidFill>
                            </a:rPr>
                            <a:t>When R0 &lt; 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chemeClr val="bg1"/>
                              </a:solidFill>
                            </a:rPr>
                            <a:t>When R0 ≥ 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66546907"/>
                      </a:ext>
                    </a:extLst>
                  </a:tr>
                  <a:tr h="407807">
                    <a:tc>
                      <a:txBody>
                        <a:bodyPr/>
                        <a:lstStyle/>
                        <a:p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ADD	R2,R1,R0,LSR 31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R1 + 1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R1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67293587"/>
                      </a:ext>
                    </a:extLst>
                  </a:tr>
                  <a:tr h="407807">
                    <a:tc>
                      <a:txBody>
                        <a:bodyPr/>
                        <a:lstStyle/>
                        <a:p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SUB	R2,R1,R0,LSR 31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R1 – 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R1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92371121"/>
                      </a:ext>
                    </a:extLst>
                  </a:tr>
                  <a:tr h="407807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RSB</a:t>
                          </a:r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	R2,R1,R0,LSR 31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1 – R1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2817" t="-479104" r="-704" b="-51791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79723273"/>
                      </a:ext>
                    </a:extLst>
                  </a:tr>
                  <a:tr h="407807">
                    <a:tc>
                      <a:txBody>
                        <a:bodyPr/>
                        <a:lstStyle/>
                        <a:p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AND	R2,R1,R0,ASR 31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R1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49936804"/>
                      </a:ext>
                    </a:extLst>
                  </a:tr>
                  <a:tr h="407807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BIC</a:t>
                          </a:r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	R2,R1,R0,ASR 31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R1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48614263"/>
                      </a:ext>
                    </a:extLst>
                  </a:tr>
                  <a:tr h="407807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ORR	R2,R1,R0,ASR 31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84768" t="-779104" r="-94702" b="-2179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R1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41433016"/>
                      </a:ext>
                    </a:extLst>
                  </a:tr>
                  <a:tr h="407807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ORN	R2,R1,R0,ASR 31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R1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2817" t="-879104" r="-704" b="-11791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34860272"/>
                      </a:ext>
                    </a:extLst>
                  </a:tr>
                  <a:tr h="407807">
                    <a:tc>
                      <a:txBody>
                        <a:bodyPr/>
                        <a:lstStyle/>
                        <a:p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EOR	R2,R1,R0,ASR 31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~R1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R1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7166996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3045990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Chapter 7</a:t>
            </a:r>
            <a:br>
              <a:rPr lang="en-US" dirty="0"/>
            </a:br>
            <a:r>
              <a:rPr lang="en-US" dirty="0"/>
              <a:t>Manipulating Bits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Part 5: Bitfields</a:t>
            </a:r>
          </a:p>
        </p:txBody>
      </p:sp>
    </p:spTree>
    <p:extLst>
      <p:ext uri="{BB962C8B-B14F-4D97-AF65-F5344CB8AC3E}">
        <p14:creationId xmlns:p14="http://schemas.microsoft.com/office/powerpoint/2010/main" val="33913783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40526" y="757213"/>
            <a:ext cx="8159358" cy="722671"/>
          </a:xfrm>
        </p:spPr>
        <p:txBody>
          <a:bodyPr>
            <a:normAutofit/>
          </a:bodyPr>
          <a:lstStyle/>
          <a:p>
            <a:r>
              <a:rPr lang="en-US" dirty="0"/>
              <a:t>Trading Execution Time for Memory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idx="1"/>
              </p:nvPr>
            </p:nvSpPr>
            <p:spPr>
              <a:xfrm>
                <a:off x="2250086" y="1730877"/>
                <a:ext cx="7886700" cy="3263504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Consider two unsigned integer values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, such that:</a:t>
                </a:r>
              </a:p>
              <a:p>
                <a:pPr marL="0" indent="0">
                  <a:buNone/>
                </a:pPr>
                <a:endParaRPr lang="en-US" dirty="0">
                  <a:solidFill>
                    <a:schemeClr val="tx1"/>
                  </a:solidFill>
                </a:endParaRPr>
              </a:p>
              <a:p>
                <a:pPr marL="172641" indent="0">
                  <a:buNone/>
                  <a:tabLst>
                    <a:tab pos="3000375" algn="l"/>
                    <a:tab pos="3387329" algn="l"/>
                    <a:tab pos="4287441" algn="l"/>
                  </a:tabLst>
                </a:pP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 ≤</m:t>
                    </m:r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12&lt;4,000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	</a:t>
                </a:r>
                <a:r>
                  <a:rPr lang="en-US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	12 bits		uint16_t (2 bytes)</a:t>
                </a:r>
              </a:p>
              <a:p>
                <a:pPr marL="172641" indent="0">
                  <a:buNone/>
                  <a:tabLst>
                    <a:tab pos="3000375" algn="l"/>
                    <a:tab pos="3387329" algn="l"/>
                    <a:tab pos="4287441" algn="l"/>
                  </a:tabLst>
                </a:pP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 ≤</m:t>
                    </m:r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20&lt; 1,000,00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0	</a:t>
                </a:r>
                <a:r>
                  <a:rPr lang="en-US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	20 bits		uint32_t (4 bytes)</a:t>
                </a:r>
              </a:p>
              <a:p>
                <a:pPr marL="172641" indent="0">
                  <a:buNone/>
                </a:pPr>
                <a:endParaRPr lang="en-US" dirty="0">
                  <a:solidFill>
                    <a:schemeClr val="tx1"/>
                  </a:solidFill>
                  <a:sym typeface="Wingdings" panose="05000000000000000000" pitchFamily="2" charset="2"/>
                </a:endParaRPr>
              </a:p>
              <a:p>
                <a:pPr marL="172641" indent="0">
                  <a:buNone/>
                </a:pPr>
                <a:endParaRPr lang="en-US" dirty="0">
                  <a:solidFill>
                    <a:schemeClr val="tx1"/>
                  </a:solidFill>
                  <a:sym typeface="Wingdings" panose="05000000000000000000" pitchFamily="2" charset="2"/>
                </a:endParaRPr>
              </a:p>
              <a:p>
                <a:pPr marL="172641" indent="0">
                  <a:buNone/>
                </a:pPr>
                <a:r>
                  <a:rPr lang="en-US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But we can store both in a single 32-bit word and save 2 bytes:</a:t>
                </a:r>
              </a:p>
              <a:p>
                <a:pPr marL="172641" indent="0">
                  <a:spcBef>
                    <a:spcPts val="1350"/>
                  </a:spcBef>
                  <a:buNone/>
                </a:pPr>
                <a:r>
                  <a:rPr lang="en-US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	</a:t>
                </a:r>
                <a:r>
                  <a:rPr lang="en-US" dirty="0">
                    <a:solidFill>
                      <a:schemeClr val="tx1"/>
                    </a:solidFill>
                    <a:latin typeface="Consolas" panose="020B0609020204030204" pitchFamily="49" charset="0"/>
                    <a:sym typeface="Wingdings" panose="05000000000000000000" pitchFamily="2" charset="2"/>
                  </a:rPr>
                  <a:t>uint32_t u32;</a:t>
                </a:r>
                <a:endParaRPr lang="en-US" dirty="0">
                  <a:solidFill>
                    <a:schemeClr val="tx1"/>
                  </a:solidFill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50086" y="1730877"/>
                <a:ext cx="7886700" cy="3263504"/>
              </a:xfrm>
              <a:blipFill>
                <a:blip r:embed="rId2"/>
                <a:stretch>
                  <a:fillRect l="-1005" t="-3178" b="-13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/>
              <p:cNvGraphicFramePr>
                <a:graphicFrameLocks noGrp="1"/>
              </p:cNvGraphicFramePr>
              <p:nvPr/>
            </p:nvGraphicFramePr>
            <p:xfrm>
              <a:off x="3274960" y="5048540"/>
              <a:ext cx="6096000" cy="5638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24000">
                      <a:extLst>
                        <a:ext uri="{9D8B030D-6E8A-4147-A177-3AD203B41FA5}">
                          <a16:colId xmlns:a16="http://schemas.microsoft.com/office/drawing/2014/main" val="881484773"/>
                        </a:ext>
                      </a:extLst>
                    </a:gridCol>
                    <a:gridCol w="371669">
                      <a:extLst>
                        <a:ext uri="{9D8B030D-6E8A-4147-A177-3AD203B41FA5}">
                          <a16:colId xmlns:a16="http://schemas.microsoft.com/office/drawing/2014/main" val="3120828023"/>
                        </a:ext>
                      </a:extLst>
                    </a:gridCol>
                    <a:gridCol w="2676331">
                      <a:extLst>
                        <a:ext uri="{9D8B030D-6E8A-4147-A177-3AD203B41FA5}">
                          <a16:colId xmlns:a16="http://schemas.microsoft.com/office/drawing/2014/main" val="3010294709"/>
                        </a:ext>
                      </a:extLst>
                    </a:gridCol>
                    <a:gridCol w="1524000">
                      <a:extLst>
                        <a:ext uri="{9D8B030D-6E8A-4147-A177-3AD203B41FA5}">
                          <a16:colId xmlns:a16="http://schemas.microsoft.com/office/drawing/2014/main" val="1059118354"/>
                        </a:ext>
                      </a:extLst>
                    </a:gridCol>
                  </a:tblGrid>
                  <a:tr h="278130">
                    <a:tc>
                      <a:txBody>
                        <a:bodyPr/>
                        <a:lstStyle/>
                        <a:p>
                          <a:r>
                            <a:rPr lang="en-US" sz="1400" dirty="0">
                              <a:solidFill>
                                <a:schemeClr val="tx1"/>
                              </a:solidFill>
                            </a:rPr>
                            <a:t>31</a:t>
                          </a:r>
                        </a:p>
                      </a:txBody>
                      <a:tcPr marL="68580" marR="68580" marT="34290" marB="3429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 marL="68580" marR="68580" marT="34290" marB="3429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>
                              <a:solidFill>
                                <a:schemeClr val="tx1"/>
                              </a:solidFill>
                            </a:rPr>
                            <a:t>19</a:t>
                          </a:r>
                        </a:p>
                      </a:txBody>
                      <a:tcPr marL="68580" marR="68580" marT="34290" marB="3429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 marL="68580" marR="68580" marT="34290" marB="3429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16095707"/>
                      </a:ext>
                    </a:extLst>
                  </a:tr>
                  <a:tr h="278130">
                    <a:tc grid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777928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09043921"/>
                  </p:ext>
                </p:extLst>
              </p:nvPr>
            </p:nvGraphicFramePr>
            <p:xfrm>
              <a:off x="3274960" y="5048540"/>
              <a:ext cx="6096000" cy="5638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24000">
                      <a:extLst>
                        <a:ext uri="{9D8B030D-6E8A-4147-A177-3AD203B41FA5}">
                          <a16:colId xmlns:a16="http://schemas.microsoft.com/office/drawing/2014/main" val="881484773"/>
                        </a:ext>
                      </a:extLst>
                    </a:gridCol>
                    <a:gridCol w="371669">
                      <a:extLst>
                        <a:ext uri="{9D8B030D-6E8A-4147-A177-3AD203B41FA5}">
                          <a16:colId xmlns:a16="http://schemas.microsoft.com/office/drawing/2014/main" val="3120828023"/>
                        </a:ext>
                      </a:extLst>
                    </a:gridCol>
                    <a:gridCol w="2676331">
                      <a:extLst>
                        <a:ext uri="{9D8B030D-6E8A-4147-A177-3AD203B41FA5}">
                          <a16:colId xmlns:a16="http://schemas.microsoft.com/office/drawing/2014/main" val="3010294709"/>
                        </a:ext>
                      </a:extLst>
                    </a:gridCol>
                    <a:gridCol w="1524000">
                      <a:extLst>
                        <a:ext uri="{9D8B030D-6E8A-4147-A177-3AD203B41FA5}">
                          <a16:colId xmlns:a16="http://schemas.microsoft.com/office/drawing/2014/main" val="1059118354"/>
                        </a:ext>
                      </a:extLst>
                    </a:gridCol>
                  </a:tblGrid>
                  <a:tr h="281940">
                    <a:tc>
                      <a:txBody>
                        <a:bodyPr/>
                        <a:lstStyle/>
                        <a:p>
                          <a:r>
                            <a:rPr lang="en-US" sz="1400" dirty="0">
                              <a:solidFill>
                                <a:schemeClr val="tx1"/>
                              </a:solidFill>
                            </a:rPr>
                            <a:t>31</a:t>
                          </a:r>
                        </a:p>
                      </a:txBody>
                      <a:tcPr marL="68580" marR="68580" marT="34290" marB="3429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 marL="68580" marR="68580" marT="34290" marB="3429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>
                              <a:solidFill>
                                <a:schemeClr val="tx1"/>
                              </a:solidFill>
                            </a:rPr>
                            <a:t>19</a:t>
                          </a:r>
                        </a:p>
                      </a:txBody>
                      <a:tcPr marL="68580" marR="68580" marT="34290" marB="3429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 marL="68580" marR="68580" marT="34290" marB="3429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16095707"/>
                      </a:ext>
                    </a:extLst>
                  </a:tr>
                  <a:tr h="281940"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22" t="-108696" r="-222508" b="-4348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5217" t="-108696" r="-290" b="-4348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777928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08052958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1598" y="740529"/>
            <a:ext cx="3867023" cy="571019"/>
          </a:xfrm>
        </p:spPr>
        <p:txBody>
          <a:bodyPr>
            <a:normAutofit fontScale="90000"/>
          </a:bodyPr>
          <a:lstStyle/>
          <a:p>
            <a:r>
              <a:rPr lang="en-US" dirty="0"/>
              <a:t>Structure </a:t>
            </a:r>
            <a:r>
              <a:rPr lang="en-US" dirty="0" err="1"/>
              <a:t>Bitfields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775009" y="2398487"/>
            <a:ext cx="7297271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struct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{</a:t>
            </a:r>
          </a:p>
          <a:p>
            <a:pPr marL="4667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487488" algn="l"/>
                <a:tab pos="2455863" algn="l"/>
                <a:tab pos="2563813" algn="l"/>
                <a:tab pos="32639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unsigned	gender	:	1;	// 0 = male, 1 = female</a:t>
            </a:r>
          </a:p>
          <a:p>
            <a:pPr marL="4667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487488" algn="l"/>
                <a:tab pos="2455863" algn="l"/>
                <a:tab pos="2563813" algn="l"/>
                <a:tab pos="32639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unsigned 	siblings	:	4;	// 0-15</a:t>
            </a:r>
          </a:p>
          <a:p>
            <a:pPr marL="4667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487488" algn="l"/>
                <a:tab pos="2455863" algn="l"/>
                <a:tab pos="2563813" algn="l"/>
                <a:tab pos="32639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unsigned 	hair	:	2;	// 0=black, 1=brown, etc.</a:t>
            </a:r>
          </a:p>
          <a:p>
            <a:pPr marL="4667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487488" algn="l"/>
                <a:tab pos="2455863" algn="l"/>
                <a:tab pos="2563813" algn="l"/>
                <a:tab pos="32639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unsigned 	eyes	:	2;	// 0=brown, 1=blue, 2=green</a:t>
            </a:r>
          </a:p>
          <a:p>
            <a:pPr marL="4667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487488" algn="l"/>
                <a:tab pos="2455863" algn="l"/>
                <a:tab pos="2563813" algn="l"/>
                <a:tab pos="32639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unsigned 	weight	:	9;	// 0-511</a:t>
            </a:r>
          </a:p>
          <a:p>
            <a:pPr marL="4667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487488" algn="l"/>
                <a:tab pos="2455863" algn="l"/>
                <a:tab pos="2563813" algn="l"/>
                <a:tab pos="32639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unsigned 	ethnicity	:	4;	// 0=Caucasian,1=Asian, etc…</a:t>
            </a:r>
          </a:p>
          <a:p>
            <a:pPr marL="4667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487488" algn="l"/>
                <a:tab pos="2455863" algn="l"/>
                <a:tab pos="2563813" algn="l"/>
                <a:tab pos="32639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unsigned		:	3;	// unused</a:t>
            </a:r>
          </a:p>
          <a:p>
            <a:pPr marL="4667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487488" algn="l"/>
                <a:tab pos="2455863" algn="l"/>
                <a:tab pos="2563813" algn="l"/>
                <a:tab pos="32639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unsigned 	age	:	7;	// 0-127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} packed;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4667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packed.eyes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=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color_code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;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775008" y="1397000"/>
          <a:ext cx="8750464" cy="975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452">
                  <a:extLst>
                    <a:ext uri="{9D8B030D-6E8A-4147-A177-3AD203B41FA5}">
                      <a16:colId xmlns:a16="http://schemas.microsoft.com/office/drawing/2014/main" val="1357139030"/>
                    </a:ext>
                  </a:extLst>
                </a:gridCol>
                <a:gridCol w="273452">
                  <a:extLst>
                    <a:ext uri="{9D8B030D-6E8A-4147-A177-3AD203B41FA5}">
                      <a16:colId xmlns:a16="http://schemas.microsoft.com/office/drawing/2014/main" val="2496290878"/>
                    </a:ext>
                  </a:extLst>
                </a:gridCol>
                <a:gridCol w="273452">
                  <a:extLst>
                    <a:ext uri="{9D8B030D-6E8A-4147-A177-3AD203B41FA5}">
                      <a16:colId xmlns:a16="http://schemas.microsoft.com/office/drawing/2014/main" val="4065077150"/>
                    </a:ext>
                  </a:extLst>
                </a:gridCol>
                <a:gridCol w="273452">
                  <a:extLst>
                    <a:ext uri="{9D8B030D-6E8A-4147-A177-3AD203B41FA5}">
                      <a16:colId xmlns:a16="http://schemas.microsoft.com/office/drawing/2014/main" val="177534615"/>
                    </a:ext>
                  </a:extLst>
                </a:gridCol>
                <a:gridCol w="273452">
                  <a:extLst>
                    <a:ext uri="{9D8B030D-6E8A-4147-A177-3AD203B41FA5}">
                      <a16:colId xmlns:a16="http://schemas.microsoft.com/office/drawing/2014/main" val="502448902"/>
                    </a:ext>
                  </a:extLst>
                </a:gridCol>
                <a:gridCol w="273452">
                  <a:extLst>
                    <a:ext uri="{9D8B030D-6E8A-4147-A177-3AD203B41FA5}">
                      <a16:colId xmlns:a16="http://schemas.microsoft.com/office/drawing/2014/main" val="3682891502"/>
                    </a:ext>
                  </a:extLst>
                </a:gridCol>
                <a:gridCol w="273452">
                  <a:extLst>
                    <a:ext uri="{9D8B030D-6E8A-4147-A177-3AD203B41FA5}">
                      <a16:colId xmlns:a16="http://schemas.microsoft.com/office/drawing/2014/main" val="3312462811"/>
                    </a:ext>
                  </a:extLst>
                </a:gridCol>
                <a:gridCol w="273452">
                  <a:extLst>
                    <a:ext uri="{9D8B030D-6E8A-4147-A177-3AD203B41FA5}">
                      <a16:colId xmlns:a16="http://schemas.microsoft.com/office/drawing/2014/main" val="4027291866"/>
                    </a:ext>
                  </a:extLst>
                </a:gridCol>
                <a:gridCol w="273452">
                  <a:extLst>
                    <a:ext uri="{9D8B030D-6E8A-4147-A177-3AD203B41FA5}">
                      <a16:colId xmlns:a16="http://schemas.microsoft.com/office/drawing/2014/main" val="664320895"/>
                    </a:ext>
                  </a:extLst>
                </a:gridCol>
                <a:gridCol w="273452">
                  <a:extLst>
                    <a:ext uri="{9D8B030D-6E8A-4147-A177-3AD203B41FA5}">
                      <a16:colId xmlns:a16="http://schemas.microsoft.com/office/drawing/2014/main" val="1946678169"/>
                    </a:ext>
                  </a:extLst>
                </a:gridCol>
                <a:gridCol w="273452">
                  <a:extLst>
                    <a:ext uri="{9D8B030D-6E8A-4147-A177-3AD203B41FA5}">
                      <a16:colId xmlns:a16="http://schemas.microsoft.com/office/drawing/2014/main" val="1487739892"/>
                    </a:ext>
                  </a:extLst>
                </a:gridCol>
                <a:gridCol w="273452">
                  <a:extLst>
                    <a:ext uri="{9D8B030D-6E8A-4147-A177-3AD203B41FA5}">
                      <a16:colId xmlns:a16="http://schemas.microsoft.com/office/drawing/2014/main" val="4228039310"/>
                    </a:ext>
                  </a:extLst>
                </a:gridCol>
                <a:gridCol w="273452">
                  <a:extLst>
                    <a:ext uri="{9D8B030D-6E8A-4147-A177-3AD203B41FA5}">
                      <a16:colId xmlns:a16="http://schemas.microsoft.com/office/drawing/2014/main" val="1036435350"/>
                    </a:ext>
                  </a:extLst>
                </a:gridCol>
                <a:gridCol w="273452">
                  <a:extLst>
                    <a:ext uri="{9D8B030D-6E8A-4147-A177-3AD203B41FA5}">
                      <a16:colId xmlns:a16="http://schemas.microsoft.com/office/drawing/2014/main" val="1430997913"/>
                    </a:ext>
                  </a:extLst>
                </a:gridCol>
                <a:gridCol w="273452">
                  <a:extLst>
                    <a:ext uri="{9D8B030D-6E8A-4147-A177-3AD203B41FA5}">
                      <a16:colId xmlns:a16="http://schemas.microsoft.com/office/drawing/2014/main" val="706830671"/>
                    </a:ext>
                  </a:extLst>
                </a:gridCol>
                <a:gridCol w="273452">
                  <a:extLst>
                    <a:ext uri="{9D8B030D-6E8A-4147-A177-3AD203B41FA5}">
                      <a16:colId xmlns:a16="http://schemas.microsoft.com/office/drawing/2014/main" val="3104332345"/>
                    </a:ext>
                  </a:extLst>
                </a:gridCol>
                <a:gridCol w="273452">
                  <a:extLst>
                    <a:ext uri="{9D8B030D-6E8A-4147-A177-3AD203B41FA5}">
                      <a16:colId xmlns:a16="http://schemas.microsoft.com/office/drawing/2014/main" val="1853310734"/>
                    </a:ext>
                  </a:extLst>
                </a:gridCol>
                <a:gridCol w="273452">
                  <a:extLst>
                    <a:ext uri="{9D8B030D-6E8A-4147-A177-3AD203B41FA5}">
                      <a16:colId xmlns:a16="http://schemas.microsoft.com/office/drawing/2014/main" val="3450186651"/>
                    </a:ext>
                  </a:extLst>
                </a:gridCol>
                <a:gridCol w="273452">
                  <a:extLst>
                    <a:ext uri="{9D8B030D-6E8A-4147-A177-3AD203B41FA5}">
                      <a16:colId xmlns:a16="http://schemas.microsoft.com/office/drawing/2014/main" val="4260661964"/>
                    </a:ext>
                  </a:extLst>
                </a:gridCol>
                <a:gridCol w="273452">
                  <a:extLst>
                    <a:ext uri="{9D8B030D-6E8A-4147-A177-3AD203B41FA5}">
                      <a16:colId xmlns:a16="http://schemas.microsoft.com/office/drawing/2014/main" val="3457037949"/>
                    </a:ext>
                  </a:extLst>
                </a:gridCol>
                <a:gridCol w="273452">
                  <a:extLst>
                    <a:ext uri="{9D8B030D-6E8A-4147-A177-3AD203B41FA5}">
                      <a16:colId xmlns:a16="http://schemas.microsoft.com/office/drawing/2014/main" val="3022852516"/>
                    </a:ext>
                  </a:extLst>
                </a:gridCol>
                <a:gridCol w="273452">
                  <a:extLst>
                    <a:ext uri="{9D8B030D-6E8A-4147-A177-3AD203B41FA5}">
                      <a16:colId xmlns:a16="http://schemas.microsoft.com/office/drawing/2014/main" val="3117766718"/>
                    </a:ext>
                  </a:extLst>
                </a:gridCol>
                <a:gridCol w="273452">
                  <a:extLst>
                    <a:ext uri="{9D8B030D-6E8A-4147-A177-3AD203B41FA5}">
                      <a16:colId xmlns:a16="http://schemas.microsoft.com/office/drawing/2014/main" val="4056545298"/>
                    </a:ext>
                  </a:extLst>
                </a:gridCol>
                <a:gridCol w="273452">
                  <a:extLst>
                    <a:ext uri="{9D8B030D-6E8A-4147-A177-3AD203B41FA5}">
                      <a16:colId xmlns:a16="http://schemas.microsoft.com/office/drawing/2014/main" val="2077979087"/>
                    </a:ext>
                  </a:extLst>
                </a:gridCol>
                <a:gridCol w="273452">
                  <a:extLst>
                    <a:ext uri="{9D8B030D-6E8A-4147-A177-3AD203B41FA5}">
                      <a16:colId xmlns:a16="http://schemas.microsoft.com/office/drawing/2014/main" val="1952383573"/>
                    </a:ext>
                  </a:extLst>
                </a:gridCol>
                <a:gridCol w="273452">
                  <a:extLst>
                    <a:ext uri="{9D8B030D-6E8A-4147-A177-3AD203B41FA5}">
                      <a16:colId xmlns:a16="http://schemas.microsoft.com/office/drawing/2014/main" val="784656819"/>
                    </a:ext>
                  </a:extLst>
                </a:gridCol>
                <a:gridCol w="273452">
                  <a:extLst>
                    <a:ext uri="{9D8B030D-6E8A-4147-A177-3AD203B41FA5}">
                      <a16:colId xmlns:a16="http://schemas.microsoft.com/office/drawing/2014/main" val="1319560915"/>
                    </a:ext>
                  </a:extLst>
                </a:gridCol>
                <a:gridCol w="273452">
                  <a:extLst>
                    <a:ext uri="{9D8B030D-6E8A-4147-A177-3AD203B41FA5}">
                      <a16:colId xmlns:a16="http://schemas.microsoft.com/office/drawing/2014/main" val="4183328292"/>
                    </a:ext>
                  </a:extLst>
                </a:gridCol>
                <a:gridCol w="273452">
                  <a:extLst>
                    <a:ext uri="{9D8B030D-6E8A-4147-A177-3AD203B41FA5}">
                      <a16:colId xmlns:a16="http://schemas.microsoft.com/office/drawing/2014/main" val="3386301825"/>
                    </a:ext>
                  </a:extLst>
                </a:gridCol>
                <a:gridCol w="273452">
                  <a:extLst>
                    <a:ext uri="{9D8B030D-6E8A-4147-A177-3AD203B41FA5}">
                      <a16:colId xmlns:a16="http://schemas.microsoft.com/office/drawing/2014/main" val="1023285386"/>
                    </a:ext>
                  </a:extLst>
                </a:gridCol>
                <a:gridCol w="273452">
                  <a:extLst>
                    <a:ext uri="{9D8B030D-6E8A-4147-A177-3AD203B41FA5}">
                      <a16:colId xmlns:a16="http://schemas.microsoft.com/office/drawing/2014/main" val="3713990333"/>
                    </a:ext>
                  </a:extLst>
                </a:gridCol>
                <a:gridCol w="273452">
                  <a:extLst>
                    <a:ext uri="{9D8B030D-6E8A-4147-A177-3AD203B41FA5}">
                      <a16:colId xmlns:a16="http://schemas.microsoft.com/office/drawing/2014/main" val="9161835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25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24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18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17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6887302"/>
                  </a:ext>
                </a:extLst>
              </a:tr>
              <a:tr h="370840">
                <a:tc gridSpan="7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unused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accent1">
                          <a:tint val="4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ethnicity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9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weight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eyes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hair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siblings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060132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323377" y="4453005"/>
            <a:ext cx="2939326" cy="206210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573088" algn="l"/>
              </a:tabLst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LDR	R2,=packed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573088" algn="l"/>
              </a:tabLst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LDR	R0,[R2]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573088" algn="l"/>
              </a:tabLst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AND	R0,R0,~(0b11 &lt;&lt; 7)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573088" algn="l"/>
              </a:tabLst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LDR	R1,=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color_code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573088" algn="l"/>
              </a:tabLst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LDR	R1,[R1]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573088" algn="l"/>
              </a:tabLst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AND	R1,R1,0b11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573088" algn="l"/>
              </a:tabLst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ORR	R0,R0,R1,LSL 7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573088" algn="l"/>
              </a:tabLst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STR	R0,[R2]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 flipV="1">
            <a:off x="4729974" y="5867400"/>
            <a:ext cx="3593403" cy="30669"/>
          </a:xfrm>
          <a:prstGeom prst="straightConnector1">
            <a:avLst/>
          </a:prstGeom>
          <a:ln w="349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178272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2505" y="762468"/>
            <a:ext cx="6687495" cy="1144151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Extracting</a:t>
            </a:r>
            <a:r>
              <a:rPr lang="en-US" dirty="0"/>
              <a:t> Unsigned </a:t>
            </a:r>
            <a:r>
              <a:rPr lang="en-US" dirty="0" err="1"/>
              <a:t>Bitfield</a:t>
            </a:r>
            <a:br>
              <a:rPr lang="en-US" dirty="0"/>
            </a:b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(Using </a:t>
            </a:r>
            <a:r>
              <a:rPr lang="en-US" sz="2800" i="1" dirty="0">
                <a:latin typeface="Consolas" panose="020B0609020204030204" pitchFamily="49" charset="0"/>
                <a:cs typeface="Times New Roman" panose="02020603050405020304" pitchFamily="18" charset="0"/>
              </a:rPr>
              <a:t>LSL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800" i="1" dirty="0">
                <a:latin typeface="Consolas" panose="020B0609020204030204" pitchFamily="49" charset="0"/>
                <a:cs typeface="Times New Roman" panose="02020603050405020304" pitchFamily="18" charset="0"/>
              </a:rPr>
              <a:t>LSR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090363" y="2341682"/>
          <a:ext cx="6096000" cy="68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">
                  <a:extLst>
                    <a:ext uri="{9D8B030D-6E8A-4147-A177-3AD203B41FA5}">
                      <a16:colId xmlns:a16="http://schemas.microsoft.com/office/drawing/2014/main" val="4144607392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79172319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49319752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414607653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677281600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98668839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8753796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670086493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70741311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80863207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532071678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003449268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62317207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93432840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135133986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884945068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071565133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632232962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205521216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755362950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825546327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9262628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17344968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5075165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108837457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47648976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93867968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67679864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69201844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389628373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99407873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000855604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24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14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1645533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2685209534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090363" y="4698628"/>
          <a:ext cx="6096000" cy="68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">
                  <a:extLst>
                    <a:ext uri="{9D8B030D-6E8A-4147-A177-3AD203B41FA5}">
                      <a16:colId xmlns:a16="http://schemas.microsoft.com/office/drawing/2014/main" val="4144607392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79172319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49319752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414607653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677281600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98668839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8753796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670086493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70741311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80863207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532071678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003449268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62317207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93432840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135133986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884945068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071565133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632232962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205521216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755362950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825546327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9262628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17344968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5075165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108837457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47648976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93867968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67679864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69201844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389628373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99407873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000855604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1645533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5209534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090363" y="3443395"/>
          <a:ext cx="6096000" cy="68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">
                  <a:extLst>
                    <a:ext uri="{9D8B030D-6E8A-4147-A177-3AD203B41FA5}">
                      <a16:colId xmlns:a16="http://schemas.microsoft.com/office/drawing/2014/main" val="4144607392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79172319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49319752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414607653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677281600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98668839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8753796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670086493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70741311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80863207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532071678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003449268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62317207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93432840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135133986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884945068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071565133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632232962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205521216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755362950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825546327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9262628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17344968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5075165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108837457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47648976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93867968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67679864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69201844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389628373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99407873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000855604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1645533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5209534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617091" y="3201743"/>
            <a:ext cx="22381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2000" dirty="0">
                <a:solidFill>
                  <a:prstClr val="black"/>
                </a:solidFill>
                <a:latin typeface="Consolas" panose="020B0609020204030204" pitchFamily="49" charset="0"/>
              </a:rPr>
              <a:t>LSL  R1,R0,#</a:t>
            </a:r>
            <a:r>
              <a:rPr lang="en-US" sz="2000" dirty="0">
                <a:solidFill>
                  <a:srgbClr val="7030A0"/>
                </a:solidFill>
                <a:latin typeface="Consolas" panose="020B0609020204030204" pitchFamily="49" charset="0"/>
              </a:rPr>
              <a:t>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3844" y="4385899"/>
            <a:ext cx="24852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2000" dirty="0">
                <a:solidFill>
                  <a:prstClr val="black"/>
                </a:solidFill>
                <a:latin typeface="Consolas" panose="020B0609020204030204" pitchFamily="49" charset="0"/>
              </a:rPr>
              <a:t>LSR  R1,R1,#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</a:rPr>
              <a:t>23</a:t>
            </a:r>
          </a:p>
        </p:txBody>
      </p:sp>
      <p:sp>
        <p:nvSpPr>
          <p:cNvPr id="14" name="Curved Right Arrow 13"/>
          <p:cNvSpPr/>
          <p:nvPr/>
        </p:nvSpPr>
        <p:spPr>
          <a:xfrm>
            <a:off x="3677175" y="3110657"/>
            <a:ext cx="295604" cy="636095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Curved Right Arrow 14"/>
          <p:cNvSpPr/>
          <p:nvPr/>
        </p:nvSpPr>
        <p:spPr>
          <a:xfrm>
            <a:off x="3707391" y="4243559"/>
            <a:ext cx="295604" cy="636095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16" name="Straight Arrow Connector 15"/>
          <p:cNvCxnSpPr/>
          <p:nvPr/>
        </p:nvCxnSpPr>
        <p:spPr>
          <a:xfrm>
            <a:off x="4090362" y="3162850"/>
            <a:ext cx="1550276" cy="1109"/>
          </a:xfrm>
          <a:prstGeom prst="straightConnector1">
            <a:avLst/>
          </a:prstGeom>
          <a:ln w="254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090363" y="3174084"/>
            <a:ext cx="16368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1200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32 – (</a:t>
            </a:r>
            <a:r>
              <a:rPr lang="en-US" sz="1200" b="1" i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lsb</a:t>
            </a:r>
            <a:r>
              <a:rPr lang="en-US" sz="1200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width) = 8</a:t>
            </a:r>
          </a:p>
        </p:txBody>
      </p:sp>
      <p:cxnSp>
        <p:nvCxnSpPr>
          <p:cNvPr id="19" name="Straight Arrow Connector 18"/>
          <p:cNvCxnSpPr/>
          <p:nvPr/>
        </p:nvCxnSpPr>
        <p:spPr>
          <a:xfrm>
            <a:off x="5818001" y="4243558"/>
            <a:ext cx="4368362" cy="0"/>
          </a:xfrm>
          <a:prstGeom prst="straightConnector1">
            <a:avLst/>
          </a:prstGeom>
          <a:ln w="254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542223" y="4243559"/>
            <a:ext cx="10405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12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32 – </a:t>
            </a:r>
            <a:r>
              <a:rPr lang="en-US" sz="1200" b="1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len</a:t>
            </a:r>
            <a:r>
              <a:rPr lang="en-US" sz="12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23</a:t>
            </a:r>
          </a:p>
        </p:txBody>
      </p:sp>
      <p:cxnSp>
        <p:nvCxnSpPr>
          <p:cNvPr id="23" name="Straight Arrow Connector 22"/>
          <p:cNvCxnSpPr/>
          <p:nvPr/>
        </p:nvCxnSpPr>
        <p:spPr>
          <a:xfrm flipV="1">
            <a:off x="5670856" y="2268662"/>
            <a:ext cx="1625162" cy="5760"/>
          </a:xfrm>
          <a:prstGeom prst="straightConnector1">
            <a:avLst/>
          </a:prstGeom>
          <a:ln w="254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818001" y="2302991"/>
            <a:ext cx="12132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/>
            <a:r>
              <a:rPr lang="en-US" sz="1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width = 9</a:t>
            </a:r>
          </a:p>
        </p:txBody>
      </p:sp>
      <p:cxnSp>
        <p:nvCxnSpPr>
          <p:cNvPr id="28" name="Straight Arrow Connector 27"/>
          <p:cNvCxnSpPr/>
          <p:nvPr/>
        </p:nvCxnSpPr>
        <p:spPr>
          <a:xfrm flipV="1">
            <a:off x="7246012" y="3025548"/>
            <a:ext cx="0" cy="193928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935579" y="3047126"/>
            <a:ext cx="12132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/>
            <a:r>
              <a:rPr lang="en-US" sz="1200" b="1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lsb</a:t>
            </a:r>
            <a:r>
              <a:rPr lang="en-US" sz="1200" b="1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15</a:t>
            </a:r>
          </a:p>
        </p:txBody>
      </p:sp>
      <p:sp>
        <p:nvSpPr>
          <p:cNvPr id="20" name="Left Brace 19"/>
          <p:cNvSpPr/>
          <p:nvPr/>
        </p:nvSpPr>
        <p:spPr>
          <a:xfrm rot="16200000">
            <a:off x="6118947" y="3507551"/>
            <a:ext cx="265542" cy="4322707"/>
          </a:xfrm>
          <a:prstGeom prst="leftBrace">
            <a:avLst>
              <a:gd name="adj1" fmla="val 0"/>
              <a:gd name="adj2" fmla="val 50544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Left Brace 21"/>
          <p:cNvSpPr/>
          <p:nvPr/>
        </p:nvSpPr>
        <p:spPr>
          <a:xfrm rot="16200000">
            <a:off x="9191127" y="4826069"/>
            <a:ext cx="285172" cy="1705302"/>
          </a:xfrm>
          <a:prstGeom prst="leftBrace">
            <a:avLst>
              <a:gd name="adj1" fmla="val 0"/>
              <a:gd name="adj2" fmla="val 50544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450746" y="5918040"/>
            <a:ext cx="3601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unsigned zero-extension (all 0’s)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3072" y="5918040"/>
            <a:ext cx="17732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Extracted</a:t>
            </a:r>
          </a:p>
          <a:p>
            <a:pPr algn="ctr"/>
            <a:r>
              <a:rPr lang="en-US" dirty="0"/>
              <a:t>bit-field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AE79AAA-A746-4060-9621-92CD39108131}"/>
              </a:ext>
            </a:extLst>
          </p:cNvPr>
          <p:cNvSpPr txBox="1"/>
          <p:nvPr/>
        </p:nvSpPr>
        <p:spPr>
          <a:xfrm>
            <a:off x="3368400" y="2625438"/>
            <a:ext cx="5543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2000" dirty="0">
                <a:solidFill>
                  <a:prstClr val="black"/>
                </a:solidFill>
                <a:latin typeface="Consolas" panose="020B0609020204030204" pitchFamily="49" charset="0"/>
              </a:rPr>
              <a:t>R0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E7DF5A2-913B-452D-97A3-37A89FD03666}"/>
              </a:ext>
            </a:extLst>
          </p:cNvPr>
          <p:cNvSpPr txBox="1"/>
          <p:nvPr/>
        </p:nvSpPr>
        <p:spPr>
          <a:xfrm>
            <a:off x="3400008" y="3754660"/>
            <a:ext cx="5543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2000" dirty="0">
                <a:solidFill>
                  <a:prstClr val="black"/>
                </a:solidFill>
                <a:latin typeface="Consolas" panose="020B0609020204030204" pitchFamily="49" charset="0"/>
              </a:rPr>
              <a:t>R1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C913677-3790-4EB6-8567-CE6D25D7D1D8}"/>
              </a:ext>
            </a:extLst>
          </p:cNvPr>
          <p:cNvSpPr txBox="1"/>
          <p:nvPr/>
        </p:nvSpPr>
        <p:spPr>
          <a:xfrm>
            <a:off x="3440091" y="4965817"/>
            <a:ext cx="5543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2000" dirty="0">
                <a:solidFill>
                  <a:prstClr val="black"/>
                </a:solidFill>
                <a:latin typeface="Consolas" panose="020B0609020204030204" pitchFamily="49" charset="0"/>
              </a:rPr>
              <a:t>R1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0" y="6403217"/>
            <a:ext cx="2374368" cy="46166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C++ Example 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77818" y="1134630"/>
            <a:ext cx="1699504" cy="584775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b="1" dirty="0" err="1">
                <a:solidFill>
                  <a:srgbClr val="00B0F0"/>
                </a:solidFill>
              </a:rPr>
              <a:t>CPULator</a:t>
            </a:r>
            <a:r>
              <a:rPr lang="en-US" sz="1600" b="1" dirty="0">
                <a:solidFill>
                  <a:srgbClr val="00B0F0"/>
                </a:solidFill>
              </a:rPr>
              <a:t>: </a:t>
            </a:r>
            <a:br>
              <a:rPr lang="en-US" sz="1600" b="1" dirty="0">
                <a:solidFill>
                  <a:srgbClr val="00B0F0"/>
                </a:solidFill>
              </a:rPr>
            </a:br>
            <a:r>
              <a:rPr lang="en-US" sz="1600" b="1" dirty="0" err="1">
                <a:solidFill>
                  <a:srgbClr val="FF0000"/>
                </a:solidFill>
              </a:rPr>
              <a:t>LSRexamples.s</a:t>
            </a:r>
            <a:endParaRPr lang="en-US" sz="1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429016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43017"/>
            <a:ext cx="6160267" cy="1144151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Extracting</a:t>
            </a:r>
            <a:r>
              <a:rPr lang="en-US" dirty="0"/>
              <a:t> Signed </a:t>
            </a:r>
            <a:r>
              <a:rPr lang="en-US" dirty="0" err="1"/>
              <a:t>Bitfield</a:t>
            </a:r>
            <a:br>
              <a:rPr lang="en-US" dirty="0"/>
            </a:b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(Using </a:t>
            </a:r>
            <a:r>
              <a:rPr lang="en-US" sz="2800" i="1" dirty="0">
                <a:latin typeface="Consolas" panose="020B0609020204030204" pitchFamily="49" charset="0"/>
                <a:cs typeface="Times New Roman" panose="02020603050405020304" pitchFamily="18" charset="0"/>
              </a:rPr>
              <a:t>LSL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800" i="1" dirty="0">
                <a:latin typeface="Consolas" panose="020B0609020204030204" pitchFamily="49" charset="0"/>
                <a:cs typeface="Times New Roman" panose="02020603050405020304" pitchFamily="18" charset="0"/>
              </a:rPr>
              <a:t>ASR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251567" y="2277686"/>
          <a:ext cx="6096000" cy="68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">
                  <a:extLst>
                    <a:ext uri="{9D8B030D-6E8A-4147-A177-3AD203B41FA5}">
                      <a16:colId xmlns:a16="http://schemas.microsoft.com/office/drawing/2014/main" val="4144607392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79172319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49319752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414607653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677281600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98668839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8753796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670086493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70741311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80863207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532071678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003449268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62317207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93432840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135133986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884945068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071565133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632232962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205521216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755362950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825546327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9262628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17344968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5075165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108837457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47648976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93867968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67679864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69201844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389628373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99407873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000855604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24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14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1645533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2685209534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251567" y="4634632"/>
          <a:ext cx="6096000" cy="68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">
                  <a:extLst>
                    <a:ext uri="{9D8B030D-6E8A-4147-A177-3AD203B41FA5}">
                      <a16:colId xmlns:a16="http://schemas.microsoft.com/office/drawing/2014/main" val="4144607392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79172319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49319752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414607653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677281600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98668839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8753796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670086493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70741311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80863207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532071678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003449268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62317207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93432840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135133986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884945068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071565133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632232962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205521216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755362950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825546327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9262628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17344968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5075165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108837457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47648976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93867968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67679864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69201844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389628373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99407873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000855604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1645533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000" dirty="0"/>
                        <a:t>s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5209534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251567" y="3379399"/>
          <a:ext cx="6096000" cy="68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">
                  <a:extLst>
                    <a:ext uri="{9D8B030D-6E8A-4147-A177-3AD203B41FA5}">
                      <a16:colId xmlns:a16="http://schemas.microsoft.com/office/drawing/2014/main" val="4144607392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79172319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49319752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414607653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677281600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98668839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8753796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670086493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70741311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80863207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532071678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003449268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62317207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93432840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135133986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884945068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071565133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632232962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205521216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755362950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825546327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9262628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17344968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5075165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108837457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47648976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93867968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67679864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69201844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389628373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99407873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000855604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1645533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000" dirty="0"/>
                        <a:t>s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5209534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780781" y="3126477"/>
            <a:ext cx="20878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2000" dirty="0">
                <a:solidFill>
                  <a:prstClr val="black"/>
                </a:solidFill>
                <a:latin typeface="Consolas" panose="020B0609020204030204" pitchFamily="49" charset="0"/>
              </a:rPr>
              <a:t>LSL  R1,R0,#</a:t>
            </a:r>
            <a:r>
              <a:rPr lang="en-US" sz="2000" dirty="0">
                <a:solidFill>
                  <a:srgbClr val="7030A0"/>
                </a:solidFill>
                <a:latin typeface="Consolas" panose="020B0609020204030204" pitchFamily="49" charset="0"/>
              </a:rPr>
              <a:t>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295" y="4318061"/>
            <a:ext cx="22229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ASR</a:t>
            </a:r>
            <a:r>
              <a:rPr lang="en-US" sz="2000" dirty="0">
                <a:solidFill>
                  <a:prstClr val="black"/>
                </a:solidFill>
                <a:latin typeface="Consolas" panose="020B0609020204030204" pitchFamily="49" charset="0"/>
              </a:rPr>
              <a:t>  R1,R1,#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</a:rPr>
              <a:t>23</a:t>
            </a:r>
          </a:p>
        </p:txBody>
      </p:sp>
      <p:sp>
        <p:nvSpPr>
          <p:cNvPr id="14" name="Curved Right Arrow 13"/>
          <p:cNvSpPr/>
          <p:nvPr/>
        </p:nvSpPr>
        <p:spPr>
          <a:xfrm>
            <a:off x="3838379" y="3046661"/>
            <a:ext cx="295604" cy="636095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Curved Right Arrow 14"/>
          <p:cNvSpPr/>
          <p:nvPr/>
        </p:nvSpPr>
        <p:spPr>
          <a:xfrm>
            <a:off x="3868595" y="4179563"/>
            <a:ext cx="295604" cy="636095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16" name="Straight Arrow Connector 15"/>
          <p:cNvCxnSpPr/>
          <p:nvPr/>
        </p:nvCxnSpPr>
        <p:spPr>
          <a:xfrm>
            <a:off x="4251566" y="3098854"/>
            <a:ext cx="1550276" cy="1109"/>
          </a:xfrm>
          <a:prstGeom prst="straightConnector1">
            <a:avLst/>
          </a:prstGeom>
          <a:ln w="254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251567" y="3110088"/>
            <a:ext cx="16368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1200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32 – (</a:t>
            </a:r>
            <a:r>
              <a:rPr lang="en-US" sz="1200" b="1" i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lsb</a:t>
            </a:r>
            <a:r>
              <a:rPr lang="en-US" sz="1200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width) = 8</a:t>
            </a:r>
          </a:p>
        </p:txBody>
      </p:sp>
      <p:cxnSp>
        <p:nvCxnSpPr>
          <p:cNvPr id="19" name="Straight Arrow Connector 18"/>
          <p:cNvCxnSpPr/>
          <p:nvPr/>
        </p:nvCxnSpPr>
        <p:spPr>
          <a:xfrm>
            <a:off x="5979205" y="4179562"/>
            <a:ext cx="4368362" cy="0"/>
          </a:xfrm>
          <a:prstGeom prst="straightConnector1">
            <a:avLst/>
          </a:prstGeom>
          <a:ln w="254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703427" y="4179563"/>
            <a:ext cx="10405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12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32 – </a:t>
            </a:r>
            <a:r>
              <a:rPr lang="en-US" sz="1200" b="1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len</a:t>
            </a:r>
            <a:r>
              <a:rPr lang="en-US" sz="12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23</a:t>
            </a:r>
          </a:p>
        </p:txBody>
      </p:sp>
      <p:cxnSp>
        <p:nvCxnSpPr>
          <p:cNvPr id="23" name="Straight Arrow Connector 22"/>
          <p:cNvCxnSpPr/>
          <p:nvPr/>
        </p:nvCxnSpPr>
        <p:spPr>
          <a:xfrm flipV="1">
            <a:off x="5832060" y="2204666"/>
            <a:ext cx="1625162" cy="5760"/>
          </a:xfrm>
          <a:prstGeom prst="straightConnector1">
            <a:avLst/>
          </a:prstGeom>
          <a:ln w="254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979205" y="2238995"/>
            <a:ext cx="12132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/>
            <a:r>
              <a:rPr lang="en-US" sz="1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width = 9</a:t>
            </a:r>
          </a:p>
        </p:txBody>
      </p:sp>
      <p:cxnSp>
        <p:nvCxnSpPr>
          <p:cNvPr id="28" name="Straight Arrow Connector 27"/>
          <p:cNvCxnSpPr/>
          <p:nvPr/>
        </p:nvCxnSpPr>
        <p:spPr>
          <a:xfrm flipV="1">
            <a:off x="7407216" y="2961552"/>
            <a:ext cx="0" cy="193928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096783" y="2983130"/>
            <a:ext cx="12132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/>
            <a:r>
              <a:rPr lang="en-US" sz="1200" b="1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lsb</a:t>
            </a:r>
            <a:r>
              <a:rPr lang="en-US" sz="1200" b="1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15</a:t>
            </a:r>
          </a:p>
        </p:txBody>
      </p:sp>
      <p:cxnSp>
        <p:nvCxnSpPr>
          <p:cNvPr id="29" name="Straight Arrow Connector 28"/>
          <p:cNvCxnSpPr/>
          <p:nvPr/>
        </p:nvCxnSpPr>
        <p:spPr>
          <a:xfrm flipH="1" flipV="1">
            <a:off x="5908260" y="2983128"/>
            <a:ext cx="204017" cy="253916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093538" y="3116543"/>
            <a:ext cx="7115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 bit</a:t>
            </a:r>
          </a:p>
        </p:txBody>
      </p:sp>
      <p:sp>
        <p:nvSpPr>
          <p:cNvPr id="20" name="Left Brace 19"/>
          <p:cNvSpPr/>
          <p:nvPr/>
        </p:nvSpPr>
        <p:spPr>
          <a:xfrm rot="16200000">
            <a:off x="6280151" y="3443555"/>
            <a:ext cx="265542" cy="4322707"/>
          </a:xfrm>
          <a:prstGeom prst="leftBrace">
            <a:avLst>
              <a:gd name="adj1" fmla="val 0"/>
              <a:gd name="adj2" fmla="val 50544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Left Brace 21"/>
          <p:cNvSpPr/>
          <p:nvPr/>
        </p:nvSpPr>
        <p:spPr>
          <a:xfrm rot="16200000">
            <a:off x="9352331" y="4762073"/>
            <a:ext cx="285172" cy="1705302"/>
          </a:xfrm>
          <a:prstGeom prst="leftBrace">
            <a:avLst>
              <a:gd name="adj1" fmla="val 0"/>
              <a:gd name="adj2" fmla="val 50544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36987" y="5845404"/>
            <a:ext cx="34730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2’s complement sign-extension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74276" y="5854044"/>
            <a:ext cx="17732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Extracted</a:t>
            </a:r>
            <a:br>
              <a:rPr lang="en-US" dirty="0"/>
            </a:br>
            <a:r>
              <a:rPr lang="en-US" dirty="0"/>
              <a:t>bit-field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D044479-9586-421C-A4C4-6A778D693947}"/>
              </a:ext>
            </a:extLst>
          </p:cNvPr>
          <p:cNvSpPr txBox="1"/>
          <p:nvPr/>
        </p:nvSpPr>
        <p:spPr>
          <a:xfrm>
            <a:off x="3683066" y="4962375"/>
            <a:ext cx="5543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2000" dirty="0">
                <a:solidFill>
                  <a:prstClr val="black"/>
                </a:solidFill>
                <a:latin typeface="Consolas" panose="020B0609020204030204" pitchFamily="49" charset="0"/>
              </a:rPr>
              <a:t>R1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56D462D-2027-404A-9CD1-E68139070FEB}"/>
              </a:ext>
            </a:extLst>
          </p:cNvPr>
          <p:cNvSpPr txBox="1"/>
          <p:nvPr/>
        </p:nvSpPr>
        <p:spPr>
          <a:xfrm>
            <a:off x="3682602" y="3715141"/>
            <a:ext cx="5543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2000" dirty="0">
                <a:solidFill>
                  <a:prstClr val="black"/>
                </a:solidFill>
                <a:latin typeface="Consolas" panose="020B0609020204030204" pitchFamily="49" charset="0"/>
              </a:rPr>
              <a:t>R1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6A56A41-5D8D-41F8-83C5-50B9824416DE}"/>
              </a:ext>
            </a:extLst>
          </p:cNvPr>
          <p:cNvSpPr txBox="1"/>
          <p:nvPr/>
        </p:nvSpPr>
        <p:spPr>
          <a:xfrm>
            <a:off x="3720796" y="2620942"/>
            <a:ext cx="5543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2000" dirty="0">
                <a:solidFill>
                  <a:prstClr val="black"/>
                </a:solidFill>
                <a:latin typeface="Consolas" panose="020B0609020204030204" pitchFamily="49" charset="0"/>
              </a:rPr>
              <a:t>R0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690355" y="4375224"/>
            <a:ext cx="726468" cy="3418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76284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0467" y="741518"/>
            <a:ext cx="6647740" cy="1144151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Extracting</a:t>
            </a:r>
            <a:r>
              <a:rPr lang="en-US" dirty="0"/>
              <a:t> Unsigned </a:t>
            </a:r>
            <a:r>
              <a:rPr lang="en-US" dirty="0" err="1"/>
              <a:t>Bitfield</a:t>
            </a:r>
            <a:br>
              <a:rPr lang="en-US" dirty="0"/>
            </a:b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(Using the </a:t>
            </a:r>
            <a:r>
              <a:rPr lang="en-US" sz="2800" i="1" dirty="0">
                <a:solidFill>
                  <a:srgbClr val="0000FF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UBFX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instruction)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187508" y="2227400"/>
          <a:ext cx="6096000" cy="68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">
                  <a:extLst>
                    <a:ext uri="{9D8B030D-6E8A-4147-A177-3AD203B41FA5}">
                      <a16:colId xmlns:a16="http://schemas.microsoft.com/office/drawing/2014/main" val="4144607392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79172319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49319752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414607653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677281600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98668839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8753796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670086493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70741311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80863207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532071678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003449268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62317207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93432840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135133986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884945068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071565133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632232962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205521216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755362950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825546327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9262628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17344968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5075165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108837457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47648976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93867968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67679864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69201844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389628373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99407873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000855604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24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14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1645533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2685209534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187508" y="4584346"/>
          <a:ext cx="6096000" cy="68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">
                  <a:extLst>
                    <a:ext uri="{9D8B030D-6E8A-4147-A177-3AD203B41FA5}">
                      <a16:colId xmlns:a16="http://schemas.microsoft.com/office/drawing/2014/main" val="4144607392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79172319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49319752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414607653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677281600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98668839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8753796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670086493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70741311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80863207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532071678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003449268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62317207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93432840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135133986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884945068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071565133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632232962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205521216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755362950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825546327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9262628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17344968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5075165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108837457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47648976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93867968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67679864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69201844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389628373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99407873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000855604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1645533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5209534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187509" y="3675583"/>
            <a:ext cx="26457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UBFX</a:t>
            </a:r>
            <a:r>
              <a:rPr lang="en-US" sz="2000" dirty="0">
                <a:solidFill>
                  <a:prstClr val="black"/>
                </a:solidFill>
                <a:latin typeface="Consolas" panose="020B0609020204030204" pitchFamily="49" charset="0"/>
              </a:rPr>
              <a:t> R1,R0,#</a:t>
            </a:r>
            <a:r>
              <a:rPr lang="en-US" sz="2000" dirty="0">
                <a:solidFill>
                  <a:srgbClr val="00B050"/>
                </a:solidFill>
                <a:latin typeface="Consolas" panose="020B0609020204030204" pitchFamily="49" charset="0"/>
              </a:rPr>
              <a:t>15</a:t>
            </a:r>
            <a:r>
              <a:rPr lang="en-US" sz="2000" dirty="0">
                <a:solidFill>
                  <a:prstClr val="black"/>
                </a:solidFill>
                <a:latin typeface="Consolas" panose="020B0609020204030204" pitchFamily="49" charset="0"/>
              </a:rPr>
              <a:t>,#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9</a:t>
            </a:r>
          </a:p>
        </p:txBody>
      </p:sp>
      <p:sp>
        <p:nvSpPr>
          <p:cNvPr id="15" name="Curved Right Arrow 14"/>
          <p:cNvSpPr/>
          <p:nvPr/>
        </p:nvSpPr>
        <p:spPr>
          <a:xfrm>
            <a:off x="2804536" y="2977577"/>
            <a:ext cx="295604" cy="1787795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23" name="Straight Arrow Connector 22"/>
          <p:cNvCxnSpPr/>
          <p:nvPr/>
        </p:nvCxnSpPr>
        <p:spPr>
          <a:xfrm flipV="1">
            <a:off x="4768001" y="2154380"/>
            <a:ext cx="1625162" cy="5760"/>
          </a:xfrm>
          <a:prstGeom prst="straightConnector1">
            <a:avLst/>
          </a:prstGeom>
          <a:ln w="254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915146" y="2188709"/>
            <a:ext cx="12132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/>
            <a:r>
              <a:rPr lang="en-US" sz="1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width = 9</a:t>
            </a:r>
          </a:p>
        </p:txBody>
      </p:sp>
      <p:cxnSp>
        <p:nvCxnSpPr>
          <p:cNvPr id="28" name="Straight Arrow Connector 27"/>
          <p:cNvCxnSpPr/>
          <p:nvPr/>
        </p:nvCxnSpPr>
        <p:spPr>
          <a:xfrm flipV="1">
            <a:off x="6343157" y="2911266"/>
            <a:ext cx="0" cy="193928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736513" y="3079177"/>
            <a:ext cx="12132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/>
            <a:r>
              <a:rPr lang="en-US" sz="1400" b="1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lsb</a:t>
            </a:r>
            <a:r>
              <a:rPr lang="en-US" sz="1400" b="1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15</a:t>
            </a:r>
          </a:p>
        </p:txBody>
      </p:sp>
      <p:sp>
        <p:nvSpPr>
          <p:cNvPr id="20" name="Left Brace 19"/>
          <p:cNvSpPr/>
          <p:nvPr/>
        </p:nvSpPr>
        <p:spPr>
          <a:xfrm rot="16200000">
            <a:off x="5216092" y="3393269"/>
            <a:ext cx="265542" cy="4322707"/>
          </a:xfrm>
          <a:prstGeom prst="leftBrace">
            <a:avLst>
              <a:gd name="adj1" fmla="val 0"/>
              <a:gd name="adj2" fmla="val 50544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Left Brace 21"/>
          <p:cNvSpPr/>
          <p:nvPr/>
        </p:nvSpPr>
        <p:spPr>
          <a:xfrm rot="16200000">
            <a:off x="8288272" y="4711787"/>
            <a:ext cx="285172" cy="1705302"/>
          </a:xfrm>
          <a:prstGeom prst="leftBrace">
            <a:avLst>
              <a:gd name="adj1" fmla="val 0"/>
              <a:gd name="adj2" fmla="val 50544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3772928" y="5795118"/>
            <a:ext cx="36024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unsigned zero-extension (all 0’s)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10217" y="5803758"/>
            <a:ext cx="17732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Extracted</a:t>
            </a:r>
          </a:p>
          <a:p>
            <a:pPr algn="ctr"/>
            <a:r>
              <a:rPr lang="en-US" dirty="0"/>
              <a:t>bit-field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6A2FD4B8-5D24-4BB1-B831-BE7DA2E57A52}"/>
              </a:ext>
            </a:extLst>
          </p:cNvPr>
          <p:cNvCxnSpPr/>
          <p:nvPr/>
        </p:nvCxnSpPr>
        <p:spPr>
          <a:xfrm>
            <a:off x="6600304" y="3325894"/>
            <a:ext cx="2406650" cy="13915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C5C54B9-F6D8-4248-A945-B5E291FF9386}"/>
              </a:ext>
            </a:extLst>
          </p:cNvPr>
          <p:cNvCxnSpPr/>
          <p:nvPr/>
        </p:nvCxnSpPr>
        <p:spPr>
          <a:xfrm>
            <a:off x="4768002" y="2974945"/>
            <a:ext cx="2742215" cy="17027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2174BC9-B90C-4AE4-B690-D57ACBDB2CC2}"/>
              </a:ext>
            </a:extLst>
          </p:cNvPr>
          <p:cNvSpPr txBox="1"/>
          <p:nvPr/>
        </p:nvSpPr>
        <p:spPr>
          <a:xfrm>
            <a:off x="2633175" y="4920088"/>
            <a:ext cx="5543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2000" dirty="0">
                <a:solidFill>
                  <a:prstClr val="black"/>
                </a:solidFill>
                <a:latin typeface="Consolas" panose="020B0609020204030204" pitchFamily="49" charset="0"/>
              </a:rPr>
              <a:t>R1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46AD95D-97F9-4B42-84A2-286C4F9B1BA3}"/>
              </a:ext>
            </a:extLst>
          </p:cNvPr>
          <p:cNvSpPr txBox="1"/>
          <p:nvPr/>
        </p:nvSpPr>
        <p:spPr>
          <a:xfrm>
            <a:off x="2675171" y="2560087"/>
            <a:ext cx="5543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2000" dirty="0">
                <a:solidFill>
                  <a:prstClr val="black"/>
                </a:solidFill>
                <a:latin typeface="Consolas" panose="020B0609020204030204" pitchFamily="49" charset="0"/>
              </a:rPr>
              <a:t>R0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2CEDDB-E610-1F21-9DDA-F67BD9310663}"/>
              </a:ext>
            </a:extLst>
          </p:cNvPr>
          <p:cNvSpPr txBox="1"/>
          <p:nvPr/>
        </p:nvSpPr>
        <p:spPr>
          <a:xfrm>
            <a:off x="9877818" y="1134630"/>
            <a:ext cx="1255472" cy="584775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b="1" dirty="0" err="1">
                <a:solidFill>
                  <a:srgbClr val="00B0F0"/>
                </a:solidFill>
              </a:rPr>
              <a:t>CPULator</a:t>
            </a:r>
            <a:r>
              <a:rPr lang="en-US" sz="1600" b="1" dirty="0">
                <a:solidFill>
                  <a:srgbClr val="00B0F0"/>
                </a:solidFill>
              </a:rPr>
              <a:t>: </a:t>
            </a:r>
            <a:br>
              <a:rPr lang="en-US" sz="1600" b="1" dirty="0">
                <a:solidFill>
                  <a:srgbClr val="00B0F0"/>
                </a:solidFill>
              </a:rPr>
            </a:br>
            <a:r>
              <a:rPr lang="en-US" sz="1600" b="1" dirty="0">
                <a:solidFill>
                  <a:srgbClr val="FF0000"/>
                </a:solidFill>
              </a:rPr>
              <a:t>UBFX.s</a:t>
            </a:r>
          </a:p>
        </p:txBody>
      </p:sp>
    </p:spTree>
    <p:extLst>
      <p:ext uri="{BB962C8B-B14F-4D97-AF65-F5344CB8AC3E}">
        <p14:creationId xmlns:p14="http://schemas.microsoft.com/office/powerpoint/2010/main" val="47736291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440037" y="2238994"/>
          <a:ext cx="6096000" cy="68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">
                  <a:extLst>
                    <a:ext uri="{9D8B030D-6E8A-4147-A177-3AD203B41FA5}">
                      <a16:colId xmlns:a16="http://schemas.microsoft.com/office/drawing/2014/main" val="4144607392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79172319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49319752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414607653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677281600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98668839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8753796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670086493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70741311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80863207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532071678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003449268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62317207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93432840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135133986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884945068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071565133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632232962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205521216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755362950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825546327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9262628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17344968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5075165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108837457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47648976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93867968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67679864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69201844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389628373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99407873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000855604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24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14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1645533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2685209534"/>
                  </a:ext>
                </a:extLst>
              </a:tr>
            </a:tbl>
          </a:graphicData>
        </a:graphic>
      </p:graphicFrame>
      <p:cxnSp>
        <p:nvCxnSpPr>
          <p:cNvPr id="23" name="Straight Arrow Connector 22"/>
          <p:cNvCxnSpPr/>
          <p:nvPr/>
        </p:nvCxnSpPr>
        <p:spPr>
          <a:xfrm flipV="1">
            <a:off x="5020530" y="2165974"/>
            <a:ext cx="1625162" cy="5760"/>
          </a:xfrm>
          <a:prstGeom prst="straightConnector1">
            <a:avLst/>
          </a:prstGeom>
          <a:ln w="254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167675" y="2200303"/>
            <a:ext cx="12132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/>
            <a:r>
              <a:rPr lang="en-US" sz="1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width = 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85253" y="2944438"/>
            <a:ext cx="12132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/>
            <a:r>
              <a:rPr lang="en-US" sz="1400" b="1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lsb</a:t>
            </a:r>
            <a:r>
              <a:rPr lang="en-US" sz="1400" b="1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15</a:t>
            </a:r>
          </a:p>
        </p:txBody>
      </p:sp>
      <p:cxnSp>
        <p:nvCxnSpPr>
          <p:cNvPr id="29" name="Straight Arrow Connector 28"/>
          <p:cNvCxnSpPr/>
          <p:nvPr/>
        </p:nvCxnSpPr>
        <p:spPr>
          <a:xfrm flipH="1" flipV="1">
            <a:off x="5096730" y="2944436"/>
            <a:ext cx="204017" cy="253916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282008" y="3077851"/>
            <a:ext cx="7115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 bit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8495" y="741134"/>
            <a:ext cx="6069873" cy="1144151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Extracting</a:t>
            </a:r>
            <a:r>
              <a:rPr lang="en-US" dirty="0"/>
              <a:t> Signed </a:t>
            </a:r>
            <a:r>
              <a:rPr lang="en-US" dirty="0" err="1"/>
              <a:t>Bitfield</a:t>
            </a:r>
            <a:br>
              <a:rPr lang="en-US" dirty="0"/>
            </a:b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(Using the </a:t>
            </a:r>
            <a:r>
              <a:rPr lang="en-US" sz="2800" i="1" dirty="0">
                <a:solidFill>
                  <a:srgbClr val="00B05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SBFX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instruction)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440037" y="4595940"/>
          <a:ext cx="6096000" cy="68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">
                  <a:extLst>
                    <a:ext uri="{9D8B030D-6E8A-4147-A177-3AD203B41FA5}">
                      <a16:colId xmlns:a16="http://schemas.microsoft.com/office/drawing/2014/main" val="4144607392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79172319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49319752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414607653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677281600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98668839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8753796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670086493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70741311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80863207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532071678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003449268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62317207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93432840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135133986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884945068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071565133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632232962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205521216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755362950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825546327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9262628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17344968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5075165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108837457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47648976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93867968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67679864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69201844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389628373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99407873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000855604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1645533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000" dirty="0"/>
                        <a:t>s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5209534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52839" y="3536907"/>
            <a:ext cx="27202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2000" b="1" dirty="0">
                <a:solidFill>
                  <a:srgbClr val="00B050"/>
                </a:solidFill>
                <a:latin typeface="Consolas" panose="020B0609020204030204" pitchFamily="49" charset="0"/>
              </a:rPr>
              <a:t>SBFX</a:t>
            </a:r>
            <a:r>
              <a:rPr lang="en-US" sz="2000" dirty="0">
                <a:solidFill>
                  <a:prstClr val="black"/>
                </a:solidFill>
                <a:latin typeface="Consolas" panose="020B0609020204030204" pitchFamily="49" charset="0"/>
              </a:rPr>
              <a:t>  R1,R0,#</a:t>
            </a:r>
            <a:r>
              <a:rPr lang="en-US" sz="2000" dirty="0">
                <a:solidFill>
                  <a:srgbClr val="00B050"/>
                </a:solidFill>
                <a:latin typeface="Consolas" panose="020B0609020204030204" pitchFamily="49" charset="0"/>
              </a:rPr>
              <a:t>15</a:t>
            </a:r>
            <a:r>
              <a:rPr lang="en-US" sz="2000" dirty="0">
                <a:solidFill>
                  <a:prstClr val="black"/>
                </a:solidFill>
                <a:latin typeface="Consolas" panose="020B0609020204030204" pitchFamily="49" charset="0"/>
              </a:rPr>
              <a:t>,#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9</a:t>
            </a:r>
          </a:p>
        </p:txBody>
      </p:sp>
      <p:sp>
        <p:nvSpPr>
          <p:cNvPr id="14" name="Curved Right Arrow 13"/>
          <p:cNvSpPr/>
          <p:nvPr/>
        </p:nvSpPr>
        <p:spPr>
          <a:xfrm>
            <a:off x="3026849" y="3007968"/>
            <a:ext cx="295604" cy="1587972"/>
          </a:xfrm>
          <a:prstGeom prst="curvedRightArrow">
            <a:avLst>
              <a:gd name="adj1" fmla="val 25000"/>
              <a:gd name="adj2" fmla="val 50000"/>
              <a:gd name="adj3" fmla="val 366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28" name="Straight Arrow Connector 27"/>
          <p:cNvCxnSpPr/>
          <p:nvPr/>
        </p:nvCxnSpPr>
        <p:spPr>
          <a:xfrm flipV="1">
            <a:off x="6595686" y="2922860"/>
            <a:ext cx="0" cy="193928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Left Brace 19"/>
          <p:cNvSpPr/>
          <p:nvPr/>
        </p:nvSpPr>
        <p:spPr>
          <a:xfrm rot="16200000">
            <a:off x="5468621" y="3404863"/>
            <a:ext cx="265542" cy="4322707"/>
          </a:xfrm>
          <a:prstGeom prst="leftBrace">
            <a:avLst>
              <a:gd name="adj1" fmla="val 0"/>
              <a:gd name="adj2" fmla="val 50544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Left Brace 21"/>
          <p:cNvSpPr/>
          <p:nvPr/>
        </p:nvSpPr>
        <p:spPr>
          <a:xfrm rot="16200000">
            <a:off x="8540801" y="4723381"/>
            <a:ext cx="285172" cy="1705302"/>
          </a:xfrm>
          <a:prstGeom prst="leftBrace">
            <a:avLst>
              <a:gd name="adj1" fmla="val 0"/>
              <a:gd name="adj2" fmla="val 50544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025457" y="5806712"/>
            <a:ext cx="34730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2’s complement sign-extension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62746" y="5815352"/>
            <a:ext cx="17732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Extracted</a:t>
            </a:r>
            <a:br>
              <a:rPr lang="en-US" dirty="0"/>
            </a:br>
            <a:r>
              <a:rPr lang="en-US" dirty="0"/>
              <a:t>bit-field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8541278D-4B1B-4526-97EF-6FFB11B4DA29}"/>
              </a:ext>
            </a:extLst>
          </p:cNvPr>
          <p:cNvCxnSpPr/>
          <p:nvPr/>
        </p:nvCxnSpPr>
        <p:spPr>
          <a:xfrm>
            <a:off x="6891896" y="3409215"/>
            <a:ext cx="2406650" cy="13915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6269432-18CF-45C4-8786-D0517AF1E076}"/>
              </a:ext>
            </a:extLst>
          </p:cNvPr>
          <p:cNvCxnSpPr>
            <a:cxnSpLocks/>
          </p:cNvCxnSpPr>
          <p:nvPr/>
        </p:nvCxnSpPr>
        <p:spPr>
          <a:xfrm>
            <a:off x="5601392" y="3482361"/>
            <a:ext cx="2278206" cy="13483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44C43ED8-4104-44AF-BEB1-CA379D01E66A}"/>
              </a:ext>
            </a:extLst>
          </p:cNvPr>
          <p:cNvSpPr txBox="1"/>
          <p:nvPr/>
        </p:nvSpPr>
        <p:spPr>
          <a:xfrm>
            <a:off x="2961751" y="4916970"/>
            <a:ext cx="5543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2000" dirty="0">
                <a:solidFill>
                  <a:prstClr val="black"/>
                </a:solidFill>
                <a:latin typeface="Consolas" panose="020B0609020204030204" pitchFamily="49" charset="0"/>
              </a:rPr>
              <a:t>R1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2C36420-8D25-4687-A8F4-8D8149C07D91}"/>
              </a:ext>
            </a:extLst>
          </p:cNvPr>
          <p:cNvSpPr txBox="1"/>
          <p:nvPr/>
        </p:nvSpPr>
        <p:spPr>
          <a:xfrm>
            <a:off x="2909161" y="2575421"/>
            <a:ext cx="5543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2000" dirty="0">
                <a:solidFill>
                  <a:prstClr val="black"/>
                </a:solidFill>
                <a:latin typeface="Consolas" panose="020B0609020204030204" pitchFamily="49" charset="0"/>
              </a:rPr>
              <a:t>R0</a:t>
            </a:r>
          </a:p>
        </p:txBody>
      </p:sp>
    </p:spTree>
    <p:extLst>
      <p:ext uri="{BB962C8B-B14F-4D97-AF65-F5344CB8AC3E}">
        <p14:creationId xmlns:p14="http://schemas.microsoft.com/office/powerpoint/2010/main" val="380697163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Arrow: Down 23">
            <a:extLst>
              <a:ext uri="{FF2B5EF4-FFF2-40B4-BE49-F238E27FC236}">
                <a16:creationId xmlns:a16="http://schemas.microsoft.com/office/drawing/2014/main" id="{BF4D14E8-24D7-4112-B594-9DEB6000DC41}"/>
              </a:ext>
            </a:extLst>
          </p:cNvPr>
          <p:cNvSpPr/>
          <p:nvPr/>
        </p:nvSpPr>
        <p:spPr>
          <a:xfrm>
            <a:off x="8638881" y="4234775"/>
            <a:ext cx="270164" cy="2030995"/>
          </a:xfrm>
          <a:prstGeom prst="down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Arrow: Down 1">
            <a:extLst>
              <a:ext uri="{FF2B5EF4-FFF2-40B4-BE49-F238E27FC236}">
                <a16:creationId xmlns:a16="http://schemas.microsoft.com/office/drawing/2014/main" id="{0EFEB6B7-B124-458E-97AE-3D48D3797631}"/>
              </a:ext>
            </a:extLst>
          </p:cNvPr>
          <p:cNvSpPr/>
          <p:nvPr/>
        </p:nvSpPr>
        <p:spPr>
          <a:xfrm>
            <a:off x="4849657" y="4234776"/>
            <a:ext cx="270164" cy="2030995"/>
          </a:xfrm>
          <a:prstGeom prst="down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5" name="Table 54">
            <a:extLst>
              <a:ext uri="{FF2B5EF4-FFF2-40B4-BE49-F238E27FC236}">
                <a16:creationId xmlns:a16="http://schemas.microsoft.com/office/drawing/2014/main" id="{676376AE-5D10-4101-81E2-A10281E2F8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3501021"/>
              </p:ext>
            </p:extLst>
          </p:nvPr>
        </p:nvGraphicFramePr>
        <p:xfrm>
          <a:off x="4222401" y="4732005"/>
          <a:ext cx="6096000" cy="685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8440">
                  <a:extLst>
                    <a:ext uri="{9D8B030D-6E8A-4147-A177-3AD203B41FA5}">
                      <a16:colId xmlns:a16="http://schemas.microsoft.com/office/drawing/2014/main" val="4144607392"/>
                    </a:ext>
                  </a:extLst>
                </a:gridCol>
                <a:gridCol w="162560">
                  <a:extLst>
                    <a:ext uri="{9D8B030D-6E8A-4147-A177-3AD203B41FA5}">
                      <a16:colId xmlns:a16="http://schemas.microsoft.com/office/drawing/2014/main" val="79172319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49319752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414607653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677281600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98668839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8753796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670086493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70741311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80863207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532071678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003449268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62317207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93432840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135133986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884945068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071565133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632232962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205521216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755362950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825546327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9262628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17344968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5075165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108837457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47648976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93867968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67679864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692018449"/>
                    </a:ext>
                  </a:extLst>
                </a:gridCol>
                <a:gridCol w="162560">
                  <a:extLst>
                    <a:ext uri="{9D8B030D-6E8A-4147-A177-3AD203B41FA5}">
                      <a16:colId xmlns:a16="http://schemas.microsoft.com/office/drawing/2014/main" val="2389628373"/>
                    </a:ext>
                  </a:extLst>
                </a:gridCol>
                <a:gridCol w="218440">
                  <a:extLst>
                    <a:ext uri="{9D8B030D-6E8A-4147-A177-3AD203B41FA5}">
                      <a16:colId xmlns:a16="http://schemas.microsoft.com/office/drawing/2014/main" val="199407873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000855604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24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14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1645533"/>
                  </a:ext>
                </a:extLst>
              </a:tr>
              <a:tr h="278130">
                <a:tc gridSpan="8"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0 0 0 0 0 0 0 0</a:t>
                      </a:r>
                      <a:endParaRPr lang="en-US" sz="1200" i="0" dirty="0">
                        <a:latin typeface="Consolas" panose="020B0609020204030204" pitchFamily="49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gridSpan="9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source</a:t>
                      </a:r>
                      <a:endParaRPr lang="en-US" sz="11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gridSpan="15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0 0 0 0 0 0 0 0 0 0 0 0 0 0 0</a:t>
                      </a:r>
                      <a:endParaRPr lang="en-US" sz="1400" i="0" dirty="0">
                        <a:latin typeface="Consolas" panose="020B0609020204030204" pitchFamily="49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2685209534"/>
                  </a:ext>
                </a:extLst>
              </a:tr>
            </a:tbl>
          </a:graphicData>
        </a:graphic>
      </p:graphicFrame>
      <p:graphicFrame>
        <p:nvGraphicFramePr>
          <p:cNvPr id="42" name="Table 41">
            <a:extLst>
              <a:ext uri="{FF2B5EF4-FFF2-40B4-BE49-F238E27FC236}">
                <a16:creationId xmlns:a16="http://schemas.microsoft.com/office/drawing/2014/main" id="{DCD64590-C9A7-4872-BB1B-2C07E6337D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4556568"/>
              </p:ext>
            </p:extLst>
          </p:nvPr>
        </p:nvGraphicFramePr>
        <p:xfrm>
          <a:off x="1957182" y="1255091"/>
          <a:ext cx="6145848" cy="685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">
                  <a:extLst>
                    <a:ext uri="{9D8B030D-6E8A-4147-A177-3AD203B41FA5}">
                      <a16:colId xmlns:a16="http://schemas.microsoft.com/office/drawing/2014/main" val="4144607392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79172319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49319752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414607653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677281600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98668839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8753796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670086493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70741311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80863207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532071678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003449268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62317207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93432840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135133986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884945068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071565133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632232962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205521216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755362950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825546327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92626285"/>
                    </a:ext>
                  </a:extLst>
                </a:gridCol>
                <a:gridCol w="240348">
                  <a:extLst>
                    <a:ext uri="{9D8B030D-6E8A-4147-A177-3AD203B41FA5}">
                      <a16:colId xmlns:a16="http://schemas.microsoft.com/office/drawing/2014/main" val="117344968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5075165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108837457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47648976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93867968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67679864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69201844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389628373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99407873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000855604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1645533"/>
                  </a:ext>
                </a:extLst>
              </a:tr>
              <a:tr h="278130">
                <a:tc gridSpan="23">
                  <a:txBody>
                    <a:bodyPr/>
                    <a:lstStyle/>
                    <a:p>
                      <a:pPr algn="ctr"/>
                      <a:endParaRPr lang="en-US" sz="14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9">
                  <a:txBody>
                    <a:bodyPr/>
                    <a:lstStyle/>
                    <a:p>
                      <a:pPr algn="ctr"/>
                      <a:r>
                        <a:rPr lang="en-US" sz="1400" b="1" i="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source</a:t>
                      </a:r>
                      <a:endParaRPr lang="en-US" sz="1000" b="1" i="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5209534"/>
                  </a:ext>
                </a:extLst>
              </a:tr>
            </a:tbl>
          </a:graphicData>
        </a:graphic>
      </p:graphicFrame>
      <p:sp>
        <p:nvSpPr>
          <p:cNvPr id="53" name="TextBox 52">
            <a:extLst>
              <a:ext uri="{FF2B5EF4-FFF2-40B4-BE49-F238E27FC236}">
                <a16:creationId xmlns:a16="http://schemas.microsoft.com/office/drawing/2014/main" id="{B6C9D3CB-DD1E-4F22-933D-DCEE80FD0065}"/>
              </a:ext>
            </a:extLst>
          </p:cNvPr>
          <p:cNvSpPr txBox="1"/>
          <p:nvPr/>
        </p:nvSpPr>
        <p:spPr>
          <a:xfrm>
            <a:off x="990503" y="4311766"/>
            <a:ext cx="59069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// </a:t>
            </a:r>
            <a:r>
              <a:rPr lang="en-US" b="1" dirty="0"/>
              <a:t>Align</a:t>
            </a:r>
            <a:r>
              <a:rPr lang="en-US" dirty="0"/>
              <a:t> a copy of source in </a:t>
            </a:r>
            <a:r>
              <a:rPr lang="en-US" b="1" dirty="0">
                <a:solidFill>
                  <a:srgbClr val="FFC000"/>
                </a:solidFill>
              </a:rPr>
              <a:t>R2</a:t>
            </a:r>
            <a:r>
              <a:rPr lang="en-US" dirty="0"/>
              <a:t>; fill the   rest with 0’s:</a:t>
            </a:r>
          </a:p>
          <a:p>
            <a:r>
              <a:rPr lang="en-US" dirty="0"/>
              <a:t>LSL </a:t>
            </a:r>
            <a:r>
              <a:rPr lang="en-US" b="1" dirty="0">
                <a:solidFill>
                  <a:srgbClr val="FFC000"/>
                </a:solidFill>
              </a:rPr>
              <a:t>R2</a:t>
            </a:r>
            <a:r>
              <a:rPr lang="en-US" dirty="0"/>
              <a:t>,</a:t>
            </a:r>
            <a:r>
              <a:rPr lang="en-US" b="1" dirty="0">
                <a:solidFill>
                  <a:srgbClr val="0000FF"/>
                </a:solidFill>
              </a:rPr>
              <a:t>R0</a:t>
            </a:r>
            <a:r>
              <a:rPr lang="en-US" dirty="0"/>
              <a:t>,#</a:t>
            </a:r>
            <a:r>
              <a:rPr lang="en-US" dirty="0">
                <a:solidFill>
                  <a:srgbClr val="FF0000"/>
                </a:solidFill>
              </a:rPr>
              <a:t>23</a:t>
            </a:r>
          </a:p>
          <a:p>
            <a:r>
              <a:rPr lang="en-US" dirty="0"/>
              <a:t>LSR </a:t>
            </a:r>
            <a:r>
              <a:rPr lang="en-US" b="1" dirty="0">
                <a:solidFill>
                  <a:srgbClr val="FFC000"/>
                </a:solidFill>
              </a:rPr>
              <a:t>R2</a:t>
            </a:r>
            <a:r>
              <a:rPr lang="en-US" dirty="0"/>
              <a:t>,</a:t>
            </a:r>
            <a:r>
              <a:rPr lang="en-US" b="1" dirty="0">
                <a:solidFill>
                  <a:srgbClr val="FFC000"/>
                </a:solidFill>
              </a:rPr>
              <a:t>R2</a:t>
            </a:r>
            <a:r>
              <a:rPr lang="en-US" dirty="0"/>
              <a:t>,#</a:t>
            </a:r>
            <a:r>
              <a:rPr lang="en-US" dirty="0">
                <a:solidFill>
                  <a:srgbClr val="00B050"/>
                </a:solidFill>
              </a:rPr>
              <a:t>8</a:t>
            </a:r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990503" y="754904"/>
            <a:ext cx="9557181" cy="53243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685800"/>
            <a:r>
              <a:rPr lang="en-US" sz="3200" b="1" dirty="0">
                <a:latin typeface="Calibri Light" panose="020F0302020204030204"/>
              </a:rPr>
              <a:t>Inserting</a:t>
            </a:r>
            <a:r>
              <a:rPr lang="en-US" sz="3200" b="1" dirty="0">
                <a:solidFill>
                  <a:prstClr val="black"/>
                </a:solidFill>
                <a:latin typeface="Calibri Light" panose="020F0302020204030204"/>
              </a:rPr>
              <a:t> Bitfield from </a:t>
            </a:r>
            <a:r>
              <a:rPr lang="en-US" sz="3200" b="1" dirty="0">
                <a:solidFill>
                  <a:srgbClr val="0000FF"/>
                </a:solidFill>
                <a:latin typeface="Calibri Light" panose="020F0302020204030204"/>
              </a:rPr>
              <a:t>R0</a:t>
            </a:r>
            <a:r>
              <a:rPr lang="en-US" sz="3200" b="1" dirty="0">
                <a:solidFill>
                  <a:prstClr val="black"/>
                </a:solidFill>
                <a:latin typeface="Calibri Light" panose="020F0302020204030204"/>
              </a:rPr>
              <a:t> into </a:t>
            </a:r>
            <a:r>
              <a:rPr lang="en-US" sz="3200" b="1" dirty="0">
                <a:solidFill>
                  <a:srgbClr val="FF0000"/>
                </a:solidFill>
                <a:latin typeface="Calibri Light" panose="020F0302020204030204"/>
              </a:rPr>
              <a:t>R1</a:t>
            </a:r>
            <a:r>
              <a:rPr lang="en-US" sz="3200" b="1" dirty="0">
                <a:solidFill>
                  <a:prstClr val="black"/>
                </a:solidFill>
                <a:latin typeface="Calibri Light" panose="020F0302020204030204"/>
              </a:rPr>
              <a:t> </a:t>
            </a:r>
            <a:r>
              <a:rPr lang="en-US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(Using </a:t>
            </a:r>
            <a:r>
              <a:rPr lang="en-US" sz="2000" i="1" dirty="0">
                <a:solidFill>
                  <a:prstClr val="black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AND</a:t>
            </a:r>
            <a:r>
              <a:rPr lang="en-US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i="1" dirty="0">
                <a:solidFill>
                  <a:prstClr val="black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LSL</a:t>
            </a:r>
            <a:r>
              <a:rPr lang="en-US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i="1" dirty="0">
                <a:solidFill>
                  <a:prstClr val="black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LSR</a:t>
            </a:r>
            <a:r>
              <a:rPr lang="en-US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000" i="1" dirty="0">
                <a:solidFill>
                  <a:prstClr val="black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ORR</a:t>
            </a:r>
            <a:r>
              <a:rPr lang="en-US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800" i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552272" y="2577401"/>
            <a:ext cx="621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685800"/>
            <a:r>
              <a:rPr lang="en-US" b="1" dirty="0">
                <a:solidFill>
                  <a:srgbClr val="FF0000"/>
                </a:solidFill>
                <a:latin typeface="Calibri" panose="020F0502020204030204"/>
              </a:rPr>
              <a:t>R1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36842" y="1615184"/>
            <a:ext cx="6203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685800"/>
            <a:r>
              <a:rPr lang="en-US" b="1" dirty="0">
                <a:solidFill>
                  <a:srgbClr val="0000FF"/>
                </a:solidFill>
                <a:latin typeface="Calibri" panose="020F0502020204030204"/>
              </a:rPr>
              <a:t>R0</a:t>
            </a:r>
          </a:p>
        </p:txBody>
      </p:sp>
      <p:graphicFrame>
        <p:nvGraphicFramePr>
          <p:cNvPr id="45" name="Table 44">
            <a:extLst>
              <a:ext uri="{FF2B5EF4-FFF2-40B4-BE49-F238E27FC236}">
                <a16:creationId xmlns:a16="http://schemas.microsoft.com/office/drawing/2014/main" id="{2A69A447-1250-457F-8718-59ECDD931E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9144640"/>
              </p:ext>
            </p:extLst>
          </p:nvPr>
        </p:nvGraphicFramePr>
        <p:xfrm>
          <a:off x="4222401" y="2244861"/>
          <a:ext cx="6096000" cy="685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440">
                  <a:extLst>
                    <a:ext uri="{9D8B030D-6E8A-4147-A177-3AD203B41FA5}">
                      <a16:colId xmlns:a16="http://schemas.microsoft.com/office/drawing/2014/main" val="4144607392"/>
                    </a:ext>
                  </a:extLst>
                </a:gridCol>
                <a:gridCol w="162560">
                  <a:extLst>
                    <a:ext uri="{9D8B030D-6E8A-4147-A177-3AD203B41FA5}">
                      <a16:colId xmlns:a16="http://schemas.microsoft.com/office/drawing/2014/main" val="79172319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49319752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414607653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677281600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98668839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8753796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670086493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70741311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80863207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532071678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003449268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62317207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93432840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135133986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884945068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071565133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632232962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205521216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755362950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825546327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9262628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17344968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5075165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108837457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47648976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93867968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67679864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692018449"/>
                    </a:ext>
                  </a:extLst>
                </a:gridCol>
                <a:gridCol w="162560">
                  <a:extLst>
                    <a:ext uri="{9D8B030D-6E8A-4147-A177-3AD203B41FA5}">
                      <a16:colId xmlns:a16="http://schemas.microsoft.com/office/drawing/2014/main" val="2389628373"/>
                    </a:ext>
                  </a:extLst>
                </a:gridCol>
                <a:gridCol w="218440">
                  <a:extLst>
                    <a:ext uri="{9D8B030D-6E8A-4147-A177-3AD203B41FA5}">
                      <a16:colId xmlns:a16="http://schemas.microsoft.com/office/drawing/2014/main" val="199407873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000855604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24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14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1645533"/>
                  </a:ext>
                </a:extLst>
              </a:tr>
              <a:tr h="278130">
                <a:tc gridSpan="8">
                  <a:txBody>
                    <a:bodyPr/>
                    <a:lstStyle/>
                    <a:p>
                      <a:pPr algn="ctr"/>
                      <a:r>
                        <a:rPr lang="en-US" sz="1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 not change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gridSpan="9">
                  <a:txBody>
                    <a:bodyPr/>
                    <a:lstStyle/>
                    <a:p>
                      <a:pPr algn="ctr"/>
                      <a:r>
                        <a:rPr lang="en-US" sz="1400" b="1" i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destination</a:t>
                      </a:r>
                      <a:endParaRPr lang="en-US" sz="1200" b="1" i="0" dirty="0">
                        <a:solidFill>
                          <a:srgbClr val="FF0000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gridSpan="15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 not change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2685209534"/>
                  </a:ext>
                </a:extLst>
              </a:tr>
            </a:tbl>
          </a:graphicData>
        </a:graphic>
      </p:graphicFrame>
      <p:sp>
        <p:nvSpPr>
          <p:cNvPr id="52" name="TextBox 51">
            <a:extLst>
              <a:ext uri="{FF2B5EF4-FFF2-40B4-BE49-F238E27FC236}">
                <a16:creationId xmlns:a16="http://schemas.microsoft.com/office/drawing/2014/main" id="{692C0F1E-1D67-45F8-8207-5CB90B9A3A0E}"/>
              </a:ext>
            </a:extLst>
          </p:cNvPr>
          <p:cNvSpPr txBox="1"/>
          <p:nvPr/>
        </p:nvSpPr>
        <p:spPr>
          <a:xfrm>
            <a:off x="3553120" y="5099478"/>
            <a:ext cx="6203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685800"/>
            <a:r>
              <a:rPr lang="en-US" b="1" dirty="0">
                <a:solidFill>
                  <a:srgbClr val="FF0000"/>
                </a:solidFill>
                <a:latin typeface="Calibri" panose="020F0502020204030204"/>
              </a:rPr>
              <a:t>R2</a:t>
            </a:r>
          </a:p>
        </p:txBody>
      </p:sp>
      <p:graphicFrame>
        <p:nvGraphicFramePr>
          <p:cNvPr id="57" name="Table 56">
            <a:extLst>
              <a:ext uri="{FF2B5EF4-FFF2-40B4-BE49-F238E27FC236}">
                <a16:creationId xmlns:a16="http://schemas.microsoft.com/office/drawing/2014/main" id="{974C6371-2754-4CF1-9B35-102E71E138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6740487"/>
              </p:ext>
            </p:extLst>
          </p:nvPr>
        </p:nvGraphicFramePr>
        <p:xfrm>
          <a:off x="4222401" y="5924711"/>
          <a:ext cx="6096000" cy="685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440">
                  <a:extLst>
                    <a:ext uri="{9D8B030D-6E8A-4147-A177-3AD203B41FA5}">
                      <a16:colId xmlns:a16="http://schemas.microsoft.com/office/drawing/2014/main" val="4144607392"/>
                    </a:ext>
                  </a:extLst>
                </a:gridCol>
                <a:gridCol w="162560">
                  <a:extLst>
                    <a:ext uri="{9D8B030D-6E8A-4147-A177-3AD203B41FA5}">
                      <a16:colId xmlns:a16="http://schemas.microsoft.com/office/drawing/2014/main" val="79172319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49319752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414607653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677281600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98668839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8753796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670086493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70741311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80863207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532071678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003449268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62317207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93432840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135133986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884945068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071565133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632232962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205521216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755362950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825546327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9262628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17344968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5075165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108837457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47648976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93867968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67679864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692018449"/>
                    </a:ext>
                  </a:extLst>
                </a:gridCol>
                <a:gridCol w="162560">
                  <a:extLst>
                    <a:ext uri="{9D8B030D-6E8A-4147-A177-3AD203B41FA5}">
                      <a16:colId xmlns:a16="http://schemas.microsoft.com/office/drawing/2014/main" val="2389628373"/>
                    </a:ext>
                  </a:extLst>
                </a:gridCol>
                <a:gridCol w="218440">
                  <a:extLst>
                    <a:ext uri="{9D8B030D-6E8A-4147-A177-3AD203B41FA5}">
                      <a16:colId xmlns:a16="http://schemas.microsoft.com/office/drawing/2014/main" val="199407873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000855604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 marL="68580" marR="68580" marT="34290" marB="3429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24</a:t>
                      </a:r>
                    </a:p>
                  </a:txBody>
                  <a:tcPr marL="68580" marR="68580" marT="34290" marB="3429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 marL="68580" marR="68580" marT="34290" marB="3429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 marL="68580" marR="68580" marT="34290" marB="3429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14</a:t>
                      </a:r>
                    </a:p>
                  </a:txBody>
                  <a:tcPr marL="68580" marR="68580" marT="34290" marB="3429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68580" marR="68580" marT="34290" marB="3429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1645533"/>
                  </a:ext>
                </a:extLst>
              </a:tr>
              <a:tr h="278130">
                <a:tc gridSpan="8">
                  <a:txBody>
                    <a:bodyPr/>
                    <a:lstStyle/>
                    <a:p>
                      <a:pPr algn="ctr"/>
                      <a:r>
                        <a:rPr lang="en-US" sz="1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unchanged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gridSpan="9">
                  <a:txBody>
                    <a:bodyPr/>
                    <a:lstStyle/>
                    <a:p>
                      <a:pPr algn="ctr"/>
                      <a:r>
                        <a:rPr lang="en-US" sz="1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source</a:t>
                      </a:r>
                      <a:endParaRPr lang="en-US" sz="11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gridSpan="15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unchanged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2685209534"/>
                  </a:ext>
                </a:extLst>
              </a:tr>
            </a:tbl>
          </a:graphicData>
        </a:graphic>
      </p:graphicFrame>
      <p:sp>
        <p:nvSpPr>
          <p:cNvPr id="58" name="TextBox 57">
            <a:extLst>
              <a:ext uri="{FF2B5EF4-FFF2-40B4-BE49-F238E27FC236}">
                <a16:creationId xmlns:a16="http://schemas.microsoft.com/office/drawing/2014/main" id="{EA809550-C543-4C79-AD1B-29D635CA3276}"/>
              </a:ext>
            </a:extLst>
          </p:cNvPr>
          <p:cNvSpPr txBox="1"/>
          <p:nvPr/>
        </p:nvSpPr>
        <p:spPr>
          <a:xfrm>
            <a:off x="3601213" y="6265770"/>
            <a:ext cx="621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685800"/>
            <a:r>
              <a:rPr lang="en-US" b="1" dirty="0">
                <a:solidFill>
                  <a:srgbClr val="FF0000"/>
                </a:solidFill>
                <a:latin typeface="Calibri" panose="020F0502020204030204"/>
              </a:rPr>
              <a:t>R1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CCD5361-7E6E-4964-91F7-60528594FAC9}"/>
              </a:ext>
            </a:extLst>
          </p:cNvPr>
          <p:cNvCxnSpPr>
            <a:cxnSpLocks/>
          </p:cNvCxnSpPr>
          <p:nvPr/>
        </p:nvCxnSpPr>
        <p:spPr>
          <a:xfrm flipH="1">
            <a:off x="5950527" y="2005299"/>
            <a:ext cx="436418" cy="2943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1C8501A3-4A25-4A69-AD75-530BE5B901ED}"/>
              </a:ext>
            </a:extLst>
          </p:cNvPr>
          <p:cNvCxnSpPr>
            <a:cxnSpLocks/>
          </p:cNvCxnSpPr>
          <p:nvPr/>
        </p:nvCxnSpPr>
        <p:spPr>
          <a:xfrm flipH="1">
            <a:off x="7426036" y="1970637"/>
            <a:ext cx="536864" cy="3619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7C7C754-3E29-4E4F-BB79-157656DC5AB7}"/>
              </a:ext>
            </a:extLst>
          </p:cNvPr>
          <p:cNvSpPr txBox="1"/>
          <p:nvPr/>
        </p:nvSpPr>
        <p:spPr>
          <a:xfrm>
            <a:off x="955038" y="3109933"/>
            <a:ext cx="5292349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// </a:t>
            </a:r>
            <a:r>
              <a:rPr lang="en-US" b="1" dirty="0">
                <a:solidFill>
                  <a:srgbClr val="FF0000"/>
                </a:solidFill>
              </a:rPr>
              <a:t>Clear</a:t>
            </a:r>
            <a:r>
              <a:rPr lang="en-US" dirty="0"/>
              <a:t> the destination field of </a:t>
            </a:r>
            <a:r>
              <a:rPr lang="en-US" b="1" dirty="0">
                <a:solidFill>
                  <a:srgbClr val="0000FF"/>
                </a:solidFill>
              </a:rPr>
              <a:t>R0</a:t>
            </a:r>
            <a:r>
              <a:rPr lang="en-US" dirty="0"/>
              <a:t> to all 0’s:</a:t>
            </a:r>
          </a:p>
          <a:p>
            <a:r>
              <a:rPr lang="en-US" dirty="0"/>
              <a:t>LDR </a:t>
            </a:r>
            <a:r>
              <a:rPr lang="en-US" b="1" dirty="0">
                <a:solidFill>
                  <a:srgbClr val="FFC000"/>
                </a:solidFill>
              </a:rPr>
              <a:t>R2</a:t>
            </a:r>
            <a:r>
              <a:rPr lang="en-US" dirty="0"/>
              <a:t>,=0xFF007FFF</a:t>
            </a:r>
          </a:p>
          <a:p>
            <a:r>
              <a:rPr lang="en-US" dirty="0"/>
              <a:t>AND </a:t>
            </a:r>
            <a:r>
              <a:rPr lang="en-US" b="1" dirty="0">
                <a:solidFill>
                  <a:srgbClr val="FF0000"/>
                </a:solidFill>
              </a:rPr>
              <a:t>R1</a:t>
            </a:r>
            <a:r>
              <a:rPr lang="en-US" dirty="0"/>
              <a:t>,</a:t>
            </a:r>
            <a:r>
              <a:rPr lang="en-US" b="1" dirty="0">
                <a:solidFill>
                  <a:srgbClr val="FF0000"/>
                </a:solidFill>
              </a:rPr>
              <a:t>R1</a:t>
            </a:r>
            <a:r>
              <a:rPr lang="en-US" dirty="0"/>
              <a:t>,</a:t>
            </a:r>
            <a:r>
              <a:rPr lang="en-US" b="1" dirty="0">
                <a:solidFill>
                  <a:srgbClr val="FFC000"/>
                </a:solidFill>
              </a:rPr>
              <a:t>R2</a:t>
            </a:r>
          </a:p>
        </p:txBody>
      </p:sp>
      <p:graphicFrame>
        <p:nvGraphicFramePr>
          <p:cNvPr id="54" name="Table 53">
            <a:extLst>
              <a:ext uri="{FF2B5EF4-FFF2-40B4-BE49-F238E27FC236}">
                <a16:creationId xmlns:a16="http://schemas.microsoft.com/office/drawing/2014/main" id="{9B585FD3-5B4C-473C-8BB5-5BB57C1DBB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6513271"/>
              </p:ext>
            </p:extLst>
          </p:nvPr>
        </p:nvGraphicFramePr>
        <p:xfrm>
          <a:off x="4205989" y="3507954"/>
          <a:ext cx="6096000" cy="685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440">
                  <a:extLst>
                    <a:ext uri="{9D8B030D-6E8A-4147-A177-3AD203B41FA5}">
                      <a16:colId xmlns:a16="http://schemas.microsoft.com/office/drawing/2014/main" val="4144607392"/>
                    </a:ext>
                  </a:extLst>
                </a:gridCol>
                <a:gridCol w="162560">
                  <a:extLst>
                    <a:ext uri="{9D8B030D-6E8A-4147-A177-3AD203B41FA5}">
                      <a16:colId xmlns:a16="http://schemas.microsoft.com/office/drawing/2014/main" val="79172319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49319752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414607653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677281600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98668839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8753796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670086493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70741311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80863207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532071678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003449268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62317207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93432840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135133986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884945068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071565133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632232962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205521216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755362950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825546327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9262628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17344968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5075165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108837457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47648976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93867968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67679864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692018449"/>
                    </a:ext>
                  </a:extLst>
                </a:gridCol>
                <a:gridCol w="162560">
                  <a:extLst>
                    <a:ext uri="{9D8B030D-6E8A-4147-A177-3AD203B41FA5}">
                      <a16:colId xmlns:a16="http://schemas.microsoft.com/office/drawing/2014/main" val="2389628373"/>
                    </a:ext>
                  </a:extLst>
                </a:gridCol>
                <a:gridCol w="218440">
                  <a:extLst>
                    <a:ext uri="{9D8B030D-6E8A-4147-A177-3AD203B41FA5}">
                      <a16:colId xmlns:a16="http://schemas.microsoft.com/office/drawing/2014/main" val="199407873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000855604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24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14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1645533"/>
                  </a:ext>
                </a:extLst>
              </a:tr>
              <a:tr h="278130">
                <a:tc gridSpan="8">
                  <a:txBody>
                    <a:bodyPr/>
                    <a:lstStyle/>
                    <a:p>
                      <a:pPr algn="ctr"/>
                      <a:r>
                        <a:rPr lang="en-US" sz="1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unchanged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gridSpan="9">
                  <a:txBody>
                    <a:bodyPr/>
                    <a:lstStyle/>
                    <a:p>
                      <a:pPr algn="ctr"/>
                      <a:r>
                        <a:rPr lang="en-US" sz="1200" i="0" dirty="0">
                          <a:latin typeface="Consolas" panose="020B0609020204030204" pitchFamily="49" charset="0"/>
                          <a:cs typeface="Times New Roman" panose="02020603050405020304" pitchFamily="18" charset="0"/>
                        </a:rPr>
                        <a:t>0 0 0 0 0 0 0 0 0</a:t>
                      </a:r>
                      <a:endParaRPr lang="en-US" sz="1100" i="0" dirty="0">
                        <a:latin typeface="Consolas" panose="020B0609020204030204" pitchFamily="49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gridSpan="15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unchanged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2685209534"/>
                  </a:ext>
                </a:extLst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3516876" y="3865443"/>
            <a:ext cx="656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685800"/>
            <a:r>
              <a:rPr lang="en-US" b="1" dirty="0">
                <a:solidFill>
                  <a:srgbClr val="FF0000"/>
                </a:solidFill>
                <a:latin typeface="Calibri" panose="020F0502020204030204"/>
              </a:rPr>
              <a:t>R1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C0E0CF0-6CA3-417E-B33D-00E3A9DEBF2A}"/>
              </a:ext>
            </a:extLst>
          </p:cNvPr>
          <p:cNvSpPr txBox="1"/>
          <p:nvPr/>
        </p:nvSpPr>
        <p:spPr>
          <a:xfrm>
            <a:off x="955038" y="5650023"/>
            <a:ext cx="64709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// </a:t>
            </a:r>
            <a:r>
              <a:rPr lang="en-US" b="1" dirty="0">
                <a:solidFill>
                  <a:srgbClr val="FF0000"/>
                </a:solidFill>
              </a:rPr>
              <a:t>Insert</a:t>
            </a:r>
            <a:r>
              <a:rPr lang="en-US" dirty="0"/>
              <a:t> source from </a:t>
            </a:r>
            <a:r>
              <a:rPr lang="en-US" b="1" dirty="0">
                <a:solidFill>
                  <a:srgbClr val="FFC000"/>
                </a:solidFill>
              </a:rPr>
              <a:t>R2</a:t>
            </a:r>
            <a:r>
              <a:rPr lang="en-US" dirty="0"/>
              <a:t> into </a:t>
            </a:r>
            <a:r>
              <a:rPr lang="en-US" dirty="0" err="1"/>
              <a:t>destinat</a:t>
            </a:r>
            <a:r>
              <a:rPr lang="en-US" dirty="0"/>
              <a:t>-    ion (</a:t>
            </a:r>
            <a:r>
              <a:rPr lang="en-US" b="1" dirty="0">
                <a:solidFill>
                  <a:srgbClr val="FF0000"/>
                </a:solidFill>
              </a:rPr>
              <a:t>R1</a:t>
            </a:r>
            <a:r>
              <a:rPr lang="en-US" dirty="0"/>
              <a:t>):</a:t>
            </a:r>
          </a:p>
          <a:p>
            <a:r>
              <a:rPr lang="en-US" dirty="0"/>
              <a:t>ORR </a:t>
            </a:r>
            <a:r>
              <a:rPr lang="en-US" b="1" dirty="0">
                <a:solidFill>
                  <a:srgbClr val="FF0000"/>
                </a:solidFill>
              </a:rPr>
              <a:t>R1</a:t>
            </a:r>
            <a:r>
              <a:rPr lang="en-US" dirty="0"/>
              <a:t>,</a:t>
            </a:r>
            <a:r>
              <a:rPr lang="en-US" b="1" dirty="0">
                <a:solidFill>
                  <a:srgbClr val="FF0000"/>
                </a:solidFill>
              </a:rPr>
              <a:t>R1</a:t>
            </a:r>
            <a:r>
              <a:rPr lang="en-US" dirty="0"/>
              <a:t>,</a:t>
            </a:r>
            <a:r>
              <a:rPr lang="en-US" b="1" dirty="0">
                <a:solidFill>
                  <a:srgbClr val="FFC000"/>
                </a:solidFill>
              </a:rPr>
              <a:t>R2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5BDB92F-82B4-4951-9872-36225F6481DF}"/>
              </a:ext>
            </a:extLst>
          </p:cNvPr>
          <p:cNvCxnSpPr/>
          <p:nvPr/>
        </p:nvCxnSpPr>
        <p:spPr>
          <a:xfrm>
            <a:off x="2012151" y="1816755"/>
            <a:ext cx="4322618" cy="0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0696BAD-426A-46B1-B6B5-A52DCAB0F784}"/>
              </a:ext>
            </a:extLst>
          </p:cNvPr>
          <p:cNvSpPr txBox="1"/>
          <p:nvPr/>
        </p:nvSpPr>
        <p:spPr>
          <a:xfrm>
            <a:off x="3813588" y="1688566"/>
            <a:ext cx="722317" cy="215444"/>
          </a:xfrm>
          <a:prstGeom prst="rect">
            <a:avLst/>
          </a:prstGeom>
          <a:solidFill>
            <a:schemeClr val="bg2"/>
          </a:solidFill>
        </p:spPr>
        <p:txBody>
          <a:bodyPr wrap="square" tIns="0" bIns="0" rtlCol="0">
            <a:spAutoFit/>
          </a:bodyPr>
          <a:lstStyle/>
          <a:p>
            <a:r>
              <a:rPr lang="en-US" sz="1400" b="1" dirty="0"/>
              <a:t>23</a:t>
            </a:r>
            <a:r>
              <a:rPr lang="en-US" sz="1400" dirty="0"/>
              <a:t> bits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253A294-0C10-4A81-94BC-B889F809BD28}"/>
              </a:ext>
            </a:extLst>
          </p:cNvPr>
          <p:cNvCxnSpPr>
            <a:cxnSpLocks/>
          </p:cNvCxnSpPr>
          <p:nvPr/>
        </p:nvCxnSpPr>
        <p:spPr>
          <a:xfrm>
            <a:off x="4205989" y="3049809"/>
            <a:ext cx="1557502" cy="0"/>
          </a:xfrm>
          <a:prstGeom prst="straightConnector1">
            <a:avLst/>
          </a:prstGeom>
          <a:ln w="19050"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0A28695-5578-4AFA-81A8-4848D702B7A5}"/>
              </a:ext>
            </a:extLst>
          </p:cNvPr>
          <p:cNvSpPr txBox="1"/>
          <p:nvPr/>
        </p:nvSpPr>
        <p:spPr>
          <a:xfrm>
            <a:off x="4633243" y="2966037"/>
            <a:ext cx="702995" cy="215444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algn="ctr"/>
            <a:r>
              <a:rPr lang="en-US" sz="1400" b="1" dirty="0">
                <a:solidFill>
                  <a:srgbClr val="00B050"/>
                </a:solidFill>
              </a:rPr>
              <a:t>8</a:t>
            </a:r>
            <a:r>
              <a:rPr lang="en-US" sz="1400" dirty="0">
                <a:solidFill>
                  <a:srgbClr val="00B050"/>
                </a:solidFill>
              </a:rPr>
              <a:t> bits</a:t>
            </a:r>
          </a:p>
        </p:txBody>
      </p:sp>
      <p:sp>
        <p:nvSpPr>
          <p:cNvPr id="26" name="Arrow: Down 25">
            <a:extLst>
              <a:ext uri="{FF2B5EF4-FFF2-40B4-BE49-F238E27FC236}">
                <a16:creationId xmlns:a16="http://schemas.microsoft.com/office/drawing/2014/main" id="{697906B9-D3B1-482F-B42A-14FCDD496FAB}"/>
              </a:ext>
            </a:extLst>
          </p:cNvPr>
          <p:cNvSpPr/>
          <p:nvPr/>
        </p:nvSpPr>
        <p:spPr>
          <a:xfrm>
            <a:off x="6397571" y="5468811"/>
            <a:ext cx="270164" cy="755939"/>
          </a:xfrm>
          <a:prstGeom prst="down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11708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EA50F69D-6BA5-48DE-8071-BFC83D398C6F}"/>
              </a:ext>
            </a:extLst>
          </p:cNvPr>
          <p:cNvGraphicFramePr>
            <a:graphicFrameLocks noGrp="1"/>
          </p:cNvGraphicFramePr>
          <p:nvPr/>
        </p:nvGraphicFramePr>
        <p:xfrm>
          <a:off x="3562370" y="5030940"/>
          <a:ext cx="6096000" cy="68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">
                  <a:extLst>
                    <a:ext uri="{9D8B030D-6E8A-4147-A177-3AD203B41FA5}">
                      <a16:colId xmlns:a16="http://schemas.microsoft.com/office/drawing/2014/main" val="4144607392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79172319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49319752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414607653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677281600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98668839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8753796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670086493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70741311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80863207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532071678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003449268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62317207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93432840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135133986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884945068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071565133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632232962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205521216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755362950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825546327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9262628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17344968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5075165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108837457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47648976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93867968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67679864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69201844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389628373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99407873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000855604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24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14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1645533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2685209534"/>
                  </a:ext>
                </a:extLst>
              </a:tr>
            </a:tbl>
          </a:graphicData>
        </a:graphic>
      </p:graphicFrame>
      <p:sp>
        <p:nvSpPr>
          <p:cNvPr id="3" name="Title 1"/>
          <p:cNvSpPr txBox="1">
            <a:spLocks/>
          </p:cNvSpPr>
          <p:nvPr/>
        </p:nvSpPr>
        <p:spPr>
          <a:xfrm>
            <a:off x="923417" y="729559"/>
            <a:ext cx="10879561" cy="99417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685800"/>
            <a:r>
              <a:rPr lang="en-US" sz="3600" b="1" dirty="0">
                <a:solidFill>
                  <a:srgbClr val="FF0000"/>
                </a:solidFill>
                <a:latin typeface="Calibri Light" panose="020F0302020204030204"/>
              </a:rPr>
              <a:t>Inserting</a:t>
            </a:r>
            <a:r>
              <a:rPr lang="en-US" sz="3600" b="1" dirty="0">
                <a:solidFill>
                  <a:prstClr val="black"/>
                </a:solidFill>
                <a:latin typeface="Calibri Light" panose="020F0302020204030204"/>
              </a:rPr>
              <a:t> Bitfield from R0 into R1 </a:t>
            </a:r>
            <a:r>
              <a:rPr lang="en-US" sz="28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(Using the </a:t>
            </a:r>
            <a:r>
              <a:rPr lang="en-US" sz="2800" i="1" dirty="0">
                <a:solidFill>
                  <a:prstClr val="black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BFI</a:t>
            </a:r>
            <a:r>
              <a:rPr lang="en-US" sz="28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instruction)</a:t>
            </a:r>
            <a:endParaRPr lang="en-US" sz="2000" i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3332EE-A32F-43D4-85F9-98CFBE9C5CA9}"/>
              </a:ext>
            </a:extLst>
          </p:cNvPr>
          <p:cNvSpPr txBox="1"/>
          <p:nvPr/>
        </p:nvSpPr>
        <p:spPr>
          <a:xfrm>
            <a:off x="2598345" y="2398645"/>
            <a:ext cx="6203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685800"/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R0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8BE53C-C404-44DE-935E-220D65FDAD46}"/>
              </a:ext>
            </a:extLst>
          </p:cNvPr>
          <p:cNvSpPr txBox="1"/>
          <p:nvPr/>
        </p:nvSpPr>
        <p:spPr>
          <a:xfrm>
            <a:off x="2659516" y="5388350"/>
            <a:ext cx="621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685800"/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R1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564D979-E9AD-4D29-8FDB-547A66C74D21}"/>
              </a:ext>
            </a:extLst>
          </p:cNvPr>
          <p:cNvCxnSpPr/>
          <p:nvPr/>
        </p:nvCxnSpPr>
        <p:spPr>
          <a:xfrm flipV="1">
            <a:off x="5142862" y="5883904"/>
            <a:ext cx="1625162" cy="5760"/>
          </a:xfrm>
          <a:prstGeom prst="straightConnector1">
            <a:avLst/>
          </a:prstGeom>
          <a:ln w="254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D146035-1193-44E8-BA11-44AE3F07297E}"/>
              </a:ext>
            </a:extLst>
          </p:cNvPr>
          <p:cNvSpPr txBox="1"/>
          <p:nvPr/>
        </p:nvSpPr>
        <p:spPr>
          <a:xfrm>
            <a:off x="5348800" y="5918270"/>
            <a:ext cx="12132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/>
            <a:r>
              <a:rPr lang="en-US" sz="14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width = 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E4C7A9C-7F99-4A0C-B80F-AA33CA65CB71}"/>
              </a:ext>
            </a:extLst>
          </p:cNvPr>
          <p:cNvSpPr txBox="1"/>
          <p:nvPr/>
        </p:nvSpPr>
        <p:spPr>
          <a:xfrm>
            <a:off x="6132158" y="4411963"/>
            <a:ext cx="12132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/>
            <a:r>
              <a:rPr lang="en-US" sz="1400" b="1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lsb</a:t>
            </a:r>
            <a:r>
              <a:rPr lang="en-US" sz="1400" b="1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15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64F9727-AB62-4696-9375-87A4A75B1366}"/>
              </a:ext>
            </a:extLst>
          </p:cNvPr>
          <p:cNvCxnSpPr>
            <a:cxnSpLocks/>
          </p:cNvCxnSpPr>
          <p:nvPr/>
        </p:nvCxnSpPr>
        <p:spPr>
          <a:xfrm>
            <a:off x="6738802" y="4719740"/>
            <a:ext cx="0" cy="274165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8F8B8ECB-D0B4-44DA-AB47-06C9DCD8566F}"/>
              </a:ext>
            </a:extLst>
          </p:cNvPr>
          <p:cNvGraphicFramePr>
            <a:graphicFrameLocks noGrp="1"/>
          </p:cNvGraphicFramePr>
          <p:nvPr/>
        </p:nvGraphicFramePr>
        <p:xfrm>
          <a:off x="3534024" y="2057650"/>
          <a:ext cx="6145848" cy="68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">
                  <a:extLst>
                    <a:ext uri="{9D8B030D-6E8A-4147-A177-3AD203B41FA5}">
                      <a16:colId xmlns:a16="http://schemas.microsoft.com/office/drawing/2014/main" val="4144607392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79172319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49319752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414607653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677281600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98668839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8753796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670086493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70741311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80863207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532071678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003449268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62317207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93432840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135133986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884945068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071565133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632232962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205521216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755362950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825546327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92626285"/>
                    </a:ext>
                  </a:extLst>
                </a:gridCol>
                <a:gridCol w="240348">
                  <a:extLst>
                    <a:ext uri="{9D8B030D-6E8A-4147-A177-3AD203B41FA5}">
                      <a16:colId xmlns:a16="http://schemas.microsoft.com/office/drawing/2014/main" val="117344968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5075165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108837457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47648976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93867968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67679864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3692018449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389628373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199407873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4000855604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68580" marR="68580" marT="34290" marB="3429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1645533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5209534"/>
                  </a:ext>
                </a:extLst>
              </a:tr>
            </a:tbl>
          </a:graphicData>
        </a:graphic>
      </p:graphicFrame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9760477-6E46-48CD-AC1F-43B5D6F17D97}"/>
              </a:ext>
            </a:extLst>
          </p:cNvPr>
          <p:cNvCxnSpPr>
            <a:cxnSpLocks/>
          </p:cNvCxnSpPr>
          <p:nvPr/>
        </p:nvCxnSpPr>
        <p:spPr>
          <a:xfrm flipH="1">
            <a:off x="5243945" y="2767978"/>
            <a:ext cx="2753592" cy="22629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A60856F-732C-4BD3-83FA-A8B3E4F57490}"/>
              </a:ext>
            </a:extLst>
          </p:cNvPr>
          <p:cNvCxnSpPr>
            <a:cxnSpLocks/>
          </p:cNvCxnSpPr>
          <p:nvPr/>
        </p:nvCxnSpPr>
        <p:spPr>
          <a:xfrm flipH="1">
            <a:off x="6792191" y="2796314"/>
            <a:ext cx="2632731" cy="22346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FE8880E-899D-4846-93D6-9BACE13AE83C}"/>
              </a:ext>
            </a:extLst>
          </p:cNvPr>
          <p:cNvSpPr txBox="1"/>
          <p:nvPr/>
        </p:nvSpPr>
        <p:spPr>
          <a:xfrm>
            <a:off x="3695701" y="3656197"/>
            <a:ext cx="2753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</a:rPr>
              <a:t>BFI</a:t>
            </a:r>
            <a:r>
              <a:rPr lang="en-US" sz="2000" dirty="0">
                <a:solidFill>
                  <a:prstClr val="black"/>
                </a:solidFill>
                <a:latin typeface="Consolas" panose="020B0609020204030204" pitchFamily="49" charset="0"/>
              </a:rPr>
              <a:t>  R1,R0,#</a:t>
            </a:r>
            <a:r>
              <a:rPr lang="en-US" sz="2000" dirty="0">
                <a:solidFill>
                  <a:srgbClr val="00B050"/>
                </a:solidFill>
                <a:latin typeface="Consolas" panose="020B0609020204030204" pitchFamily="49" charset="0"/>
              </a:rPr>
              <a:t>15</a:t>
            </a:r>
            <a:r>
              <a:rPr lang="en-US" sz="2000" dirty="0">
                <a:solidFill>
                  <a:prstClr val="black"/>
                </a:solidFill>
                <a:latin typeface="Consolas" panose="020B0609020204030204" pitchFamily="49" charset="0"/>
              </a:rPr>
              <a:t>,#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9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3B38281-6AEB-4D5B-8255-3BB26D9CFB58}"/>
              </a:ext>
            </a:extLst>
          </p:cNvPr>
          <p:cNvCxnSpPr/>
          <p:nvPr/>
        </p:nvCxnSpPr>
        <p:spPr>
          <a:xfrm flipV="1">
            <a:off x="7997537" y="2114324"/>
            <a:ext cx="1625162" cy="5760"/>
          </a:xfrm>
          <a:prstGeom prst="straightConnector1">
            <a:avLst/>
          </a:prstGeom>
          <a:ln w="254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7EE18610-86DD-4952-9AE6-04D0E3B61412}"/>
              </a:ext>
            </a:extLst>
          </p:cNvPr>
          <p:cNvSpPr txBox="1"/>
          <p:nvPr/>
        </p:nvSpPr>
        <p:spPr>
          <a:xfrm>
            <a:off x="8181928" y="1788030"/>
            <a:ext cx="12132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/>
            <a:r>
              <a:rPr lang="en-US" sz="1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width = 9</a:t>
            </a:r>
          </a:p>
        </p:txBody>
      </p:sp>
      <p:sp>
        <p:nvSpPr>
          <p:cNvPr id="29" name="Curved Right Arrow 13">
            <a:extLst>
              <a:ext uri="{FF2B5EF4-FFF2-40B4-BE49-F238E27FC236}">
                <a16:creationId xmlns:a16="http://schemas.microsoft.com/office/drawing/2014/main" id="{6A70669F-358F-435F-AEC6-6C96C42C3006}"/>
              </a:ext>
            </a:extLst>
          </p:cNvPr>
          <p:cNvSpPr/>
          <p:nvPr/>
        </p:nvSpPr>
        <p:spPr>
          <a:xfrm>
            <a:off x="3008603" y="3262321"/>
            <a:ext cx="295604" cy="1587972"/>
          </a:xfrm>
          <a:prstGeom prst="curvedRightArrow">
            <a:avLst>
              <a:gd name="adj1" fmla="val 25000"/>
              <a:gd name="adj2" fmla="val 50000"/>
              <a:gd name="adj3" fmla="val 366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6C15F7D-2207-1831-8F32-4EB79D4EECBE}"/>
              </a:ext>
            </a:extLst>
          </p:cNvPr>
          <p:cNvSpPr txBox="1"/>
          <p:nvPr/>
        </p:nvSpPr>
        <p:spPr>
          <a:xfrm>
            <a:off x="10345432" y="3255493"/>
            <a:ext cx="1255472" cy="830997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b="1" dirty="0" err="1">
                <a:solidFill>
                  <a:srgbClr val="00B0F0"/>
                </a:solidFill>
              </a:rPr>
              <a:t>CPULator</a:t>
            </a:r>
            <a:r>
              <a:rPr lang="en-US" sz="1600" b="1" dirty="0">
                <a:solidFill>
                  <a:srgbClr val="00B0F0"/>
                </a:solidFill>
              </a:rPr>
              <a:t>: </a:t>
            </a:r>
            <a:br>
              <a:rPr lang="en-US" sz="1600" b="1" dirty="0">
                <a:solidFill>
                  <a:srgbClr val="00B0F0"/>
                </a:solidFill>
              </a:rPr>
            </a:br>
            <a:r>
              <a:rPr lang="en-US" sz="1600" b="1" dirty="0">
                <a:solidFill>
                  <a:srgbClr val="FF0000"/>
                </a:solidFill>
              </a:rPr>
              <a:t>BFI.s &amp;</a:t>
            </a:r>
            <a:br>
              <a:rPr lang="en-US" sz="1600" b="1" dirty="0">
                <a:solidFill>
                  <a:srgbClr val="FF0000"/>
                </a:solidFill>
              </a:rPr>
            </a:br>
            <a:r>
              <a:rPr lang="en-US" sz="1600" b="1" dirty="0">
                <a:solidFill>
                  <a:srgbClr val="FF0000"/>
                </a:solidFill>
              </a:rPr>
              <a:t>BFI2.s</a:t>
            </a:r>
          </a:p>
        </p:txBody>
      </p:sp>
    </p:spTree>
    <p:extLst>
      <p:ext uri="{BB962C8B-B14F-4D97-AF65-F5344CB8AC3E}">
        <p14:creationId xmlns:p14="http://schemas.microsoft.com/office/powerpoint/2010/main" val="333671334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0495" y="736338"/>
            <a:ext cx="9978190" cy="707776"/>
          </a:xfrm>
        </p:spPr>
        <p:txBody>
          <a:bodyPr>
            <a:normAutofit/>
          </a:bodyPr>
          <a:lstStyle/>
          <a:p>
            <a:r>
              <a:rPr lang="en-US" dirty="0"/>
              <a:t>BITFIELD INSTRUCTIONS &amp; APPLICATIONS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9881254"/>
              </p:ext>
            </p:extLst>
          </p:nvPr>
        </p:nvGraphicFramePr>
        <p:xfrm>
          <a:off x="950495" y="2236812"/>
          <a:ext cx="10142754" cy="2620520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28333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90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90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11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71500" algn="l"/>
                        </a:tabLst>
                      </a:pPr>
                      <a:r>
                        <a:rPr lang="en-US" sz="1800" b="1" i="1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Instruction</a:t>
                      </a:r>
                      <a:endParaRPr lang="en-US" sz="1800" dirty="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73025" marR="73025" marT="8890" marB="889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71500" algn="l"/>
                        </a:tabLst>
                      </a:pPr>
                      <a:r>
                        <a:rPr lang="en-US" sz="1800" b="1" i="1">
                          <a:solidFill>
                            <a:schemeClr val="bg1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Syntax</a:t>
                      </a:r>
                      <a:endParaRPr lang="en-US" sz="180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73025" marR="73025" marT="8890" marB="889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Operation</a:t>
                      </a:r>
                      <a:endParaRPr lang="en-US" sz="1800" dirty="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73025" marR="73025" marT="8890" marB="889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Notes</a:t>
                      </a:r>
                      <a:endParaRPr lang="en-US" sz="1800" dirty="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73025" marR="73025" marT="8890" marB="889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429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Bit Field </a:t>
                      </a:r>
                      <a:r>
                        <a:rPr lang="en-US" sz="2000" b="1" dirty="0">
                          <a:solidFill>
                            <a:srgbClr val="0000FF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Clear</a:t>
                      </a:r>
                      <a:endParaRPr lang="en-US" sz="2000" b="1" dirty="0">
                        <a:solidFill>
                          <a:srgbClr val="0000FF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6858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BFC 	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R</a:t>
                      </a:r>
                      <a:r>
                        <a:rPr lang="en-US" sz="2000" baseline="-2500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d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,</a:t>
                      </a:r>
                      <a:r>
                        <a:rPr lang="en-US" sz="2000" i="1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lsb,width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73025" marR="0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R</a:t>
                      </a:r>
                      <a:r>
                        <a:rPr lang="en-US" sz="2000" baseline="-25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d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&lt;bits&gt; 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  <a:sym typeface="Wingdings"/>
                        </a:rPr>
                        <a:t>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 0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73025" marR="0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 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73025" marR="0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429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Bit Field </a:t>
                      </a:r>
                      <a:r>
                        <a:rPr lang="en-US" sz="2000" b="1" dirty="0">
                          <a:solidFill>
                            <a:srgbClr val="0000FF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Insert</a:t>
                      </a:r>
                      <a:endParaRPr lang="en-US" sz="2000" b="1" dirty="0">
                        <a:solidFill>
                          <a:srgbClr val="0000FF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6858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BFI 	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R</a:t>
                      </a:r>
                      <a:r>
                        <a:rPr lang="en-US" sz="2000" baseline="-2500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d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,R</a:t>
                      </a:r>
                      <a:r>
                        <a:rPr lang="en-US" sz="2000" baseline="-2500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n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,</a:t>
                      </a:r>
                      <a:r>
                        <a:rPr lang="en-US" sz="2000" i="1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lsb,width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73025" marR="0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R</a:t>
                      </a:r>
                      <a:r>
                        <a:rPr lang="en-US" sz="2000" baseline="-25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d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&lt;bits&gt; 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  <a:sym typeface="Wingdings"/>
                        </a:rPr>
                        <a:t>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 R</a:t>
                      </a:r>
                      <a:r>
                        <a:rPr lang="en-US" sz="2000" baseline="-25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n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&lt;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lsb’s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&gt;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73025" marR="0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 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73025" marR="0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429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Signed Bit Field </a:t>
                      </a:r>
                      <a:r>
                        <a:rPr lang="en-US" sz="2000" b="1" dirty="0">
                          <a:solidFill>
                            <a:srgbClr val="FF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Extract</a:t>
                      </a:r>
                      <a:endParaRPr lang="en-US" sz="2000" b="1" dirty="0">
                        <a:solidFill>
                          <a:srgbClr val="FF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6858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SBFX	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R</a:t>
                      </a:r>
                      <a:r>
                        <a:rPr lang="en-US" sz="2000" baseline="-2500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d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,R</a:t>
                      </a:r>
                      <a:r>
                        <a:rPr lang="en-US" sz="2000" baseline="-2500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n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,</a:t>
                      </a:r>
                      <a:r>
                        <a:rPr lang="en-US" sz="2000" i="1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lsb,width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73025" marR="0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R</a:t>
                      </a:r>
                      <a:r>
                        <a:rPr lang="en-US" sz="2000" baseline="-25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d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 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  <a:sym typeface="Wingdings"/>
                        </a:rPr>
                        <a:t>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 R</a:t>
                      </a:r>
                      <a:r>
                        <a:rPr lang="en-US" sz="2000" baseline="-25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n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&lt;bits&gt;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73025" marR="0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Sign extends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73025" marR="0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429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Unsigned Bit Field </a:t>
                      </a:r>
                      <a:r>
                        <a:rPr lang="en-US" sz="2000" b="1" dirty="0">
                          <a:solidFill>
                            <a:srgbClr val="FF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Extract</a:t>
                      </a:r>
                      <a:endParaRPr lang="en-US" sz="2000" b="1" dirty="0">
                        <a:solidFill>
                          <a:srgbClr val="FF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6858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UBFX	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R</a:t>
                      </a:r>
                      <a:r>
                        <a:rPr lang="en-US" sz="2000" baseline="-2500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d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,R</a:t>
                      </a:r>
                      <a:r>
                        <a:rPr lang="en-US" sz="2000" baseline="-2500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n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,</a:t>
                      </a:r>
                      <a:r>
                        <a:rPr lang="en-US" sz="2000" i="1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lsb,width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73025" marR="0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R</a:t>
                      </a:r>
                      <a:r>
                        <a:rPr lang="en-US" sz="2000" baseline="-25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d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 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  <a:sym typeface="Wingdings"/>
                        </a:rPr>
                        <a:t>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 R</a:t>
                      </a:r>
                      <a:r>
                        <a:rPr lang="en-US" sz="2000" baseline="-25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n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&lt;bits&gt;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73025" marR="0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Zero extends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73025" marR="0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10EC9973-F4CC-ADCD-E522-CA11D5392DE5}"/>
              </a:ext>
            </a:extLst>
          </p:cNvPr>
          <p:cNvSpPr txBox="1"/>
          <p:nvPr/>
        </p:nvSpPr>
        <p:spPr>
          <a:xfrm>
            <a:off x="3910137" y="5507381"/>
            <a:ext cx="1255472" cy="584775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b="1" dirty="0" err="1">
                <a:solidFill>
                  <a:srgbClr val="00B0F0"/>
                </a:solidFill>
              </a:rPr>
              <a:t>CPULator</a:t>
            </a:r>
            <a:r>
              <a:rPr lang="en-US" sz="1600" b="1" dirty="0">
                <a:solidFill>
                  <a:srgbClr val="00B0F0"/>
                </a:solidFill>
              </a:rPr>
              <a:t>: </a:t>
            </a:r>
            <a:br>
              <a:rPr lang="en-US" sz="1600" b="1" dirty="0">
                <a:solidFill>
                  <a:srgbClr val="00B0F0"/>
                </a:solidFill>
              </a:rPr>
            </a:br>
            <a:r>
              <a:rPr lang="en-US" sz="1600" b="1" dirty="0">
                <a:solidFill>
                  <a:srgbClr val="FF0000"/>
                </a:solidFill>
              </a:rPr>
              <a:t>BFC.s</a:t>
            </a:r>
          </a:p>
        </p:txBody>
      </p:sp>
    </p:spTree>
    <p:extLst>
      <p:ext uri="{BB962C8B-B14F-4D97-AF65-F5344CB8AC3E}">
        <p14:creationId xmlns:p14="http://schemas.microsoft.com/office/powerpoint/2010/main" val="353786033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Examples</a:t>
            </a:r>
          </a:p>
        </p:txBody>
      </p:sp>
      <p:sp>
        <p:nvSpPr>
          <p:cNvPr id="5123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5358617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D08AF-9007-6BF3-0034-BB28B2A0B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6EC42-D121-C8ED-6AE7-0DDB5F801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0495" y="736338"/>
            <a:ext cx="9978190" cy="707776"/>
          </a:xfrm>
        </p:spPr>
        <p:txBody>
          <a:bodyPr>
            <a:normAutofit/>
          </a:bodyPr>
          <a:lstStyle/>
          <a:p>
            <a:r>
              <a:rPr lang="en-US" dirty="0"/>
              <a:t>Examples (Implement in </a:t>
            </a:r>
            <a:r>
              <a:rPr lang="en-US" dirty="0" err="1"/>
              <a:t>CPULator</a:t>
            </a:r>
            <a:r>
              <a:rPr lang="en-US" dirty="0"/>
              <a:t>)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E1A2610-DC7E-E76A-1E02-D1A0B94434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0494" y="1679682"/>
            <a:ext cx="10407713" cy="4940272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  <a:tabLst>
                <a:tab pos="3657600" algn="l"/>
              </a:tabLst>
            </a:pPr>
            <a:endParaRPr lang="en-US" dirty="0"/>
          </a:p>
          <a:p>
            <a:pPr marL="0" indent="0">
              <a:lnSpc>
                <a:spcPct val="150000"/>
              </a:lnSpc>
              <a:buNone/>
              <a:tabLst>
                <a:tab pos="3657600" algn="l"/>
              </a:tabLst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5A6CF2E-CB00-D770-7855-849CDF0A3D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887" y="1906719"/>
            <a:ext cx="10811320" cy="3271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24026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B38297-D557-8535-94F5-86E2C2C24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6182E-665E-21DC-A694-28770A905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0495" y="736338"/>
            <a:ext cx="9978190" cy="707776"/>
          </a:xfrm>
        </p:spPr>
        <p:txBody>
          <a:bodyPr>
            <a:normAutofit/>
          </a:bodyPr>
          <a:lstStyle/>
          <a:p>
            <a:r>
              <a:rPr lang="en-US" dirty="0"/>
              <a:t>Examples (Implement in </a:t>
            </a:r>
            <a:r>
              <a:rPr lang="en-US" dirty="0" err="1"/>
              <a:t>CPULator</a:t>
            </a:r>
            <a:r>
              <a:rPr lang="en-US" dirty="0"/>
              <a:t>)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A3F5CA4-9275-9CB6-4A99-DA588149B8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0494" y="1679682"/>
            <a:ext cx="10407713" cy="4940272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  <a:tabLst>
                <a:tab pos="3657600" algn="l"/>
              </a:tabLst>
            </a:pPr>
            <a:endParaRPr lang="en-US" dirty="0"/>
          </a:p>
          <a:p>
            <a:pPr marL="0" indent="0">
              <a:lnSpc>
                <a:spcPct val="150000"/>
              </a:lnSpc>
              <a:buNone/>
              <a:tabLst>
                <a:tab pos="3657600" algn="l"/>
              </a:tabLst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86A2205-AFC9-C7AD-7A58-34C0BF7D0E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673" y="2136543"/>
            <a:ext cx="10418534" cy="3041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597893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C1C535-55DC-8D70-FB43-5FF574EEF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22A62-DE46-213D-1652-6073871AE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0495" y="736338"/>
            <a:ext cx="9978190" cy="707776"/>
          </a:xfrm>
        </p:spPr>
        <p:txBody>
          <a:bodyPr>
            <a:normAutofit/>
          </a:bodyPr>
          <a:lstStyle/>
          <a:p>
            <a:r>
              <a:rPr lang="en-US" dirty="0"/>
              <a:t>Examples (Implement in </a:t>
            </a:r>
            <a:r>
              <a:rPr lang="en-US" dirty="0" err="1"/>
              <a:t>CPULator</a:t>
            </a:r>
            <a:r>
              <a:rPr lang="en-US" dirty="0"/>
              <a:t>)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C64DC05-2470-4FC1-BF12-DFA6C26817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0494" y="1679682"/>
            <a:ext cx="10407713" cy="4940272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  <a:tabLst>
                <a:tab pos="3657600" algn="l"/>
              </a:tabLst>
            </a:pPr>
            <a:endParaRPr lang="en-US" dirty="0"/>
          </a:p>
          <a:p>
            <a:pPr marL="0" indent="0">
              <a:lnSpc>
                <a:spcPct val="150000"/>
              </a:lnSpc>
              <a:buNone/>
              <a:tabLst>
                <a:tab pos="3657600" algn="l"/>
              </a:tabLst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54EE87-6161-E9B4-43B4-0A3E77F806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8358" y="1839956"/>
            <a:ext cx="8354472" cy="3453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771025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80709-339D-E24B-6DB0-FC1425165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EAD50-97FB-E5CB-F22A-9B6CD38A5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0495" y="736338"/>
            <a:ext cx="9978190" cy="707776"/>
          </a:xfrm>
        </p:spPr>
        <p:txBody>
          <a:bodyPr>
            <a:normAutofit/>
          </a:bodyPr>
          <a:lstStyle/>
          <a:p>
            <a:r>
              <a:rPr lang="en-US" dirty="0"/>
              <a:t>Examples (Implement in </a:t>
            </a:r>
            <a:r>
              <a:rPr lang="en-US" dirty="0" err="1"/>
              <a:t>CPULator</a:t>
            </a:r>
            <a:r>
              <a:rPr lang="en-US" dirty="0"/>
              <a:t>)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D4A8FA5-7B42-F758-C244-ADC4CAF13D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0494" y="1679682"/>
            <a:ext cx="10407713" cy="4940272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  <a:tabLst>
                <a:tab pos="3657600" algn="l"/>
              </a:tabLst>
            </a:pPr>
            <a:endParaRPr lang="en-US" dirty="0"/>
          </a:p>
          <a:p>
            <a:pPr marL="0" indent="0">
              <a:lnSpc>
                <a:spcPct val="150000"/>
              </a:lnSpc>
              <a:buNone/>
              <a:tabLst>
                <a:tab pos="3657600" algn="l"/>
              </a:tabLst>
            </a:pP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CA97A41-39AE-06DC-2925-F5681F53DD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6262" y="2158651"/>
            <a:ext cx="7823441" cy="3280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659091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84CB71-783D-2EC0-4E60-C8392F846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88352-3DF2-ED24-3315-BBA9C77DE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0495" y="736338"/>
            <a:ext cx="9978190" cy="707776"/>
          </a:xfrm>
        </p:spPr>
        <p:txBody>
          <a:bodyPr>
            <a:normAutofit/>
          </a:bodyPr>
          <a:lstStyle/>
          <a:p>
            <a:r>
              <a:rPr lang="en-US" dirty="0"/>
              <a:t>Examples (Implement in </a:t>
            </a:r>
            <a:r>
              <a:rPr lang="en-US" dirty="0" err="1"/>
              <a:t>CPULator</a:t>
            </a:r>
            <a:r>
              <a:rPr lang="en-US" dirty="0"/>
              <a:t>)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BBF4F60-72FD-B5F3-55D6-5F051D752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0494" y="1679682"/>
            <a:ext cx="10407713" cy="4940272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  <a:tabLst>
                <a:tab pos="3657600" algn="l"/>
              </a:tabLst>
            </a:pPr>
            <a:endParaRPr lang="en-US" dirty="0"/>
          </a:p>
          <a:p>
            <a:pPr marL="0" indent="0">
              <a:lnSpc>
                <a:spcPct val="150000"/>
              </a:lnSpc>
              <a:buNone/>
              <a:tabLst>
                <a:tab pos="3657600" algn="l"/>
              </a:tabLst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EA8DD2-B68B-1D93-6CE1-821F2F5339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5073" y="1873272"/>
            <a:ext cx="7565476" cy="3840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85425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D4DDE4-4645-F2C3-6785-7BC216A3D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9E193-7CE8-6394-F8AB-26FB9CF21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0495" y="736338"/>
            <a:ext cx="9978190" cy="707776"/>
          </a:xfrm>
        </p:spPr>
        <p:txBody>
          <a:bodyPr>
            <a:normAutofit/>
          </a:bodyPr>
          <a:lstStyle/>
          <a:p>
            <a:r>
              <a:rPr lang="en-US" dirty="0"/>
              <a:t>Examples (Implement in </a:t>
            </a:r>
            <a:r>
              <a:rPr lang="en-US" dirty="0" err="1"/>
              <a:t>CPULator</a:t>
            </a:r>
            <a:r>
              <a:rPr lang="en-US" dirty="0"/>
              <a:t>)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42A2270-31C9-1AE4-6741-C7A1A5DE5A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0494" y="1679682"/>
            <a:ext cx="10407713" cy="4940272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  <a:tabLst>
                <a:tab pos="3657600" algn="l"/>
              </a:tabLst>
            </a:pPr>
            <a:endParaRPr lang="en-US" dirty="0"/>
          </a:p>
          <a:p>
            <a:pPr marL="0" indent="0">
              <a:lnSpc>
                <a:spcPct val="150000"/>
              </a:lnSpc>
              <a:buNone/>
              <a:tabLst>
                <a:tab pos="3657600" algn="l"/>
              </a:tabLst>
            </a:pP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7E0FB4B-9904-00BC-967F-51844697FF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6952" y="2044499"/>
            <a:ext cx="7731706" cy="3559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25703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35244-4FF0-9D38-B82F-A36DF1CC0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42518-582B-ED9B-7FD6-0C7BFD3FD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0495" y="736338"/>
            <a:ext cx="9978190" cy="707776"/>
          </a:xfrm>
        </p:spPr>
        <p:txBody>
          <a:bodyPr>
            <a:normAutofit/>
          </a:bodyPr>
          <a:lstStyle/>
          <a:p>
            <a:r>
              <a:rPr lang="en-US" dirty="0"/>
              <a:t>Examples (Implement in </a:t>
            </a:r>
            <a:r>
              <a:rPr lang="en-US" dirty="0" err="1"/>
              <a:t>CPULator</a:t>
            </a:r>
            <a:r>
              <a:rPr lang="en-US" dirty="0"/>
              <a:t>)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40B5C3F-661A-2249-51F7-F1BDD2B1F1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0494" y="1679682"/>
            <a:ext cx="10407713" cy="4940272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  <a:tabLst>
                <a:tab pos="3657600" algn="l"/>
              </a:tabLst>
            </a:pPr>
            <a:endParaRPr lang="en-US" dirty="0"/>
          </a:p>
          <a:p>
            <a:pPr marL="0" indent="0">
              <a:lnSpc>
                <a:spcPct val="150000"/>
              </a:lnSpc>
              <a:buNone/>
              <a:tabLst>
                <a:tab pos="3657600" algn="l"/>
              </a:tabLst>
            </a:pP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EFAF6E4-E6EC-DBCB-6358-995FEFA5D9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7879" y="2286520"/>
            <a:ext cx="9403422" cy="174137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6B4844A-5109-22F2-D6B9-01C0DC616577}"/>
              </a:ext>
            </a:extLst>
          </p:cNvPr>
          <p:cNvSpPr txBox="1"/>
          <p:nvPr/>
        </p:nvSpPr>
        <p:spPr>
          <a:xfrm>
            <a:off x="1701800" y="4954592"/>
            <a:ext cx="14029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stop: B stop</a:t>
            </a:r>
          </a:p>
        </p:txBody>
      </p:sp>
    </p:spTree>
    <p:extLst>
      <p:ext uri="{BB962C8B-B14F-4D97-AF65-F5344CB8AC3E}">
        <p14:creationId xmlns:p14="http://schemas.microsoft.com/office/powerpoint/2010/main" val="247223835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9E27B5-EF9E-9CA0-9492-FE3A36A78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9602C-CFA2-EB1F-81AC-5AD232ED6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0495" y="736338"/>
            <a:ext cx="9978190" cy="707776"/>
          </a:xfrm>
        </p:spPr>
        <p:txBody>
          <a:bodyPr>
            <a:normAutofit/>
          </a:bodyPr>
          <a:lstStyle/>
          <a:p>
            <a:r>
              <a:rPr lang="en-US" dirty="0"/>
              <a:t>Examples (Implement in </a:t>
            </a:r>
            <a:r>
              <a:rPr lang="en-US" dirty="0" err="1"/>
              <a:t>CPULator</a:t>
            </a:r>
            <a:r>
              <a:rPr lang="en-US" dirty="0"/>
              <a:t>)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563E5D5-9AAC-8FF5-F4E4-30FF9D5DB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0494" y="1679682"/>
            <a:ext cx="10407713" cy="4940272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  <a:tabLst>
                <a:tab pos="3657600" algn="l"/>
              </a:tabLst>
            </a:pPr>
            <a:endParaRPr lang="en-US" dirty="0"/>
          </a:p>
          <a:p>
            <a:pPr marL="0" indent="0">
              <a:lnSpc>
                <a:spcPct val="150000"/>
              </a:lnSpc>
              <a:buNone/>
              <a:tabLst>
                <a:tab pos="3657600" algn="l"/>
              </a:tabLst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B3B5A6B-E720-F71E-A300-C0A284C2ED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8079" y="2284244"/>
            <a:ext cx="8472542" cy="3282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25627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80E8C5-E5E7-0219-3DAA-AFFFF6510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F78B9-D6BB-B804-F660-E8206709E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0495" y="736338"/>
            <a:ext cx="9978190" cy="707776"/>
          </a:xfrm>
        </p:spPr>
        <p:txBody>
          <a:bodyPr>
            <a:normAutofit/>
          </a:bodyPr>
          <a:lstStyle/>
          <a:p>
            <a:r>
              <a:rPr lang="en-US" dirty="0"/>
              <a:t>Examples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8A74FE1-C5C7-2A9D-BF90-9F54B2EB69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0494" y="1679682"/>
            <a:ext cx="10407713" cy="4940272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  <a:tabLst>
                <a:tab pos="3657600" algn="l"/>
              </a:tabLst>
            </a:pPr>
            <a:endParaRPr lang="en-US" dirty="0"/>
          </a:p>
          <a:p>
            <a:pPr marL="0" indent="0">
              <a:lnSpc>
                <a:spcPct val="150000"/>
              </a:lnSpc>
              <a:buNone/>
              <a:tabLst>
                <a:tab pos="3657600" algn="l"/>
              </a:tabLst>
            </a:pP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FB5F711-72D2-7C62-F8E8-847A74A14B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1569" y="1972548"/>
            <a:ext cx="6782203" cy="354199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C6A2CE0-A140-842D-E038-564273E65548}"/>
              </a:ext>
            </a:extLst>
          </p:cNvPr>
          <p:cNvSpPr txBox="1"/>
          <p:nvPr/>
        </p:nvSpPr>
        <p:spPr>
          <a:xfrm>
            <a:off x="5807412" y="905560"/>
            <a:ext cx="3692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https://cpulator.01xz.net/?sys=arm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7BE03B-53B6-D2C0-EE24-5559372C3EFD}"/>
              </a:ext>
            </a:extLst>
          </p:cNvPr>
          <p:cNvSpPr txBox="1"/>
          <p:nvPr/>
        </p:nvSpPr>
        <p:spPr>
          <a:xfrm>
            <a:off x="6154350" y="3059668"/>
            <a:ext cx="1059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(0xBB</a:t>
            </a:r>
            <a:r>
              <a:rPr lang="en-US" baseline="-25000" dirty="0"/>
              <a:t>16</a:t>
            </a:r>
            <a:r>
              <a:rPr lang="en-US" dirty="0"/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22F0CA-DEE9-7630-9D2F-35750C1C17AE}"/>
              </a:ext>
            </a:extLst>
          </p:cNvPr>
          <p:cNvSpPr txBox="1"/>
          <p:nvPr/>
        </p:nvSpPr>
        <p:spPr>
          <a:xfrm>
            <a:off x="8933218" y="4033248"/>
            <a:ext cx="1778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(0x00333333</a:t>
            </a:r>
            <a:r>
              <a:rPr lang="en-US" baseline="-25000" dirty="0"/>
              <a:t>16</a:t>
            </a:r>
            <a:r>
              <a:rPr lang="en-US" dirty="0"/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9268EE-124E-4A4C-22FA-5C361C0C3D5E}"/>
              </a:ext>
            </a:extLst>
          </p:cNvPr>
          <p:cNvSpPr txBox="1"/>
          <p:nvPr/>
        </p:nvSpPr>
        <p:spPr>
          <a:xfrm>
            <a:off x="8959154" y="5012501"/>
            <a:ext cx="18293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(0xBB333333</a:t>
            </a:r>
            <a:r>
              <a:rPr lang="en-US" baseline="-25000" dirty="0"/>
              <a:t>16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799466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B041BF-B6DB-E89D-4234-2D93C86C0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2AD45-DA83-BFEE-D15C-5D2AC4EA4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0495" y="736338"/>
            <a:ext cx="9978190" cy="707776"/>
          </a:xfrm>
        </p:spPr>
        <p:txBody>
          <a:bodyPr>
            <a:normAutofit/>
          </a:bodyPr>
          <a:lstStyle/>
          <a:p>
            <a:r>
              <a:rPr lang="en-US" dirty="0"/>
              <a:t>Examples (Implement in </a:t>
            </a:r>
            <a:r>
              <a:rPr lang="en-US" dirty="0" err="1"/>
              <a:t>CPULator</a:t>
            </a:r>
            <a:r>
              <a:rPr lang="en-US" dirty="0"/>
              <a:t>)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72BCDC2-D8F2-E40F-1D60-37608C9E8B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0494" y="1679682"/>
            <a:ext cx="10407713" cy="4940272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  <a:tabLst>
                <a:tab pos="3657600" algn="l"/>
              </a:tabLst>
            </a:pPr>
            <a:endParaRPr lang="en-US" dirty="0"/>
          </a:p>
          <a:p>
            <a:pPr marL="0" indent="0">
              <a:lnSpc>
                <a:spcPct val="150000"/>
              </a:lnSpc>
              <a:buNone/>
              <a:tabLst>
                <a:tab pos="3657600" algn="l"/>
              </a:tabLst>
            </a:pP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02E2CCD-D34D-4D9B-516C-4EB0F8CA51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168" y="1557347"/>
            <a:ext cx="6366363" cy="4984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15493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Chapter 7</a:t>
            </a:r>
            <a:br>
              <a:rPr lang="en-US" sz="6000" dirty="0"/>
            </a:br>
            <a:r>
              <a:rPr lang="en-US" sz="6000" dirty="0"/>
              <a:t>Manipulating Bits</a:t>
            </a:r>
            <a:endParaRPr lang="en-US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Part 6: Programming Tricks</a:t>
            </a:r>
          </a:p>
        </p:txBody>
      </p:sp>
    </p:spTree>
    <p:extLst>
      <p:ext uri="{BB962C8B-B14F-4D97-AF65-F5344CB8AC3E}">
        <p14:creationId xmlns:p14="http://schemas.microsoft.com/office/powerpoint/2010/main" val="86288741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0527" y="718787"/>
            <a:ext cx="9230168" cy="1144151"/>
          </a:xfrm>
        </p:spPr>
        <p:txBody>
          <a:bodyPr>
            <a:normAutofit/>
          </a:bodyPr>
          <a:lstStyle/>
          <a:p>
            <a:r>
              <a:rPr lang="en-US" dirty="0"/>
              <a:t>Register Swap Using Exclusive-OR</a:t>
            </a:r>
            <a:br>
              <a:rPr lang="en-US" dirty="0"/>
            </a:br>
            <a:r>
              <a:rPr lang="en-US" sz="2800" i="1" dirty="0"/>
              <a:t>(Uses 1 less register and no additional instructions)</a:t>
            </a:r>
            <a:endParaRPr lang="en-US" i="1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92630" y="2740427"/>
            <a:ext cx="2875701" cy="2414111"/>
          </a:xfrm>
          <a:solidFill>
            <a:schemeClr val="accent4">
              <a:lumMod val="20000"/>
              <a:lumOff val="80000"/>
            </a:schemeClr>
          </a:solidFill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// Standard method</a:t>
            </a:r>
          </a:p>
          <a:p>
            <a:pPr marL="0" indent="0">
              <a:buNone/>
            </a:pPr>
            <a:r>
              <a:rPr lang="en-US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(requires 3</a:t>
            </a:r>
            <a:r>
              <a:rPr lang="en-US" i="1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rd</a:t>
            </a:r>
            <a:r>
              <a:rPr lang="en-US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register)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  <a:tabLst>
                <a:tab pos="1435100" algn="l"/>
              </a:tabLst>
            </a:pPr>
            <a:r>
              <a:rPr lang="en-US" dirty="0">
                <a:solidFill>
                  <a:schemeClr val="tx1"/>
                </a:solidFill>
              </a:rPr>
              <a:t>MOV	R2,R0</a:t>
            </a:r>
          </a:p>
          <a:p>
            <a:pPr marL="0" indent="0">
              <a:buNone/>
              <a:tabLst>
                <a:tab pos="1435100" algn="l"/>
              </a:tabLst>
            </a:pPr>
            <a:r>
              <a:rPr lang="en-US" dirty="0">
                <a:solidFill>
                  <a:schemeClr val="tx1"/>
                </a:solidFill>
              </a:rPr>
              <a:t>MOV	R0,R1</a:t>
            </a:r>
          </a:p>
          <a:p>
            <a:pPr marL="0" indent="0">
              <a:buNone/>
              <a:tabLst>
                <a:tab pos="1435100" algn="l"/>
              </a:tabLst>
            </a:pPr>
            <a:r>
              <a:rPr lang="en-US" dirty="0">
                <a:solidFill>
                  <a:schemeClr val="tx1"/>
                </a:solidFill>
              </a:rPr>
              <a:t>MOV	R1,R2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21580" y="2740426"/>
            <a:ext cx="3407516" cy="2414111"/>
          </a:xfrm>
          <a:solidFill>
            <a:schemeClr val="accent4">
              <a:lumMod val="20000"/>
              <a:lumOff val="80000"/>
            </a:schemeClr>
          </a:solidFill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// Exclusive-OR method</a:t>
            </a:r>
          </a:p>
          <a:p>
            <a:pPr marL="0" indent="0">
              <a:buNone/>
            </a:pPr>
            <a:r>
              <a:rPr lang="en-US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No extra registers needed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EOR	R0,R0,R1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EOR	R1,R0,R1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EOR	R0,R0,R1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31026" y="3355226"/>
            <a:ext cx="744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b="1" dirty="0">
                <a:solidFill>
                  <a:srgbClr val="00B050"/>
                </a:solidFill>
                <a:latin typeface="Calibri" panose="020F0502020204030204"/>
              </a:rPr>
              <a:t>0011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4427" y="3363807"/>
            <a:ext cx="6770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b="1" dirty="0">
                <a:solidFill>
                  <a:srgbClr val="FF0000"/>
                </a:solidFill>
                <a:latin typeface="Calibri" panose="020F0502020204030204"/>
              </a:rPr>
              <a:t>1011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6987540" y="4068686"/>
            <a:ext cx="1805940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6971771" y="4443125"/>
            <a:ext cx="1805940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6979650" y="4817561"/>
            <a:ext cx="1805940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631026" y="3081974"/>
            <a:ext cx="6172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/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R1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4427" y="3090555"/>
            <a:ext cx="6172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/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R0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4429" y="3895562"/>
            <a:ext cx="7665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1000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38907" y="4237770"/>
            <a:ext cx="7445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b="1" dirty="0">
                <a:solidFill>
                  <a:srgbClr val="FF0000"/>
                </a:solidFill>
                <a:latin typeface="Calibri" panose="020F0502020204030204"/>
              </a:rPr>
              <a:t>1011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80188" y="4632611"/>
            <a:ext cx="750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b="1" dirty="0">
                <a:solidFill>
                  <a:srgbClr val="00B050"/>
                </a:solidFill>
                <a:latin typeface="Calibri" panose="020F0502020204030204"/>
              </a:rPr>
              <a:t>0011</a:t>
            </a:r>
          </a:p>
        </p:txBody>
      </p:sp>
      <p:cxnSp>
        <p:nvCxnSpPr>
          <p:cNvPr id="20" name="Straight Arrow Connector 19"/>
          <p:cNvCxnSpPr/>
          <p:nvPr/>
        </p:nvCxnSpPr>
        <p:spPr>
          <a:xfrm>
            <a:off x="9173037" y="3687688"/>
            <a:ext cx="5492" cy="273252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flipH="1">
            <a:off x="9414273" y="3661892"/>
            <a:ext cx="435768" cy="321416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9414274" y="4159449"/>
            <a:ext cx="292893" cy="141136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5" idx="2"/>
            <a:endCxn id="15" idx="0"/>
          </p:cNvCxnSpPr>
          <p:nvPr/>
        </p:nvCxnSpPr>
        <p:spPr>
          <a:xfrm>
            <a:off x="10003290" y="3724558"/>
            <a:ext cx="7880" cy="513212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 flipH="1">
            <a:off x="9342395" y="4471903"/>
            <a:ext cx="357137" cy="219482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>
            <a:off x="9165157" y="4169063"/>
            <a:ext cx="7881" cy="536296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8793480" y="2376150"/>
            <a:ext cx="1565910" cy="70582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r>
              <a:rPr lang="en-US" sz="1350" dirty="0">
                <a:solidFill>
                  <a:prstClr val="white"/>
                </a:solidFill>
                <a:latin typeface="Calibri" panose="020F0502020204030204"/>
              </a:rPr>
              <a:t>Exclusive-OR is 1 wherever the bits are different</a:t>
            </a:r>
          </a:p>
        </p:txBody>
      </p:sp>
    </p:spTree>
    <p:extLst>
      <p:ext uri="{BB962C8B-B14F-4D97-AF65-F5344CB8AC3E}">
        <p14:creationId xmlns:p14="http://schemas.microsoft.com/office/powerpoint/2010/main" val="346710649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60579" y="733552"/>
            <a:ext cx="6924116" cy="750022"/>
          </a:xfrm>
        </p:spPr>
        <p:txBody>
          <a:bodyPr>
            <a:normAutofit/>
          </a:bodyPr>
          <a:lstStyle/>
          <a:p>
            <a:r>
              <a:rPr lang="en-US" sz="4000" dirty="0"/>
              <a:t>Selection Without a Branch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72715" y="4293326"/>
            <a:ext cx="723845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Selection: R5 = (R0 &lt; 0) ? R1 : R2</a:t>
            </a:r>
          </a:p>
          <a:p>
            <a:pPr defTabSz="685800"/>
            <a:endParaRPr lang="en-US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pPr defTabSz="685800"/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AND	R3,R1,R0,ASR 31	// R3 = (R0 &lt; 0) ? R1 : 0</a:t>
            </a:r>
          </a:p>
          <a:p>
            <a:pPr defTabSz="685800"/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BIC	R4,R2,R0,ASR 31	// R4 = (R0 &lt; 0) ?  0 : R2</a:t>
            </a:r>
          </a:p>
          <a:p>
            <a:pPr defTabSz="685800"/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ORR	R5,R3,R4		// One of R3 or R4 will be all 0’s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45801" y="2500481"/>
          <a:ext cx="1841235" cy="1246505"/>
        </p:xfrm>
        <a:graphic>
          <a:graphicData uri="http://schemas.openxmlformats.org/drawingml/2006/table">
            <a:tbl>
              <a:tblPr firstRow="1" firstCol="1" bandRow="1"/>
              <a:tblGrid>
                <a:gridCol w="503783">
                  <a:extLst>
                    <a:ext uri="{9D8B030D-6E8A-4147-A177-3AD203B41FA5}">
                      <a16:colId xmlns:a16="http://schemas.microsoft.com/office/drawing/2014/main" val="2873186649"/>
                    </a:ext>
                  </a:extLst>
                </a:gridCol>
                <a:gridCol w="508897">
                  <a:extLst>
                    <a:ext uri="{9D8B030D-6E8A-4147-A177-3AD203B41FA5}">
                      <a16:colId xmlns:a16="http://schemas.microsoft.com/office/drawing/2014/main" val="1353598892"/>
                    </a:ext>
                  </a:extLst>
                </a:gridCol>
                <a:gridCol w="828555">
                  <a:extLst>
                    <a:ext uri="{9D8B030D-6E8A-4147-A177-3AD203B41FA5}">
                      <a16:colId xmlns:a16="http://schemas.microsoft.com/office/drawing/2014/main" val="40576546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 OR 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38433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32698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61677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68298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185780"/>
                  </a:ext>
                </a:extLst>
              </a:tr>
            </a:tbl>
          </a:graphicData>
        </a:graphic>
      </p:graphicFrame>
      <p:grpSp>
        <p:nvGrpSpPr>
          <p:cNvPr id="11" name="Group 10"/>
          <p:cNvGrpSpPr/>
          <p:nvPr/>
        </p:nvGrpSpPr>
        <p:grpSpPr>
          <a:xfrm>
            <a:off x="3447914" y="2672355"/>
            <a:ext cx="3439121" cy="923330"/>
            <a:chOff x="1923914" y="2160908"/>
            <a:chExt cx="3439121" cy="923330"/>
          </a:xfrm>
        </p:grpSpPr>
        <p:sp>
          <p:nvSpPr>
            <p:cNvPr id="3" name="Left Brace 2"/>
            <p:cNvSpPr/>
            <p:nvPr/>
          </p:nvSpPr>
          <p:spPr>
            <a:xfrm>
              <a:off x="3243943" y="2203177"/>
              <a:ext cx="141514" cy="561794"/>
            </a:xfrm>
            <a:prstGeom prst="leftBrac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923914" y="2160908"/>
              <a:ext cx="1251857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When a=0, output = b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3521800" y="2245445"/>
              <a:ext cx="1841235" cy="519526"/>
            </a:xfrm>
            <a:prstGeom prst="rect">
              <a:avLst/>
            </a:prstGeom>
            <a:solidFill>
              <a:schemeClr val="accent1">
                <a:alpha val="2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5045801" y="2725720"/>
            <a:ext cx="4013978" cy="790394"/>
            <a:chOff x="3521801" y="2245445"/>
            <a:chExt cx="4013978" cy="790394"/>
          </a:xfrm>
        </p:grpSpPr>
        <p:sp>
          <p:nvSpPr>
            <p:cNvPr id="10" name="Rectangle 9"/>
            <p:cNvSpPr/>
            <p:nvPr/>
          </p:nvSpPr>
          <p:spPr>
            <a:xfrm>
              <a:off x="3521801" y="2245445"/>
              <a:ext cx="1841235" cy="259763"/>
            </a:xfrm>
            <a:prstGeom prst="rect">
              <a:avLst/>
            </a:prstGeom>
            <a:solidFill>
              <a:schemeClr val="accent1">
                <a:alpha val="2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521801" y="2776076"/>
              <a:ext cx="1841235" cy="259763"/>
            </a:xfrm>
            <a:prstGeom prst="rect">
              <a:avLst/>
            </a:prstGeom>
            <a:solidFill>
              <a:schemeClr val="accent1">
                <a:alpha val="2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" name="Straight Arrow Connector 13"/>
            <p:cNvCxnSpPr/>
            <p:nvPr/>
          </p:nvCxnSpPr>
          <p:spPr>
            <a:xfrm flipH="1">
              <a:off x="5450122" y="2375326"/>
              <a:ext cx="526135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/>
            <p:nvPr/>
          </p:nvCxnSpPr>
          <p:spPr>
            <a:xfrm flipH="1">
              <a:off x="5461004" y="2897836"/>
              <a:ext cx="526135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/>
            <p:cNvSpPr txBox="1"/>
            <p:nvPr/>
          </p:nvSpPr>
          <p:spPr>
            <a:xfrm>
              <a:off x="6093407" y="2259626"/>
              <a:ext cx="144237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When b=0, output = a</a:t>
              </a:r>
            </a:p>
          </p:txBody>
        </p:sp>
      </p:grpSp>
      <p:sp>
        <p:nvSpPr>
          <p:cNvPr id="26" name="TextBox 25"/>
          <p:cNvSpPr txBox="1"/>
          <p:nvPr/>
        </p:nvSpPr>
        <p:spPr>
          <a:xfrm>
            <a:off x="3447914" y="1873344"/>
            <a:ext cx="59138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/>
              <a:t>Consider Bitwise OR when at least one input is 0:</a:t>
            </a:r>
          </a:p>
        </p:txBody>
      </p:sp>
    </p:spTree>
    <p:extLst>
      <p:ext uri="{BB962C8B-B14F-4D97-AF65-F5344CB8AC3E}">
        <p14:creationId xmlns:p14="http://schemas.microsoft.com/office/powerpoint/2010/main" val="216876749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576718" y="3085757"/>
          <a:ext cx="7235190" cy="2225485"/>
        </p:xfrm>
        <a:graphic>
          <a:graphicData uri="http://schemas.openxmlformats.org/drawingml/2006/table">
            <a:tbl>
              <a:tblPr firstRow="1" firstCol="1" bandRow="1"/>
              <a:tblGrid>
                <a:gridCol w="72351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109538" marR="0" inden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60375" algn="l"/>
                          <a:tab pos="1144588" algn="l"/>
                          <a:tab pos="2401888" algn="l"/>
                          <a:tab pos="2743200" algn="l"/>
                          <a:tab pos="3314700" algn="l"/>
                        </a:tabLs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 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onsolas" panose="020B0609020204030204" pitchFamily="49" charset="0"/>
                      </a:endParaRPr>
                    </a:p>
                    <a:p>
                      <a:pPr marL="109538" marR="0" indent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60375" algn="l"/>
                          <a:tab pos="1144588" algn="l"/>
                          <a:tab pos="2401888" algn="l"/>
                          <a:tab pos="2743200" algn="l"/>
                          <a:tab pos="3314700" algn="l"/>
                        </a:tabLs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// uint32_t </a:t>
                      </a:r>
                      <a:r>
                        <a:rPr lang="en-US" sz="160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AbsValue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(int32_t s32)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onsolas" panose="020B0609020204030204" pitchFamily="49" charset="0"/>
                      </a:endParaRPr>
                    </a:p>
                    <a:p>
                      <a:pPr marL="109538" marR="0" indent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60375" algn="l"/>
                          <a:tab pos="1144588" algn="l"/>
                          <a:tab pos="2401888" algn="l"/>
                          <a:tab pos="2743200" algn="l"/>
                          <a:tab pos="3314700" algn="l"/>
                        </a:tabLs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  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onsolas" panose="020B0609020204030204" pitchFamily="49" charset="0"/>
                      </a:endParaRPr>
                    </a:p>
                    <a:p>
                      <a:pPr marL="109538" marR="0" indent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60375" algn="l"/>
                          <a:tab pos="1143000" algn="l"/>
                          <a:tab pos="3143250" algn="l"/>
                          <a:tab pos="5143500" algn="l"/>
                        </a:tabLst>
                      </a:pPr>
                      <a:r>
                        <a:rPr lang="en-US" sz="160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AbsValue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: 	// s32 &lt; 0:	else: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onsolas" panose="020B0609020204030204" pitchFamily="49" charset="0"/>
                      </a:endParaRPr>
                    </a:p>
                    <a:p>
                      <a:pPr marL="109538" marR="0" indent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60375" algn="l"/>
                          <a:tab pos="1143000" algn="l"/>
                          <a:tab pos="3143250" algn="l"/>
                        </a:tabLst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	EOR	R1,R0,R0,ASR 31	//	R1 = ~s32	R1 = s32</a:t>
                      </a:r>
                      <a:endParaRPr lang="en-US" sz="1600" b="1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onsolas" panose="020B0609020204030204" pitchFamily="49" charset="0"/>
                      </a:endParaRPr>
                    </a:p>
                    <a:p>
                      <a:pPr marL="109538" marR="0" indent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60375" algn="l"/>
                          <a:tab pos="1143000" algn="l"/>
                          <a:tab pos="3143250" algn="l"/>
                        </a:tabLst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	ADD	R0,R1,R0,LSR 31	//	R0 = ~s32 + 1	R0 = s32 + 0</a:t>
                      </a:r>
                      <a:endParaRPr lang="en-US" sz="1600" b="1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onsolas" panose="020B0609020204030204" pitchFamily="49" charset="0"/>
                      </a:endParaRPr>
                    </a:p>
                    <a:p>
                      <a:pPr marL="109538" marR="0" indent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60375" algn="l"/>
                          <a:tab pos="1143000" algn="l"/>
                          <a:tab pos="3143250" algn="l"/>
                        </a:tabLs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	BX	LR	// Return</a:t>
                      </a:r>
                    </a:p>
                    <a:p>
                      <a:pPr marL="109538" marR="0" indent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60375" algn="l"/>
                          <a:tab pos="1143000" algn="l"/>
                          <a:tab pos="3143250" algn="l"/>
                        </a:tabLst>
                      </a:pP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Calibri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936516" y="753942"/>
            <a:ext cx="7128652" cy="647758"/>
          </a:xfrm>
        </p:spPr>
        <p:txBody>
          <a:bodyPr/>
          <a:lstStyle/>
          <a:p>
            <a:r>
              <a:rPr lang="en-US" dirty="0"/>
              <a:t>A Fast Absolute Value Function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40613" y="5149275"/>
            <a:ext cx="4571295" cy="1015663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tIns="91440" bIns="91440" rtlCol="0">
            <a:spAutoFit/>
          </a:bodyPr>
          <a:lstStyle/>
          <a:p>
            <a:pPr marL="1027113" lvl="1"/>
            <a:r>
              <a:rPr lang="en-US" b="1" dirty="0"/>
              <a:t>Fast!</a:t>
            </a:r>
            <a:r>
              <a:rPr lang="en-US" dirty="0"/>
              <a:t> Avoids using making a compare and branch so that the instruction pipeline never stalls.</a:t>
            </a:r>
          </a:p>
        </p:txBody>
      </p:sp>
      <p:pic>
        <p:nvPicPr>
          <p:cNvPr id="5" name="Picture 4" descr="http://www.aamu.edu/campuslife/living-on-campus/residentialLife/SiteAssets/pages/default/Warning_sign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5292734" y="5228540"/>
            <a:ext cx="971826" cy="83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4475942" y="4199843"/>
            <a:ext cx="988141" cy="280220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Line Callout 1 (No Border) 6"/>
          <p:cNvSpPr/>
          <p:nvPr/>
        </p:nvSpPr>
        <p:spPr>
          <a:xfrm>
            <a:off x="6617007" y="2996817"/>
            <a:ext cx="2029688" cy="710469"/>
          </a:xfrm>
          <a:prstGeom prst="callout1">
            <a:avLst>
              <a:gd name="adj1" fmla="val 101785"/>
              <a:gd name="adj2" fmla="val 142"/>
              <a:gd name="adj3" fmla="val 168400"/>
              <a:gd name="adj4" fmla="val -64705"/>
            </a:avLst>
          </a:prstGeom>
          <a:solidFill>
            <a:srgbClr val="FF9999"/>
          </a:solidFill>
          <a:ln>
            <a:solidFill>
              <a:srgbClr val="FF0000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All 1’s if s32 &lt; 0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All 0’s if s32 ≥ 0</a:t>
            </a:r>
          </a:p>
        </p:txBody>
      </p:sp>
      <p:sp>
        <p:nvSpPr>
          <p:cNvPr id="8" name="Rectangle 7"/>
          <p:cNvSpPr/>
          <p:nvPr/>
        </p:nvSpPr>
        <p:spPr>
          <a:xfrm>
            <a:off x="4475942" y="4518870"/>
            <a:ext cx="988141" cy="280220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Line Callout 1 (No Border) 9"/>
          <p:cNvSpPr/>
          <p:nvPr/>
        </p:nvSpPr>
        <p:spPr>
          <a:xfrm>
            <a:off x="3316850" y="5668697"/>
            <a:ext cx="1321324" cy="710469"/>
          </a:xfrm>
          <a:prstGeom prst="callout1">
            <a:avLst>
              <a:gd name="adj1" fmla="val 68"/>
              <a:gd name="adj2" fmla="val 100598"/>
              <a:gd name="adj3" fmla="val -122073"/>
              <a:gd name="adj4" fmla="val 118015"/>
            </a:avLst>
          </a:prstGeom>
          <a:solidFill>
            <a:srgbClr val="FF9999"/>
          </a:solidFill>
          <a:ln>
            <a:solidFill>
              <a:srgbClr val="FF0000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 if s32 &lt; 0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0 if s32 ≥ 0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077466" y="1430343"/>
          <a:ext cx="1841235" cy="1246505"/>
        </p:xfrm>
        <a:graphic>
          <a:graphicData uri="http://schemas.openxmlformats.org/drawingml/2006/table">
            <a:tbl>
              <a:tblPr firstRow="1" firstCol="1" bandRow="1"/>
              <a:tblGrid>
                <a:gridCol w="503783">
                  <a:extLst>
                    <a:ext uri="{9D8B030D-6E8A-4147-A177-3AD203B41FA5}">
                      <a16:colId xmlns:a16="http://schemas.microsoft.com/office/drawing/2014/main" val="2873186649"/>
                    </a:ext>
                  </a:extLst>
                </a:gridCol>
                <a:gridCol w="508897">
                  <a:extLst>
                    <a:ext uri="{9D8B030D-6E8A-4147-A177-3AD203B41FA5}">
                      <a16:colId xmlns:a16="http://schemas.microsoft.com/office/drawing/2014/main" val="1353598892"/>
                    </a:ext>
                  </a:extLst>
                </a:gridCol>
                <a:gridCol w="828555">
                  <a:extLst>
                    <a:ext uri="{9D8B030D-6E8A-4147-A177-3AD203B41FA5}">
                      <a16:colId xmlns:a16="http://schemas.microsoft.com/office/drawing/2014/main" val="40576546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 XOR 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38433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32698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61677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68298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3185780"/>
                  </a:ext>
                </a:extLst>
              </a:tr>
            </a:tbl>
          </a:graphicData>
        </a:graphic>
      </p:graphicFrame>
      <p:grpSp>
        <p:nvGrpSpPr>
          <p:cNvPr id="14" name="Group 13"/>
          <p:cNvGrpSpPr/>
          <p:nvPr/>
        </p:nvGrpSpPr>
        <p:grpSpPr>
          <a:xfrm>
            <a:off x="1992318" y="1692273"/>
            <a:ext cx="3554730" cy="1031059"/>
            <a:chOff x="136886" y="2426339"/>
            <a:chExt cx="3560121" cy="1031059"/>
          </a:xfrm>
        </p:grpSpPr>
        <p:sp>
          <p:nvSpPr>
            <p:cNvPr id="15" name="Left Brace 14"/>
            <p:cNvSpPr/>
            <p:nvPr/>
          </p:nvSpPr>
          <p:spPr>
            <a:xfrm>
              <a:off x="961053" y="2435290"/>
              <a:ext cx="139959" cy="485192"/>
            </a:xfrm>
            <a:prstGeom prst="lef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Left Brace 15"/>
            <p:cNvSpPr/>
            <p:nvPr/>
          </p:nvSpPr>
          <p:spPr>
            <a:xfrm>
              <a:off x="961053" y="2972206"/>
              <a:ext cx="139959" cy="485192"/>
            </a:xfrm>
            <a:prstGeom prst="lef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Left Brace 16"/>
            <p:cNvSpPr/>
            <p:nvPr/>
          </p:nvSpPr>
          <p:spPr>
            <a:xfrm flipH="1">
              <a:off x="3184837" y="2426339"/>
              <a:ext cx="202164" cy="485192"/>
            </a:xfrm>
            <a:prstGeom prst="lef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Left Brace 17"/>
            <p:cNvSpPr/>
            <p:nvPr/>
          </p:nvSpPr>
          <p:spPr>
            <a:xfrm flipH="1">
              <a:off x="3187942" y="2963255"/>
              <a:ext cx="202164" cy="485192"/>
            </a:xfrm>
            <a:prstGeom prst="lef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36886" y="2493220"/>
              <a:ext cx="82416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000" dirty="0"/>
                <a:t>a = 0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36886" y="3030136"/>
              <a:ext cx="82416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000" dirty="0"/>
                <a:t>a = 1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383888" y="2465607"/>
              <a:ext cx="31311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b</a:t>
              </a:r>
            </a:p>
          </p:txBody>
        </p:sp>
      </p:grpSp>
      <p:cxnSp>
        <p:nvCxnSpPr>
          <p:cNvPr id="30" name="Straight Connector 29"/>
          <p:cNvCxnSpPr/>
          <p:nvPr/>
        </p:nvCxnSpPr>
        <p:spPr>
          <a:xfrm>
            <a:off x="5271132" y="2296070"/>
            <a:ext cx="25414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240613" y="2273289"/>
            <a:ext cx="3126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3424" y="1681359"/>
            <a:ext cx="42889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rgbClr val="FF0000"/>
                </a:solidFill>
              </a:rPr>
              <a:t>Recall that exclusive OR can be used to pass an operand through unmodified or inverted</a:t>
            </a:r>
          </a:p>
        </p:txBody>
      </p:sp>
    </p:spTree>
    <p:extLst>
      <p:ext uri="{BB962C8B-B14F-4D97-AF65-F5344CB8AC3E}">
        <p14:creationId xmlns:p14="http://schemas.microsoft.com/office/powerpoint/2010/main" val="350114589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6308212" y="2695750"/>
            <a:ext cx="4255514" cy="3760351"/>
          </a:xfrm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pPr marL="0" indent="0">
              <a:buNone/>
              <a:tabLst>
                <a:tab pos="565150" algn="l"/>
                <a:tab pos="1595438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	  // R0=x, R1=n,R2=result</a:t>
            </a:r>
          </a:p>
          <a:p>
            <a:pPr marL="0" lvl="1" indent="0">
              <a:buNone/>
              <a:tabLst>
                <a:tab pos="800100" algn="l"/>
                <a:tab pos="1595438" algn="l"/>
              </a:tabLst>
            </a:pPr>
            <a:r>
              <a:rPr lang="en-US" sz="1800" dirty="0" err="1">
                <a:latin typeface="Consolas" panose="020B0609020204030204" pitchFamily="49" charset="0"/>
              </a:rPr>
              <a:t>ipow</a:t>
            </a:r>
            <a:r>
              <a:rPr lang="en-US" sz="1800" dirty="0">
                <a:latin typeface="Consolas" panose="020B0609020204030204" pitchFamily="49" charset="0"/>
              </a:rPr>
              <a:t>: 	LDR	R2,=1</a:t>
            </a:r>
          </a:p>
          <a:p>
            <a:pPr marL="0" indent="0">
              <a:buNone/>
              <a:tabLst>
                <a:tab pos="800100" algn="l"/>
                <a:tab pos="1595438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loop:	CBZ	R1,done</a:t>
            </a:r>
          </a:p>
          <a:p>
            <a:pPr marL="0" indent="0">
              <a:buNone/>
              <a:tabLst>
                <a:tab pos="800100" algn="l"/>
                <a:tab pos="1595438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	LSRS	R1,R1,1</a:t>
            </a:r>
          </a:p>
          <a:p>
            <a:pPr marL="0" indent="0">
              <a:buNone/>
              <a:tabLst>
                <a:tab pos="800100" algn="l"/>
                <a:tab pos="1595438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	IT	CS</a:t>
            </a:r>
          </a:p>
          <a:p>
            <a:pPr marL="0" indent="0">
              <a:buNone/>
              <a:tabLst>
                <a:tab pos="800100" algn="l"/>
                <a:tab pos="1595438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	MULCS	R2,R2,R0</a:t>
            </a:r>
          </a:p>
          <a:p>
            <a:pPr marL="0" indent="0">
              <a:buNone/>
              <a:tabLst>
                <a:tab pos="800100" algn="l"/>
                <a:tab pos="1595438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	MUL	R0,R0,R0</a:t>
            </a:r>
          </a:p>
          <a:p>
            <a:pPr marL="0" indent="0">
              <a:buNone/>
              <a:tabLst>
                <a:tab pos="800100" algn="l"/>
                <a:tab pos="1595438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	B	loop</a:t>
            </a:r>
          </a:p>
          <a:p>
            <a:pPr marL="0" indent="0">
              <a:buNone/>
              <a:tabLst>
                <a:tab pos="800100" algn="l"/>
                <a:tab pos="1595438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done:	MOV	R0,R2</a:t>
            </a:r>
          </a:p>
          <a:p>
            <a:pPr marL="0" indent="0">
              <a:buNone/>
              <a:tabLst>
                <a:tab pos="800100" algn="l"/>
                <a:tab pos="1595438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	BX	LR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936516" y="742861"/>
            <a:ext cx="6134042" cy="676866"/>
          </a:xfrm>
        </p:spPr>
        <p:txBody>
          <a:bodyPr>
            <a:normAutofit/>
          </a:bodyPr>
          <a:lstStyle/>
          <a:p>
            <a:r>
              <a:rPr lang="en-US" dirty="0"/>
              <a:t>An Integer Power Function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206621" y="2695751"/>
            <a:ext cx="4712916" cy="3628850"/>
          </a:xfrm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pPr marL="0" indent="0">
              <a:buNone/>
              <a:tabLst>
                <a:tab pos="457200" algn="l"/>
              </a:tabLst>
            </a:pPr>
            <a:r>
              <a:rPr lang="en-US" sz="1400" dirty="0">
                <a:latin typeface="Consolas" panose="020B0609020204030204" pitchFamily="49" charset="0"/>
              </a:rPr>
              <a:t>uint32_t </a:t>
            </a:r>
            <a:r>
              <a:rPr lang="en-US" sz="1400" dirty="0" err="1">
                <a:latin typeface="Consolas" panose="020B0609020204030204" pitchFamily="49" charset="0"/>
              </a:rPr>
              <a:t>ipow</a:t>
            </a:r>
            <a:r>
              <a:rPr lang="en-US" sz="1400" dirty="0">
                <a:latin typeface="Consolas" panose="020B0609020204030204" pitchFamily="49" charset="0"/>
              </a:rPr>
              <a:t>(uint32_t x, uint32_t n){</a:t>
            </a:r>
          </a:p>
          <a:p>
            <a:pPr marL="0" indent="0">
              <a:buNone/>
              <a:tabLst>
                <a:tab pos="457200" algn="l"/>
              </a:tabLst>
            </a:pPr>
            <a:r>
              <a:rPr lang="en-US" sz="1400" dirty="0">
                <a:latin typeface="Consolas" panose="020B0609020204030204" pitchFamily="49" charset="0"/>
              </a:rPr>
              <a:t>	uint32_t  result;</a:t>
            </a:r>
          </a:p>
          <a:p>
            <a:pPr marL="0" indent="0">
              <a:buNone/>
              <a:tabLst>
                <a:tab pos="457200" algn="l"/>
              </a:tabLst>
            </a:pPr>
            <a:r>
              <a:rPr lang="en-US" sz="1400" dirty="0">
                <a:latin typeface="Consolas" panose="020B0609020204030204" pitchFamily="49" charset="0"/>
              </a:rPr>
              <a:t>	result = 1;</a:t>
            </a:r>
            <a:br>
              <a:rPr lang="en-US" sz="1400" dirty="0">
                <a:latin typeface="Consolas" panose="020B0609020204030204" pitchFamily="49" charset="0"/>
              </a:rPr>
            </a:br>
            <a:endParaRPr lang="en-US" sz="1400" dirty="0">
              <a:latin typeface="Consolas" panose="020B0609020204030204" pitchFamily="49" charset="0"/>
            </a:endParaRPr>
          </a:p>
          <a:p>
            <a:pPr marL="0" indent="0">
              <a:buNone/>
              <a:tabLst>
                <a:tab pos="457200" algn="l"/>
              </a:tabLst>
            </a:pPr>
            <a:r>
              <a:rPr lang="en-US" sz="1400" dirty="0">
                <a:latin typeface="Consolas" panose="020B0609020204030204" pitchFamily="49" charset="0"/>
              </a:rPr>
              <a:t>	while (n != 0){</a:t>
            </a:r>
          </a:p>
          <a:p>
            <a:pPr marL="0" indent="0">
              <a:buNone/>
              <a:tabLst>
                <a:tab pos="457200" algn="l"/>
              </a:tabLst>
            </a:pPr>
            <a:r>
              <a:rPr lang="en-US" sz="1400" dirty="0">
                <a:latin typeface="Consolas" panose="020B0609020204030204" pitchFamily="49" charset="0"/>
              </a:rPr>
              <a:t>		if (n &amp; 1) </a:t>
            </a:r>
            <a:br>
              <a:rPr lang="en-US" sz="1400" dirty="0">
                <a:latin typeface="Consolas" panose="020B0609020204030204" pitchFamily="49" charset="0"/>
              </a:rPr>
            </a:br>
            <a:r>
              <a:rPr lang="en-US" sz="1400" dirty="0">
                <a:latin typeface="Consolas" panose="020B0609020204030204" pitchFamily="49" charset="0"/>
              </a:rPr>
              <a:t>		    result *= x ;</a:t>
            </a:r>
          </a:p>
          <a:p>
            <a:pPr marL="0" indent="0">
              <a:buNone/>
              <a:tabLst>
                <a:tab pos="457200" algn="l"/>
              </a:tabLst>
            </a:pPr>
            <a:r>
              <a:rPr lang="en-US" sz="1400" dirty="0">
                <a:latin typeface="Consolas" panose="020B0609020204030204" pitchFamily="49" charset="0"/>
              </a:rPr>
              <a:t>		n &gt;&gt;= 1 ;</a:t>
            </a:r>
          </a:p>
          <a:p>
            <a:pPr marL="0" indent="0">
              <a:buNone/>
              <a:tabLst>
                <a:tab pos="457200" algn="l"/>
              </a:tabLst>
            </a:pPr>
            <a:r>
              <a:rPr lang="en-US" sz="1400" dirty="0">
                <a:latin typeface="Consolas" panose="020B0609020204030204" pitchFamily="49" charset="0"/>
              </a:rPr>
              <a:t>		x *= x ;  // x</a:t>
            </a:r>
            <a:r>
              <a:rPr lang="en-US" sz="1400" baseline="30000" dirty="0">
                <a:latin typeface="Consolas" panose="020B0609020204030204" pitchFamily="49" charset="0"/>
              </a:rPr>
              <a:t>1</a:t>
            </a:r>
            <a:r>
              <a:rPr lang="en-US" sz="1400" dirty="0">
                <a:latin typeface="Consolas" panose="020B0609020204030204" pitchFamily="49" charset="0"/>
              </a:rPr>
              <a:t>, x</a:t>
            </a:r>
            <a:r>
              <a:rPr lang="en-US" sz="1400" baseline="30000" dirty="0">
                <a:latin typeface="Consolas" panose="020B0609020204030204" pitchFamily="49" charset="0"/>
              </a:rPr>
              <a:t>2</a:t>
            </a:r>
            <a:r>
              <a:rPr lang="en-US" sz="1400" dirty="0">
                <a:latin typeface="Consolas" panose="020B0609020204030204" pitchFamily="49" charset="0"/>
              </a:rPr>
              <a:t>, x</a:t>
            </a:r>
            <a:r>
              <a:rPr lang="en-US" sz="1400" baseline="30000" dirty="0">
                <a:latin typeface="Consolas" panose="020B0609020204030204" pitchFamily="49" charset="0"/>
              </a:rPr>
              <a:t>4</a:t>
            </a:r>
            <a:r>
              <a:rPr lang="en-US" sz="1400" dirty="0">
                <a:latin typeface="Consolas" panose="020B0609020204030204" pitchFamily="49" charset="0"/>
              </a:rPr>
              <a:t>, x</a:t>
            </a:r>
            <a:r>
              <a:rPr lang="en-US" sz="1400" baseline="30000" dirty="0">
                <a:latin typeface="Consolas" panose="020B0609020204030204" pitchFamily="49" charset="0"/>
              </a:rPr>
              <a:t>8</a:t>
            </a:r>
            <a:r>
              <a:rPr lang="en-US" sz="1400" dirty="0">
                <a:latin typeface="Consolas" panose="020B0609020204030204" pitchFamily="49" charset="0"/>
              </a:rPr>
              <a:t>, x</a:t>
            </a:r>
            <a:r>
              <a:rPr lang="en-US" sz="1400" baseline="30000" dirty="0">
                <a:latin typeface="Consolas" panose="020B0609020204030204" pitchFamily="49" charset="0"/>
              </a:rPr>
              <a:t>16</a:t>
            </a:r>
            <a:r>
              <a:rPr lang="en-US" sz="1400" dirty="0">
                <a:latin typeface="Consolas" panose="020B0609020204030204" pitchFamily="49" charset="0"/>
              </a:rPr>
              <a:t>, etc.</a:t>
            </a:r>
          </a:p>
          <a:p>
            <a:pPr marL="0" indent="0">
              <a:buNone/>
              <a:tabLst>
                <a:tab pos="457200" algn="l"/>
              </a:tabLst>
            </a:pPr>
            <a:r>
              <a:rPr lang="en-US" sz="1400" dirty="0">
                <a:latin typeface="Consolas" panose="020B0609020204030204" pitchFamily="49" charset="0"/>
              </a:rPr>
              <a:t>	}</a:t>
            </a:r>
          </a:p>
          <a:p>
            <a:pPr marL="0" indent="0">
              <a:buNone/>
              <a:tabLst>
                <a:tab pos="457200" algn="l"/>
              </a:tabLst>
            </a:pPr>
            <a:r>
              <a:rPr lang="en-US" sz="1400" dirty="0">
                <a:latin typeface="Consolas" panose="020B0609020204030204" pitchFamily="49" charset="0"/>
              </a:rPr>
              <a:t>	return result;</a:t>
            </a:r>
          </a:p>
          <a:p>
            <a:pPr marL="0" indent="0">
              <a:buNone/>
              <a:tabLst>
                <a:tab pos="457200" algn="l"/>
              </a:tabLst>
            </a:pPr>
            <a:r>
              <a:rPr lang="en-US" sz="1400" dirty="0">
                <a:latin typeface="Consolas" panose="020B0609020204030204" pitchFamily="49" charset="0"/>
              </a:rPr>
              <a:t>}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1960438" y="1419727"/>
                <a:ext cx="6506492" cy="81560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 sz="2400" i="1">
                          <a:latin typeface="Cambria Math" panose="02040503050406030204" pitchFamily="18" charset="0"/>
                        </a:rPr>
                        <m:t>𝐼𝑑𝑒𝑎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𝐷𝑒𝑐𝑜𝑚𝑝𝑜𝑠𝑒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𝑒𝑥𝑝𝑜𝑛𝑒𝑛𝑡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𝑖𝑛𝑡𝑜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𝑝𝑜𝑤𝑒𝑟𝑠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 2</m:t>
                      </m:r>
                    </m:oMath>
                  </m:oMathPara>
                </a14:m>
                <a:endParaRPr lang="en-US" sz="240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.: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100</m:t>
                        </m:r>
                      </m:sup>
                    </m:sSup>
                    <m:r>
                      <a:rPr lang="en-US" sz="240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sz="2400" dirty="0"/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64</m:t>
                        </m:r>
                      </m:sup>
                    </m:sSup>
                  </m:oMath>
                </a14:m>
                <a:r>
                  <a:rPr lang="en-US" sz="2400" dirty="0"/>
                  <a:t>)(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32</m:t>
                        </m:r>
                      </m:sup>
                    </m:sSup>
                  </m:oMath>
                </a14:m>
                <a:r>
                  <a:rPr lang="en-US" sz="2400" dirty="0"/>
                  <a:t>)(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lang="en-US" sz="2400" dirty="0"/>
                  <a:t>)   //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(⌊</m:t>
                    </m:r>
                    <m:func>
                      <m:func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sz="240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sz="2400" i="1">
                        <a:latin typeface="Cambria Math" panose="02040503050406030204" pitchFamily="18" charset="0"/>
                      </a:rPr>
                      <m:t>⌋)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0438" y="1419727"/>
                <a:ext cx="6506492" cy="815608"/>
              </a:xfrm>
              <a:prstGeom prst="rect">
                <a:avLst/>
              </a:prstGeom>
              <a:blipFill>
                <a:blip r:embed="rId2"/>
                <a:stretch>
                  <a:fillRect b="-216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7821955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Chapter 7</a:t>
            </a:r>
            <a:br>
              <a:rPr lang="en-US" sz="6000" dirty="0"/>
            </a:br>
            <a:r>
              <a:rPr lang="en-US" sz="6000" dirty="0"/>
              <a:t>Manipulating Bits</a:t>
            </a:r>
            <a:endParaRPr lang="en-US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Part 7: Bit-Banding</a:t>
            </a:r>
          </a:p>
        </p:txBody>
      </p:sp>
    </p:spTree>
    <p:extLst>
      <p:ext uri="{BB962C8B-B14F-4D97-AF65-F5344CB8AC3E}">
        <p14:creationId xmlns:p14="http://schemas.microsoft.com/office/powerpoint/2010/main" val="228322686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57212"/>
            <a:ext cx="7569810" cy="686577"/>
          </a:xfrm>
        </p:spPr>
        <p:txBody>
          <a:bodyPr>
            <a:normAutofit/>
          </a:bodyPr>
          <a:lstStyle/>
          <a:p>
            <a:r>
              <a:rPr lang="en-US" dirty="0"/>
              <a:t>APPLICATIONS OF BIT-BANDING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731502"/>
            <a:ext cx="10429316" cy="490993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Fast access to individual bits in memory or I/O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Only 1 instruction required to access a single bit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No bitwise-AND, bitwise-OR, or shifting required</a:t>
            </a:r>
          </a:p>
        </p:txBody>
      </p:sp>
    </p:spTree>
    <p:extLst>
      <p:ext uri="{BB962C8B-B14F-4D97-AF65-F5344CB8AC3E}">
        <p14:creationId xmlns:p14="http://schemas.microsoft.com/office/powerpoint/2010/main" val="147134308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57212"/>
            <a:ext cx="7569810" cy="686577"/>
          </a:xfrm>
        </p:spPr>
        <p:txBody>
          <a:bodyPr>
            <a:normAutofit/>
          </a:bodyPr>
          <a:lstStyle/>
          <a:p>
            <a:r>
              <a:rPr lang="en-US" dirty="0"/>
              <a:t>APPLICATIONS OF BIT-BANDING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731502"/>
            <a:ext cx="10429316" cy="4909930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"Atomic" access to manage a "</a:t>
            </a:r>
            <a:r>
              <a:rPr lang="en-US" b="1" dirty="0" err="1">
                <a:solidFill>
                  <a:schemeClr val="tx1"/>
                </a:solidFill>
              </a:rPr>
              <a:t>mutex</a:t>
            </a:r>
            <a:r>
              <a:rPr lang="en-US" b="1" dirty="0">
                <a:solidFill>
                  <a:schemeClr val="tx1"/>
                </a:solidFill>
              </a:rPr>
              <a:t>".</a:t>
            </a:r>
          </a:p>
          <a:p>
            <a:endParaRPr lang="en-US" i="1" dirty="0">
              <a:solidFill>
                <a:schemeClr val="tx1"/>
              </a:solidFill>
            </a:endParaRPr>
          </a:p>
          <a:p>
            <a:r>
              <a:rPr lang="en-US" i="1" dirty="0">
                <a:solidFill>
                  <a:schemeClr val="tx1"/>
                </a:solidFill>
              </a:rPr>
              <a:t>Atomic</a:t>
            </a:r>
            <a:r>
              <a:rPr lang="en-US" dirty="0">
                <a:solidFill>
                  <a:schemeClr val="tx1"/>
                </a:solidFill>
              </a:rPr>
              <a:t>: An atomic operation completes without preemption / interruption.</a:t>
            </a:r>
          </a:p>
          <a:p>
            <a:endParaRPr lang="en-US" i="1" dirty="0">
              <a:solidFill>
                <a:schemeClr val="tx1"/>
              </a:solidFill>
            </a:endParaRPr>
          </a:p>
          <a:p>
            <a:r>
              <a:rPr lang="en-US" i="1" dirty="0" err="1">
                <a:solidFill>
                  <a:schemeClr val="tx1"/>
                </a:solidFill>
              </a:rPr>
              <a:t>Mutex</a:t>
            </a:r>
            <a:r>
              <a:rPr lang="en-US" dirty="0">
                <a:solidFill>
                  <a:schemeClr val="tx1"/>
                </a:solidFill>
              </a:rPr>
              <a:t>: Used in operating systems, networking and multi-threaded software to arbitrate access to a shared resource.</a:t>
            </a:r>
          </a:p>
        </p:txBody>
      </p:sp>
    </p:spTree>
    <p:extLst>
      <p:ext uri="{BB962C8B-B14F-4D97-AF65-F5344CB8AC3E}">
        <p14:creationId xmlns:p14="http://schemas.microsoft.com/office/powerpoint/2010/main" val="330333429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5913" y="745752"/>
            <a:ext cx="7273582" cy="660449"/>
          </a:xfrm>
        </p:spPr>
        <p:txBody>
          <a:bodyPr/>
          <a:lstStyle/>
          <a:p>
            <a:r>
              <a:rPr lang="en-US" dirty="0"/>
              <a:t>BIT-BAND REGIONS &amp; ALIASES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2861243" y="1607648"/>
            <a:ext cx="2835002" cy="4614161"/>
            <a:chOff x="645849" y="1438400"/>
            <a:chExt cx="2676471" cy="4614161"/>
          </a:xfrm>
        </p:grpSpPr>
        <p:sp>
          <p:nvSpPr>
            <p:cNvPr id="18" name="Rectangle 17"/>
            <p:cNvSpPr/>
            <p:nvPr/>
          </p:nvSpPr>
          <p:spPr>
            <a:xfrm>
              <a:off x="1112520" y="1438400"/>
              <a:ext cx="2209800" cy="1920240"/>
            </a:xfrm>
            <a:prstGeom prst="rect">
              <a:avLst/>
            </a:prstGeom>
            <a:solidFill>
              <a:schemeClr val="bg2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32MB </a:t>
              </a:r>
              <a:r>
                <a:rPr lang="en-US" sz="1600" b="1" i="1" dirty="0">
                  <a:solidFill>
                    <a:schemeClr val="tx1"/>
                  </a:solidFill>
                </a:rPr>
                <a:t>Bit-Band Alias</a:t>
              </a:r>
            </a:p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22000000-23FFFFFF</a:t>
              </a:r>
              <a:r>
                <a:rPr lang="en-US" sz="1600" baseline="-25000" dirty="0">
                  <a:solidFill>
                    <a:schemeClr val="tx1"/>
                  </a:solidFill>
                </a:rPr>
                <a:t>16</a:t>
              </a:r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1112520" y="5267205"/>
              <a:ext cx="2209800" cy="749036"/>
            </a:xfrm>
            <a:prstGeom prst="rect">
              <a:avLst/>
            </a:prstGeom>
            <a:solidFill>
              <a:schemeClr val="bg2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1MB </a:t>
              </a:r>
              <a:r>
                <a:rPr lang="en-US" sz="1600" b="1" i="1" dirty="0">
                  <a:solidFill>
                    <a:schemeClr val="tx1"/>
                  </a:solidFill>
                </a:rPr>
                <a:t>Bit-Band Region</a:t>
              </a:r>
            </a:p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20000000-200FFFFF</a:t>
              </a:r>
              <a:r>
                <a:rPr lang="en-US" sz="1600" baseline="-25000" dirty="0">
                  <a:solidFill>
                    <a:schemeClr val="tx1"/>
                  </a:solidFill>
                </a:rPr>
                <a:t>16</a:t>
              </a:r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1112520" y="3346965"/>
              <a:ext cx="2209800" cy="1920240"/>
            </a:xfrm>
            <a:prstGeom prst="rect">
              <a:avLst/>
            </a:prstGeom>
            <a:solidFill>
              <a:schemeClr val="bg2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31MB of RAM</a:t>
              </a:r>
            </a:p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20100000-21FFFFFF</a:t>
              </a:r>
              <a:r>
                <a:rPr lang="en-US" sz="1600" baseline="-25000" dirty="0">
                  <a:solidFill>
                    <a:schemeClr val="tx1"/>
                  </a:solidFill>
                </a:rPr>
                <a:t>16</a:t>
              </a:r>
              <a:endParaRPr lang="en-US" sz="1600" dirty="0">
                <a:solidFill>
                  <a:schemeClr val="tx1"/>
                </a:solidFill>
              </a:endParaRPr>
            </a:p>
          </p:txBody>
        </p:sp>
        <p:cxnSp>
          <p:nvCxnSpPr>
            <p:cNvPr id="21" name="Straight Arrow Connector 20"/>
            <p:cNvCxnSpPr/>
            <p:nvPr/>
          </p:nvCxnSpPr>
          <p:spPr>
            <a:xfrm>
              <a:off x="841885" y="1438400"/>
              <a:ext cx="15240" cy="4614161"/>
            </a:xfrm>
            <a:prstGeom prst="straightConnector1">
              <a:avLst/>
            </a:prstGeom>
            <a:ln>
              <a:solidFill>
                <a:srgbClr val="0070C0"/>
              </a:solidFill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/>
            <p:cNvSpPr txBox="1"/>
            <p:nvPr/>
          </p:nvSpPr>
          <p:spPr>
            <a:xfrm>
              <a:off x="645849" y="2188941"/>
              <a:ext cx="443635" cy="2770149"/>
            </a:xfrm>
            <a:prstGeom prst="rect">
              <a:avLst/>
            </a:prstGeom>
            <a:solidFill>
              <a:schemeClr val="bg1"/>
            </a:solidFill>
          </p:spPr>
          <p:txBody>
            <a:bodyPr vert="vert270"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0070C0"/>
                  </a:solidFill>
                </a:rPr>
                <a:t>64 MB of R/W Address Space</a:t>
              </a:r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1889760" y="2270826"/>
            <a:ext cx="1003756" cy="3691587"/>
            <a:chOff x="365760" y="2270825"/>
            <a:chExt cx="1003756" cy="3691587"/>
          </a:xfrm>
        </p:grpSpPr>
        <p:sp>
          <p:nvSpPr>
            <p:cNvPr id="23" name="TextBox 22"/>
            <p:cNvSpPr txBox="1"/>
            <p:nvPr/>
          </p:nvSpPr>
          <p:spPr>
            <a:xfrm>
              <a:off x="365760" y="5593080"/>
              <a:ext cx="10037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1 bit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65760" y="2270825"/>
              <a:ext cx="10037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1 word</a:t>
              </a:r>
            </a:p>
          </p:txBody>
        </p:sp>
        <p:sp>
          <p:nvSpPr>
            <p:cNvPr id="25" name="Arc 24"/>
            <p:cNvSpPr/>
            <p:nvPr/>
          </p:nvSpPr>
          <p:spPr>
            <a:xfrm rot="10800000">
              <a:off x="365760" y="2796193"/>
              <a:ext cx="555739" cy="2796886"/>
            </a:xfrm>
            <a:prstGeom prst="arc">
              <a:avLst>
                <a:gd name="adj1" fmla="val 16417144"/>
                <a:gd name="adj2" fmla="val 5312389"/>
              </a:avLst>
            </a:prstGeom>
            <a:ln>
              <a:solidFill>
                <a:srgbClr val="FF0000"/>
              </a:solidFill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9448800" y="2270826"/>
            <a:ext cx="1003757" cy="3724811"/>
            <a:chOff x="7924799" y="2270825"/>
            <a:chExt cx="1003757" cy="3724811"/>
          </a:xfrm>
        </p:grpSpPr>
        <p:sp>
          <p:nvSpPr>
            <p:cNvPr id="26" name="TextBox 25"/>
            <p:cNvSpPr txBox="1"/>
            <p:nvPr/>
          </p:nvSpPr>
          <p:spPr>
            <a:xfrm>
              <a:off x="7924799" y="5626304"/>
              <a:ext cx="10037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1 bit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7924800" y="2270825"/>
              <a:ext cx="10037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1 word</a:t>
              </a:r>
            </a:p>
          </p:txBody>
        </p:sp>
        <p:sp>
          <p:nvSpPr>
            <p:cNvPr id="28" name="Arc 27"/>
            <p:cNvSpPr/>
            <p:nvPr/>
          </p:nvSpPr>
          <p:spPr>
            <a:xfrm>
              <a:off x="8148808" y="2796193"/>
              <a:ext cx="555739" cy="2796887"/>
            </a:xfrm>
            <a:prstGeom prst="arc">
              <a:avLst>
                <a:gd name="adj1" fmla="val 16401086"/>
                <a:gd name="adj2" fmla="val 5312389"/>
              </a:avLst>
            </a:prstGeom>
            <a:ln>
              <a:solidFill>
                <a:srgbClr val="FF0000"/>
              </a:solidFill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6817228" y="1607648"/>
            <a:ext cx="2855581" cy="4614161"/>
            <a:chOff x="645849" y="1438400"/>
            <a:chExt cx="2676471" cy="4614161"/>
          </a:xfrm>
        </p:grpSpPr>
        <p:sp>
          <p:nvSpPr>
            <p:cNvPr id="9" name="Rectangle 8"/>
            <p:cNvSpPr/>
            <p:nvPr/>
          </p:nvSpPr>
          <p:spPr>
            <a:xfrm>
              <a:off x="1112520" y="1438400"/>
              <a:ext cx="2209800" cy="1920240"/>
            </a:xfrm>
            <a:prstGeom prst="rect">
              <a:avLst/>
            </a:prstGeom>
            <a:solidFill>
              <a:schemeClr val="bg2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32MB </a:t>
              </a:r>
              <a:r>
                <a:rPr lang="en-US" sz="1600" b="1" i="1" dirty="0">
                  <a:solidFill>
                    <a:schemeClr val="tx1"/>
                  </a:solidFill>
                </a:rPr>
                <a:t>Bit-Band Alias</a:t>
              </a:r>
            </a:p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42000000-43FFFFFF</a:t>
              </a:r>
              <a:r>
                <a:rPr lang="en-US" sz="1600" baseline="-25000" dirty="0">
                  <a:solidFill>
                    <a:schemeClr val="tx1"/>
                  </a:solidFill>
                </a:rPr>
                <a:t>16</a:t>
              </a:r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112520" y="5267205"/>
              <a:ext cx="2209800" cy="749036"/>
            </a:xfrm>
            <a:prstGeom prst="rect">
              <a:avLst/>
            </a:prstGeom>
            <a:solidFill>
              <a:schemeClr val="bg2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1MB </a:t>
              </a:r>
              <a:r>
                <a:rPr lang="en-US" sz="1600" b="1" i="1" dirty="0">
                  <a:solidFill>
                    <a:schemeClr val="tx1"/>
                  </a:solidFill>
                </a:rPr>
                <a:t>Bit-Band Region</a:t>
              </a:r>
            </a:p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40000000-400FFFFF</a:t>
              </a:r>
              <a:r>
                <a:rPr lang="en-US" sz="1600" baseline="-25000" dirty="0">
                  <a:solidFill>
                    <a:schemeClr val="tx1"/>
                  </a:solidFill>
                </a:rPr>
                <a:t>16</a:t>
              </a:r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112520" y="3346965"/>
              <a:ext cx="2209800" cy="1920240"/>
            </a:xfrm>
            <a:prstGeom prst="rect">
              <a:avLst/>
            </a:prstGeom>
            <a:solidFill>
              <a:schemeClr val="bg2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31MB of I/O</a:t>
              </a:r>
            </a:p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40100000-41FFFFFF</a:t>
              </a:r>
              <a:r>
                <a:rPr lang="en-US" sz="1600" baseline="-25000" dirty="0">
                  <a:solidFill>
                    <a:schemeClr val="tx1"/>
                  </a:solidFill>
                </a:rPr>
                <a:t>16</a:t>
              </a:r>
              <a:endParaRPr lang="en-US" sz="1600" dirty="0">
                <a:solidFill>
                  <a:schemeClr val="tx1"/>
                </a:solidFill>
              </a:endParaRPr>
            </a:p>
          </p:txBody>
        </p:sp>
        <p:cxnSp>
          <p:nvCxnSpPr>
            <p:cNvPr id="14" name="Straight Arrow Connector 13"/>
            <p:cNvCxnSpPr/>
            <p:nvPr/>
          </p:nvCxnSpPr>
          <p:spPr>
            <a:xfrm>
              <a:off x="865309" y="1438400"/>
              <a:ext cx="15240" cy="4614161"/>
            </a:xfrm>
            <a:prstGeom prst="straightConnector1">
              <a:avLst/>
            </a:prstGeom>
            <a:ln>
              <a:solidFill>
                <a:srgbClr val="0070C0"/>
              </a:solidFill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645849" y="2281853"/>
              <a:ext cx="443635" cy="2524837"/>
            </a:xfrm>
            <a:prstGeom prst="rect">
              <a:avLst/>
            </a:prstGeom>
            <a:solidFill>
              <a:schemeClr val="bg1"/>
            </a:solidFill>
          </p:spPr>
          <p:txBody>
            <a:bodyPr vert="vert270"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0070C0"/>
                  </a:solidFill>
                </a:rPr>
                <a:t>64 MB of I/O Address Space</a:t>
              </a: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4302638" y="2955574"/>
            <a:ext cx="4463753" cy="1088134"/>
            <a:chOff x="4103703" y="3862844"/>
            <a:chExt cx="4220110" cy="1292662"/>
          </a:xfrm>
        </p:grpSpPr>
        <p:sp>
          <p:nvSpPr>
            <p:cNvPr id="4" name="TextBox 3"/>
            <p:cNvSpPr txBox="1"/>
            <p:nvPr/>
          </p:nvSpPr>
          <p:spPr>
            <a:xfrm>
              <a:off x="4103703" y="3862844"/>
              <a:ext cx="4220110" cy="1292662"/>
            </a:xfrm>
            <a:prstGeom prst="rect">
              <a:avLst/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tIns="91440" bIns="91440" rtlCol="0">
              <a:spAutoFit/>
            </a:bodyPr>
            <a:lstStyle/>
            <a:p>
              <a:pPr marL="1027113" lvl="1"/>
              <a:r>
                <a:rPr lang="en-US" dirty="0"/>
                <a:t>Each individual </a:t>
              </a:r>
              <a:r>
                <a:rPr lang="en-US" i="1" u="sng" dirty="0"/>
                <a:t>bit</a:t>
              </a:r>
              <a:r>
                <a:rPr lang="en-US" dirty="0"/>
                <a:t> in a bit-band region corresponds to an entire </a:t>
              </a:r>
              <a:r>
                <a:rPr lang="en-US" i="1" u="sng" dirty="0"/>
                <a:t>word</a:t>
              </a:r>
              <a:r>
                <a:rPr lang="en-US" dirty="0"/>
                <a:t> in its bit-band alias.</a:t>
              </a:r>
            </a:p>
          </p:txBody>
        </p:sp>
        <p:pic>
          <p:nvPicPr>
            <p:cNvPr id="5" name="Picture 4" descr="http://www.aamu.edu/campuslife/living-on-campus/residentialLife/SiteAssets/pages/default/Warning_sign.p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4207936" y="3920245"/>
              <a:ext cx="803787" cy="838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55061197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 noChangeAspect="1"/>
          </p:cNvGraphicFramePr>
          <p:nvPr/>
        </p:nvGraphicFramePr>
        <p:xfrm>
          <a:off x="6324601" y="1219200"/>
          <a:ext cx="3657597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55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55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5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55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55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455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4553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4553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193040"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040">
                <a:tc>
                  <a:txBody>
                    <a:bodyPr/>
                    <a:lstStyle/>
                    <a:p>
                      <a:pPr algn="r"/>
                      <a:r>
                        <a:rPr lang="en-US" sz="1800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20001000</a:t>
                      </a:r>
                      <a:r>
                        <a:rPr lang="en-US" sz="1800" baseline="-25000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16</a:t>
                      </a:r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7" name="Elbow Connector 6"/>
          <p:cNvCxnSpPr/>
          <p:nvPr/>
        </p:nvCxnSpPr>
        <p:spPr>
          <a:xfrm rot="5400000">
            <a:off x="6919331" y="2665141"/>
            <a:ext cx="3655742" cy="2209800"/>
          </a:xfrm>
          <a:prstGeom prst="bentConnector3">
            <a:avLst>
              <a:gd name="adj1" fmla="val 99822"/>
            </a:avLst>
          </a:prstGeom>
          <a:ln w="12700">
            <a:solidFill>
              <a:schemeClr val="tx1"/>
            </a:solidFill>
            <a:headEnd type="triangl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Elbow Connector 11"/>
          <p:cNvCxnSpPr/>
          <p:nvPr/>
        </p:nvCxnSpPr>
        <p:spPr>
          <a:xfrm rot="5400000">
            <a:off x="6969511" y="2614961"/>
            <a:ext cx="3321206" cy="1975624"/>
          </a:xfrm>
          <a:prstGeom prst="bentConnector3">
            <a:avLst>
              <a:gd name="adj1" fmla="val 100077"/>
            </a:avLst>
          </a:prstGeom>
          <a:ln w="12700">
            <a:solidFill>
              <a:schemeClr val="tx1"/>
            </a:solidFill>
            <a:headEnd type="triangl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Elbow Connector 20"/>
          <p:cNvCxnSpPr>
            <a:stCxn id="5" idx="2"/>
          </p:cNvCxnSpPr>
          <p:nvPr/>
        </p:nvCxnSpPr>
        <p:spPr>
          <a:xfrm rot="5400000">
            <a:off x="7367796" y="2225226"/>
            <a:ext cx="1060108" cy="511096"/>
          </a:xfrm>
          <a:prstGeom prst="bentConnector3">
            <a:avLst>
              <a:gd name="adj1" fmla="val 99790"/>
            </a:avLst>
          </a:prstGeom>
          <a:ln w="12700">
            <a:solidFill>
              <a:schemeClr val="tx1"/>
            </a:solidFill>
            <a:headEnd type="triangl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153399" y="2157609"/>
            <a:ext cx="14645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79174" y="1581387"/>
            <a:ext cx="3202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A byte in the "</a:t>
            </a:r>
            <a:r>
              <a:rPr lang="en-US" b="1" i="1" dirty="0">
                <a:solidFill>
                  <a:srgbClr val="0070C0"/>
                </a:solidFill>
              </a:rPr>
              <a:t>bit-band region</a:t>
            </a:r>
            <a:r>
              <a:rPr lang="en-US" sz="1600" dirty="0"/>
              <a:t>"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78924" y="5869428"/>
            <a:ext cx="57754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Corresponding 32-bit word(s) in the "</a:t>
            </a:r>
            <a:r>
              <a:rPr lang="en-US" b="1" i="1" dirty="0">
                <a:solidFill>
                  <a:srgbClr val="0070C0"/>
                </a:solidFill>
              </a:rPr>
              <a:t>bit-band alias</a:t>
            </a:r>
            <a:r>
              <a:rPr lang="en-US" sz="1600" dirty="0"/>
              <a:t> </a:t>
            </a:r>
            <a:r>
              <a:rPr lang="en-US" sz="1600" b="1" i="1" dirty="0">
                <a:solidFill>
                  <a:srgbClr val="0070C0"/>
                </a:solidFill>
              </a:rPr>
              <a:t>region</a:t>
            </a:r>
            <a:r>
              <a:rPr lang="en-US" sz="1600" dirty="0"/>
              <a:t>”</a:t>
            </a:r>
          </a:p>
        </p:txBody>
      </p:sp>
      <p:sp>
        <p:nvSpPr>
          <p:cNvPr id="2" name="Right Arrow 1"/>
          <p:cNvSpPr/>
          <p:nvPr/>
        </p:nvSpPr>
        <p:spPr>
          <a:xfrm>
            <a:off x="6182032" y="1600200"/>
            <a:ext cx="457200" cy="341970"/>
          </a:xfrm>
          <a:prstGeom prst="rightArrow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928495" y="758120"/>
            <a:ext cx="4690252" cy="641581"/>
          </a:xfrm>
        </p:spPr>
        <p:txBody>
          <a:bodyPr/>
          <a:lstStyle/>
          <a:p>
            <a:r>
              <a:rPr lang="en-US" dirty="0"/>
              <a:t>BIT-BAND MAPPING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1215189" y="4332953"/>
          <a:ext cx="642711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33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637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2202000C</a:t>
                      </a:r>
                      <a:r>
                        <a:rPr lang="en-US" b="0" baseline="-25000" dirty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00000000  00000000  00000000  00000000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215189" y="4704973"/>
          <a:ext cx="6427113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33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637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22020008</a:t>
                      </a:r>
                      <a:r>
                        <a:rPr lang="en-US" b="0" baseline="-25000" dirty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00000000  00000000  00000000  00000000</a:t>
                      </a:r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1215189" y="5077956"/>
          <a:ext cx="643036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41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662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22020004</a:t>
                      </a:r>
                      <a:r>
                        <a:rPr lang="en-US" b="0" baseline="-25000" dirty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00000000  00000000  00000000  00000001</a:t>
                      </a:r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1215189" y="5412492"/>
          <a:ext cx="643687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57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11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22020000</a:t>
                      </a:r>
                      <a:r>
                        <a:rPr lang="en-US" b="0" baseline="-25000" dirty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00000000  00000000  00000000  00000000</a:t>
                      </a:r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1215189" y="3976257"/>
          <a:ext cx="6427113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3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637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22020010</a:t>
                      </a:r>
                      <a:r>
                        <a:rPr lang="en-US" b="0" baseline="-25000" dirty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00000000  00000000  00000000  00000001</a:t>
                      </a:r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1215189" y="3603843"/>
          <a:ext cx="642386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2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613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22020014</a:t>
                      </a:r>
                      <a:r>
                        <a:rPr lang="en-US" b="0" baseline="-25000" dirty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00000000  00000000  00000000  00000001</a:t>
                      </a:r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1215189" y="2892083"/>
          <a:ext cx="6427113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3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637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2202001C</a:t>
                      </a:r>
                      <a:r>
                        <a:rPr lang="en-US" b="0" baseline="-25000" dirty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00000000  00000000  00000000  00000001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1215189" y="3231933"/>
          <a:ext cx="642711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33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637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22020018</a:t>
                      </a:r>
                      <a:r>
                        <a:rPr lang="en-US" b="0" baseline="-25000" dirty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00000000  00000000  00000000  00000000</a:t>
                      </a:r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9728277" y="1580127"/>
            <a:ext cx="247650" cy="370593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9480627" y="1585889"/>
            <a:ext cx="247650" cy="370593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1386867" y="5422274"/>
            <a:ext cx="6265193" cy="370593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1386867" y="5082847"/>
            <a:ext cx="6258687" cy="334536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Elbow Connector 30"/>
          <p:cNvCxnSpPr>
            <a:endCxn id="17" idx="3"/>
          </p:cNvCxnSpPr>
          <p:nvPr/>
        </p:nvCxnSpPr>
        <p:spPr>
          <a:xfrm rot="5400000">
            <a:off x="7045260" y="2553525"/>
            <a:ext cx="2933910" cy="1739826"/>
          </a:xfrm>
          <a:prstGeom prst="bentConnector2">
            <a:avLst/>
          </a:prstGeom>
          <a:ln w="12700">
            <a:solidFill>
              <a:schemeClr val="tx1"/>
            </a:solidFill>
            <a:headEnd type="triangl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9232977" y="1581388"/>
            <a:ext cx="247650" cy="370593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1386867" y="4705096"/>
            <a:ext cx="6252183" cy="370593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67187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Line Callout 1 (No Border) 20"/>
          <p:cNvSpPr/>
          <p:nvPr/>
        </p:nvSpPr>
        <p:spPr>
          <a:xfrm>
            <a:off x="9788428" y="3219712"/>
            <a:ext cx="1920241" cy="765492"/>
          </a:xfrm>
          <a:prstGeom prst="callout1">
            <a:avLst>
              <a:gd name="adj1" fmla="val 18750"/>
              <a:gd name="adj2" fmla="val -8333"/>
              <a:gd name="adj3" fmla="val -78624"/>
              <a:gd name="adj4" fmla="val -34365"/>
            </a:avLst>
          </a:prstGeom>
          <a:noFill/>
          <a:ln w="19050">
            <a:solidFill>
              <a:srgbClr val="0070C0"/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rgbClr val="0070C0"/>
                </a:solidFill>
              </a:rPr>
              <a:t>Starting address of Bit-Band Region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069691" y="2989911"/>
            <a:ext cx="9548803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b="1" dirty="0"/>
              <a:t>Example:   </a:t>
            </a:r>
            <a:r>
              <a:rPr lang="en-US" dirty="0"/>
              <a:t>Access bit 3 in</a:t>
            </a:r>
            <a:r>
              <a:rPr lang="en-US" b="1" dirty="0"/>
              <a:t>  	   </a:t>
            </a:r>
            <a:r>
              <a:rPr lang="en-US" dirty="0"/>
              <a:t>20001000</a:t>
            </a:r>
            <a:r>
              <a:rPr lang="en-US" baseline="-25000" dirty="0"/>
              <a:t>16</a:t>
            </a:r>
            <a:endParaRPr lang="en-US" dirty="0"/>
          </a:p>
          <a:p>
            <a:endParaRPr lang="en-US" dirty="0"/>
          </a:p>
          <a:p>
            <a:pPr lvl="1"/>
            <a:r>
              <a:rPr lang="en-US" i="1" dirty="0"/>
              <a:t>Bit-Band Region offset</a:t>
            </a:r>
            <a:r>
              <a:rPr lang="en-US" dirty="0"/>
              <a:t>	= 20001000</a:t>
            </a:r>
            <a:r>
              <a:rPr lang="en-US" baseline="-25000" dirty="0"/>
              <a:t>16</a:t>
            </a:r>
            <a:r>
              <a:rPr lang="en-US" dirty="0"/>
              <a:t> – 20000000</a:t>
            </a:r>
            <a:r>
              <a:rPr lang="en-US" baseline="-25000" dirty="0"/>
              <a:t>16</a:t>
            </a:r>
            <a:r>
              <a:rPr lang="en-US" dirty="0"/>
              <a:t> = 01000</a:t>
            </a:r>
            <a:r>
              <a:rPr lang="en-US" baseline="-25000" dirty="0"/>
              <a:t>16</a:t>
            </a:r>
            <a:endParaRPr lang="en-US" dirty="0"/>
          </a:p>
          <a:p>
            <a:pPr lvl="1"/>
            <a:r>
              <a:rPr lang="en-US" dirty="0"/>
              <a:t> </a:t>
            </a:r>
          </a:p>
          <a:p>
            <a:pPr lvl="1"/>
            <a:r>
              <a:rPr lang="en-US" i="1" dirty="0"/>
              <a:t>Bit-Band Alias address</a:t>
            </a:r>
            <a:r>
              <a:rPr lang="en-US" dirty="0"/>
              <a:t>	= 22000000</a:t>
            </a:r>
            <a:r>
              <a:rPr lang="en-US" baseline="-25000" dirty="0"/>
              <a:t>16</a:t>
            </a:r>
            <a:r>
              <a:rPr lang="en-US" dirty="0"/>
              <a:t> + 32</a:t>
            </a:r>
            <a:r>
              <a:rPr lang="en-US" baseline="-25000" dirty="0"/>
              <a:t>10</a:t>
            </a:r>
            <a:r>
              <a:rPr lang="en-US" dirty="0"/>
              <a:t> × 01000</a:t>
            </a:r>
            <a:r>
              <a:rPr lang="en-US" baseline="-25000" dirty="0"/>
              <a:t>16</a:t>
            </a:r>
            <a:r>
              <a:rPr lang="en-US" dirty="0"/>
              <a:t> + 4 × 3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				= 22000000</a:t>
            </a:r>
            <a:r>
              <a:rPr lang="en-US" baseline="-25000" dirty="0"/>
              <a:t>16</a:t>
            </a:r>
            <a:r>
              <a:rPr lang="en-US" dirty="0"/>
              <a:t> + (01000</a:t>
            </a:r>
            <a:r>
              <a:rPr lang="en-US" baseline="-25000" dirty="0"/>
              <a:t>16</a:t>
            </a:r>
            <a:r>
              <a:rPr lang="en-US" dirty="0"/>
              <a:t> &lt;&lt; 5) + (3 &lt;&lt; 2)</a:t>
            </a:r>
          </a:p>
          <a:p>
            <a:pPr lvl="1"/>
            <a:r>
              <a:rPr lang="en-US" dirty="0"/>
              <a:t> </a:t>
            </a:r>
          </a:p>
          <a:p>
            <a:pPr lvl="1"/>
            <a:r>
              <a:rPr lang="en-US" dirty="0"/>
              <a:t>				= 2202000C</a:t>
            </a:r>
            <a:r>
              <a:rPr lang="en-US" baseline="-25000" dirty="0"/>
              <a:t>16</a:t>
            </a:r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9184506" y="4088892"/>
            <a:ext cx="565083" cy="369332"/>
          </a:xfrm>
          <a:prstGeom prst="rect">
            <a:avLst/>
          </a:prstGeom>
          <a:solidFill>
            <a:srgbClr val="0070C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5987464" y="5221400"/>
            <a:ext cx="1271588" cy="327639"/>
          </a:xfrm>
          <a:prstGeom prst="rect">
            <a:avLst/>
          </a:prstGeom>
          <a:solidFill>
            <a:srgbClr val="0070C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9212580" y="4709254"/>
            <a:ext cx="794249" cy="278176"/>
          </a:xfrm>
          <a:prstGeom prst="rect">
            <a:avLst/>
          </a:prstGeom>
          <a:solidFill>
            <a:srgbClr val="0070C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99081" y="1738430"/>
          <a:ext cx="6664960" cy="782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2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2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2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2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3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25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24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6353" y="748648"/>
            <a:ext cx="6368847" cy="505576"/>
          </a:xfrm>
        </p:spPr>
        <p:txBody>
          <a:bodyPr>
            <a:normAutofit fontScale="90000"/>
          </a:bodyPr>
          <a:lstStyle/>
          <a:p>
            <a:r>
              <a:rPr lang="en-US" dirty="0"/>
              <a:t>FINDING THE ALIAS ADDRESS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2069691" y="1288482"/>
            <a:ext cx="875872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/>
              <a:t>Bit-Band Alias address</a:t>
            </a:r>
            <a:r>
              <a:rPr lang="en-US" dirty="0"/>
              <a:t> = 22000000</a:t>
            </a:r>
            <a:r>
              <a:rPr lang="en-US" baseline="-25000" dirty="0"/>
              <a:t>16 </a:t>
            </a:r>
            <a:r>
              <a:rPr lang="en-US" dirty="0"/>
              <a:t>+ 32 × </a:t>
            </a:r>
            <a:r>
              <a:rPr lang="en-US" i="1" dirty="0"/>
              <a:t>Bit-Band Region offset</a:t>
            </a:r>
            <a:r>
              <a:rPr lang="en-US" dirty="0"/>
              <a:t> + 4 × </a:t>
            </a:r>
            <a:r>
              <a:rPr lang="en-US" i="1" dirty="0"/>
              <a:t>bit number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6623258" y="1305252"/>
            <a:ext cx="2380374" cy="369332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426616" y="4649535"/>
            <a:ext cx="1544930" cy="369332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9609704" y="1321524"/>
            <a:ext cx="1110557" cy="365936"/>
          </a:xfrm>
          <a:prstGeom prst="rect">
            <a:avLst/>
          </a:prstGeom>
          <a:solidFill>
            <a:srgbClr val="0070C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439403" y="4094029"/>
            <a:ext cx="1532143" cy="369332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439403" y="3564133"/>
            <a:ext cx="1223334" cy="369332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5987464" y="3568990"/>
            <a:ext cx="1271588" cy="369332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1697464" y="5460307"/>
            <a:ext cx="3849098" cy="1015663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tIns="91440" bIns="91440" rtlCol="0">
            <a:spAutoFit/>
          </a:bodyPr>
          <a:lstStyle/>
          <a:p>
            <a:pPr marL="1027113" lvl="1"/>
            <a:r>
              <a:rPr lang="en-US" dirty="0"/>
              <a:t>Read or write to this address accesses bit 3 at address 20001000</a:t>
            </a:r>
            <a:r>
              <a:rPr lang="en-US" baseline="-25000" dirty="0"/>
              <a:t>16</a:t>
            </a:r>
            <a:endParaRPr lang="en-US" dirty="0"/>
          </a:p>
        </p:txBody>
      </p:sp>
      <p:pic>
        <p:nvPicPr>
          <p:cNvPr id="23" name="Picture 22" descr="http://www.aamu.edu/campuslife/living-on-campus/residentialLife/SiteAssets/pages/default/Warning_sign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782290" y="5549039"/>
            <a:ext cx="971826" cy="83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Rectangle 23"/>
          <p:cNvSpPr/>
          <p:nvPr/>
        </p:nvSpPr>
        <p:spPr>
          <a:xfrm>
            <a:off x="4271794" y="2155966"/>
            <a:ext cx="4143544" cy="369332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8431725" y="2148935"/>
            <a:ext cx="624156" cy="365936"/>
          </a:xfrm>
          <a:prstGeom prst="rect">
            <a:avLst/>
          </a:prstGeom>
          <a:solidFill>
            <a:srgbClr val="0070C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/>
          <p:cNvSpPr/>
          <p:nvPr/>
        </p:nvSpPr>
        <p:spPr>
          <a:xfrm>
            <a:off x="4724401" y="1309895"/>
            <a:ext cx="1223210" cy="351762"/>
          </a:xfrm>
          <a:prstGeom prst="rect">
            <a:avLst/>
          </a:prstGeom>
          <a:solidFill>
            <a:srgbClr val="00B05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/>
          <p:cNvSpPr/>
          <p:nvPr/>
        </p:nvSpPr>
        <p:spPr>
          <a:xfrm>
            <a:off x="2812992" y="2136419"/>
            <a:ext cx="1449401" cy="373133"/>
          </a:xfrm>
          <a:prstGeom prst="rect">
            <a:avLst/>
          </a:prstGeom>
          <a:solidFill>
            <a:srgbClr val="00B05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/>
          <p:cNvSpPr/>
          <p:nvPr/>
        </p:nvSpPr>
        <p:spPr>
          <a:xfrm>
            <a:off x="5987465" y="4106462"/>
            <a:ext cx="1271587" cy="351762"/>
          </a:xfrm>
          <a:prstGeom prst="rect">
            <a:avLst/>
          </a:prstGeom>
          <a:solidFill>
            <a:srgbClr val="00B05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Straight Arrow Connector 43"/>
          <p:cNvCxnSpPr/>
          <p:nvPr/>
        </p:nvCxnSpPr>
        <p:spPr>
          <a:xfrm>
            <a:off x="6607215" y="3296216"/>
            <a:ext cx="0" cy="310618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9055881" y="2155966"/>
            <a:ext cx="408160" cy="368216"/>
          </a:xfrm>
          <a:prstGeom prst="rect">
            <a:avLst/>
          </a:prstGeom>
          <a:solidFill>
            <a:srgbClr val="00B05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6" name="Table 45"/>
          <p:cNvGraphicFramePr>
            <a:graphicFrameLocks noGrp="1"/>
          </p:cNvGraphicFramePr>
          <p:nvPr/>
        </p:nvGraphicFramePr>
        <p:xfrm>
          <a:off x="7813445" y="2554536"/>
          <a:ext cx="166624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ltUpDiag">
                      <a:fgClr>
                        <a:schemeClr val="tx2">
                          <a:lumMod val="60000"/>
                          <a:lumOff val="4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2" name="Table 41"/>
          <p:cNvGraphicFramePr>
            <a:graphicFrameLocks noGrp="1"/>
          </p:cNvGraphicFramePr>
          <p:nvPr/>
        </p:nvGraphicFramePr>
        <p:xfrm>
          <a:off x="8431041" y="2153342"/>
          <a:ext cx="62484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3" name="Table 42"/>
          <p:cNvGraphicFramePr>
            <a:graphicFrameLocks noGrp="1"/>
          </p:cNvGraphicFramePr>
          <p:nvPr/>
        </p:nvGraphicFramePr>
        <p:xfrm>
          <a:off x="4249738" y="2155966"/>
          <a:ext cx="41656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7" name="Rectangle 46"/>
          <p:cNvSpPr/>
          <p:nvPr/>
        </p:nvSpPr>
        <p:spPr>
          <a:xfrm>
            <a:off x="5987464" y="4648302"/>
            <a:ext cx="1239503" cy="351762"/>
          </a:xfrm>
          <a:prstGeom prst="rect">
            <a:avLst/>
          </a:prstGeom>
          <a:solidFill>
            <a:srgbClr val="00B05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 rot="18867702">
            <a:off x="2875023" y="3333300"/>
            <a:ext cx="69669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rgbClr val="FF0000"/>
                </a:solidFill>
              </a:rPr>
              <a:t>Recheck It is not correct!</a:t>
            </a:r>
          </a:p>
        </p:txBody>
      </p:sp>
    </p:spTree>
    <p:extLst>
      <p:ext uri="{BB962C8B-B14F-4D97-AF65-F5344CB8AC3E}">
        <p14:creationId xmlns:p14="http://schemas.microsoft.com/office/powerpoint/2010/main" val="387729160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44537" y="1682457"/>
          <a:ext cx="10401242" cy="4954963"/>
        </p:xfrm>
        <a:graphic>
          <a:graphicData uri="http://schemas.openxmlformats.org/drawingml/2006/table">
            <a:tbl>
              <a:tblPr firstRow="1" firstCol="1" bandRow="1"/>
              <a:tblGrid>
                <a:gridCol w="104012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954963">
                <a:tc>
                  <a:txBody>
                    <a:bodyPr/>
                    <a:lstStyle/>
                    <a:p>
                      <a:pPr marL="111125" marR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65150" algn="l"/>
                          <a:tab pos="1595438" algn="l"/>
                          <a:tab pos="3608388" algn="l"/>
                        </a:tabLst>
                      </a:pP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Calibri"/>
                        <a:cs typeface="Consolas" panose="020B0609020204030204" pitchFamily="49" charset="0"/>
                      </a:endParaRPr>
                    </a:p>
                    <a:p>
                      <a:pPr marL="111125" marR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65150" algn="l"/>
                          <a:tab pos="1595438" algn="l"/>
                          <a:tab pos="3608388" algn="l"/>
                        </a:tabLs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                       // uint32_t *</a:t>
                      </a:r>
                      <a:r>
                        <a:rPr lang="en-US" sz="160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BitBandAliasAddress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(void *</a:t>
                      </a:r>
                      <a:r>
                        <a:rPr lang="en-US" sz="160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BitBandAdrs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int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60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BitNum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) ;</a:t>
                      </a:r>
                    </a:p>
                    <a:p>
                      <a:pPr marL="111125" marR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65150" algn="l"/>
                          <a:tab pos="1595438" algn="l"/>
                          <a:tab pos="3608388" algn="l"/>
                        </a:tabLs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                       // </a:t>
                      </a:r>
                      <a:r>
                        <a:rPr lang="en-US" sz="160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BitBandAdrs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:</a:t>
                      </a:r>
                      <a:r>
                        <a:rPr lang="en-US" sz="1600" baseline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 The address of data in the bit band region</a:t>
                      </a:r>
                    </a:p>
                    <a:p>
                      <a:pPr marL="111125" marR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65150" algn="l"/>
                          <a:tab pos="1595438" algn="l"/>
                          <a:tab pos="3608388" algn="l"/>
                        </a:tabLst>
                      </a:pPr>
                      <a:r>
                        <a:rPr lang="en-US" sz="1600" baseline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                       // </a:t>
                      </a:r>
                      <a:r>
                        <a:rPr lang="en-US" sz="1600" baseline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BitNum</a:t>
                      </a:r>
                      <a:r>
                        <a:rPr lang="en-US" sz="1600" baseline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:      The number (0-31) of the bit within the data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Calibri"/>
                        <a:cs typeface="Consolas" panose="020B0609020204030204" pitchFamily="49" charset="0"/>
                      </a:endParaRPr>
                    </a:p>
                    <a:p>
                      <a:pPr marL="111125" marR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65150" algn="l"/>
                          <a:tab pos="1595438" algn="l"/>
                          <a:tab pos="3608388" algn="l"/>
                        </a:tabLs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                       .global	</a:t>
                      </a:r>
                      <a:r>
                        <a:rPr lang="en-US" sz="160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BitBandAliasAddress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Calibri"/>
                        <a:cs typeface="Consolas" panose="020B0609020204030204" pitchFamily="49" charset="0"/>
                      </a:endParaRPr>
                    </a:p>
                    <a:p>
                      <a:pPr marL="111125" marR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65150" algn="l"/>
                          <a:tab pos="1595438" algn="l"/>
                          <a:tab pos="3608388" algn="l"/>
                        </a:tabLst>
                      </a:pPr>
                      <a:r>
                        <a:rPr lang="en-US" sz="1600" baseline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                       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.align</a:t>
                      </a:r>
                    </a:p>
                    <a:p>
                      <a:pPr marL="111125" marR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65150" algn="l"/>
                          <a:tab pos="1595438" algn="l"/>
                          <a:tab pos="3608388" algn="l"/>
                        </a:tabLs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                       .</a:t>
                      </a:r>
                      <a:r>
                        <a:rPr lang="en-US" sz="160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thumb_func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onsolas" panose="020B0609020204030204" pitchFamily="49" charset="0"/>
                      </a:endParaRPr>
                    </a:p>
                    <a:p>
                      <a:pPr marL="111125" marR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65150" algn="l"/>
                          <a:tab pos="1595438" algn="l"/>
                          <a:tab pos="3608388" algn="l"/>
                        </a:tabLs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 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onsolas" panose="020B0609020204030204" pitchFamily="49" charset="0"/>
                      </a:endParaRPr>
                    </a:p>
                    <a:p>
                      <a:pPr marL="111125" marR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65150" algn="l"/>
                          <a:tab pos="1595438" algn="l"/>
                          <a:tab pos="3608388" algn="l"/>
                        </a:tabLst>
                      </a:pPr>
                      <a:r>
                        <a:rPr lang="en-US" sz="160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BitBandAliasAddress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:   SUB	R0,R0,0x20000000	// compute bit band offset</a:t>
                      </a:r>
                    </a:p>
                    <a:p>
                      <a:pPr marL="111125" marR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65150" algn="l"/>
                          <a:tab pos="1595438" algn="l"/>
                          <a:tab pos="3608388" algn="l"/>
                        </a:tabLs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	                   LSL	R0,R0,5	// insert offset into alias address</a:t>
                      </a:r>
                    </a:p>
                    <a:p>
                      <a:pPr marL="111125" marR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65150" algn="l"/>
                          <a:tab pos="1595438" algn="l"/>
                          <a:tab pos="3608388" algn="l"/>
                        </a:tabLs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	                   ADD	R0,R0,R1,LSL 2	// add 4 times the bit number (0-31)</a:t>
                      </a:r>
                    </a:p>
                    <a:p>
                      <a:pPr marL="111125" marR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65150" algn="l"/>
                          <a:tab pos="1595438" algn="l"/>
                          <a:tab pos="3608388" algn="l"/>
                        </a:tabLs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	                   ADD	R0,R0,0x22000000	// add base </a:t>
                      </a:r>
                      <a:r>
                        <a:rPr lang="en-US" sz="160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adrs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 of alias region</a:t>
                      </a:r>
                    </a:p>
                    <a:p>
                      <a:pPr marL="111125" marR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65150" algn="l"/>
                          <a:tab pos="1595438" algn="l"/>
                          <a:tab pos="3608388" algn="l"/>
                        </a:tabLs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	                   BX	LR 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onsolas" panose="020B0609020204030204" pitchFamily="49" charset="0"/>
                      </a:endParaRPr>
                    </a:p>
                    <a:p>
                      <a:pPr marL="111125" marR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65150" algn="l"/>
                          <a:tab pos="1595438" algn="l"/>
                          <a:tab pos="3608388" algn="l"/>
                        </a:tabLs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	                   .end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onsolas" panose="020B0609020204030204" pitchFamily="49" charset="0"/>
                      </a:endParaRPr>
                    </a:p>
                  </a:txBody>
                  <a:tcPr marL="59631" marR="5963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944537" y="753203"/>
            <a:ext cx="5051200" cy="652530"/>
          </a:xfrm>
        </p:spPr>
        <p:txBody>
          <a:bodyPr/>
          <a:lstStyle/>
          <a:p>
            <a:r>
              <a:rPr lang="en-US" dirty="0"/>
              <a:t>BIT-BAND FUNCTION</a:t>
            </a:r>
          </a:p>
        </p:txBody>
      </p:sp>
    </p:spTree>
    <p:extLst>
      <p:ext uri="{BB962C8B-B14F-4D97-AF65-F5344CB8AC3E}">
        <p14:creationId xmlns:p14="http://schemas.microsoft.com/office/powerpoint/2010/main" val="133772953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B2D65E-FC19-82A7-652C-C0EEAA418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A4198-B614-9891-00D8-1992A0E20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Done</a:t>
            </a:r>
          </a:p>
        </p:txBody>
      </p:sp>
      <p:sp>
        <p:nvSpPr>
          <p:cNvPr id="5123" name="Slide Number Placeholder 3">
            <a:extLst>
              <a:ext uri="{FF2B5EF4-FFF2-40B4-BE49-F238E27FC236}">
                <a16:creationId xmlns:a16="http://schemas.microsoft.com/office/drawing/2014/main" id="{7B1778D2-C68D-4D13-26F5-17430D73596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4692328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A25F2-3AE0-BDCF-0880-EDD5EEF55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E57A2-3A61-C5F8-EEFD-EA29617843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… to here …</a:t>
            </a:r>
          </a:p>
        </p:txBody>
      </p:sp>
    </p:spTree>
    <p:extLst>
      <p:ext uri="{BB962C8B-B14F-4D97-AF65-F5344CB8AC3E}">
        <p14:creationId xmlns:p14="http://schemas.microsoft.com/office/powerpoint/2010/main" val="2815624037"/>
      </p:ext>
    </p:extLst>
  </p:cSld>
  <p:clrMapOvr>
    <a:masterClrMapping/>
  </p:clrMapOvr>
</p:sld>
</file>

<file path=ppt/theme/theme1.xml><?xml version="1.0" encoding="utf-8"?>
<a:theme xmlns:a="http://schemas.openxmlformats.org/drawingml/2006/main" name="SCUTemplate">
  <a:themeElements>
    <a:clrScheme name="Santa Clara Powerpoint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96641"/>
      </a:accent1>
      <a:accent2>
        <a:srgbClr val="495764"/>
      </a:accent2>
      <a:accent3>
        <a:srgbClr val="71001B"/>
      </a:accent3>
      <a:accent4>
        <a:srgbClr val="FFC000"/>
      </a:accent4>
      <a:accent5>
        <a:srgbClr val="9D9B7B"/>
      </a:accent5>
      <a:accent6>
        <a:srgbClr val="759C9A"/>
      </a:accent6>
      <a:hlink>
        <a:srgbClr val="9E1B32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F0B77AA3-1BFC-4F21-AA5C-47F762EA0811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C2E27841-7055-4EC2-8474-90BDE5ACE175}"/>
    </a:ext>
  </a:extLst>
</a:theme>
</file>

<file path=ppt/theme/theme3.xml><?xml version="1.0" encoding="utf-8"?>
<a:theme xmlns:a="http://schemas.openxmlformats.org/drawingml/2006/main" name="1_SCUTemplate">
  <a:themeElements>
    <a:clrScheme name="Santa Clara Powerpoint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96641"/>
      </a:accent1>
      <a:accent2>
        <a:srgbClr val="495764"/>
      </a:accent2>
      <a:accent3>
        <a:srgbClr val="71001B"/>
      </a:accent3>
      <a:accent4>
        <a:srgbClr val="FFC000"/>
      </a:accent4>
      <a:accent5>
        <a:srgbClr val="9D9B7B"/>
      </a:accent5>
      <a:accent6>
        <a:srgbClr val="759C9A"/>
      </a:accent6>
      <a:hlink>
        <a:srgbClr val="9E1B32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F0B77AA3-1BFC-4F21-AA5C-47F762EA0811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SCUTemplate</Template>
  <TotalTime>1318</TotalTime>
  <Words>4204</Words>
  <Application>Microsoft Office PowerPoint</Application>
  <PresentationFormat>Widescreen</PresentationFormat>
  <Paragraphs>1264</Paragraphs>
  <Slides>62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62</vt:i4>
      </vt:variant>
    </vt:vector>
  </HeadingPairs>
  <TitlesOfParts>
    <vt:vector size="74" baseType="lpstr">
      <vt:lpstr>Arial</vt:lpstr>
      <vt:lpstr>Arial Narrow</vt:lpstr>
      <vt:lpstr>Calibri</vt:lpstr>
      <vt:lpstr>Calibri Light</vt:lpstr>
      <vt:lpstr>Cambria Math</vt:lpstr>
      <vt:lpstr>Consolas</vt:lpstr>
      <vt:lpstr>Garamond</vt:lpstr>
      <vt:lpstr>Times New Roman</vt:lpstr>
      <vt:lpstr>Wingdings</vt:lpstr>
      <vt:lpstr>SCUTemplate</vt:lpstr>
      <vt:lpstr>Custom Design</vt:lpstr>
      <vt:lpstr>1_SCUTemplate</vt:lpstr>
      <vt:lpstr>CSEN20</vt:lpstr>
      <vt:lpstr>Chapter 7 Manipulating Bits</vt:lpstr>
      <vt:lpstr>Bit Patterns</vt:lpstr>
      <vt:lpstr>Useful Bit Patterns: (1 &lt;&lt; k) = 2k (A single 1 shifted left k bits)</vt:lpstr>
      <vt:lpstr>Useful Bit Patterns: ~(1 &lt;&lt; k) = ~2k (A single 0 shifted left k bits)</vt:lpstr>
      <vt:lpstr>Useful Bit Patterns: (1 &lt;&lt; k)-1 = 2k-1 (A string of k 1’s, preceded by all 0's)</vt:lpstr>
      <vt:lpstr>Chapter 7 Manipulating Bits</vt:lpstr>
      <vt:lpstr>APPLICATIONS OF SHIFTING</vt:lpstr>
      <vt:lpstr>SHIFT INSTRUCTIONS</vt:lpstr>
      <vt:lpstr>Rotate Right</vt:lpstr>
      <vt:lpstr>Instruction Sets</vt:lpstr>
      <vt:lpstr>Instruction Sets</vt:lpstr>
      <vt:lpstr>Instruction Sets</vt:lpstr>
      <vt:lpstr>3 PLACES WHERE SHIFT CAN BE USED</vt:lpstr>
      <vt:lpstr>Constants Dependent on Sign of R0</vt:lpstr>
      <vt:lpstr>Chapter 7 Manipulating Bits</vt:lpstr>
      <vt:lpstr>64-BIT LOGICAL SHIFT LEFT (By 1 bit)</vt:lpstr>
      <vt:lpstr>Chapter 7 Manipulating Bits</vt:lpstr>
      <vt:lpstr>Review: Bitwise Operators</vt:lpstr>
      <vt:lpstr>Bitwise AND</vt:lpstr>
      <vt:lpstr>Bitwise AND</vt:lpstr>
      <vt:lpstr>Bitwise OR</vt:lpstr>
      <vt:lpstr>Bitwise Exclusive-OR </vt:lpstr>
      <vt:lpstr>BITWISE INSTRUCTIONS</vt:lpstr>
      <vt:lpstr>USING BITWISE INSTRUCTIONS</vt:lpstr>
      <vt:lpstr>USING C BITWISE OPERATIONS</vt:lpstr>
      <vt:lpstr>Other Values Dependent on Sign of R0</vt:lpstr>
      <vt:lpstr>Chapter 7 Manipulating Bits</vt:lpstr>
      <vt:lpstr>Trading Execution Time for Memory</vt:lpstr>
      <vt:lpstr>Structure Bitfields</vt:lpstr>
      <vt:lpstr>Extracting Unsigned Bitfield (Using LSL and LSR)</vt:lpstr>
      <vt:lpstr>Extracting Signed Bitfield (Using LSL and ASR)</vt:lpstr>
      <vt:lpstr>Extracting Unsigned Bitfield (Using the UBFX instruction)</vt:lpstr>
      <vt:lpstr>Extracting Signed Bitfield (Using the SBFX instruction)</vt:lpstr>
      <vt:lpstr>PowerPoint Presentation</vt:lpstr>
      <vt:lpstr>PowerPoint Presentation</vt:lpstr>
      <vt:lpstr>BITFIELD INSTRUCTIONS &amp; APPLICATIONS</vt:lpstr>
      <vt:lpstr>Examples</vt:lpstr>
      <vt:lpstr>Examples (Implement in CPULator)</vt:lpstr>
      <vt:lpstr>Examples (Implement in CPULator)</vt:lpstr>
      <vt:lpstr>Examples (Implement in CPULator)</vt:lpstr>
      <vt:lpstr>Examples (Implement in CPULator)</vt:lpstr>
      <vt:lpstr>Examples (Implement in CPULator)</vt:lpstr>
      <vt:lpstr>Examples (Implement in CPULator)</vt:lpstr>
      <vt:lpstr>Examples (Implement in CPULator)</vt:lpstr>
      <vt:lpstr>Examples (Implement in CPULator)</vt:lpstr>
      <vt:lpstr>Examples</vt:lpstr>
      <vt:lpstr>Examples (Implement in CPULator)</vt:lpstr>
      <vt:lpstr>Chapter 7 Manipulating Bits</vt:lpstr>
      <vt:lpstr>Register Swap Using Exclusive-OR (Uses 1 less register and no additional instructions)</vt:lpstr>
      <vt:lpstr>Selection Without a Branch</vt:lpstr>
      <vt:lpstr>A Fast Absolute Value Function</vt:lpstr>
      <vt:lpstr>An Integer Power Function</vt:lpstr>
      <vt:lpstr>Chapter 7 Manipulating Bits</vt:lpstr>
      <vt:lpstr>APPLICATIONS OF BIT-BANDING</vt:lpstr>
      <vt:lpstr>APPLICATIONS OF BIT-BANDING</vt:lpstr>
      <vt:lpstr>BIT-BAND REGIONS &amp; ALIASES</vt:lpstr>
      <vt:lpstr>BIT-BAND MAPPING</vt:lpstr>
      <vt:lpstr>FINDING THE ALIAS ADDRESS</vt:lpstr>
      <vt:lpstr>BIT-BAND FUNCTION</vt:lpstr>
      <vt:lpstr>Done</vt:lpstr>
      <vt:lpstr>… to here 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Outline</dc:title>
  <dc:creator>Michael Schimpf</dc:creator>
  <cp:lastModifiedBy>Michael Schimpf</cp:lastModifiedBy>
  <cp:revision>220</cp:revision>
  <cp:lastPrinted>2023-09-11T21:46:56Z</cp:lastPrinted>
  <dcterms:created xsi:type="dcterms:W3CDTF">2023-09-09T19:51:41Z</dcterms:created>
  <dcterms:modified xsi:type="dcterms:W3CDTF">2026-09-22T20:33:53Z</dcterms:modified>
</cp:coreProperties>
</file>