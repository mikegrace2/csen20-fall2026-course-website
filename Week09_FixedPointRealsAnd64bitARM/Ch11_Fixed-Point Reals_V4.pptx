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</p:sldMasterIdLst>
  <p:notesMasterIdLst>
    <p:notesMasterId r:id="rId35"/>
  </p:notesMasterIdLst>
  <p:handoutMasterIdLst>
    <p:handoutMasterId r:id="rId36"/>
  </p:handoutMasterIdLst>
  <p:sldIdLst>
    <p:sldId id="333" r:id="rId4"/>
    <p:sldId id="370" r:id="rId5"/>
    <p:sldId id="339" r:id="rId6"/>
    <p:sldId id="338" r:id="rId7"/>
    <p:sldId id="340" r:id="rId8"/>
    <p:sldId id="341" r:id="rId9"/>
    <p:sldId id="342" r:id="rId10"/>
    <p:sldId id="343" r:id="rId11"/>
    <p:sldId id="344" r:id="rId12"/>
    <p:sldId id="345" r:id="rId13"/>
    <p:sldId id="346" r:id="rId14"/>
    <p:sldId id="347" r:id="rId15"/>
    <p:sldId id="348" r:id="rId16"/>
    <p:sldId id="375" r:id="rId17"/>
    <p:sldId id="350" r:id="rId18"/>
    <p:sldId id="351" r:id="rId19"/>
    <p:sldId id="352" r:id="rId20"/>
    <p:sldId id="353" r:id="rId21"/>
    <p:sldId id="354" r:id="rId22"/>
    <p:sldId id="372" r:id="rId23"/>
    <p:sldId id="355" r:id="rId24"/>
    <p:sldId id="356" r:id="rId25"/>
    <p:sldId id="357" r:id="rId26"/>
    <p:sldId id="373" r:id="rId27"/>
    <p:sldId id="376" r:id="rId28"/>
    <p:sldId id="358" r:id="rId29"/>
    <p:sldId id="360" r:id="rId30"/>
    <p:sldId id="377" r:id="rId31"/>
    <p:sldId id="361" r:id="rId32"/>
    <p:sldId id="374" r:id="rId33"/>
    <p:sldId id="336" r:id="rId34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50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theme" Target="theme/theme1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4435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198390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7919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4304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893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77630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31139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3305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21138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6587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254137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9430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3303953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7568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57994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955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89712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B289B0-9BEC-4093-861C-76154CD68B5D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8/20/2026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136E94-7335-4773-A64D-0D46B1CA62E8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244945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754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32.xml"/><Relationship Id="rId18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2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17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1.xml"/><Relationship Id="rId16" Type="http://schemas.openxmlformats.org/officeDocument/2006/relationships/slideLayout" Target="../slideLayouts/slideLayout35.xml"/><Relationship Id="rId20" Type="http://schemas.openxmlformats.org/officeDocument/2006/relationships/theme" Target="../theme/theme3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8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33.xml"/><Relationship Id="rId22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20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  <p:sldLayoutId id="2147483705" r:id="rId18"/>
    <p:sldLayoutId id="2147483706" r:id="rId1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38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7.xml"/><Relationship Id="rId4" Type="http://schemas.openxmlformats.org/officeDocument/2006/relationships/image" Target="../media/image14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38.xml"/><Relationship Id="rId6" Type="http://schemas.openxmlformats.org/officeDocument/2006/relationships/image" Target="../media/image150.png"/><Relationship Id="rId5" Type="http://schemas.openxmlformats.org/officeDocument/2006/relationships/image" Target="../media/image140.png"/><Relationship Id="rId4" Type="http://schemas.openxmlformats.org/officeDocument/2006/relationships/image" Target="../media/image13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gif"/><Relationship Id="rId1" Type="http://schemas.openxmlformats.org/officeDocument/2006/relationships/slideLayout" Target="../slideLayouts/slideLayout38.xml"/><Relationship Id="rId4" Type="http://schemas.openxmlformats.org/officeDocument/2006/relationships/image" Target="../media/image18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38.xml"/><Relationship Id="rId4" Type="http://schemas.openxmlformats.org/officeDocument/2006/relationships/image" Target="../media/image21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2472" y="2144557"/>
            <a:ext cx="10427369" cy="4540990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</a:p>
          <a:p>
            <a:r>
              <a:rPr lang="en-US" sz="3200" dirty="0">
                <a:solidFill>
                  <a:schemeClr val="tx1"/>
                </a:solidFill>
              </a:rPr>
              <a:t>	Introduction to Embedded Systems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sz="2200" dirty="0">
              <a:solidFill>
                <a:schemeClr val="tx1"/>
              </a:solidFill>
            </a:endParaRPr>
          </a:p>
          <a:p>
            <a:endParaRPr lang="en-US" sz="2200" dirty="0">
              <a:solidFill>
                <a:schemeClr val="tx1"/>
              </a:solidFill>
            </a:endParaRPr>
          </a:p>
          <a:p>
            <a:r>
              <a:rPr lang="en-US" sz="2200" dirty="0">
                <a:solidFill>
                  <a:schemeClr val="tx1"/>
                </a:solidFill>
              </a:rPr>
              <a:t>Michael Schimpf, PhD, mschimpf@scu.edu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473" y="752787"/>
            <a:ext cx="9144000" cy="1144151"/>
          </a:xfrm>
        </p:spPr>
        <p:txBody>
          <a:bodyPr/>
          <a:lstStyle/>
          <a:p>
            <a:r>
              <a:rPr lang="en-US" dirty="0"/>
              <a:t>CSEN20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11</a:t>
            </a:r>
            <a:br>
              <a:rPr lang="en-US" dirty="0"/>
            </a:br>
            <a:r>
              <a:rPr lang="en-US" dirty="0"/>
              <a:t>Fixed-Point Reals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1: Representation and Arithmetic</a:t>
            </a:r>
          </a:p>
        </p:txBody>
      </p:sp>
    </p:spTree>
    <p:extLst>
      <p:ext uri="{BB962C8B-B14F-4D97-AF65-F5344CB8AC3E}">
        <p14:creationId xmlns:p14="http://schemas.microsoft.com/office/powerpoint/2010/main" val="2462424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3202"/>
            <a:ext cx="5544495" cy="734703"/>
          </a:xfrm>
        </p:spPr>
        <p:txBody>
          <a:bodyPr/>
          <a:lstStyle/>
          <a:p>
            <a:r>
              <a:rPr lang="en-US" dirty="0"/>
              <a:t>Why Fixed-Point Reals?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03691"/>
            <a:ext cx="10365147" cy="4849771"/>
          </a:xfrm>
        </p:spPr>
        <p:txBody>
          <a:bodyPr>
            <a:normAutofit/>
          </a:bodyPr>
          <a:lstStyle/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Many cheap CPU chips designed for embedded applications </a:t>
            </a:r>
            <a:r>
              <a:rPr lang="en-US" b="1" dirty="0">
                <a:solidFill>
                  <a:srgbClr val="FF0000"/>
                </a:solidFill>
              </a:rPr>
              <a:t>do not have a FPU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Software libraries that emulate a FPU </a:t>
            </a:r>
            <a:r>
              <a:rPr lang="en-US" b="1" dirty="0">
                <a:solidFill>
                  <a:srgbClr val="00B050"/>
                </a:solidFill>
              </a:rPr>
              <a:t>can be </a:t>
            </a:r>
            <a:r>
              <a:rPr lang="en-US" dirty="0">
                <a:solidFill>
                  <a:schemeClr val="tx1"/>
                </a:solidFill>
              </a:rPr>
              <a:t>used but are </a:t>
            </a:r>
            <a:r>
              <a:rPr lang="en-US" b="1" dirty="0">
                <a:solidFill>
                  <a:srgbClr val="FF0000"/>
                </a:solidFill>
              </a:rPr>
              <a:t>slow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Many embedded applications are </a:t>
            </a:r>
            <a:r>
              <a:rPr lang="en-US" b="1" dirty="0">
                <a:solidFill>
                  <a:srgbClr val="FF0000"/>
                </a:solidFill>
              </a:rPr>
              <a:t>multi-threaded:</a:t>
            </a:r>
            <a:r>
              <a:rPr lang="en-US" dirty="0"/>
              <a:t> </a:t>
            </a:r>
          </a:p>
          <a:p>
            <a:pPr lvl="1"/>
            <a:endParaRPr lang="en-US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Using a FPU significantly increases the context-switch time.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Preserve S0 – S31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16855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3202"/>
            <a:ext cx="6523063" cy="686577"/>
          </a:xfrm>
        </p:spPr>
        <p:txBody>
          <a:bodyPr/>
          <a:lstStyle/>
          <a:p>
            <a:r>
              <a:rPr lang="en-US" dirty="0"/>
              <a:t>What Are Fixed-Point Reals?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A way to represent a real number using an integer.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Integers imply a binary point at the far right.</a:t>
            </a:r>
          </a:p>
          <a:p>
            <a:pPr marL="341313" lvl="1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741363" lvl="2" indent="0">
              <a:buNone/>
            </a:pPr>
            <a:r>
              <a:rPr lang="en-US" dirty="0">
                <a:solidFill>
                  <a:schemeClr val="tx1"/>
                </a:solidFill>
              </a:rPr>
              <a:t>Binary point far right:	00101101</a:t>
            </a:r>
            <a:r>
              <a:rPr lang="en-US" sz="2800" b="1" dirty="0">
                <a:solidFill>
                  <a:srgbClr val="FF0000"/>
                </a:solidFill>
              </a:rPr>
              <a:t>.</a:t>
            </a:r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	+45</a:t>
            </a:r>
            <a:r>
              <a:rPr lang="en-US" baseline="-25000" dirty="0">
                <a:solidFill>
                  <a:schemeClr val="tx1"/>
                </a:solidFill>
                <a:sym typeface="Wingdings" panose="05000000000000000000" pitchFamily="2" charset="2"/>
              </a:rPr>
              <a:t>10</a:t>
            </a:r>
            <a:endParaRPr lang="en-US" dirty="0">
              <a:solidFill>
                <a:schemeClr val="tx1"/>
              </a:solidFill>
              <a:sym typeface="Wingdings" panose="05000000000000000000" pitchFamily="2" charset="2"/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We can </a:t>
            </a:r>
            <a:r>
              <a:rPr lang="en-US" i="1" dirty="0">
                <a:solidFill>
                  <a:schemeClr val="tx1"/>
                </a:solidFill>
              </a:rPr>
              <a:t>imagine</a:t>
            </a:r>
            <a:r>
              <a:rPr lang="en-US" dirty="0">
                <a:solidFill>
                  <a:schemeClr val="tx1"/>
                </a:solidFill>
              </a:rPr>
              <a:t> the binary point to be anywhere:</a:t>
            </a:r>
          </a:p>
          <a:p>
            <a:pPr marL="1257300" lvl="3" indent="0">
              <a:buNone/>
            </a:pPr>
            <a:endParaRPr lang="en-US" dirty="0">
              <a:solidFill>
                <a:schemeClr val="tx1"/>
              </a:solidFill>
              <a:sym typeface="Wingdings" panose="05000000000000000000" pitchFamily="2" charset="2"/>
            </a:endParaRPr>
          </a:p>
          <a:p>
            <a:pPr marL="800100" lvl="2" indent="0">
              <a:buNone/>
            </a:pP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Binary point midway:	0010</a:t>
            </a:r>
            <a:r>
              <a:rPr lang="en-US" sz="2800" b="1" dirty="0">
                <a:solidFill>
                  <a:srgbClr val="FF0000"/>
                </a:solidFill>
                <a:sym typeface="Wingdings" panose="05000000000000000000" pitchFamily="2" charset="2"/>
              </a:rPr>
              <a:t>.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1101		+2.8125</a:t>
            </a:r>
            <a:r>
              <a:rPr lang="en-US" baseline="-25000" dirty="0">
                <a:solidFill>
                  <a:schemeClr val="tx1"/>
                </a:solidFill>
                <a:sym typeface="Wingdings" panose="05000000000000000000" pitchFamily="2" charset="2"/>
              </a:rPr>
              <a:t>10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936516" y="3297455"/>
            <a:ext cx="7162800" cy="60960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936516" y="4916662"/>
            <a:ext cx="7162800" cy="60960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120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8118"/>
            <a:ext cx="9715442" cy="618126"/>
          </a:xfrm>
        </p:spPr>
        <p:txBody>
          <a:bodyPr>
            <a:normAutofit/>
          </a:bodyPr>
          <a:lstStyle/>
          <a:p>
            <a:r>
              <a:rPr lang="en-US" sz="3200" dirty="0"/>
              <a:t>Q FORMAT AND THE IMAGINARY BINARY POINT 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83375"/>
            <a:ext cx="10417284" cy="38358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A way to specify the position of the binary point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“Q” followed by the number of bits to the right of the binary point: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Sometimes use </a:t>
            </a:r>
            <a:r>
              <a:rPr lang="en-US" dirty="0" err="1">
                <a:solidFill>
                  <a:schemeClr val="tx1"/>
                </a:solidFill>
              </a:rPr>
              <a:t>Q</a:t>
            </a:r>
            <a:r>
              <a:rPr lang="en-US" b="1" dirty="0" err="1">
                <a:solidFill>
                  <a:srgbClr val="00B050"/>
                </a:solidFill>
              </a:rPr>
              <a:t>m</a:t>
            </a:r>
            <a:r>
              <a:rPr lang="en-US" dirty="0" err="1">
                <a:solidFill>
                  <a:schemeClr val="tx1"/>
                </a:solidFill>
              </a:rPr>
              <a:t>.</a:t>
            </a:r>
            <a:r>
              <a:rPr lang="en-US" b="1" dirty="0" err="1">
                <a:solidFill>
                  <a:srgbClr val="FF0000"/>
                </a:solidFill>
              </a:rPr>
              <a:t>n</a:t>
            </a:r>
            <a:r>
              <a:rPr lang="en-US" dirty="0">
                <a:solidFill>
                  <a:schemeClr val="tx1"/>
                </a:solidFill>
              </a:rPr>
              <a:t>, where</a:t>
            </a:r>
            <a:r>
              <a:rPr lang="en-US" dirty="0"/>
              <a:t> </a:t>
            </a:r>
            <a:r>
              <a:rPr lang="en-US" b="1" dirty="0">
                <a:solidFill>
                  <a:srgbClr val="00B050"/>
                </a:solidFill>
              </a:rPr>
              <a:t>m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= # </a:t>
            </a:r>
            <a:r>
              <a:rPr lang="en-US" b="1" dirty="0">
                <a:solidFill>
                  <a:srgbClr val="00B050"/>
                </a:solidFill>
              </a:rPr>
              <a:t>integer</a:t>
            </a:r>
            <a:r>
              <a:rPr lang="en-US" dirty="0">
                <a:solidFill>
                  <a:schemeClr val="tx1"/>
                </a:solidFill>
              </a:rPr>
              <a:t> bits and </a:t>
            </a:r>
            <a:r>
              <a:rPr lang="en-US" b="1" dirty="0">
                <a:solidFill>
                  <a:srgbClr val="FF0000"/>
                </a:solidFill>
              </a:rPr>
              <a:t>n</a:t>
            </a:r>
            <a:r>
              <a:rPr lang="en-US" dirty="0">
                <a:solidFill>
                  <a:schemeClr val="tx1"/>
                </a:solidFill>
              </a:rPr>
              <a:t> = # </a:t>
            </a:r>
            <a:r>
              <a:rPr lang="en-US" b="1" dirty="0">
                <a:solidFill>
                  <a:srgbClr val="FF0000"/>
                </a:solidFill>
              </a:rPr>
              <a:t>fractional</a:t>
            </a:r>
            <a:r>
              <a:rPr lang="en-US" dirty="0">
                <a:solidFill>
                  <a:schemeClr val="tx1"/>
                </a:solidFill>
              </a:rPr>
              <a:t> bits.</a:t>
            </a:r>
            <a:r>
              <a:rPr lang="en-US" dirty="0"/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1160837"/>
              </p:ext>
            </p:extLst>
          </p:nvPr>
        </p:nvGraphicFramePr>
        <p:xfrm>
          <a:off x="1511970" y="2933751"/>
          <a:ext cx="7315203" cy="1770063"/>
        </p:xfrm>
        <a:graphic>
          <a:graphicData uri="http://schemas.openxmlformats.org/drawingml/2006/table">
            <a:tbl>
              <a:tblPr firstRow="1" firstCol="1" bandRow="1"/>
              <a:tblGrid>
                <a:gridCol w="17666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0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17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54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13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694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Integer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Q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Implied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Interpretation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+71</a:t>
                      </a:r>
                      <a:r>
                        <a:rPr lang="en-US" sz="1800" baseline="-25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18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Calibri"/>
                        <a:cs typeface="Calibri"/>
                      </a:endParaRP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(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01000111</a:t>
                      </a:r>
                      <a:r>
                        <a:rPr lang="en-US" sz="1800" baseline="-25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2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)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Q0</a:t>
                      </a: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01000111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.</a:t>
                      </a:r>
                      <a:endParaRPr lang="en-US" sz="1800" b="1" dirty="0">
                        <a:solidFill>
                          <a:schemeClr val="tx1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Arial" panose="020B0604020202020204" pitchFamily="34" charset="0"/>
                        </a:rPr>
                        <a:t>+71/2</a:t>
                      </a:r>
                      <a:r>
                        <a:rPr lang="en-US" sz="1800" b="1" baseline="30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Arial"/>
                          <a:cs typeface="Arial" panose="020B0604020202020204" pitchFamily="34" charset="0"/>
                        </a:rPr>
                        <a:t>0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Arial" panose="020B0604020202020204" pitchFamily="34" charset="0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Arial" panose="020B0604020202020204" pitchFamily="34" charset="0"/>
                        </a:rPr>
                        <a:t>=</a:t>
                      </a:r>
                    </a:p>
                  </a:txBody>
                  <a:tcPr marL="0" marR="0" marT="36830" marB="3683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Arial" panose="020B0604020202020204" pitchFamily="34" charset="0"/>
                        </a:rPr>
                        <a:t>+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Arial" panose="020B0604020202020204" pitchFamily="34" charset="0"/>
                        </a:rPr>
                        <a:t>71.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Arial" panose="020B0604020202020204" pitchFamily="34" charset="0"/>
                        </a:rPr>
                        <a:t>00000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Arial" panose="020B0604020202020204" pitchFamily="34" charset="0"/>
                        </a:rPr>
                        <a:t>10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Arial" panose="020B0604020202020204" pitchFamily="34" charset="0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Q3</a:t>
                      </a: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01000</a:t>
                      </a:r>
                      <a:r>
                        <a:rPr lang="en-US" sz="1800" b="1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.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111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+71/2</a:t>
                      </a:r>
                      <a:r>
                        <a:rPr lang="en-US" sz="1800" b="1" baseline="30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3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Arial" panose="020B0604020202020204" pitchFamily="34" charset="0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= 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Arial" panose="020B0604020202020204" pitchFamily="34" charset="0"/>
                      </a:endParaRPr>
                    </a:p>
                  </a:txBody>
                  <a:tcPr marL="0" marR="0" marT="36830" marB="3683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  8.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87500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−56</a:t>
                      </a:r>
                      <a:r>
                        <a:rPr lang="en-US" sz="1800" baseline="-25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10</a:t>
                      </a:r>
                      <a:endParaRPr lang="en-US" sz="18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(11001000</a:t>
                      </a:r>
                      <a:r>
                        <a:rPr lang="en-US" sz="1800" baseline="-25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2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)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Q2</a:t>
                      </a: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110010</a:t>
                      </a:r>
                      <a:r>
                        <a:rPr lang="en-US" sz="1800" b="1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.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00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−56/2</a:t>
                      </a:r>
                      <a:r>
                        <a:rPr lang="en-US" sz="1800" b="1" baseline="30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2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Arial" panose="020B0604020202020204" pitchFamily="34" charset="0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Arial" panose="020B0604020202020204" pitchFamily="34" charset="0"/>
                        </a:rPr>
                        <a:t>=</a:t>
                      </a:r>
                    </a:p>
                  </a:txBody>
                  <a:tcPr marL="0" marR="0" marT="36830" marB="3683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−14.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00000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Q5</a:t>
                      </a:r>
                      <a:endParaRPr lang="en-US" sz="1800" b="1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110</a:t>
                      </a:r>
                      <a:r>
                        <a:rPr lang="en-US" sz="1800" b="1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.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01000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−56/2</a:t>
                      </a:r>
                      <a:r>
                        <a:rPr lang="en-US" sz="1800" b="1" baseline="30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5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Arial" panose="020B0604020202020204" pitchFamily="34" charset="0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Arial" panose="020B0604020202020204" pitchFamily="34" charset="0"/>
                        </a:rPr>
                        <a:t>=</a:t>
                      </a:r>
                    </a:p>
                  </a:txBody>
                  <a:tcPr marL="0" marR="0" marT="36830" marB="3683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−  1.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75000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295021" y="3309805"/>
            <a:ext cx="603885" cy="369332"/>
          </a:xfrm>
          <a:prstGeom prst="rect">
            <a:avLst/>
          </a:prstGeom>
          <a:solidFill>
            <a:schemeClr val="bg1"/>
          </a:solidFill>
        </p:spPr>
        <p:txBody>
          <a:bodyPr wrap="square" lIns="0" rIns="0">
            <a:spAutoFit/>
          </a:bodyPr>
          <a:lstStyle/>
          <a:p>
            <a:pPr algn="ctr"/>
            <a:r>
              <a:rPr lang="en-US" b="1" dirty="0"/>
              <a:t>Q</a:t>
            </a:r>
            <a:r>
              <a:rPr lang="en-US" b="1" dirty="0">
                <a:solidFill>
                  <a:srgbClr val="00B050"/>
                </a:solidFill>
              </a:rPr>
              <a:t>8</a:t>
            </a:r>
            <a:r>
              <a:rPr lang="en-US" b="1" dirty="0"/>
              <a:t>.</a:t>
            </a:r>
            <a:r>
              <a:rPr lang="en-US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5021" y="3676186"/>
            <a:ext cx="603885" cy="369332"/>
          </a:xfrm>
          <a:prstGeom prst="rect">
            <a:avLst/>
          </a:prstGeom>
          <a:solidFill>
            <a:schemeClr val="bg1"/>
          </a:solidFill>
        </p:spPr>
        <p:txBody>
          <a:bodyPr wrap="square" lIns="0" rIns="0">
            <a:spAutoFit/>
          </a:bodyPr>
          <a:lstStyle/>
          <a:p>
            <a:pPr algn="ctr"/>
            <a:r>
              <a:rPr lang="en-US" b="1" dirty="0"/>
              <a:t>Q</a:t>
            </a:r>
            <a:r>
              <a:rPr lang="en-US" b="1" dirty="0">
                <a:solidFill>
                  <a:srgbClr val="00B050"/>
                </a:solidFill>
              </a:rPr>
              <a:t>5</a:t>
            </a:r>
            <a:r>
              <a:rPr lang="en-US" b="1" dirty="0"/>
              <a:t>.</a:t>
            </a:r>
            <a:r>
              <a:rPr lang="en-US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5037" y="4033050"/>
            <a:ext cx="603885" cy="369332"/>
          </a:xfrm>
          <a:prstGeom prst="rect">
            <a:avLst/>
          </a:prstGeom>
          <a:solidFill>
            <a:schemeClr val="bg1"/>
          </a:solidFill>
        </p:spPr>
        <p:txBody>
          <a:bodyPr wrap="square" lIns="0" rIns="0">
            <a:spAutoFit/>
          </a:bodyPr>
          <a:lstStyle/>
          <a:p>
            <a:pPr algn="ctr"/>
            <a:r>
              <a:rPr lang="en-US" b="1" dirty="0"/>
              <a:t>Q</a:t>
            </a:r>
            <a:r>
              <a:rPr lang="en-US" b="1" dirty="0">
                <a:solidFill>
                  <a:srgbClr val="00B050"/>
                </a:solidFill>
              </a:rPr>
              <a:t>6</a:t>
            </a:r>
            <a:r>
              <a:rPr lang="en-US" b="1" dirty="0"/>
              <a:t>.</a:t>
            </a:r>
            <a:r>
              <a:rPr lang="en-US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5021" y="4418837"/>
            <a:ext cx="603885" cy="369332"/>
          </a:xfrm>
          <a:prstGeom prst="rect">
            <a:avLst/>
          </a:prstGeom>
          <a:solidFill>
            <a:schemeClr val="bg1"/>
          </a:solidFill>
        </p:spPr>
        <p:txBody>
          <a:bodyPr wrap="square" lIns="0" rIns="0">
            <a:spAutoFit/>
          </a:bodyPr>
          <a:lstStyle/>
          <a:p>
            <a:pPr algn="ctr"/>
            <a:r>
              <a:rPr lang="en-US" b="1" dirty="0"/>
              <a:t>Q</a:t>
            </a:r>
            <a:r>
              <a:rPr lang="en-US" b="1" dirty="0">
                <a:solidFill>
                  <a:srgbClr val="00B050"/>
                </a:solidFill>
              </a:rPr>
              <a:t>3</a:t>
            </a:r>
            <a:r>
              <a:rPr lang="en-US" b="1" dirty="0"/>
              <a:t>.</a:t>
            </a:r>
            <a:r>
              <a:rPr lang="en-US" b="1" dirty="0">
                <a:solidFill>
                  <a:srgbClr val="FF0000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7088680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838" y="733150"/>
            <a:ext cx="10417284" cy="662513"/>
          </a:xfrm>
        </p:spPr>
        <p:txBody>
          <a:bodyPr>
            <a:normAutofit/>
          </a:bodyPr>
          <a:lstStyle/>
          <a:p>
            <a:r>
              <a:rPr lang="en-US" sz="2800" dirty="0"/>
              <a:t>ADDITION AND SUBTRACTION OF FIXED-POINT REALS 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61161"/>
            <a:ext cx="8229600" cy="4525963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Easy as long as operands have same Q format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Just use regular </a:t>
            </a:r>
            <a:r>
              <a:rPr lang="en-US" u="sng" dirty="0">
                <a:solidFill>
                  <a:schemeClr val="tx1"/>
                </a:solidFill>
              </a:rPr>
              <a:t>integer</a:t>
            </a:r>
            <a:r>
              <a:rPr lang="en-US" dirty="0">
                <a:solidFill>
                  <a:schemeClr val="tx1"/>
                </a:solidFill>
              </a:rPr>
              <a:t> addition or subtraction: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4127243"/>
              </p:ext>
            </p:extLst>
          </p:nvPr>
        </p:nvGraphicFramePr>
        <p:xfrm>
          <a:off x="2304449" y="2109024"/>
          <a:ext cx="7315200" cy="1182371"/>
        </p:xfrm>
        <a:graphic>
          <a:graphicData uri="http://schemas.openxmlformats.org/drawingml/2006/table">
            <a:tbl>
              <a:tblPr firstRow="1" firstCol="1" bandRow="1"/>
              <a:tblGrid>
                <a:gridCol w="170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81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75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38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51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6531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Operand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Integer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Q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Interpretation</a:t>
                      </a: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A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+30</a:t>
                      </a:r>
                      <a:r>
                        <a:rPr lang="en-US" sz="20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Q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3</a:t>
                      </a:r>
                      <a:endParaRPr lang="en-US" sz="20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+30/2</a:t>
                      </a:r>
                      <a:r>
                        <a:rPr lang="en-US" sz="2000" b="1" baseline="30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3</a:t>
                      </a:r>
                      <a:endParaRPr lang="en-US" sz="20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=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+3.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750</a:t>
                      </a:r>
                      <a:r>
                        <a:rPr lang="en-US" sz="20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B</a:t>
                      </a:r>
                      <a:endParaRPr lang="en-US" sz="200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−54</a:t>
                      </a:r>
                      <a:r>
                        <a:rPr lang="en-US" sz="20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Q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3</a:t>
                      </a:r>
                      <a:endParaRPr lang="en-US" sz="20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-54/2</a:t>
                      </a:r>
                      <a:r>
                        <a:rPr lang="en-US" sz="2000" b="1" baseline="30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3</a:t>
                      </a:r>
                      <a:endParaRPr lang="en-US" sz="20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=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−6.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750</a:t>
                      </a:r>
                      <a:r>
                        <a:rPr lang="en-US" sz="20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4410502"/>
              </p:ext>
            </p:extLst>
          </p:nvPr>
        </p:nvGraphicFramePr>
        <p:xfrm>
          <a:off x="905565" y="4739640"/>
          <a:ext cx="7315200" cy="787972"/>
        </p:xfrm>
        <a:graphic>
          <a:graphicData uri="http://schemas.openxmlformats.org/drawingml/2006/table">
            <a:tbl>
              <a:tblPr firstRow="1" firstCol="1" bandRow="1"/>
              <a:tblGrid>
                <a:gridCol w="170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81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75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38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51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6531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Result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Integer</a:t>
                      </a:r>
                      <a:endParaRPr lang="en-US" sz="240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Q</a:t>
                      </a:r>
                      <a:endParaRPr lang="en-US" sz="240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Interpretation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A+B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−24</a:t>
                      </a:r>
                      <a:r>
                        <a:rPr lang="en-US" sz="20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Q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3</a:t>
                      </a:r>
                      <a:endParaRPr lang="en-US" sz="20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-24/2</a:t>
                      </a:r>
                      <a:r>
                        <a:rPr lang="en-US" sz="2000" b="1" baseline="30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3</a:t>
                      </a:r>
                      <a:endParaRPr lang="en-US" sz="20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=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 −3.000</a:t>
                      </a:r>
                      <a:r>
                        <a:rPr lang="en-US" sz="20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3918587"/>
              </p:ext>
            </p:extLst>
          </p:nvPr>
        </p:nvGraphicFramePr>
        <p:xfrm>
          <a:off x="905565" y="5577840"/>
          <a:ext cx="7315200" cy="394399"/>
        </p:xfrm>
        <a:graphic>
          <a:graphicData uri="http://schemas.openxmlformats.org/drawingml/2006/table">
            <a:tbl>
              <a:tblPr firstRow="1" firstCol="1" bandRow="1"/>
              <a:tblGrid>
                <a:gridCol w="170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81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75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38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51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6531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A−B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+84</a:t>
                      </a:r>
                      <a:r>
                        <a:rPr lang="en-US" sz="20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Q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3</a:t>
                      </a:r>
                      <a:endParaRPr lang="en-US" sz="20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+84/2</a:t>
                      </a:r>
                      <a:r>
                        <a:rPr lang="en-US" sz="2000" b="1" baseline="30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3</a:t>
                      </a:r>
                      <a:endParaRPr lang="en-US" sz="20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=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+10.500</a:t>
                      </a:r>
                      <a:r>
                        <a:rPr lang="en-US" sz="20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8" name="Straight Arrow Connector 7"/>
          <p:cNvCxnSpPr/>
          <p:nvPr/>
        </p:nvCxnSpPr>
        <p:spPr>
          <a:xfrm flipV="1">
            <a:off x="1632284" y="2848999"/>
            <a:ext cx="6710671" cy="2353290"/>
          </a:xfrm>
          <a:prstGeom prst="straightConnector1">
            <a:avLst/>
          </a:prstGeom>
          <a:ln w="1905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flipV="1">
            <a:off x="1981200" y="3264635"/>
            <a:ext cx="6452440" cy="2011544"/>
          </a:xfrm>
          <a:prstGeom prst="straightConnector1">
            <a:avLst/>
          </a:prstGeom>
          <a:ln w="1905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6859241" y="5189387"/>
            <a:ext cx="1266082" cy="355936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323561" y="5162042"/>
            <a:ext cx="3359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+3.</a:t>
            </a:r>
            <a:r>
              <a:rPr lang="en-US" b="1" dirty="0">
                <a:solidFill>
                  <a:srgbClr val="FF0000"/>
                </a:solidFill>
              </a:rPr>
              <a:t>750</a:t>
            </a:r>
            <a:r>
              <a:rPr lang="en-US" dirty="0"/>
              <a:t> + (-)6.</a:t>
            </a:r>
            <a:r>
              <a:rPr lang="en-US" b="1" dirty="0">
                <a:solidFill>
                  <a:srgbClr val="FF0000"/>
                </a:solidFill>
              </a:rPr>
              <a:t>750</a:t>
            </a:r>
            <a:r>
              <a:rPr lang="en-US" dirty="0"/>
              <a:t> =   -3.</a:t>
            </a:r>
            <a:r>
              <a:rPr lang="en-US" b="1" dirty="0">
                <a:solidFill>
                  <a:srgbClr val="FF0000"/>
                </a:solidFill>
              </a:rPr>
              <a:t>000</a:t>
            </a:r>
            <a:r>
              <a:rPr lang="en-US" baseline="-25000" dirty="0">
                <a:solidFill>
                  <a:srgbClr val="000000"/>
                </a:solidFill>
                <a:ea typeface="Calibri"/>
                <a:cs typeface="Calibri"/>
              </a:rPr>
              <a:t>10</a:t>
            </a:r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8285573" y="5605264"/>
            <a:ext cx="32727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+3.</a:t>
            </a:r>
            <a:r>
              <a:rPr lang="en-US" b="1" dirty="0">
                <a:solidFill>
                  <a:srgbClr val="FF0000"/>
                </a:solidFill>
              </a:rPr>
              <a:t>750</a:t>
            </a:r>
            <a:r>
              <a:rPr lang="en-US" dirty="0"/>
              <a:t> – (-)6.</a:t>
            </a:r>
            <a:r>
              <a:rPr lang="en-US" b="1" dirty="0">
                <a:solidFill>
                  <a:srgbClr val="FF0000"/>
                </a:solidFill>
              </a:rPr>
              <a:t>750</a:t>
            </a:r>
            <a:r>
              <a:rPr lang="en-US" dirty="0"/>
              <a:t> = +10.</a:t>
            </a:r>
            <a:r>
              <a:rPr lang="en-US" b="1" dirty="0">
                <a:solidFill>
                  <a:srgbClr val="FF0000"/>
                </a:solidFill>
              </a:rPr>
              <a:t>500</a:t>
            </a:r>
            <a:r>
              <a:rPr lang="en-US" baseline="-25000" dirty="0">
                <a:solidFill>
                  <a:srgbClr val="000000"/>
                </a:solidFill>
                <a:ea typeface="Calibri"/>
                <a:cs typeface="Calibri"/>
              </a:rPr>
              <a:t>10</a:t>
            </a:r>
            <a:endParaRPr lang="en-US" dirty="0"/>
          </a:p>
        </p:txBody>
      </p:sp>
      <p:sp>
        <p:nvSpPr>
          <p:cNvPr id="15" name="Rectangle 14"/>
          <p:cNvSpPr/>
          <p:nvPr/>
        </p:nvSpPr>
        <p:spPr>
          <a:xfrm>
            <a:off x="6859241" y="5593846"/>
            <a:ext cx="1266081" cy="40122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9619649" y="2558850"/>
            <a:ext cx="20630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+30/8 =   -3.</a:t>
            </a:r>
            <a:r>
              <a:rPr lang="en-US" b="1" dirty="0">
                <a:solidFill>
                  <a:srgbClr val="FF0000"/>
                </a:solidFill>
              </a:rPr>
              <a:t>750</a:t>
            </a:r>
            <a:r>
              <a:rPr lang="en-US" baseline="-25000" dirty="0">
                <a:solidFill>
                  <a:srgbClr val="000000"/>
                </a:solidFill>
                <a:ea typeface="Calibri"/>
                <a:cs typeface="Calibri"/>
              </a:rPr>
              <a:t>10</a:t>
            </a:r>
            <a:endParaRPr lang="en-US" dirty="0"/>
          </a:p>
        </p:txBody>
      </p:sp>
      <p:sp>
        <p:nvSpPr>
          <p:cNvPr id="18" name="TextBox 17"/>
          <p:cNvSpPr txBox="1"/>
          <p:nvPr/>
        </p:nvSpPr>
        <p:spPr>
          <a:xfrm>
            <a:off x="9663764" y="2968429"/>
            <a:ext cx="20630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-54/8 =   -6.</a:t>
            </a:r>
            <a:r>
              <a:rPr lang="en-US" b="1" dirty="0">
                <a:solidFill>
                  <a:srgbClr val="FF0000"/>
                </a:solidFill>
              </a:rPr>
              <a:t>750</a:t>
            </a:r>
            <a:r>
              <a:rPr lang="en-US" baseline="-25000" dirty="0">
                <a:solidFill>
                  <a:srgbClr val="000000"/>
                </a:solidFill>
                <a:ea typeface="Calibri"/>
                <a:cs typeface="Calibri"/>
              </a:rPr>
              <a:t>10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10742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838" y="725128"/>
            <a:ext cx="10417284" cy="610377"/>
          </a:xfrm>
        </p:spPr>
        <p:txBody>
          <a:bodyPr>
            <a:normAutofit/>
          </a:bodyPr>
          <a:lstStyle/>
          <a:p>
            <a:r>
              <a:rPr lang="en-US" sz="2800" dirty="0"/>
              <a:t>ADDITION AND SUBTRACTION OF FIXED-POINT REALS 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2526" y="1657149"/>
            <a:ext cx="10372595" cy="4976261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Pre-align operands with </a:t>
            </a:r>
            <a:r>
              <a:rPr lang="en-US" b="1" dirty="0">
                <a:solidFill>
                  <a:srgbClr val="FF0000"/>
                </a:solidFill>
              </a:rPr>
              <a:t>different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Q formats: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Shift the operand with fewer fractional bits left: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8055657"/>
              </p:ext>
            </p:extLst>
          </p:nvPr>
        </p:nvGraphicFramePr>
        <p:xfrm>
          <a:off x="2468880" y="2346960"/>
          <a:ext cx="7315200" cy="1182371"/>
        </p:xfrm>
        <a:graphic>
          <a:graphicData uri="http://schemas.openxmlformats.org/drawingml/2006/table">
            <a:tbl>
              <a:tblPr firstRow="1" firstCol="1" bandRow="1"/>
              <a:tblGrid>
                <a:gridCol w="170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81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75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38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51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6531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Operand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Integer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Q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Interpretation</a:t>
                      </a: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A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+30</a:t>
                      </a:r>
                      <a:r>
                        <a:rPr lang="en-US" sz="20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Q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3</a:t>
                      </a:r>
                      <a:endParaRPr lang="en-US" sz="20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+30/2</a:t>
                      </a:r>
                      <a:r>
                        <a:rPr lang="en-US" sz="2000" b="1" baseline="30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3</a:t>
                      </a:r>
                      <a:endParaRPr lang="en-US" sz="20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=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+3.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75</a:t>
                      </a:r>
                      <a:r>
                        <a:rPr lang="en-US" sz="20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B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−54</a:t>
                      </a:r>
                      <a:r>
                        <a:rPr lang="en-US" sz="20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Q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5</a:t>
                      </a:r>
                      <a:endParaRPr lang="en-US" sz="20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-54/2</a:t>
                      </a:r>
                      <a:r>
                        <a:rPr lang="en-US" sz="2000" b="1" baseline="30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5</a:t>
                      </a:r>
                      <a:endParaRPr lang="en-US" sz="20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=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−1.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6875</a:t>
                      </a:r>
                      <a:r>
                        <a:rPr lang="en-US" sz="20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9868888"/>
              </p:ext>
            </p:extLst>
          </p:nvPr>
        </p:nvGraphicFramePr>
        <p:xfrm>
          <a:off x="2453640" y="5654040"/>
          <a:ext cx="7315200" cy="787972"/>
        </p:xfrm>
        <a:graphic>
          <a:graphicData uri="http://schemas.openxmlformats.org/drawingml/2006/table">
            <a:tbl>
              <a:tblPr firstRow="1" firstCol="1" bandRow="1"/>
              <a:tblGrid>
                <a:gridCol w="170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81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75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38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51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6531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Result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Integer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Q</a:t>
                      </a:r>
                      <a:endParaRPr lang="en-US" sz="240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Interpretation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A+B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+66</a:t>
                      </a:r>
                      <a:r>
                        <a:rPr lang="en-US" sz="20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Q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5</a:t>
                      </a:r>
                      <a:endParaRPr lang="en-US" sz="20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+66/2</a:t>
                      </a:r>
                      <a:r>
                        <a:rPr lang="en-US" sz="2000" b="1" baseline="30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5</a:t>
                      </a:r>
                      <a:endParaRPr lang="en-US" sz="20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=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+2.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0625</a:t>
                      </a:r>
                      <a:r>
                        <a:rPr lang="en-US" sz="20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0020989"/>
              </p:ext>
            </p:extLst>
          </p:nvPr>
        </p:nvGraphicFramePr>
        <p:xfrm>
          <a:off x="2453640" y="4389120"/>
          <a:ext cx="7315200" cy="1182371"/>
        </p:xfrm>
        <a:graphic>
          <a:graphicData uri="http://schemas.openxmlformats.org/drawingml/2006/table">
            <a:tbl>
              <a:tblPr firstRow="1" firstCol="1" bandRow="1"/>
              <a:tblGrid>
                <a:gridCol w="170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81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75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38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51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6531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Operand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Integer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Q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Interpretation</a:t>
                      </a:r>
                    </a:p>
                  </a:txBody>
                  <a:tcPr marL="68580" marR="6858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A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+120</a:t>
                      </a:r>
                      <a:r>
                        <a:rPr lang="en-US" sz="20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Q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5</a:t>
                      </a:r>
                      <a:endParaRPr lang="en-US" sz="20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+120/2</a:t>
                      </a:r>
                      <a:r>
                        <a:rPr lang="en-US" sz="2000" b="1" baseline="30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5</a:t>
                      </a:r>
                      <a:endParaRPr lang="en-US" sz="20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=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+3.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75</a:t>
                      </a:r>
                      <a:r>
                        <a:rPr lang="en-US" sz="20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B</a:t>
                      </a:r>
                      <a:endParaRPr lang="en-US" sz="200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−54</a:t>
                      </a:r>
                      <a:r>
                        <a:rPr lang="en-US" sz="20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Q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5</a:t>
                      </a:r>
                      <a:endParaRPr lang="en-US" sz="20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-54/2</a:t>
                      </a:r>
                      <a:r>
                        <a:rPr lang="en-US" sz="2000" b="1" baseline="30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5</a:t>
                      </a:r>
                      <a:endParaRPr lang="en-US" sz="20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=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−1.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6875</a:t>
                      </a:r>
                      <a:r>
                        <a:rPr lang="en-US" sz="20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876269" y="2771952"/>
            <a:ext cx="486431" cy="3054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5876269" y="4814187"/>
            <a:ext cx="486431" cy="3054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469380" y="3817866"/>
            <a:ext cx="55175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* </a:t>
            </a:r>
            <a:r>
              <a:rPr lang="en-US" b="1" dirty="0">
                <a:ea typeface="Calibri"/>
                <a:cs typeface="Calibri"/>
              </a:rPr>
              <a:t>2</a:t>
            </a:r>
            <a:r>
              <a:rPr lang="en-US" b="1" baseline="30000" dirty="0">
                <a:solidFill>
                  <a:srgbClr val="FF0000"/>
                </a:solidFill>
                <a:ea typeface="Calibri"/>
                <a:cs typeface="Calibri"/>
              </a:rPr>
              <a:t>2</a:t>
            </a:r>
            <a:endParaRPr lang="en-US" b="1" dirty="0">
              <a:solidFill>
                <a:srgbClr val="FF0000"/>
              </a:solidFill>
            </a:endParaRPr>
          </a:p>
        </p:txBody>
      </p:sp>
      <p:cxnSp>
        <p:nvCxnSpPr>
          <p:cNvPr id="11" name="Straight Arrow Connector 10"/>
          <p:cNvCxnSpPr>
            <a:stCxn id="6" idx="1"/>
          </p:cNvCxnSpPr>
          <p:nvPr/>
        </p:nvCxnSpPr>
        <p:spPr>
          <a:xfrm flipH="1">
            <a:off x="5105400" y="4002532"/>
            <a:ext cx="1363980" cy="87833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7021134" y="4028102"/>
            <a:ext cx="667446" cy="8527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436589" y="4833566"/>
            <a:ext cx="943631" cy="305476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7060549" y="3871727"/>
            <a:ext cx="1802096" cy="2616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1100" b="1" dirty="0"/>
              <a:t>Transform to Q</a:t>
            </a:r>
            <a:r>
              <a:rPr lang="en-US" sz="1100" b="1" dirty="0">
                <a:solidFill>
                  <a:srgbClr val="FF0000"/>
                </a:solidFill>
              </a:rPr>
              <a:t>5</a:t>
            </a:r>
            <a:r>
              <a:rPr lang="en-US" sz="1100" b="1" dirty="0"/>
              <a:t> format!</a:t>
            </a:r>
          </a:p>
        </p:txBody>
      </p:sp>
    </p:spTree>
    <p:extLst>
      <p:ext uri="{BB962C8B-B14F-4D97-AF65-F5344CB8AC3E}">
        <p14:creationId xmlns:p14="http://schemas.microsoft.com/office/powerpoint/2010/main" val="21164565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5638800" y="2519214"/>
            <a:ext cx="1234440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 153</a:t>
            </a:r>
          </a:p>
          <a:p>
            <a:r>
              <a:rPr lang="en-US" sz="3200" u="sng" dirty="0">
                <a:latin typeface="Consolas" panose="020B0609020204030204" pitchFamily="49" charset="0"/>
                <a:cs typeface="Consolas" panose="020B0609020204030204" pitchFamily="49" charset="0"/>
              </a:rPr>
              <a:t> ×23</a:t>
            </a:r>
          </a:p>
          <a:p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 459</a:t>
            </a:r>
          </a:p>
          <a:p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306 </a:t>
            </a:r>
          </a:p>
          <a:p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3519</a:t>
            </a:r>
            <a:endParaRPr lang="en-US" sz="32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5784"/>
            <a:ext cx="9599137" cy="691964"/>
          </a:xfrm>
        </p:spPr>
        <p:txBody>
          <a:bodyPr>
            <a:normAutofit/>
          </a:bodyPr>
          <a:lstStyle/>
          <a:p>
            <a:r>
              <a:rPr lang="en-US" dirty="0"/>
              <a:t>MULTIPLICATION OF FIXED-POINT REALS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1703428"/>
            <a:ext cx="10469421" cy="49700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Consider what happens when you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multiply two decimal reals: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1.53	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u="sng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×2.3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endParaRPr lang="en-US" u="sng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5" name="Straight Connector 4"/>
          <p:cNvCxnSpPr/>
          <p:nvPr/>
        </p:nvCxnSpPr>
        <p:spPr>
          <a:xfrm flipV="1">
            <a:off x="5759194" y="4472449"/>
            <a:ext cx="899160" cy="1524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ight Arrow 5"/>
          <p:cNvSpPr/>
          <p:nvPr/>
        </p:nvSpPr>
        <p:spPr>
          <a:xfrm>
            <a:off x="3991154" y="2936032"/>
            <a:ext cx="411480" cy="3048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492244" y="3423394"/>
            <a:ext cx="193167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digits of the product are determined without regard to the decimal points. 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26304" y="4488984"/>
            <a:ext cx="13147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3.519</a:t>
            </a:r>
            <a:endParaRPr lang="en-US" sz="3200" dirty="0"/>
          </a:p>
        </p:txBody>
      </p:sp>
      <p:sp>
        <p:nvSpPr>
          <p:cNvPr id="7" name="Right Arrow 6"/>
          <p:cNvSpPr/>
          <p:nvPr/>
        </p:nvSpPr>
        <p:spPr>
          <a:xfrm>
            <a:off x="7594032" y="4628970"/>
            <a:ext cx="411480" cy="3048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2B9CD1-5B7C-4B6D-BE81-68521D8A4C02}"/>
              </a:ext>
            </a:extLst>
          </p:cNvPr>
          <p:cNvSpPr txBox="1"/>
          <p:nvPr/>
        </p:nvSpPr>
        <p:spPr>
          <a:xfrm>
            <a:off x="7489598" y="2920374"/>
            <a:ext cx="280746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2"/>
            <a:r>
              <a:rPr lang="en-US" dirty="0"/>
              <a:t>Then the decimal point is inserted so that the number of fractional digits is the sum of those in the two operands.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1639332" y="5992484"/>
                <a:ext cx="977365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𝑎𝑑𝑑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𝑡𝑜𝑔𝑒𝑡ℎ𝑒𝑟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𝑡ℎ𝑒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𝑓𝑟𝑎𝑐𝑡𝑖𝑜𝑛𝑎𝑙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𝑑𝑖𝑔𝑖𝑡𝑠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2+1=3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332" y="5992484"/>
                <a:ext cx="9773652" cy="307777"/>
              </a:xfrm>
              <a:prstGeom prst="rect">
                <a:avLst/>
              </a:prstGeom>
              <a:blipFill>
                <a:blip r:embed="rId2"/>
                <a:stretch>
                  <a:fillRect b="-78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/>
          <p:cNvCxnSpPr/>
          <p:nvPr/>
        </p:nvCxnSpPr>
        <p:spPr>
          <a:xfrm flipV="1">
            <a:off x="8277726" y="4933770"/>
            <a:ext cx="870285" cy="1102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12530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25129"/>
            <a:ext cx="9607158" cy="614388"/>
          </a:xfrm>
        </p:spPr>
        <p:txBody>
          <a:bodyPr>
            <a:normAutofit/>
          </a:bodyPr>
          <a:lstStyle/>
          <a:p>
            <a:r>
              <a:rPr lang="en-US" dirty="0"/>
              <a:t>MULTIPLICATION OF FIXED-POINT REALS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Same as in decimal, but Q format changes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The number of fractional bits in the product is the sum of those in the operands.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9496830"/>
              </p:ext>
            </p:extLst>
          </p:nvPr>
        </p:nvGraphicFramePr>
        <p:xfrm>
          <a:off x="2514601" y="2971800"/>
          <a:ext cx="7315201" cy="1749426"/>
        </p:xfrm>
        <a:graphic>
          <a:graphicData uri="http://schemas.openxmlformats.org/drawingml/2006/table">
            <a:tbl>
              <a:tblPr firstRow="1" firstCol="1" bandRow="1"/>
              <a:tblGrid>
                <a:gridCol w="13584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77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71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668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557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793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Operand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Integer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Q</a:t>
                      </a:r>
                      <a:endParaRPr lang="en-US" sz="200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Interpretation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A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14224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+30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Q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3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+30/2</a:t>
                      </a:r>
                      <a:r>
                        <a:rPr lang="en-US" sz="1800" b="1" baseline="30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3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=</a:t>
                      </a:r>
                    </a:p>
                  </a:txBody>
                  <a:tcPr marL="0" marR="0" marT="36830" marB="3683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+3.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7500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B</a:t>
                      </a:r>
                      <a:endParaRPr lang="en-US" sz="180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14224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+51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Q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2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+51/2</a:t>
                      </a:r>
                      <a:r>
                        <a:rPr lang="en-US" sz="1800" b="1" baseline="30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2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=</a:t>
                      </a:r>
                    </a:p>
                  </a:txBody>
                  <a:tcPr marL="0" marR="0" marT="36830" marB="3683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+12.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7500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Result</a:t>
                      </a:r>
                      <a:endParaRPr lang="en-US" sz="200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Integer</a:t>
                      </a:r>
                      <a:endParaRPr lang="en-US" sz="200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Q</a:t>
                      </a:r>
                      <a:endParaRPr lang="en-US" sz="200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Interpretation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A×B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14224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+1530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Q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5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+1530/2</a:t>
                      </a:r>
                      <a:r>
                        <a:rPr lang="en-US" sz="1800" b="1" baseline="30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5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152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=</a:t>
                      </a:r>
                    </a:p>
                  </a:txBody>
                  <a:tcPr marL="0" marR="0" marT="36830" marB="3683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+47.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8125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152" marR="73025" marT="36830" marB="3683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573988" y="3355147"/>
            <a:ext cx="486431" cy="3054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5573987" y="3699079"/>
            <a:ext cx="486431" cy="3054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573986" y="4384874"/>
            <a:ext cx="486431" cy="3054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325202" y="1484355"/>
            <a:ext cx="184043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Add</a:t>
            </a:r>
            <a:r>
              <a:rPr lang="en-US" b="1" dirty="0">
                <a:solidFill>
                  <a:srgbClr val="FF0000"/>
                </a:solidFill>
              </a:rPr>
              <a:t> 3 + 2 </a:t>
            </a:r>
            <a:r>
              <a:rPr lang="en-US" b="1" dirty="0"/>
              <a:t>=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/>
              <a:t>Q</a:t>
            </a:r>
            <a:r>
              <a:rPr lang="en-US" b="1" dirty="0">
                <a:solidFill>
                  <a:srgbClr val="FF0000"/>
                </a:solidFill>
              </a:rPr>
              <a:t>5</a:t>
            </a:r>
          </a:p>
        </p:txBody>
      </p:sp>
      <p:cxnSp>
        <p:nvCxnSpPr>
          <p:cNvPr id="9" name="Straight Arrow Connector 8"/>
          <p:cNvCxnSpPr>
            <a:endCxn id="5" idx="0"/>
          </p:cNvCxnSpPr>
          <p:nvPr/>
        </p:nvCxnSpPr>
        <p:spPr>
          <a:xfrm flipH="1">
            <a:off x="5817204" y="1767509"/>
            <a:ext cx="1197207" cy="15876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flipH="1">
            <a:off x="6096001" y="1767509"/>
            <a:ext cx="1239252" cy="20866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cxnSpLocks/>
            <a:endCxn id="7" idx="3"/>
          </p:cNvCxnSpPr>
          <p:nvPr/>
        </p:nvCxnSpPr>
        <p:spPr>
          <a:xfrm flipH="1">
            <a:off x="6060417" y="1767509"/>
            <a:ext cx="1824278" cy="27701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39336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95403"/>
            <a:ext cx="10417284" cy="3835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Consider what happens when you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divide two decimal reals: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11" name="Table 11">
            <a:extLst>
              <a:ext uri="{FF2B5EF4-FFF2-40B4-BE49-F238E27FC236}">
                <a16:creationId xmlns:a16="http://schemas.microsoft.com/office/drawing/2014/main" id="{EE8B09D2-78D8-4D2B-AB8B-071FD390B2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4688821"/>
              </p:ext>
            </p:extLst>
          </p:nvPr>
        </p:nvGraphicFramePr>
        <p:xfrm>
          <a:off x="5522344" y="2389416"/>
          <a:ext cx="1477705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6530">
                  <a:extLst>
                    <a:ext uri="{9D8B030D-6E8A-4147-A177-3AD203B41FA5}">
                      <a16:colId xmlns:a16="http://schemas.microsoft.com/office/drawing/2014/main" val="2230214872"/>
                    </a:ext>
                  </a:extLst>
                </a:gridCol>
                <a:gridCol w="991175">
                  <a:extLst>
                    <a:ext uri="{9D8B030D-6E8A-4147-A177-3AD203B41FA5}">
                      <a16:colId xmlns:a16="http://schemas.microsoft.com/office/drawing/2014/main" val="16250065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ts val="1600"/>
                        </a:lnSpc>
                      </a:pPr>
                      <a:endParaRPr lang="en-US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00"/>
                        </a:lnSpc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  971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07493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ts val="1600"/>
                        </a:lnSpc>
                      </a:pPr>
                      <a:r>
                        <a:rPr lang="en-US" dirty="0">
                          <a:latin typeface="Consolas" panose="020B0609020204030204" pitchFamily="49" charset="0"/>
                        </a:rPr>
                        <a:t>23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00"/>
                        </a:lnSpc>
                      </a:pPr>
                      <a:r>
                        <a:rPr lang="en-US" dirty="0">
                          <a:latin typeface="Consolas" panose="020B0609020204030204" pitchFamily="49" charset="0"/>
                        </a:rPr>
                        <a:t>22347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5689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ts val="1600"/>
                        </a:lnSpc>
                      </a:pPr>
                      <a:endParaRPr lang="en-US"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00"/>
                        </a:lnSpc>
                      </a:pPr>
                      <a:r>
                        <a:rPr lang="en-US" u="sng" dirty="0">
                          <a:latin typeface="Consolas" panose="020B0609020204030204" pitchFamily="49" charset="0"/>
                        </a:rPr>
                        <a:t>207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5129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ts val="1600"/>
                        </a:lnSpc>
                      </a:pPr>
                      <a:endParaRPr lang="en-US"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00"/>
                        </a:lnSpc>
                      </a:pPr>
                      <a:r>
                        <a:rPr lang="en-US" dirty="0">
                          <a:latin typeface="Consolas" panose="020B0609020204030204" pitchFamily="49" charset="0"/>
                        </a:rPr>
                        <a:t> 164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9284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ts val="1600"/>
                        </a:lnSpc>
                      </a:pPr>
                      <a:endParaRPr lang="en-US"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00"/>
                        </a:lnSpc>
                      </a:pPr>
                      <a:r>
                        <a:rPr lang="en-US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u="sng" dirty="0">
                          <a:latin typeface="Consolas" panose="020B0609020204030204" pitchFamily="49" charset="0"/>
                        </a:rPr>
                        <a:t>161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24582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ts val="1600"/>
                        </a:lnSpc>
                      </a:pPr>
                      <a:endParaRPr lang="en-US"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00"/>
                        </a:lnSpc>
                      </a:pPr>
                      <a:r>
                        <a:rPr lang="en-US" dirty="0">
                          <a:latin typeface="Consolas" panose="020B0609020204030204" pitchFamily="49" charset="0"/>
                        </a:rPr>
                        <a:t>   37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06812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ts val="1600"/>
                        </a:lnSpc>
                      </a:pPr>
                      <a:endParaRPr lang="en-US"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00"/>
                        </a:lnSpc>
                      </a:pPr>
                      <a:r>
                        <a:rPr lang="en-US" dirty="0">
                          <a:latin typeface="Consolas" panose="020B0609020204030204" pitchFamily="49" charset="0"/>
                        </a:rPr>
                        <a:t>   </a:t>
                      </a:r>
                      <a:r>
                        <a:rPr lang="en-US" u="sng" dirty="0">
                          <a:latin typeface="Consolas" panose="020B0609020204030204" pitchFamily="49" charset="0"/>
                        </a:rPr>
                        <a:t>23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2772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ts val="1600"/>
                        </a:lnSpc>
                      </a:pPr>
                      <a:endParaRPr lang="en-US"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00"/>
                        </a:lnSpc>
                      </a:pPr>
                      <a:r>
                        <a:rPr lang="en-US" dirty="0">
                          <a:latin typeface="Consolas" panose="020B0609020204030204" pitchFamily="49" charset="0"/>
                        </a:rPr>
                        <a:t>   14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9717735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6483"/>
            <a:ext cx="7802421" cy="589076"/>
          </a:xfrm>
        </p:spPr>
        <p:txBody>
          <a:bodyPr>
            <a:normAutofit/>
          </a:bodyPr>
          <a:lstStyle/>
          <a:p>
            <a:r>
              <a:rPr lang="en-US" dirty="0"/>
              <a:t>DIVISION OF FIXED-POINT REALS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545437" y="2722314"/>
            <a:ext cx="411480" cy="3048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ight Arrow 6"/>
          <p:cNvSpPr/>
          <p:nvPr/>
        </p:nvSpPr>
        <p:spPr>
          <a:xfrm>
            <a:off x="7413325" y="2756865"/>
            <a:ext cx="411480" cy="304800"/>
          </a:xfrm>
          <a:prstGeom prst="rightArrow">
            <a:avLst>
              <a:gd name="adj1" fmla="val 50000"/>
              <a:gd name="adj2" fmla="val 5849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809066" y="3449727"/>
            <a:ext cx="191082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digits of the quotient are determined without regard to the decimal points. 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97040" y="4452829"/>
            <a:ext cx="1280160" cy="7512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8350874" y="2582461"/>
            <a:ext cx="108876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9.</a:t>
            </a:r>
            <a:r>
              <a:rPr lang="en-US" sz="32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71</a:t>
            </a:r>
            <a:endParaRPr lang="en-US" sz="3200" b="1" dirty="0">
              <a:solidFill>
                <a:srgbClr val="FF0000"/>
              </a:solidFill>
            </a:endParaRPr>
          </a:p>
        </p:txBody>
      </p:sp>
      <p:graphicFrame>
        <p:nvGraphicFramePr>
          <p:cNvPr id="16" name="Table 11">
            <a:extLst>
              <a:ext uri="{FF2B5EF4-FFF2-40B4-BE49-F238E27FC236}">
                <a16:creationId xmlns:a16="http://schemas.microsoft.com/office/drawing/2014/main" id="{2578D84F-095B-4269-BBF3-3F4BCCB95A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3612189"/>
              </p:ext>
            </p:extLst>
          </p:nvPr>
        </p:nvGraphicFramePr>
        <p:xfrm>
          <a:off x="1659702" y="2678214"/>
          <a:ext cx="1735348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358">
                  <a:extLst>
                    <a:ext uri="{9D8B030D-6E8A-4147-A177-3AD203B41FA5}">
                      <a16:colId xmlns:a16="http://schemas.microsoft.com/office/drawing/2014/main" val="2230214872"/>
                    </a:ext>
                  </a:extLst>
                </a:gridCol>
                <a:gridCol w="1163990">
                  <a:extLst>
                    <a:ext uri="{9D8B030D-6E8A-4147-A177-3AD203B41FA5}">
                      <a16:colId xmlns:a16="http://schemas.microsoft.com/office/drawing/2014/main" val="16250065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ts val="1600"/>
                        </a:lnSpc>
                      </a:pPr>
                      <a:r>
                        <a:rPr lang="en-US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2.</a:t>
                      </a:r>
                      <a:r>
                        <a:rPr lang="en-US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00"/>
                        </a:lnSpc>
                      </a:pPr>
                      <a:r>
                        <a:rPr lang="en-US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22.</a:t>
                      </a:r>
                      <a:r>
                        <a:rPr lang="en-US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347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5689211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8E92B1E6-9545-4127-B42A-0194571FED8A}"/>
              </a:ext>
            </a:extLst>
          </p:cNvPr>
          <p:cNvSpPr txBox="1"/>
          <p:nvPr/>
        </p:nvSpPr>
        <p:spPr>
          <a:xfrm>
            <a:off x="7350372" y="3305050"/>
            <a:ext cx="286042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2"/>
            <a:r>
              <a:rPr lang="en-US" dirty="0"/>
              <a:t>Then the decimal point is inserted so that the number of fractional digits is the difference between those in the dividend less those in the divisor.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1639332" y="5992484"/>
                <a:ext cx="9773652" cy="5014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22.</m:t>
                          </m:r>
                          <m:r>
                            <a:rPr lang="en-US" sz="1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𝟑𝟒𝟕</m:t>
                          </m:r>
                        </m:num>
                        <m:den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2.</m:t>
                          </m:r>
                          <m:r>
                            <a:rPr lang="en-US" sz="1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den>
                      </m:f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𝐷𝑖𝑣𝑖𝑑𝑒𝑛𝑑</m:t>
                          </m:r>
                        </m:num>
                        <m:den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𝐷𝑖𝑣𝑖𝑠𝑜𝑟</m:t>
                          </m:r>
                        </m:den>
                      </m:f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𝑓𝑟𝑎𝑐𝑡𝑖𝑜𝑛𝑎𝑙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𝑑𝑖𝑣𝑖𝑑𝑒𝑛𝑑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𝑑𝑖𝑔𝑖𝑡𝑠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𝑓𝑟𝑎𝑐𝑡𝑖𝑜𝑛𝑎𝑙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𝑑𝑖𝑣𝑖𝑠𝑜𝑟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𝑑𝑖𝑔𝑖𝑡𝑠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3 −1=2 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332" y="5992484"/>
                <a:ext cx="9773652" cy="501419"/>
              </a:xfrm>
              <a:prstGeom prst="rect">
                <a:avLst/>
              </a:prstGeom>
              <a:blipFill>
                <a:blip r:embed="rId2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41092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318" y="742908"/>
            <a:ext cx="7790619" cy="604630"/>
          </a:xfrm>
        </p:spPr>
        <p:txBody>
          <a:bodyPr>
            <a:normAutofit/>
          </a:bodyPr>
          <a:lstStyle/>
          <a:p>
            <a:r>
              <a:rPr lang="en-US" dirty="0"/>
              <a:t>DIVISION OF FIXED-POINT REALS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87358" y="1991602"/>
            <a:ext cx="10417284" cy="38358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Integer division, but Q format changes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The number of fractional bits in the quotient is the number in the dividend less those in the divisor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2213830"/>
              </p:ext>
            </p:extLst>
          </p:nvPr>
        </p:nvGraphicFramePr>
        <p:xfrm>
          <a:off x="2499360" y="2468880"/>
          <a:ext cx="7315200" cy="2124838"/>
        </p:xfrm>
        <a:graphic>
          <a:graphicData uri="http://schemas.openxmlformats.org/drawingml/2006/table">
            <a:tbl>
              <a:tblPr firstRow="1" firstCol="1" bandRow="1"/>
              <a:tblGrid>
                <a:gridCol w="1257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32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1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802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520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9429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Operand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Integer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Q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Interpretation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A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14224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+1264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Q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5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+1264/2</a:t>
                      </a:r>
                      <a:r>
                        <a:rPr lang="en-US" sz="1800" b="1" baseline="30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5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=</a:t>
                      </a:r>
                    </a:p>
                  </a:txBody>
                  <a:tcPr marL="0" marR="0" marT="36830" marB="3683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+39.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5000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B</a:t>
                      </a:r>
                      <a:endParaRPr lang="en-US" sz="180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14224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+83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Q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3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+83/2</a:t>
                      </a:r>
                      <a:r>
                        <a:rPr lang="en-US" sz="1800" b="1" baseline="30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3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=</a:t>
                      </a:r>
                    </a:p>
                  </a:txBody>
                  <a:tcPr marL="0" marR="0" marT="36830" marB="3683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+10.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3750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Result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4224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Integer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Q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Interpretation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A÷B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142240" indent="0" algn="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+15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Q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2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36576" marB="36576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+15/2</a:t>
                      </a:r>
                      <a:r>
                        <a:rPr lang="en-US" sz="1800" b="1" baseline="30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2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=</a:t>
                      </a:r>
                    </a:p>
                  </a:txBody>
                  <a:tcPr marL="0" marR="0" marT="36830" marB="3683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  3.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7500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(Err: 1.50%)</a:t>
                      </a:r>
                      <a:endParaRPr lang="en-US" sz="1800" b="1" i="0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73025" marR="73025" marT="36830" marB="3683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60632" y="2858321"/>
            <a:ext cx="486431" cy="3054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460632" y="3240544"/>
            <a:ext cx="486431" cy="3054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5460632" y="3971489"/>
            <a:ext cx="486431" cy="3054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5657047" y="1470693"/>
            <a:ext cx="184043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SUB</a:t>
            </a:r>
            <a:r>
              <a:rPr lang="en-US" b="1" dirty="0">
                <a:solidFill>
                  <a:srgbClr val="FF0000"/>
                </a:solidFill>
              </a:rPr>
              <a:t> 5 - 3 </a:t>
            </a:r>
            <a:r>
              <a:rPr lang="en-US" b="1" dirty="0"/>
              <a:t>=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/>
              <a:t>Q</a:t>
            </a:r>
            <a:r>
              <a:rPr lang="en-US" b="1" dirty="0">
                <a:solidFill>
                  <a:srgbClr val="FF0000"/>
                </a:solidFill>
              </a:rPr>
              <a:t>2</a:t>
            </a:r>
          </a:p>
        </p:txBody>
      </p:sp>
      <p:cxnSp>
        <p:nvCxnSpPr>
          <p:cNvPr id="10" name="Straight Arrow Connector 9"/>
          <p:cNvCxnSpPr>
            <a:cxnSpLocks/>
          </p:cNvCxnSpPr>
          <p:nvPr/>
        </p:nvCxnSpPr>
        <p:spPr>
          <a:xfrm flipH="1">
            <a:off x="5899484" y="1762970"/>
            <a:ext cx="445021" cy="103236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cxnSpLocks/>
            <a:stCxn id="9" idx="2"/>
          </p:cNvCxnSpPr>
          <p:nvPr/>
        </p:nvCxnSpPr>
        <p:spPr>
          <a:xfrm flipH="1">
            <a:off x="5975684" y="1840025"/>
            <a:ext cx="601579" cy="135479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cxnSpLocks/>
          </p:cNvCxnSpPr>
          <p:nvPr/>
        </p:nvCxnSpPr>
        <p:spPr>
          <a:xfrm flipH="1">
            <a:off x="5975684" y="1796716"/>
            <a:ext cx="1187117" cy="226148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45615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9600612"/>
              </p:ext>
            </p:extLst>
          </p:nvPr>
        </p:nvGraphicFramePr>
        <p:xfrm>
          <a:off x="2438400" y="3553316"/>
          <a:ext cx="7315200" cy="2057909"/>
        </p:xfrm>
        <a:graphic>
          <a:graphicData uri="http://schemas.openxmlformats.org/drawingml/2006/table">
            <a:tbl>
              <a:tblPr firstRow="1" firstCol="1" bandRow="1"/>
              <a:tblGrid>
                <a:gridCol w="15048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5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18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Operand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Integer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Q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Interpretation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36576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A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14224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+1264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Q5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+1264/2</a:t>
                      </a:r>
                      <a:r>
                        <a:rPr lang="en-US" sz="180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5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0" marR="36576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=</a:t>
                      </a:r>
                    </a:p>
                  </a:txBody>
                  <a:tcPr marL="0" marR="36576" marT="36830" marB="3683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+39.5000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0" marR="36576" marT="36830" marB="3683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B</a:t>
                      </a:r>
                      <a:endParaRPr lang="en-US" sz="180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14224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+83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Q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3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+83/2</a:t>
                      </a:r>
                      <a:r>
                        <a:rPr lang="en-US" sz="1800" b="1" baseline="30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3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0" marR="36576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=</a:t>
                      </a:r>
                    </a:p>
                  </a:txBody>
                  <a:tcPr marL="0" marR="36576" marT="36830" marB="3683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+10.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3750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0" marR="36576" marT="36830" marB="3683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Result</a:t>
                      </a:r>
                      <a:endParaRPr lang="en-US" sz="200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Integer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 Q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Interpretation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3657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A÷B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0" marR="0" marT="36576" marB="36576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14224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+15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0" marR="0" marT="36576" marB="36576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Q2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0" marR="0" marT="36576" marB="36576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+15/2</a:t>
                      </a:r>
                      <a:r>
                        <a:rPr lang="en-US" sz="180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2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0" marR="36576" marT="36576" marB="36576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=</a:t>
                      </a:r>
                    </a:p>
                  </a:txBody>
                  <a:tcPr marL="0" marR="36576" marT="36576" marB="36576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+3.7500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i="1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(Err: 1.50%)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0" marR="36576" marT="36576" marB="36576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36516" y="761223"/>
            <a:ext cx="8107221" cy="762777"/>
          </a:xfrm>
        </p:spPr>
        <p:txBody>
          <a:bodyPr/>
          <a:lstStyle/>
          <a:p>
            <a:r>
              <a:rPr lang="en-US" dirty="0"/>
              <a:t>DIVISION: IMPROVING ACCURACY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936516" y="1811711"/>
            <a:ext cx="10409263" cy="4841751"/>
          </a:xfrm>
        </p:spPr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Shift dividend </a:t>
            </a:r>
            <a:r>
              <a:rPr lang="en-US" i="1" dirty="0">
                <a:solidFill>
                  <a:srgbClr val="0070C0"/>
                </a:solidFill>
              </a:rPr>
              <a:t>left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before dividing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Increases Q factor of dividend and thus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Increases Q factor of quotient and thus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Increases number of fractional digits of quotient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0109093"/>
              </p:ext>
            </p:extLst>
          </p:nvPr>
        </p:nvGraphicFramePr>
        <p:xfrm>
          <a:off x="2439351" y="3893359"/>
          <a:ext cx="7315200" cy="368808"/>
        </p:xfrm>
        <a:graphic>
          <a:graphicData uri="http://schemas.openxmlformats.org/drawingml/2006/table">
            <a:tbl>
              <a:tblPr firstRow="1" firstCol="1" bandRow="1"/>
              <a:tblGrid>
                <a:gridCol w="15048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5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18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2</a:t>
                      </a:r>
                      <a:r>
                        <a:rPr lang="en-US" sz="1800" b="1" baseline="30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3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×A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4224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+10112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Q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8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+10112/2</a:t>
                      </a:r>
                      <a:r>
                        <a:rPr lang="en-US" sz="1800" b="1" baseline="30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8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0" marR="36576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=</a:t>
                      </a:r>
                    </a:p>
                  </a:txBody>
                  <a:tcPr marL="0" marR="36576" marT="36830" marB="3683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+39.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5000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0" marR="36576" marT="36830" marB="3683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0106108"/>
              </p:ext>
            </p:extLst>
          </p:nvPr>
        </p:nvGraphicFramePr>
        <p:xfrm>
          <a:off x="2438400" y="4966605"/>
          <a:ext cx="7315200" cy="751799"/>
        </p:xfrm>
        <a:graphic>
          <a:graphicData uri="http://schemas.openxmlformats.org/drawingml/2006/table">
            <a:tbl>
              <a:tblPr firstRow="1" firstCol="1" bandRow="1"/>
              <a:tblGrid>
                <a:gridCol w="15048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5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18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51799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(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2</a:t>
                      </a:r>
                      <a:r>
                        <a:rPr lang="en-US" sz="1800" b="1" baseline="30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3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×A)÷B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0" marR="0" marT="36576" marB="36576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4224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+121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0" marR="0" marT="36576" marB="36576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Q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5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0" marR="0" marT="36576" marB="36576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+121/2</a:t>
                      </a:r>
                      <a:r>
                        <a:rPr lang="en-US" sz="1800" b="1" baseline="30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5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0" marR="36576" marT="36576" marB="36576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=</a:t>
                      </a:r>
                    </a:p>
                  </a:txBody>
                  <a:tcPr marL="0" marR="36576" marT="36576" marB="36576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 </a:t>
                      </a:r>
                      <a:r>
                        <a:rPr lang="en-US" sz="180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3.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78125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(Err: 0.682%)</a:t>
                      </a:r>
                      <a:endParaRPr lang="en-US" sz="1800" b="1" i="0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0" marR="36576" marT="36576" marB="36576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54334" y="3927110"/>
            <a:ext cx="486431" cy="3054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590292" y="2997302"/>
            <a:ext cx="2642070" cy="36933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Increase precision * </a:t>
            </a:r>
            <a:r>
              <a:rPr lang="en-US" b="1" dirty="0">
                <a:solidFill>
                  <a:srgbClr val="FF0000"/>
                </a:solidFill>
                <a:ea typeface="Calibri"/>
                <a:cs typeface="Calibri"/>
              </a:rPr>
              <a:t>2</a:t>
            </a:r>
            <a:r>
              <a:rPr lang="en-US" b="1" baseline="30000" dirty="0">
                <a:solidFill>
                  <a:srgbClr val="FF0000"/>
                </a:solidFill>
                <a:ea typeface="Calibri"/>
                <a:cs typeface="Calibri"/>
              </a:rPr>
              <a:t>3</a:t>
            </a:r>
            <a:endParaRPr lang="en-US" b="1" dirty="0">
              <a:solidFill>
                <a:srgbClr val="FF0000"/>
              </a:solidFill>
            </a:endParaRPr>
          </a:p>
        </p:txBody>
      </p:sp>
      <p:cxnSp>
        <p:nvCxnSpPr>
          <p:cNvPr id="10" name="Straight Arrow Connector 9"/>
          <p:cNvCxnSpPr>
            <a:stCxn id="8" idx="1"/>
          </p:cNvCxnSpPr>
          <p:nvPr/>
        </p:nvCxnSpPr>
        <p:spPr>
          <a:xfrm flipH="1">
            <a:off x="5697549" y="3181968"/>
            <a:ext cx="892743" cy="71927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11391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5304675"/>
              </p:ext>
            </p:extLst>
          </p:nvPr>
        </p:nvGraphicFramePr>
        <p:xfrm>
          <a:off x="2438400" y="3993134"/>
          <a:ext cx="7315201" cy="2038732"/>
        </p:xfrm>
        <a:graphic>
          <a:graphicData uri="http://schemas.openxmlformats.org/drawingml/2006/table">
            <a:tbl>
              <a:tblPr firstRow="1" firstCol="1" bandRow="1"/>
              <a:tblGrid>
                <a:gridCol w="18092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652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70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652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520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562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Operand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Integer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Q</a:t>
                      </a:r>
                      <a:endParaRPr lang="en-US" sz="200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Interpretation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36576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  <a:r>
                        <a:rPr lang="en-US" sz="1800" b="1" baseline="300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×A + B/2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14224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+10153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Q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8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+10153/2</a:t>
                      </a:r>
                      <a:r>
                        <a:rPr lang="en-US" sz="1800" b="1" baseline="30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8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36576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Calibri"/>
                        </a:rPr>
                        <a:t>=</a:t>
                      </a:r>
                    </a:p>
                  </a:txBody>
                  <a:tcPr marL="0" marR="36576" marT="36830" marB="3683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+39.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5000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36576" marT="36830" marB="3683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B</a:t>
                      </a:r>
                      <a:endParaRPr lang="en-US" sz="18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14224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+83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Q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+83/2</a:t>
                      </a:r>
                      <a:r>
                        <a:rPr lang="en-US" sz="1800" b="1" baseline="30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3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36576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Calibri"/>
                        </a:rPr>
                        <a:t>=</a:t>
                      </a:r>
                    </a:p>
                  </a:txBody>
                  <a:tcPr marL="0" marR="36576" marT="36830" marB="3683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+10.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3750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36576" marT="36830" marB="3683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Result</a:t>
                      </a:r>
                      <a:endParaRPr lang="en-US" sz="200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Integer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 Q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Interpretation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3657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(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2</a:t>
                      </a:r>
                      <a:r>
                        <a:rPr lang="en-US" sz="1800" b="1" baseline="30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3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×A</a:t>
                      </a:r>
                      <a:r>
                        <a:rPr lang="en-US" sz="1800" b="1" dirty="0">
                          <a:solidFill>
                            <a:srgbClr val="00B0F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+B/2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)÷B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0" marR="0" marT="36576" marB="36576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14224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+122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0" marR="0" marT="36576" marB="36576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Q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5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0" marR="0" marT="36576" marB="36576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+122/2</a:t>
                      </a:r>
                      <a:r>
                        <a:rPr lang="en-US" sz="1800" b="1" baseline="300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5</a:t>
                      </a:r>
                      <a:endParaRPr lang="en-US" sz="1600" b="1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0" marR="36576" marT="36576" marB="36576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Calibri"/>
                        </a:rPr>
                        <a:t>=</a:t>
                      </a:r>
                    </a:p>
                  </a:txBody>
                  <a:tcPr marL="0" marR="36576" marT="36576" marB="36576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+  3.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81250</a:t>
                      </a:r>
                      <a:r>
                        <a:rPr lang="en-US" sz="1800" baseline="-25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10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(Err: 0.138%)</a:t>
                      </a:r>
                      <a:endParaRPr lang="en-US" sz="1600" b="1" i="0" dirty="0">
                        <a:solidFill>
                          <a:srgbClr val="FF0000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0" marR="36576" marT="36576" marB="36576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505" y="764599"/>
            <a:ext cx="7950811" cy="607001"/>
          </a:xfrm>
        </p:spPr>
        <p:txBody>
          <a:bodyPr/>
          <a:lstStyle/>
          <a:p>
            <a:r>
              <a:rPr lang="en-US" dirty="0"/>
              <a:t>DIVISION: IMPROVING ACCURACY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932504" y="1615503"/>
            <a:ext cx="10421295" cy="5009886"/>
          </a:xfrm>
        </p:spPr>
        <p:txBody>
          <a:bodyPr/>
          <a:lstStyle/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Increase the </a:t>
            </a:r>
            <a:r>
              <a:rPr lang="en-US" b="1" i="1" dirty="0">
                <a:solidFill>
                  <a:schemeClr val="tx1"/>
                </a:solidFill>
              </a:rPr>
              <a:t>magnitude</a:t>
            </a:r>
            <a:r>
              <a:rPr lang="en-US" dirty="0">
                <a:solidFill>
                  <a:schemeClr val="tx1"/>
                </a:solidFill>
              </a:rPr>
              <a:t> of dividend by half that of the divisor before dividing</a:t>
            </a:r>
          </a:p>
          <a:p>
            <a:pPr lvl="1"/>
            <a:endParaRPr lang="en-US" dirty="0"/>
          </a:p>
          <a:p>
            <a:pPr lvl="1"/>
            <a:r>
              <a:rPr lang="en-US" b="1" dirty="0">
                <a:solidFill>
                  <a:srgbClr val="00B0F0"/>
                </a:solidFill>
              </a:rPr>
              <a:t>Rounds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the least-significant bit of quotient</a:t>
            </a:r>
          </a:p>
          <a:p>
            <a:pPr lvl="1"/>
            <a:endParaRPr lang="en-US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Subtract (don’t add) when dividend is negative</a:t>
            </a:r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2217821" y="3112168"/>
            <a:ext cx="1187116" cy="2478506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26970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11</a:t>
            </a:r>
            <a:br>
              <a:rPr lang="en-US" dirty="0"/>
            </a:br>
            <a:r>
              <a:rPr lang="en-US" dirty="0"/>
              <a:t>Fixed-Point Reals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2: Q16.16 Format</a:t>
            </a:r>
          </a:p>
        </p:txBody>
      </p:sp>
    </p:spTree>
    <p:extLst>
      <p:ext uri="{BB962C8B-B14F-4D97-AF65-F5344CB8AC3E}">
        <p14:creationId xmlns:p14="http://schemas.microsoft.com/office/powerpoint/2010/main" val="27055086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6411" y="765233"/>
            <a:ext cx="10417284" cy="654493"/>
          </a:xfrm>
        </p:spPr>
        <p:txBody>
          <a:bodyPr>
            <a:normAutofit/>
          </a:bodyPr>
          <a:lstStyle/>
          <a:p>
            <a:r>
              <a:rPr lang="en-US" sz="3200" dirty="0"/>
              <a:t>FIXED-POINT USING A UNIVERSAL Q16.16 FORMAT 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96411" y="1735513"/>
            <a:ext cx="10389210" cy="4889876"/>
          </a:xfrm>
        </p:spPr>
        <p:txBody>
          <a:bodyPr>
            <a:normAutofit/>
          </a:bodyPr>
          <a:lstStyle/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Uses the </a:t>
            </a:r>
            <a:r>
              <a:rPr lang="en-US" b="1" dirty="0">
                <a:solidFill>
                  <a:srgbClr val="00B050"/>
                </a:solidFill>
              </a:rPr>
              <a:t>same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Q format for all variables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Q16.</a:t>
            </a:r>
            <a:r>
              <a:rPr lang="en-US" b="1" dirty="0">
                <a:solidFill>
                  <a:srgbClr val="FF0000"/>
                </a:solidFill>
              </a:rPr>
              <a:t>16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fits in a single</a:t>
            </a:r>
            <a:r>
              <a:rPr lang="en-US" dirty="0"/>
              <a:t> </a:t>
            </a:r>
            <a:r>
              <a:rPr lang="en-US" b="1" dirty="0">
                <a:solidFill>
                  <a:srgbClr val="00B050"/>
                </a:solidFill>
              </a:rPr>
              <a:t>32-bit word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No pre-alignment needed to add or subtract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Product: 64 bits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 32 bits x 32 bits </a:t>
            </a:r>
            <a:r>
              <a:rPr lang="en-US" dirty="0">
                <a:sym typeface="Wingdings" panose="05000000000000000000" pitchFamily="2" charset="2"/>
              </a:rPr>
              <a:t>(</a:t>
            </a:r>
            <a:r>
              <a:rPr lang="en-US" b="1" dirty="0">
                <a:solidFill>
                  <a:srgbClr val="00B0F0"/>
                </a:solidFill>
                <a:sym typeface="Wingdings" panose="05000000000000000000" pitchFamily="2" charset="2"/>
              </a:rPr>
              <a:t>SMULL</a:t>
            </a:r>
            <a:r>
              <a:rPr lang="en-US" dirty="0">
                <a:sym typeface="Wingdings" panose="05000000000000000000" pitchFamily="2" charset="2"/>
              </a:rPr>
              <a:t>)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Q16.</a:t>
            </a:r>
            <a:r>
              <a:rPr lang="en-US" b="1" dirty="0">
                <a:solidFill>
                  <a:srgbClr val="FF0000"/>
                </a:solidFill>
              </a:rPr>
              <a:t>16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result is the middle 32 bits</a:t>
            </a:r>
          </a:p>
        </p:txBody>
      </p:sp>
    </p:spTree>
    <p:extLst>
      <p:ext uri="{BB962C8B-B14F-4D97-AF65-F5344CB8AC3E}">
        <p14:creationId xmlns:p14="http://schemas.microsoft.com/office/powerpoint/2010/main" val="4716662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505" y="747483"/>
            <a:ext cx="5307874" cy="549139"/>
          </a:xfrm>
        </p:spPr>
        <p:txBody>
          <a:bodyPr>
            <a:normAutofit fontScale="90000"/>
          </a:bodyPr>
          <a:lstStyle/>
          <a:p>
            <a:r>
              <a:rPr lang="en-US" dirty="0"/>
              <a:t>Interpreting a Q16.16 Real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59330" y="1397000"/>
          <a:ext cx="6664960" cy="828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41077613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58506747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6237292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06897696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41760757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4986771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75354879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77109585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76680053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12485084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750489847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94125908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30233811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44710733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98168868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98566759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251495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01754947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94427396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79690163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5894729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57718629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37642039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45251935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27347782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807983928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13640911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02662186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60680838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86026336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64496782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5761467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31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27334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4393040"/>
                  </a:ext>
                </a:extLst>
              </a:tr>
            </a:tbl>
          </a:graphicData>
        </a:graphic>
      </p:graphicFrame>
      <p:grpSp>
        <p:nvGrpSpPr>
          <p:cNvPr id="29" name="Group 28"/>
          <p:cNvGrpSpPr/>
          <p:nvPr/>
        </p:nvGrpSpPr>
        <p:grpSpPr>
          <a:xfrm>
            <a:off x="4366350" y="2178775"/>
            <a:ext cx="2450918" cy="1285604"/>
            <a:chOff x="3631020" y="2178775"/>
            <a:chExt cx="2450918" cy="1285604"/>
          </a:xfrm>
        </p:grpSpPr>
        <p:sp>
          <p:nvSpPr>
            <p:cNvPr id="6" name="Oval 5"/>
            <p:cNvSpPr/>
            <p:nvPr/>
          </p:nvSpPr>
          <p:spPr>
            <a:xfrm>
              <a:off x="4802051" y="2178775"/>
              <a:ext cx="108857" cy="9252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4856479" y="2268584"/>
              <a:ext cx="1" cy="38753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/>
            <p:cNvSpPr txBox="1"/>
            <p:nvPr/>
          </p:nvSpPr>
          <p:spPr>
            <a:xfrm>
              <a:off x="3631020" y="2756493"/>
              <a:ext cx="245091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Implied position of Q16 binary point.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/>
              <p:cNvSpPr txBox="1"/>
              <p:nvPr/>
            </p:nvSpPr>
            <p:spPr>
              <a:xfrm>
                <a:off x="2095500" y="3691890"/>
                <a:ext cx="9061784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en-US" sz="2400" dirty="0"/>
                  <a:t>Interpret the 32-bit value as a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signed</a:t>
                </a:r>
                <a:r>
                  <a:rPr lang="en-US" sz="2400" dirty="0"/>
                  <a:t> 2's complement integer.</a:t>
                </a:r>
              </a:p>
              <a:p>
                <a:pPr lvl="1"/>
                <a:r>
                  <a:rPr lang="en-US" sz="2400" dirty="0"/>
                  <a:t>(Implied binary point located at far right)</a:t>
                </a:r>
              </a:p>
              <a:p>
                <a:pPr lvl="1"/>
                <a:r>
                  <a:rPr lang="en-US" sz="2400" dirty="0"/>
                  <a:t>0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000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en-US" sz="2400" dirty="0"/>
                  <a:t> 0011 1000 1011 1100 0111</a:t>
                </a:r>
                <a:r>
                  <a:rPr lang="en-US" sz="2400" baseline="-25000" dirty="0"/>
                  <a:t>2</a:t>
                </a:r>
                <a:r>
                  <a:rPr lang="en-US" sz="2400" dirty="0"/>
                  <a:t> = </a:t>
                </a:r>
                <a:r>
                  <a:rPr lang="en-US" sz="2400" b="1" dirty="0">
                    <a:solidFill>
                      <a:srgbClr val="92D050"/>
                    </a:solidFill>
                  </a:rPr>
                  <a:t>232,391</a:t>
                </a:r>
                <a:r>
                  <a:rPr lang="en-US" sz="2400" b="1" baseline="-25000" dirty="0">
                    <a:solidFill>
                      <a:srgbClr val="92D050"/>
                    </a:solidFill>
                  </a:rPr>
                  <a:t>10</a:t>
                </a:r>
                <a:r>
                  <a:rPr lang="en-US" sz="2400" baseline="-25000" dirty="0"/>
                  <a:t> </a:t>
                </a:r>
                <a:r>
                  <a:rPr lang="en-US" sz="2400" dirty="0"/>
                  <a:t>(38BC7</a:t>
                </a:r>
                <a:r>
                  <a:rPr lang="en-US" sz="2400" baseline="-25000" dirty="0"/>
                  <a:t>16</a:t>
                </a:r>
                <a:r>
                  <a:rPr lang="en-US" sz="2400" dirty="0"/>
                  <a:t>)</a:t>
                </a:r>
              </a:p>
              <a:p>
                <a:pPr lvl="1"/>
                <a:endParaRPr lang="en-US" sz="2400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400" dirty="0"/>
                  <a:t>Move implied binary point to middle of 32-bit value.</a:t>
                </a:r>
              </a:p>
              <a:p>
                <a:pPr lvl="1"/>
                <a:r>
                  <a:rPr lang="en-US" sz="2400" dirty="0"/>
                  <a:t>(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Divide</a:t>
                </a:r>
                <a:r>
                  <a:rPr lang="en-US" sz="2400" dirty="0"/>
                  <a:t> integer by 2</a:t>
                </a:r>
                <a:r>
                  <a:rPr lang="en-US" sz="2400" baseline="30000" dirty="0"/>
                  <a:t>16</a:t>
                </a:r>
                <a:r>
                  <a:rPr lang="en-US" sz="2400" dirty="0"/>
                  <a:t> =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65,536</a:t>
                </a:r>
                <a:r>
                  <a:rPr lang="en-US" sz="2400" dirty="0"/>
                  <a:t>)</a:t>
                </a:r>
              </a:p>
              <a:p>
                <a:pPr lvl="1"/>
                <a:r>
                  <a:rPr lang="en-US" sz="2400" b="1" dirty="0">
                    <a:solidFill>
                      <a:srgbClr val="92D050"/>
                    </a:solidFill>
                  </a:rPr>
                  <a:t>232,391</a:t>
                </a:r>
                <a:r>
                  <a:rPr lang="en-US" sz="2400" dirty="0"/>
                  <a:t> /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65,536</a:t>
                </a:r>
                <a:r>
                  <a:rPr lang="en-US" sz="2400" dirty="0"/>
                  <a:t> = 3.546</a:t>
                </a:r>
                <a:r>
                  <a:rPr lang="en-US" sz="2400" baseline="-25000" dirty="0"/>
                  <a:t>10</a:t>
                </a:r>
                <a:endParaRPr lang="en-US" sz="2400" dirty="0"/>
              </a:p>
            </p:txBody>
          </p:sp>
        </mc:Choice>
        <mc:Fallback xmlns="">
          <p:sp>
            <p:nvSpPr>
              <p:cNvPr id="27" name="Text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5500" y="3691890"/>
                <a:ext cx="9061784" cy="2677656"/>
              </a:xfrm>
              <a:prstGeom prst="rect">
                <a:avLst/>
              </a:prstGeom>
              <a:blipFill>
                <a:blip r:embed="rId2"/>
                <a:stretch>
                  <a:fillRect l="-942" t="-1595" b="-4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/>
          <p:cNvGrpSpPr/>
          <p:nvPr/>
        </p:nvGrpSpPr>
        <p:grpSpPr>
          <a:xfrm>
            <a:off x="7698830" y="2178775"/>
            <a:ext cx="2450918" cy="1285604"/>
            <a:chOff x="3631020" y="2178775"/>
            <a:chExt cx="2450918" cy="1285604"/>
          </a:xfrm>
        </p:grpSpPr>
        <p:sp>
          <p:nvSpPr>
            <p:cNvPr id="31" name="Oval 30"/>
            <p:cNvSpPr/>
            <p:nvPr/>
          </p:nvSpPr>
          <p:spPr>
            <a:xfrm>
              <a:off x="4802051" y="2178775"/>
              <a:ext cx="108857" cy="9252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2" name="Straight Arrow Connector 31"/>
            <p:cNvCxnSpPr/>
            <p:nvPr/>
          </p:nvCxnSpPr>
          <p:spPr>
            <a:xfrm flipV="1">
              <a:off x="4856479" y="2268584"/>
              <a:ext cx="1" cy="38753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/>
            <p:cNvSpPr txBox="1"/>
            <p:nvPr/>
          </p:nvSpPr>
          <p:spPr>
            <a:xfrm>
              <a:off x="3631020" y="2756493"/>
              <a:ext cx="245091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Implied position of integer binary point.</a:t>
              </a:r>
            </a:p>
          </p:txBody>
        </p:sp>
      </p:grpSp>
      <p:cxnSp>
        <p:nvCxnSpPr>
          <p:cNvPr id="5" name="Straight Arrow Connector 4"/>
          <p:cNvCxnSpPr/>
          <p:nvPr/>
        </p:nvCxnSpPr>
        <p:spPr>
          <a:xfrm flipH="1" flipV="1">
            <a:off x="5646238" y="2446421"/>
            <a:ext cx="3278051" cy="12032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053513" y="6289280"/>
            <a:ext cx="792205" cy="3077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LSR 16</a:t>
            </a:r>
          </a:p>
        </p:txBody>
      </p:sp>
    </p:spTree>
    <p:extLst>
      <p:ext uri="{BB962C8B-B14F-4D97-AF65-F5344CB8AC3E}">
        <p14:creationId xmlns:p14="http://schemas.microsoft.com/office/powerpoint/2010/main" val="6157542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08" y="738445"/>
            <a:ext cx="6045839" cy="617113"/>
          </a:xfrm>
        </p:spPr>
        <p:txBody>
          <a:bodyPr/>
          <a:lstStyle/>
          <a:p>
            <a:r>
              <a:rPr lang="en-US" dirty="0"/>
              <a:t>Converting Q16.16 to float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84070" y="1520190"/>
            <a:ext cx="762140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float Q16ToFloat(Q16 x){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	return x / 65536.0; </a:t>
            </a:r>
            <a:r>
              <a:rPr lang="en-US" sz="2000" dirty="0">
                <a:latin typeface="Consolas" panose="020B0609020204030204" pitchFamily="49" charset="0"/>
              </a:rPr>
              <a:t>//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x &gt;&gt; 16</a:t>
            </a:r>
            <a:endParaRPr lang="en-US" sz="2800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4827270" y="2888524"/>
            <a:ext cx="5563144" cy="1155174"/>
            <a:chOff x="3303270" y="2888524"/>
            <a:chExt cx="5563144" cy="1155174"/>
          </a:xfrm>
        </p:grpSpPr>
        <p:cxnSp>
          <p:nvCxnSpPr>
            <p:cNvPr id="5" name="Straight Arrow Connector 4"/>
            <p:cNvCxnSpPr/>
            <p:nvPr/>
          </p:nvCxnSpPr>
          <p:spPr>
            <a:xfrm flipH="1" flipV="1">
              <a:off x="3989070" y="2994660"/>
              <a:ext cx="11430" cy="788670"/>
            </a:xfrm>
            <a:prstGeom prst="straightConnector1">
              <a:avLst/>
            </a:prstGeom>
            <a:ln w="317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/>
            <p:nvPr/>
          </p:nvCxnSpPr>
          <p:spPr>
            <a:xfrm>
              <a:off x="3303270" y="2888524"/>
              <a:ext cx="1325880" cy="3266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/>
            <p:cNvSpPr txBox="1"/>
            <p:nvPr/>
          </p:nvSpPr>
          <p:spPr>
            <a:xfrm>
              <a:off x="3966210" y="3582033"/>
              <a:ext cx="490020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Must be a floating-point constant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159956" y="4634784"/>
            <a:ext cx="11530761" cy="101566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NOTE: </a:t>
            </a:r>
            <a:r>
              <a:rPr lang="en-US" sz="2000" b="1" dirty="0">
                <a:solidFill>
                  <a:srgbClr val="FF0000"/>
                </a:solidFill>
              </a:rPr>
              <a:t>Not</a:t>
            </a:r>
            <a:r>
              <a:rPr lang="en-US" sz="2000" dirty="0"/>
              <a:t> using a FPU, the C run-time library provides a (slow) software emulation. 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/>
              <a:t>Avoid using this function in any loop or repetitive computation.</a:t>
            </a:r>
          </a:p>
        </p:txBody>
      </p:sp>
      <p:cxnSp>
        <p:nvCxnSpPr>
          <p:cNvPr id="10" name="Straight Arrow Connector 9"/>
          <p:cNvCxnSpPr/>
          <p:nvPr/>
        </p:nvCxnSpPr>
        <p:spPr>
          <a:xfrm flipH="1" flipV="1">
            <a:off x="4424498" y="2941737"/>
            <a:ext cx="5988" cy="1684326"/>
          </a:xfrm>
          <a:prstGeom prst="straightConnector1">
            <a:avLst/>
          </a:prstGeom>
          <a:ln w="317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3729" y="1021973"/>
            <a:ext cx="4277743" cy="46166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Visual Studio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60945" y="2348459"/>
            <a:ext cx="792205" cy="3077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LSR 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24841" y="2348458"/>
            <a:ext cx="792205" cy="3077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LSR 16</a:t>
            </a:r>
          </a:p>
        </p:txBody>
      </p:sp>
    </p:spTree>
    <p:extLst>
      <p:ext uri="{BB962C8B-B14F-4D97-AF65-F5344CB8AC3E}">
        <p14:creationId xmlns:p14="http://schemas.microsoft.com/office/powerpoint/2010/main" val="41537056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36903"/>
            <a:ext cx="7369284" cy="733988"/>
          </a:xfrm>
        </p:spPr>
        <p:txBody>
          <a:bodyPr/>
          <a:lstStyle/>
          <a:p>
            <a:r>
              <a:rPr lang="en-US" dirty="0"/>
              <a:t>Creating a Q16.16 Real Constant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048000" y="1397000"/>
          <a:ext cx="6664960" cy="828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41077613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58506747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6237292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06897696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41760757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4986771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75354879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77109585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76680053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12485084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750489847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94125908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30233811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44710733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98168868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98566759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251495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01754947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94427396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79690163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5894729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57718629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37642039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45251935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27347782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807983928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13640911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02662186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60680838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86026336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64496782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5761467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31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27334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4393040"/>
                  </a:ext>
                </a:extLst>
              </a:tr>
            </a:tbl>
          </a:graphicData>
        </a:graphic>
      </p:graphicFrame>
      <p:sp>
        <p:nvSpPr>
          <p:cNvPr id="6" name="Oval 5"/>
          <p:cNvSpPr/>
          <p:nvPr/>
        </p:nvSpPr>
        <p:spPr>
          <a:xfrm>
            <a:off x="6326052" y="2178776"/>
            <a:ext cx="108857" cy="9252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/>
          <p:cNvCxnSpPr/>
          <p:nvPr/>
        </p:nvCxnSpPr>
        <p:spPr>
          <a:xfrm flipV="1">
            <a:off x="6380480" y="2268585"/>
            <a:ext cx="1" cy="3875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155020" y="2756493"/>
            <a:ext cx="245091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Implied position of the binary point.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46960" y="3851910"/>
            <a:ext cx="802386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latin typeface="Consolas" panose="020B0609020204030204" pitchFamily="49" charset="0"/>
              </a:rPr>
              <a:t>typedef</a:t>
            </a:r>
            <a:r>
              <a:rPr lang="en-US" sz="2000" dirty="0">
                <a:latin typeface="Consolas" panose="020B0609020204030204" pitchFamily="49" charset="0"/>
              </a:rPr>
              <a:t> int32_t Q16 ; // NOTE: Container is an </a:t>
            </a:r>
            <a:r>
              <a:rPr lang="en-US" sz="2000" b="1" dirty="0">
                <a:latin typeface="Consolas" panose="020B0609020204030204" pitchFamily="49" charset="0"/>
              </a:rPr>
              <a:t>integer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</a:p>
          <a:p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</a:rPr>
              <a:t>Q16 x = 3.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7</a:t>
            </a:r>
            <a:r>
              <a:rPr lang="en-US" sz="2000" dirty="0">
                <a:latin typeface="Consolas" panose="020B0609020204030204" pitchFamily="49" charset="0"/>
              </a:rPr>
              <a:t> ;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// NO: truncates to integer 3 (not 3.0)</a:t>
            </a:r>
          </a:p>
          <a:p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</a:rPr>
              <a:t>Q16 x = (int32_t) (65536 * 3.7 + 0.5) ; </a:t>
            </a:r>
            <a:r>
              <a:rPr lang="en-US" sz="2000" b="1" dirty="0">
                <a:solidFill>
                  <a:srgbClr val="00B050"/>
                </a:solidFill>
                <a:latin typeface="Consolas" panose="020B0609020204030204" pitchFamily="49" charset="0"/>
              </a:rPr>
              <a:t>// YES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446338" y="5483127"/>
            <a:ext cx="3924482" cy="1095417"/>
            <a:chOff x="4922338" y="5483126"/>
            <a:chExt cx="3924482" cy="1095417"/>
          </a:xfrm>
        </p:grpSpPr>
        <p:cxnSp>
          <p:nvCxnSpPr>
            <p:cNvPr id="11" name="Straight Arrow Connector 10"/>
            <p:cNvCxnSpPr/>
            <p:nvPr/>
          </p:nvCxnSpPr>
          <p:spPr>
            <a:xfrm flipV="1">
              <a:off x="5769429" y="5483126"/>
              <a:ext cx="1" cy="38753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4922338" y="5870657"/>
              <a:ext cx="3924482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rounding (subtract when desired constant is negative)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3048001" y="5468423"/>
            <a:ext cx="3278051" cy="1095417"/>
            <a:chOff x="3418115" y="5483126"/>
            <a:chExt cx="3278051" cy="1095417"/>
          </a:xfrm>
        </p:grpSpPr>
        <p:cxnSp>
          <p:nvCxnSpPr>
            <p:cNvPr id="14" name="Straight Arrow Connector 13"/>
            <p:cNvCxnSpPr/>
            <p:nvPr/>
          </p:nvCxnSpPr>
          <p:spPr>
            <a:xfrm flipV="1">
              <a:off x="5769429" y="5483126"/>
              <a:ext cx="1" cy="38753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3418115" y="5870657"/>
              <a:ext cx="327805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Multiply by 2</a:t>
              </a:r>
              <a:r>
                <a:rPr lang="en-US" sz="2000" i="1" baseline="30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16</a:t>
              </a:r>
              <a:r>
                <a:rPr lang="en-US" sz="2000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so that binary point is in the middle</a:t>
              </a:r>
            </a:p>
          </p:txBody>
        </p:sp>
      </p:grpSp>
      <p:sp>
        <p:nvSpPr>
          <p:cNvPr id="16" name="TextBox 15"/>
          <p:cNvSpPr txBox="1"/>
          <p:nvPr/>
        </p:nvSpPr>
        <p:spPr>
          <a:xfrm>
            <a:off x="8099792" y="3072664"/>
            <a:ext cx="3907724" cy="46166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Visual Studio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1820" y="4847967"/>
            <a:ext cx="768095" cy="3077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LSL 16</a:t>
            </a:r>
          </a:p>
        </p:txBody>
      </p:sp>
    </p:spTree>
    <p:extLst>
      <p:ext uri="{BB962C8B-B14F-4D97-AF65-F5344CB8AC3E}">
        <p14:creationId xmlns:p14="http://schemas.microsoft.com/office/powerpoint/2010/main" val="2999446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4209" y="721953"/>
            <a:ext cx="5951865" cy="695685"/>
          </a:xfrm>
        </p:spPr>
        <p:txBody>
          <a:bodyPr/>
          <a:lstStyle/>
          <a:p>
            <a:r>
              <a:rPr lang="en-US" dirty="0"/>
              <a:t>Converting float to Q16.16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13582" y="1827544"/>
            <a:ext cx="8474528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typedef</a:t>
            </a:r>
            <a:r>
              <a:rPr lang="en-US" sz="2400" dirty="0">
                <a:latin typeface="Consolas" panose="020B0609020204030204" pitchFamily="49" charset="0"/>
              </a:rPr>
              <a:t> int32_t Q16;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Q16 FloatToQ16(float x){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	float rounding;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	if (x &gt;= 0.0) 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		rounding = +0.5;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	else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		rounding = -0.5;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	return (Q16) (65536.0 * x + rounding);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82751" y="5488610"/>
            <a:ext cx="768095" cy="3077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LSL 16</a:t>
            </a:r>
          </a:p>
        </p:txBody>
      </p:sp>
    </p:spTree>
    <p:extLst>
      <p:ext uri="{BB962C8B-B14F-4D97-AF65-F5344CB8AC3E}">
        <p14:creationId xmlns:p14="http://schemas.microsoft.com/office/powerpoint/2010/main" val="3289734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4209" y="721953"/>
            <a:ext cx="5951865" cy="695685"/>
          </a:xfrm>
        </p:spPr>
        <p:txBody>
          <a:bodyPr/>
          <a:lstStyle/>
          <a:p>
            <a:r>
              <a:rPr lang="en-US" dirty="0"/>
              <a:t>Converting float to Q16.16</a:t>
            </a:r>
          </a:p>
        </p:txBody>
      </p:sp>
      <p:sp>
        <p:nvSpPr>
          <p:cNvPr id="4" name="Rectangle 3"/>
          <p:cNvSpPr/>
          <p:nvPr/>
        </p:nvSpPr>
        <p:spPr>
          <a:xfrm>
            <a:off x="1817044" y="2242718"/>
            <a:ext cx="8850957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sz="2400" dirty="0">
              <a:latin typeface="Consolas" panose="020B0609020204030204" pitchFamily="49" charset="0"/>
            </a:endParaRP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de-DE" sz="2400" dirty="0">
                <a:latin typeface="Consolas" panose="020B0609020204030204" pitchFamily="49" charset="0"/>
              </a:rPr>
              <a:t>#define ROUNDFLOAT(x) (((x) &gt;= 0.0) ? +0.5 : -0.5)</a:t>
            </a:r>
          </a:p>
          <a:p>
            <a:endParaRPr lang="de-DE" sz="2400" dirty="0">
              <a:latin typeface="Consolas" panose="020B0609020204030204" pitchFamily="49" charset="0"/>
            </a:endParaRPr>
          </a:p>
          <a:p>
            <a:r>
              <a:rPr lang="de-DE" sz="2400" dirty="0">
                <a:latin typeface="Consolas" panose="020B0609020204030204" pitchFamily="49" charset="0"/>
              </a:rPr>
              <a:t>#define FLOATTOQ16(x) (65536.0*(x) + ROUNDFLOAT(x))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32587" y="2300046"/>
            <a:ext cx="7741591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When x is a constant, use a macro to avoid the computation at run-time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03382" y="4085149"/>
            <a:ext cx="768095" cy="3077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LSL 16</a:t>
            </a:r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4076344" y="3367043"/>
            <a:ext cx="4811282" cy="44438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01961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11</a:t>
            </a:r>
            <a:br>
              <a:rPr lang="en-US" dirty="0"/>
            </a:br>
            <a:r>
              <a:rPr lang="en-US" dirty="0"/>
              <a:t>Fixed-Point Reals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3: Q16.16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20604786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3061335" y="4644390"/>
            <a:ext cx="6400800" cy="381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64-bit integer product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1253" y="4644390"/>
            <a:ext cx="3271837" cy="381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fractional part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68004" y="4644390"/>
            <a:ext cx="3128963" cy="381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whole part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63000" y="4191000"/>
            <a:ext cx="685800" cy="38100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r"/>
            <a:r>
              <a:rPr lang="en-US" sz="1600" dirty="0"/>
              <a:t>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48000" y="4191000"/>
            <a:ext cx="952500" cy="38100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r>
              <a:rPr lang="en-US" sz="1600" dirty="0"/>
              <a:t>63</a:t>
            </a:r>
          </a:p>
        </p:txBody>
      </p:sp>
      <p:grpSp>
        <p:nvGrpSpPr>
          <p:cNvPr id="55" name="Group 54"/>
          <p:cNvGrpSpPr/>
          <p:nvPr/>
        </p:nvGrpSpPr>
        <p:grpSpPr>
          <a:xfrm>
            <a:off x="5257800" y="4189142"/>
            <a:ext cx="1981200" cy="382859"/>
            <a:chOff x="3733800" y="4189141"/>
            <a:chExt cx="1981200" cy="382859"/>
          </a:xfrm>
        </p:grpSpPr>
        <p:sp>
          <p:nvSpPr>
            <p:cNvPr id="25" name="Rectangle 24"/>
            <p:cNvSpPr/>
            <p:nvPr/>
          </p:nvSpPr>
          <p:spPr>
            <a:xfrm>
              <a:off x="3733800" y="4191000"/>
              <a:ext cx="952500" cy="38100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r"/>
              <a:r>
                <a:rPr lang="en-US" sz="1600" dirty="0"/>
                <a:t>32 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4762500" y="4189141"/>
              <a:ext cx="952500" cy="38100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r>
                <a:rPr lang="en-US" sz="1600" dirty="0"/>
                <a:t>31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4343400" y="5029200"/>
            <a:ext cx="3810000" cy="685800"/>
            <a:chOff x="2819400" y="5029200"/>
            <a:chExt cx="3810000" cy="685800"/>
          </a:xfrm>
        </p:grpSpPr>
        <p:sp>
          <p:nvSpPr>
            <p:cNvPr id="30" name="Right Brace 29"/>
            <p:cNvSpPr/>
            <p:nvPr/>
          </p:nvSpPr>
          <p:spPr>
            <a:xfrm rot="5400000">
              <a:off x="4567237" y="3586162"/>
              <a:ext cx="381000" cy="3267075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2819400" y="5334000"/>
              <a:ext cx="3810000" cy="38100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r>
                <a:rPr lang="en-US" sz="1600" i="1" dirty="0"/>
                <a:t>Product (Q16.</a:t>
              </a:r>
              <a:r>
                <a:rPr lang="en-US" sz="1600" b="1" dirty="0">
                  <a:solidFill>
                    <a:srgbClr val="FF0000"/>
                  </a:solidFill>
                </a:rPr>
                <a:t>16</a:t>
              </a:r>
              <a:r>
                <a:rPr lang="en-US" sz="1600" i="1" dirty="0"/>
                <a:t>)</a:t>
              </a:r>
            </a:p>
          </p:txBody>
        </p:sp>
      </p:grpSp>
      <p:sp>
        <p:nvSpPr>
          <p:cNvPr id="33" name="Rectangle 32"/>
          <p:cNvSpPr/>
          <p:nvPr/>
        </p:nvSpPr>
        <p:spPr>
          <a:xfrm>
            <a:off x="6248400" y="2514600"/>
            <a:ext cx="3200400" cy="38100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sz="1600" i="1" dirty="0"/>
              <a:t>Multiplier (Q16.16)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6115050" y="3657600"/>
            <a:ext cx="266700" cy="304800"/>
          </a:xfrm>
          <a:prstGeom prst="downArrow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906408" y="748150"/>
            <a:ext cx="6942192" cy="707084"/>
          </a:xfrm>
        </p:spPr>
        <p:txBody>
          <a:bodyPr/>
          <a:lstStyle/>
          <a:p>
            <a:r>
              <a:rPr lang="en-US" dirty="0"/>
              <a:t>Q16.16 × Q16.16 Multiplication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3160" y="1524000"/>
            <a:ext cx="3200400" cy="38100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sz="1600" i="1" dirty="0"/>
              <a:t>Multiplicand (Q16.16)</a:t>
            </a:r>
          </a:p>
        </p:txBody>
      </p:sp>
      <p:grpSp>
        <p:nvGrpSpPr>
          <p:cNvPr id="48" name="Group 47"/>
          <p:cNvGrpSpPr/>
          <p:nvPr/>
        </p:nvGrpSpPr>
        <p:grpSpPr>
          <a:xfrm>
            <a:off x="6248400" y="1524000"/>
            <a:ext cx="3200400" cy="762000"/>
            <a:chOff x="4724400" y="1524000"/>
            <a:chExt cx="3200400" cy="762000"/>
          </a:xfrm>
        </p:grpSpPr>
        <p:sp>
          <p:nvSpPr>
            <p:cNvPr id="4" name="Rectangle 3"/>
            <p:cNvSpPr/>
            <p:nvPr/>
          </p:nvSpPr>
          <p:spPr>
            <a:xfrm>
              <a:off x="4724400" y="1905000"/>
              <a:ext cx="1600200" cy="381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whole part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6324600" y="1905000"/>
              <a:ext cx="1600200" cy="381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fractional part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724400" y="1524000"/>
              <a:ext cx="952500" cy="38100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r>
                <a:rPr lang="en-US" sz="1600" dirty="0"/>
                <a:t>31</a:t>
              </a:r>
            </a:p>
          </p:txBody>
        </p:sp>
      </p:grpSp>
      <p:sp>
        <p:nvSpPr>
          <p:cNvPr id="20" name="Rectangle 19"/>
          <p:cNvSpPr/>
          <p:nvPr/>
        </p:nvSpPr>
        <p:spPr>
          <a:xfrm>
            <a:off x="8458200" y="1524000"/>
            <a:ext cx="952500" cy="38100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r"/>
            <a:r>
              <a:rPr lang="en-US" sz="1600" dirty="0"/>
              <a:t>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48400" y="1905000"/>
            <a:ext cx="3200400" cy="381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32-bit integer multiplicand</a:t>
            </a:r>
          </a:p>
        </p:txBody>
      </p:sp>
      <p:grpSp>
        <p:nvGrpSpPr>
          <p:cNvPr id="47" name="Group 46"/>
          <p:cNvGrpSpPr/>
          <p:nvPr/>
        </p:nvGrpSpPr>
        <p:grpSpPr>
          <a:xfrm>
            <a:off x="5829300" y="2514600"/>
            <a:ext cx="3619500" cy="695092"/>
            <a:chOff x="4305300" y="2514600"/>
            <a:chExt cx="3619500" cy="695092"/>
          </a:xfrm>
        </p:grpSpPr>
        <p:sp>
          <p:nvSpPr>
            <p:cNvPr id="6" name="Rectangle 5"/>
            <p:cNvSpPr/>
            <p:nvPr/>
          </p:nvSpPr>
          <p:spPr>
            <a:xfrm>
              <a:off x="4724400" y="2819400"/>
              <a:ext cx="1600200" cy="381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whole part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6324600" y="2819400"/>
              <a:ext cx="1600200" cy="381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fractional part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305300" y="2828692"/>
              <a:ext cx="419100" cy="38100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r>
                <a:rPr lang="en-US" sz="2800" dirty="0"/>
                <a:t>×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4724400" y="2514600"/>
              <a:ext cx="952500" cy="38100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r>
                <a:rPr lang="en-US" sz="1600" dirty="0"/>
                <a:t>31</a:t>
              </a:r>
            </a:p>
          </p:txBody>
        </p:sp>
      </p:grpSp>
      <p:sp>
        <p:nvSpPr>
          <p:cNvPr id="28" name="Rectangle 27"/>
          <p:cNvSpPr/>
          <p:nvPr/>
        </p:nvSpPr>
        <p:spPr>
          <a:xfrm>
            <a:off x="8458200" y="2514600"/>
            <a:ext cx="952500" cy="38100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r"/>
            <a:r>
              <a:rPr lang="en-US" sz="1600" dirty="0"/>
              <a:t>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48400" y="2819400"/>
            <a:ext cx="3200400" cy="381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32-bit integer multiplier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9395" y="3594854"/>
            <a:ext cx="15659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</a:rPr>
              <a:t>SMULL</a:t>
            </a:r>
          </a:p>
        </p:txBody>
      </p:sp>
      <p:sp>
        <p:nvSpPr>
          <p:cNvPr id="38" name="Right Brace 37"/>
          <p:cNvSpPr/>
          <p:nvPr/>
        </p:nvSpPr>
        <p:spPr>
          <a:xfrm rot="5400000">
            <a:off x="8496300" y="4488181"/>
            <a:ext cx="381000" cy="1493519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ight Brace 38"/>
          <p:cNvSpPr/>
          <p:nvPr/>
        </p:nvSpPr>
        <p:spPr>
          <a:xfrm rot="5400000">
            <a:off x="3657600" y="4434840"/>
            <a:ext cx="381000" cy="1569720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3329940" y="5425441"/>
            <a:ext cx="10363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Some loss</a:t>
            </a:r>
            <a:br>
              <a:rPr lang="en-US" sz="1600" dirty="0"/>
            </a:br>
            <a:r>
              <a:rPr lang="en-US" sz="1600" dirty="0"/>
              <a:t>of range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91475" y="5425441"/>
            <a:ext cx="13144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Some loss</a:t>
            </a:r>
            <a:br>
              <a:rPr lang="en-US" sz="1600" dirty="0"/>
            </a:br>
            <a:r>
              <a:rPr lang="en-US" sz="1600" dirty="0"/>
              <a:t>of precision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922146" y="2436542"/>
            <a:ext cx="3343275" cy="3828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4" name="Group 53"/>
          <p:cNvGrpSpPr/>
          <p:nvPr/>
        </p:nvGrpSpPr>
        <p:grpSpPr>
          <a:xfrm>
            <a:off x="3680461" y="4179616"/>
            <a:ext cx="5187315" cy="392384"/>
            <a:chOff x="2156460" y="4179616"/>
            <a:chExt cx="5187315" cy="392384"/>
          </a:xfrm>
        </p:grpSpPr>
        <p:sp>
          <p:nvSpPr>
            <p:cNvPr id="23" name="Rectangle 22"/>
            <p:cNvSpPr/>
            <p:nvPr/>
          </p:nvSpPr>
          <p:spPr>
            <a:xfrm>
              <a:off x="3162300" y="4191000"/>
              <a:ext cx="952500" cy="38100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r>
                <a:rPr lang="en-US" sz="1600" dirty="0"/>
                <a:t>47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5372100" y="4191000"/>
              <a:ext cx="952500" cy="38100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r"/>
              <a:r>
                <a:rPr lang="en-US" sz="1600" dirty="0"/>
                <a:t>16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6391275" y="4179616"/>
              <a:ext cx="952500" cy="38100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r>
                <a:rPr lang="en-US" sz="1600" dirty="0"/>
                <a:t>15</a:t>
              </a: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2156460" y="4191000"/>
              <a:ext cx="952500" cy="38100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r"/>
              <a:r>
                <a:rPr lang="en-US" sz="1600" dirty="0"/>
                <a:t>48</a:t>
              </a:r>
            </a:p>
          </p:txBody>
        </p:sp>
      </p:grpSp>
      <p:grpSp>
        <p:nvGrpSpPr>
          <p:cNvPr id="60" name="Group 59"/>
          <p:cNvGrpSpPr/>
          <p:nvPr/>
        </p:nvGrpSpPr>
        <p:grpSpPr>
          <a:xfrm>
            <a:off x="3068002" y="4640580"/>
            <a:ext cx="6462714" cy="388620"/>
            <a:chOff x="1595436" y="4568190"/>
            <a:chExt cx="6462714" cy="388620"/>
          </a:xfrm>
          <a:solidFill>
            <a:schemeClr val="bg1">
              <a:lumMod val="95000"/>
            </a:schemeClr>
          </a:solidFill>
        </p:grpSpPr>
        <p:sp>
          <p:nvSpPr>
            <p:cNvPr id="56" name="Rectangle 55"/>
            <p:cNvSpPr/>
            <p:nvPr/>
          </p:nvSpPr>
          <p:spPr>
            <a:xfrm>
              <a:off x="1595436" y="4572000"/>
              <a:ext cx="1564957" cy="381000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discarded</a:t>
              </a: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6442709" y="4572000"/>
              <a:ext cx="1615441" cy="384810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discarded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3164681" y="4572000"/>
              <a:ext cx="1611153" cy="384810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Integer part</a:t>
              </a:r>
            </a:p>
          </p:txBody>
        </p:sp>
        <p:sp>
          <p:nvSpPr>
            <p:cNvPr id="59" name="Rectangle 58"/>
            <p:cNvSpPr/>
            <p:nvPr/>
          </p:nvSpPr>
          <p:spPr>
            <a:xfrm>
              <a:off x="4775834" y="4568190"/>
              <a:ext cx="1666875" cy="384810"/>
            </a:xfrm>
            <a:prstGeom prst="rect">
              <a:avLst/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fractional part</a:t>
              </a:r>
            </a:p>
          </p:txBody>
        </p:sp>
      </p:grpSp>
      <p:sp>
        <p:nvSpPr>
          <p:cNvPr id="12" name="Rectangle 11"/>
          <p:cNvSpPr/>
          <p:nvPr/>
        </p:nvSpPr>
        <p:spPr>
          <a:xfrm>
            <a:off x="4637247" y="4640580"/>
            <a:ext cx="3278028" cy="38481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2318386" y="2365950"/>
            <a:ext cx="3148964" cy="1200329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NOTE: Must use </a:t>
            </a:r>
            <a:r>
              <a:rPr lang="en-US" i="1" u="sng" dirty="0"/>
              <a:t>signed</a:t>
            </a:r>
            <a:r>
              <a:rPr lang="en-US" dirty="0"/>
              <a:t> double-length multiply since result uses part of most-significant half of the product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637247" y="4651025"/>
            <a:ext cx="1605440" cy="385675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Integer part</a:t>
            </a:r>
          </a:p>
        </p:txBody>
      </p:sp>
    </p:spTree>
    <p:extLst>
      <p:ext uri="{BB962C8B-B14F-4D97-AF65-F5344CB8AC3E}">
        <p14:creationId xmlns:p14="http://schemas.microsoft.com/office/powerpoint/2010/main" val="21965673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/>
          <p:cNvSpPr txBox="1"/>
          <p:nvPr/>
        </p:nvSpPr>
        <p:spPr>
          <a:xfrm>
            <a:off x="6109953" y="3138633"/>
            <a:ext cx="38721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Q16.16 variable y has 16 fractional bits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6023338" y="2051542"/>
                <a:ext cx="404539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i="1" dirty="0">
                    <a:solidFill>
                      <a:srgbClr val="00206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Q16.16 variable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i="1" dirty="0">
                    <a:solidFill>
                      <a:srgbClr val="00206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has 16 fractional bits</a:t>
                </a: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3338" y="2051542"/>
                <a:ext cx="4045396" cy="369332"/>
              </a:xfrm>
              <a:prstGeom prst="rect">
                <a:avLst/>
              </a:prstGeom>
              <a:blipFill>
                <a:blip r:embed="rId2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0" name="Table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9542463"/>
              </p:ext>
            </p:extLst>
          </p:nvPr>
        </p:nvGraphicFramePr>
        <p:xfrm>
          <a:off x="6379114" y="2348477"/>
          <a:ext cx="3340104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4188265253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3974668292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4288294052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2672159145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1213856586"/>
                    </a:ext>
                  </a:extLst>
                </a:gridCol>
                <a:gridCol w="214630">
                  <a:extLst>
                    <a:ext uri="{9D8B030D-6E8A-4147-A177-3AD203B41FA5}">
                      <a16:colId xmlns:a16="http://schemas.microsoft.com/office/drawing/2014/main" val="749418138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496788701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426603099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750184819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1275637348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1188089583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2434065621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2428990978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2072719895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38316029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2738245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31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4598562"/>
                  </a:ext>
                </a:extLst>
              </a:tr>
              <a:tr h="370840">
                <a:tc gridSpan="8"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9953106"/>
                  </a:ext>
                </a:extLst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2941616"/>
              </p:ext>
            </p:extLst>
          </p:nvPr>
        </p:nvGraphicFramePr>
        <p:xfrm>
          <a:off x="6379115" y="1294268"/>
          <a:ext cx="3333845" cy="79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4188265253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3974668292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4288294052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2672159145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1213856586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749418138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496788701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426603099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750184819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1275637348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1188089583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2434065621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2428990978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2072719895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38316029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2738245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31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4598562"/>
                  </a:ext>
                </a:extLst>
              </a:tr>
              <a:tr h="370840">
                <a:tc gridSpan="8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8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9953106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30508"/>
            <a:ext cx="6880000" cy="728486"/>
          </a:xfrm>
        </p:spPr>
        <p:txBody>
          <a:bodyPr>
            <a:normAutofit/>
          </a:bodyPr>
          <a:lstStyle/>
          <a:p>
            <a:r>
              <a:rPr lang="en-US" dirty="0"/>
              <a:t>Q16.16 × Q16.16 Multiplication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555723"/>
              </p:ext>
            </p:extLst>
          </p:nvPr>
        </p:nvGraphicFramePr>
        <p:xfrm>
          <a:off x="3047999" y="3508420"/>
          <a:ext cx="6664960" cy="828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82879646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65763887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66047603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58889319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99214615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86015701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83250259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13877234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64209951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4897476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710236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8138066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83315818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85868713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82000252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71940489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70446329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8963094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31683271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3808318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399456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71684192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11859384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16389978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2538316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2235237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37920979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83749212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73633867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5376675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8165324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2622544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63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24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23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32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31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16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15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2757712"/>
                  </a:ext>
                </a:extLst>
              </a:tr>
              <a:tr h="370840">
                <a:tc gridSpan="8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wdUpDiag">
                      <a:fgClr>
                        <a:schemeClr val="accent1">
                          <a:tint val="40000"/>
                        </a:schemeClr>
                      </a:fgClr>
                      <a:bgClr>
                        <a:schemeClr val="bg1"/>
                      </a:bgClr>
                    </a:patt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8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8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8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wdUpDiag">
                      <a:fgClr>
                        <a:schemeClr val="accent1">
                          <a:tint val="40000"/>
                        </a:schemeClr>
                      </a:fgClr>
                      <a:bgClr>
                        <a:schemeClr val="bg1"/>
                      </a:bgClr>
                    </a:patt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548168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1981201" y="1645580"/>
                <a:ext cx="81642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right"/>
                    </m:oMathParaPr>
                    <m:oMath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1201" y="1645580"/>
                <a:ext cx="816429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1748257" y="2722440"/>
                <a:ext cx="119361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dirty="0"/>
                  <a:t>×   </a:t>
                </a:r>
                <a14:m>
                  <m:oMath xmlns:m="http://schemas.openxmlformats.org/officeDocument/2006/math">
                    <m:r>
                      <a:rPr lang="en-US" sz="2800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8257" y="2722440"/>
                <a:ext cx="1193618" cy="523220"/>
              </a:xfrm>
              <a:prstGeom prst="rect">
                <a:avLst/>
              </a:prstGeom>
              <a:blipFill>
                <a:blip r:embed="rId4"/>
                <a:stretch>
                  <a:fillRect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1981200" y="4038318"/>
                <a:ext cx="81642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right"/>
                    </m:oMathParaPr>
                    <m:oMath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𝑥𝑦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1200" y="4038318"/>
                <a:ext cx="816429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Oval 8"/>
          <p:cNvSpPr/>
          <p:nvPr/>
        </p:nvSpPr>
        <p:spPr>
          <a:xfrm>
            <a:off x="8005556" y="2062381"/>
            <a:ext cx="80962" cy="66675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6338633" y="4330536"/>
            <a:ext cx="80962" cy="66675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/>
          <p:cNvCxnSpPr/>
          <p:nvPr/>
        </p:nvCxnSpPr>
        <p:spPr>
          <a:xfrm>
            <a:off x="1785257" y="3223067"/>
            <a:ext cx="112667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1981201" y="4885642"/>
                <a:ext cx="6553200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tabLst>
                    <a:tab pos="979488" algn="l"/>
                    <a:tab pos="3200400" algn="l"/>
                  </a:tabLst>
                </a:pPr>
                <a:r>
                  <a:rPr lang="en-US" dirty="0">
                    <a:latin typeface="Consolas" panose="020B0609020204030204" pitchFamily="49" charset="0"/>
                  </a:rPr>
                  <a:t>LDR	R0,[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]	// R0    </a:t>
                </a:r>
                <a:r>
                  <a:rPr lang="en-US" dirty="0">
                    <a:latin typeface="Consolas" panose="020B0609020204030204" pitchFamily="49" charset="0"/>
                    <a:sym typeface="Wingdings" panose="05000000000000000000" pitchFamily="2" charset="2"/>
                  </a:rPr>
                  <a:t>= x  (Q16.16)</a:t>
                </a:r>
                <a:endParaRPr lang="en-US" dirty="0">
                  <a:latin typeface="Consolas" panose="020B0609020204030204" pitchFamily="49" charset="0"/>
                </a:endParaRPr>
              </a:p>
              <a:p>
                <a:pPr>
                  <a:tabLst>
                    <a:tab pos="979488" algn="l"/>
                    <a:tab pos="3200400" algn="l"/>
                  </a:tabLst>
                </a:pPr>
                <a:r>
                  <a:rPr lang="en-US" dirty="0">
                    <a:latin typeface="Consolas" panose="020B0609020204030204" pitchFamily="49" charset="0"/>
                  </a:rPr>
                  <a:t>LDR	R1,[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]	// R1    </a:t>
                </a:r>
                <a:r>
                  <a:rPr lang="en-US" dirty="0">
                    <a:latin typeface="Consolas" panose="020B0609020204030204" pitchFamily="49" charset="0"/>
                    <a:sym typeface="Wingdings" panose="05000000000000000000" pitchFamily="2" charset="2"/>
                  </a:rPr>
                  <a:t>= y  (Q16.16)</a:t>
                </a:r>
                <a:endParaRPr lang="en-US" dirty="0">
                  <a:latin typeface="Consolas" panose="020B0609020204030204" pitchFamily="49" charset="0"/>
                </a:endParaRPr>
              </a:p>
              <a:p>
                <a:pPr>
                  <a:tabLst>
                    <a:tab pos="979488" algn="l"/>
                    <a:tab pos="3200400" algn="l"/>
                  </a:tabLst>
                </a:pPr>
                <a:r>
                  <a:rPr lang="en-US" dirty="0">
                    <a:latin typeface="Consolas" panose="020B0609020204030204" pitchFamily="49" charset="0"/>
                  </a:rPr>
                  <a:t>SMULL	R0,R1,R0,R1	// R1.R0 </a:t>
                </a:r>
                <a:r>
                  <a:rPr lang="en-US" dirty="0">
                    <a:latin typeface="Consolas" panose="020B0609020204030204" pitchFamily="49" charset="0"/>
                    <a:sym typeface="Wingdings" panose="05000000000000000000" pitchFamily="2" charset="2"/>
                  </a:rPr>
                  <a:t>= </a:t>
                </a:r>
                <a:r>
                  <a:rPr lang="en-US" dirty="0" err="1">
                    <a:latin typeface="Consolas" panose="020B0609020204030204" pitchFamily="49" charset="0"/>
                    <a:sym typeface="Wingdings" panose="05000000000000000000" pitchFamily="2" charset="2"/>
                  </a:rPr>
                  <a:t>xy</a:t>
                </a:r>
                <a:r>
                  <a:rPr lang="en-US" dirty="0">
                    <a:latin typeface="Consolas" panose="020B0609020204030204" pitchFamily="49" charset="0"/>
                    <a:sym typeface="Wingdings" panose="05000000000000000000" pitchFamily="2" charset="2"/>
                  </a:rPr>
                  <a:t> (Q32.32)</a:t>
                </a:r>
                <a:endParaRPr lang="en-US" dirty="0">
                  <a:latin typeface="Consolas" panose="020B0609020204030204" pitchFamily="49" charset="0"/>
                </a:endParaRPr>
              </a:p>
              <a:p>
                <a:pPr>
                  <a:tabLst>
                    <a:tab pos="979488" algn="l"/>
                    <a:tab pos="3200400" algn="l"/>
                  </a:tabLst>
                </a:pPr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LSR	R0,R0,#16	// Extract middle 32 bits</a:t>
                </a:r>
              </a:p>
              <a:p>
                <a:pPr>
                  <a:tabLst>
                    <a:tab pos="979488" algn="l"/>
                    <a:tab pos="3200400" algn="l"/>
                  </a:tabLst>
                </a:pPr>
                <a:r>
                  <a:rPr lang="en-US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ORR	R0,R0</a:t>
                </a:r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,R1,LSL#16</a:t>
                </a:r>
              </a:p>
              <a:p>
                <a:pPr>
                  <a:tabLst>
                    <a:tab pos="979488" algn="l"/>
                    <a:tab pos="3200400" algn="l"/>
                  </a:tabLst>
                </a:pPr>
                <a:r>
                  <a:rPr lang="en-US" dirty="0">
                    <a:latin typeface="Consolas" panose="020B0609020204030204" pitchFamily="49" charset="0"/>
                  </a:rPr>
                  <a:t>STR	R0,[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]	// R0 </a:t>
                </a:r>
                <a:r>
                  <a:rPr lang="en-US" dirty="0">
                    <a:latin typeface="Consolas" panose="020B0609020204030204" pitchFamily="49" charset="0"/>
                    <a:sym typeface="Wingdings" panose="05000000000000000000" pitchFamily="2" charset="2"/>
                  </a:rPr>
                  <a:t> z     (Q16.16)</a:t>
                </a:r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1201" y="4885642"/>
                <a:ext cx="6553200" cy="1754326"/>
              </a:xfrm>
              <a:prstGeom prst="rect">
                <a:avLst/>
              </a:prstGeom>
              <a:blipFill>
                <a:blip r:embed="rId6"/>
                <a:stretch>
                  <a:fillRect l="-744" t="-1736" r="-186" b="-4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Down Arrow 14"/>
          <p:cNvSpPr/>
          <p:nvPr/>
        </p:nvSpPr>
        <p:spPr>
          <a:xfrm>
            <a:off x="2389414" y="3524242"/>
            <a:ext cx="323307" cy="51407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3443627" y="4361362"/>
            <a:ext cx="59519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Thus the 64-bit Q32.32 product will have 32 fractional bits</a:t>
            </a:r>
          </a:p>
        </p:txBody>
      </p:sp>
      <p:sp>
        <p:nvSpPr>
          <p:cNvPr id="10" name="Oval 9"/>
          <p:cNvSpPr/>
          <p:nvPr/>
        </p:nvSpPr>
        <p:spPr>
          <a:xfrm>
            <a:off x="8005555" y="3117187"/>
            <a:ext cx="80962" cy="66675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/>
          <p:cNvCxnSpPr/>
          <p:nvPr/>
        </p:nvCxnSpPr>
        <p:spPr>
          <a:xfrm>
            <a:off x="9331616" y="4929799"/>
            <a:ext cx="0" cy="1666012"/>
          </a:xfrm>
          <a:prstGeom prst="straightConnector1">
            <a:avLst/>
          </a:prstGeom>
          <a:ln w="25400"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479972" y="5399452"/>
            <a:ext cx="1730829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 instructions, </a:t>
            </a:r>
          </a:p>
          <a:p>
            <a:pPr algn="ctr"/>
            <a:r>
              <a:rPr lang="en-US" dirty="0"/>
              <a:t>6 clock cycles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700469" y="3959881"/>
            <a:ext cx="3340636" cy="3782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7764395" y="3977591"/>
            <a:ext cx="6915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979488" algn="l"/>
                <a:tab pos="3200400" algn="l"/>
              </a:tabLst>
            </a:pP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R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1308" y="3951051"/>
            <a:ext cx="6915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979488" algn="l"/>
                <a:tab pos="3200400" algn="l"/>
              </a:tabLst>
            </a:pP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R 0</a:t>
            </a:r>
          </a:p>
        </p:txBody>
      </p:sp>
      <p:cxnSp>
        <p:nvCxnSpPr>
          <p:cNvPr id="24" name="Straight Arrow Connector 23"/>
          <p:cNvCxnSpPr/>
          <p:nvPr/>
        </p:nvCxnSpPr>
        <p:spPr>
          <a:xfrm flipV="1">
            <a:off x="3047999" y="3505206"/>
            <a:ext cx="1652470" cy="8021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H="1">
            <a:off x="8041105" y="3524242"/>
            <a:ext cx="1671854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>
            <a:off x="3473116" y="5759116"/>
            <a:ext cx="709863" cy="1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/>
          <p:nvPr/>
        </p:nvCxnSpPr>
        <p:spPr>
          <a:xfrm flipH="1">
            <a:off x="3834063" y="6045783"/>
            <a:ext cx="1086854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9547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5062" y="760100"/>
            <a:ext cx="10417284" cy="675594"/>
          </a:xfrm>
        </p:spPr>
        <p:txBody>
          <a:bodyPr/>
          <a:lstStyle/>
          <a:p>
            <a:r>
              <a:rPr lang="en-US" dirty="0"/>
              <a:t>Implement this example with </a:t>
            </a:r>
            <a:r>
              <a:rPr lang="en-US" dirty="0" err="1"/>
              <a:t>CPUlator</a:t>
            </a:r>
            <a:r>
              <a:rPr lang="en-US" dirty="0"/>
              <a:t> 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655" y="5254069"/>
            <a:ext cx="8688012" cy="139084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37" y="1518555"/>
            <a:ext cx="3943900" cy="208626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754655" y="5701256"/>
            <a:ext cx="12330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solidFill>
                  <a:srgbClr val="FF0000"/>
                </a:solidFill>
              </a:rPr>
              <a:t>Imaginary point</a:t>
            </a:r>
          </a:p>
        </p:txBody>
      </p:sp>
      <p:cxnSp>
        <p:nvCxnSpPr>
          <p:cNvPr id="7" name="Straight Arrow Connector 6"/>
          <p:cNvCxnSpPr>
            <a:stCxn id="6" idx="2"/>
          </p:cNvCxnSpPr>
          <p:nvPr/>
        </p:nvCxnSpPr>
        <p:spPr>
          <a:xfrm>
            <a:off x="7371170" y="5962866"/>
            <a:ext cx="0" cy="19246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240660" y="6188779"/>
            <a:ext cx="349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979488" algn="l"/>
                <a:tab pos="3200400" algn="l"/>
              </a:tabLst>
            </a:pP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572" y="5949491"/>
            <a:ext cx="349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979488" algn="l"/>
                <a:tab pos="3200400" algn="l"/>
              </a:tabLst>
            </a:pP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9344" y="1790295"/>
            <a:ext cx="5238572" cy="4616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/>
              <a:t>https://cpulator.01xz.net/?sys=arm</a:t>
            </a:r>
            <a:endParaRPr lang="en-US" sz="2400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8656" y="3769858"/>
            <a:ext cx="7964011" cy="1028844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5B0E81A-2FD0-07B1-A20E-1CE5225478E6}"/>
              </a:ext>
            </a:extLst>
          </p:cNvPr>
          <p:cNvSpPr txBox="1"/>
          <p:nvPr/>
        </p:nvSpPr>
        <p:spPr>
          <a:xfrm>
            <a:off x="7250919" y="2404858"/>
            <a:ext cx="2484976" cy="58477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 err="1">
                <a:solidFill>
                  <a:srgbClr val="00B0F0"/>
                </a:solidFill>
              </a:rPr>
              <a:t>CPULator</a:t>
            </a:r>
            <a:r>
              <a:rPr lang="en-US" sz="1600" b="1" dirty="0">
                <a:solidFill>
                  <a:srgbClr val="00B0F0"/>
                </a:solidFill>
              </a:rPr>
              <a:t>: </a:t>
            </a:r>
            <a:br>
              <a:rPr lang="en-US" sz="1600" b="1" dirty="0">
                <a:solidFill>
                  <a:srgbClr val="00B0F0"/>
                </a:solidFill>
              </a:rPr>
            </a:br>
            <a:r>
              <a:rPr lang="en-US" sz="1600" b="1" dirty="0">
                <a:solidFill>
                  <a:srgbClr val="FF0000"/>
                </a:solidFill>
              </a:rPr>
              <a:t>01_FixedReal_SMULL.s</a:t>
            </a:r>
          </a:p>
        </p:txBody>
      </p:sp>
    </p:spTree>
    <p:extLst>
      <p:ext uri="{BB962C8B-B14F-4D97-AF65-F5344CB8AC3E}">
        <p14:creationId xmlns:p14="http://schemas.microsoft.com/office/powerpoint/2010/main" val="821922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506" y="745181"/>
            <a:ext cx="8628589" cy="766787"/>
          </a:xfrm>
        </p:spPr>
        <p:txBody>
          <a:bodyPr/>
          <a:lstStyle/>
          <a:p>
            <a:r>
              <a:rPr lang="en-US" dirty="0"/>
              <a:t>Implement this example with </a:t>
            </a:r>
            <a:r>
              <a:rPr lang="en-US" dirty="0" err="1"/>
              <a:t>CPUlator</a:t>
            </a:r>
            <a:r>
              <a:rPr lang="en-US" dirty="0"/>
              <a:t> 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253" y="1440211"/>
            <a:ext cx="8628589" cy="50744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967339" y="5767820"/>
            <a:ext cx="349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979488" algn="l"/>
                <a:tab pos="3200400" algn="l"/>
              </a:tabLst>
            </a:pP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7339" y="6060589"/>
            <a:ext cx="349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979488" algn="l"/>
                <a:tab pos="3200400" algn="l"/>
              </a:tabLst>
            </a:pP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98426" y="5521790"/>
            <a:ext cx="12330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solidFill>
                  <a:srgbClr val="FF0000"/>
                </a:solidFill>
              </a:rPr>
              <a:t>Imaginary point</a:t>
            </a:r>
          </a:p>
        </p:txBody>
      </p:sp>
      <p:cxnSp>
        <p:nvCxnSpPr>
          <p:cNvPr id="9" name="Straight Arrow Connector 8"/>
          <p:cNvCxnSpPr>
            <a:stCxn id="4" idx="2"/>
          </p:cNvCxnSpPr>
          <p:nvPr/>
        </p:nvCxnSpPr>
        <p:spPr>
          <a:xfrm>
            <a:off x="6114941" y="5783400"/>
            <a:ext cx="0" cy="19246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A92B8F6-9279-622F-6C92-E9D58B814BB4}"/>
              </a:ext>
            </a:extLst>
          </p:cNvPr>
          <p:cNvSpPr txBox="1"/>
          <p:nvPr/>
        </p:nvSpPr>
        <p:spPr>
          <a:xfrm>
            <a:off x="7741866" y="1440211"/>
            <a:ext cx="2484976" cy="58477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 err="1">
                <a:solidFill>
                  <a:srgbClr val="00B0F0"/>
                </a:solidFill>
              </a:rPr>
              <a:t>CPULator</a:t>
            </a:r>
            <a:r>
              <a:rPr lang="en-US" sz="1600" b="1" dirty="0">
                <a:solidFill>
                  <a:srgbClr val="00B0F0"/>
                </a:solidFill>
              </a:rPr>
              <a:t>: </a:t>
            </a:r>
            <a:br>
              <a:rPr lang="en-US" sz="1600" b="1" dirty="0">
                <a:solidFill>
                  <a:srgbClr val="00B0F0"/>
                </a:solidFill>
              </a:rPr>
            </a:br>
            <a:r>
              <a:rPr lang="en-US" sz="1600" b="1" dirty="0">
                <a:solidFill>
                  <a:srgbClr val="FF0000"/>
                </a:solidFill>
              </a:rPr>
              <a:t>01_FixedReal_SMULL.s</a:t>
            </a:r>
          </a:p>
        </p:txBody>
      </p:sp>
    </p:spTree>
    <p:extLst>
      <p:ext uri="{BB962C8B-B14F-4D97-AF65-F5344CB8AC3E}">
        <p14:creationId xmlns:p14="http://schemas.microsoft.com/office/powerpoint/2010/main" val="15384976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6111386" y="2082988"/>
                <a:ext cx="39670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i="1" dirty="0">
                    <a:solidFill>
                      <a:srgbClr val="00206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Q16.16 variable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i="1" dirty="0">
                    <a:solidFill>
                      <a:srgbClr val="00206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has 16 fractional bits</a:t>
                </a: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1386" y="2082988"/>
                <a:ext cx="3967071" cy="369332"/>
              </a:xfrm>
              <a:prstGeom prst="rect">
                <a:avLst/>
              </a:prstGeom>
              <a:blipFill>
                <a:blip r:embed="rId2"/>
                <a:stretch>
                  <a:fillRect l="-308" t="-10000" r="-308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379114" y="2424686"/>
          <a:ext cx="3340104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4188265253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3974668292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4288294052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2672159145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1213856586"/>
                    </a:ext>
                  </a:extLst>
                </a:gridCol>
                <a:gridCol w="214630">
                  <a:extLst>
                    <a:ext uri="{9D8B030D-6E8A-4147-A177-3AD203B41FA5}">
                      <a16:colId xmlns:a16="http://schemas.microsoft.com/office/drawing/2014/main" val="749418138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496788701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426603099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750184819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1275637348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1188089583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2434065621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2428990978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2072719895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38316029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2738245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31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4598562"/>
                  </a:ext>
                </a:extLst>
              </a:tr>
              <a:tr h="370840">
                <a:tc gridSpan="16"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9953106"/>
                  </a:ext>
                </a:extLst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79115" y="1305161"/>
          <a:ext cx="3333845" cy="79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4188265253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3974668292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4288294052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2672159145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1213856586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749418138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496788701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426603099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750184819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1275637348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1188089583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2434065621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2428990978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2072719895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38316029"/>
                    </a:ext>
                  </a:extLst>
                </a:gridCol>
                <a:gridCol w="208371">
                  <a:extLst>
                    <a:ext uri="{9D8B030D-6E8A-4147-A177-3AD203B41FA5}">
                      <a16:colId xmlns:a16="http://schemas.microsoft.com/office/drawing/2014/main" val="2738245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31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10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4598562"/>
                  </a:ext>
                </a:extLst>
              </a:tr>
              <a:tr h="370840">
                <a:tc gridSpan="8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8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9953106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8" y="755041"/>
            <a:ext cx="10417284" cy="565361"/>
          </a:xfrm>
        </p:spPr>
        <p:txBody>
          <a:bodyPr>
            <a:normAutofit fontScale="90000"/>
          </a:bodyPr>
          <a:lstStyle/>
          <a:p>
            <a:r>
              <a:rPr lang="en-US" b="1" i="1" dirty="0">
                <a:solidFill>
                  <a:srgbClr val="0070C0"/>
                </a:solidFill>
              </a:rPr>
              <a:t>Special Case: </a:t>
            </a:r>
            <a:r>
              <a:rPr lang="en-US" dirty="0"/>
              <a:t>Multiplying Q16.16 by an Integer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047999" y="3649945"/>
          <a:ext cx="6664960" cy="828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82879646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65763887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66047603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58889319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99214615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86015701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83250259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13877234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64209951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4897476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710236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8138066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83315818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85868713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82000252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71940489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70446329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8963094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31683271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3808318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399456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71684192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11859384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16389978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2538316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2235237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37920979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83749212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73633867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5376675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8165324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2622544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63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24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23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32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31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16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15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2757712"/>
                  </a:ext>
                </a:extLst>
              </a:tr>
              <a:tr h="370840">
                <a:tc gridSpan="8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wdUpDiag">
                      <a:fgClr>
                        <a:schemeClr val="accent1">
                          <a:tint val="40000"/>
                        </a:schemeClr>
                      </a:fgClr>
                      <a:bgClr>
                        <a:schemeClr val="bg1"/>
                      </a:bgClr>
                    </a:patt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8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wdUpDiag">
                      <a:fgClr>
                        <a:schemeClr val="accent1">
                          <a:tint val="40000"/>
                        </a:schemeClr>
                      </a:fgClr>
                      <a:bgClr>
                        <a:schemeClr val="bg1"/>
                      </a:bgClr>
                    </a:patt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8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8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548168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1981201" y="1721789"/>
                <a:ext cx="81642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right"/>
                    </m:oMathParaPr>
                    <m:oMath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1201" y="1721789"/>
                <a:ext cx="816429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1748257" y="2798649"/>
                <a:ext cx="119361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dirty="0"/>
                  <a:t>×   </a:t>
                </a:r>
                <a14:m>
                  <m:oMath xmlns:m="http://schemas.openxmlformats.org/officeDocument/2006/math">
                    <m:r>
                      <a:rPr lang="en-US" sz="2800" i="1" dirty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8257" y="2798649"/>
                <a:ext cx="1193618" cy="523220"/>
              </a:xfrm>
              <a:prstGeom prst="rect">
                <a:avLst/>
              </a:prstGeom>
              <a:blipFill>
                <a:blip r:embed="rId4"/>
                <a:stretch>
                  <a:fillRect l="-1020" t="-11628" b="-313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1981200" y="4114527"/>
                <a:ext cx="81642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right"/>
                    </m:oMathParaPr>
                    <m:oMath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𝑁𝑥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1200" y="4114527"/>
                <a:ext cx="816429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/>
          <p:cNvCxnSpPr/>
          <p:nvPr/>
        </p:nvCxnSpPr>
        <p:spPr>
          <a:xfrm>
            <a:off x="1785257" y="3299276"/>
            <a:ext cx="112667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Down Arrow 14"/>
          <p:cNvSpPr/>
          <p:nvPr/>
        </p:nvSpPr>
        <p:spPr>
          <a:xfrm>
            <a:off x="2389414" y="3600451"/>
            <a:ext cx="323307" cy="51407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6282572" y="3222121"/>
            <a:ext cx="3624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integer N has 0 fractional bits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12171" y="4515879"/>
            <a:ext cx="57338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64-bit Q0.32 product will have 16 fractional bits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8002918" y="2056945"/>
            <a:ext cx="1737744" cy="2458935"/>
            <a:chOff x="6478918" y="2056944"/>
            <a:chExt cx="1737744" cy="2458935"/>
          </a:xfrm>
        </p:grpSpPr>
        <p:sp>
          <p:nvSpPr>
            <p:cNvPr id="9" name="Oval 8"/>
            <p:cNvSpPr/>
            <p:nvPr/>
          </p:nvSpPr>
          <p:spPr>
            <a:xfrm>
              <a:off x="6481556" y="2056944"/>
              <a:ext cx="80962" cy="66675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6478918" y="4449204"/>
              <a:ext cx="80962" cy="66675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/>
            <p:cNvSpPr/>
            <p:nvPr/>
          </p:nvSpPr>
          <p:spPr>
            <a:xfrm>
              <a:off x="8135700" y="3204609"/>
              <a:ext cx="80962" cy="66675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2911929" y="5224686"/>
                <a:ext cx="5388430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tabLst>
                    <a:tab pos="865188" algn="l"/>
                    <a:tab pos="2171700" algn="l"/>
                  </a:tabLst>
                </a:pPr>
                <a:r>
                  <a:rPr lang="en-US" dirty="0">
                    <a:latin typeface="Consolas" panose="020B0609020204030204" pitchFamily="49" charset="0"/>
                  </a:rPr>
                  <a:t>LDR	R0,[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]	// R0 </a:t>
                </a:r>
                <a:r>
                  <a:rPr lang="en-US" dirty="0">
                    <a:latin typeface="Consolas" panose="020B0609020204030204" pitchFamily="49" charset="0"/>
                    <a:sym typeface="Wingdings" panose="05000000000000000000" pitchFamily="2" charset="2"/>
                  </a:rPr>
                  <a:t>  x (Q16.16)</a:t>
                </a:r>
                <a:endParaRPr lang="en-US" dirty="0">
                  <a:latin typeface="Consolas" panose="020B0609020204030204" pitchFamily="49" charset="0"/>
                </a:endParaRPr>
              </a:p>
              <a:p>
                <a:pPr>
                  <a:tabLst>
                    <a:tab pos="865188" algn="l"/>
                    <a:tab pos="2171700" algn="l"/>
                  </a:tabLst>
                </a:pPr>
                <a:r>
                  <a:rPr lang="en-US" dirty="0">
                    <a:latin typeface="Consolas" panose="020B0609020204030204" pitchFamily="49" charset="0"/>
                  </a:rPr>
                  <a:t>LDR	R1,[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]	// R1 </a:t>
                </a:r>
                <a:r>
                  <a:rPr lang="en-US" dirty="0">
                    <a:latin typeface="Consolas" panose="020B0609020204030204" pitchFamily="49" charset="0"/>
                    <a:sym typeface="Wingdings" panose="05000000000000000000" pitchFamily="2" charset="2"/>
                  </a:rPr>
                  <a:t>  N</a:t>
                </a:r>
                <a:endParaRPr lang="en-US" dirty="0">
                  <a:latin typeface="Consolas" panose="020B0609020204030204" pitchFamily="49" charset="0"/>
                </a:endParaRPr>
              </a:p>
              <a:p>
                <a:pPr>
                  <a:tabLst>
                    <a:tab pos="865188" algn="l"/>
                    <a:tab pos="2171700" algn="l"/>
                  </a:tabLst>
                </a:pPr>
                <a:r>
                  <a:rPr lang="en-US" dirty="0">
                    <a:latin typeface="Consolas" panose="020B0609020204030204" pitchFamily="49" charset="0"/>
                  </a:rPr>
                  <a:t>MUL	R0,R0,R1	// R0 </a:t>
                </a:r>
                <a:r>
                  <a:rPr lang="en-US" dirty="0">
                    <a:latin typeface="Consolas" panose="020B0609020204030204" pitchFamily="49" charset="0"/>
                    <a:sym typeface="Wingdings" panose="05000000000000000000" pitchFamily="2" charset="2"/>
                  </a:rPr>
                  <a:t> </a:t>
                </a:r>
                <a:r>
                  <a:rPr lang="en-US" dirty="0" err="1">
                    <a:latin typeface="Consolas" panose="020B0609020204030204" pitchFamily="49" charset="0"/>
                    <a:sym typeface="Wingdings" panose="05000000000000000000" pitchFamily="2" charset="2"/>
                  </a:rPr>
                  <a:t>Nx</a:t>
                </a:r>
                <a:r>
                  <a:rPr lang="en-US" dirty="0">
                    <a:latin typeface="Consolas" panose="020B0609020204030204" pitchFamily="49" charset="0"/>
                    <a:sym typeface="Wingdings" panose="05000000000000000000" pitchFamily="2" charset="2"/>
                  </a:rPr>
                  <a:t> (Q16.16)</a:t>
                </a:r>
                <a:endParaRPr lang="en-US" dirty="0">
                  <a:latin typeface="Consolas" panose="020B0609020204030204" pitchFamily="49" charset="0"/>
                </a:endParaRPr>
              </a:p>
              <a:p>
                <a:pPr>
                  <a:tabLst>
                    <a:tab pos="865188" algn="l"/>
                    <a:tab pos="2171700" algn="l"/>
                  </a:tabLst>
                </a:pPr>
                <a:r>
                  <a:rPr lang="en-US" dirty="0">
                    <a:latin typeface="Consolas" panose="020B0609020204030204" pitchFamily="49" charset="0"/>
                  </a:rPr>
                  <a:t>STR	R0,[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]	// R0 </a:t>
                </a:r>
                <a:r>
                  <a:rPr lang="en-US" dirty="0">
                    <a:latin typeface="Consolas" panose="020B0609020204030204" pitchFamily="49" charset="0"/>
                    <a:sym typeface="Wingdings" panose="05000000000000000000" pitchFamily="2" charset="2"/>
                  </a:rPr>
                  <a:t> y</a:t>
                </a:r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1929" y="5224686"/>
                <a:ext cx="5388430" cy="1200329"/>
              </a:xfrm>
              <a:prstGeom prst="rect">
                <a:avLst/>
              </a:prstGeom>
              <a:blipFill>
                <a:blip r:embed="rId6"/>
                <a:stretch>
                  <a:fillRect l="-1018" t="-2538" b="-76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/>
          <p:cNvCxnSpPr/>
          <p:nvPr/>
        </p:nvCxnSpPr>
        <p:spPr>
          <a:xfrm>
            <a:off x="9345385" y="5205105"/>
            <a:ext cx="0" cy="1200329"/>
          </a:xfrm>
          <a:prstGeom prst="straightConnector1">
            <a:avLst/>
          </a:prstGeom>
          <a:ln w="25400"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79972" y="5475661"/>
            <a:ext cx="1730829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 instructions, </a:t>
            </a:r>
          </a:p>
          <a:p>
            <a:pPr algn="ctr"/>
            <a:r>
              <a:rPr lang="en-US" dirty="0"/>
              <a:t>4 clock cycles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79114" y="2861221"/>
            <a:ext cx="3333845" cy="3782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2941875" y="5834022"/>
            <a:ext cx="2045761" cy="287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3246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372032" y="4170869"/>
            <a:ext cx="7447936" cy="63418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34" name="Picture 10" descr="http://www.mathsmutt.co.uk/files/carea_files/carea_image018.gif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15894" y="1326473"/>
            <a:ext cx="2505075" cy="2305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47961"/>
            <a:ext cx="7265010" cy="727914"/>
          </a:xfrm>
        </p:spPr>
        <p:txBody>
          <a:bodyPr>
            <a:normAutofit/>
          </a:bodyPr>
          <a:lstStyle/>
          <a:p>
            <a:r>
              <a:rPr lang="en-US" dirty="0"/>
              <a:t>Example: Q16 Area of a Triangle</a:t>
            </a: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1865590" y="2893598"/>
            <a:ext cx="8802410" cy="255454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2000" dirty="0">
                <a:solidFill>
                  <a:srgbClr val="222222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Q16 </a:t>
            </a:r>
            <a:r>
              <a:rPr lang="en-US" altLang="en-US" sz="2000" dirty="0" err="1">
                <a:solidFill>
                  <a:srgbClr val="222222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AreaOfTriangle</a:t>
            </a:r>
            <a:r>
              <a:rPr lang="en-US" altLang="en-US" sz="2000" dirty="0">
                <a:solidFill>
                  <a:srgbClr val="222222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(Q16 b, Q16 h) ;</a:t>
            </a:r>
          </a:p>
          <a:p>
            <a:endParaRPr lang="en-US" altLang="en-US" sz="2000" dirty="0">
              <a:solidFill>
                <a:srgbClr val="222222"/>
              </a:solidFill>
              <a:latin typeface="Consolas" panose="020B0609020204030204" pitchFamily="49" charset="0"/>
              <a:cs typeface="Arial" panose="020B0604020202020204" pitchFamily="34" charset="0"/>
            </a:endParaRPr>
          </a:p>
          <a:p>
            <a:pPr defTabSz="457200">
              <a:tabLst>
                <a:tab pos="1828800" algn="l"/>
              </a:tabLst>
            </a:pPr>
            <a:r>
              <a:rPr lang="en-US" altLang="en-US" sz="2000" dirty="0" err="1">
                <a:solidFill>
                  <a:srgbClr val="222222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AreaOfTriangle</a:t>
            </a:r>
            <a:r>
              <a:rPr lang="en-US" altLang="en-US" sz="2000" dirty="0">
                <a:solidFill>
                  <a:srgbClr val="222222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:</a:t>
            </a:r>
            <a:endParaRPr lang="en-US" altLang="en-US" sz="2000" dirty="0">
              <a:latin typeface="Consolas" panose="020B0609020204030204" pitchFamily="49" charset="0"/>
            </a:endParaRPr>
          </a:p>
          <a:p>
            <a:pPr marL="457200" defTabSz="457200">
              <a:tabLst>
                <a:tab pos="1828800" algn="l"/>
              </a:tabLst>
            </a:pPr>
            <a:r>
              <a:rPr lang="en-US" altLang="en-US" sz="2000" dirty="0">
                <a:latin typeface="Consolas" panose="020B0609020204030204" pitchFamily="49" charset="0"/>
              </a:rPr>
              <a:t>SMULL	R0,R1,R0,R1      // R1.R0 = Q32.32 product b x h</a:t>
            </a:r>
          </a:p>
          <a:p>
            <a:pPr marL="457200" defTabSz="457200">
              <a:tabLst>
                <a:tab pos="1828800" algn="l"/>
              </a:tabLst>
            </a:pPr>
            <a:r>
              <a:rPr lang="en-US" altLang="en-US" sz="2000" dirty="0">
                <a:latin typeface="Consolas" panose="020B0609020204030204" pitchFamily="49" charset="0"/>
              </a:rPr>
              <a:t>LSR	R0,R0,#16        // Extract middle 32 bits </a:t>
            </a:r>
          </a:p>
          <a:p>
            <a:pPr marL="457200" defTabSz="457200">
              <a:tabLst>
                <a:tab pos="1828800" algn="l"/>
              </a:tabLst>
            </a:pPr>
            <a:r>
              <a:rPr lang="en-US" altLang="en-US" sz="2000" dirty="0">
                <a:latin typeface="Consolas" panose="020B0609020204030204" pitchFamily="49" charset="0"/>
              </a:rPr>
              <a:t>ORR	R0,R0,R1,LSL#16</a:t>
            </a:r>
          </a:p>
          <a:p>
            <a:pPr marL="457200" defTabSz="457200">
              <a:tabLst>
                <a:tab pos="1828800" algn="l"/>
              </a:tabLst>
            </a:pPr>
            <a:r>
              <a:rPr lang="en-US" altLang="en-US" sz="2000" dirty="0">
                <a:latin typeface="Consolas" panose="020B0609020204030204" pitchFamily="49" charset="0"/>
              </a:rPr>
              <a:t>LSR	R0,R0,#1         // Divide by 2</a:t>
            </a:r>
          </a:p>
          <a:p>
            <a:pPr marL="457200" defTabSz="457200">
              <a:tabLst>
                <a:tab pos="1828800" algn="l"/>
              </a:tabLst>
            </a:pPr>
            <a:r>
              <a:rPr lang="en-US" altLang="en-US" sz="2000" dirty="0">
                <a:latin typeface="Consolas" panose="020B0609020204030204" pitchFamily="49" charset="0"/>
              </a:rPr>
              <a:t>BX	LR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10446807" y="4574607"/>
                <a:ext cx="1455270" cy="806631"/>
              </a:xfrm>
              <a:prstGeom prst="rect">
                <a:avLst/>
              </a:prstGeom>
              <a:noFill/>
              <a:ln>
                <a:solidFill>
                  <a:srgbClr val="92D05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800" i="1">
                          <a:latin typeface="Cambria Math" panose="02040503050406030204" pitchFamily="18" charset="0"/>
                        </a:rPr>
                        <m:t>𝑏ℎ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6807" y="4574607"/>
                <a:ext cx="1455270" cy="8066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92D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/>
          <p:cNvSpPr txBox="1"/>
          <p:nvPr/>
        </p:nvSpPr>
        <p:spPr>
          <a:xfrm>
            <a:off x="3599347" y="5752296"/>
            <a:ext cx="5568617" cy="83099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The second LSR can be eliminated by shifting right by 17 bits instead of 16.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2032" y="4170869"/>
            <a:ext cx="7447936" cy="6341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1169982" y="4568567"/>
            <a:ext cx="279611" cy="881874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7156876" y="1753107"/>
                <a:ext cx="1455270" cy="8066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800" i="1">
                          <a:latin typeface="Cambria Math" panose="02040503050406030204" pitchFamily="18" charset="0"/>
                        </a:rPr>
                        <m:t>𝑏ℎ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6876" y="1753107"/>
                <a:ext cx="1455270" cy="8066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/>
          <p:cNvCxnSpPr/>
          <p:nvPr/>
        </p:nvCxnSpPr>
        <p:spPr>
          <a:xfrm flipH="1" flipV="1">
            <a:off x="4940968" y="4989095"/>
            <a:ext cx="6233475" cy="209553"/>
          </a:xfrm>
          <a:prstGeom prst="straightConnector1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2582632" y="1534099"/>
            <a:ext cx="3168315" cy="120032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Example:</a:t>
            </a:r>
          </a:p>
          <a:p>
            <a:r>
              <a:rPr lang="en-US" dirty="0"/>
              <a:t>b = 1.5</a:t>
            </a:r>
          </a:p>
          <a:p>
            <a:r>
              <a:rPr lang="en-US" dirty="0"/>
              <a:t>h = 2.5</a:t>
            </a:r>
          </a:p>
          <a:p>
            <a:r>
              <a:rPr lang="en-US" dirty="0"/>
              <a:t>½ * 1.5 * 2.5 =1.875 = 0x1.e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17D00E-0E67-8A2E-0D1A-13F8EF68A1C6}"/>
              </a:ext>
            </a:extLst>
          </p:cNvPr>
          <p:cNvSpPr txBox="1"/>
          <p:nvPr/>
        </p:nvSpPr>
        <p:spPr>
          <a:xfrm>
            <a:off x="8940917" y="741698"/>
            <a:ext cx="3251083" cy="58477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 err="1">
                <a:solidFill>
                  <a:srgbClr val="00B0F0"/>
                </a:solidFill>
              </a:rPr>
              <a:t>CPULator</a:t>
            </a:r>
            <a:r>
              <a:rPr lang="en-US" sz="1600" b="1" dirty="0">
                <a:solidFill>
                  <a:srgbClr val="00B0F0"/>
                </a:solidFill>
              </a:rPr>
              <a:t>: </a:t>
            </a:r>
            <a:br>
              <a:rPr lang="en-US" sz="1600" b="1" dirty="0">
                <a:solidFill>
                  <a:srgbClr val="00B0F0"/>
                </a:solidFill>
              </a:rPr>
            </a:br>
            <a:r>
              <a:rPr lang="en-US" sz="1600" b="1" dirty="0">
                <a:solidFill>
                  <a:srgbClr val="FF0000"/>
                </a:solidFill>
              </a:rPr>
              <a:t>02_FixedReal_AreaOfTriangle.s</a:t>
            </a:r>
          </a:p>
        </p:txBody>
      </p:sp>
    </p:spTree>
    <p:extLst>
      <p:ext uri="{BB962C8B-B14F-4D97-AF65-F5344CB8AC3E}">
        <p14:creationId xmlns:p14="http://schemas.microsoft.com/office/powerpoint/2010/main" val="32021013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58" y="741171"/>
            <a:ext cx="10417284" cy="814914"/>
          </a:xfrm>
        </p:spPr>
        <p:txBody>
          <a:bodyPr/>
          <a:lstStyle/>
          <a:p>
            <a:r>
              <a:rPr lang="en-US" altLang="en-US" dirty="0" err="1">
                <a:solidFill>
                  <a:srgbClr val="222222"/>
                </a:solidFill>
                <a:latin typeface="Consolas" panose="020B0609020204030204" pitchFamily="49" charset="0"/>
              </a:rPr>
              <a:t>AreaOfTriangle</a:t>
            </a:r>
            <a:r>
              <a:rPr lang="en-US" altLang="en-US" dirty="0">
                <a:solidFill>
                  <a:srgbClr val="222222"/>
                </a:solidFill>
                <a:latin typeface="Consolas" panose="020B0609020204030204" pitchFamily="49" charset="0"/>
              </a:rPr>
              <a:t> </a:t>
            </a:r>
            <a:r>
              <a:rPr lang="en-US" dirty="0" err="1"/>
              <a:t>CPUlator</a:t>
            </a:r>
            <a:r>
              <a:rPr lang="en-US" dirty="0"/>
              <a:t> 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1426" y="1615450"/>
            <a:ext cx="6667322" cy="47329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A54B465-184B-894B-80A0-8800E3BBECBC}"/>
              </a:ext>
            </a:extLst>
          </p:cNvPr>
          <p:cNvSpPr txBox="1"/>
          <p:nvPr/>
        </p:nvSpPr>
        <p:spPr>
          <a:xfrm>
            <a:off x="8940917" y="741698"/>
            <a:ext cx="3251083" cy="58477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 err="1">
                <a:solidFill>
                  <a:srgbClr val="00B0F0"/>
                </a:solidFill>
              </a:rPr>
              <a:t>CPULator</a:t>
            </a:r>
            <a:r>
              <a:rPr lang="en-US" sz="1600" b="1" dirty="0">
                <a:solidFill>
                  <a:srgbClr val="00B0F0"/>
                </a:solidFill>
              </a:rPr>
              <a:t>: </a:t>
            </a:r>
            <a:br>
              <a:rPr lang="en-US" sz="1600" b="1" dirty="0">
                <a:solidFill>
                  <a:srgbClr val="00B0F0"/>
                </a:solidFill>
              </a:rPr>
            </a:br>
            <a:r>
              <a:rPr lang="en-US" sz="1600" b="1" dirty="0">
                <a:solidFill>
                  <a:srgbClr val="FF0000"/>
                </a:solidFill>
              </a:rPr>
              <a:t>02_FixedReal_AreaOfTriangle.s</a:t>
            </a:r>
          </a:p>
        </p:txBody>
      </p:sp>
    </p:spTree>
    <p:extLst>
      <p:ext uri="{BB962C8B-B14F-4D97-AF65-F5344CB8AC3E}">
        <p14:creationId xmlns:p14="http://schemas.microsoft.com/office/powerpoint/2010/main" val="14659744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1442673" y="2706843"/>
            <a:ext cx="7993626" cy="63418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 rot="10800000" flipV="1">
            <a:off x="989342" y="1436175"/>
            <a:ext cx="10548941" cy="44012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lang="en-US" altLang="en-US" sz="2000" dirty="0">
                <a:solidFill>
                  <a:srgbClr val="222222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Q16 </a:t>
            </a:r>
            <a:r>
              <a:rPr lang="en-US" altLang="en-US" sz="2000" dirty="0" err="1">
                <a:solidFill>
                  <a:srgbClr val="222222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VolumeOfSphere</a:t>
            </a:r>
            <a:r>
              <a:rPr lang="en-US" altLang="en-US" sz="2000" dirty="0">
                <a:solidFill>
                  <a:srgbClr val="222222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(Q16 r) ;</a:t>
            </a:r>
            <a:r>
              <a:rPr lang="en-US" sz="2000" dirty="0"/>
              <a:t> </a:t>
            </a:r>
          </a:p>
          <a:p>
            <a:pPr lvl="0"/>
            <a:endParaRPr lang="en-US" altLang="en-US" sz="2000" dirty="0">
              <a:latin typeface="Consolas" panose="020B0609020204030204" pitchFamily="49" charset="0"/>
            </a:endParaRPr>
          </a:p>
          <a:p>
            <a:pPr defTabSz="928688">
              <a:tabLst>
                <a:tab pos="457200" algn="l"/>
              </a:tabLst>
            </a:pPr>
            <a:r>
              <a:rPr lang="en-US" altLang="en-US" sz="2000" dirty="0" err="1">
                <a:solidFill>
                  <a:srgbClr val="222222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VolumeOfSphere</a:t>
            </a:r>
            <a:r>
              <a:rPr lang="en-US" altLang="en-US" sz="2000" dirty="0">
                <a:solidFill>
                  <a:srgbClr val="222222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:</a:t>
            </a:r>
            <a:endParaRPr lang="en-US" altLang="en-US" sz="2000" dirty="0">
              <a:latin typeface="Consolas" panose="020B0609020204030204" pitchFamily="49" charset="0"/>
            </a:endParaRPr>
          </a:p>
          <a:p>
            <a:pPr marL="457200" defTabSz="928688">
              <a:tabLst>
                <a:tab pos="1828800" algn="l"/>
              </a:tabLst>
            </a:pPr>
            <a:r>
              <a:rPr lang="en-US" altLang="en-US" sz="2000" b="1" dirty="0">
                <a:solidFill>
                  <a:srgbClr val="00B0F0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SMULL</a:t>
            </a:r>
            <a:r>
              <a:rPr lang="en-US" altLang="en-US" sz="2000" dirty="0">
                <a:solidFill>
                  <a:srgbClr val="222222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	R1,R2,R0,R0	// R2.R1 = Q32.32 product </a:t>
            </a:r>
            <a:r>
              <a:rPr lang="en-US" altLang="en-US" sz="2000" b="1" dirty="0">
                <a:solidFill>
                  <a:srgbClr val="92D050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r squared</a:t>
            </a:r>
          </a:p>
          <a:p>
            <a:pPr marL="457200" defTabSz="928688">
              <a:tabLst>
                <a:tab pos="1828800" algn="l"/>
              </a:tabLst>
            </a:pPr>
            <a:r>
              <a:rPr lang="en-US" altLang="en-US" sz="2000" dirty="0">
                <a:solidFill>
                  <a:srgbClr val="222222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LSR	R1,R1,#16	// Extract Q16.16 product into R1</a:t>
            </a:r>
          </a:p>
          <a:p>
            <a:pPr marL="457200" defTabSz="928688">
              <a:tabLst>
                <a:tab pos="1828800" algn="l"/>
              </a:tabLst>
            </a:pPr>
            <a:r>
              <a:rPr lang="en-US" altLang="en-US" sz="2000" dirty="0">
                <a:solidFill>
                  <a:srgbClr val="222222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ORR	R1,R1,R2,LSL#16</a:t>
            </a:r>
          </a:p>
          <a:p>
            <a:pPr marL="457200" defTabSz="928688">
              <a:tabLst>
                <a:tab pos="1828800" algn="l"/>
              </a:tabLst>
            </a:pPr>
            <a:r>
              <a:rPr lang="en-US" altLang="en-US" sz="2000" b="1" dirty="0">
                <a:solidFill>
                  <a:srgbClr val="00B0F0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SMULL</a:t>
            </a:r>
            <a:r>
              <a:rPr lang="en-US" altLang="en-US" sz="2000" dirty="0">
                <a:solidFill>
                  <a:srgbClr val="222222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	R0,R1,R1,R0	// R1.R0 = Q32.32 product </a:t>
            </a:r>
            <a:r>
              <a:rPr lang="en-US" altLang="en-US" sz="2000" b="1" dirty="0">
                <a:solidFill>
                  <a:srgbClr val="92D050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r cubed</a:t>
            </a:r>
          </a:p>
          <a:p>
            <a:pPr marL="457200" defTabSz="928688">
              <a:tabLst>
                <a:tab pos="1828800" algn="l"/>
              </a:tabLst>
            </a:pPr>
            <a:r>
              <a:rPr lang="en-US" altLang="en-US" sz="2000" dirty="0">
                <a:solidFill>
                  <a:srgbClr val="222222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LSR	R0,R0,#16	// Extract Q16.16 product into R0</a:t>
            </a:r>
          </a:p>
          <a:p>
            <a:pPr marL="457200" defTabSz="928688">
              <a:tabLst>
                <a:tab pos="1828800" algn="l"/>
              </a:tabLst>
            </a:pPr>
            <a:r>
              <a:rPr lang="en-US" altLang="en-US" sz="2000" dirty="0">
                <a:solidFill>
                  <a:srgbClr val="222222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ORR	R0,R0,R1,LSL#16</a:t>
            </a:r>
          </a:p>
          <a:p>
            <a:pPr marL="457200" defTabSz="928688">
              <a:tabLst>
                <a:tab pos="1828800" algn="l"/>
              </a:tabLst>
            </a:pPr>
            <a:r>
              <a:rPr lang="en-US" altLang="en-US" sz="2000" dirty="0">
                <a:solidFill>
                  <a:srgbClr val="222222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LDR	R1,=274516	// R1 = </a:t>
            </a:r>
            <a:r>
              <a:rPr lang="en-US" alt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(4*pi)/3</a:t>
            </a:r>
            <a:r>
              <a:rPr lang="en-US" altLang="en-US" sz="2000" dirty="0">
                <a:solidFill>
                  <a:srgbClr val="222222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  </a:t>
            </a:r>
            <a:r>
              <a:rPr lang="en-US" alt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x  65536    </a:t>
            </a:r>
            <a:r>
              <a:rPr lang="en-US" alt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= 274,516.5548…</a:t>
            </a:r>
          </a:p>
          <a:p>
            <a:pPr marL="457200" defTabSz="928688">
              <a:tabLst>
                <a:tab pos="1828800" algn="l"/>
              </a:tabLst>
            </a:pPr>
            <a:r>
              <a:rPr lang="en-US" altLang="en-US" sz="2000" b="1" dirty="0">
                <a:solidFill>
                  <a:srgbClr val="00B0F0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SMULL</a:t>
            </a:r>
            <a:r>
              <a:rPr lang="en-US" altLang="en-US" sz="2000" dirty="0">
                <a:solidFill>
                  <a:srgbClr val="222222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	R0,R1,R0,R1	// R1.R0 = Q32.32 volume</a:t>
            </a:r>
          </a:p>
          <a:p>
            <a:pPr marL="457200" defTabSz="928688">
              <a:tabLst>
                <a:tab pos="1828800" algn="l"/>
              </a:tabLst>
            </a:pPr>
            <a:r>
              <a:rPr lang="en-US" altLang="en-US" sz="2000" dirty="0">
                <a:solidFill>
                  <a:srgbClr val="222222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LSR	R0,R0,#16	// Extract Q16.16 product into R0</a:t>
            </a:r>
          </a:p>
          <a:p>
            <a:pPr marL="457200" defTabSz="928688">
              <a:tabLst>
                <a:tab pos="1828800" algn="l"/>
              </a:tabLst>
            </a:pPr>
            <a:r>
              <a:rPr lang="en-US" altLang="en-US" sz="2000" dirty="0">
                <a:solidFill>
                  <a:srgbClr val="222222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ORR	R0,R0,R1,LSL#16</a:t>
            </a:r>
          </a:p>
          <a:p>
            <a:pPr marL="457200" defTabSz="928688">
              <a:tabLst>
                <a:tab pos="1828800" algn="l"/>
              </a:tabLst>
            </a:pPr>
            <a:r>
              <a:rPr lang="en-US" altLang="en-US" sz="2000" dirty="0">
                <a:solidFill>
                  <a:srgbClr val="222222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BX	LR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4484" y="749250"/>
            <a:ext cx="6450874" cy="734646"/>
          </a:xfrm>
        </p:spPr>
        <p:txBody>
          <a:bodyPr/>
          <a:lstStyle/>
          <a:p>
            <a:pPr algn="l"/>
            <a:r>
              <a:rPr lang="en-US" dirty="0"/>
              <a:t>Ex: Q16 Volume of a Sphere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195771" y="1364711"/>
                <a:ext cx="2207643" cy="10157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200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p>
                        <m:sSupPr>
                          <m:ctrlP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5771" y="1364711"/>
                <a:ext cx="2207643" cy="101572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/>
          <p:cNvSpPr/>
          <p:nvPr/>
        </p:nvSpPr>
        <p:spPr>
          <a:xfrm>
            <a:off x="1450230" y="4873228"/>
            <a:ext cx="7993626" cy="63418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450230" y="3619159"/>
            <a:ext cx="7993626" cy="63418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1246130" y="2819052"/>
            <a:ext cx="406802" cy="667750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9610132" y="2539078"/>
                <a:ext cx="2207643" cy="10157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200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3200" b="1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1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</m:num>
                        <m:den>
                          <m:r>
                            <a:rPr lang="en-US" sz="3200" b="1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den>
                      </m:f>
                      <m:r>
                        <a:rPr lang="en-US" sz="3200" b="1" i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𝛑</m:t>
                      </m:r>
                      <m:sSup>
                        <m:sSupPr>
                          <m:ctrlPr>
                            <a:rPr lang="en-US" sz="3200" b="1" i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𝐫</m:t>
                          </m:r>
                        </m:e>
                        <m:sup>
                          <m:r>
                            <a:rPr lang="en-US" sz="3200" b="1" i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sz="3200" b="1" dirty="0"/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0132" y="2539078"/>
                <a:ext cx="2207643" cy="101572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/>
          <p:cNvCxnSpPr/>
          <p:nvPr/>
        </p:nvCxnSpPr>
        <p:spPr>
          <a:xfrm flipH="1">
            <a:off x="9436299" y="3486801"/>
            <a:ext cx="1974809" cy="0"/>
          </a:xfrm>
          <a:prstGeom prst="straightConnector1">
            <a:avLst/>
          </a:prstGeom>
          <a:ln w="9525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H="1" flipV="1">
            <a:off x="9741005" y="2595072"/>
            <a:ext cx="1670103" cy="218270"/>
          </a:xfrm>
          <a:prstGeom prst="straightConnector1">
            <a:avLst/>
          </a:prstGeom>
          <a:ln w="9525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9525153" y="4534982"/>
                <a:ext cx="2207643" cy="10157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200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3200" b="1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1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</m:num>
                        <m:den>
                          <m:r>
                            <a:rPr lang="en-US" sz="3200" b="1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den>
                      </m:f>
                      <m:r>
                        <a:rPr lang="en-US" sz="3200" b="1" i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𝛑</m:t>
                      </m:r>
                      <m:sSup>
                        <m:sSupPr>
                          <m:ctrlPr>
                            <a:rPr lang="en-US" sz="3200" b="1" i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𝐫</m:t>
                          </m:r>
                        </m:e>
                        <m:sup>
                          <m:r>
                            <a:rPr lang="en-US" sz="3200" b="1" i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sz="3200" b="1" dirty="0"/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5153" y="4534982"/>
                <a:ext cx="2207643" cy="101572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ectangle 18"/>
          <p:cNvSpPr/>
          <p:nvPr/>
        </p:nvSpPr>
        <p:spPr>
          <a:xfrm>
            <a:off x="10493568" y="4610552"/>
            <a:ext cx="653044" cy="9401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/>
          <p:cNvCxnSpPr>
            <a:stCxn id="19" idx="1"/>
            <a:endCxn id="20" idx="3"/>
          </p:cNvCxnSpPr>
          <p:nvPr/>
        </p:nvCxnSpPr>
        <p:spPr>
          <a:xfrm flipH="1" flipV="1">
            <a:off x="8480437" y="4398752"/>
            <a:ext cx="2013131" cy="681879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450230" y="2729852"/>
            <a:ext cx="7993626" cy="63418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3583294" y="5754090"/>
            <a:ext cx="758412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(4 * pi) / 3 = 4.188790205 * (1.25 * 1.25 * 1.25) = 8.181230469</a:t>
            </a:r>
          </a:p>
          <a:p>
            <a:r>
              <a:rPr lang="en-US" dirty="0"/>
              <a:t>             1000 . 0010 1110 0110 0100</a:t>
            </a:r>
          </a:p>
          <a:p>
            <a:r>
              <a:rPr lang="en-US" dirty="0"/>
              <a:t>                   8 .    2       e       6      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69248" y="4262521"/>
            <a:ext cx="2611189" cy="2724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9D8634-A028-901E-8F11-30D774329BE7}"/>
              </a:ext>
            </a:extLst>
          </p:cNvPr>
          <p:cNvSpPr txBox="1"/>
          <p:nvPr/>
        </p:nvSpPr>
        <p:spPr>
          <a:xfrm>
            <a:off x="8763689" y="731922"/>
            <a:ext cx="3428311" cy="58477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 err="1">
                <a:solidFill>
                  <a:srgbClr val="00B0F0"/>
                </a:solidFill>
              </a:rPr>
              <a:t>CPULator</a:t>
            </a:r>
            <a:r>
              <a:rPr lang="en-US" sz="1600" b="1" dirty="0">
                <a:solidFill>
                  <a:srgbClr val="00B0F0"/>
                </a:solidFill>
              </a:rPr>
              <a:t>: </a:t>
            </a:r>
            <a:br>
              <a:rPr lang="en-US" sz="1600" b="1" dirty="0">
                <a:solidFill>
                  <a:srgbClr val="00B0F0"/>
                </a:solidFill>
              </a:rPr>
            </a:br>
            <a:r>
              <a:rPr lang="en-US" sz="1600" b="1" dirty="0">
                <a:solidFill>
                  <a:srgbClr val="FF0000"/>
                </a:solidFill>
              </a:rPr>
              <a:t>03_FixedReal_VolumeOfSphere.s</a:t>
            </a:r>
          </a:p>
        </p:txBody>
      </p:sp>
    </p:spTree>
    <p:extLst>
      <p:ext uri="{BB962C8B-B14F-4D97-AF65-F5344CB8AC3E}">
        <p14:creationId xmlns:p14="http://schemas.microsoft.com/office/powerpoint/2010/main" val="9878742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58" y="741171"/>
            <a:ext cx="10417284" cy="814914"/>
          </a:xfrm>
        </p:spPr>
        <p:txBody>
          <a:bodyPr/>
          <a:lstStyle/>
          <a:p>
            <a:r>
              <a:rPr lang="en-US" altLang="en-US" dirty="0" err="1">
                <a:solidFill>
                  <a:srgbClr val="222222"/>
                </a:solidFill>
                <a:latin typeface="Consolas" panose="020B0609020204030204" pitchFamily="49" charset="0"/>
              </a:rPr>
              <a:t>VolumeOfSphere</a:t>
            </a:r>
            <a:r>
              <a:rPr lang="en-US" altLang="en-US" dirty="0">
                <a:solidFill>
                  <a:srgbClr val="222222"/>
                </a:solidFill>
                <a:latin typeface="Consolas" panose="020B0609020204030204" pitchFamily="49" charset="0"/>
              </a:rPr>
              <a:t> </a:t>
            </a:r>
            <a:r>
              <a:rPr lang="en-US" dirty="0" err="1"/>
              <a:t>CPUlator</a:t>
            </a:r>
            <a:r>
              <a:rPr lang="en-US" dirty="0"/>
              <a:t> 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3254" y="1438170"/>
            <a:ext cx="6846230" cy="515845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459C8FD-724E-A08D-1E70-1958C5F96CE1}"/>
              </a:ext>
            </a:extLst>
          </p:cNvPr>
          <p:cNvSpPr txBox="1"/>
          <p:nvPr/>
        </p:nvSpPr>
        <p:spPr>
          <a:xfrm>
            <a:off x="8763689" y="731922"/>
            <a:ext cx="3428311" cy="58477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 err="1">
                <a:solidFill>
                  <a:srgbClr val="00B0F0"/>
                </a:solidFill>
              </a:rPr>
              <a:t>CPULator</a:t>
            </a:r>
            <a:r>
              <a:rPr lang="en-US" sz="1600" b="1" dirty="0">
                <a:solidFill>
                  <a:srgbClr val="00B0F0"/>
                </a:solidFill>
              </a:rPr>
              <a:t>: </a:t>
            </a:r>
            <a:br>
              <a:rPr lang="en-US" sz="1600" b="1" dirty="0">
                <a:solidFill>
                  <a:srgbClr val="00B0F0"/>
                </a:solidFill>
              </a:rPr>
            </a:br>
            <a:r>
              <a:rPr lang="en-US" sz="1600" b="1" dirty="0">
                <a:solidFill>
                  <a:srgbClr val="FF0000"/>
                </a:solidFill>
              </a:rPr>
              <a:t>03_FixedReal_VolumeOfSphere.s</a:t>
            </a:r>
          </a:p>
        </p:txBody>
      </p:sp>
    </p:spTree>
    <p:extLst>
      <p:ext uri="{BB962C8B-B14F-4D97-AF65-F5344CB8AC3E}">
        <p14:creationId xmlns:p14="http://schemas.microsoft.com/office/powerpoint/2010/main" val="22651659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53586173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1230</TotalTime>
  <Words>2151</Words>
  <Application>Microsoft Office PowerPoint</Application>
  <PresentationFormat>Widescreen</PresentationFormat>
  <Paragraphs>613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31</vt:i4>
      </vt:variant>
    </vt:vector>
  </HeadingPairs>
  <TitlesOfParts>
    <vt:vector size="42" baseType="lpstr">
      <vt:lpstr>Arial</vt:lpstr>
      <vt:lpstr>Arial Narrow</vt:lpstr>
      <vt:lpstr>Calibri</vt:lpstr>
      <vt:lpstr>Cambria Math</vt:lpstr>
      <vt:lpstr>Consolas</vt:lpstr>
      <vt:lpstr>Garamond</vt:lpstr>
      <vt:lpstr>Times New Roman</vt:lpstr>
      <vt:lpstr>Wingdings</vt:lpstr>
      <vt:lpstr>SCUTemplate</vt:lpstr>
      <vt:lpstr>Custom Design</vt:lpstr>
      <vt:lpstr>1_SCUTemplate</vt:lpstr>
      <vt:lpstr>CSEN20</vt:lpstr>
      <vt:lpstr>Chapter 11 Fixed-Point Reals</vt:lpstr>
      <vt:lpstr>Why Fixed-Point Reals?</vt:lpstr>
      <vt:lpstr>What Are Fixed-Point Reals?</vt:lpstr>
      <vt:lpstr>Q FORMAT AND THE IMAGINARY BINARY POINT  </vt:lpstr>
      <vt:lpstr>ADDITION AND SUBTRACTION OF FIXED-POINT REALS  </vt:lpstr>
      <vt:lpstr>ADDITION AND SUBTRACTION OF FIXED-POINT REALS  </vt:lpstr>
      <vt:lpstr>MULTIPLICATION OF FIXED-POINT REALS</vt:lpstr>
      <vt:lpstr>MULTIPLICATION OF FIXED-POINT REALS </vt:lpstr>
      <vt:lpstr>DIVISION OF FIXED-POINT REALS</vt:lpstr>
      <vt:lpstr>DIVISION OF FIXED-POINT REALS </vt:lpstr>
      <vt:lpstr>DIVISION: IMPROVING ACCURACY</vt:lpstr>
      <vt:lpstr>DIVISION: IMPROVING ACCURACY</vt:lpstr>
      <vt:lpstr>Chapter 11 Fixed-Point Reals</vt:lpstr>
      <vt:lpstr>FIXED-POINT USING A UNIVERSAL Q16.16 FORMAT  </vt:lpstr>
      <vt:lpstr>Interpreting a Q16.16 Real</vt:lpstr>
      <vt:lpstr>Converting Q16.16 to float</vt:lpstr>
      <vt:lpstr>Creating a Q16.16 Real Constant</vt:lpstr>
      <vt:lpstr>Converting float to Q16.16</vt:lpstr>
      <vt:lpstr>Converting float to Q16.16</vt:lpstr>
      <vt:lpstr>Chapter 11 Fixed-Point Reals</vt:lpstr>
      <vt:lpstr>Q16.16 × Q16.16 Multiplication</vt:lpstr>
      <vt:lpstr>Q16.16 × Q16.16 Multiplication</vt:lpstr>
      <vt:lpstr>Implement this example with CPUlator  </vt:lpstr>
      <vt:lpstr>Implement this example with CPUlator  </vt:lpstr>
      <vt:lpstr>Special Case: Multiplying Q16.16 by an Integer</vt:lpstr>
      <vt:lpstr>Example: Q16 Area of a Triangle</vt:lpstr>
      <vt:lpstr>AreaOfTriangle CPUlator  </vt:lpstr>
      <vt:lpstr>Ex: Q16 Volume of a Sphere</vt:lpstr>
      <vt:lpstr>VolumeOfSphere CPUlator  </vt:lpstr>
      <vt:lpstr>Done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229</cp:revision>
  <cp:lastPrinted>2023-09-11T21:46:56Z</cp:lastPrinted>
  <dcterms:created xsi:type="dcterms:W3CDTF">2023-09-09T19:51:41Z</dcterms:created>
  <dcterms:modified xsi:type="dcterms:W3CDTF">2026-08-20T21:24:40Z</dcterms:modified>
</cp:coreProperties>
</file>