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36"/>
  </p:notesMasterIdLst>
  <p:handoutMasterIdLst>
    <p:handoutMasterId r:id="rId37"/>
  </p:handoutMasterIdLst>
  <p:sldIdLst>
    <p:sldId id="333" r:id="rId4"/>
    <p:sldId id="370" r:id="rId5"/>
    <p:sldId id="339" r:id="rId6"/>
    <p:sldId id="338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75" r:id="rId17"/>
    <p:sldId id="350" r:id="rId18"/>
    <p:sldId id="351" r:id="rId19"/>
    <p:sldId id="352" r:id="rId20"/>
    <p:sldId id="353" r:id="rId21"/>
    <p:sldId id="354" r:id="rId22"/>
    <p:sldId id="372" r:id="rId23"/>
    <p:sldId id="355" r:id="rId24"/>
    <p:sldId id="356" r:id="rId25"/>
    <p:sldId id="357" r:id="rId26"/>
    <p:sldId id="373" r:id="rId27"/>
    <p:sldId id="376" r:id="rId28"/>
    <p:sldId id="358" r:id="rId29"/>
    <p:sldId id="360" r:id="rId30"/>
    <p:sldId id="377" r:id="rId31"/>
    <p:sldId id="361" r:id="rId32"/>
    <p:sldId id="374" r:id="rId33"/>
    <p:sldId id="336" r:id="rId34"/>
    <p:sldId id="509" r:id="rId3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2" y="2144557"/>
            <a:ext cx="10427369" cy="454099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52787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11</a:t>
            </a:r>
            <a:br>
              <a:rPr lang="en-US" dirty="0"/>
            </a:br>
            <a:r>
              <a:rPr lang="en-US" dirty="0"/>
              <a:t>Fixed-Point Reals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Representation and Arithmetic</a:t>
            </a:r>
          </a:p>
        </p:txBody>
      </p:sp>
    </p:spTree>
    <p:extLst>
      <p:ext uri="{BB962C8B-B14F-4D97-AF65-F5344CB8AC3E}">
        <p14:creationId xmlns:p14="http://schemas.microsoft.com/office/powerpoint/2010/main" val="246242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202"/>
            <a:ext cx="5544495" cy="734703"/>
          </a:xfrm>
        </p:spPr>
        <p:txBody>
          <a:bodyPr/>
          <a:lstStyle/>
          <a:p>
            <a:r>
              <a:rPr lang="en-US" dirty="0"/>
              <a:t>Why Fixed-Point Reals?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03691"/>
            <a:ext cx="10365147" cy="484977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Many cheap CPU chips designed for embedded applications </a:t>
            </a:r>
            <a:r>
              <a:rPr lang="en-US" b="1" dirty="0">
                <a:solidFill>
                  <a:srgbClr val="FF0000"/>
                </a:solidFill>
              </a:rPr>
              <a:t>do not have a FPU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Software libraries that emulate a FPU </a:t>
            </a:r>
            <a:r>
              <a:rPr lang="en-US" b="1" dirty="0">
                <a:solidFill>
                  <a:srgbClr val="00B050"/>
                </a:solidFill>
              </a:rPr>
              <a:t>can be </a:t>
            </a:r>
            <a:r>
              <a:rPr lang="en-US" dirty="0">
                <a:solidFill>
                  <a:schemeClr val="tx1"/>
                </a:solidFill>
              </a:rPr>
              <a:t>used but are </a:t>
            </a:r>
            <a:r>
              <a:rPr lang="en-US" b="1" dirty="0">
                <a:solidFill>
                  <a:srgbClr val="FF0000"/>
                </a:solidFill>
              </a:rPr>
              <a:t>slow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Many embedded applications are </a:t>
            </a:r>
            <a:r>
              <a:rPr lang="en-US" b="1" dirty="0">
                <a:solidFill>
                  <a:srgbClr val="FF0000"/>
                </a:solidFill>
              </a:rPr>
              <a:t>multi-threaded: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Using a FPU significantly increases the context-switch time.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Preserve S0 – S31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8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202"/>
            <a:ext cx="6523063" cy="686577"/>
          </a:xfrm>
        </p:spPr>
        <p:txBody>
          <a:bodyPr/>
          <a:lstStyle/>
          <a:p>
            <a:r>
              <a:rPr lang="en-US" dirty="0"/>
              <a:t>What Are Fixed-Point Reals?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 way to represent a real number using an integer.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Integers imply a binary point at the far right.</a:t>
            </a:r>
          </a:p>
          <a:p>
            <a:pPr marL="341313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741363" lvl="2" indent="0">
              <a:buNone/>
            </a:pPr>
            <a:r>
              <a:rPr lang="en-US" dirty="0">
                <a:solidFill>
                  <a:schemeClr val="tx1"/>
                </a:solidFill>
              </a:rPr>
              <a:t>Binary point far right:	00101101</a:t>
            </a:r>
            <a:r>
              <a:rPr lang="en-US" sz="2800" b="1" dirty="0">
                <a:solidFill>
                  <a:srgbClr val="FF0000"/>
                </a:solidFill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	+45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We can </a:t>
            </a:r>
            <a:r>
              <a:rPr lang="en-US" i="1" dirty="0">
                <a:solidFill>
                  <a:schemeClr val="tx1"/>
                </a:solidFill>
              </a:rPr>
              <a:t>imagine</a:t>
            </a:r>
            <a:r>
              <a:rPr lang="en-US" dirty="0">
                <a:solidFill>
                  <a:schemeClr val="tx1"/>
                </a:solidFill>
              </a:rPr>
              <a:t> the binary point to be anywhere:</a:t>
            </a:r>
          </a:p>
          <a:p>
            <a:pPr marL="1257300" lvl="3" indent="0">
              <a:buNone/>
            </a:pP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800100" lvl="2" indent="0">
              <a:buNone/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Binary point midway:	0010</a:t>
            </a:r>
            <a:r>
              <a:rPr lang="en-US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1101		+2.8125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36516" y="3297455"/>
            <a:ext cx="7162800" cy="6096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36516" y="4916662"/>
            <a:ext cx="7162800" cy="6096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2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8118"/>
            <a:ext cx="9715442" cy="618126"/>
          </a:xfrm>
        </p:spPr>
        <p:txBody>
          <a:bodyPr>
            <a:normAutofit/>
          </a:bodyPr>
          <a:lstStyle/>
          <a:p>
            <a:r>
              <a:rPr lang="en-US" sz="3200" dirty="0"/>
              <a:t>Q FORMAT AND THE IMAGINARY BINARY POINT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3375"/>
            <a:ext cx="10417284" cy="383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 way to specify the position of the binary point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“Q” followed by the number of bits to the right of the binary point: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Sometimes use </a:t>
            </a:r>
            <a:r>
              <a:rPr lang="en-US" dirty="0" err="1">
                <a:solidFill>
                  <a:schemeClr val="tx1"/>
                </a:solidFill>
              </a:rPr>
              <a:t>Q</a:t>
            </a:r>
            <a:r>
              <a:rPr lang="en-US" b="1" dirty="0" err="1">
                <a:solidFill>
                  <a:srgbClr val="00B050"/>
                </a:solidFill>
              </a:rPr>
              <a:t>m</a:t>
            </a:r>
            <a:r>
              <a:rPr lang="en-US" dirty="0" err="1">
                <a:solidFill>
                  <a:schemeClr val="tx1"/>
                </a:solidFill>
              </a:rPr>
              <a:t>.</a:t>
            </a:r>
            <a:r>
              <a:rPr lang="en-US" b="1" dirty="0" err="1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, where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m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= # </a:t>
            </a:r>
            <a:r>
              <a:rPr lang="en-US" b="1" dirty="0">
                <a:solidFill>
                  <a:srgbClr val="00B050"/>
                </a:solidFill>
              </a:rPr>
              <a:t>integer</a:t>
            </a:r>
            <a:r>
              <a:rPr lang="en-US" dirty="0">
                <a:solidFill>
                  <a:schemeClr val="tx1"/>
                </a:solidFill>
              </a:rPr>
              <a:t> bits and 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 = # </a:t>
            </a:r>
            <a:r>
              <a:rPr lang="en-US" b="1" dirty="0">
                <a:solidFill>
                  <a:srgbClr val="FF0000"/>
                </a:solidFill>
              </a:rPr>
              <a:t>fractional</a:t>
            </a:r>
            <a:r>
              <a:rPr lang="en-US" dirty="0">
                <a:solidFill>
                  <a:schemeClr val="tx1"/>
                </a:solidFill>
              </a:rPr>
              <a:t> bits.</a:t>
            </a:r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160837"/>
              </p:ext>
            </p:extLst>
          </p:nvPr>
        </p:nvGraphicFramePr>
        <p:xfrm>
          <a:off x="1511970" y="2933751"/>
          <a:ext cx="7315203" cy="1770063"/>
        </p:xfrm>
        <a:graphic>
          <a:graphicData uri="http://schemas.openxmlformats.org/drawingml/2006/table">
            <a:tbl>
              <a:tblPr firstRow="1" firstCol="1" bandRow="1"/>
              <a:tblGrid>
                <a:gridCol w="1766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94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Integer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Implied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+71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01000111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2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Q0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01000111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.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 panose="020B0604020202020204" pitchFamily="34" charset="0"/>
                        </a:rPr>
                        <a:t>+71/2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Arial" panose="020B0604020202020204" pitchFamily="34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Arial" panose="020B0604020202020204" pitchFamily="34" charset="0"/>
                        </a:rPr>
                        <a:t>71.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Arial" panose="020B0604020202020204" pitchFamily="34" charset="0"/>
                        </a:rPr>
                        <a:t>00000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Arial" panose="020B0604020202020204" pitchFamily="34" charset="0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Q3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01000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111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+71/2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3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= 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  8.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87500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−56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10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(11001000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2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Q2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110010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00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−56/2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2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−14.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00000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Q5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110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01000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−56/2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5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  1.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75000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95021" y="3309805"/>
            <a:ext cx="603885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b="1" dirty="0"/>
              <a:t>Q</a:t>
            </a:r>
            <a:r>
              <a:rPr lang="en-US" b="1" dirty="0">
                <a:solidFill>
                  <a:srgbClr val="00B050"/>
                </a:solidFill>
              </a:rPr>
              <a:t>8</a:t>
            </a:r>
            <a:r>
              <a:rPr lang="en-US" b="1" dirty="0"/>
              <a:t>.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5021" y="3676186"/>
            <a:ext cx="603885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b="1" dirty="0"/>
              <a:t>Q</a:t>
            </a:r>
            <a:r>
              <a:rPr lang="en-US" b="1" dirty="0">
                <a:solidFill>
                  <a:srgbClr val="00B050"/>
                </a:solidFill>
              </a:rPr>
              <a:t>5</a:t>
            </a:r>
            <a:r>
              <a:rPr lang="en-US" b="1" dirty="0"/>
              <a:t>.</a:t>
            </a:r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5037" y="4033050"/>
            <a:ext cx="603885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b="1" dirty="0"/>
              <a:t>Q</a:t>
            </a:r>
            <a:r>
              <a:rPr lang="en-US" b="1" dirty="0">
                <a:solidFill>
                  <a:srgbClr val="00B050"/>
                </a:solidFill>
              </a:rPr>
              <a:t>6</a:t>
            </a:r>
            <a:r>
              <a:rPr lang="en-US" b="1" dirty="0"/>
              <a:t>.</a:t>
            </a:r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5021" y="4418837"/>
            <a:ext cx="603885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b="1" dirty="0"/>
              <a:t>Q</a:t>
            </a:r>
            <a:r>
              <a:rPr lang="en-US" b="1" dirty="0">
                <a:solidFill>
                  <a:srgbClr val="00B050"/>
                </a:solidFill>
              </a:rPr>
              <a:t>3</a:t>
            </a:r>
            <a:r>
              <a:rPr lang="en-US" b="1" dirty="0"/>
              <a:t>.</a:t>
            </a:r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08868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838" y="733150"/>
            <a:ext cx="10417284" cy="662513"/>
          </a:xfrm>
        </p:spPr>
        <p:txBody>
          <a:bodyPr>
            <a:normAutofit/>
          </a:bodyPr>
          <a:lstStyle/>
          <a:p>
            <a:r>
              <a:rPr lang="en-US" sz="2800" dirty="0"/>
              <a:t>ADDITION AND SUBTRACTION OF FIXED-POINT REALS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6116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Easy as long as operands have same Q format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Just use regular </a:t>
            </a:r>
            <a:r>
              <a:rPr lang="en-US" u="sng" dirty="0">
                <a:solidFill>
                  <a:schemeClr val="tx1"/>
                </a:solidFill>
              </a:rPr>
              <a:t>integer</a:t>
            </a:r>
            <a:r>
              <a:rPr lang="en-US" dirty="0">
                <a:solidFill>
                  <a:schemeClr val="tx1"/>
                </a:solidFill>
              </a:rPr>
              <a:t> addition or subtraction: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127243"/>
              </p:ext>
            </p:extLst>
          </p:nvPr>
        </p:nvGraphicFramePr>
        <p:xfrm>
          <a:off x="2304449" y="2109024"/>
          <a:ext cx="7315200" cy="1182371"/>
        </p:xfrm>
        <a:graphic>
          <a:graphicData uri="http://schemas.openxmlformats.org/drawingml/2006/table">
            <a:tbl>
              <a:tblPr firstRow="1" firstCol="1" bandRow="1"/>
              <a:tblGrid>
                <a:gridCol w="170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3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Operand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Interpretation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+30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+30/2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+3.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750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−54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-54/2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−6.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750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410502"/>
              </p:ext>
            </p:extLst>
          </p:nvPr>
        </p:nvGraphicFramePr>
        <p:xfrm>
          <a:off x="905565" y="4739640"/>
          <a:ext cx="7315200" cy="787972"/>
        </p:xfrm>
        <a:graphic>
          <a:graphicData uri="http://schemas.openxmlformats.org/drawingml/2006/table">
            <a:tbl>
              <a:tblPr firstRow="1" firstCol="1" bandRow="1"/>
              <a:tblGrid>
                <a:gridCol w="170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3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A+B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−24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-24/2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 −3.000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918587"/>
              </p:ext>
            </p:extLst>
          </p:nvPr>
        </p:nvGraphicFramePr>
        <p:xfrm>
          <a:off x="905565" y="5577840"/>
          <a:ext cx="7315200" cy="394399"/>
        </p:xfrm>
        <a:graphic>
          <a:graphicData uri="http://schemas.openxmlformats.org/drawingml/2006/table">
            <a:tbl>
              <a:tblPr firstRow="1" firstCol="1" bandRow="1"/>
              <a:tblGrid>
                <a:gridCol w="170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3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A−B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+84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+84/2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+10.500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1632284" y="2848999"/>
            <a:ext cx="6710671" cy="235329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981200" y="3264635"/>
            <a:ext cx="6452440" cy="2011544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59241" y="5189387"/>
            <a:ext cx="1266082" cy="35593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323561" y="5162042"/>
            <a:ext cx="335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+3.</a:t>
            </a:r>
            <a:r>
              <a:rPr lang="en-US" b="1" dirty="0">
                <a:solidFill>
                  <a:srgbClr val="FF0000"/>
                </a:solidFill>
              </a:rPr>
              <a:t>750</a:t>
            </a:r>
            <a:r>
              <a:rPr lang="en-US" dirty="0"/>
              <a:t> + (-)6.</a:t>
            </a:r>
            <a:r>
              <a:rPr lang="en-US" b="1" dirty="0">
                <a:solidFill>
                  <a:srgbClr val="FF0000"/>
                </a:solidFill>
              </a:rPr>
              <a:t>750</a:t>
            </a:r>
            <a:r>
              <a:rPr lang="en-US" dirty="0"/>
              <a:t> =   -3.</a:t>
            </a:r>
            <a:r>
              <a:rPr lang="en-US" b="1" dirty="0">
                <a:solidFill>
                  <a:srgbClr val="FF0000"/>
                </a:solidFill>
              </a:rPr>
              <a:t>000</a:t>
            </a:r>
            <a:r>
              <a:rPr lang="en-US" baseline="-25000" dirty="0">
                <a:solidFill>
                  <a:srgbClr val="000000"/>
                </a:solidFill>
                <a:ea typeface="Calibri"/>
                <a:cs typeface="Calibri"/>
              </a:rPr>
              <a:t>10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285573" y="5605264"/>
            <a:ext cx="3272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+3.</a:t>
            </a:r>
            <a:r>
              <a:rPr lang="en-US" b="1" dirty="0">
                <a:solidFill>
                  <a:srgbClr val="FF0000"/>
                </a:solidFill>
              </a:rPr>
              <a:t>750</a:t>
            </a:r>
            <a:r>
              <a:rPr lang="en-US" dirty="0"/>
              <a:t> – (-)6.</a:t>
            </a:r>
            <a:r>
              <a:rPr lang="en-US" b="1" dirty="0">
                <a:solidFill>
                  <a:srgbClr val="FF0000"/>
                </a:solidFill>
              </a:rPr>
              <a:t>750</a:t>
            </a:r>
            <a:r>
              <a:rPr lang="en-US" dirty="0"/>
              <a:t> = +10.</a:t>
            </a:r>
            <a:r>
              <a:rPr lang="en-US" b="1" dirty="0">
                <a:solidFill>
                  <a:srgbClr val="FF0000"/>
                </a:solidFill>
              </a:rPr>
              <a:t>500</a:t>
            </a:r>
            <a:r>
              <a:rPr lang="en-US" baseline="-25000" dirty="0">
                <a:solidFill>
                  <a:srgbClr val="000000"/>
                </a:solidFill>
                <a:ea typeface="Calibri"/>
                <a:cs typeface="Calibri"/>
              </a:rPr>
              <a:t>10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859241" y="5593846"/>
            <a:ext cx="1266081" cy="4012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619649" y="2558850"/>
            <a:ext cx="2063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+30/8 =   -3.</a:t>
            </a:r>
            <a:r>
              <a:rPr lang="en-US" b="1" dirty="0">
                <a:solidFill>
                  <a:srgbClr val="FF0000"/>
                </a:solidFill>
              </a:rPr>
              <a:t>750</a:t>
            </a:r>
            <a:r>
              <a:rPr lang="en-US" baseline="-25000" dirty="0">
                <a:solidFill>
                  <a:srgbClr val="000000"/>
                </a:solidFill>
                <a:ea typeface="Calibri"/>
                <a:cs typeface="Calibri"/>
              </a:rPr>
              <a:t>10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663764" y="2968429"/>
            <a:ext cx="2063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-54/8 =   -6.</a:t>
            </a:r>
            <a:r>
              <a:rPr lang="en-US" b="1" dirty="0">
                <a:solidFill>
                  <a:srgbClr val="FF0000"/>
                </a:solidFill>
              </a:rPr>
              <a:t>750</a:t>
            </a:r>
            <a:r>
              <a:rPr lang="en-US" baseline="-25000" dirty="0">
                <a:solidFill>
                  <a:srgbClr val="000000"/>
                </a:solidFill>
                <a:ea typeface="Calibri"/>
                <a:cs typeface="Calibri"/>
              </a:rPr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074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838" y="725128"/>
            <a:ext cx="10417284" cy="610377"/>
          </a:xfrm>
        </p:spPr>
        <p:txBody>
          <a:bodyPr>
            <a:normAutofit/>
          </a:bodyPr>
          <a:lstStyle/>
          <a:p>
            <a:r>
              <a:rPr lang="en-US" sz="2800" dirty="0"/>
              <a:t>ADDITION AND SUBTRACTION OF FIXED-POINT REALS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526" y="1657149"/>
            <a:ext cx="10372595" cy="497626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Pre-align operands with </a:t>
            </a:r>
            <a:r>
              <a:rPr lang="en-US" b="1" dirty="0">
                <a:solidFill>
                  <a:srgbClr val="FF0000"/>
                </a:solidFill>
              </a:rPr>
              <a:t>different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Q formats: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Shift the operand with fewer fractional bits left: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055657"/>
              </p:ext>
            </p:extLst>
          </p:nvPr>
        </p:nvGraphicFramePr>
        <p:xfrm>
          <a:off x="2468880" y="2346960"/>
          <a:ext cx="7315200" cy="1182371"/>
        </p:xfrm>
        <a:graphic>
          <a:graphicData uri="http://schemas.openxmlformats.org/drawingml/2006/table">
            <a:tbl>
              <a:tblPr firstRow="1" firstCol="1" bandRow="1"/>
              <a:tblGrid>
                <a:gridCol w="170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3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Operand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Interpretation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+30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+30/2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+3.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75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−54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-54/2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−1.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6875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68888"/>
              </p:ext>
            </p:extLst>
          </p:nvPr>
        </p:nvGraphicFramePr>
        <p:xfrm>
          <a:off x="2453640" y="5654040"/>
          <a:ext cx="7315200" cy="787972"/>
        </p:xfrm>
        <a:graphic>
          <a:graphicData uri="http://schemas.openxmlformats.org/drawingml/2006/table">
            <a:tbl>
              <a:tblPr firstRow="1" firstCol="1" bandRow="1"/>
              <a:tblGrid>
                <a:gridCol w="170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3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A+B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+66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+66/2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+2.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0625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020989"/>
              </p:ext>
            </p:extLst>
          </p:nvPr>
        </p:nvGraphicFramePr>
        <p:xfrm>
          <a:off x="2453640" y="4389120"/>
          <a:ext cx="7315200" cy="1182371"/>
        </p:xfrm>
        <a:graphic>
          <a:graphicData uri="http://schemas.openxmlformats.org/drawingml/2006/table">
            <a:tbl>
              <a:tblPr firstRow="1" firstCol="1" bandRow="1"/>
              <a:tblGrid>
                <a:gridCol w="170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3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Operand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Interpretation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+120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+120/2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+3.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75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−54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-54/2</a:t>
                      </a:r>
                      <a:r>
                        <a:rPr lang="en-US" sz="20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−1.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6875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76269" y="2771952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76269" y="4814187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69380" y="3817866"/>
            <a:ext cx="55175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* </a:t>
            </a:r>
            <a:r>
              <a:rPr lang="en-US" b="1" dirty="0">
                <a:ea typeface="Calibri"/>
                <a:cs typeface="Calibri"/>
              </a:rPr>
              <a:t>2</a:t>
            </a:r>
            <a:r>
              <a:rPr lang="en-US" b="1" baseline="30000" dirty="0">
                <a:solidFill>
                  <a:srgbClr val="FF0000"/>
                </a:solidFill>
                <a:ea typeface="Calibri"/>
                <a:cs typeface="Calibri"/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>
            <a:stCxn id="6" idx="1"/>
          </p:cNvCxnSpPr>
          <p:nvPr/>
        </p:nvCxnSpPr>
        <p:spPr>
          <a:xfrm flipH="1">
            <a:off x="5105400" y="4002532"/>
            <a:ext cx="1363980" cy="8783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021134" y="4028102"/>
            <a:ext cx="667446" cy="852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436589" y="4833566"/>
            <a:ext cx="943631" cy="30547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060549" y="3871727"/>
            <a:ext cx="1802096" cy="2616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Transform to Q</a:t>
            </a:r>
            <a:r>
              <a:rPr lang="en-US" sz="1100" b="1" dirty="0">
                <a:solidFill>
                  <a:srgbClr val="FF0000"/>
                </a:solidFill>
              </a:rPr>
              <a:t>5</a:t>
            </a:r>
            <a:r>
              <a:rPr lang="en-US" sz="1100" b="1" dirty="0"/>
              <a:t> format!</a:t>
            </a:r>
          </a:p>
        </p:txBody>
      </p:sp>
    </p:spTree>
    <p:extLst>
      <p:ext uri="{BB962C8B-B14F-4D97-AF65-F5344CB8AC3E}">
        <p14:creationId xmlns:p14="http://schemas.microsoft.com/office/powerpoint/2010/main" val="211645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5638800" y="2519214"/>
            <a:ext cx="123444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153</a:t>
            </a:r>
          </a:p>
          <a:p>
            <a:r>
              <a:rPr lang="en-US" sz="3200" u="sng" dirty="0">
                <a:latin typeface="Consolas" panose="020B0609020204030204" pitchFamily="49" charset="0"/>
                <a:cs typeface="Consolas" panose="020B0609020204030204" pitchFamily="49" charset="0"/>
              </a:rPr>
              <a:t> ×23</a:t>
            </a: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459</a:t>
            </a: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306 </a:t>
            </a: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3519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5784"/>
            <a:ext cx="9599137" cy="691964"/>
          </a:xfrm>
        </p:spPr>
        <p:txBody>
          <a:bodyPr>
            <a:normAutofit/>
          </a:bodyPr>
          <a:lstStyle/>
          <a:p>
            <a:r>
              <a:rPr lang="en-US" dirty="0"/>
              <a:t>MULTIPLICATION OF FIXED-POINT REALS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703428"/>
            <a:ext cx="10469421" cy="4970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Consider what happens when you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multiply two decimal reals: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1.53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×2.3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u="sng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5759194" y="4472449"/>
            <a:ext cx="899160" cy="15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Arrow 5"/>
          <p:cNvSpPr/>
          <p:nvPr/>
        </p:nvSpPr>
        <p:spPr>
          <a:xfrm>
            <a:off x="3991154" y="2936032"/>
            <a:ext cx="41148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2244" y="3423394"/>
            <a:ext cx="19316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digits of the product are determined without regard to the decimal points.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26304" y="4488984"/>
            <a:ext cx="13147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3.519</a:t>
            </a:r>
            <a:endParaRPr lang="en-US" sz="3200" dirty="0"/>
          </a:p>
        </p:txBody>
      </p:sp>
      <p:sp>
        <p:nvSpPr>
          <p:cNvPr id="7" name="Right Arrow 6"/>
          <p:cNvSpPr/>
          <p:nvPr/>
        </p:nvSpPr>
        <p:spPr>
          <a:xfrm>
            <a:off x="7594032" y="4628970"/>
            <a:ext cx="41148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B9CD1-5B7C-4B6D-BE81-68521D8A4C02}"/>
              </a:ext>
            </a:extLst>
          </p:cNvPr>
          <p:cNvSpPr txBox="1"/>
          <p:nvPr/>
        </p:nvSpPr>
        <p:spPr>
          <a:xfrm>
            <a:off x="7489598" y="2920374"/>
            <a:ext cx="28074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dirty="0"/>
              <a:t>Then the decimal point is inserted so that the number of fractional digits is the sum of those in the two operands.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639332" y="5992484"/>
                <a:ext cx="97736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𝑡𝑜𝑔𝑒𝑡ℎ𝑒𝑟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𝑡ℎ𝑒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𝑓𝑟𝑎𝑐𝑡𝑖𝑜𝑛𝑎𝑙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𝑑𝑖𝑔𝑖𝑡𝑠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2+1=3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32" y="5992484"/>
                <a:ext cx="9773652" cy="307777"/>
              </a:xfrm>
              <a:prstGeom prst="rect">
                <a:avLst/>
              </a:prstGeom>
              <a:blipFill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8277726" y="4933770"/>
            <a:ext cx="870285" cy="1102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253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5129"/>
            <a:ext cx="9607158" cy="614388"/>
          </a:xfrm>
        </p:spPr>
        <p:txBody>
          <a:bodyPr>
            <a:normAutofit/>
          </a:bodyPr>
          <a:lstStyle/>
          <a:p>
            <a:r>
              <a:rPr lang="en-US" dirty="0"/>
              <a:t>MULTIPLICATION OF FIXED-POINT REALS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Same as in decimal, but Q format changes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The number of fractional bits in the product is the sum of those in the operands.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496830"/>
              </p:ext>
            </p:extLst>
          </p:nvPr>
        </p:nvGraphicFramePr>
        <p:xfrm>
          <a:off x="2514601" y="2971800"/>
          <a:ext cx="7315201" cy="1749426"/>
        </p:xfrm>
        <a:graphic>
          <a:graphicData uri="http://schemas.openxmlformats.org/drawingml/2006/table">
            <a:tbl>
              <a:tblPr firstRow="1" firstCol="1" bandRow="1"/>
              <a:tblGrid>
                <a:gridCol w="1358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9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Operand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+30/2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7500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+51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2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+51/2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2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+12.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7500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A×B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+1530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+1530/2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5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152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+47.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8125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152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573988" y="3355147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573987" y="3699079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573986" y="4384874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325202" y="1484355"/>
            <a:ext cx="184043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Add</a:t>
            </a:r>
            <a:r>
              <a:rPr lang="en-US" b="1" dirty="0">
                <a:solidFill>
                  <a:srgbClr val="FF0000"/>
                </a:solidFill>
              </a:rPr>
              <a:t> 3 + 2 </a:t>
            </a:r>
            <a:r>
              <a:rPr lang="en-US" b="1" dirty="0"/>
              <a:t>=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cxnSp>
        <p:nvCxnSpPr>
          <p:cNvPr id="9" name="Straight Arrow Connector 8"/>
          <p:cNvCxnSpPr>
            <a:endCxn id="5" idx="0"/>
          </p:cNvCxnSpPr>
          <p:nvPr/>
        </p:nvCxnSpPr>
        <p:spPr>
          <a:xfrm flipH="1">
            <a:off x="5817204" y="1767509"/>
            <a:ext cx="1197207" cy="15876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6096001" y="1767509"/>
            <a:ext cx="1239252" cy="20866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  <a:endCxn id="7" idx="3"/>
          </p:cNvCxnSpPr>
          <p:nvPr/>
        </p:nvCxnSpPr>
        <p:spPr>
          <a:xfrm flipH="1">
            <a:off x="6060417" y="1767509"/>
            <a:ext cx="1824278" cy="2770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93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95403"/>
            <a:ext cx="10417284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Consider what happens when you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divide two decimal reals: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EE8B09D2-78D8-4D2B-AB8B-071FD390B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688821"/>
              </p:ext>
            </p:extLst>
          </p:nvPr>
        </p:nvGraphicFramePr>
        <p:xfrm>
          <a:off x="5522344" y="2389416"/>
          <a:ext cx="147770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530">
                  <a:extLst>
                    <a:ext uri="{9D8B030D-6E8A-4147-A177-3AD203B41FA5}">
                      <a16:colId xmlns:a16="http://schemas.microsoft.com/office/drawing/2014/main" val="2230214872"/>
                    </a:ext>
                  </a:extLst>
                </a:gridCol>
                <a:gridCol w="991175">
                  <a:extLst>
                    <a:ext uri="{9D8B030D-6E8A-4147-A177-3AD203B41FA5}">
                      <a16:colId xmlns:a16="http://schemas.microsoft.com/office/drawing/2014/main" val="1625006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endParaRPr lang="en-US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971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22347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68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endParaRPr lang="en-US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u="sng" dirty="0">
                          <a:latin typeface="Consolas" panose="020B0609020204030204" pitchFamily="49" charset="0"/>
                        </a:rPr>
                        <a:t>207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512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endParaRPr lang="en-US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164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28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endParaRPr lang="en-US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u="sng" dirty="0">
                          <a:latin typeface="Consolas" panose="020B0609020204030204" pitchFamily="49" charset="0"/>
                        </a:rPr>
                        <a:t>161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5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endParaRPr lang="en-US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 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681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endParaRPr lang="en-US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u="sng" dirty="0">
                          <a:latin typeface="Consolas" panose="020B0609020204030204" pitchFamily="49" charset="0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72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endParaRPr lang="en-US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 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1773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6483"/>
            <a:ext cx="7802421" cy="589076"/>
          </a:xfrm>
        </p:spPr>
        <p:txBody>
          <a:bodyPr>
            <a:normAutofit/>
          </a:bodyPr>
          <a:lstStyle/>
          <a:p>
            <a:r>
              <a:rPr lang="en-US" dirty="0"/>
              <a:t>DIVISION OF FIXED-POINT REALS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45437" y="2722314"/>
            <a:ext cx="41148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7413325" y="2756865"/>
            <a:ext cx="411480" cy="304800"/>
          </a:xfrm>
          <a:prstGeom prst="rightArrow">
            <a:avLst>
              <a:gd name="adj1" fmla="val 50000"/>
              <a:gd name="adj2" fmla="val 584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09066" y="3449727"/>
            <a:ext cx="19108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digits of the quotient are determined without regard to the decimal points.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97040" y="4452829"/>
            <a:ext cx="1280160" cy="751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350874" y="2582461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9.</a:t>
            </a:r>
            <a:r>
              <a:rPr lang="en-US" sz="3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71</a:t>
            </a:r>
            <a:endParaRPr lang="en-US" sz="3200" b="1" dirty="0">
              <a:solidFill>
                <a:srgbClr val="FF0000"/>
              </a:solidFill>
            </a:endParaRPr>
          </a:p>
        </p:txBody>
      </p: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2578D84F-095B-4269-BBF3-3F4BCCB95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612189"/>
              </p:ext>
            </p:extLst>
          </p:nvPr>
        </p:nvGraphicFramePr>
        <p:xfrm>
          <a:off x="1659702" y="2678214"/>
          <a:ext cx="17353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358">
                  <a:extLst>
                    <a:ext uri="{9D8B030D-6E8A-4147-A177-3AD203B41FA5}">
                      <a16:colId xmlns:a16="http://schemas.microsoft.com/office/drawing/2014/main" val="2230214872"/>
                    </a:ext>
                  </a:extLst>
                </a:gridCol>
                <a:gridCol w="1163990">
                  <a:extLst>
                    <a:ext uri="{9D8B030D-6E8A-4147-A177-3AD203B41FA5}">
                      <a16:colId xmlns:a16="http://schemas.microsoft.com/office/drawing/2014/main" val="1625006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2.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22.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347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68921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E92B1E6-9545-4127-B42A-0194571FED8A}"/>
              </a:ext>
            </a:extLst>
          </p:cNvPr>
          <p:cNvSpPr txBox="1"/>
          <p:nvPr/>
        </p:nvSpPr>
        <p:spPr>
          <a:xfrm>
            <a:off x="7350372" y="3305050"/>
            <a:ext cx="28604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dirty="0"/>
              <a:t>Then the decimal point is inserted so that the number of fractional digits is the difference between those in the dividend less those in the divisor.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39332" y="5992484"/>
                <a:ext cx="9773652" cy="50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22.</m:t>
                          </m:r>
                          <m:r>
                            <a:rPr lang="en-US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𝟑𝟒𝟕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2.</m:t>
                          </m:r>
                          <m:r>
                            <a:rPr lang="en-US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𝐷𝑖𝑣𝑖𝑑𝑒𝑛𝑑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𝐷𝑖𝑣𝑖𝑠𝑜𝑟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𝑓𝑟𝑎𝑐𝑡𝑖𝑜𝑛𝑎𝑙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𝑑𝑖𝑣𝑖𝑑𝑒𝑛𝑑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𝑑𝑖𝑔𝑖𝑡𝑠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𝑓𝑟𝑎𝑐𝑡𝑖𝑜𝑛𝑎𝑙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𝑑𝑖𝑣𝑖𝑠𝑜𝑟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𝑑𝑖𝑔𝑖𝑡𝑠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3 −1=2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32" y="5992484"/>
                <a:ext cx="9773652" cy="501419"/>
              </a:xfrm>
              <a:prstGeom prst="rect">
                <a:avLst/>
              </a:prstGeom>
              <a:blipFill>
                <a:blip r:embed="rId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10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318" y="742908"/>
            <a:ext cx="7790619" cy="604630"/>
          </a:xfrm>
        </p:spPr>
        <p:txBody>
          <a:bodyPr>
            <a:normAutofit/>
          </a:bodyPr>
          <a:lstStyle/>
          <a:p>
            <a:r>
              <a:rPr lang="en-US" dirty="0"/>
              <a:t>DIVISION OF FIXED-POINT REALS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358" y="1991602"/>
            <a:ext cx="10417284" cy="3835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Integer division, but Q format changes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The number of fractional bits in the quotient is the number in the dividend less those in the divisor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213830"/>
              </p:ext>
            </p:extLst>
          </p:nvPr>
        </p:nvGraphicFramePr>
        <p:xfrm>
          <a:off x="2499360" y="2468880"/>
          <a:ext cx="7315200" cy="2124838"/>
        </p:xfrm>
        <a:graphic>
          <a:graphicData uri="http://schemas.openxmlformats.org/drawingml/2006/table">
            <a:tbl>
              <a:tblPr firstRow="1" firstCol="1" bandRow="1"/>
              <a:tblGrid>
                <a:gridCol w="1257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4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Operand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+1264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+1264/2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5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+39.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5000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+83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+83/2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+10.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3750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Result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Integer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Q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A÷B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+15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2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+15/2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2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0" marT="36830" marB="3683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  3.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7500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(Err: 1.50%)</a:t>
                      </a:r>
                      <a:endParaRPr lang="en-US" sz="1800" b="1" i="0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73025" marR="73025" marT="36830" marB="3683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60632" y="2858321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60632" y="3240544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460632" y="3971489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57047" y="1470693"/>
            <a:ext cx="184043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SUB</a:t>
            </a:r>
            <a:r>
              <a:rPr lang="en-US" b="1" dirty="0">
                <a:solidFill>
                  <a:srgbClr val="FF0000"/>
                </a:solidFill>
              </a:rPr>
              <a:t> 5 - 3 </a:t>
            </a:r>
            <a:r>
              <a:rPr lang="en-US" b="1" dirty="0"/>
              <a:t>=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5899484" y="1762970"/>
            <a:ext cx="445021" cy="10323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9" idx="2"/>
          </p:cNvCxnSpPr>
          <p:nvPr/>
        </p:nvCxnSpPr>
        <p:spPr>
          <a:xfrm flipH="1">
            <a:off x="5975684" y="1840025"/>
            <a:ext cx="601579" cy="13547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5975684" y="1796716"/>
            <a:ext cx="1187117" cy="22614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561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600612"/>
              </p:ext>
            </p:extLst>
          </p:nvPr>
        </p:nvGraphicFramePr>
        <p:xfrm>
          <a:off x="2438400" y="3553316"/>
          <a:ext cx="7315200" cy="2057909"/>
        </p:xfrm>
        <a:graphic>
          <a:graphicData uri="http://schemas.openxmlformats.org/drawingml/2006/table">
            <a:tbl>
              <a:tblPr firstRow="1" firstCol="1" bandRow="1"/>
              <a:tblGrid>
                <a:gridCol w="1504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Operand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36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+1264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Q5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+1264/2</a:t>
                      </a:r>
                      <a:r>
                        <a:rPr lang="en-US" sz="180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5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+39.5000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+83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+83/2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+10.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3750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 Q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3657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A÷B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+15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Q2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+15/2</a:t>
                      </a:r>
                      <a:r>
                        <a:rPr lang="en-US" sz="180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2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36576" marT="36576" marB="3657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+3.7500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(Err: 1.50%)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576" marB="3657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61223"/>
            <a:ext cx="8107221" cy="762777"/>
          </a:xfrm>
        </p:spPr>
        <p:txBody>
          <a:bodyPr/>
          <a:lstStyle/>
          <a:p>
            <a:r>
              <a:rPr lang="en-US" dirty="0"/>
              <a:t>DIVISION: IMPROVING ACCURACY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36516" y="1811711"/>
            <a:ext cx="10409263" cy="484175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Shift dividend </a:t>
            </a:r>
            <a:r>
              <a:rPr lang="en-US" i="1" dirty="0">
                <a:solidFill>
                  <a:srgbClr val="0070C0"/>
                </a:solidFill>
              </a:rPr>
              <a:t>left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before dividing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Increases Q factor of dividend and thus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Increases Q factor of quotient and thus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Increases number of fractional digits of quotient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109093"/>
              </p:ext>
            </p:extLst>
          </p:nvPr>
        </p:nvGraphicFramePr>
        <p:xfrm>
          <a:off x="2439351" y="3893359"/>
          <a:ext cx="7315200" cy="368808"/>
        </p:xfrm>
        <a:graphic>
          <a:graphicData uri="http://schemas.openxmlformats.org/drawingml/2006/table">
            <a:tbl>
              <a:tblPr firstRow="1" firstCol="1" bandRow="1"/>
              <a:tblGrid>
                <a:gridCol w="1504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×A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+10112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8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+10112/2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8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+39.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5000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06108"/>
              </p:ext>
            </p:extLst>
          </p:nvPr>
        </p:nvGraphicFramePr>
        <p:xfrm>
          <a:off x="2438400" y="4966605"/>
          <a:ext cx="7315200" cy="751799"/>
        </p:xfrm>
        <a:graphic>
          <a:graphicData uri="http://schemas.openxmlformats.org/drawingml/2006/table">
            <a:tbl>
              <a:tblPr firstRow="1" firstCol="1" bandRow="1"/>
              <a:tblGrid>
                <a:gridCol w="1504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179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×A)÷B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+121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+121/2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5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36576" marT="36576" marB="3657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 </a:t>
                      </a:r>
                      <a:r>
                        <a:rPr lang="en-US" sz="18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78125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(Err: 0.682%)</a:t>
                      </a:r>
                      <a:endParaRPr lang="en-US" sz="1800" b="1" i="0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576" marB="3657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54334" y="3927110"/>
            <a:ext cx="486431" cy="305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590292" y="2997302"/>
            <a:ext cx="2642070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Increase precision * </a:t>
            </a:r>
            <a:r>
              <a:rPr lang="en-US" b="1" dirty="0">
                <a:solidFill>
                  <a:srgbClr val="FF0000"/>
                </a:solidFill>
                <a:ea typeface="Calibri"/>
                <a:cs typeface="Calibri"/>
              </a:rPr>
              <a:t>2</a:t>
            </a:r>
            <a:r>
              <a:rPr lang="en-US" b="1" baseline="30000" dirty="0">
                <a:solidFill>
                  <a:srgbClr val="FF0000"/>
                </a:solidFill>
                <a:ea typeface="Calibri"/>
                <a:cs typeface="Calibri"/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>
            <a:off x="5697549" y="3181968"/>
            <a:ext cx="892743" cy="7192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139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04675"/>
              </p:ext>
            </p:extLst>
          </p:nvPr>
        </p:nvGraphicFramePr>
        <p:xfrm>
          <a:off x="2438400" y="3993134"/>
          <a:ext cx="7315201" cy="2038732"/>
        </p:xfrm>
        <a:graphic>
          <a:graphicData uri="http://schemas.openxmlformats.org/drawingml/2006/table">
            <a:tbl>
              <a:tblPr firstRow="1" firstCol="1" bandRow="1"/>
              <a:tblGrid>
                <a:gridCol w="1809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Operand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36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×A + B/2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+10153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+10153/2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8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+39.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5000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+83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+83/2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+10.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3750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36576" marT="36830" marB="368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 Q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3657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3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×A</a:t>
                      </a: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+B/2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)÷B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224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+122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Q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0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+122/2</a:t>
                      </a:r>
                      <a:r>
                        <a:rPr lang="en-US" sz="1800" b="1" baseline="30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5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576" marB="3657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Calibri"/>
                        </a:rPr>
                        <a:t>=</a:t>
                      </a:r>
                    </a:p>
                  </a:txBody>
                  <a:tcPr marL="0" marR="36576" marT="36576" marB="3657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+  3.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81250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(Err: 0.138%)</a:t>
                      </a:r>
                      <a:endParaRPr lang="en-US" sz="1600" b="1" i="0" dirty="0">
                        <a:solidFill>
                          <a:srgbClr val="FF0000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0" marR="36576" marT="36576" marB="3657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64599"/>
            <a:ext cx="7950811" cy="607001"/>
          </a:xfrm>
        </p:spPr>
        <p:txBody>
          <a:bodyPr/>
          <a:lstStyle/>
          <a:p>
            <a:r>
              <a:rPr lang="en-US" dirty="0"/>
              <a:t>DIVISION: IMPROVING ACCURACY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32504" y="1615503"/>
            <a:ext cx="10421295" cy="5009886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Increase the </a:t>
            </a:r>
            <a:r>
              <a:rPr lang="en-US" b="1" i="1" dirty="0">
                <a:solidFill>
                  <a:schemeClr val="tx1"/>
                </a:solidFill>
              </a:rPr>
              <a:t>magnitude</a:t>
            </a:r>
            <a:r>
              <a:rPr lang="en-US" dirty="0">
                <a:solidFill>
                  <a:schemeClr val="tx1"/>
                </a:solidFill>
              </a:rPr>
              <a:t> of dividend by half that of the divisor before dividing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B0F0"/>
                </a:solidFill>
              </a:rPr>
              <a:t>Rounds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 least-significant bit of quotient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Subtract (don’t add) when dividend is negative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217821" y="3112168"/>
            <a:ext cx="1187116" cy="247850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97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11</a:t>
            </a:r>
            <a:br>
              <a:rPr lang="en-US" dirty="0"/>
            </a:br>
            <a:r>
              <a:rPr lang="en-US" dirty="0"/>
              <a:t>Fixed-Point Reals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Q16.16 Format</a:t>
            </a:r>
          </a:p>
        </p:txBody>
      </p:sp>
    </p:spTree>
    <p:extLst>
      <p:ext uri="{BB962C8B-B14F-4D97-AF65-F5344CB8AC3E}">
        <p14:creationId xmlns:p14="http://schemas.microsoft.com/office/powerpoint/2010/main" val="270550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411" y="765233"/>
            <a:ext cx="10417284" cy="654493"/>
          </a:xfrm>
        </p:spPr>
        <p:txBody>
          <a:bodyPr>
            <a:normAutofit/>
          </a:bodyPr>
          <a:lstStyle/>
          <a:p>
            <a:r>
              <a:rPr lang="en-US" sz="3200" dirty="0"/>
              <a:t>FIXED-POINT USING A UNIVERSAL Q16.16 FORMAT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411" y="1735513"/>
            <a:ext cx="10389210" cy="4889876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Uses the </a:t>
            </a:r>
            <a:r>
              <a:rPr lang="en-US" b="1" dirty="0">
                <a:solidFill>
                  <a:srgbClr val="00B050"/>
                </a:solidFill>
              </a:rPr>
              <a:t>same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Q format for all variables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Q16.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fits in a single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32-bit word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No pre-alignment needed to add or subtract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Product: 64 bits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 32 bits x 32 bits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b="1" dirty="0">
                <a:solidFill>
                  <a:srgbClr val="00B0F0"/>
                </a:solidFill>
                <a:sym typeface="Wingdings" panose="05000000000000000000" pitchFamily="2" charset="2"/>
              </a:rPr>
              <a:t>SMULL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Q16.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result is the middle 32 bits</a:t>
            </a:r>
          </a:p>
        </p:txBody>
      </p:sp>
    </p:spTree>
    <p:extLst>
      <p:ext uri="{BB962C8B-B14F-4D97-AF65-F5344CB8AC3E}">
        <p14:creationId xmlns:p14="http://schemas.microsoft.com/office/powerpoint/2010/main" val="471666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47483"/>
            <a:ext cx="5307874" cy="549139"/>
          </a:xfrm>
        </p:spPr>
        <p:txBody>
          <a:bodyPr>
            <a:normAutofit fontScale="90000"/>
          </a:bodyPr>
          <a:lstStyle/>
          <a:p>
            <a:r>
              <a:rPr lang="en-US" dirty="0"/>
              <a:t>Interpreting a Q16.16 Real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59330" y="1397000"/>
          <a:ext cx="666496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107761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506747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623729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689769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7607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986771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535487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710958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668005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248508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504898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412590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023381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71073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816886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85667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5149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1754947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442739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96901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9472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7718629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764203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525193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734778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79839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364091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266218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068083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02633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449678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76146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73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393040"/>
                  </a:ext>
                </a:extLst>
              </a:tr>
            </a:tbl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4366350" y="2178775"/>
            <a:ext cx="2450918" cy="1285604"/>
            <a:chOff x="3631020" y="2178775"/>
            <a:chExt cx="2450918" cy="1285604"/>
          </a:xfrm>
        </p:grpSpPr>
        <p:sp>
          <p:nvSpPr>
            <p:cNvPr id="6" name="Oval 5"/>
            <p:cNvSpPr/>
            <p:nvPr/>
          </p:nvSpPr>
          <p:spPr>
            <a:xfrm>
              <a:off x="4802051" y="2178775"/>
              <a:ext cx="108857" cy="9252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4856479" y="2268584"/>
              <a:ext cx="1" cy="3875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631020" y="2756493"/>
              <a:ext cx="245091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Implied position of Q16 binary point.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095500" y="3691890"/>
                <a:ext cx="9061784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Interpret the 32-bit value as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signed</a:t>
                </a:r>
                <a:r>
                  <a:rPr lang="en-US" sz="2400" dirty="0"/>
                  <a:t> 2's complement integer.</a:t>
                </a:r>
              </a:p>
              <a:p>
                <a:pPr lvl="1"/>
                <a:r>
                  <a:rPr lang="en-US" sz="2400" dirty="0"/>
                  <a:t>(Implied binary point located at far right)</a:t>
                </a:r>
              </a:p>
              <a:p>
                <a:pPr lvl="1"/>
                <a:r>
                  <a:rPr lang="en-US" sz="2400" dirty="0"/>
                  <a:t>0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2400" dirty="0"/>
                  <a:t> 0011 1000 1011 1100 0111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92D050"/>
                    </a:solidFill>
                  </a:rPr>
                  <a:t>232,391</a:t>
                </a:r>
                <a:r>
                  <a:rPr lang="en-US" sz="2400" b="1" baseline="-25000" dirty="0">
                    <a:solidFill>
                      <a:srgbClr val="92D050"/>
                    </a:solidFill>
                  </a:rPr>
                  <a:t>10</a:t>
                </a:r>
                <a:r>
                  <a:rPr lang="en-US" sz="2400" baseline="-25000" dirty="0"/>
                  <a:t> </a:t>
                </a:r>
                <a:r>
                  <a:rPr lang="en-US" sz="2400" dirty="0"/>
                  <a:t>(38BC7</a:t>
                </a:r>
                <a:r>
                  <a:rPr lang="en-US" sz="2400" baseline="-25000" dirty="0"/>
                  <a:t>16</a:t>
                </a:r>
                <a:r>
                  <a:rPr lang="en-US" sz="2400" dirty="0"/>
                  <a:t>)</a:t>
                </a:r>
              </a:p>
              <a:p>
                <a:pPr lvl="1"/>
                <a:endParaRPr lang="en-US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Move implied binary point to middle of 32-bit value.</a:t>
                </a:r>
              </a:p>
              <a:p>
                <a:pPr lvl="1"/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Divide</a:t>
                </a:r>
                <a:r>
                  <a:rPr lang="en-US" sz="2400" dirty="0"/>
                  <a:t> integer by 2</a:t>
                </a:r>
                <a:r>
                  <a:rPr lang="en-US" sz="2400" baseline="30000" dirty="0"/>
                  <a:t>16</a:t>
                </a:r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65,536</a:t>
                </a:r>
                <a:r>
                  <a:rPr lang="en-US" sz="2400" dirty="0"/>
                  <a:t>)</a:t>
                </a:r>
              </a:p>
              <a:p>
                <a:pPr lvl="1"/>
                <a:r>
                  <a:rPr lang="en-US" sz="2400" b="1" dirty="0">
                    <a:solidFill>
                      <a:srgbClr val="92D050"/>
                    </a:solidFill>
                  </a:rPr>
                  <a:t>232,391</a:t>
                </a:r>
                <a:r>
                  <a:rPr lang="en-US" sz="2400" dirty="0"/>
                  <a:t> /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65,536</a:t>
                </a:r>
                <a:r>
                  <a:rPr lang="en-US" sz="2400" dirty="0"/>
                  <a:t> = 3.546</a:t>
                </a:r>
                <a:r>
                  <a:rPr lang="en-US" sz="2400" baseline="-25000" dirty="0"/>
                  <a:t>10</a:t>
                </a:r>
                <a:endParaRPr lang="en-US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691890"/>
                <a:ext cx="9061784" cy="2677656"/>
              </a:xfrm>
              <a:prstGeom prst="rect">
                <a:avLst/>
              </a:prstGeom>
              <a:blipFill>
                <a:blip r:embed="rId2"/>
                <a:stretch>
                  <a:fillRect l="-942" t="-1595" b="-4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/>
          <p:cNvGrpSpPr/>
          <p:nvPr/>
        </p:nvGrpSpPr>
        <p:grpSpPr>
          <a:xfrm>
            <a:off x="7698830" y="2178775"/>
            <a:ext cx="2450918" cy="1285604"/>
            <a:chOff x="3631020" y="2178775"/>
            <a:chExt cx="2450918" cy="1285604"/>
          </a:xfrm>
        </p:grpSpPr>
        <p:sp>
          <p:nvSpPr>
            <p:cNvPr id="31" name="Oval 30"/>
            <p:cNvSpPr/>
            <p:nvPr/>
          </p:nvSpPr>
          <p:spPr>
            <a:xfrm>
              <a:off x="4802051" y="2178775"/>
              <a:ext cx="108857" cy="9252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4856479" y="2268584"/>
              <a:ext cx="1" cy="3875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631020" y="2756493"/>
              <a:ext cx="245091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Implied position of integer binary point.</a:t>
              </a:r>
            </a:p>
          </p:txBody>
        </p:sp>
      </p:grpSp>
      <p:cxnSp>
        <p:nvCxnSpPr>
          <p:cNvPr id="5" name="Straight Arrow Connector 4"/>
          <p:cNvCxnSpPr/>
          <p:nvPr/>
        </p:nvCxnSpPr>
        <p:spPr>
          <a:xfrm flipH="1" flipV="1">
            <a:off x="5646238" y="2446421"/>
            <a:ext cx="3278051" cy="1203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53513" y="6289280"/>
            <a:ext cx="79220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LSR 16</a:t>
            </a:r>
          </a:p>
        </p:txBody>
      </p:sp>
    </p:spTree>
    <p:extLst>
      <p:ext uri="{BB962C8B-B14F-4D97-AF65-F5344CB8AC3E}">
        <p14:creationId xmlns:p14="http://schemas.microsoft.com/office/powerpoint/2010/main" val="615754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08" y="738445"/>
            <a:ext cx="6045839" cy="617113"/>
          </a:xfrm>
        </p:spPr>
        <p:txBody>
          <a:bodyPr/>
          <a:lstStyle/>
          <a:p>
            <a:r>
              <a:rPr lang="en-US" dirty="0"/>
              <a:t>Converting Q16.16 to float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070" y="1520190"/>
            <a:ext cx="76214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float Q16ToFloat(Q16 x){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	return x / 65536.0; </a:t>
            </a:r>
            <a:r>
              <a:rPr lang="en-US" sz="2000" dirty="0">
                <a:latin typeface="Consolas" panose="020B0609020204030204" pitchFamily="49" charset="0"/>
              </a:rPr>
              <a:t>//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x &gt;&gt; 16</a:t>
            </a: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827270" y="2888524"/>
            <a:ext cx="5563144" cy="1155174"/>
            <a:chOff x="3303270" y="2888524"/>
            <a:chExt cx="5563144" cy="1155174"/>
          </a:xfrm>
        </p:grpSpPr>
        <p:cxnSp>
          <p:nvCxnSpPr>
            <p:cNvPr id="5" name="Straight Arrow Connector 4"/>
            <p:cNvCxnSpPr/>
            <p:nvPr/>
          </p:nvCxnSpPr>
          <p:spPr>
            <a:xfrm flipH="1" flipV="1">
              <a:off x="3989070" y="2994660"/>
              <a:ext cx="11430" cy="788670"/>
            </a:xfrm>
            <a:prstGeom prst="straightConnector1">
              <a:avLst/>
            </a:prstGeom>
            <a:ln w="317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303270" y="2888524"/>
              <a:ext cx="1325880" cy="326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966210" y="3582033"/>
              <a:ext cx="49002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Must be a floating-point constant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9956" y="4634784"/>
            <a:ext cx="11530761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</a:t>
            </a:r>
            <a:r>
              <a:rPr lang="en-US" sz="2000" b="1" dirty="0">
                <a:solidFill>
                  <a:srgbClr val="FF0000"/>
                </a:solidFill>
              </a:rPr>
              <a:t>Not</a:t>
            </a:r>
            <a:r>
              <a:rPr lang="en-US" sz="2000" dirty="0"/>
              <a:t> using a FPU, the C run-time library provides a (slow) software emulation.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Avoid using this function in any loop or repetitive computation.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4424498" y="2941737"/>
            <a:ext cx="5988" cy="1684326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3729" y="1021973"/>
            <a:ext cx="4277743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Visual Studio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0945" y="2348459"/>
            <a:ext cx="79220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LSR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841" y="2348458"/>
            <a:ext cx="79220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LSR 16</a:t>
            </a:r>
          </a:p>
        </p:txBody>
      </p:sp>
    </p:spTree>
    <p:extLst>
      <p:ext uri="{BB962C8B-B14F-4D97-AF65-F5344CB8AC3E}">
        <p14:creationId xmlns:p14="http://schemas.microsoft.com/office/powerpoint/2010/main" val="4153705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36903"/>
            <a:ext cx="7369284" cy="733988"/>
          </a:xfrm>
        </p:spPr>
        <p:txBody>
          <a:bodyPr/>
          <a:lstStyle/>
          <a:p>
            <a:r>
              <a:rPr lang="en-US" dirty="0"/>
              <a:t>Creating a Q16.16 Real Constant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0" y="1397000"/>
          <a:ext cx="666496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107761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506747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623729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689769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7607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986771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535487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710958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668005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248508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504898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412590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023381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71073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816886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85667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5149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1754947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442739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96901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9472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7718629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764203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525193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734778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79839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364091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266218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068083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02633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449678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76146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73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393040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6326052" y="2178776"/>
            <a:ext cx="108857" cy="9252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380480" y="2268585"/>
            <a:ext cx="1" cy="3875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5020" y="2756493"/>
            <a:ext cx="245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Implied position of the binary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960" y="3851910"/>
            <a:ext cx="80238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typedef</a:t>
            </a:r>
            <a:r>
              <a:rPr lang="en-US" sz="2000" dirty="0">
                <a:latin typeface="Consolas" panose="020B0609020204030204" pitchFamily="49" charset="0"/>
              </a:rPr>
              <a:t> int32_t Q16 ; // NOTE: Container is an </a:t>
            </a:r>
            <a:r>
              <a:rPr lang="en-US" sz="2000" b="1" dirty="0">
                <a:latin typeface="Consolas" panose="020B0609020204030204" pitchFamily="49" charset="0"/>
              </a:rPr>
              <a:t>integer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Q16 x = 3.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2000" dirty="0">
                <a:latin typeface="Consolas" panose="020B0609020204030204" pitchFamily="49" charset="0"/>
              </a:rPr>
              <a:t> ;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// NO: truncates to integer 3 (not 3.0)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Q16 x = (int32_t) (65536 * 3.7 + 0.5) ; 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// YES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446338" y="5483127"/>
            <a:ext cx="3924482" cy="1095417"/>
            <a:chOff x="4922338" y="5483126"/>
            <a:chExt cx="3924482" cy="1095417"/>
          </a:xfrm>
        </p:grpSpPr>
        <p:cxnSp>
          <p:nvCxnSpPr>
            <p:cNvPr id="11" name="Straight Arrow Connector 10"/>
            <p:cNvCxnSpPr/>
            <p:nvPr/>
          </p:nvCxnSpPr>
          <p:spPr>
            <a:xfrm flipV="1">
              <a:off x="5769429" y="5483126"/>
              <a:ext cx="1" cy="3875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922338" y="5870657"/>
              <a:ext cx="39244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 rounding (subtract when desired constant is negative)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048001" y="5468423"/>
            <a:ext cx="3278051" cy="1095417"/>
            <a:chOff x="3418115" y="5483126"/>
            <a:chExt cx="3278051" cy="1095417"/>
          </a:xfrm>
        </p:grpSpPr>
        <p:cxnSp>
          <p:nvCxnSpPr>
            <p:cNvPr id="14" name="Straight Arrow Connector 13"/>
            <p:cNvCxnSpPr/>
            <p:nvPr/>
          </p:nvCxnSpPr>
          <p:spPr>
            <a:xfrm flipV="1">
              <a:off x="5769429" y="5483126"/>
              <a:ext cx="1" cy="3875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418115" y="5870657"/>
              <a:ext cx="32780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Multiply by 2</a:t>
              </a:r>
              <a:r>
                <a:rPr lang="en-US" sz="2000" i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so that binary point is in the middle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8099792" y="3072664"/>
            <a:ext cx="390772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Visual Studio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1820" y="4847967"/>
            <a:ext cx="76809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LSL 16</a:t>
            </a:r>
          </a:p>
        </p:txBody>
      </p:sp>
    </p:spTree>
    <p:extLst>
      <p:ext uri="{BB962C8B-B14F-4D97-AF65-F5344CB8AC3E}">
        <p14:creationId xmlns:p14="http://schemas.microsoft.com/office/powerpoint/2010/main" val="299944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209" y="721953"/>
            <a:ext cx="5951865" cy="695685"/>
          </a:xfrm>
        </p:spPr>
        <p:txBody>
          <a:bodyPr/>
          <a:lstStyle/>
          <a:p>
            <a:r>
              <a:rPr lang="en-US" dirty="0"/>
              <a:t>Converting float to Q16.16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3582" y="1827544"/>
            <a:ext cx="8474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typedef</a:t>
            </a:r>
            <a:r>
              <a:rPr lang="en-US" sz="2400" dirty="0">
                <a:latin typeface="Consolas" panose="020B0609020204030204" pitchFamily="49" charset="0"/>
              </a:rPr>
              <a:t> int32_t Q16;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Q16 FloatToQ16(float x){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float rounding;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if (x &gt;= 0.0)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rounding = +0.5;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else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rounding = -0.5;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return (Q16) (65536.0 * x + rounding);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82751" y="5488610"/>
            <a:ext cx="76809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LSL 16</a:t>
            </a:r>
          </a:p>
        </p:txBody>
      </p:sp>
    </p:spTree>
    <p:extLst>
      <p:ext uri="{BB962C8B-B14F-4D97-AF65-F5344CB8AC3E}">
        <p14:creationId xmlns:p14="http://schemas.microsoft.com/office/powerpoint/2010/main" val="328973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209" y="721953"/>
            <a:ext cx="5951865" cy="695685"/>
          </a:xfrm>
        </p:spPr>
        <p:txBody>
          <a:bodyPr/>
          <a:lstStyle/>
          <a:p>
            <a:r>
              <a:rPr lang="en-US" dirty="0"/>
              <a:t>Converting float to Q16.16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7044" y="2242718"/>
            <a:ext cx="88509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de-DE" sz="2400" dirty="0">
                <a:latin typeface="Consolas" panose="020B0609020204030204" pitchFamily="49" charset="0"/>
              </a:rPr>
              <a:t>#define ROUNDFLOAT(x) (((x) &gt;= 0.0) ? +0.5 : -0.5)</a:t>
            </a:r>
          </a:p>
          <a:p>
            <a:endParaRPr lang="de-DE" sz="2400" dirty="0">
              <a:latin typeface="Consolas" panose="020B0609020204030204" pitchFamily="49" charset="0"/>
            </a:endParaRPr>
          </a:p>
          <a:p>
            <a:r>
              <a:rPr lang="de-DE" sz="2400" dirty="0">
                <a:latin typeface="Consolas" panose="020B0609020204030204" pitchFamily="49" charset="0"/>
              </a:rPr>
              <a:t>#define FLOATTOQ16(x) (65536.0*(x) + ROUNDFLOAT(x))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2587" y="2300046"/>
            <a:ext cx="774159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x is a constant, use a macro to avoid the computation at run-time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3382" y="4085149"/>
            <a:ext cx="76809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LSL 16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076344" y="3367043"/>
            <a:ext cx="4811282" cy="44438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196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11</a:t>
            </a:r>
            <a:br>
              <a:rPr lang="en-US" dirty="0"/>
            </a:br>
            <a:r>
              <a:rPr lang="en-US" dirty="0"/>
              <a:t>Fixed-Point Reals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Q16.16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060478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3061335" y="4644390"/>
            <a:ext cx="6400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64-bit integer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3" y="4644390"/>
            <a:ext cx="3271837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fractional part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8004" y="4644390"/>
            <a:ext cx="3128963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whole part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63000" y="4191000"/>
            <a:ext cx="685800" cy="381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r"/>
            <a:r>
              <a:rPr lang="en-US" sz="1600" dirty="0"/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0" y="4191000"/>
            <a:ext cx="952500" cy="381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sz="1600" dirty="0"/>
              <a:t>63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5257800" y="4189142"/>
            <a:ext cx="1981200" cy="382859"/>
            <a:chOff x="3733800" y="4189141"/>
            <a:chExt cx="1981200" cy="382859"/>
          </a:xfrm>
        </p:grpSpPr>
        <p:sp>
          <p:nvSpPr>
            <p:cNvPr id="25" name="Rectangle 24"/>
            <p:cNvSpPr/>
            <p:nvPr/>
          </p:nvSpPr>
          <p:spPr>
            <a:xfrm>
              <a:off x="3733800" y="4191000"/>
              <a:ext cx="9525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r"/>
              <a:r>
                <a:rPr lang="en-US" sz="1600" dirty="0"/>
                <a:t>32 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762500" y="4189141"/>
              <a:ext cx="9525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r>
                <a:rPr lang="en-US" sz="1600" dirty="0"/>
                <a:t>31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43400" y="5029200"/>
            <a:ext cx="3810000" cy="685800"/>
            <a:chOff x="2819400" y="5029200"/>
            <a:chExt cx="3810000" cy="685800"/>
          </a:xfrm>
        </p:grpSpPr>
        <p:sp>
          <p:nvSpPr>
            <p:cNvPr id="30" name="Right Brace 29"/>
            <p:cNvSpPr/>
            <p:nvPr/>
          </p:nvSpPr>
          <p:spPr>
            <a:xfrm rot="5400000">
              <a:off x="4567237" y="3586162"/>
              <a:ext cx="381000" cy="3267075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819400" y="5334000"/>
              <a:ext cx="38100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i="1" dirty="0"/>
                <a:t>Product (Q16.</a:t>
              </a:r>
              <a:r>
                <a:rPr lang="en-US" sz="1600" b="1" dirty="0">
                  <a:solidFill>
                    <a:srgbClr val="FF0000"/>
                  </a:solidFill>
                </a:rPr>
                <a:t>16</a:t>
              </a:r>
              <a:r>
                <a:rPr lang="en-US" sz="1600" i="1" dirty="0"/>
                <a:t>)</a:t>
              </a:r>
            </a:p>
          </p:txBody>
        </p:sp>
      </p:grpSp>
      <p:sp>
        <p:nvSpPr>
          <p:cNvPr id="33" name="Rectangle 32"/>
          <p:cNvSpPr/>
          <p:nvPr/>
        </p:nvSpPr>
        <p:spPr>
          <a:xfrm>
            <a:off x="6248400" y="2514600"/>
            <a:ext cx="3200400" cy="381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i="1" dirty="0"/>
              <a:t>Multiplier (Q16.16)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6115050" y="3657600"/>
            <a:ext cx="266700" cy="304800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06408" y="748150"/>
            <a:ext cx="6942192" cy="707084"/>
          </a:xfrm>
        </p:spPr>
        <p:txBody>
          <a:bodyPr/>
          <a:lstStyle/>
          <a:p>
            <a:r>
              <a:rPr lang="en-US" dirty="0"/>
              <a:t>Q16.16 × Q16.16 Multiplication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160" y="1524000"/>
            <a:ext cx="3200400" cy="381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i="1" dirty="0"/>
              <a:t>Multiplicand (Q16.16)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248400" y="1524000"/>
            <a:ext cx="3200400" cy="762000"/>
            <a:chOff x="4724400" y="1524000"/>
            <a:chExt cx="3200400" cy="762000"/>
          </a:xfrm>
        </p:grpSpPr>
        <p:sp>
          <p:nvSpPr>
            <p:cNvPr id="4" name="Rectangle 3"/>
            <p:cNvSpPr/>
            <p:nvPr/>
          </p:nvSpPr>
          <p:spPr>
            <a:xfrm>
              <a:off x="4724400" y="1905000"/>
              <a:ext cx="1600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whole part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324600" y="1905000"/>
              <a:ext cx="1600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fractional part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724400" y="1524000"/>
              <a:ext cx="9525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r>
                <a:rPr lang="en-US" sz="1600" dirty="0"/>
                <a:t>31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8458200" y="1524000"/>
            <a:ext cx="952500" cy="381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r"/>
            <a:r>
              <a:rPr lang="en-US" sz="1600" dirty="0"/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8400" y="1905000"/>
            <a:ext cx="3200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32-bit integer multiplicand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5829300" y="2514600"/>
            <a:ext cx="3619500" cy="695092"/>
            <a:chOff x="4305300" y="2514600"/>
            <a:chExt cx="3619500" cy="695092"/>
          </a:xfrm>
        </p:grpSpPr>
        <p:sp>
          <p:nvSpPr>
            <p:cNvPr id="6" name="Rectangle 5"/>
            <p:cNvSpPr/>
            <p:nvPr/>
          </p:nvSpPr>
          <p:spPr>
            <a:xfrm>
              <a:off x="4724400" y="2819400"/>
              <a:ext cx="1600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whole part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324600" y="2819400"/>
              <a:ext cx="16002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fractional part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305300" y="2828692"/>
              <a:ext cx="4191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dirty="0"/>
                <a:t>×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724400" y="2514600"/>
              <a:ext cx="9525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r>
                <a:rPr lang="en-US" sz="1600" dirty="0"/>
                <a:t>31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458200" y="2514600"/>
            <a:ext cx="952500" cy="381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r"/>
            <a:r>
              <a:rPr lang="en-US" sz="1600" dirty="0"/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8400" y="2819400"/>
            <a:ext cx="3200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32-bit integer multiplier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9395" y="3594854"/>
            <a:ext cx="156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SMULL</a:t>
            </a:r>
          </a:p>
        </p:txBody>
      </p:sp>
      <p:sp>
        <p:nvSpPr>
          <p:cNvPr id="38" name="Right Brace 37"/>
          <p:cNvSpPr/>
          <p:nvPr/>
        </p:nvSpPr>
        <p:spPr>
          <a:xfrm rot="5400000">
            <a:off x="8496300" y="4488181"/>
            <a:ext cx="381000" cy="149351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/>
          <p:cNvSpPr/>
          <p:nvPr/>
        </p:nvSpPr>
        <p:spPr>
          <a:xfrm rot="5400000">
            <a:off x="3657600" y="4434840"/>
            <a:ext cx="381000" cy="15697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329940" y="5425441"/>
            <a:ext cx="1036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Some loss</a:t>
            </a:r>
            <a:br>
              <a:rPr lang="en-US" sz="1600" dirty="0"/>
            </a:br>
            <a:r>
              <a:rPr lang="en-US" sz="1600" dirty="0"/>
              <a:t>of range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91475" y="5425441"/>
            <a:ext cx="1314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Some loss</a:t>
            </a:r>
            <a:br>
              <a:rPr lang="en-US" sz="1600" dirty="0"/>
            </a:br>
            <a:r>
              <a:rPr lang="en-US" sz="1600" dirty="0"/>
              <a:t>of precision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2146" y="2436542"/>
            <a:ext cx="3343275" cy="382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3680461" y="4179616"/>
            <a:ext cx="5187315" cy="392384"/>
            <a:chOff x="2156460" y="4179616"/>
            <a:chExt cx="5187315" cy="392384"/>
          </a:xfrm>
        </p:grpSpPr>
        <p:sp>
          <p:nvSpPr>
            <p:cNvPr id="23" name="Rectangle 22"/>
            <p:cNvSpPr/>
            <p:nvPr/>
          </p:nvSpPr>
          <p:spPr>
            <a:xfrm>
              <a:off x="3162300" y="4191000"/>
              <a:ext cx="9525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r>
                <a:rPr lang="en-US" sz="1600" dirty="0"/>
                <a:t>47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72100" y="4191000"/>
              <a:ext cx="9525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r"/>
              <a:r>
                <a:rPr lang="en-US" sz="1600" dirty="0"/>
                <a:t>16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391275" y="4179616"/>
              <a:ext cx="9525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r>
                <a:rPr lang="en-US" sz="1600" dirty="0"/>
                <a:t>15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156460" y="4191000"/>
              <a:ext cx="952500" cy="381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r"/>
              <a:r>
                <a:rPr lang="en-US" sz="1600" dirty="0"/>
                <a:t>48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3068002" y="4640580"/>
            <a:ext cx="6462714" cy="388620"/>
            <a:chOff x="1595436" y="4568190"/>
            <a:chExt cx="6462714" cy="388620"/>
          </a:xfrm>
          <a:solidFill>
            <a:schemeClr val="bg1">
              <a:lumMod val="95000"/>
            </a:schemeClr>
          </a:solidFill>
        </p:grpSpPr>
        <p:sp>
          <p:nvSpPr>
            <p:cNvPr id="56" name="Rectangle 55"/>
            <p:cNvSpPr/>
            <p:nvPr/>
          </p:nvSpPr>
          <p:spPr>
            <a:xfrm>
              <a:off x="1595436" y="4572000"/>
              <a:ext cx="1564957" cy="38100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discarded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442709" y="4572000"/>
              <a:ext cx="1615441" cy="38481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discarded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164681" y="4572000"/>
              <a:ext cx="1611153" cy="38481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Integer part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775834" y="4568190"/>
              <a:ext cx="1666875" cy="38481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fractional part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637247" y="4640580"/>
            <a:ext cx="3278028" cy="38481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18386" y="2365950"/>
            <a:ext cx="3148964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NOTE: Must use </a:t>
            </a:r>
            <a:r>
              <a:rPr lang="en-US" i="1" u="sng" dirty="0"/>
              <a:t>signed</a:t>
            </a:r>
            <a:r>
              <a:rPr lang="en-US" dirty="0"/>
              <a:t> double-length multiply since result uses part of most-significant half of the product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37247" y="4651025"/>
            <a:ext cx="1605440" cy="3856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Integer part</a:t>
            </a:r>
          </a:p>
        </p:txBody>
      </p:sp>
    </p:spTree>
    <p:extLst>
      <p:ext uri="{BB962C8B-B14F-4D97-AF65-F5344CB8AC3E}">
        <p14:creationId xmlns:p14="http://schemas.microsoft.com/office/powerpoint/2010/main" val="2196567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109953" y="3138633"/>
            <a:ext cx="387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Q16.16 variable y has 16 fractional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23338" y="2051542"/>
                <a:ext cx="4045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Q16.16 variable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16 fractional bits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338" y="2051542"/>
                <a:ext cx="4045396" cy="369332"/>
              </a:xfrm>
              <a:prstGeom prst="rect">
                <a:avLst/>
              </a:prstGeom>
              <a:blipFill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42463"/>
              </p:ext>
            </p:extLst>
          </p:nvPr>
        </p:nvGraphicFramePr>
        <p:xfrm>
          <a:off x="6379114" y="2348477"/>
          <a:ext cx="334010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188265253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3974668292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288294052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672159145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21385658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74941813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96788701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2660309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75018481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27563734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188089583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434065621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42899097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072719895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3831602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73824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9856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953106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41616"/>
              </p:ext>
            </p:extLst>
          </p:nvPr>
        </p:nvGraphicFramePr>
        <p:xfrm>
          <a:off x="6379115" y="1294268"/>
          <a:ext cx="3333845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188265253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3974668292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288294052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672159145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213856586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74941813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96788701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2660309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75018481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27563734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188089583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434065621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42899097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072719895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3831602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73824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9856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9531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30508"/>
            <a:ext cx="6880000" cy="728486"/>
          </a:xfrm>
        </p:spPr>
        <p:txBody>
          <a:bodyPr>
            <a:normAutofit/>
          </a:bodyPr>
          <a:lstStyle/>
          <a:p>
            <a:r>
              <a:rPr lang="en-US" dirty="0"/>
              <a:t>Q16.16 × Q16.16 Multiplication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55723"/>
              </p:ext>
            </p:extLst>
          </p:nvPr>
        </p:nvGraphicFramePr>
        <p:xfrm>
          <a:off x="3047999" y="3508420"/>
          <a:ext cx="666496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2879646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576388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604760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88893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921461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601570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25025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87723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420995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897476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10236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138066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3158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586871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200025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194048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044632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963094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168327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80831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399456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168419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185938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38997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38316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23523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792097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374921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63386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376675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816532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62254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75771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accent1">
                          <a:tint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accent1">
                          <a:tint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4816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81201" y="1645580"/>
                <a:ext cx="8164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1" y="1645580"/>
                <a:ext cx="81642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48257" y="2722440"/>
                <a:ext cx="11936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×  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257" y="2722440"/>
                <a:ext cx="1193618" cy="523220"/>
              </a:xfrm>
              <a:prstGeom prst="rect">
                <a:avLst/>
              </a:prstGeom>
              <a:blipFill>
                <a:blip r:embed="rId4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81200" y="4038318"/>
                <a:ext cx="8164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038318"/>
                <a:ext cx="81642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8005556" y="2062381"/>
            <a:ext cx="80962" cy="666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338633" y="4330536"/>
            <a:ext cx="80962" cy="666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785257" y="3223067"/>
            <a:ext cx="11266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81201" y="4885642"/>
                <a:ext cx="65532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79488" algn="l"/>
                    <a:tab pos="3200400" algn="l"/>
                  </a:tabLst>
                </a:pPr>
                <a:r>
                  <a:rPr lang="en-US" dirty="0">
                    <a:latin typeface="Consolas" panose="020B0609020204030204" pitchFamily="49" charset="0"/>
                  </a:rPr>
                  <a:t>LDR	R0,[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]	// R0    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= x  (Q16.16)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>
                  <a:tabLst>
                    <a:tab pos="979488" algn="l"/>
                    <a:tab pos="3200400" algn="l"/>
                  </a:tabLst>
                </a:pPr>
                <a:r>
                  <a:rPr lang="en-US" dirty="0">
                    <a:latin typeface="Consolas" panose="020B0609020204030204" pitchFamily="49" charset="0"/>
                  </a:rPr>
                  <a:t>LDR	R1,[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]	// R1    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= y  (Q16.16)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>
                  <a:tabLst>
                    <a:tab pos="979488" algn="l"/>
                    <a:tab pos="3200400" algn="l"/>
                  </a:tabLst>
                </a:pPr>
                <a:r>
                  <a:rPr lang="en-US" dirty="0">
                    <a:latin typeface="Consolas" panose="020B0609020204030204" pitchFamily="49" charset="0"/>
                  </a:rPr>
                  <a:t>SMULL	R0,R1,R0,R1	// R1.R0 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= </a:t>
                </a:r>
                <a:r>
                  <a:rPr lang="en-US" dirty="0" err="1">
                    <a:latin typeface="Consolas" panose="020B0609020204030204" pitchFamily="49" charset="0"/>
                    <a:sym typeface="Wingdings" panose="05000000000000000000" pitchFamily="2" charset="2"/>
                  </a:rPr>
                  <a:t>xy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 (Q32.32)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>
                  <a:tabLst>
                    <a:tab pos="979488" algn="l"/>
                    <a:tab pos="3200400" algn="l"/>
                  </a:tabLst>
                </a:pP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LSR	R0,R0,#16	// Extract middle 32 bits</a:t>
                </a:r>
              </a:p>
              <a:p>
                <a:pPr>
                  <a:tabLst>
                    <a:tab pos="979488" algn="l"/>
                    <a:tab pos="3200400" algn="l"/>
                  </a:tabLst>
                </a:pPr>
                <a:r>
                  <a:rPr lang="en-US" dirty="0">
                    <a:solidFill>
                      <a:srgbClr val="00B0F0"/>
                    </a:solidFill>
                    <a:latin typeface="Consolas" panose="020B0609020204030204" pitchFamily="49" charset="0"/>
                  </a:rPr>
                  <a:t>ORR	R0,R0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,R1,LSL#16</a:t>
                </a:r>
              </a:p>
              <a:p>
                <a:pPr>
                  <a:tabLst>
                    <a:tab pos="979488" algn="l"/>
                    <a:tab pos="3200400" algn="l"/>
                  </a:tabLst>
                </a:pPr>
                <a:r>
                  <a:rPr lang="en-US" dirty="0">
                    <a:latin typeface="Consolas" panose="020B0609020204030204" pitchFamily="49" charset="0"/>
                  </a:rPr>
                  <a:t>STR	R0,[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]	// R0 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 z     (Q16.16)</a:t>
                </a:r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1" y="4885642"/>
                <a:ext cx="6553200" cy="1754326"/>
              </a:xfrm>
              <a:prstGeom prst="rect">
                <a:avLst/>
              </a:prstGeom>
              <a:blipFill>
                <a:blip r:embed="rId6"/>
                <a:stretch>
                  <a:fillRect l="-744" t="-1736" r="-186" b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wn Arrow 14"/>
          <p:cNvSpPr/>
          <p:nvPr/>
        </p:nvSpPr>
        <p:spPr>
          <a:xfrm>
            <a:off x="2389414" y="3524242"/>
            <a:ext cx="323307" cy="5140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443627" y="4361362"/>
            <a:ext cx="595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 the 64-bit Q32.32 product will have 32 fractional bits</a:t>
            </a:r>
          </a:p>
        </p:txBody>
      </p:sp>
      <p:sp>
        <p:nvSpPr>
          <p:cNvPr id="10" name="Oval 9"/>
          <p:cNvSpPr/>
          <p:nvPr/>
        </p:nvSpPr>
        <p:spPr>
          <a:xfrm>
            <a:off x="8005555" y="3117187"/>
            <a:ext cx="80962" cy="666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9331616" y="4929799"/>
            <a:ext cx="0" cy="1666012"/>
          </a:xfrm>
          <a:prstGeom prst="straightConnector1">
            <a:avLst/>
          </a:prstGeom>
          <a:ln w="2540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79972" y="5399452"/>
            <a:ext cx="173082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 instructions, </a:t>
            </a:r>
          </a:p>
          <a:p>
            <a:pPr algn="ctr"/>
            <a:r>
              <a:rPr lang="en-US" dirty="0"/>
              <a:t>6 clock cycles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00469" y="3959881"/>
            <a:ext cx="3340636" cy="378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764395" y="3977591"/>
            <a:ext cx="6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79488" algn="l"/>
                <a:tab pos="3200400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1308" y="3951051"/>
            <a:ext cx="6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79488" algn="l"/>
                <a:tab pos="3200400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 0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3047999" y="3505206"/>
            <a:ext cx="1652470" cy="802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041105" y="3524242"/>
            <a:ext cx="167185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473116" y="5759116"/>
            <a:ext cx="709863" cy="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3834063" y="6045783"/>
            <a:ext cx="108685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54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062" y="760100"/>
            <a:ext cx="10417284" cy="675594"/>
          </a:xfrm>
        </p:spPr>
        <p:txBody>
          <a:bodyPr/>
          <a:lstStyle/>
          <a:p>
            <a:r>
              <a:rPr lang="en-US" dirty="0"/>
              <a:t>Implement this example with </a:t>
            </a:r>
            <a:r>
              <a:rPr lang="en-US" dirty="0" err="1"/>
              <a:t>CPUlator</a:t>
            </a:r>
            <a:r>
              <a:rPr lang="en-US" dirty="0"/>
              <a:t>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55" y="5254069"/>
            <a:ext cx="8688012" cy="13908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7" y="1518555"/>
            <a:ext cx="3943900" cy="20862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754655" y="5701256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Imaginary point</a:t>
            </a:r>
          </a:p>
        </p:txBody>
      </p:sp>
      <p:cxnSp>
        <p:nvCxnSpPr>
          <p:cNvPr id="7" name="Straight Arrow Connector 6"/>
          <p:cNvCxnSpPr>
            <a:stCxn id="6" idx="2"/>
          </p:cNvCxnSpPr>
          <p:nvPr/>
        </p:nvCxnSpPr>
        <p:spPr>
          <a:xfrm>
            <a:off x="7371170" y="5962866"/>
            <a:ext cx="0" cy="1924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40660" y="6188779"/>
            <a:ext cx="34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79488" algn="l"/>
                <a:tab pos="3200400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572" y="5949491"/>
            <a:ext cx="34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79488" algn="l"/>
                <a:tab pos="3200400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344" y="1790295"/>
            <a:ext cx="5238572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/>
              <a:t>https://cpulator.01xz.net/?sys=arm</a:t>
            </a:r>
            <a:endParaRPr lang="en-US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656" y="3769858"/>
            <a:ext cx="7964011" cy="10288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0E81A-2FD0-07B1-A20E-1CE5225478E6}"/>
              </a:ext>
            </a:extLst>
          </p:cNvPr>
          <p:cNvSpPr txBox="1"/>
          <p:nvPr/>
        </p:nvSpPr>
        <p:spPr>
          <a:xfrm>
            <a:off x="7250919" y="2404858"/>
            <a:ext cx="2484976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01_FixedReal_SMULL.s</a:t>
            </a:r>
          </a:p>
        </p:txBody>
      </p:sp>
    </p:spTree>
    <p:extLst>
      <p:ext uri="{BB962C8B-B14F-4D97-AF65-F5344CB8AC3E}">
        <p14:creationId xmlns:p14="http://schemas.microsoft.com/office/powerpoint/2010/main" val="821922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6" y="745181"/>
            <a:ext cx="8628589" cy="766787"/>
          </a:xfrm>
        </p:spPr>
        <p:txBody>
          <a:bodyPr/>
          <a:lstStyle/>
          <a:p>
            <a:r>
              <a:rPr lang="en-US" dirty="0"/>
              <a:t>Implement this example with </a:t>
            </a:r>
            <a:r>
              <a:rPr lang="en-US" dirty="0" err="1"/>
              <a:t>CPUlator</a:t>
            </a:r>
            <a:r>
              <a:rPr lang="en-US" dirty="0"/>
              <a:t>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3" y="1440211"/>
            <a:ext cx="8628589" cy="50744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67339" y="5767820"/>
            <a:ext cx="34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79488" algn="l"/>
                <a:tab pos="3200400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7339" y="6060589"/>
            <a:ext cx="34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79488" algn="l"/>
                <a:tab pos="3200400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8426" y="5521790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Imaginary point</a:t>
            </a:r>
          </a:p>
        </p:txBody>
      </p:sp>
      <p:cxnSp>
        <p:nvCxnSpPr>
          <p:cNvPr id="9" name="Straight Arrow Connector 8"/>
          <p:cNvCxnSpPr>
            <a:stCxn id="4" idx="2"/>
          </p:cNvCxnSpPr>
          <p:nvPr/>
        </p:nvCxnSpPr>
        <p:spPr>
          <a:xfrm>
            <a:off x="6114941" y="5783400"/>
            <a:ext cx="0" cy="1924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92B8F6-9279-622F-6C92-E9D58B814BB4}"/>
              </a:ext>
            </a:extLst>
          </p:cNvPr>
          <p:cNvSpPr txBox="1"/>
          <p:nvPr/>
        </p:nvSpPr>
        <p:spPr>
          <a:xfrm>
            <a:off x="7741866" y="1440211"/>
            <a:ext cx="2484976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01_FixedReal_SMULL.s</a:t>
            </a:r>
          </a:p>
        </p:txBody>
      </p:sp>
    </p:spTree>
    <p:extLst>
      <p:ext uri="{BB962C8B-B14F-4D97-AF65-F5344CB8AC3E}">
        <p14:creationId xmlns:p14="http://schemas.microsoft.com/office/powerpoint/2010/main" val="1538497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111386" y="2082988"/>
                <a:ext cx="3967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Q16.16 variable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16 fractional bits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386" y="2082988"/>
                <a:ext cx="3967071" cy="369332"/>
              </a:xfrm>
              <a:prstGeom prst="rect">
                <a:avLst/>
              </a:prstGeom>
              <a:blipFill>
                <a:blip r:embed="rId2"/>
                <a:stretch>
                  <a:fillRect l="-308" t="-10000" r="-30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79114" y="2424686"/>
          <a:ext cx="334010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188265253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3974668292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288294052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672159145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21385658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74941813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96788701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2660309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75018481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27563734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188089583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434065621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42899097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072719895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3831602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73824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98562"/>
                  </a:ext>
                </a:extLst>
              </a:tr>
              <a:tr h="370840">
                <a:tc gridSpan="16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953106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79115" y="1305161"/>
          <a:ext cx="3333845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188265253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3974668292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288294052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672159145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213856586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74941813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96788701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42660309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75018481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27563734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1188089583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434065621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428990978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072719895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38316029"/>
                    </a:ext>
                  </a:extLst>
                </a:gridCol>
                <a:gridCol w="208371">
                  <a:extLst>
                    <a:ext uri="{9D8B030D-6E8A-4147-A177-3AD203B41FA5}">
                      <a16:colId xmlns:a16="http://schemas.microsoft.com/office/drawing/2014/main" val="273824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9856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9531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55041"/>
            <a:ext cx="10417284" cy="565361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Special Case: </a:t>
            </a:r>
            <a:r>
              <a:rPr lang="en-US" dirty="0"/>
              <a:t>Multiplying Q16.16 by an Integer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7999" y="3649945"/>
          <a:ext cx="666496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2879646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576388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604760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88893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921461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601570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25025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87723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420995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897476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10236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138066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3158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586871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200025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194048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044632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963094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168327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80831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399456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168419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185938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38997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38316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23523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792097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374921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363386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376675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816532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62254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75771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accent1">
                          <a:tint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accent1">
                          <a:tint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4816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81201" y="1721789"/>
                <a:ext cx="8164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1" y="1721789"/>
                <a:ext cx="81642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48257" y="2798649"/>
                <a:ext cx="11936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×  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257" y="2798649"/>
                <a:ext cx="1193618" cy="523220"/>
              </a:xfrm>
              <a:prstGeom prst="rect">
                <a:avLst/>
              </a:prstGeom>
              <a:blipFill>
                <a:blip r:embed="rId4"/>
                <a:stretch>
                  <a:fillRect l="-102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81200" y="4114527"/>
                <a:ext cx="8164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𝑁𝑥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114527"/>
                <a:ext cx="81642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1785257" y="3299276"/>
            <a:ext cx="11266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own Arrow 14"/>
          <p:cNvSpPr/>
          <p:nvPr/>
        </p:nvSpPr>
        <p:spPr>
          <a:xfrm>
            <a:off x="2389414" y="3600451"/>
            <a:ext cx="323307" cy="5140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282572" y="3222121"/>
            <a:ext cx="3624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 N has 0 fractional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2171" y="4515879"/>
            <a:ext cx="573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64-bit Q0.32 product will have 16 fractional bits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002918" y="2056945"/>
            <a:ext cx="1737744" cy="2458935"/>
            <a:chOff x="6478918" y="2056944"/>
            <a:chExt cx="1737744" cy="2458935"/>
          </a:xfrm>
        </p:grpSpPr>
        <p:sp>
          <p:nvSpPr>
            <p:cNvPr id="9" name="Oval 8"/>
            <p:cNvSpPr/>
            <p:nvPr/>
          </p:nvSpPr>
          <p:spPr>
            <a:xfrm>
              <a:off x="6481556" y="2056944"/>
              <a:ext cx="80962" cy="666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6478918" y="4449204"/>
              <a:ext cx="80962" cy="666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8135700" y="3204609"/>
              <a:ext cx="80962" cy="666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911929" y="5224686"/>
                <a:ext cx="538843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865188" algn="l"/>
                    <a:tab pos="2171700" algn="l"/>
                  </a:tabLst>
                </a:pPr>
                <a:r>
                  <a:rPr lang="en-US" dirty="0">
                    <a:latin typeface="Consolas" panose="020B0609020204030204" pitchFamily="49" charset="0"/>
                  </a:rPr>
                  <a:t>LDR	R0,[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]	// R0 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  x (Q16.16)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>
                  <a:tabLst>
                    <a:tab pos="865188" algn="l"/>
                    <a:tab pos="2171700" algn="l"/>
                  </a:tabLst>
                </a:pPr>
                <a:r>
                  <a:rPr lang="en-US" dirty="0">
                    <a:latin typeface="Consolas" panose="020B0609020204030204" pitchFamily="49" charset="0"/>
                  </a:rPr>
                  <a:t>LDR	R1,[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]	// R1 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  N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>
                  <a:tabLst>
                    <a:tab pos="865188" algn="l"/>
                    <a:tab pos="2171700" algn="l"/>
                  </a:tabLst>
                </a:pPr>
                <a:r>
                  <a:rPr lang="en-US" dirty="0">
                    <a:latin typeface="Consolas" panose="020B0609020204030204" pitchFamily="49" charset="0"/>
                  </a:rPr>
                  <a:t>MUL	R0,R0,R1	// R0 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 </a:t>
                </a:r>
                <a:r>
                  <a:rPr lang="en-US" dirty="0" err="1">
                    <a:latin typeface="Consolas" panose="020B0609020204030204" pitchFamily="49" charset="0"/>
                    <a:sym typeface="Wingdings" panose="05000000000000000000" pitchFamily="2" charset="2"/>
                  </a:rPr>
                  <a:t>Nx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 (Q16.16)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>
                  <a:tabLst>
                    <a:tab pos="865188" algn="l"/>
                    <a:tab pos="2171700" algn="l"/>
                  </a:tabLst>
                </a:pPr>
                <a:r>
                  <a:rPr lang="en-US" dirty="0">
                    <a:latin typeface="Consolas" panose="020B0609020204030204" pitchFamily="49" charset="0"/>
                  </a:rPr>
                  <a:t>STR	R0,[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]	// R0 </a:t>
                </a:r>
                <a:r>
                  <a:rPr lang="en-US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 y</a:t>
                </a:r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929" y="5224686"/>
                <a:ext cx="5388430" cy="1200329"/>
              </a:xfrm>
              <a:prstGeom prst="rect">
                <a:avLst/>
              </a:prstGeom>
              <a:blipFill>
                <a:blip r:embed="rId6"/>
                <a:stretch>
                  <a:fillRect l="-1018" t="-2538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>
            <a:off x="9345385" y="5205105"/>
            <a:ext cx="0" cy="1200329"/>
          </a:xfrm>
          <a:prstGeom prst="straightConnector1">
            <a:avLst/>
          </a:prstGeom>
          <a:ln w="2540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79972" y="5475661"/>
            <a:ext cx="173082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instructions, </a:t>
            </a:r>
          </a:p>
          <a:p>
            <a:pPr algn="ctr"/>
            <a:r>
              <a:rPr lang="en-US" dirty="0"/>
              <a:t>4 clock cycles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9114" y="2861221"/>
            <a:ext cx="3333845" cy="378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941875" y="5834022"/>
            <a:ext cx="2045761" cy="28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24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72032" y="4170869"/>
            <a:ext cx="744793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 descr="http://www.mathsmutt.co.uk/files/carea_files/carea_image018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894" y="1326473"/>
            <a:ext cx="25050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7961"/>
            <a:ext cx="7265010" cy="727914"/>
          </a:xfrm>
        </p:spPr>
        <p:txBody>
          <a:bodyPr>
            <a:normAutofit/>
          </a:bodyPr>
          <a:lstStyle/>
          <a:p>
            <a:r>
              <a:rPr lang="en-US" dirty="0"/>
              <a:t>Example: Q16 Area of a Triangle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865590" y="2893598"/>
            <a:ext cx="8802410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Q16 </a:t>
            </a:r>
            <a:r>
              <a:rPr lang="en-US" altLang="en-US" sz="2000" dirty="0" err="1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AreaOfTriangle</a:t>
            </a: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(Q16 b, Q16 h) ;</a:t>
            </a:r>
          </a:p>
          <a:p>
            <a:endParaRPr lang="en-US" altLang="en-US" sz="2000" dirty="0">
              <a:solidFill>
                <a:srgbClr val="22222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defTabSz="457200">
              <a:tabLst>
                <a:tab pos="1828800" algn="l"/>
              </a:tabLst>
            </a:pPr>
            <a:r>
              <a:rPr lang="en-US" altLang="en-US" sz="2000" dirty="0" err="1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AreaOfTriangle</a:t>
            </a: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</a:t>
            </a:r>
            <a:endParaRPr lang="en-US" altLang="en-US" sz="2000" dirty="0">
              <a:latin typeface="Consolas" panose="020B0609020204030204" pitchFamily="49" charset="0"/>
            </a:endParaRPr>
          </a:p>
          <a:p>
            <a:pPr marL="457200" defTabSz="457200">
              <a:tabLst>
                <a:tab pos="1828800" algn="l"/>
              </a:tabLst>
            </a:pPr>
            <a:r>
              <a:rPr lang="en-US" altLang="en-US" sz="2000" dirty="0">
                <a:latin typeface="Consolas" panose="020B0609020204030204" pitchFamily="49" charset="0"/>
              </a:rPr>
              <a:t>SMULL	R0,R1,R0,R1      // R1.R0 = Q32.32 product b x h</a:t>
            </a:r>
          </a:p>
          <a:p>
            <a:pPr marL="457200" defTabSz="457200">
              <a:tabLst>
                <a:tab pos="1828800" algn="l"/>
              </a:tabLst>
            </a:pPr>
            <a:r>
              <a:rPr lang="en-US" altLang="en-US" sz="2000" dirty="0">
                <a:latin typeface="Consolas" panose="020B0609020204030204" pitchFamily="49" charset="0"/>
              </a:rPr>
              <a:t>LSR	R0,R0,#16        // Extract middle 32 bits </a:t>
            </a:r>
          </a:p>
          <a:p>
            <a:pPr marL="457200" defTabSz="457200">
              <a:tabLst>
                <a:tab pos="1828800" algn="l"/>
              </a:tabLst>
            </a:pPr>
            <a:r>
              <a:rPr lang="en-US" altLang="en-US" sz="2000" dirty="0">
                <a:latin typeface="Consolas" panose="020B0609020204030204" pitchFamily="49" charset="0"/>
              </a:rPr>
              <a:t>ORR	R0,R0,R1,LSL#16</a:t>
            </a:r>
          </a:p>
          <a:p>
            <a:pPr marL="457200" defTabSz="457200">
              <a:tabLst>
                <a:tab pos="1828800" algn="l"/>
              </a:tabLst>
            </a:pPr>
            <a:r>
              <a:rPr lang="en-US" altLang="en-US" sz="2000" dirty="0">
                <a:latin typeface="Consolas" panose="020B0609020204030204" pitchFamily="49" charset="0"/>
              </a:rPr>
              <a:t>LSR	R0,R0,#1         // Divide by 2</a:t>
            </a:r>
          </a:p>
          <a:p>
            <a:pPr marL="457200" defTabSz="457200">
              <a:tabLst>
                <a:tab pos="1828800" algn="l"/>
              </a:tabLst>
            </a:pPr>
            <a:r>
              <a:rPr lang="en-US" altLang="en-US" sz="2000" dirty="0">
                <a:latin typeface="Consolas" panose="020B0609020204030204" pitchFamily="49" charset="0"/>
              </a:rPr>
              <a:t>BX	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446807" y="4574607"/>
                <a:ext cx="1455270" cy="80663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𝑏ℎ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807" y="4574607"/>
                <a:ext cx="1455270" cy="806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599347" y="5752296"/>
            <a:ext cx="5568617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second LSR can be eliminated by shifting right by 17 bits instead of 16.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2032" y="4170869"/>
            <a:ext cx="7447936" cy="634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69982" y="4568567"/>
            <a:ext cx="279611" cy="88187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156876" y="1753107"/>
                <a:ext cx="145527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𝑏ℎ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876" y="1753107"/>
                <a:ext cx="1455270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 flipV="1">
            <a:off x="4940968" y="4989095"/>
            <a:ext cx="6233475" cy="209553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82632" y="1534099"/>
            <a:ext cx="3168315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Example:</a:t>
            </a:r>
          </a:p>
          <a:p>
            <a:r>
              <a:rPr lang="en-US" dirty="0"/>
              <a:t>b = 1.5</a:t>
            </a:r>
          </a:p>
          <a:p>
            <a:r>
              <a:rPr lang="en-US" dirty="0"/>
              <a:t>h = 2.5</a:t>
            </a:r>
          </a:p>
          <a:p>
            <a:r>
              <a:rPr lang="en-US" dirty="0"/>
              <a:t>½ * 1.5 * 2.5 =1.875 = 0x1.e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17D00E-0E67-8A2E-0D1A-13F8EF68A1C6}"/>
              </a:ext>
            </a:extLst>
          </p:cNvPr>
          <p:cNvSpPr txBox="1"/>
          <p:nvPr/>
        </p:nvSpPr>
        <p:spPr>
          <a:xfrm>
            <a:off x="8940917" y="741698"/>
            <a:ext cx="325108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02_FixedReal_AreaOfTriangle.s</a:t>
            </a:r>
          </a:p>
        </p:txBody>
      </p:sp>
    </p:spTree>
    <p:extLst>
      <p:ext uri="{BB962C8B-B14F-4D97-AF65-F5344CB8AC3E}">
        <p14:creationId xmlns:p14="http://schemas.microsoft.com/office/powerpoint/2010/main" val="3202101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41171"/>
            <a:ext cx="10417284" cy="814914"/>
          </a:xfrm>
        </p:spPr>
        <p:txBody>
          <a:bodyPr/>
          <a:lstStyle/>
          <a:p>
            <a:r>
              <a:rPr lang="en-US" altLang="en-US" dirty="0" err="1">
                <a:solidFill>
                  <a:srgbClr val="222222"/>
                </a:solidFill>
                <a:latin typeface="Consolas" panose="020B0609020204030204" pitchFamily="49" charset="0"/>
              </a:rPr>
              <a:t>AreaOfTriangle</a:t>
            </a:r>
            <a:r>
              <a:rPr lang="en-US" altLang="en-US" dirty="0">
                <a:solidFill>
                  <a:srgbClr val="222222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CPUlator</a:t>
            </a:r>
            <a:r>
              <a:rPr lang="en-US" dirty="0"/>
              <a:t>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26" y="1615450"/>
            <a:ext cx="6667322" cy="47329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4B465-184B-894B-80A0-8800E3BBECBC}"/>
              </a:ext>
            </a:extLst>
          </p:cNvPr>
          <p:cNvSpPr txBox="1"/>
          <p:nvPr/>
        </p:nvSpPr>
        <p:spPr>
          <a:xfrm>
            <a:off x="8940917" y="741698"/>
            <a:ext cx="325108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02_FixedReal_AreaOfTriangle.s</a:t>
            </a:r>
          </a:p>
        </p:txBody>
      </p:sp>
    </p:spTree>
    <p:extLst>
      <p:ext uri="{BB962C8B-B14F-4D97-AF65-F5344CB8AC3E}">
        <p14:creationId xmlns:p14="http://schemas.microsoft.com/office/powerpoint/2010/main" val="1465974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42673" y="2706843"/>
            <a:ext cx="799362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989342" y="1436175"/>
            <a:ext cx="10548941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Q16 </a:t>
            </a:r>
            <a:r>
              <a:rPr lang="en-US" altLang="en-US" sz="2000" dirty="0" err="1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VolumeOfSphere</a:t>
            </a: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(Q16 r) ;</a:t>
            </a:r>
            <a:r>
              <a:rPr lang="en-US" sz="2000" dirty="0"/>
              <a:t> </a:t>
            </a:r>
          </a:p>
          <a:p>
            <a:pPr lvl="0"/>
            <a:endParaRPr lang="en-US" altLang="en-US" sz="2000" dirty="0">
              <a:latin typeface="Consolas" panose="020B0609020204030204" pitchFamily="49" charset="0"/>
            </a:endParaRPr>
          </a:p>
          <a:p>
            <a:pPr defTabSz="928688">
              <a:tabLst>
                <a:tab pos="457200" algn="l"/>
              </a:tabLst>
            </a:pPr>
            <a:r>
              <a:rPr lang="en-US" altLang="en-US" sz="2000" dirty="0" err="1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VolumeOfSphere</a:t>
            </a: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</a:t>
            </a:r>
            <a:endParaRPr lang="en-US" altLang="en-US" sz="2000" dirty="0">
              <a:latin typeface="Consolas" panose="020B0609020204030204" pitchFamily="49" charset="0"/>
            </a:endParaRP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SMULL</a:t>
            </a: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R1,R2,R0,R0	// R2.R1 = Q32.32 product </a:t>
            </a:r>
            <a:r>
              <a:rPr lang="en-US" altLang="en-US" sz="2000" b="1" dirty="0">
                <a:solidFill>
                  <a:srgbClr val="92D05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 squared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LSR	R1,R1,#16	// Extract Q16.16 product into R1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ORR	R1,R1,R2,LSL#16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SMULL</a:t>
            </a: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R0,R1,R1,R0	// R1.R0 = Q32.32 product </a:t>
            </a:r>
            <a:r>
              <a:rPr lang="en-US" altLang="en-US" sz="2000" b="1" dirty="0">
                <a:solidFill>
                  <a:srgbClr val="92D05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 cubed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LSR	R0,R0,#16	// Extract Q16.16 product into R0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ORR	R0,R0,R1,LSL#16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LDR	R1,=274516	// R1 = </a:t>
            </a:r>
            <a:r>
              <a:rPr lang="en-US" alt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(4*pi)/3</a:t>
            </a: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  </a:t>
            </a:r>
            <a:r>
              <a:rPr lang="en-US" alt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  65536    </a:t>
            </a:r>
            <a:r>
              <a:rPr lang="en-US" alt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= 274,516.5548…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b="1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SMULL</a:t>
            </a: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R0,R1,R0,R1	// R1.R0 = Q32.32 volume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LSR	R0,R0,#16	// Extract Q16.16 product into R0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ORR	R0,R0,R1,LSL#16</a:t>
            </a:r>
          </a:p>
          <a:p>
            <a:pPr marL="457200" defTabSz="928688">
              <a:tabLst>
                <a:tab pos="1828800" algn="l"/>
              </a:tabLst>
            </a:pPr>
            <a:r>
              <a:rPr lang="en-US" altLang="en-US" sz="2000" dirty="0">
                <a:solidFill>
                  <a:srgbClr val="22222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BX	LR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484" y="749250"/>
            <a:ext cx="6450874" cy="734646"/>
          </a:xfrm>
        </p:spPr>
        <p:txBody>
          <a:bodyPr/>
          <a:lstStyle/>
          <a:p>
            <a:pPr algn="l"/>
            <a:r>
              <a:rPr lang="en-US" dirty="0"/>
              <a:t>Ex: Q16 Volume of a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195771" y="1364711"/>
                <a:ext cx="2207643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771" y="1364711"/>
                <a:ext cx="2207643" cy="10157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450230" y="4873228"/>
            <a:ext cx="799362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50230" y="3619159"/>
            <a:ext cx="799362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246130" y="2819052"/>
            <a:ext cx="406802" cy="66775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610132" y="2539078"/>
                <a:ext cx="2207643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3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US" sz="3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sSup>
                        <m:sSupPr>
                          <m:ctrlPr>
                            <a:rPr lang="en-US" sz="3200" b="1" i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n-US" sz="3200" b="1" i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0132" y="2539078"/>
                <a:ext cx="2207643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9436299" y="3486801"/>
            <a:ext cx="1974809" cy="0"/>
          </a:xfrm>
          <a:prstGeom prst="straightConnector1">
            <a:avLst/>
          </a:prstGeom>
          <a:ln w="952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9741005" y="2595072"/>
            <a:ext cx="1670103" cy="218270"/>
          </a:xfrm>
          <a:prstGeom prst="straightConnector1">
            <a:avLst/>
          </a:prstGeom>
          <a:ln w="952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525153" y="4534982"/>
                <a:ext cx="2207643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3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US" sz="3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sSup>
                        <m:sSupPr>
                          <m:ctrlPr>
                            <a:rPr lang="en-US" sz="3200" b="1" i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n-US" sz="3200" b="1" i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153" y="4534982"/>
                <a:ext cx="2207643" cy="1015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0493568" y="4610552"/>
            <a:ext cx="653044" cy="9401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19" idx="1"/>
            <a:endCxn id="20" idx="3"/>
          </p:cNvCxnSpPr>
          <p:nvPr/>
        </p:nvCxnSpPr>
        <p:spPr>
          <a:xfrm flipH="1" flipV="1">
            <a:off x="8480437" y="4398752"/>
            <a:ext cx="2013131" cy="68187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50230" y="2729852"/>
            <a:ext cx="799362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583294" y="5754090"/>
            <a:ext cx="75841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(4 * pi) / 3 = 4.188790205 * (1.25 * 1.25 * 1.25) = 8.181230469</a:t>
            </a:r>
          </a:p>
          <a:p>
            <a:r>
              <a:rPr lang="en-US" dirty="0"/>
              <a:t>             1000 . 0010 1110 0110 0100</a:t>
            </a:r>
          </a:p>
          <a:p>
            <a:r>
              <a:rPr lang="en-US" dirty="0"/>
              <a:t>                   8 .    2       e       6      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9248" y="4262521"/>
            <a:ext cx="2611189" cy="272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D8634-A028-901E-8F11-30D774329BE7}"/>
              </a:ext>
            </a:extLst>
          </p:cNvPr>
          <p:cNvSpPr txBox="1"/>
          <p:nvPr/>
        </p:nvSpPr>
        <p:spPr>
          <a:xfrm>
            <a:off x="8763689" y="731922"/>
            <a:ext cx="3428311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03_FixedReal_VolumeOfSphere.s</a:t>
            </a:r>
          </a:p>
        </p:txBody>
      </p:sp>
    </p:spTree>
    <p:extLst>
      <p:ext uri="{BB962C8B-B14F-4D97-AF65-F5344CB8AC3E}">
        <p14:creationId xmlns:p14="http://schemas.microsoft.com/office/powerpoint/2010/main" val="987874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41171"/>
            <a:ext cx="10417284" cy="814914"/>
          </a:xfrm>
        </p:spPr>
        <p:txBody>
          <a:bodyPr/>
          <a:lstStyle/>
          <a:p>
            <a:r>
              <a:rPr lang="en-US" altLang="en-US" dirty="0" err="1">
                <a:solidFill>
                  <a:srgbClr val="222222"/>
                </a:solidFill>
                <a:latin typeface="Consolas" panose="020B0609020204030204" pitchFamily="49" charset="0"/>
              </a:rPr>
              <a:t>VolumeOfSphere</a:t>
            </a:r>
            <a:r>
              <a:rPr lang="en-US" altLang="en-US" dirty="0">
                <a:solidFill>
                  <a:srgbClr val="222222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CPUlator</a:t>
            </a:r>
            <a:r>
              <a:rPr lang="en-US" dirty="0"/>
              <a:t>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54" y="1438170"/>
            <a:ext cx="6846230" cy="51584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59C8FD-724E-A08D-1E70-1958C5F96CE1}"/>
              </a:ext>
            </a:extLst>
          </p:cNvPr>
          <p:cNvSpPr txBox="1"/>
          <p:nvPr/>
        </p:nvSpPr>
        <p:spPr>
          <a:xfrm>
            <a:off x="8763689" y="731922"/>
            <a:ext cx="3428311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03_FixedReal_VolumeOfSphere.s</a:t>
            </a:r>
          </a:p>
        </p:txBody>
      </p:sp>
    </p:spTree>
    <p:extLst>
      <p:ext uri="{BB962C8B-B14F-4D97-AF65-F5344CB8AC3E}">
        <p14:creationId xmlns:p14="http://schemas.microsoft.com/office/powerpoint/2010/main" val="2265165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1230</TotalTime>
  <Words>2155</Words>
  <Application>Microsoft Office PowerPoint</Application>
  <PresentationFormat>Widescreen</PresentationFormat>
  <Paragraphs>614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Arial Narrow</vt:lpstr>
      <vt:lpstr>Calibri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11 Fixed-Point Reals</vt:lpstr>
      <vt:lpstr>Why Fixed-Point Reals?</vt:lpstr>
      <vt:lpstr>What Are Fixed-Point Reals?</vt:lpstr>
      <vt:lpstr>Q FORMAT AND THE IMAGINARY BINARY POINT  </vt:lpstr>
      <vt:lpstr>ADDITION AND SUBTRACTION OF FIXED-POINT REALS  </vt:lpstr>
      <vt:lpstr>ADDITION AND SUBTRACTION OF FIXED-POINT REALS  </vt:lpstr>
      <vt:lpstr>MULTIPLICATION OF FIXED-POINT REALS</vt:lpstr>
      <vt:lpstr>MULTIPLICATION OF FIXED-POINT REALS </vt:lpstr>
      <vt:lpstr>DIVISION OF FIXED-POINT REALS</vt:lpstr>
      <vt:lpstr>DIVISION OF FIXED-POINT REALS </vt:lpstr>
      <vt:lpstr>DIVISION: IMPROVING ACCURACY</vt:lpstr>
      <vt:lpstr>DIVISION: IMPROVING ACCURACY</vt:lpstr>
      <vt:lpstr>Chapter 11 Fixed-Point Reals</vt:lpstr>
      <vt:lpstr>FIXED-POINT USING A UNIVERSAL Q16.16 FORMAT  </vt:lpstr>
      <vt:lpstr>Interpreting a Q16.16 Real</vt:lpstr>
      <vt:lpstr>Converting Q16.16 to float</vt:lpstr>
      <vt:lpstr>Creating a Q16.16 Real Constant</vt:lpstr>
      <vt:lpstr>Converting float to Q16.16</vt:lpstr>
      <vt:lpstr>Converting float to Q16.16</vt:lpstr>
      <vt:lpstr>Chapter 11 Fixed-Point Reals</vt:lpstr>
      <vt:lpstr>Q16.16 × Q16.16 Multiplication</vt:lpstr>
      <vt:lpstr>Q16.16 × Q16.16 Multiplication</vt:lpstr>
      <vt:lpstr>Implement this example with CPUlator  </vt:lpstr>
      <vt:lpstr>Implement this example with CPUlator  </vt:lpstr>
      <vt:lpstr>Special Case: Multiplying Q16.16 by an Integer</vt:lpstr>
      <vt:lpstr>Example: Q16 Area of a Triangle</vt:lpstr>
      <vt:lpstr>AreaOfTriangle CPUlator  </vt:lpstr>
      <vt:lpstr>Ex: Q16 Volume of a Sphere</vt:lpstr>
      <vt:lpstr>VolumeOfSphere CPUlator  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230</cp:revision>
  <cp:lastPrinted>2023-09-11T21:46:56Z</cp:lastPrinted>
  <dcterms:created xsi:type="dcterms:W3CDTF">2023-09-09T19:51:41Z</dcterms:created>
  <dcterms:modified xsi:type="dcterms:W3CDTF">2026-09-22T20:33:36Z</dcterms:modified>
</cp:coreProperties>
</file>