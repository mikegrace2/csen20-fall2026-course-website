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5" r:id="rId4"/>
  </p:sldMasterIdLst>
  <p:notesMasterIdLst>
    <p:notesMasterId r:id="rId30"/>
  </p:notesMasterIdLst>
  <p:handoutMasterIdLst>
    <p:handoutMasterId r:id="rId31"/>
  </p:handoutMasterIdLst>
  <p:sldIdLst>
    <p:sldId id="333" r:id="rId5"/>
    <p:sldId id="336" r:id="rId6"/>
    <p:sldId id="378" r:id="rId7"/>
    <p:sldId id="381" r:id="rId8"/>
    <p:sldId id="386" r:id="rId9"/>
    <p:sldId id="382" r:id="rId10"/>
    <p:sldId id="383" r:id="rId11"/>
    <p:sldId id="387" r:id="rId12"/>
    <p:sldId id="380" r:id="rId13"/>
    <p:sldId id="384" r:id="rId14"/>
    <p:sldId id="389" r:id="rId15"/>
    <p:sldId id="393" r:id="rId16"/>
    <p:sldId id="394" r:id="rId17"/>
    <p:sldId id="390" r:id="rId18"/>
    <p:sldId id="395" r:id="rId19"/>
    <p:sldId id="396" r:id="rId20"/>
    <p:sldId id="388" r:id="rId21"/>
    <p:sldId id="373" r:id="rId22"/>
    <p:sldId id="376" r:id="rId23"/>
    <p:sldId id="360" r:id="rId24"/>
    <p:sldId id="377" r:id="rId25"/>
    <p:sldId id="361" r:id="rId26"/>
    <p:sldId id="374" r:id="rId27"/>
    <p:sldId id="385" r:id="rId28"/>
    <p:sldId id="509" r:id="rId2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013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657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39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840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637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465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2874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445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3167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424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9220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7496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23899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782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464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257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1110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7159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9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37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388" y="1649794"/>
            <a:ext cx="10442421" cy="50439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34557"/>
            <a:ext cx="9144000" cy="714234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Convert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Calculate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Convert: 0110 0111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= 103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 decimal: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6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=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5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=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4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=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3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=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2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6</a:t>
            </a:r>
            <a:r>
              <a:rPr lang="en-US" dirty="0"/>
              <a:t> =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1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/>
              <a:t> =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8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02696-0C04-F3D6-E0F3-5083C516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58AA-5DA4-A2F9-1091-5847824A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Calculate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199C-FB98-C596-717E-622C70A26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Convert: 0110 0111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= 103</a:t>
            </a:r>
            <a:r>
              <a:rPr lang="en-US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 decimal: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6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= 103 / 2</a:t>
            </a:r>
            <a:r>
              <a:rPr lang="en-US" sz="2400" b="1" baseline="30000" dirty="0">
                <a:solidFill>
                  <a:srgbClr val="FF0000"/>
                </a:solidFill>
                <a:effectLst/>
                <a:latin typeface="+mn-lt"/>
                <a:ea typeface="Arial"/>
                <a:cs typeface="Calibri"/>
              </a:rPr>
              <a:t>2 </a:t>
            </a:r>
            <a:r>
              <a:rPr lang="en-US" dirty="0"/>
              <a:t>= 25.75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5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= 103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3 </a:t>
            </a:r>
            <a:r>
              <a:rPr lang="en-US" dirty="0"/>
              <a:t>= 12.88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4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= 103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4 </a:t>
            </a:r>
            <a:r>
              <a:rPr lang="en-US" dirty="0"/>
              <a:t>=   6.44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3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= 103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5 </a:t>
            </a:r>
            <a:r>
              <a:rPr lang="en-US" dirty="0"/>
              <a:t>=   3.22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2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6</a:t>
            </a:r>
            <a:r>
              <a:rPr lang="en-US" dirty="0"/>
              <a:t> = 103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6 </a:t>
            </a:r>
            <a:r>
              <a:rPr lang="en-US" dirty="0"/>
              <a:t>=   1.61</a:t>
            </a:r>
          </a:p>
          <a:p>
            <a:r>
              <a:rPr lang="en-US" dirty="0"/>
              <a:t>Q</a:t>
            </a:r>
            <a:r>
              <a:rPr lang="en-US" b="1" dirty="0">
                <a:solidFill>
                  <a:srgbClr val="00B050"/>
                </a:solidFill>
              </a:rPr>
              <a:t>1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/>
              <a:t> = 103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7 </a:t>
            </a:r>
            <a:r>
              <a:rPr lang="en-US" dirty="0"/>
              <a:t>=   0.80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2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39E2-5BAF-2CF5-C3B5-50DE14EA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D2A5-9113-1FF5-BC53-3569D94C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Add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895CEBB-13D5-03DB-3129-5408F6C818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049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A5DD-8EB4-3192-CB8F-74A62C9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D4B2-63A9-BD1A-04C7-3C30493C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02453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6EB7-DA53-A8FD-63C1-EB6BBA932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Add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(010110.11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  91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]{22.75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(01011.101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)[93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]{11.625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(001.10101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  53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]{1.656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]{0.664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</p:txBody>
      </p:sp>
    </p:spTree>
    <p:extLst>
      <p:ext uri="{BB962C8B-B14F-4D97-AF65-F5344CB8AC3E}">
        <p14:creationId xmlns:p14="http://schemas.microsoft.com/office/powerpoint/2010/main" val="40695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419D-1007-ACFA-9FD2-715AE60C8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E192-154B-8A27-9D3E-02CA83D6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02453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9210-D903-DEF1-62E2-B1B1B85B4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Add: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(010110.11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  91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]{22.75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(01011.101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)[93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]{11.625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</a:t>
            </a: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(10110.110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)[182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]{22.75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(01011.101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)[93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]{11.625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275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3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34.375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endParaRPr lang="en-US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(001.10101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  53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]{1.656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]{0.664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(0.1010100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)[212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]{1.656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+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]{0.664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297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7	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2.32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83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EFC5-879D-C7C6-AEBF-BBE22595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83C8-A9C9-542F-D779-AC0E5FCB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Subtract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D71DFDE-7538-CD4B-8797-311F6363FA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69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Subtract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(000110.11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)[27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]{6.75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     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)[29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]{3.625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]{0.65625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0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3DA9-1DA4-4CCA-3FC1-8809F784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959-AB3C-AAFB-584E-293BA160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1AEE6-98C2-540B-2FD5-E52E26536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Subtract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(000110.11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)[27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]{6.75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)[29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]{3.625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</a:t>
            </a: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(00110.110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)[54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]{6.75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)[29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]{3.625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25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3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3.125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(000.10101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]{0.656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(0.1010100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]{0.656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(0.1010000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)[80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4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7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0.031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56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DE19-BC56-59D2-F621-167EE380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9C76-239B-CCBC-8B6A-DB135D2D8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Multiply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8A6D314C-758C-9A2A-58D8-240DFADCAC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981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E678-BD14-644E-8343-2AD33B8F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39FC-293A-1369-B64A-5049BAE3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A3EC-1367-1725-81F8-C3C25F84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Multiply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(000011.11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]{3.75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(000.11000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(0.0010000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]{0.125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754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30E7A-A759-622F-F5DE-D7E52A43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7636-B520-8AA1-BE4E-DEDF34B9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6574-A407-CAA9-FD7C-FD1C654EE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Multiply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(000011.11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]{3.75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(00001.101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195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5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6.094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(000.11000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]{0.75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(0.0010000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)[16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]{0.125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384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12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0.094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1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18C90-9437-7B68-B12D-FE269BE56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641C-BCC7-4CDA-AC4C-6F7711A6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Divide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5051A089-2D12-A19D-230E-97DF194772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9264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4C8B-31C8-A5BC-534D-01BADDEA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BE8B-DCA1-73AC-FAEC-C36FAB79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8BC8C-397A-B901-28D1-B0D2D7AD8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Divide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(0001.1001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]{1.563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(00000.101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(000.10100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–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(000000.10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]{0.500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>
                <a:solidFill>
                  <a:schemeClr val="tx1"/>
                </a:solidFill>
              </a:rPr>
              <a:t>} =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4694-CE57-9EA6-F93B-8B3ED28C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ECF6-A600-5E36-9225-04768D4C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2970466" cy="1144151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BEFF6-20F1-E737-2D95-9A6893A40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Divide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(0001.1001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]{1.563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(00000.101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5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1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2.5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(000.10100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]{0.625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</a:t>
            </a:r>
            <a:r>
              <a:rPr lang="en-US" b="1" dirty="0">
                <a:solidFill>
                  <a:schemeClr val="tx1"/>
                </a:solidFill>
              </a:rPr>
              <a:t>–</a:t>
            </a:r>
            <a:r>
              <a:rPr lang="en-US" dirty="0">
                <a:solidFill>
                  <a:schemeClr val="tx1"/>
                </a:solidFill>
              </a:rPr>
              <a:t> Q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(000000.10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)[2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]{0.500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} = 10 / 2</a:t>
            </a:r>
            <a:r>
              <a:rPr lang="en-US" b="1" baseline="30000" dirty="0">
                <a:solidFill>
                  <a:srgbClr val="FF0000"/>
                </a:solidFill>
                <a:latin typeface="+mn-lt"/>
                <a:cs typeface="Calibri"/>
              </a:rPr>
              <a:t>3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u="sng" dirty="0">
                <a:solidFill>
                  <a:schemeClr val="tx1"/>
                </a:solidFill>
              </a:rPr>
              <a:t>1.250</a:t>
            </a:r>
            <a:r>
              <a:rPr lang="en-US" sz="2400" baseline="-25000" dirty="0">
                <a:solidFill>
                  <a:schemeClr val="tx1"/>
                </a:solidFill>
                <a:effectLst/>
                <a:latin typeface="+mn-lt"/>
                <a:ea typeface="Calibri"/>
                <a:cs typeface="Calibri"/>
              </a:rPr>
              <a:t>10</a:t>
            </a: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7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E28E-5F03-A9AE-39C8-3162A7D9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E1DA-6643-E4A2-5F58-7F91F400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9E8658F4-7C52-1DB5-FF91-70E002BE07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4548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062" y="760100"/>
            <a:ext cx="10417284" cy="675594"/>
          </a:xfrm>
        </p:spPr>
        <p:txBody>
          <a:bodyPr/>
          <a:lstStyle/>
          <a:p>
            <a:r>
              <a:rPr lang="en-US" dirty="0"/>
              <a:t>Implement this example with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55" y="5254069"/>
            <a:ext cx="8688012" cy="13908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7" y="1518555"/>
            <a:ext cx="3943900" cy="20862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754655" y="5701256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Imaginary point</a:t>
            </a:r>
          </a:p>
        </p:txBody>
      </p:sp>
      <p:cxnSp>
        <p:nvCxnSpPr>
          <p:cNvPr id="7" name="Straight Arrow Connector 6"/>
          <p:cNvCxnSpPr>
            <a:stCxn id="6" idx="2"/>
          </p:cNvCxnSpPr>
          <p:nvPr/>
        </p:nvCxnSpPr>
        <p:spPr>
          <a:xfrm>
            <a:off x="7371170" y="5962866"/>
            <a:ext cx="0" cy="192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40660" y="6188779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488" algn="l"/>
                <a:tab pos="3200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572" y="5949491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488" algn="l"/>
                <a:tab pos="3200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344" y="1790295"/>
            <a:ext cx="5238572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https://cpulator.01xz.net/?sys=arm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656" y="3769858"/>
            <a:ext cx="7964011" cy="10288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0E81A-2FD0-07B1-A20E-1CE5225478E6}"/>
              </a:ext>
            </a:extLst>
          </p:cNvPr>
          <p:cNvSpPr txBox="1"/>
          <p:nvPr/>
        </p:nvSpPr>
        <p:spPr>
          <a:xfrm>
            <a:off x="7250919" y="2404858"/>
            <a:ext cx="2484976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01_FixedReal_SMULL.s</a:t>
            </a:r>
          </a:p>
        </p:txBody>
      </p:sp>
    </p:spTree>
    <p:extLst>
      <p:ext uri="{BB962C8B-B14F-4D97-AF65-F5344CB8AC3E}">
        <p14:creationId xmlns:p14="http://schemas.microsoft.com/office/powerpoint/2010/main" val="82192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6" y="745181"/>
            <a:ext cx="8628589" cy="766787"/>
          </a:xfrm>
        </p:spPr>
        <p:txBody>
          <a:bodyPr/>
          <a:lstStyle/>
          <a:p>
            <a:r>
              <a:rPr lang="en-US" dirty="0"/>
              <a:t>Implement this example with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3" y="1440211"/>
            <a:ext cx="8628589" cy="50744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67339" y="5767820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488" algn="l"/>
                <a:tab pos="3200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7339" y="6060589"/>
            <a:ext cx="34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488" algn="l"/>
                <a:tab pos="32004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8426" y="5521790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Imaginary point</a:t>
            </a:r>
          </a:p>
        </p:txBody>
      </p:sp>
      <p:cxnSp>
        <p:nvCxnSpPr>
          <p:cNvPr id="9" name="Straight Arrow Connector 8"/>
          <p:cNvCxnSpPr>
            <a:stCxn id="4" idx="2"/>
          </p:cNvCxnSpPr>
          <p:nvPr/>
        </p:nvCxnSpPr>
        <p:spPr>
          <a:xfrm>
            <a:off x="6114941" y="5783400"/>
            <a:ext cx="0" cy="192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92B8F6-9279-622F-6C92-E9D58B814BB4}"/>
              </a:ext>
            </a:extLst>
          </p:cNvPr>
          <p:cNvSpPr txBox="1"/>
          <p:nvPr/>
        </p:nvSpPr>
        <p:spPr>
          <a:xfrm>
            <a:off x="7741866" y="1440211"/>
            <a:ext cx="2484976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01_FixedReal_SMULL.s</a:t>
            </a:r>
          </a:p>
        </p:txBody>
      </p:sp>
    </p:spTree>
    <p:extLst>
      <p:ext uri="{BB962C8B-B14F-4D97-AF65-F5344CB8AC3E}">
        <p14:creationId xmlns:p14="http://schemas.microsoft.com/office/powerpoint/2010/main" val="1538497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72032" y="4170869"/>
            <a:ext cx="744793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34" name="Picture 10" descr="http://www.mathsmutt.co.uk/files/carea_files/carea_image01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894" y="1326473"/>
            <a:ext cx="25050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7961"/>
            <a:ext cx="7265010" cy="727914"/>
          </a:xfrm>
        </p:spPr>
        <p:txBody>
          <a:bodyPr>
            <a:normAutofit/>
          </a:bodyPr>
          <a:lstStyle/>
          <a:p>
            <a:r>
              <a:rPr lang="en-US" dirty="0"/>
              <a:t>Example: Q16 Area of a Triangle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65590" y="2893598"/>
            <a:ext cx="8802410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Q16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AreaOfTriangle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(Q16 b, Q16 h)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AreaOfTriangle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SMULL	R0,R1,R0,R1      // R1.R0 = Q32.32 product b x h</a:t>
            </a:r>
          </a:p>
          <a:p>
            <a:pPr marL="45720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LSR	R0,R0,#16        // Extract middle 32 bits </a:t>
            </a:r>
          </a:p>
          <a:p>
            <a:pPr marL="45720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ORR	R0,R0,R1,LSL#16</a:t>
            </a:r>
          </a:p>
          <a:p>
            <a:pPr marL="45720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LSR	R0,R0,#1         // Divide by 2</a:t>
            </a:r>
          </a:p>
          <a:p>
            <a:pPr marL="45720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BX	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446807" y="4574607"/>
                <a:ext cx="1455270" cy="80663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𝑏ℎ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807" y="4574607"/>
                <a:ext cx="1455270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599347" y="5752296"/>
            <a:ext cx="5568617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second LSR can be eliminated by shifting right by 17 bits instead of 16.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2032" y="4170869"/>
            <a:ext cx="7447936" cy="6341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69982" y="4568567"/>
            <a:ext cx="279611" cy="88187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56876" y="1753107"/>
                <a:ext cx="14552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𝑏ℎ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876" y="1753107"/>
                <a:ext cx="1455270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 flipV="1">
            <a:off x="4940968" y="4989095"/>
            <a:ext cx="6233475" cy="209553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82632" y="1534099"/>
            <a:ext cx="3168315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 = 1.5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 = 2.5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½ * 1.5 * 2.5 =1.875 = 0x1.e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7D00E-0E67-8A2E-0D1A-13F8EF68A1C6}"/>
              </a:ext>
            </a:extLst>
          </p:cNvPr>
          <p:cNvSpPr txBox="1"/>
          <p:nvPr/>
        </p:nvSpPr>
        <p:spPr>
          <a:xfrm>
            <a:off x="8940917" y="741698"/>
            <a:ext cx="325108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02_FixedReal_AreaOfTriangle.s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3202101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41171"/>
            <a:ext cx="10417284" cy="814914"/>
          </a:xfrm>
        </p:spPr>
        <p:txBody>
          <a:bodyPr/>
          <a:lstStyle/>
          <a:p>
            <a:r>
              <a:rPr lang="en-US" altLang="en-US" dirty="0" err="1">
                <a:solidFill>
                  <a:srgbClr val="222222"/>
                </a:solidFill>
                <a:latin typeface="Consolas" panose="020B0609020204030204" pitchFamily="49" charset="0"/>
              </a:rPr>
              <a:t>AreaOfTriangle</a:t>
            </a:r>
            <a:r>
              <a:rPr lang="en-US" altLang="en-US" dirty="0">
                <a:solidFill>
                  <a:srgbClr val="22222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26" y="1615450"/>
            <a:ext cx="6667322" cy="47329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4B465-184B-894B-80A0-8800E3BBECBC}"/>
              </a:ext>
            </a:extLst>
          </p:cNvPr>
          <p:cNvSpPr txBox="1"/>
          <p:nvPr/>
        </p:nvSpPr>
        <p:spPr>
          <a:xfrm>
            <a:off x="8940917" y="741698"/>
            <a:ext cx="325108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02_FixedReal_AreaOfTriangle.s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146597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2673" y="2706843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989342" y="1436175"/>
            <a:ext cx="10548941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Q16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VolumeOfSphere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(Q16 r) ;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VolumeOfSphere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SMULL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	R1,R2,R0,R0	// R2.R1 = Q32.32 product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 squared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LSR	R1,R1,#16	// Extract Q16.16 product into R1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ORR	R1,R1,R2,LSL#16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SMULL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	R0,R1,R1,R0	// R1.R0 = Q32.32 product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r cubed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LSR	R0,R0,#16	// Extract Q16.16 product into R0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ORR	R0,R0,R1,LSL#16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LDR	R1,=274516	// R1 =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(4*pi)/3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 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x  65536   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= 274,516.5548…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SMULL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	R0,R1,R0,R1	// R1.R0 = Q32.32 volume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LSR	R0,R0,#16	// Extract Q16.16 product into R0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ORR	R0,R0,R1,LSL#16</a:t>
            </a:r>
          </a:p>
          <a:p>
            <a:pPr marL="457200" marR="0" lvl="0" indent="0" algn="l" defTabSz="9286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8800" algn="l"/>
              </a:tabLst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BX	LR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484" y="749250"/>
            <a:ext cx="6450874" cy="734646"/>
          </a:xfrm>
        </p:spPr>
        <p:txBody>
          <a:bodyPr/>
          <a:lstStyle/>
          <a:p>
            <a:pPr algn="l"/>
            <a:r>
              <a:rPr lang="en-US" dirty="0"/>
              <a:t>Ex: Q16 Volume of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95771" y="1364711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num>
                        <m:den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𝜋</m:t>
                      </m:r>
                      <m:sSup>
                        <m:sSup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p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771" y="1364711"/>
                <a:ext cx="2207643" cy="10157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450230" y="4873228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50230" y="3619159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46130" y="2819052"/>
            <a:ext cx="406802" cy="66775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610132" y="2539078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  <m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𝛑</m:t>
                      </m:r>
                      <m:sSup>
                        <m:sSupPr>
                          <m:ctrlP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𝐫</m:t>
                          </m:r>
                        </m:e>
                        <m:sup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132" y="2539078"/>
                <a:ext cx="2207643" cy="1015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9436299" y="3486801"/>
            <a:ext cx="1974809" cy="0"/>
          </a:xfrm>
          <a:prstGeom prst="straightConnector1">
            <a:avLst/>
          </a:prstGeom>
          <a:ln w="95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9741005" y="2595072"/>
            <a:ext cx="1670103" cy="218270"/>
          </a:xfrm>
          <a:prstGeom prst="straightConnector1">
            <a:avLst/>
          </a:prstGeom>
          <a:ln w="95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525153" y="4534982"/>
                <a:ext cx="2207643" cy="101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  <m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𝛑</m:t>
                      </m:r>
                      <m:sSup>
                        <m:sSupPr>
                          <m:ctrlP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𝐫</m:t>
                          </m:r>
                        </m:e>
                        <m:sup>
                          <m:r>
                            <a:rPr kumimoji="0" lang="en-US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92D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153" y="4534982"/>
                <a:ext cx="2207643" cy="1015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0493568" y="4610552"/>
            <a:ext cx="653044" cy="9401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1" name="Straight Arrow Connector 20"/>
          <p:cNvCxnSpPr>
            <a:stCxn id="19" idx="1"/>
            <a:endCxn id="20" idx="3"/>
          </p:cNvCxnSpPr>
          <p:nvPr/>
        </p:nvCxnSpPr>
        <p:spPr>
          <a:xfrm flipH="1" flipV="1">
            <a:off x="8480437" y="4398752"/>
            <a:ext cx="2013131" cy="6818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50230" y="2729852"/>
            <a:ext cx="7993626" cy="634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3294" y="5754090"/>
            <a:ext cx="7584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Example: (4 * pi) / 3 = 4.188790205 * (1.25 * 1.25 * 1.25) = 8.181230469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1000 . 0010 1110 0110 0100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           8 .    2       e       6      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9248" y="4262521"/>
            <a:ext cx="2611189" cy="272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D8634-A028-901E-8F11-30D774329BE7}"/>
              </a:ext>
            </a:extLst>
          </p:cNvPr>
          <p:cNvSpPr txBox="1"/>
          <p:nvPr/>
        </p:nvSpPr>
        <p:spPr>
          <a:xfrm>
            <a:off x="8763689" y="731922"/>
            <a:ext cx="3428311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03_FixedReal_VolumeOfSphere.s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98787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41171"/>
            <a:ext cx="10417284" cy="814914"/>
          </a:xfrm>
        </p:spPr>
        <p:txBody>
          <a:bodyPr/>
          <a:lstStyle/>
          <a:p>
            <a:r>
              <a:rPr lang="en-US" altLang="en-US" dirty="0" err="1">
                <a:solidFill>
                  <a:srgbClr val="222222"/>
                </a:solidFill>
                <a:latin typeface="Consolas" panose="020B0609020204030204" pitchFamily="49" charset="0"/>
              </a:rPr>
              <a:t>VolumeOfSphere</a:t>
            </a:r>
            <a:r>
              <a:rPr lang="en-US" altLang="en-US" dirty="0">
                <a:solidFill>
                  <a:srgbClr val="22222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CPUlator</a:t>
            </a:r>
            <a:r>
              <a:rPr lang="en-US" dirty="0"/>
              <a:t>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54" y="1438170"/>
            <a:ext cx="6846230" cy="51584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9C8FD-724E-A08D-1E70-1958C5F96CE1}"/>
              </a:ext>
            </a:extLst>
          </p:cNvPr>
          <p:cNvSpPr txBox="1"/>
          <p:nvPr/>
        </p:nvSpPr>
        <p:spPr>
          <a:xfrm>
            <a:off x="8763689" y="731922"/>
            <a:ext cx="3428311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03_FixedReal_VolumeOfSphere.s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2265165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2612-87E4-A6FA-B01A-77AF53EB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FE15-3897-F0E8-B65E-2FD048F8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5ADFACD0-9F22-559A-4B0F-7E291EA28A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783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512</TotalTime>
  <Words>968</Words>
  <Application>Microsoft Office PowerPoint</Application>
  <PresentationFormat>Widescreen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Arial Narrow</vt:lpstr>
      <vt:lpstr>Calibri</vt:lpstr>
      <vt:lpstr>Cambria Math</vt:lpstr>
      <vt:lpstr>Consolas</vt:lpstr>
      <vt:lpstr>Garamond</vt:lpstr>
      <vt:lpstr>Wingdings</vt:lpstr>
      <vt:lpstr>SCUTemplate</vt:lpstr>
      <vt:lpstr>Custom Design</vt:lpstr>
      <vt:lpstr>1_SCUTemplate</vt:lpstr>
      <vt:lpstr>2_SCUTemplate</vt:lpstr>
      <vt:lpstr>CSEN20</vt:lpstr>
      <vt:lpstr>Convert</vt:lpstr>
      <vt:lpstr>Calculate  </vt:lpstr>
      <vt:lpstr>Calculate  </vt:lpstr>
      <vt:lpstr>Add</vt:lpstr>
      <vt:lpstr>Calculate  </vt:lpstr>
      <vt:lpstr>Calculate  </vt:lpstr>
      <vt:lpstr>Subtract</vt:lpstr>
      <vt:lpstr>Calculate  </vt:lpstr>
      <vt:lpstr>Calculate  </vt:lpstr>
      <vt:lpstr>Multiply</vt:lpstr>
      <vt:lpstr>Calculate  </vt:lpstr>
      <vt:lpstr>Calculate  </vt:lpstr>
      <vt:lpstr>Divide</vt:lpstr>
      <vt:lpstr>Calculate  </vt:lpstr>
      <vt:lpstr>Calculate  </vt:lpstr>
      <vt:lpstr>CPUlator</vt:lpstr>
      <vt:lpstr>Implement this example with CPUlator  </vt:lpstr>
      <vt:lpstr>Implement this example with CPUlator  </vt:lpstr>
      <vt:lpstr>Example: Q16 Area of a Triangle</vt:lpstr>
      <vt:lpstr>AreaOfTriangle CPUlator  </vt:lpstr>
      <vt:lpstr>Ex: Q16 Volume of a Sphere</vt:lpstr>
      <vt:lpstr>VolumeOfSphere CPUlator  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166</cp:revision>
  <cp:lastPrinted>2023-09-11T21:46:56Z</cp:lastPrinted>
  <dcterms:created xsi:type="dcterms:W3CDTF">2023-09-09T19:51:41Z</dcterms:created>
  <dcterms:modified xsi:type="dcterms:W3CDTF">2026-09-22T20:33:33Z</dcterms:modified>
</cp:coreProperties>
</file>